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diagrams/data71.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diagrams/data72.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ppt/diagrams/data73.xml" ContentType="application/vnd.openxmlformats-officedocument.drawingml.diagramData+xml"/>
  <Override PartName="/ppt/diagrams/layout73.xml" ContentType="application/vnd.openxmlformats-officedocument.drawingml.diagramLayout+xml"/>
  <Override PartName="/ppt/diagrams/quickStyle73.xml" ContentType="application/vnd.openxmlformats-officedocument.drawingml.diagramStyle+xml"/>
  <Override PartName="/ppt/diagrams/colors73.xml" ContentType="application/vnd.openxmlformats-officedocument.drawingml.diagramColors+xml"/>
  <Override PartName="/ppt/diagrams/drawing73.xml" ContentType="application/vnd.ms-office.drawingml.diagramDrawing+xml"/>
  <Override PartName="/ppt/diagrams/data74.xml" ContentType="application/vnd.openxmlformats-officedocument.drawingml.diagramData+xml"/>
  <Override PartName="/ppt/diagrams/layout74.xml" ContentType="application/vnd.openxmlformats-officedocument.drawingml.diagramLayout+xml"/>
  <Override PartName="/ppt/diagrams/quickStyle74.xml" ContentType="application/vnd.openxmlformats-officedocument.drawingml.diagramStyle+xml"/>
  <Override PartName="/ppt/diagrams/colors74.xml" ContentType="application/vnd.openxmlformats-officedocument.drawingml.diagramColors+xml"/>
  <Override PartName="/ppt/diagrams/drawing74.xml" ContentType="application/vnd.ms-office.drawingml.diagramDrawing+xml"/>
  <Override PartName="/ppt/diagrams/data75.xml" ContentType="application/vnd.openxmlformats-officedocument.drawingml.diagramData+xml"/>
  <Override PartName="/ppt/diagrams/layout75.xml" ContentType="application/vnd.openxmlformats-officedocument.drawingml.diagramLayout+xml"/>
  <Override PartName="/ppt/diagrams/quickStyle75.xml" ContentType="application/vnd.openxmlformats-officedocument.drawingml.diagramStyle+xml"/>
  <Override PartName="/ppt/diagrams/colors75.xml" ContentType="application/vnd.openxmlformats-officedocument.drawingml.diagramColors+xml"/>
  <Override PartName="/ppt/diagrams/drawing75.xml" ContentType="application/vnd.ms-office.drawingml.diagramDrawing+xml"/>
  <Override PartName="/ppt/diagrams/data76.xml" ContentType="application/vnd.openxmlformats-officedocument.drawingml.diagramData+xml"/>
  <Override PartName="/ppt/diagrams/layout76.xml" ContentType="application/vnd.openxmlformats-officedocument.drawingml.diagramLayout+xml"/>
  <Override PartName="/ppt/diagrams/quickStyle76.xml" ContentType="application/vnd.openxmlformats-officedocument.drawingml.diagramStyle+xml"/>
  <Override PartName="/ppt/diagrams/colors76.xml" ContentType="application/vnd.openxmlformats-officedocument.drawingml.diagramColors+xml"/>
  <Override PartName="/ppt/diagrams/drawing76.xml" ContentType="application/vnd.ms-office.drawingml.diagramDrawing+xml"/>
  <Override PartName="/ppt/diagrams/data77.xml" ContentType="application/vnd.openxmlformats-officedocument.drawingml.diagramData+xml"/>
  <Override PartName="/ppt/diagrams/layout77.xml" ContentType="application/vnd.openxmlformats-officedocument.drawingml.diagramLayout+xml"/>
  <Override PartName="/ppt/diagrams/quickStyle77.xml" ContentType="application/vnd.openxmlformats-officedocument.drawingml.diagramStyle+xml"/>
  <Override PartName="/ppt/diagrams/colors77.xml" ContentType="application/vnd.openxmlformats-officedocument.drawingml.diagramColors+xml"/>
  <Override PartName="/ppt/diagrams/drawing77.xml" ContentType="application/vnd.ms-office.drawingml.diagramDrawing+xml"/>
  <Override PartName="/ppt/diagrams/data78.xml" ContentType="application/vnd.openxmlformats-officedocument.drawingml.diagramData+xml"/>
  <Override PartName="/ppt/diagrams/layout78.xml" ContentType="application/vnd.openxmlformats-officedocument.drawingml.diagramLayout+xml"/>
  <Override PartName="/ppt/diagrams/quickStyle78.xml" ContentType="application/vnd.openxmlformats-officedocument.drawingml.diagramStyle+xml"/>
  <Override PartName="/ppt/diagrams/colors78.xml" ContentType="application/vnd.openxmlformats-officedocument.drawingml.diagramColors+xml"/>
  <Override PartName="/ppt/diagrams/drawing78.xml" ContentType="application/vnd.ms-office.drawingml.diagramDrawing+xml"/>
  <Override PartName="/ppt/diagrams/data79.xml" ContentType="application/vnd.openxmlformats-officedocument.drawingml.diagramData+xml"/>
  <Override PartName="/ppt/diagrams/layout79.xml" ContentType="application/vnd.openxmlformats-officedocument.drawingml.diagramLayout+xml"/>
  <Override PartName="/ppt/diagrams/quickStyle79.xml" ContentType="application/vnd.openxmlformats-officedocument.drawingml.diagramStyle+xml"/>
  <Override PartName="/ppt/diagrams/colors79.xml" ContentType="application/vnd.openxmlformats-officedocument.drawingml.diagramColors+xml"/>
  <Override PartName="/ppt/diagrams/drawing79.xml" ContentType="application/vnd.ms-office.drawingml.diagramDrawing+xml"/>
  <Override PartName="/ppt/diagrams/data80.xml" ContentType="application/vnd.openxmlformats-officedocument.drawingml.diagramData+xml"/>
  <Override PartName="/ppt/diagrams/layout80.xml" ContentType="application/vnd.openxmlformats-officedocument.drawingml.diagramLayout+xml"/>
  <Override PartName="/ppt/diagrams/quickStyle80.xml" ContentType="application/vnd.openxmlformats-officedocument.drawingml.diagramStyle+xml"/>
  <Override PartName="/ppt/diagrams/colors80.xml" ContentType="application/vnd.openxmlformats-officedocument.drawingml.diagramColors+xml"/>
  <Override PartName="/ppt/diagrams/drawing80.xml" ContentType="application/vnd.ms-office.drawingml.diagramDrawing+xml"/>
  <Override PartName="/ppt/diagrams/data81.xml" ContentType="application/vnd.openxmlformats-officedocument.drawingml.diagramData+xml"/>
  <Override PartName="/ppt/diagrams/layout81.xml" ContentType="application/vnd.openxmlformats-officedocument.drawingml.diagramLayout+xml"/>
  <Override PartName="/ppt/diagrams/quickStyle81.xml" ContentType="application/vnd.openxmlformats-officedocument.drawingml.diagramStyle+xml"/>
  <Override PartName="/ppt/diagrams/colors81.xml" ContentType="application/vnd.openxmlformats-officedocument.drawingml.diagramColors+xml"/>
  <Override PartName="/ppt/diagrams/drawing81.xml" ContentType="application/vnd.ms-office.drawingml.diagramDrawing+xml"/>
  <Override PartName="/ppt/diagrams/data82.xml" ContentType="application/vnd.openxmlformats-officedocument.drawingml.diagramData+xml"/>
  <Override PartName="/ppt/diagrams/layout82.xml" ContentType="application/vnd.openxmlformats-officedocument.drawingml.diagramLayout+xml"/>
  <Override PartName="/ppt/diagrams/quickStyle82.xml" ContentType="application/vnd.openxmlformats-officedocument.drawingml.diagramStyle+xml"/>
  <Override PartName="/ppt/diagrams/colors82.xml" ContentType="application/vnd.openxmlformats-officedocument.drawingml.diagramColors+xml"/>
  <Override PartName="/ppt/diagrams/drawing82.xml" ContentType="application/vnd.ms-office.drawingml.diagramDrawing+xml"/>
  <Override PartName="/ppt/diagrams/data83.xml" ContentType="application/vnd.openxmlformats-officedocument.drawingml.diagramData+xml"/>
  <Override PartName="/ppt/diagrams/layout83.xml" ContentType="application/vnd.openxmlformats-officedocument.drawingml.diagramLayout+xml"/>
  <Override PartName="/ppt/diagrams/quickStyle83.xml" ContentType="application/vnd.openxmlformats-officedocument.drawingml.diagramStyle+xml"/>
  <Override PartName="/ppt/diagrams/colors83.xml" ContentType="application/vnd.openxmlformats-officedocument.drawingml.diagramColors+xml"/>
  <Override PartName="/ppt/diagrams/drawing83.xml" ContentType="application/vnd.ms-office.drawingml.diagramDrawing+xml"/>
  <Override PartName="/ppt/diagrams/data84.xml" ContentType="application/vnd.openxmlformats-officedocument.drawingml.diagramData+xml"/>
  <Override PartName="/ppt/diagrams/layout84.xml" ContentType="application/vnd.openxmlformats-officedocument.drawingml.diagramLayout+xml"/>
  <Override PartName="/ppt/diagrams/quickStyle84.xml" ContentType="application/vnd.openxmlformats-officedocument.drawingml.diagramStyle+xml"/>
  <Override PartName="/ppt/diagrams/colors84.xml" ContentType="application/vnd.openxmlformats-officedocument.drawingml.diagramColors+xml"/>
  <Override PartName="/ppt/diagrams/drawing84.xml" ContentType="application/vnd.ms-office.drawingml.diagramDrawing+xml"/>
  <Override PartName="/ppt/diagrams/data85.xml" ContentType="application/vnd.openxmlformats-officedocument.drawingml.diagramData+xml"/>
  <Override PartName="/ppt/diagrams/layout85.xml" ContentType="application/vnd.openxmlformats-officedocument.drawingml.diagramLayout+xml"/>
  <Override PartName="/ppt/diagrams/quickStyle85.xml" ContentType="application/vnd.openxmlformats-officedocument.drawingml.diagramStyle+xml"/>
  <Override PartName="/ppt/diagrams/colors85.xml" ContentType="application/vnd.openxmlformats-officedocument.drawingml.diagramColors+xml"/>
  <Override PartName="/ppt/diagrams/drawing85.xml" ContentType="application/vnd.ms-office.drawingml.diagramDrawing+xml"/>
  <Override PartName="/ppt/diagrams/data86.xml" ContentType="application/vnd.openxmlformats-officedocument.drawingml.diagramData+xml"/>
  <Override PartName="/ppt/diagrams/layout86.xml" ContentType="application/vnd.openxmlformats-officedocument.drawingml.diagramLayout+xml"/>
  <Override PartName="/ppt/diagrams/quickStyle86.xml" ContentType="application/vnd.openxmlformats-officedocument.drawingml.diagramStyle+xml"/>
  <Override PartName="/ppt/diagrams/colors86.xml" ContentType="application/vnd.openxmlformats-officedocument.drawingml.diagramColors+xml"/>
  <Override PartName="/ppt/diagrams/drawing86.xml" ContentType="application/vnd.ms-office.drawingml.diagramDrawing+xml"/>
  <Override PartName="/ppt/diagrams/data87.xml" ContentType="application/vnd.openxmlformats-officedocument.drawingml.diagramData+xml"/>
  <Override PartName="/ppt/diagrams/layout87.xml" ContentType="application/vnd.openxmlformats-officedocument.drawingml.diagramLayout+xml"/>
  <Override PartName="/ppt/diagrams/quickStyle87.xml" ContentType="application/vnd.openxmlformats-officedocument.drawingml.diagramStyle+xml"/>
  <Override PartName="/ppt/diagrams/colors87.xml" ContentType="application/vnd.openxmlformats-officedocument.drawingml.diagramColors+xml"/>
  <Override PartName="/ppt/diagrams/drawing87.xml" ContentType="application/vnd.ms-office.drawingml.diagramDrawing+xml"/>
  <Override PartName="/ppt/diagrams/data88.xml" ContentType="application/vnd.openxmlformats-officedocument.drawingml.diagramData+xml"/>
  <Override PartName="/ppt/diagrams/layout88.xml" ContentType="application/vnd.openxmlformats-officedocument.drawingml.diagramLayout+xml"/>
  <Override PartName="/ppt/diagrams/quickStyle88.xml" ContentType="application/vnd.openxmlformats-officedocument.drawingml.diagramStyle+xml"/>
  <Override PartName="/ppt/diagrams/colors88.xml" ContentType="application/vnd.openxmlformats-officedocument.drawingml.diagramColors+xml"/>
  <Override PartName="/ppt/diagrams/drawing88.xml" ContentType="application/vnd.ms-office.drawingml.diagramDrawing+xml"/>
  <Override PartName="/ppt/diagrams/data89.xml" ContentType="application/vnd.openxmlformats-officedocument.drawingml.diagramData+xml"/>
  <Override PartName="/ppt/diagrams/layout89.xml" ContentType="application/vnd.openxmlformats-officedocument.drawingml.diagramLayout+xml"/>
  <Override PartName="/ppt/diagrams/quickStyle89.xml" ContentType="application/vnd.openxmlformats-officedocument.drawingml.diagramStyle+xml"/>
  <Override PartName="/ppt/diagrams/colors89.xml" ContentType="application/vnd.openxmlformats-officedocument.drawingml.diagramColors+xml"/>
  <Override PartName="/ppt/diagrams/drawing89.xml" ContentType="application/vnd.ms-office.drawingml.diagramDrawing+xml"/>
  <Override PartName="/ppt/diagrams/data90.xml" ContentType="application/vnd.openxmlformats-officedocument.drawingml.diagramData+xml"/>
  <Override PartName="/ppt/diagrams/layout90.xml" ContentType="application/vnd.openxmlformats-officedocument.drawingml.diagramLayout+xml"/>
  <Override PartName="/ppt/diagrams/quickStyle90.xml" ContentType="application/vnd.openxmlformats-officedocument.drawingml.diagramStyle+xml"/>
  <Override PartName="/ppt/diagrams/colors90.xml" ContentType="application/vnd.openxmlformats-officedocument.drawingml.diagramColors+xml"/>
  <Override PartName="/ppt/diagrams/drawing90.xml" ContentType="application/vnd.ms-office.drawingml.diagramDrawing+xml"/>
  <Override PartName="/ppt/diagrams/data91.xml" ContentType="application/vnd.openxmlformats-officedocument.drawingml.diagramData+xml"/>
  <Override PartName="/ppt/diagrams/layout91.xml" ContentType="application/vnd.openxmlformats-officedocument.drawingml.diagramLayout+xml"/>
  <Override PartName="/ppt/diagrams/quickStyle91.xml" ContentType="application/vnd.openxmlformats-officedocument.drawingml.diagramStyle+xml"/>
  <Override PartName="/ppt/diagrams/colors91.xml" ContentType="application/vnd.openxmlformats-officedocument.drawingml.diagramColors+xml"/>
  <Override PartName="/ppt/diagrams/drawing91.xml" ContentType="application/vnd.ms-office.drawingml.diagramDrawing+xml"/>
  <Override PartName="/ppt/diagrams/data92.xml" ContentType="application/vnd.openxmlformats-officedocument.drawingml.diagramData+xml"/>
  <Override PartName="/ppt/diagrams/layout92.xml" ContentType="application/vnd.openxmlformats-officedocument.drawingml.diagramLayout+xml"/>
  <Override PartName="/ppt/diagrams/quickStyle92.xml" ContentType="application/vnd.openxmlformats-officedocument.drawingml.diagramStyle+xml"/>
  <Override PartName="/ppt/diagrams/colors92.xml" ContentType="application/vnd.openxmlformats-officedocument.drawingml.diagramColors+xml"/>
  <Override PartName="/ppt/diagrams/drawing92.xml" ContentType="application/vnd.ms-office.drawingml.diagramDrawing+xml"/>
  <Override PartName="/ppt/diagrams/data93.xml" ContentType="application/vnd.openxmlformats-officedocument.drawingml.diagramData+xml"/>
  <Override PartName="/ppt/diagrams/layout93.xml" ContentType="application/vnd.openxmlformats-officedocument.drawingml.diagramLayout+xml"/>
  <Override PartName="/ppt/diagrams/quickStyle93.xml" ContentType="application/vnd.openxmlformats-officedocument.drawingml.diagramStyle+xml"/>
  <Override PartName="/ppt/diagrams/colors93.xml" ContentType="application/vnd.openxmlformats-officedocument.drawingml.diagramColors+xml"/>
  <Override PartName="/ppt/diagrams/drawing93.xml" ContentType="application/vnd.ms-office.drawingml.diagramDrawing+xml"/>
  <Override PartName="/ppt/diagrams/data94.xml" ContentType="application/vnd.openxmlformats-officedocument.drawingml.diagramData+xml"/>
  <Override PartName="/ppt/diagrams/layout94.xml" ContentType="application/vnd.openxmlformats-officedocument.drawingml.diagramLayout+xml"/>
  <Override PartName="/ppt/diagrams/quickStyle94.xml" ContentType="application/vnd.openxmlformats-officedocument.drawingml.diagramStyle+xml"/>
  <Override PartName="/ppt/diagrams/colors94.xml" ContentType="application/vnd.openxmlformats-officedocument.drawingml.diagramColors+xml"/>
  <Override PartName="/ppt/diagrams/drawing94.xml" ContentType="application/vnd.ms-office.drawingml.diagramDrawing+xml"/>
  <Override PartName="/ppt/diagrams/data95.xml" ContentType="application/vnd.openxmlformats-officedocument.drawingml.diagramData+xml"/>
  <Override PartName="/ppt/diagrams/layout95.xml" ContentType="application/vnd.openxmlformats-officedocument.drawingml.diagramLayout+xml"/>
  <Override PartName="/ppt/diagrams/quickStyle95.xml" ContentType="application/vnd.openxmlformats-officedocument.drawingml.diagramStyle+xml"/>
  <Override PartName="/ppt/diagrams/colors95.xml" ContentType="application/vnd.openxmlformats-officedocument.drawingml.diagramColors+xml"/>
  <Override PartName="/ppt/diagrams/drawing95.xml" ContentType="application/vnd.ms-office.drawingml.diagramDrawing+xml"/>
  <Override PartName="/ppt/diagrams/data96.xml" ContentType="application/vnd.openxmlformats-officedocument.drawingml.diagramData+xml"/>
  <Override PartName="/ppt/diagrams/layout96.xml" ContentType="application/vnd.openxmlformats-officedocument.drawingml.diagramLayout+xml"/>
  <Override PartName="/ppt/diagrams/quickStyle96.xml" ContentType="application/vnd.openxmlformats-officedocument.drawingml.diagramStyle+xml"/>
  <Override PartName="/ppt/diagrams/colors96.xml" ContentType="application/vnd.openxmlformats-officedocument.drawingml.diagramColors+xml"/>
  <Override PartName="/ppt/diagrams/drawing96.xml" ContentType="application/vnd.ms-office.drawingml.diagramDrawing+xml"/>
  <Override PartName="/ppt/diagrams/data97.xml" ContentType="application/vnd.openxmlformats-officedocument.drawingml.diagramData+xml"/>
  <Override PartName="/ppt/diagrams/layout97.xml" ContentType="application/vnd.openxmlformats-officedocument.drawingml.diagramLayout+xml"/>
  <Override PartName="/ppt/diagrams/quickStyle97.xml" ContentType="application/vnd.openxmlformats-officedocument.drawingml.diagramStyle+xml"/>
  <Override PartName="/ppt/diagrams/colors97.xml" ContentType="application/vnd.openxmlformats-officedocument.drawingml.diagramColors+xml"/>
  <Override PartName="/ppt/diagrams/drawing97.xml" ContentType="application/vnd.ms-office.drawingml.diagramDrawing+xml"/>
  <Override PartName="/ppt/diagrams/data98.xml" ContentType="application/vnd.openxmlformats-officedocument.drawingml.diagramData+xml"/>
  <Override PartName="/ppt/diagrams/layout98.xml" ContentType="application/vnd.openxmlformats-officedocument.drawingml.diagramLayout+xml"/>
  <Override PartName="/ppt/diagrams/quickStyle98.xml" ContentType="application/vnd.openxmlformats-officedocument.drawingml.diagramStyle+xml"/>
  <Override PartName="/ppt/diagrams/colors98.xml" ContentType="application/vnd.openxmlformats-officedocument.drawingml.diagramColors+xml"/>
  <Override PartName="/ppt/diagrams/drawing98.xml" ContentType="application/vnd.ms-office.drawingml.diagramDrawing+xml"/>
  <Override PartName="/ppt/diagrams/data99.xml" ContentType="application/vnd.openxmlformats-officedocument.drawingml.diagramData+xml"/>
  <Override PartName="/ppt/diagrams/layout99.xml" ContentType="application/vnd.openxmlformats-officedocument.drawingml.diagramLayout+xml"/>
  <Override PartName="/ppt/diagrams/quickStyle99.xml" ContentType="application/vnd.openxmlformats-officedocument.drawingml.diagramStyle+xml"/>
  <Override PartName="/ppt/diagrams/colors99.xml" ContentType="application/vnd.openxmlformats-officedocument.drawingml.diagramColors+xml"/>
  <Override PartName="/ppt/diagrams/drawing99.xml" ContentType="application/vnd.ms-office.drawingml.diagramDrawing+xml"/>
  <Override PartName="/ppt/diagrams/data100.xml" ContentType="application/vnd.openxmlformats-officedocument.drawingml.diagramData+xml"/>
  <Override PartName="/ppt/diagrams/layout100.xml" ContentType="application/vnd.openxmlformats-officedocument.drawingml.diagramLayout+xml"/>
  <Override PartName="/ppt/diagrams/quickStyle100.xml" ContentType="application/vnd.openxmlformats-officedocument.drawingml.diagramStyle+xml"/>
  <Override PartName="/ppt/diagrams/colors100.xml" ContentType="application/vnd.openxmlformats-officedocument.drawingml.diagramColors+xml"/>
  <Override PartName="/ppt/diagrams/drawing100.xml" ContentType="application/vnd.ms-office.drawingml.diagramDrawing+xml"/>
  <Override PartName="/ppt/diagrams/data101.xml" ContentType="application/vnd.openxmlformats-officedocument.drawingml.diagramData+xml"/>
  <Override PartName="/ppt/diagrams/layout101.xml" ContentType="application/vnd.openxmlformats-officedocument.drawingml.diagramLayout+xml"/>
  <Override PartName="/ppt/diagrams/quickStyle101.xml" ContentType="application/vnd.openxmlformats-officedocument.drawingml.diagramStyle+xml"/>
  <Override PartName="/ppt/diagrams/colors101.xml" ContentType="application/vnd.openxmlformats-officedocument.drawingml.diagramColors+xml"/>
  <Override PartName="/ppt/diagrams/drawing101.xml" ContentType="application/vnd.ms-office.drawingml.diagramDrawing+xml"/>
  <Override PartName="/ppt/diagrams/data102.xml" ContentType="application/vnd.openxmlformats-officedocument.drawingml.diagramData+xml"/>
  <Override PartName="/ppt/diagrams/layout102.xml" ContentType="application/vnd.openxmlformats-officedocument.drawingml.diagramLayout+xml"/>
  <Override PartName="/ppt/diagrams/quickStyle102.xml" ContentType="application/vnd.openxmlformats-officedocument.drawingml.diagramStyle+xml"/>
  <Override PartName="/ppt/diagrams/colors102.xml" ContentType="application/vnd.openxmlformats-officedocument.drawingml.diagramColors+xml"/>
  <Override PartName="/ppt/diagrams/drawing102.xml" ContentType="application/vnd.ms-office.drawingml.diagramDrawing+xml"/>
  <Override PartName="/ppt/diagrams/data103.xml" ContentType="application/vnd.openxmlformats-officedocument.drawingml.diagramData+xml"/>
  <Override PartName="/ppt/diagrams/layout103.xml" ContentType="application/vnd.openxmlformats-officedocument.drawingml.diagramLayout+xml"/>
  <Override PartName="/ppt/diagrams/quickStyle103.xml" ContentType="application/vnd.openxmlformats-officedocument.drawingml.diagramStyle+xml"/>
  <Override PartName="/ppt/diagrams/colors103.xml" ContentType="application/vnd.openxmlformats-officedocument.drawingml.diagramColors+xml"/>
  <Override PartName="/ppt/diagrams/drawing103.xml" ContentType="application/vnd.ms-office.drawingml.diagramDrawing+xml"/>
  <Override PartName="/ppt/diagrams/data104.xml" ContentType="application/vnd.openxmlformats-officedocument.drawingml.diagramData+xml"/>
  <Override PartName="/ppt/diagrams/layout104.xml" ContentType="application/vnd.openxmlformats-officedocument.drawingml.diagramLayout+xml"/>
  <Override PartName="/ppt/diagrams/quickStyle104.xml" ContentType="application/vnd.openxmlformats-officedocument.drawingml.diagramStyle+xml"/>
  <Override PartName="/ppt/diagrams/colors104.xml" ContentType="application/vnd.openxmlformats-officedocument.drawingml.diagramColors+xml"/>
  <Override PartName="/ppt/diagrams/drawing104.xml" ContentType="application/vnd.ms-office.drawingml.diagramDrawing+xml"/>
  <Override PartName="/ppt/diagrams/data105.xml" ContentType="application/vnd.openxmlformats-officedocument.drawingml.diagramData+xml"/>
  <Override PartName="/ppt/diagrams/layout105.xml" ContentType="application/vnd.openxmlformats-officedocument.drawingml.diagramLayout+xml"/>
  <Override PartName="/ppt/diagrams/quickStyle105.xml" ContentType="application/vnd.openxmlformats-officedocument.drawingml.diagramStyle+xml"/>
  <Override PartName="/ppt/diagrams/colors105.xml" ContentType="application/vnd.openxmlformats-officedocument.drawingml.diagramColors+xml"/>
  <Override PartName="/ppt/diagrams/drawing105.xml" ContentType="application/vnd.ms-office.drawingml.diagramDrawing+xml"/>
  <Override PartName="/ppt/diagrams/data106.xml" ContentType="application/vnd.openxmlformats-officedocument.drawingml.diagramData+xml"/>
  <Override PartName="/ppt/diagrams/layout106.xml" ContentType="application/vnd.openxmlformats-officedocument.drawingml.diagramLayout+xml"/>
  <Override PartName="/ppt/diagrams/quickStyle106.xml" ContentType="application/vnd.openxmlformats-officedocument.drawingml.diagramStyle+xml"/>
  <Override PartName="/ppt/diagrams/colors106.xml" ContentType="application/vnd.openxmlformats-officedocument.drawingml.diagramColors+xml"/>
  <Override PartName="/ppt/diagrams/drawing106.xml" ContentType="application/vnd.ms-office.drawingml.diagramDrawing+xml"/>
  <Override PartName="/ppt/diagrams/data107.xml" ContentType="application/vnd.openxmlformats-officedocument.drawingml.diagramData+xml"/>
  <Override PartName="/ppt/diagrams/layout107.xml" ContentType="application/vnd.openxmlformats-officedocument.drawingml.diagramLayout+xml"/>
  <Override PartName="/ppt/diagrams/quickStyle107.xml" ContentType="application/vnd.openxmlformats-officedocument.drawingml.diagramStyle+xml"/>
  <Override PartName="/ppt/diagrams/colors107.xml" ContentType="application/vnd.openxmlformats-officedocument.drawingml.diagramColors+xml"/>
  <Override PartName="/ppt/diagrams/drawing107.xml" ContentType="application/vnd.ms-office.drawingml.diagramDrawing+xml"/>
  <Override PartName="/ppt/diagrams/data108.xml" ContentType="application/vnd.openxmlformats-officedocument.drawingml.diagramData+xml"/>
  <Override PartName="/ppt/diagrams/layout108.xml" ContentType="application/vnd.openxmlformats-officedocument.drawingml.diagramLayout+xml"/>
  <Override PartName="/ppt/diagrams/quickStyle108.xml" ContentType="application/vnd.openxmlformats-officedocument.drawingml.diagramStyle+xml"/>
  <Override PartName="/ppt/diagrams/colors108.xml" ContentType="application/vnd.openxmlformats-officedocument.drawingml.diagramColors+xml"/>
  <Override PartName="/ppt/diagrams/drawing108.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09.xml" ContentType="application/vnd.openxmlformats-officedocument.drawingml.diagramData+xml"/>
  <Override PartName="/ppt/diagrams/layout109.xml" ContentType="application/vnd.openxmlformats-officedocument.drawingml.diagramLayout+xml"/>
  <Override PartName="/ppt/diagrams/quickStyle109.xml" ContentType="application/vnd.openxmlformats-officedocument.drawingml.diagramStyle+xml"/>
  <Override PartName="/ppt/diagrams/colors109.xml" ContentType="application/vnd.openxmlformats-officedocument.drawingml.diagramColors+xml"/>
  <Override PartName="/ppt/diagrams/drawing109.xml" ContentType="application/vnd.ms-office.drawingml.diagramDrawing+xml"/>
  <Override PartName="/ppt/diagrams/data110.xml" ContentType="application/vnd.openxmlformats-officedocument.drawingml.diagramData+xml"/>
  <Override PartName="/ppt/diagrams/layout110.xml" ContentType="application/vnd.openxmlformats-officedocument.drawingml.diagramLayout+xml"/>
  <Override PartName="/ppt/diagrams/quickStyle110.xml" ContentType="application/vnd.openxmlformats-officedocument.drawingml.diagramStyle+xml"/>
  <Override PartName="/ppt/diagrams/colors110.xml" ContentType="application/vnd.openxmlformats-officedocument.drawingml.diagramColors+xml"/>
  <Override PartName="/ppt/diagrams/drawing110.xml" ContentType="application/vnd.ms-office.drawingml.diagramDrawing+xml"/>
  <Override PartName="/ppt/diagrams/data111.xml" ContentType="application/vnd.openxmlformats-officedocument.drawingml.diagramData+xml"/>
  <Override PartName="/ppt/diagrams/layout111.xml" ContentType="application/vnd.openxmlformats-officedocument.drawingml.diagramLayout+xml"/>
  <Override PartName="/ppt/diagrams/quickStyle111.xml" ContentType="application/vnd.openxmlformats-officedocument.drawingml.diagramStyle+xml"/>
  <Override PartName="/ppt/diagrams/colors111.xml" ContentType="application/vnd.openxmlformats-officedocument.drawingml.diagramColors+xml"/>
  <Override PartName="/ppt/diagrams/drawing111.xml" ContentType="application/vnd.ms-office.drawingml.diagramDrawing+xml"/>
  <Override PartName="/ppt/notesSlides/notesSlide5.xml" ContentType="application/vnd.openxmlformats-officedocument.presentationml.notesSlide+xml"/>
  <Override PartName="/ppt/diagrams/data112.xml" ContentType="application/vnd.openxmlformats-officedocument.drawingml.diagramData+xml"/>
  <Override PartName="/ppt/diagrams/layout112.xml" ContentType="application/vnd.openxmlformats-officedocument.drawingml.diagramLayout+xml"/>
  <Override PartName="/ppt/diagrams/quickStyle112.xml" ContentType="application/vnd.openxmlformats-officedocument.drawingml.diagramStyle+xml"/>
  <Override PartName="/ppt/diagrams/colors112.xml" ContentType="application/vnd.openxmlformats-officedocument.drawingml.diagramColors+xml"/>
  <Override PartName="/ppt/diagrams/drawing112.xml" ContentType="application/vnd.ms-office.drawingml.diagramDrawing+xml"/>
  <Override PartName="/ppt/notesSlides/notesSlide6.xml" ContentType="application/vnd.openxmlformats-officedocument.presentationml.notesSlide+xml"/>
  <Override PartName="/ppt/diagrams/data113.xml" ContentType="application/vnd.openxmlformats-officedocument.drawingml.diagramData+xml"/>
  <Override PartName="/ppt/diagrams/layout113.xml" ContentType="application/vnd.openxmlformats-officedocument.drawingml.diagramLayout+xml"/>
  <Override PartName="/ppt/diagrams/quickStyle113.xml" ContentType="application/vnd.openxmlformats-officedocument.drawingml.diagramStyle+xml"/>
  <Override PartName="/ppt/diagrams/colors113.xml" ContentType="application/vnd.openxmlformats-officedocument.drawingml.diagramColors+xml"/>
  <Override PartName="/ppt/diagrams/drawing113.xml" ContentType="application/vnd.ms-office.drawingml.diagramDrawing+xml"/>
  <Override PartName="/ppt/notesSlides/notesSlide7.xml" ContentType="application/vnd.openxmlformats-officedocument.presentationml.notesSlide+xml"/>
  <Override PartName="/ppt/diagrams/data114.xml" ContentType="application/vnd.openxmlformats-officedocument.drawingml.diagramData+xml"/>
  <Override PartName="/ppt/diagrams/layout114.xml" ContentType="application/vnd.openxmlformats-officedocument.drawingml.diagramLayout+xml"/>
  <Override PartName="/ppt/diagrams/quickStyle114.xml" ContentType="application/vnd.openxmlformats-officedocument.drawingml.diagramStyle+xml"/>
  <Override PartName="/ppt/diagrams/colors114.xml" ContentType="application/vnd.openxmlformats-officedocument.drawingml.diagramColors+xml"/>
  <Override PartName="/ppt/diagrams/drawing114.xml" ContentType="application/vnd.ms-office.drawingml.diagramDrawing+xml"/>
  <Override PartName="/ppt/notesSlides/notesSlide8.xml" ContentType="application/vnd.openxmlformats-officedocument.presentationml.notesSlide+xml"/>
  <Override PartName="/ppt/diagrams/data115.xml" ContentType="application/vnd.openxmlformats-officedocument.drawingml.diagramData+xml"/>
  <Override PartName="/ppt/diagrams/layout115.xml" ContentType="application/vnd.openxmlformats-officedocument.drawingml.diagramLayout+xml"/>
  <Override PartName="/ppt/diagrams/quickStyle115.xml" ContentType="application/vnd.openxmlformats-officedocument.drawingml.diagramStyle+xml"/>
  <Override PartName="/ppt/diagrams/colors115.xml" ContentType="application/vnd.openxmlformats-officedocument.drawingml.diagramColors+xml"/>
  <Override PartName="/ppt/diagrams/drawing115.xml" ContentType="application/vnd.ms-office.drawingml.diagramDrawing+xml"/>
  <Override PartName="/ppt/notesSlides/notesSlide9.xml" ContentType="application/vnd.openxmlformats-officedocument.presentationml.notesSlide+xml"/>
  <Override PartName="/ppt/diagrams/data116.xml" ContentType="application/vnd.openxmlformats-officedocument.drawingml.diagramData+xml"/>
  <Override PartName="/ppt/diagrams/layout116.xml" ContentType="application/vnd.openxmlformats-officedocument.drawingml.diagramLayout+xml"/>
  <Override PartName="/ppt/diagrams/quickStyle116.xml" ContentType="application/vnd.openxmlformats-officedocument.drawingml.diagramStyle+xml"/>
  <Override PartName="/ppt/diagrams/colors116.xml" ContentType="application/vnd.openxmlformats-officedocument.drawingml.diagramColors+xml"/>
  <Override PartName="/ppt/diagrams/drawing116.xml" ContentType="application/vnd.ms-office.drawingml.diagramDrawing+xml"/>
  <Override PartName="/ppt/notesSlides/notesSlide10.xml" ContentType="application/vnd.openxmlformats-officedocument.presentationml.notesSlide+xml"/>
  <Override PartName="/ppt/diagrams/data117.xml" ContentType="application/vnd.openxmlformats-officedocument.drawingml.diagramData+xml"/>
  <Override PartName="/ppt/diagrams/layout117.xml" ContentType="application/vnd.openxmlformats-officedocument.drawingml.diagramLayout+xml"/>
  <Override PartName="/ppt/diagrams/quickStyle117.xml" ContentType="application/vnd.openxmlformats-officedocument.drawingml.diagramStyle+xml"/>
  <Override PartName="/ppt/diagrams/colors117.xml" ContentType="application/vnd.openxmlformats-officedocument.drawingml.diagramColors+xml"/>
  <Override PartName="/ppt/diagrams/drawing117.xml" ContentType="application/vnd.ms-office.drawingml.diagramDrawing+xml"/>
  <Override PartName="/ppt/notesSlides/notesSlide11.xml" ContentType="application/vnd.openxmlformats-officedocument.presentationml.notesSlide+xml"/>
  <Override PartName="/ppt/diagrams/data118.xml" ContentType="application/vnd.openxmlformats-officedocument.drawingml.diagramData+xml"/>
  <Override PartName="/ppt/diagrams/layout118.xml" ContentType="application/vnd.openxmlformats-officedocument.drawingml.diagramLayout+xml"/>
  <Override PartName="/ppt/diagrams/quickStyle118.xml" ContentType="application/vnd.openxmlformats-officedocument.drawingml.diagramStyle+xml"/>
  <Override PartName="/ppt/diagrams/colors118.xml" ContentType="application/vnd.openxmlformats-officedocument.drawingml.diagramColors+xml"/>
  <Override PartName="/ppt/diagrams/drawing118.xml" ContentType="application/vnd.ms-office.drawingml.diagramDrawing+xml"/>
  <Override PartName="/ppt/notesSlides/notesSlide12.xml" ContentType="application/vnd.openxmlformats-officedocument.presentationml.notesSlide+xml"/>
  <Override PartName="/ppt/diagrams/data119.xml" ContentType="application/vnd.openxmlformats-officedocument.drawingml.diagramData+xml"/>
  <Override PartName="/ppt/diagrams/layout119.xml" ContentType="application/vnd.openxmlformats-officedocument.drawingml.diagramLayout+xml"/>
  <Override PartName="/ppt/diagrams/quickStyle119.xml" ContentType="application/vnd.openxmlformats-officedocument.drawingml.diagramStyle+xml"/>
  <Override PartName="/ppt/diagrams/colors119.xml" ContentType="application/vnd.openxmlformats-officedocument.drawingml.diagramColors+xml"/>
  <Override PartName="/ppt/diagrams/drawing119.xml" ContentType="application/vnd.ms-office.drawingml.diagramDrawing+xml"/>
  <Override PartName="/ppt/notesSlides/notesSlide13.xml" ContentType="application/vnd.openxmlformats-officedocument.presentationml.notesSlide+xml"/>
  <Override PartName="/ppt/diagrams/data120.xml" ContentType="application/vnd.openxmlformats-officedocument.drawingml.diagramData+xml"/>
  <Override PartName="/ppt/diagrams/layout120.xml" ContentType="application/vnd.openxmlformats-officedocument.drawingml.diagramLayout+xml"/>
  <Override PartName="/ppt/diagrams/quickStyle120.xml" ContentType="application/vnd.openxmlformats-officedocument.drawingml.diagramStyle+xml"/>
  <Override PartName="/ppt/diagrams/colors120.xml" ContentType="application/vnd.openxmlformats-officedocument.drawingml.diagramColors+xml"/>
  <Override PartName="/ppt/diagrams/drawing120.xml" ContentType="application/vnd.ms-office.drawingml.diagramDrawing+xml"/>
  <Override PartName="/ppt/notesSlides/notesSlide14.xml" ContentType="application/vnd.openxmlformats-officedocument.presentationml.notesSlide+xml"/>
  <Override PartName="/ppt/diagrams/data121.xml" ContentType="application/vnd.openxmlformats-officedocument.drawingml.diagramData+xml"/>
  <Override PartName="/ppt/diagrams/layout121.xml" ContentType="application/vnd.openxmlformats-officedocument.drawingml.diagramLayout+xml"/>
  <Override PartName="/ppt/diagrams/quickStyle121.xml" ContentType="application/vnd.openxmlformats-officedocument.drawingml.diagramStyle+xml"/>
  <Override PartName="/ppt/diagrams/colors121.xml" ContentType="application/vnd.openxmlformats-officedocument.drawingml.diagramColors+xml"/>
  <Override PartName="/ppt/diagrams/drawing121.xml" ContentType="application/vnd.ms-office.drawingml.diagramDrawing+xml"/>
  <Override PartName="/ppt/notesSlides/notesSlide15.xml" ContentType="application/vnd.openxmlformats-officedocument.presentationml.notesSlide+xml"/>
  <Override PartName="/ppt/diagrams/data122.xml" ContentType="application/vnd.openxmlformats-officedocument.drawingml.diagramData+xml"/>
  <Override PartName="/ppt/diagrams/layout122.xml" ContentType="application/vnd.openxmlformats-officedocument.drawingml.diagramLayout+xml"/>
  <Override PartName="/ppt/diagrams/quickStyle122.xml" ContentType="application/vnd.openxmlformats-officedocument.drawingml.diagramStyle+xml"/>
  <Override PartName="/ppt/diagrams/colors122.xml" ContentType="application/vnd.openxmlformats-officedocument.drawingml.diagramColors+xml"/>
  <Override PartName="/ppt/diagrams/drawing122.xml" ContentType="application/vnd.ms-office.drawingml.diagramDrawing+xml"/>
  <Override PartName="/ppt/notesSlides/notesSlide16.xml" ContentType="application/vnd.openxmlformats-officedocument.presentationml.notesSlide+xml"/>
  <Override PartName="/ppt/diagrams/data123.xml" ContentType="application/vnd.openxmlformats-officedocument.drawingml.diagramData+xml"/>
  <Override PartName="/ppt/diagrams/layout123.xml" ContentType="application/vnd.openxmlformats-officedocument.drawingml.diagramLayout+xml"/>
  <Override PartName="/ppt/diagrams/quickStyle123.xml" ContentType="application/vnd.openxmlformats-officedocument.drawingml.diagramStyle+xml"/>
  <Override PartName="/ppt/diagrams/colors123.xml" ContentType="application/vnd.openxmlformats-officedocument.drawingml.diagramColors+xml"/>
  <Override PartName="/ppt/diagrams/drawing123.xml" ContentType="application/vnd.ms-office.drawingml.diagramDrawing+xml"/>
  <Override PartName="/ppt/notesSlides/notesSlide17.xml" ContentType="application/vnd.openxmlformats-officedocument.presentationml.notesSlide+xml"/>
  <Override PartName="/ppt/diagrams/data124.xml" ContentType="application/vnd.openxmlformats-officedocument.drawingml.diagramData+xml"/>
  <Override PartName="/ppt/diagrams/layout124.xml" ContentType="application/vnd.openxmlformats-officedocument.drawingml.diagramLayout+xml"/>
  <Override PartName="/ppt/diagrams/quickStyle124.xml" ContentType="application/vnd.openxmlformats-officedocument.drawingml.diagramStyle+xml"/>
  <Override PartName="/ppt/diagrams/colors124.xml" ContentType="application/vnd.openxmlformats-officedocument.drawingml.diagramColors+xml"/>
  <Override PartName="/ppt/diagrams/drawing124.xml" ContentType="application/vnd.ms-office.drawingml.diagramDrawing+xml"/>
  <Override PartName="/ppt/notesSlides/notesSlide18.xml" ContentType="application/vnd.openxmlformats-officedocument.presentationml.notesSlide+xml"/>
  <Override PartName="/ppt/diagrams/data125.xml" ContentType="application/vnd.openxmlformats-officedocument.drawingml.diagramData+xml"/>
  <Override PartName="/ppt/diagrams/layout125.xml" ContentType="application/vnd.openxmlformats-officedocument.drawingml.diagramLayout+xml"/>
  <Override PartName="/ppt/diagrams/quickStyle125.xml" ContentType="application/vnd.openxmlformats-officedocument.drawingml.diagramStyle+xml"/>
  <Override PartName="/ppt/diagrams/colors125.xml" ContentType="application/vnd.openxmlformats-officedocument.drawingml.diagramColors+xml"/>
  <Override PartName="/ppt/diagrams/drawing125.xml" ContentType="application/vnd.ms-office.drawingml.diagramDrawing+xml"/>
  <Override PartName="/ppt/notesSlides/notesSlide19.xml" ContentType="application/vnd.openxmlformats-officedocument.presentationml.notesSlide+xml"/>
  <Override PartName="/ppt/diagrams/data126.xml" ContentType="application/vnd.openxmlformats-officedocument.drawingml.diagramData+xml"/>
  <Override PartName="/ppt/diagrams/layout126.xml" ContentType="application/vnd.openxmlformats-officedocument.drawingml.diagramLayout+xml"/>
  <Override PartName="/ppt/diagrams/quickStyle126.xml" ContentType="application/vnd.openxmlformats-officedocument.drawingml.diagramStyle+xml"/>
  <Override PartName="/ppt/diagrams/colors126.xml" ContentType="application/vnd.openxmlformats-officedocument.drawingml.diagramColors+xml"/>
  <Override PartName="/ppt/diagrams/drawing126.xml" ContentType="application/vnd.ms-office.drawingml.diagramDrawing+xml"/>
  <Override PartName="/ppt/notesSlides/notesSlide20.xml" ContentType="application/vnd.openxmlformats-officedocument.presentationml.notesSlide+xml"/>
  <Override PartName="/ppt/diagrams/data127.xml" ContentType="application/vnd.openxmlformats-officedocument.drawingml.diagramData+xml"/>
  <Override PartName="/ppt/diagrams/layout127.xml" ContentType="application/vnd.openxmlformats-officedocument.drawingml.diagramLayout+xml"/>
  <Override PartName="/ppt/diagrams/quickStyle127.xml" ContentType="application/vnd.openxmlformats-officedocument.drawingml.diagramStyle+xml"/>
  <Override PartName="/ppt/diagrams/colors127.xml" ContentType="application/vnd.openxmlformats-officedocument.drawingml.diagramColors+xml"/>
  <Override PartName="/ppt/diagrams/drawing127.xml" ContentType="application/vnd.ms-office.drawingml.diagramDrawing+xml"/>
  <Override PartName="/ppt/notesSlides/notesSlide21.xml" ContentType="application/vnd.openxmlformats-officedocument.presentationml.notesSlide+xml"/>
  <Override PartName="/ppt/diagrams/data128.xml" ContentType="application/vnd.openxmlformats-officedocument.drawingml.diagramData+xml"/>
  <Override PartName="/ppt/diagrams/layout128.xml" ContentType="application/vnd.openxmlformats-officedocument.drawingml.diagramLayout+xml"/>
  <Override PartName="/ppt/diagrams/quickStyle128.xml" ContentType="application/vnd.openxmlformats-officedocument.drawingml.diagramStyle+xml"/>
  <Override PartName="/ppt/diagrams/colors128.xml" ContentType="application/vnd.openxmlformats-officedocument.drawingml.diagramColors+xml"/>
  <Override PartName="/ppt/diagrams/drawing128.xml" ContentType="application/vnd.ms-office.drawingml.diagramDrawing+xml"/>
  <Override PartName="/ppt/notesSlides/notesSlide22.xml" ContentType="application/vnd.openxmlformats-officedocument.presentationml.notesSlide+xml"/>
  <Override PartName="/ppt/diagrams/data129.xml" ContentType="application/vnd.openxmlformats-officedocument.drawingml.diagramData+xml"/>
  <Override PartName="/ppt/diagrams/layout129.xml" ContentType="application/vnd.openxmlformats-officedocument.drawingml.diagramLayout+xml"/>
  <Override PartName="/ppt/diagrams/quickStyle129.xml" ContentType="application/vnd.openxmlformats-officedocument.drawingml.diagramStyle+xml"/>
  <Override PartName="/ppt/diagrams/colors129.xml" ContentType="application/vnd.openxmlformats-officedocument.drawingml.diagramColors+xml"/>
  <Override PartName="/ppt/diagrams/drawing129.xml" ContentType="application/vnd.ms-office.drawingml.diagramDrawing+xml"/>
  <Override PartName="/ppt/notesSlides/notesSlide23.xml" ContentType="application/vnd.openxmlformats-officedocument.presentationml.notesSlide+xml"/>
  <Override PartName="/ppt/diagrams/data130.xml" ContentType="application/vnd.openxmlformats-officedocument.drawingml.diagramData+xml"/>
  <Override PartName="/ppt/diagrams/layout130.xml" ContentType="application/vnd.openxmlformats-officedocument.drawingml.diagramLayout+xml"/>
  <Override PartName="/ppt/diagrams/quickStyle130.xml" ContentType="application/vnd.openxmlformats-officedocument.drawingml.diagramStyle+xml"/>
  <Override PartName="/ppt/diagrams/colors130.xml" ContentType="application/vnd.openxmlformats-officedocument.drawingml.diagramColors+xml"/>
  <Override PartName="/ppt/diagrams/drawing130.xml" ContentType="application/vnd.ms-office.drawingml.diagramDrawing+xml"/>
  <Override PartName="/ppt/notesSlides/notesSlide24.xml" ContentType="application/vnd.openxmlformats-officedocument.presentationml.notesSlide+xml"/>
  <Override PartName="/ppt/diagrams/data131.xml" ContentType="application/vnd.openxmlformats-officedocument.drawingml.diagramData+xml"/>
  <Override PartName="/ppt/diagrams/layout131.xml" ContentType="application/vnd.openxmlformats-officedocument.drawingml.diagramLayout+xml"/>
  <Override PartName="/ppt/diagrams/quickStyle131.xml" ContentType="application/vnd.openxmlformats-officedocument.drawingml.diagramStyle+xml"/>
  <Override PartName="/ppt/diagrams/colors131.xml" ContentType="application/vnd.openxmlformats-officedocument.drawingml.diagramColors+xml"/>
  <Override PartName="/ppt/diagrams/drawing131.xml" ContentType="application/vnd.ms-office.drawingml.diagramDrawing+xml"/>
  <Override PartName="/ppt/notesSlides/notesSlide25.xml" ContentType="application/vnd.openxmlformats-officedocument.presentationml.notesSlide+xml"/>
  <Override PartName="/ppt/diagrams/data132.xml" ContentType="application/vnd.openxmlformats-officedocument.drawingml.diagramData+xml"/>
  <Override PartName="/ppt/diagrams/layout132.xml" ContentType="application/vnd.openxmlformats-officedocument.drawingml.diagramLayout+xml"/>
  <Override PartName="/ppt/diagrams/quickStyle132.xml" ContentType="application/vnd.openxmlformats-officedocument.drawingml.diagramStyle+xml"/>
  <Override PartName="/ppt/diagrams/colors132.xml" ContentType="application/vnd.openxmlformats-officedocument.drawingml.diagramColors+xml"/>
  <Override PartName="/ppt/diagrams/drawing132.xml" ContentType="application/vnd.ms-office.drawingml.diagramDrawing+xml"/>
  <Override PartName="/ppt/notesSlides/notesSlide26.xml" ContentType="application/vnd.openxmlformats-officedocument.presentationml.notesSlide+xml"/>
  <Override PartName="/ppt/diagrams/data133.xml" ContentType="application/vnd.openxmlformats-officedocument.drawingml.diagramData+xml"/>
  <Override PartName="/ppt/diagrams/layout133.xml" ContentType="application/vnd.openxmlformats-officedocument.drawingml.diagramLayout+xml"/>
  <Override PartName="/ppt/diagrams/quickStyle133.xml" ContentType="application/vnd.openxmlformats-officedocument.drawingml.diagramStyle+xml"/>
  <Override PartName="/ppt/diagrams/colors133.xml" ContentType="application/vnd.openxmlformats-officedocument.drawingml.diagramColors+xml"/>
  <Override PartName="/ppt/diagrams/drawing133.xml" ContentType="application/vnd.ms-office.drawingml.diagramDrawing+xml"/>
  <Override PartName="/ppt/notesSlides/notesSlide27.xml" ContentType="application/vnd.openxmlformats-officedocument.presentationml.notesSlide+xml"/>
  <Override PartName="/ppt/diagrams/data134.xml" ContentType="application/vnd.openxmlformats-officedocument.drawingml.diagramData+xml"/>
  <Override PartName="/ppt/diagrams/layout134.xml" ContentType="application/vnd.openxmlformats-officedocument.drawingml.diagramLayout+xml"/>
  <Override PartName="/ppt/diagrams/quickStyle134.xml" ContentType="application/vnd.openxmlformats-officedocument.drawingml.diagramStyle+xml"/>
  <Override PartName="/ppt/diagrams/colors134.xml" ContentType="application/vnd.openxmlformats-officedocument.drawingml.diagramColors+xml"/>
  <Override PartName="/ppt/diagrams/drawing134.xml" ContentType="application/vnd.ms-office.drawingml.diagramDrawing+xml"/>
  <Override PartName="/ppt/notesSlides/notesSlide28.xml" ContentType="application/vnd.openxmlformats-officedocument.presentationml.notesSlide+xml"/>
  <Override PartName="/ppt/diagrams/data135.xml" ContentType="application/vnd.openxmlformats-officedocument.drawingml.diagramData+xml"/>
  <Override PartName="/ppt/diagrams/layout135.xml" ContentType="application/vnd.openxmlformats-officedocument.drawingml.diagramLayout+xml"/>
  <Override PartName="/ppt/diagrams/quickStyle135.xml" ContentType="application/vnd.openxmlformats-officedocument.drawingml.diagramStyle+xml"/>
  <Override PartName="/ppt/diagrams/colors135.xml" ContentType="application/vnd.openxmlformats-officedocument.drawingml.diagramColors+xml"/>
  <Override PartName="/ppt/diagrams/drawing135.xml" ContentType="application/vnd.ms-office.drawingml.diagramDrawing+xml"/>
  <Override PartName="/ppt/notesSlides/notesSlide29.xml" ContentType="application/vnd.openxmlformats-officedocument.presentationml.notesSlide+xml"/>
  <Override PartName="/ppt/diagrams/data136.xml" ContentType="application/vnd.openxmlformats-officedocument.drawingml.diagramData+xml"/>
  <Override PartName="/ppt/diagrams/layout136.xml" ContentType="application/vnd.openxmlformats-officedocument.drawingml.diagramLayout+xml"/>
  <Override PartName="/ppt/diagrams/quickStyle136.xml" ContentType="application/vnd.openxmlformats-officedocument.drawingml.diagramStyle+xml"/>
  <Override PartName="/ppt/diagrams/colors136.xml" ContentType="application/vnd.openxmlformats-officedocument.drawingml.diagramColors+xml"/>
  <Override PartName="/ppt/diagrams/drawing136.xml" ContentType="application/vnd.ms-office.drawingml.diagramDrawing+xml"/>
  <Override PartName="/ppt/notesSlides/notesSlide30.xml" ContentType="application/vnd.openxmlformats-officedocument.presentationml.notesSlide+xml"/>
  <Override PartName="/ppt/diagrams/data137.xml" ContentType="application/vnd.openxmlformats-officedocument.drawingml.diagramData+xml"/>
  <Override PartName="/ppt/diagrams/layout137.xml" ContentType="application/vnd.openxmlformats-officedocument.drawingml.diagramLayout+xml"/>
  <Override PartName="/ppt/diagrams/quickStyle137.xml" ContentType="application/vnd.openxmlformats-officedocument.drawingml.diagramStyle+xml"/>
  <Override PartName="/ppt/diagrams/colors137.xml" ContentType="application/vnd.openxmlformats-officedocument.drawingml.diagramColors+xml"/>
  <Override PartName="/ppt/diagrams/drawing137.xml" ContentType="application/vnd.ms-office.drawingml.diagramDrawing+xml"/>
  <Override PartName="/ppt/notesSlides/notesSlide31.xml" ContentType="application/vnd.openxmlformats-officedocument.presentationml.notesSlide+xml"/>
  <Override PartName="/ppt/diagrams/data138.xml" ContentType="application/vnd.openxmlformats-officedocument.drawingml.diagramData+xml"/>
  <Override PartName="/ppt/diagrams/layout138.xml" ContentType="application/vnd.openxmlformats-officedocument.drawingml.diagramLayout+xml"/>
  <Override PartName="/ppt/diagrams/quickStyle138.xml" ContentType="application/vnd.openxmlformats-officedocument.drawingml.diagramStyle+xml"/>
  <Override PartName="/ppt/diagrams/colors138.xml" ContentType="application/vnd.openxmlformats-officedocument.drawingml.diagramColors+xml"/>
  <Override PartName="/ppt/diagrams/drawing138.xml" ContentType="application/vnd.ms-office.drawingml.diagramDrawing+xml"/>
  <Override PartName="/ppt/notesSlides/notesSlide32.xml" ContentType="application/vnd.openxmlformats-officedocument.presentationml.notesSlide+xml"/>
  <Override PartName="/ppt/diagrams/data139.xml" ContentType="application/vnd.openxmlformats-officedocument.drawingml.diagramData+xml"/>
  <Override PartName="/ppt/diagrams/layout139.xml" ContentType="application/vnd.openxmlformats-officedocument.drawingml.diagramLayout+xml"/>
  <Override PartName="/ppt/diagrams/quickStyle139.xml" ContentType="application/vnd.openxmlformats-officedocument.drawingml.diagramStyle+xml"/>
  <Override PartName="/ppt/diagrams/colors139.xml" ContentType="application/vnd.openxmlformats-officedocument.drawingml.diagramColors+xml"/>
  <Override PartName="/ppt/diagrams/drawing139.xml" ContentType="application/vnd.ms-office.drawingml.diagramDrawing+xml"/>
  <Override PartName="/ppt/notesSlides/notesSlide33.xml" ContentType="application/vnd.openxmlformats-officedocument.presentationml.notesSlide+xml"/>
  <Override PartName="/ppt/diagrams/data140.xml" ContentType="application/vnd.openxmlformats-officedocument.drawingml.diagramData+xml"/>
  <Override PartName="/ppt/diagrams/layout140.xml" ContentType="application/vnd.openxmlformats-officedocument.drawingml.diagramLayout+xml"/>
  <Override PartName="/ppt/diagrams/quickStyle140.xml" ContentType="application/vnd.openxmlformats-officedocument.drawingml.diagramStyle+xml"/>
  <Override PartName="/ppt/diagrams/colors140.xml" ContentType="application/vnd.openxmlformats-officedocument.drawingml.diagramColors+xml"/>
  <Override PartName="/ppt/diagrams/drawing140.xml" ContentType="application/vnd.ms-office.drawingml.diagramDrawing+xml"/>
  <Override PartName="/ppt/notesSlides/notesSlide34.xml" ContentType="application/vnd.openxmlformats-officedocument.presentationml.notesSlide+xml"/>
  <Override PartName="/ppt/diagrams/data141.xml" ContentType="application/vnd.openxmlformats-officedocument.drawingml.diagramData+xml"/>
  <Override PartName="/ppt/diagrams/layout141.xml" ContentType="application/vnd.openxmlformats-officedocument.drawingml.diagramLayout+xml"/>
  <Override PartName="/ppt/diagrams/quickStyle141.xml" ContentType="application/vnd.openxmlformats-officedocument.drawingml.diagramStyle+xml"/>
  <Override PartName="/ppt/diagrams/colors141.xml" ContentType="application/vnd.openxmlformats-officedocument.drawingml.diagramColors+xml"/>
  <Override PartName="/ppt/diagrams/drawing141.xml" ContentType="application/vnd.ms-office.drawingml.diagramDrawing+xml"/>
  <Override PartName="/ppt/notesSlides/notesSlide35.xml" ContentType="application/vnd.openxmlformats-officedocument.presentationml.notesSlide+xml"/>
  <Override PartName="/ppt/diagrams/data142.xml" ContentType="application/vnd.openxmlformats-officedocument.drawingml.diagramData+xml"/>
  <Override PartName="/ppt/diagrams/layout142.xml" ContentType="application/vnd.openxmlformats-officedocument.drawingml.diagramLayout+xml"/>
  <Override PartName="/ppt/diagrams/quickStyle142.xml" ContentType="application/vnd.openxmlformats-officedocument.drawingml.diagramStyle+xml"/>
  <Override PartName="/ppt/diagrams/colors142.xml" ContentType="application/vnd.openxmlformats-officedocument.drawingml.diagramColors+xml"/>
  <Override PartName="/ppt/diagrams/drawing142.xml" ContentType="application/vnd.ms-office.drawingml.diagramDrawing+xml"/>
  <Override PartName="/ppt/notesSlides/notesSlide36.xml" ContentType="application/vnd.openxmlformats-officedocument.presentationml.notesSlide+xml"/>
  <Override PartName="/ppt/diagrams/data143.xml" ContentType="application/vnd.openxmlformats-officedocument.drawingml.diagramData+xml"/>
  <Override PartName="/ppt/diagrams/layout143.xml" ContentType="application/vnd.openxmlformats-officedocument.drawingml.diagramLayout+xml"/>
  <Override PartName="/ppt/diagrams/quickStyle143.xml" ContentType="application/vnd.openxmlformats-officedocument.drawingml.diagramStyle+xml"/>
  <Override PartName="/ppt/diagrams/colors143.xml" ContentType="application/vnd.openxmlformats-officedocument.drawingml.diagramColors+xml"/>
  <Override PartName="/ppt/diagrams/drawing143.xml" ContentType="application/vnd.ms-office.drawingml.diagramDrawing+xml"/>
  <Override PartName="/ppt/notesSlides/notesSlide37.xml" ContentType="application/vnd.openxmlformats-officedocument.presentationml.notesSlide+xml"/>
  <Override PartName="/ppt/diagrams/data144.xml" ContentType="application/vnd.openxmlformats-officedocument.drawingml.diagramData+xml"/>
  <Override PartName="/ppt/diagrams/layout144.xml" ContentType="application/vnd.openxmlformats-officedocument.drawingml.diagramLayout+xml"/>
  <Override PartName="/ppt/diagrams/quickStyle144.xml" ContentType="application/vnd.openxmlformats-officedocument.drawingml.diagramStyle+xml"/>
  <Override PartName="/ppt/diagrams/colors144.xml" ContentType="application/vnd.openxmlformats-officedocument.drawingml.diagramColors+xml"/>
  <Override PartName="/ppt/diagrams/drawing144.xml" ContentType="application/vnd.ms-office.drawingml.diagramDrawing+xml"/>
  <Override PartName="/ppt/notesSlides/notesSlide38.xml" ContentType="application/vnd.openxmlformats-officedocument.presentationml.notesSlide+xml"/>
  <Override PartName="/ppt/diagrams/data145.xml" ContentType="application/vnd.openxmlformats-officedocument.drawingml.diagramData+xml"/>
  <Override PartName="/ppt/diagrams/layout145.xml" ContentType="application/vnd.openxmlformats-officedocument.drawingml.diagramLayout+xml"/>
  <Override PartName="/ppt/diagrams/quickStyle145.xml" ContentType="application/vnd.openxmlformats-officedocument.drawingml.diagramStyle+xml"/>
  <Override PartName="/ppt/diagrams/colors145.xml" ContentType="application/vnd.openxmlformats-officedocument.drawingml.diagramColors+xml"/>
  <Override PartName="/ppt/diagrams/drawing145.xml" ContentType="application/vnd.ms-office.drawingml.diagramDrawing+xml"/>
  <Override PartName="/ppt/notesSlides/notesSlide39.xml" ContentType="application/vnd.openxmlformats-officedocument.presentationml.notesSlide+xml"/>
  <Override PartName="/ppt/diagrams/data146.xml" ContentType="application/vnd.openxmlformats-officedocument.drawingml.diagramData+xml"/>
  <Override PartName="/ppt/diagrams/layout146.xml" ContentType="application/vnd.openxmlformats-officedocument.drawingml.diagramLayout+xml"/>
  <Override PartName="/ppt/diagrams/quickStyle146.xml" ContentType="application/vnd.openxmlformats-officedocument.drawingml.diagramStyle+xml"/>
  <Override PartName="/ppt/diagrams/colors146.xml" ContentType="application/vnd.openxmlformats-officedocument.drawingml.diagramColors+xml"/>
  <Override PartName="/ppt/diagrams/drawing146.xml" ContentType="application/vnd.ms-office.drawingml.diagramDrawing+xml"/>
  <Override PartName="/ppt/notesSlides/notesSlide40.xml" ContentType="application/vnd.openxmlformats-officedocument.presentationml.notesSlide+xml"/>
  <Override PartName="/ppt/diagrams/data147.xml" ContentType="application/vnd.openxmlformats-officedocument.drawingml.diagramData+xml"/>
  <Override PartName="/ppt/diagrams/layout147.xml" ContentType="application/vnd.openxmlformats-officedocument.drawingml.diagramLayout+xml"/>
  <Override PartName="/ppt/diagrams/quickStyle147.xml" ContentType="application/vnd.openxmlformats-officedocument.drawingml.diagramStyle+xml"/>
  <Override PartName="/ppt/diagrams/colors147.xml" ContentType="application/vnd.openxmlformats-officedocument.drawingml.diagramColors+xml"/>
  <Override PartName="/ppt/diagrams/drawing147.xml" ContentType="application/vnd.ms-office.drawingml.diagramDrawing+xml"/>
  <Override PartName="/ppt/notesSlides/notesSlide41.xml" ContentType="application/vnd.openxmlformats-officedocument.presentationml.notesSlide+xml"/>
  <Override PartName="/ppt/diagrams/data148.xml" ContentType="application/vnd.openxmlformats-officedocument.drawingml.diagramData+xml"/>
  <Override PartName="/ppt/diagrams/layout148.xml" ContentType="application/vnd.openxmlformats-officedocument.drawingml.diagramLayout+xml"/>
  <Override PartName="/ppt/diagrams/quickStyle148.xml" ContentType="application/vnd.openxmlformats-officedocument.drawingml.diagramStyle+xml"/>
  <Override PartName="/ppt/diagrams/colors148.xml" ContentType="application/vnd.openxmlformats-officedocument.drawingml.diagramColors+xml"/>
  <Override PartName="/ppt/diagrams/drawing148.xml" ContentType="application/vnd.ms-office.drawingml.diagramDrawing+xml"/>
  <Override PartName="/ppt/notesSlides/notesSlide42.xml" ContentType="application/vnd.openxmlformats-officedocument.presentationml.notesSlide+xml"/>
  <Override PartName="/ppt/diagrams/data149.xml" ContentType="application/vnd.openxmlformats-officedocument.drawingml.diagramData+xml"/>
  <Override PartName="/ppt/diagrams/layout149.xml" ContentType="application/vnd.openxmlformats-officedocument.drawingml.diagramLayout+xml"/>
  <Override PartName="/ppt/diagrams/quickStyle149.xml" ContentType="application/vnd.openxmlformats-officedocument.drawingml.diagramStyle+xml"/>
  <Override PartName="/ppt/diagrams/colors149.xml" ContentType="application/vnd.openxmlformats-officedocument.drawingml.diagramColors+xml"/>
  <Override PartName="/ppt/diagrams/drawing149.xml" ContentType="application/vnd.ms-office.drawingml.diagramDrawing+xml"/>
  <Override PartName="/ppt/notesSlides/notesSlide43.xml" ContentType="application/vnd.openxmlformats-officedocument.presentationml.notesSlide+xml"/>
  <Override PartName="/ppt/diagrams/data150.xml" ContentType="application/vnd.openxmlformats-officedocument.drawingml.diagramData+xml"/>
  <Override PartName="/ppt/diagrams/layout150.xml" ContentType="application/vnd.openxmlformats-officedocument.drawingml.diagramLayout+xml"/>
  <Override PartName="/ppt/diagrams/quickStyle150.xml" ContentType="application/vnd.openxmlformats-officedocument.drawingml.diagramStyle+xml"/>
  <Override PartName="/ppt/diagrams/colors150.xml" ContentType="application/vnd.openxmlformats-officedocument.drawingml.diagramColors+xml"/>
  <Override PartName="/ppt/diagrams/drawing150.xml" ContentType="application/vnd.ms-office.drawingml.diagramDrawing+xml"/>
  <Override PartName="/ppt/diagrams/data151.xml" ContentType="application/vnd.openxmlformats-officedocument.drawingml.diagramData+xml"/>
  <Override PartName="/ppt/diagrams/layout151.xml" ContentType="application/vnd.openxmlformats-officedocument.drawingml.diagramLayout+xml"/>
  <Override PartName="/ppt/diagrams/quickStyle151.xml" ContentType="application/vnd.openxmlformats-officedocument.drawingml.diagramStyle+xml"/>
  <Override PartName="/ppt/diagrams/colors151.xml" ContentType="application/vnd.openxmlformats-officedocument.drawingml.diagramColors+xml"/>
  <Override PartName="/ppt/diagrams/drawing151.xml" ContentType="application/vnd.ms-office.drawingml.diagramDrawing+xml"/>
  <Override PartName="/ppt/diagrams/data152.xml" ContentType="application/vnd.openxmlformats-officedocument.drawingml.diagramData+xml"/>
  <Override PartName="/ppt/diagrams/layout152.xml" ContentType="application/vnd.openxmlformats-officedocument.drawingml.diagramLayout+xml"/>
  <Override PartName="/ppt/diagrams/quickStyle152.xml" ContentType="application/vnd.openxmlformats-officedocument.drawingml.diagramStyle+xml"/>
  <Override PartName="/ppt/diagrams/colors152.xml" ContentType="application/vnd.openxmlformats-officedocument.drawingml.diagramColors+xml"/>
  <Override PartName="/ppt/diagrams/drawing152.xml" ContentType="application/vnd.ms-office.drawingml.diagramDrawing+xml"/>
  <Override PartName="/ppt/diagrams/data153.xml" ContentType="application/vnd.openxmlformats-officedocument.drawingml.diagramData+xml"/>
  <Override PartName="/ppt/diagrams/layout153.xml" ContentType="application/vnd.openxmlformats-officedocument.drawingml.diagramLayout+xml"/>
  <Override PartName="/ppt/diagrams/quickStyle153.xml" ContentType="application/vnd.openxmlformats-officedocument.drawingml.diagramStyle+xml"/>
  <Override PartName="/ppt/diagrams/colors153.xml" ContentType="application/vnd.openxmlformats-officedocument.drawingml.diagramColors+xml"/>
  <Override PartName="/ppt/diagrams/drawing153.xml" ContentType="application/vnd.ms-office.drawingml.diagramDrawing+xml"/>
  <Override PartName="/ppt/diagrams/data154.xml" ContentType="application/vnd.openxmlformats-officedocument.drawingml.diagramData+xml"/>
  <Override PartName="/ppt/diagrams/layout154.xml" ContentType="application/vnd.openxmlformats-officedocument.drawingml.diagramLayout+xml"/>
  <Override PartName="/ppt/diagrams/quickStyle154.xml" ContentType="application/vnd.openxmlformats-officedocument.drawingml.diagramStyle+xml"/>
  <Override PartName="/ppt/diagrams/colors154.xml" ContentType="application/vnd.openxmlformats-officedocument.drawingml.diagramColors+xml"/>
  <Override PartName="/ppt/diagrams/drawing154.xml" ContentType="application/vnd.ms-office.drawingml.diagramDrawing+xml"/>
  <Override PartName="/ppt/diagrams/data155.xml" ContentType="application/vnd.openxmlformats-officedocument.drawingml.diagramData+xml"/>
  <Override PartName="/ppt/diagrams/layout155.xml" ContentType="application/vnd.openxmlformats-officedocument.drawingml.diagramLayout+xml"/>
  <Override PartName="/ppt/diagrams/quickStyle155.xml" ContentType="application/vnd.openxmlformats-officedocument.drawingml.diagramStyle+xml"/>
  <Override PartName="/ppt/diagrams/colors155.xml" ContentType="application/vnd.openxmlformats-officedocument.drawingml.diagramColors+xml"/>
  <Override PartName="/ppt/diagrams/drawing155.xml" ContentType="application/vnd.ms-office.drawingml.diagramDrawing+xml"/>
  <Override PartName="/ppt/diagrams/data156.xml" ContentType="application/vnd.openxmlformats-officedocument.drawingml.diagramData+xml"/>
  <Override PartName="/ppt/diagrams/layout156.xml" ContentType="application/vnd.openxmlformats-officedocument.drawingml.diagramLayout+xml"/>
  <Override PartName="/ppt/diagrams/quickStyle156.xml" ContentType="application/vnd.openxmlformats-officedocument.drawingml.diagramStyle+xml"/>
  <Override PartName="/ppt/diagrams/colors156.xml" ContentType="application/vnd.openxmlformats-officedocument.drawingml.diagramColors+xml"/>
  <Override PartName="/ppt/diagrams/drawing156.xml" ContentType="application/vnd.ms-office.drawingml.diagramDrawing+xml"/>
  <Override PartName="/ppt/diagrams/data157.xml" ContentType="application/vnd.openxmlformats-officedocument.drawingml.diagramData+xml"/>
  <Override PartName="/ppt/diagrams/layout157.xml" ContentType="application/vnd.openxmlformats-officedocument.drawingml.diagramLayout+xml"/>
  <Override PartName="/ppt/diagrams/quickStyle157.xml" ContentType="application/vnd.openxmlformats-officedocument.drawingml.diagramStyle+xml"/>
  <Override PartName="/ppt/diagrams/colors157.xml" ContentType="application/vnd.openxmlformats-officedocument.drawingml.diagramColors+xml"/>
  <Override PartName="/ppt/diagrams/drawing157.xml" ContentType="application/vnd.ms-office.drawingml.diagramDrawing+xml"/>
  <Override PartName="/ppt/diagrams/data158.xml" ContentType="application/vnd.openxmlformats-officedocument.drawingml.diagramData+xml"/>
  <Override PartName="/ppt/diagrams/layout158.xml" ContentType="application/vnd.openxmlformats-officedocument.drawingml.diagramLayout+xml"/>
  <Override PartName="/ppt/diagrams/quickStyle158.xml" ContentType="application/vnd.openxmlformats-officedocument.drawingml.diagramStyle+xml"/>
  <Override PartName="/ppt/diagrams/colors158.xml" ContentType="application/vnd.openxmlformats-officedocument.drawingml.diagramColors+xml"/>
  <Override PartName="/ppt/diagrams/drawing158.xml" ContentType="application/vnd.ms-office.drawingml.diagramDrawing+xml"/>
  <Override PartName="/ppt/diagrams/data159.xml" ContentType="application/vnd.openxmlformats-officedocument.drawingml.diagramData+xml"/>
  <Override PartName="/ppt/diagrams/layout159.xml" ContentType="application/vnd.openxmlformats-officedocument.drawingml.diagramLayout+xml"/>
  <Override PartName="/ppt/diagrams/quickStyle159.xml" ContentType="application/vnd.openxmlformats-officedocument.drawingml.diagramStyle+xml"/>
  <Override PartName="/ppt/diagrams/colors159.xml" ContentType="application/vnd.openxmlformats-officedocument.drawingml.diagramColors+xml"/>
  <Override PartName="/ppt/diagrams/drawing159.xml" ContentType="application/vnd.ms-office.drawingml.diagramDrawing+xml"/>
  <Override PartName="/ppt/diagrams/data160.xml" ContentType="application/vnd.openxmlformats-officedocument.drawingml.diagramData+xml"/>
  <Override PartName="/ppt/diagrams/layout160.xml" ContentType="application/vnd.openxmlformats-officedocument.drawingml.diagramLayout+xml"/>
  <Override PartName="/ppt/diagrams/quickStyle160.xml" ContentType="application/vnd.openxmlformats-officedocument.drawingml.diagramStyle+xml"/>
  <Override PartName="/ppt/diagrams/colors160.xml" ContentType="application/vnd.openxmlformats-officedocument.drawingml.diagramColors+xml"/>
  <Override PartName="/ppt/diagrams/drawing160.xml" ContentType="application/vnd.ms-office.drawingml.diagramDrawing+xml"/>
  <Override PartName="/ppt/diagrams/data161.xml" ContentType="application/vnd.openxmlformats-officedocument.drawingml.diagramData+xml"/>
  <Override PartName="/ppt/diagrams/layout161.xml" ContentType="application/vnd.openxmlformats-officedocument.drawingml.diagramLayout+xml"/>
  <Override PartName="/ppt/diagrams/quickStyle161.xml" ContentType="application/vnd.openxmlformats-officedocument.drawingml.diagramStyle+xml"/>
  <Override PartName="/ppt/diagrams/colors161.xml" ContentType="application/vnd.openxmlformats-officedocument.drawingml.diagramColors+xml"/>
  <Override PartName="/ppt/diagrams/drawing161.xml" ContentType="application/vnd.ms-office.drawingml.diagramDrawing+xml"/>
  <Override PartName="/ppt/diagrams/data162.xml" ContentType="application/vnd.openxmlformats-officedocument.drawingml.diagramData+xml"/>
  <Override PartName="/ppt/diagrams/layout162.xml" ContentType="application/vnd.openxmlformats-officedocument.drawingml.diagramLayout+xml"/>
  <Override PartName="/ppt/diagrams/quickStyle162.xml" ContentType="application/vnd.openxmlformats-officedocument.drawingml.diagramStyle+xml"/>
  <Override PartName="/ppt/diagrams/colors162.xml" ContentType="application/vnd.openxmlformats-officedocument.drawingml.diagramColors+xml"/>
  <Override PartName="/ppt/diagrams/drawing162.xml" ContentType="application/vnd.ms-office.drawingml.diagramDrawing+xml"/>
  <Override PartName="/ppt/diagrams/data163.xml" ContentType="application/vnd.openxmlformats-officedocument.drawingml.diagramData+xml"/>
  <Override PartName="/ppt/diagrams/layout163.xml" ContentType="application/vnd.openxmlformats-officedocument.drawingml.diagramLayout+xml"/>
  <Override PartName="/ppt/diagrams/quickStyle163.xml" ContentType="application/vnd.openxmlformats-officedocument.drawingml.diagramStyle+xml"/>
  <Override PartName="/ppt/diagrams/colors163.xml" ContentType="application/vnd.openxmlformats-officedocument.drawingml.diagramColors+xml"/>
  <Override PartName="/ppt/diagrams/drawing163.xml" ContentType="application/vnd.ms-office.drawingml.diagramDrawing+xml"/>
  <Override PartName="/ppt/diagrams/data164.xml" ContentType="application/vnd.openxmlformats-officedocument.drawingml.diagramData+xml"/>
  <Override PartName="/ppt/diagrams/layout164.xml" ContentType="application/vnd.openxmlformats-officedocument.drawingml.diagramLayout+xml"/>
  <Override PartName="/ppt/diagrams/quickStyle164.xml" ContentType="application/vnd.openxmlformats-officedocument.drawingml.diagramStyle+xml"/>
  <Override PartName="/ppt/diagrams/colors164.xml" ContentType="application/vnd.openxmlformats-officedocument.drawingml.diagramColors+xml"/>
  <Override PartName="/ppt/diagrams/drawing164.xml" ContentType="application/vnd.ms-office.drawingml.diagramDrawing+xml"/>
  <Override PartName="/ppt/diagrams/data165.xml" ContentType="application/vnd.openxmlformats-officedocument.drawingml.diagramData+xml"/>
  <Override PartName="/ppt/diagrams/layout165.xml" ContentType="application/vnd.openxmlformats-officedocument.drawingml.diagramLayout+xml"/>
  <Override PartName="/ppt/diagrams/quickStyle165.xml" ContentType="application/vnd.openxmlformats-officedocument.drawingml.diagramStyle+xml"/>
  <Override PartName="/ppt/diagrams/colors165.xml" ContentType="application/vnd.openxmlformats-officedocument.drawingml.diagramColors+xml"/>
  <Override PartName="/ppt/diagrams/drawing165.xml" ContentType="application/vnd.ms-office.drawingml.diagramDrawing+xml"/>
  <Override PartName="/ppt/diagrams/data166.xml" ContentType="application/vnd.openxmlformats-officedocument.drawingml.diagramData+xml"/>
  <Override PartName="/ppt/diagrams/layout166.xml" ContentType="application/vnd.openxmlformats-officedocument.drawingml.diagramLayout+xml"/>
  <Override PartName="/ppt/diagrams/quickStyle166.xml" ContentType="application/vnd.openxmlformats-officedocument.drawingml.diagramStyle+xml"/>
  <Override PartName="/ppt/diagrams/colors166.xml" ContentType="application/vnd.openxmlformats-officedocument.drawingml.diagramColors+xml"/>
  <Override PartName="/ppt/diagrams/drawing166.xml" ContentType="application/vnd.ms-office.drawingml.diagramDrawing+xml"/>
  <Override PartName="/ppt/diagrams/data167.xml" ContentType="application/vnd.openxmlformats-officedocument.drawingml.diagramData+xml"/>
  <Override PartName="/ppt/diagrams/layout167.xml" ContentType="application/vnd.openxmlformats-officedocument.drawingml.diagramLayout+xml"/>
  <Override PartName="/ppt/diagrams/quickStyle167.xml" ContentType="application/vnd.openxmlformats-officedocument.drawingml.diagramStyle+xml"/>
  <Override PartName="/ppt/diagrams/colors167.xml" ContentType="application/vnd.openxmlformats-officedocument.drawingml.diagramColors+xml"/>
  <Override PartName="/ppt/diagrams/drawing167.xml" ContentType="application/vnd.ms-office.drawingml.diagramDrawing+xml"/>
  <Override PartName="/ppt/diagrams/data168.xml" ContentType="application/vnd.openxmlformats-officedocument.drawingml.diagramData+xml"/>
  <Override PartName="/ppt/diagrams/layout168.xml" ContentType="application/vnd.openxmlformats-officedocument.drawingml.diagramLayout+xml"/>
  <Override PartName="/ppt/diagrams/quickStyle168.xml" ContentType="application/vnd.openxmlformats-officedocument.drawingml.diagramStyle+xml"/>
  <Override PartName="/ppt/diagrams/colors168.xml" ContentType="application/vnd.openxmlformats-officedocument.drawingml.diagramColors+xml"/>
  <Override PartName="/ppt/diagrams/drawing168.xml" ContentType="application/vnd.ms-office.drawingml.diagramDrawing+xml"/>
  <Override PartName="/ppt/diagrams/data169.xml" ContentType="application/vnd.openxmlformats-officedocument.drawingml.diagramData+xml"/>
  <Override PartName="/ppt/diagrams/layout169.xml" ContentType="application/vnd.openxmlformats-officedocument.drawingml.diagramLayout+xml"/>
  <Override PartName="/ppt/diagrams/quickStyle169.xml" ContentType="application/vnd.openxmlformats-officedocument.drawingml.diagramStyle+xml"/>
  <Override PartName="/ppt/diagrams/colors169.xml" ContentType="application/vnd.openxmlformats-officedocument.drawingml.diagramColors+xml"/>
  <Override PartName="/ppt/diagrams/drawing169.xml" ContentType="application/vnd.ms-office.drawingml.diagramDrawing+xml"/>
  <Override PartName="/ppt/diagrams/data170.xml" ContentType="application/vnd.openxmlformats-officedocument.drawingml.diagramData+xml"/>
  <Override PartName="/ppt/diagrams/layout170.xml" ContentType="application/vnd.openxmlformats-officedocument.drawingml.diagramLayout+xml"/>
  <Override PartName="/ppt/diagrams/quickStyle170.xml" ContentType="application/vnd.openxmlformats-officedocument.drawingml.diagramStyle+xml"/>
  <Override PartName="/ppt/diagrams/colors170.xml" ContentType="application/vnd.openxmlformats-officedocument.drawingml.diagramColors+xml"/>
  <Override PartName="/ppt/diagrams/drawing170.xml" ContentType="application/vnd.ms-office.drawingml.diagramDrawing+xml"/>
  <Override PartName="/ppt/diagrams/data171.xml" ContentType="application/vnd.openxmlformats-officedocument.drawingml.diagramData+xml"/>
  <Override PartName="/ppt/diagrams/layout171.xml" ContentType="application/vnd.openxmlformats-officedocument.drawingml.diagramLayout+xml"/>
  <Override PartName="/ppt/diagrams/quickStyle171.xml" ContentType="application/vnd.openxmlformats-officedocument.drawingml.diagramStyle+xml"/>
  <Override PartName="/ppt/diagrams/colors171.xml" ContentType="application/vnd.openxmlformats-officedocument.drawingml.diagramColors+xml"/>
  <Override PartName="/ppt/diagrams/drawing171.xml" ContentType="application/vnd.ms-office.drawingml.diagramDrawing+xml"/>
  <Override PartName="/ppt/diagrams/data172.xml" ContentType="application/vnd.openxmlformats-officedocument.drawingml.diagramData+xml"/>
  <Override PartName="/ppt/diagrams/layout172.xml" ContentType="application/vnd.openxmlformats-officedocument.drawingml.diagramLayout+xml"/>
  <Override PartName="/ppt/diagrams/quickStyle172.xml" ContentType="application/vnd.openxmlformats-officedocument.drawingml.diagramStyle+xml"/>
  <Override PartName="/ppt/diagrams/colors172.xml" ContentType="application/vnd.openxmlformats-officedocument.drawingml.diagramColors+xml"/>
  <Override PartName="/ppt/diagrams/drawing172.xml" ContentType="application/vnd.ms-office.drawingml.diagramDrawing+xml"/>
  <Override PartName="/ppt/diagrams/data173.xml" ContentType="application/vnd.openxmlformats-officedocument.drawingml.diagramData+xml"/>
  <Override PartName="/ppt/diagrams/layout173.xml" ContentType="application/vnd.openxmlformats-officedocument.drawingml.diagramLayout+xml"/>
  <Override PartName="/ppt/diagrams/quickStyle173.xml" ContentType="application/vnd.openxmlformats-officedocument.drawingml.diagramStyle+xml"/>
  <Override PartName="/ppt/diagrams/colors173.xml" ContentType="application/vnd.openxmlformats-officedocument.drawingml.diagramColors+xml"/>
  <Override PartName="/ppt/diagrams/drawing173.xml" ContentType="application/vnd.ms-office.drawingml.diagramDrawing+xml"/>
  <Override PartName="/ppt/diagrams/data174.xml" ContentType="application/vnd.openxmlformats-officedocument.drawingml.diagramData+xml"/>
  <Override PartName="/ppt/diagrams/layout174.xml" ContentType="application/vnd.openxmlformats-officedocument.drawingml.diagramLayout+xml"/>
  <Override PartName="/ppt/diagrams/quickStyle174.xml" ContentType="application/vnd.openxmlformats-officedocument.drawingml.diagramStyle+xml"/>
  <Override PartName="/ppt/diagrams/colors174.xml" ContentType="application/vnd.openxmlformats-officedocument.drawingml.diagramColors+xml"/>
  <Override PartName="/ppt/diagrams/drawing174.xml" ContentType="application/vnd.ms-office.drawingml.diagramDrawing+xml"/>
  <Override PartName="/ppt/diagrams/data175.xml" ContentType="application/vnd.openxmlformats-officedocument.drawingml.diagramData+xml"/>
  <Override PartName="/ppt/diagrams/layout175.xml" ContentType="application/vnd.openxmlformats-officedocument.drawingml.diagramLayout+xml"/>
  <Override PartName="/ppt/diagrams/quickStyle175.xml" ContentType="application/vnd.openxmlformats-officedocument.drawingml.diagramStyle+xml"/>
  <Override PartName="/ppt/diagrams/colors175.xml" ContentType="application/vnd.openxmlformats-officedocument.drawingml.diagramColors+xml"/>
  <Override PartName="/ppt/diagrams/drawing175.xml" ContentType="application/vnd.ms-office.drawingml.diagramDrawing+xml"/>
  <Override PartName="/ppt/diagrams/data176.xml" ContentType="application/vnd.openxmlformats-officedocument.drawingml.diagramData+xml"/>
  <Override PartName="/ppt/diagrams/layout176.xml" ContentType="application/vnd.openxmlformats-officedocument.drawingml.diagramLayout+xml"/>
  <Override PartName="/ppt/diagrams/quickStyle176.xml" ContentType="application/vnd.openxmlformats-officedocument.drawingml.diagramStyle+xml"/>
  <Override PartName="/ppt/diagrams/colors176.xml" ContentType="application/vnd.openxmlformats-officedocument.drawingml.diagramColors+xml"/>
  <Override PartName="/ppt/diagrams/drawing176.xml" ContentType="application/vnd.ms-office.drawingml.diagramDrawing+xml"/>
  <Override PartName="/ppt/diagrams/data177.xml" ContentType="application/vnd.openxmlformats-officedocument.drawingml.diagramData+xml"/>
  <Override PartName="/ppt/diagrams/layout177.xml" ContentType="application/vnd.openxmlformats-officedocument.drawingml.diagramLayout+xml"/>
  <Override PartName="/ppt/diagrams/quickStyle177.xml" ContentType="application/vnd.openxmlformats-officedocument.drawingml.diagramStyle+xml"/>
  <Override PartName="/ppt/diagrams/colors177.xml" ContentType="application/vnd.openxmlformats-officedocument.drawingml.diagramColors+xml"/>
  <Override PartName="/ppt/diagrams/drawing177.xml" ContentType="application/vnd.ms-office.drawingml.diagramDrawing+xml"/>
  <Override PartName="/ppt/diagrams/data178.xml" ContentType="application/vnd.openxmlformats-officedocument.drawingml.diagramData+xml"/>
  <Override PartName="/ppt/diagrams/layout178.xml" ContentType="application/vnd.openxmlformats-officedocument.drawingml.diagramLayout+xml"/>
  <Override PartName="/ppt/diagrams/quickStyle178.xml" ContentType="application/vnd.openxmlformats-officedocument.drawingml.diagramStyle+xml"/>
  <Override PartName="/ppt/diagrams/colors178.xml" ContentType="application/vnd.openxmlformats-officedocument.drawingml.diagramColors+xml"/>
  <Override PartName="/ppt/diagrams/drawing178.xml" ContentType="application/vnd.ms-office.drawingml.diagramDrawing+xml"/>
  <Override PartName="/ppt/diagrams/data179.xml" ContentType="application/vnd.openxmlformats-officedocument.drawingml.diagramData+xml"/>
  <Override PartName="/ppt/diagrams/layout179.xml" ContentType="application/vnd.openxmlformats-officedocument.drawingml.diagramLayout+xml"/>
  <Override PartName="/ppt/diagrams/quickStyle179.xml" ContentType="application/vnd.openxmlformats-officedocument.drawingml.diagramStyle+xml"/>
  <Override PartName="/ppt/diagrams/colors179.xml" ContentType="application/vnd.openxmlformats-officedocument.drawingml.diagramColors+xml"/>
  <Override PartName="/ppt/diagrams/drawing179.xml" ContentType="application/vnd.ms-office.drawingml.diagramDrawing+xml"/>
  <Override PartName="/ppt/diagrams/data180.xml" ContentType="application/vnd.openxmlformats-officedocument.drawingml.diagramData+xml"/>
  <Override PartName="/ppt/diagrams/layout180.xml" ContentType="application/vnd.openxmlformats-officedocument.drawingml.diagramLayout+xml"/>
  <Override PartName="/ppt/diagrams/quickStyle180.xml" ContentType="application/vnd.openxmlformats-officedocument.drawingml.diagramStyle+xml"/>
  <Override PartName="/ppt/diagrams/colors180.xml" ContentType="application/vnd.openxmlformats-officedocument.drawingml.diagramColors+xml"/>
  <Override PartName="/ppt/diagrams/drawing180.xml" ContentType="application/vnd.ms-office.drawingml.diagramDrawing+xml"/>
  <Override PartName="/ppt/diagrams/data181.xml" ContentType="application/vnd.openxmlformats-officedocument.drawingml.diagramData+xml"/>
  <Override PartName="/ppt/diagrams/layout181.xml" ContentType="application/vnd.openxmlformats-officedocument.drawingml.diagramLayout+xml"/>
  <Override PartName="/ppt/diagrams/quickStyle181.xml" ContentType="application/vnd.openxmlformats-officedocument.drawingml.diagramStyle+xml"/>
  <Override PartName="/ppt/diagrams/colors181.xml" ContentType="application/vnd.openxmlformats-officedocument.drawingml.diagramColors+xml"/>
  <Override PartName="/ppt/diagrams/drawing181.xml" ContentType="application/vnd.ms-office.drawingml.diagramDrawing+xml"/>
  <Override PartName="/ppt/diagrams/data182.xml" ContentType="application/vnd.openxmlformats-officedocument.drawingml.diagramData+xml"/>
  <Override PartName="/ppt/diagrams/layout182.xml" ContentType="application/vnd.openxmlformats-officedocument.drawingml.diagramLayout+xml"/>
  <Override PartName="/ppt/diagrams/quickStyle182.xml" ContentType="application/vnd.openxmlformats-officedocument.drawingml.diagramStyle+xml"/>
  <Override PartName="/ppt/diagrams/colors182.xml" ContentType="application/vnd.openxmlformats-officedocument.drawingml.diagramColors+xml"/>
  <Override PartName="/ppt/diagrams/drawing182.xml" ContentType="application/vnd.ms-office.drawingml.diagramDrawing+xml"/>
  <Override PartName="/ppt/diagrams/data183.xml" ContentType="application/vnd.openxmlformats-officedocument.drawingml.diagramData+xml"/>
  <Override PartName="/ppt/diagrams/layout183.xml" ContentType="application/vnd.openxmlformats-officedocument.drawingml.diagramLayout+xml"/>
  <Override PartName="/ppt/diagrams/quickStyle183.xml" ContentType="application/vnd.openxmlformats-officedocument.drawingml.diagramStyle+xml"/>
  <Override PartName="/ppt/diagrams/colors183.xml" ContentType="application/vnd.openxmlformats-officedocument.drawingml.diagramColors+xml"/>
  <Override PartName="/ppt/diagrams/drawing183.xml" ContentType="application/vnd.ms-office.drawingml.diagramDrawing+xml"/>
  <Override PartName="/ppt/diagrams/data184.xml" ContentType="application/vnd.openxmlformats-officedocument.drawingml.diagramData+xml"/>
  <Override PartName="/ppt/diagrams/layout184.xml" ContentType="application/vnd.openxmlformats-officedocument.drawingml.diagramLayout+xml"/>
  <Override PartName="/ppt/diagrams/quickStyle184.xml" ContentType="application/vnd.openxmlformats-officedocument.drawingml.diagramStyle+xml"/>
  <Override PartName="/ppt/diagrams/colors184.xml" ContentType="application/vnd.openxmlformats-officedocument.drawingml.diagramColors+xml"/>
  <Override PartName="/ppt/diagrams/drawing184.xml" ContentType="application/vnd.ms-office.drawingml.diagramDrawing+xml"/>
  <Override PartName="/ppt/diagrams/data185.xml" ContentType="application/vnd.openxmlformats-officedocument.drawingml.diagramData+xml"/>
  <Override PartName="/ppt/diagrams/layout185.xml" ContentType="application/vnd.openxmlformats-officedocument.drawingml.diagramLayout+xml"/>
  <Override PartName="/ppt/diagrams/quickStyle185.xml" ContentType="application/vnd.openxmlformats-officedocument.drawingml.diagramStyle+xml"/>
  <Override PartName="/ppt/diagrams/colors185.xml" ContentType="application/vnd.openxmlformats-officedocument.drawingml.diagramColors+xml"/>
  <Override PartName="/ppt/diagrams/drawing185.xml" ContentType="application/vnd.ms-office.drawingml.diagramDrawing+xml"/>
  <Override PartName="/ppt/diagrams/data186.xml" ContentType="application/vnd.openxmlformats-officedocument.drawingml.diagramData+xml"/>
  <Override PartName="/ppt/diagrams/layout186.xml" ContentType="application/vnd.openxmlformats-officedocument.drawingml.diagramLayout+xml"/>
  <Override PartName="/ppt/diagrams/quickStyle186.xml" ContentType="application/vnd.openxmlformats-officedocument.drawingml.diagramStyle+xml"/>
  <Override PartName="/ppt/diagrams/colors186.xml" ContentType="application/vnd.openxmlformats-officedocument.drawingml.diagramColors+xml"/>
  <Override PartName="/ppt/diagrams/drawing186.xml" ContentType="application/vnd.ms-office.drawingml.diagramDrawing+xml"/>
  <Override PartName="/ppt/diagrams/data187.xml" ContentType="application/vnd.openxmlformats-officedocument.drawingml.diagramData+xml"/>
  <Override PartName="/ppt/diagrams/layout187.xml" ContentType="application/vnd.openxmlformats-officedocument.drawingml.diagramLayout+xml"/>
  <Override PartName="/ppt/diagrams/quickStyle187.xml" ContentType="application/vnd.openxmlformats-officedocument.drawingml.diagramStyle+xml"/>
  <Override PartName="/ppt/diagrams/colors187.xml" ContentType="application/vnd.openxmlformats-officedocument.drawingml.diagramColors+xml"/>
  <Override PartName="/ppt/diagrams/drawing187.xml" ContentType="application/vnd.ms-office.drawingml.diagramDrawing+xml"/>
  <Override PartName="/ppt/diagrams/data188.xml" ContentType="application/vnd.openxmlformats-officedocument.drawingml.diagramData+xml"/>
  <Override PartName="/ppt/diagrams/layout188.xml" ContentType="application/vnd.openxmlformats-officedocument.drawingml.diagramLayout+xml"/>
  <Override PartName="/ppt/diagrams/quickStyle188.xml" ContentType="application/vnd.openxmlformats-officedocument.drawingml.diagramStyle+xml"/>
  <Override PartName="/ppt/diagrams/colors188.xml" ContentType="application/vnd.openxmlformats-officedocument.drawingml.diagramColors+xml"/>
  <Override PartName="/ppt/diagrams/drawing188.xml" ContentType="application/vnd.ms-office.drawingml.diagramDrawing+xml"/>
  <Override PartName="/ppt/diagrams/data189.xml" ContentType="application/vnd.openxmlformats-officedocument.drawingml.diagramData+xml"/>
  <Override PartName="/ppt/diagrams/layout189.xml" ContentType="application/vnd.openxmlformats-officedocument.drawingml.diagramLayout+xml"/>
  <Override PartName="/ppt/diagrams/quickStyle189.xml" ContentType="application/vnd.openxmlformats-officedocument.drawingml.diagramStyle+xml"/>
  <Override PartName="/ppt/diagrams/colors189.xml" ContentType="application/vnd.openxmlformats-officedocument.drawingml.diagramColors+xml"/>
  <Override PartName="/ppt/diagrams/drawing189.xml" ContentType="application/vnd.ms-office.drawingml.diagramDrawing+xml"/>
  <Override PartName="/ppt/diagrams/data190.xml" ContentType="application/vnd.openxmlformats-officedocument.drawingml.diagramData+xml"/>
  <Override PartName="/ppt/diagrams/layout190.xml" ContentType="application/vnd.openxmlformats-officedocument.drawingml.diagramLayout+xml"/>
  <Override PartName="/ppt/diagrams/quickStyle190.xml" ContentType="application/vnd.openxmlformats-officedocument.drawingml.diagramStyle+xml"/>
  <Override PartName="/ppt/diagrams/colors190.xml" ContentType="application/vnd.openxmlformats-officedocument.drawingml.diagramColors+xml"/>
  <Override PartName="/ppt/diagrams/drawing190.xml" ContentType="application/vnd.ms-office.drawingml.diagramDrawing+xml"/>
  <Override PartName="/ppt/diagrams/data191.xml" ContentType="application/vnd.openxmlformats-officedocument.drawingml.diagramData+xml"/>
  <Override PartName="/ppt/diagrams/layout191.xml" ContentType="application/vnd.openxmlformats-officedocument.drawingml.diagramLayout+xml"/>
  <Override PartName="/ppt/diagrams/quickStyle191.xml" ContentType="application/vnd.openxmlformats-officedocument.drawingml.diagramStyle+xml"/>
  <Override PartName="/ppt/diagrams/colors191.xml" ContentType="application/vnd.openxmlformats-officedocument.drawingml.diagramColors+xml"/>
  <Override PartName="/ppt/diagrams/drawing191.xml" ContentType="application/vnd.ms-office.drawingml.diagramDrawing+xml"/>
  <Override PartName="/ppt/diagrams/data192.xml" ContentType="application/vnd.openxmlformats-officedocument.drawingml.diagramData+xml"/>
  <Override PartName="/ppt/diagrams/layout192.xml" ContentType="application/vnd.openxmlformats-officedocument.drawingml.diagramLayout+xml"/>
  <Override PartName="/ppt/diagrams/quickStyle192.xml" ContentType="application/vnd.openxmlformats-officedocument.drawingml.diagramStyle+xml"/>
  <Override PartName="/ppt/diagrams/colors192.xml" ContentType="application/vnd.openxmlformats-officedocument.drawingml.diagramColors+xml"/>
  <Override PartName="/ppt/diagrams/drawing192.xml" ContentType="application/vnd.ms-office.drawingml.diagramDrawing+xml"/>
  <Override PartName="/ppt/diagrams/data193.xml" ContentType="application/vnd.openxmlformats-officedocument.drawingml.diagramData+xml"/>
  <Override PartName="/ppt/diagrams/layout193.xml" ContentType="application/vnd.openxmlformats-officedocument.drawingml.diagramLayout+xml"/>
  <Override PartName="/ppt/diagrams/quickStyle193.xml" ContentType="application/vnd.openxmlformats-officedocument.drawingml.diagramStyle+xml"/>
  <Override PartName="/ppt/diagrams/colors193.xml" ContentType="application/vnd.openxmlformats-officedocument.drawingml.diagramColors+xml"/>
  <Override PartName="/ppt/diagrams/drawing193.xml" ContentType="application/vnd.ms-office.drawingml.diagramDrawing+xml"/>
  <Override PartName="/ppt/diagrams/data194.xml" ContentType="application/vnd.openxmlformats-officedocument.drawingml.diagramData+xml"/>
  <Override PartName="/ppt/diagrams/layout194.xml" ContentType="application/vnd.openxmlformats-officedocument.drawingml.diagramLayout+xml"/>
  <Override PartName="/ppt/diagrams/quickStyle194.xml" ContentType="application/vnd.openxmlformats-officedocument.drawingml.diagramStyle+xml"/>
  <Override PartName="/ppt/diagrams/colors194.xml" ContentType="application/vnd.openxmlformats-officedocument.drawingml.diagramColors+xml"/>
  <Override PartName="/ppt/diagrams/drawing194.xml" ContentType="application/vnd.ms-office.drawingml.diagramDrawing+xml"/>
  <Override PartName="/ppt/diagrams/data195.xml" ContentType="application/vnd.openxmlformats-officedocument.drawingml.diagramData+xml"/>
  <Override PartName="/ppt/diagrams/layout195.xml" ContentType="application/vnd.openxmlformats-officedocument.drawingml.diagramLayout+xml"/>
  <Override PartName="/ppt/diagrams/quickStyle195.xml" ContentType="application/vnd.openxmlformats-officedocument.drawingml.diagramStyle+xml"/>
  <Override PartName="/ppt/diagrams/colors195.xml" ContentType="application/vnd.openxmlformats-officedocument.drawingml.diagramColors+xml"/>
  <Override PartName="/ppt/diagrams/drawing195.xml" ContentType="application/vnd.ms-office.drawingml.diagramDrawing+xml"/>
  <Override PartName="/ppt/diagrams/data196.xml" ContentType="application/vnd.openxmlformats-officedocument.drawingml.diagramData+xml"/>
  <Override PartName="/ppt/diagrams/layout196.xml" ContentType="application/vnd.openxmlformats-officedocument.drawingml.diagramLayout+xml"/>
  <Override PartName="/ppt/diagrams/quickStyle196.xml" ContentType="application/vnd.openxmlformats-officedocument.drawingml.diagramStyle+xml"/>
  <Override PartName="/ppt/diagrams/colors196.xml" ContentType="application/vnd.openxmlformats-officedocument.drawingml.diagramColors+xml"/>
  <Override PartName="/ppt/diagrams/drawing196.xml" ContentType="application/vnd.ms-office.drawingml.diagramDrawing+xml"/>
  <Override PartName="/ppt/diagrams/data197.xml" ContentType="application/vnd.openxmlformats-officedocument.drawingml.diagramData+xml"/>
  <Override PartName="/ppt/diagrams/layout197.xml" ContentType="application/vnd.openxmlformats-officedocument.drawingml.diagramLayout+xml"/>
  <Override PartName="/ppt/diagrams/quickStyle197.xml" ContentType="application/vnd.openxmlformats-officedocument.drawingml.diagramStyle+xml"/>
  <Override PartName="/ppt/diagrams/colors197.xml" ContentType="application/vnd.openxmlformats-officedocument.drawingml.diagramColors+xml"/>
  <Override PartName="/ppt/diagrams/drawing197.xml" ContentType="application/vnd.ms-office.drawingml.diagramDrawing+xml"/>
  <Override PartName="/ppt/diagrams/data198.xml" ContentType="application/vnd.openxmlformats-officedocument.drawingml.diagramData+xml"/>
  <Override PartName="/ppt/diagrams/layout198.xml" ContentType="application/vnd.openxmlformats-officedocument.drawingml.diagramLayout+xml"/>
  <Override PartName="/ppt/diagrams/quickStyle198.xml" ContentType="application/vnd.openxmlformats-officedocument.drawingml.diagramStyle+xml"/>
  <Override PartName="/ppt/diagrams/colors198.xml" ContentType="application/vnd.openxmlformats-officedocument.drawingml.diagramColors+xml"/>
  <Override PartName="/ppt/diagrams/drawing198.xml" ContentType="application/vnd.ms-office.drawingml.diagramDrawing+xml"/>
  <Override PartName="/ppt/diagrams/data199.xml" ContentType="application/vnd.openxmlformats-officedocument.drawingml.diagramData+xml"/>
  <Override PartName="/ppt/diagrams/layout199.xml" ContentType="application/vnd.openxmlformats-officedocument.drawingml.diagramLayout+xml"/>
  <Override PartName="/ppt/diagrams/quickStyle199.xml" ContentType="application/vnd.openxmlformats-officedocument.drawingml.diagramStyle+xml"/>
  <Override PartName="/ppt/diagrams/colors199.xml" ContentType="application/vnd.openxmlformats-officedocument.drawingml.diagramColors+xml"/>
  <Override PartName="/ppt/diagrams/drawing199.xml" ContentType="application/vnd.ms-office.drawingml.diagramDrawing+xml"/>
  <Override PartName="/ppt/diagrams/data200.xml" ContentType="application/vnd.openxmlformats-officedocument.drawingml.diagramData+xml"/>
  <Override PartName="/ppt/diagrams/layout200.xml" ContentType="application/vnd.openxmlformats-officedocument.drawingml.diagramLayout+xml"/>
  <Override PartName="/ppt/diagrams/quickStyle200.xml" ContentType="application/vnd.openxmlformats-officedocument.drawingml.diagramStyle+xml"/>
  <Override PartName="/ppt/diagrams/colors200.xml" ContentType="application/vnd.openxmlformats-officedocument.drawingml.diagramColors+xml"/>
  <Override PartName="/ppt/diagrams/drawing200.xml" ContentType="application/vnd.ms-office.drawingml.diagramDrawing+xml"/>
  <Override PartName="/ppt/diagrams/data201.xml" ContentType="application/vnd.openxmlformats-officedocument.drawingml.diagramData+xml"/>
  <Override PartName="/ppt/diagrams/layout201.xml" ContentType="application/vnd.openxmlformats-officedocument.drawingml.diagramLayout+xml"/>
  <Override PartName="/ppt/diagrams/quickStyle201.xml" ContentType="application/vnd.openxmlformats-officedocument.drawingml.diagramStyle+xml"/>
  <Override PartName="/ppt/diagrams/colors201.xml" ContentType="application/vnd.openxmlformats-officedocument.drawingml.diagramColors+xml"/>
  <Override PartName="/ppt/diagrams/drawing201.xml" ContentType="application/vnd.ms-office.drawingml.diagramDrawing+xml"/>
  <Override PartName="/ppt/diagrams/data202.xml" ContentType="application/vnd.openxmlformats-officedocument.drawingml.diagramData+xml"/>
  <Override PartName="/ppt/diagrams/layout202.xml" ContentType="application/vnd.openxmlformats-officedocument.drawingml.diagramLayout+xml"/>
  <Override PartName="/ppt/diagrams/quickStyle202.xml" ContentType="application/vnd.openxmlformats-officedocument.drawingml.diagramStyle+xml"/>
  <Override PartName="/ppt/diagrams/colors202.xml" ContentType="application/vnd.openxmlformats-officedocument.drawingml.diagramColors+xml"/>
  <Override PartName="/ppt/diagrams/drawing202.xml" ContentType="application/vnd.ms-office.drawingml.diagramDrawing+xml"/>
  <Override PartName="/ppt/diagrams/data203.xml" ContentType="application/vnd.openxmlformats-officedocument.drawingml.diagramData+xml"/>
  <Override PartName="/ppt/diagrams/layout203.xml" ContentType="application/vnd.openxmlformats-officedocument.drawingml.diagramLayout+xml"/>
  <Override PartName="/ppt/diagrams/quickStyle203.xml" ContentType="application/vnd.openxmlformats-officedocument.drawingml.diagramStyle+xml"/>
  <Override PartName="/ppt/diagrams/colors203.xml" ContentType="application/vnd.openxmlformats-officedocument.drawingml.diagramColors+xml"/>
  <Override PartName="/ppt/diagrams/drawing203.xml" ContentType="application/vnd.ms-office.drawingml.diagramDrawing+xml"/>
  <Override PartName="/ppt/diagrams/data204.xml" ContentType="application/vnd.openxmlformats-officedocument.drawingml.diagramData+xml"/>
  <Override PartName="/ppt/diagrams/layout204.xml" ContentType="application/vnd.openxmlformats-officedocument.drawingml.diagramLayout+xml"/>
  <Override PartName="/ppt/diagrams/quickStyle204.xml" ContentType="application/vnd.openxmlformats-officedocument.drawingml.diagramStyle+xml"/>
  <Override PartName="/ppt/diagrams/colors204.xml" ContentType="application/vnd.openxmlformats-officedocument.drawingml.diagramColors+xml"/>
  <Override PartName="/ppt/diagrams/drawing204.xml" ContentType="application/vnd.ms-office.drawingml.diagramDrawing+xml"/>
  <Override PartName="/ppt/diagrams/data205.xml" ContentType="application/vnd.openxmlformats-officedocument.drawingml.diagramData+xml"/>
  <Override PartName="/ppt/diagrams/layout205.xml" ContentType="application/vnd.openxmlformats-officedocument.drawingml.diagramLayout+xml"/>
  <Override PartName="/ppt/diagrams/quickStyle205.xml" ContentType="application/vnd.openxmlformats-officedocument.drawingml.diagramStyle+xml"/>
  <Override PartName="/ppt/diagrams/colors205.xml" ContentType="application/vnd.openxmlformats-officedocument.drawingml.diagramColors+xml"/>
  <Override PartName="/ppt/diagrams/drawing205.xml" ContentType="application/vnd.ms-office.drawingml.diagramDrawing+xml"/>
  <Override PartName="/ppt/diagrams/data206.xml" ContentType="application/vnd.openxmlformats-officedocument.drawingml.diagramData+xml"/>
  <Override PartName="/ppt/diagrams/layout206.xml" ContentType="application/vnd.openxmlformats-officedocument.drawingml.diagramLayout+xml"/>
  <Override PartName="/ppt/diagrams/quickStyle206.xml" ContentType="application/vnd.openxmlformats-officedocument.drawingml.diagramStyle+xml"/>
  <Override PartName="/ppt/diagrams/colors206.xml" ContentType="application/vnd.openxmlformats-officedocument.drawingml.diagramColors+xml"/>
  <Override PartName="/ppt/diagrams/drawing206.xml" ContentType="application/vnd.ms-office.drawingml.diagramDrawing+xml"/>
  <Override PartName="/ppt/diagrams/data207.xml" ContentType="application/vnd.openxmlformats-officedocument.drawingml.diagramData+xml"/>
  <Override PartName="/ppt/diagrams/layout207.xml" ContentType="application/vnd.openxmlformats-officedocument.drawingml.diagramLayout+xml"/>
  <Override PartName="/ppt/diagrams/quickStyle207.xml" ContentType="application/vnd.openxmlformats-officedocument.drawingml.diagramStyle+xml"/>
  <Override PartName="/ppt/diagrams/colors207.xml" ContentType="application/vnd.openxmlformats-officedocument.drawingml.diagramColors+xml"/>
  <Override PartName="/ppt/diagrams/drawing207.xml" ContentType="application/vnd.ms-office.drawingml.diagramDrawing+xml"/>
  <Override PartName="/ppt/diagrams/data208.xml" ContentType="application/vnd.openxmlformats-officedocument.drawingml.diagramData+xml"/>
  <Override PartName="/ppt/diagrams/layout208.xml" ContentType="application/vnd.openxmlformats-officedocument.drawingml.diagramLayout+xml"/>
  <Override PartName="/ppt/diagrams/quickStyle208.xml" ContentType="application/vnd.openxmlformats-officedocument.drawingml.diagramStyle+xml"/>
  <Override PartName="/ppt/diagrams/colors208.xml" ContentType="application/vnd.openxmlformats-officedocument.drawingml.diagramColors+xml"/>
  <Override PartName="/ppt/diagrams/drawing208.xml" ContentType="application/vnd.ms-office.drawingml.diagramDrawing+xml"/>
  <Override PartName="/ppt/notesSlides/notesSlide44.xml" ContentType="application/vnd.openxmlformats-officedocument.presentationml.notesSlide+xml"/>
  <Override PartName="/ppt/diagrams/data209.xml" ContentType="application/vnd.openxmlformats-officedocument.drawingml.diagramData+xml"/>
  <Override PartName="/ppt/diagrams/layout209.xml" ContentType="application/vnd.openxmlformats-officedocument.drawingml.diagramLayout+xml"/>
  <Override PartName="/ppt/diagrams/quickStyle209.xml" ContentType="application/vnd.openxmlformats-officedocument.drawingml.diagramStyle+xml"/>
  <Override PartName="/ppt/diagrams/colors209.xml" ContentType="application/vnd.openxmlformats-officedocument.drawingml.diagramColors+xml"/>
  <Override PartName="/ppt/diagrams/drawing209.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11"/>
  </p:notesMasterIdLst>
  <p:sldIdLst>
    <p:sldId id="256" r:id="rId5"/>
    <p:sldId id="1068" r:id="rId6"/>
    <p:sldId id="1069" r:id="rId7"/>
    <p:sldId id="1070" r:id="rId8"/>
    <p:sldId id="1071" r:id="rId9"/>
    <p:sldId id="1072" r:id="rId10"/>
    <p:sldId id="1073" r:id="rId11"/>
    <p:sldId id="1075" r:id="rId12"/>
    <p:sldId id="1074" r:id="rId13"/>
    <p:sldId id="1076" r:id="rId14"/>
    <p:sldId id="1077" r:id="rId15"/>
    <p:sldId id="1078" r:id="rId16"/>
    <p:sldId id="1079" r:id="rId17"/>
    <p:sldId id="1080" r:id="rId18"/>
    <p:sldId id="1081" r:id="rId19"/>
    <p:sldId id="1082" r:id="rId20"/>
    <p:sldId id="1083" r:id="rId21"/>
    <p:sldId id="1084" r:id="rId22"/>
    <p:sldId id="1085" r:id="rId23"/>
    <p:sldId id="1086" r:id="rId24"/>
    <p:sldId id="1087" r:id="rId25"/>
    <p:sldId id="1088" r:id="rId26"/>
    <p:sldId id="1089" r:id="rId27"/>
    <p:sldId id="1090" r:id="rId28"/>
    <p:sldId id="1091" r:id="rId29"/>
    <p:sldId id="1092" r:id="rId30"/>
    <p:sldId id="1093" r:id="rId31"/>
    <p:sldId id="1096" r:id="rId32"/>
    <p:sldId id="1094" r:id="rId33"/>
    <p:sldId id="1095" r:id="rId34"/>
    <p:sldId id="1097" r:id="rId35"/>
    <p:sldId id="1098" r:id="rId36"/>
    <p:sldId id="1100" r:id="rId37"/>
    <p:sldId id="1101" r:id="rId38"/>
    <p:sldId id="1102" r:id="rId39"/>
    <p:sldId id="445" r:id="rId40"/>
    <p:sldId id="446" r:id="rId41"/>
    <p:sldId id="315" r:id="rId42"/>
    <p:sldId id="1554" r:id="rId43"/>
    <p:sldId id="1555" r:id="rId44"/>
    <p:sldId id="1556" r:id="rId45"/>
    <p:sldId id="1557" r:id="rId46"/>
    <p:sldId id="1103" r:id="rId47"/>
    <p:sldId id="1105" r:id="rId48"/>
    <p:sldId id="1125" r:id="rId49"/>
    <p:sldId id="1104" r:id="rId50"/>
    <p:sldId id="1108" r:id="rId51"/>
    <p:sldId id="1109" r:id="rId52"/>
    <p:sldId id="1111" r:id="rId53"/>
    <p:sldId id="1110" r:id="rId54"/>
    <p:sldId id="1112" r:id="rId55"/>
    <p:sldId id="1113" r:id="rId56"/>
    <p:sldId id="1114" r:id="rId57"/>
    <p:sldId id="1115" r:id="rId58"/>
    <p:sldId id="1116" r:id="rId59"/>
    <p:sldId id="1126" r:id="rId60"/>
    <p:sldId id="1117" r:id="rId61"/>
    <p:sldId id="1118" r:id="rId62"/>
    <p:sldId id="1119" r:id="rId63"/>
    <p:sldId id="1120" r:id="rId64"/>
    <p:sldId id="1121" r:id="rId65"/>
    <p:sldId id="1122" r:id="rId66"/>
    <p:sldId id="1124" r:id="rId67"/>
    <p:sldId id="1127" r:id="rId68"/>
    <p:sldId id="1128" r:id="rId69"/>
    <p:sldId id="1141" r:id="rId70"/>
    <p:sldId id="1143" r:id="rId71"/>
    <p:sldId id="1145" r:id="rId72"/>
    <p:sldId id="1146" r:id="rId73"/>
    <p:sldId id="1140" r:id="rId74"/>
    <p:sldId id="1144" r:id="rId75"/>
    <p:sldId id="1148" r:id="rId76"/>
    <p:sldId id="1149" r:id="rId77"/>
    <p:sldId id="1150" r:id="rId78"/>
    <p:sldId id="1129" r:id="rId79"/>
    <p:sldId id="1130" r:id="rId80"/>
    <p:sldId id="1131" r:id="rId81"/>
    <p:sldId id="1132" r:id="rId82"/>
    <p:sldId id="1133" r:id="rId83"/>
    <p:sldId id="1142" r:id="rId84"/>
    <p:sldId id="1147" r:id="rId85"/>
    <p:sldId id="457" r:id="rId86"/>
    <p:sldId id="458" r:id="rId87"/>
    <p:sldId id="459" r:id="rId88"/>
    <p:sldId id="336" r:id="rId89"/>
    <p:sldId id="447" r:id="rId90"/>
    <p:sldId id="448" r:id="rId91"/>
    <p:sldId id="449" r:id="rId92"/>
    <p:sldId id="450" r:id="rId93"/>
    <p:sldId id="413" r:id="rId94"/>
    <p:sldId id="316" r:id="rId95"/>
    <p:sldId id="1134" r:id="rId96"/>
    <p:sldId id="1135" r:id="rId97"/>
    <p:sldId id="1136" r:id="rId98"/>
    <p:sldId id="1137" r:id="rId99"/>
    <p:sldId id="1139" r:id="rId100"/>
    <p:sldId id="1151" r:id="rId101"/>
    <p:sldId id="1152" r:id="rId102"/>
    <p:sldId id="1153" r:id="rId103"/>
    <p:sldId id="1154" r:id="rId104"/>
    <p:sldId id="1165" r:id="rId105"/>
    <p:sldId id="1166" r:id="rId106"/>
    <p:sldId id="1155" r:id="rId107"/>
    <p:sldId id="1167" r:id="rId108"/>
    <p:sldId id="1157" r:id="rId109"/>
    <p:sldId id="346" r:id="rId110"/>
    <p:sldId id="1159" r:id="rId111"/>
    <p:sldId id="1160" r:id="rId112"/>
    <p:sldId id="1161" r:id="rId113"/>
    <p:sldId id="1328" r:id="rId114"/>
    <p:sldId id="1329" r:id="rId115"/>
    <p:sldId id="1162" r:id="rId116"/>
    <p:sldId id="1163" r:id="rId117"/>
    <p:sldId id="1218" r:id="rId118"/>
    <p:sldId id="347" r:id="rId119"/>
    <p:sldId id="1175" r:id="rId120"/>
    <p:sldId id="452" r:id="rId121"/>
    <p:sldId id="1174" r:id="rId122"/>
    <p:sldId id="1186" r:id="rId123"/>
    <p:sldId id="1187" r:id="rId124"/>
    <p:sldId id="1177" r:id="rId125"/>
    <p:sldId id="1178" r:id="rId126"/>
    <p:sldId id="1179" r:id="rId127"/>
    <p:sldId id="1180" r:id="rId128"/>
    <p:sldId id="1181" r:id="rId129"/>
    <p:sldId id="1168" r:id="rId130"/>
    <p:sldId id="340" r:id="rId131"/>
    <p:sldId id="341" r:id="rId132"/>
    <p:sldId id="343" r:id="rId133"/>
    <p:sldId id="344" r:id="rId134"/>
    <p:sldId id="345" r:id="rId135"/>
    <p:sldId id="1169" r:id="rId136"/>
    <p:sldId id="1170" r:id="rId137"/>
    <p:sldId id="1171" r:id="rId138"/>
    <p:sldId id="1172" r:id="rId139"/>
    <p:sldId id="1173" r:id="rId140"/>
    <p:sldId id="1182" r:id="rId141"/>
    <p:sldId id="1183" r:id="rId142"/>
    <p:sldId id="1184" r:id="rId143"/>
    <p:sldId id="1258" r:id="rId144"/>
    <p:sldId id="1259" r:id="rId145"/>
    <p:sldId id="1260" r:id="rId146"/>
    <p:sldId id="1261" r:id="rId147"/>
    <p:sldId id="1219" r:id="rId148"/>
    <p:sldId id="1220" r:id="rId149"/>
    <p:sldId id="1221" r:id="rId150"/>
    <p:sldId id="1331" r:id="rId151"/>
    <p:sldId id="1332" r:id="rId152"/>
    <p:sldId id="1333" r:id="rId153"/>
    <p:sldId id="451" r:id="rId154"/>
    <p:sldId id="1188" r:id="rId155"/>
    <p:sldId id="1190" r:id="rId156"/>
    <p:sldId id="1189" r:id="rId157"/>
    <p:sldId id="453" r:id="rId158"/>
    <p:sldId id="1191" r:id="rId159"/>
    <p:sldId id="455" r:id="rId160"/>
    <p:sldId id="454" r:id="rId161"/>
    <p:sldId id="318" r:id="rId162"/>
    <p:sldId id="1192" r:id="rId163"/>
    <p:sldId id="1193" r:id="rId164"/>
    <p:sldId id="1194" r:id="rId165"/>
    <p:sldId id="1195" r:id="rId166"/>
    <p:sldId id="348" r:id="rId167"/>
    <p:sldId id="739" r:id="rId168"/>
    <p:sldId id="740" r:id="rId169"/>
    <p:sldId id="1196" r:id="rId170"/>
    <p:sldId id="377" r:id="rId171"/>
    <p:sldId id="1330" r:id="rId172"/>
    <p:sldId id="1336" r:id="rId173"/>
    <p:sldId id="1337" r:id="rId174"/>
    <p:sldId id="1338" r:id="rId175"/>
    <p:sldId id="1339" r:id="rId176"/>
    <p:sldId id="1340" r:id="rId177"/>
    <p:sldId id="1341" r:id="rId178"/>
    <p:sldId id="1558" r:id="rId179"/>
    <p:sldId id="1559" r:id="rId180"/>
    <p:sldId id="1560" r:id="rId181"/>
    <p:sldId id="350" r:id="rId182"/>
    <p:sldId id="1197" r:id="rId183"/>
    <p:sldId id="1200" r:id="rId184"/>
    <p:sldId id="1201" r:id="rId185"/>
    <p:sldId id="1202" r:id="rId186"/>
    <p:sldId id="1203" r:id="rId187"/>
    <p:sldId id="1204" r:id="rId188"/>
    <p:sldId id="1205" r:id="rId189"/>
    <p:sldId id="1199" r:id="rId190"/>
    <p:sldId id="1207" r:id="rId191"/>
    <p:sldId id="1206" r:id="rId192"/>
    <p:sldId id="1211" r:id="rId193"/>
    <p:sldId id="1209" r:id="rId194"/>
    <p:sldId id="354" r:id="rId195"/>
    <p:sldId id="1215" r:id="rId196"/>
    <p:sldId id="1214" r:id="rId197"/>
    <p:sldId id="355" r:id="rId198"/>
    <p:sldId id="1212" r:id="rId199"/>
    <p:sldId id="320" r:id="rId200"/>
    <p:sldId id="1213" r:id="rId201"/>
    <p:sldId id="1222" r:id="rId202"/>
    <p:sldId id="1223" r:id="rId203"/>
    <p:sldId id="1224" r:id="rId204"/>
    <p:sldId id="1225" r:id="rId205"/>
    <p:sldId id="1226" r:id="rId206"/>
    <p:sldId id="1227" r:id="rId207"/>
    <p:sldId id="1228" r:id="rId208"/>
    <p:sldId id="1229" r:id="rId209"/>
    <p:sldId id="1230" r:id="rId210"/>
    <p:sldId id="1231" r:id="rId211"/>
    <p:sldId id="1232" r:id="rId212"/>
    <p:sldId id="1238" r:id="rId213"/>
    <p:sldId id="1239" r:id="rId214"/>
    <p:sldId id="1240" r:id="rId215"/>
    <p:sldId id="1241" r:id="rId216"/>
    <p:sldId id="1242" r:id="rId217"/>
    <p:sldId id="1243" r:id="rId218"/>
    <p:sldId id="1244" r:id="rId219"/>
    <p:sldId id="1245" r:id="rId220"/>
    <p:sldId id="1246" r:id="rId221"/>
    <p:sldId id="1247" r:id="rId222"/>
    <p:sldId id="1248" r:id="rId223"/>
    <p:sldId id="1249" r:id="rId224"/>
    <p:sldId id="1233" r:id="rId225"/>
    <p:sldId id="1235" r:id="rId226"/>
    <p:sldId id="1234" r:id="rId227"/>
    <p:sldId id="1236" r:id="rId228"/>
    <p:sldId id="1237" r:id="rId229"/>
    <p:sldId id="1568" r:id="rId230"/>
    <p:sldId id="1567" r:id="rId231"/>
    <p:sldId id="1569" r:id="rId232"/>
    <p:sldId id="1489" r:id="rId233"/>
    <p:sldId id="1490" r:id="rId234"/>
    <p:sldId id="1491" r:id="rId235"/>
    <p:sldId id="1492" r:id="rId236"/>
    <p:sldId id="1493" r:id="rId237"/>
    <p:sldId id="1494" r:id="rId238"/>
    <p:sldId id="1495" r:id="rId239"/>
    <p:sldId id="1540" r:id="rId240"/>
    <p:sldId id="1550" r:id="rId241"/>
    <p:sldId id="1551" r:id="rId242"/>
    <p:sldId id="1552" r:id="rId243"/>
    <p:sldId id="1553" r:id="rId244"/>
    <p:sldId id="1474" r:id="rId245"/>
    <p:sldId id="1475" r:id="rId246"/>
    <p:sldId id="1476" r:id="rId247"/>
    <p:sldId id="1477" r:id="rId248"/>
    <p:sldId id="1478" r:id="rId249"/>
    <p:sldId id="1479" r:id="rId250"/>
    <p:sldId id="1480" r:id="rId251"/>
    <p:sldId id="1481" r:id="rId252"/>
    <p:sldId id="1482" r:id="rId253"/>
    <p:sldId id="1483" r:id="rId254"/>
    <p:sldId id="1346" r:id="rId255"/>
    <p:sldId id="1347" r:id="rId256"/>
    <p:sldId id="1348" r:id="rId257"/>
    <p:sldId id="1349" r:id="rId258"/>
    <p:sldId id="1350" r:id="rId259"/>
    <p:sldId id="1351" r:id="rId260"/>
    <p:sldId id="1352" r:id="rId261"/>
    <p:sldId id="1353" r:id="rId262"/>
    <p:sldId id="1354" r:id="rId263"/>
    <p:sldId id="1356" r:id="rId264"/>
    <p:sldId id="1355" r:id="rId265"/>
    <p:sldId id="1357" r:id="rId266"/>
    <p:sldId id="1358" r:id="rId267"/>
    <p:sldId id="1359" r:id="rId268"/>
    <p:sldId id="1360" r:id="rId269"/>
    <p:sldId id="522" r:id="rId270"/>
    <p:sldId id="572" r:id="rId271"/>
    <p:sldId id="1541" r:id="rId272"/>
    <p:sldId id="1542" r:id="rId273"/>
    <p:sldId id="1505" r:id="rId274"/>
    <p:sldId id="1543" r:id="rId275"/>
    <p:sldId id="1504" r:id="rId276"/>
    <p:sldId id="1503" r:id="rId277"/>
    <p:sldId id="1544" r:id="rId278"/>
    <p:sldId id="1506" r:id="rId279"/>
    <p:sldId id="1545" r:id="rId280"/>
    <p:sldId id="1507" r:id="rId281"/>
    <p:sldId id="1546" r:id="rId282"/>
    <p:sldId id="1508" r:id="rId283"/>
    <p:sldId id="1342" r:id="rId284"/>
    <p:sldId id="1509" r:id="rId285"/>
    <p:sldId id="1343" r:id="rId286"/>
    <p:sldId id="1510" r:id="rId287"/>
    <p:sldId id="1344" r:id="rId288"/>
    <p:sldId id="1511" r:id="rId289"/>
    <p:sldId id="1345" r:id="rId290"/>
    <p:sldId id="1512" r:id="rId291"/>
    <p:sldId id="1561" r:id="rId292"/>
    <p:sldId id="1562" r:id="rId293"/>
    <p:sldId id="1513" r:id="rId294"/>
    <p:sldId id="1514" r:id="rId295"/>
    <p:sldId id="1515" r:id="rId296"/>
    <p:sldId id="1516" r:id="rId297"/>
    <p:sldId id="1517" r:id="rId298"/>
    <p:sldId id="1518" r:id="rId299"/>
    <p:sldId id="1519" r:id="rId300"/>
    <p:sldId id="1520" r:id="rId301"/>
    <p:sldId id="1521" r:id="rId302"/>
    <p:sldId id="1522" r:id="rId303"/>
    <p:sldId id="1523" r:id="rId304"/>
    <p:sldId id="1524" r:id="rId305"/>
    <p:sldId id="1525" r:id="rId306"/>
    <p:sldId id="365" r:id="rId307"/>
    <p:sldId id="366" r:id="rId308"/>
    <p:sldId id="577" r:id="rId309"/>
    <p:sldId id="578" r:id="rId310"/>
    <p:sldId id="580" r:id="rId311"/>
    <p:sldId id="581" r:id="rId312"/>
    <p:sldId id="976" r:id="rId313"/>
    <p:sldId id="977" r:id="rId314"/>
    <p:sldId id="978" r:id="rId315"/>
    <p:sldId id="979" r:id="rId316"/>
    <p:sldId id="980" r:id="rId317"/>
    <p:sldId id="981" r:id="rId318"/>
    <p:sldId id="982" r:id="rId319"/>
    <p:sldId id="983" r:id="rId320"/>
    <p:sldId id="984" r:id="rId321"/>
    <p:sldId id="986" r:id="rId322"/>
    <p:sldId id="987" r:id="rId323"/>
    <p:sldId id="369" r:id="rId324"/>
    <p:sldId id="435" r:id="rId325"/>
    <p:sldId id="576" r:id="rId326"/>
    <p:sldId id="742" r:id="rId327"/>
    <p:sldId id="743" r:id="rId328"/>
    <p:sldId id="744" r:id="rId329"/>
    <p:sldId id="745" r:id="rId330"/>
    <p:sldId id="1547" r:id="rId331"/>
    <p:sldId id="1548" r:id="rId332"/>
    <p:sldId id="748" r:id="rId333"/>
    <p:sldId id="415" r:id="rId334"/>
    <p:sldId id="1527" r:id="rId335"/>
    <p:sldId id="1528" r:id="rId336"/>
    <p:sldId id="1529" r:id="rId337"/>
    <p:sldId id="1530" r:id="rId338"/>
    <p:sldId id="1531" r:id="rId339"/>
    <p:sldId id="1532" r:id="rId340"/>
    <p:sldId id="1533" r:id="rId341"/>
    <p:sldId id="1534" r:id="rId342"/>
    <p:sldId id="1535" r:id="rId343"/>
    <p:sldId id="1536" r:id="rId344"/>
    <p:sldId id="1537" r:id="rId345"/>
    <p:sldId id="1538" r:id="rId346"/>
    <p:sldId id="1539" r:id="rId347"/>
    <p:sldId id="1549" r:id="rId348"/>
    <p:sldId id="363" r:id="rId349"/>
    <p:sldId id="1409" r:id="rId350"/>
    <p:sldId id="1411" r:id="rId351"/>
    <p:sldId id="1412" r:id="rId352"/>
    <p:sldId id="1413" r:id="rId353"/>
    <p:sldId id="1415" r:id="rId354"/>
    <p:sldId id="1416" r:id="rId355"/>
    <p:sldId id="1417" r:id="rId356"/>
    <p:sldId id="1418" r:id="rId357"/>
    <p:sldId id="1419" r:id="rId358"/>
    <p:sldId id="1496" r:id="rId359"/>
    <p:sldId id="1497" r:id="rId360"/>
    <p:sldId id="1498" r:id="rId361"/>
    <p:sldId id="1499" r:id="rId362"/>
    <p:sldId id="1500" r:id="rId363"/>
    <p:sldId id="1501" r:id="rId364"/>
    <p:sldId id="1502" r:id="rId365"/>
    <p:sldId id="1410" r:id="rId366"/>
    <p:sldId id="1526" r:id="rId367"/>
    <p:sldId id="370" r:id="rId368"/>
    <p:sldId id="583" r:id="rId369"/>
    <p:sldId id="1361" r:id="rId370"/>
    <p:sldId id="1362" r:id="rId371"/>
    <p:sldId id="1363" r:id="rId372"/>
    <p:sldId id="1364" r:id="rId373"/>
    <p:sldId id="1365" r:id="rId374"/>
    <p:sldId id="1366" r:id="rId375"/>
    <p:sldId id="1367" r:id="rId376"/>
    <p:sldId id="1368" r:id="rId377"/>
    <p:sldId id="1369" r:id="rId378"/>
    <p:sldId id="1370" r:id="rId379"/>
    <p:sldId id="1371" r:id="rId380"/>
    <p:sldId id="1372" r:id="rId381"/>
    <p:sldId id="1374" r:id="rId382"/>
    <p:sldId id="1373" r:id="rId383"/>
    <p:sldId id="1375" r:id="rId384"/>
    <p:sldId id="1376" r:id="rId385"/>
    <p:sldId id="1377" r:id="rId386"/>
    <p:sldId id="1378" r:id="rId387"/>
    <p:sldId id="1379" r:id="rId388"/>
    <p:sldId id="1380" r:id="rId389"/>
    <p:sldId id="1381" r:id="rId390"/>
    <p:sldId id="1382" r:id="rId391"/>
    <p:sldId id="1383" r:id="rId392"/>
    <p:sldId id="1384" r:id="rId393"/>
    <p:sldId id="371" r:id="rId394"/>
    <p:sldId id="1424" r:id="rId395"/>
    <p:sldId id="1425" r:id="rId396"/>
    <p:sldId id="441" r:id="rId397"/>
    <p:sldId id="1420" r:id="rId398"/>
    <p:sldId id="1421" r:id="rId399"/>
    <p:sldId id="1422" r:id="rId400"/>
    <p:sldId id="439" r:id="rId401"/>
    <p:sldId id="1436" r:id="rId402"/>
    <p:sldId id="1437" r:id="rId403"/>
    <p:sldId id="1438" r:id="rId404"/>
    <p:sldId id="1439" r:id="rId405"/>
    <p:sldId id="1440" r:id="rId406"/>
    <p:sldId id="1441" r:id="rId407"/>
    <p:sldId id="440" r:id="rId408"/>
    <p:sldId id="1427" r:id="rId409"/>
    <p:sldId id="1428" r:id="rId410"/>
    <p:sldId id="1429" r:id="rId411"/>
    <p:sldId id="1430" r:id="rId412"/>
    <p:sldId id="442" r:id="rId413"/>
    <p:sldId id="443" r:id="rId414"/>
    <p:sldId id="484" r:id="rId415"/>
    <p:sldId id="1431" r:id="rId416"/>
    <p:sldId id="1432" r:id="rId417"/>
    <p:sldId id="1433" r:id="rId418"/>
    <p:sldId id="1434" r:id="rId419"/>
    <p:sldId id="438" r:id="rId420"/>
    <p:sldId id="1385" r:id="rId421"/>
    <p:sldId id="1386" r:id="rId422"/>
    <p:sldId id="1387" r:id="rId423"/>
    <p:sldId id="1388" r:id="rId424"/>
    <p:sldId id="1389" r:id="rId425"/>
    <p:sldId id="1390" r:id="rId426"/>
    <p:sldId id="1391" r:id="rId427"/>
    <p:sldId id="1392" r:id="rId428"/>
    <p:sldId id="1393" r:id="rId429"/>
    <p:sldId id="1394" r:id="rId430"/>
    <p:sldId id="1395" r:id="rId431"/>
    <p:sldId id="1396" r:id="rId432"/>
    <p:sldId id="1250" r:id="rId433"/>
    <p:sldId id="1251" r:id="rId434"/>
    <p:sldId id="1252" r:id="rId435"/>
    <p:sldId id="1253" r:id="rId436"/>
    <p:sldId id="1263" r:id="rId437"/>
    <p:sldId id="1264" r:id="rId438"/>
    <p:sldId id="1265" r:id="rId439"/>
    <p:sldId id="1266" r:id="rId440"/>
    <p:sldId id="1267" r:id="rId441"/>
    <p:sldId id="1268" r:id="rId442"/>
    <p:sldId id="1269" r:id="rId443"/>
    <p:sldId id="1270" r:id="rId444"/>
    <p:sldId id="1271" r:id="rId445"/>
    <p:sldId id="1272" r:id="rId446"/>
    <p:sldId id="1254" r:id="rId447"/>
    <p:sldId id="1255" r:id="rId448"/>
    <p:sldId id="1274" r:id="rId449"/>
    <p:sldId id="1275" r:id="rId450"/>
    <p:sldId id="1256" r:id="rId451"/>
    <p:sldId id="1276" r:id="rId452"/>
    <p:sldId id="1273" r:id="rId453"/>
    <p:sldId id="1277" r:id="rId454"/>
    <p:sldId id="1278" r:id="rId455"/>
    <p:sldId id="1279" r:id="rId456"/>
    <p:sldId id="1280" r:id="rId457"/>
    <p:sldId id="1287" r:id="rId458"/>
    <p:sldId id="1298" r:id="rId459"/>
    <p:sldId id="1300" r:id="rId460"/>
    <p:sldId id="1301" r:id="rId461"/>
    <p:sldId id="1302" r:id="rId462"/>
    <p:sldId id="1262" r:id="rId463"/>
    <p:sldId id="1304" r:id="rId464"/>
    <p:sldId id="1303" r:id="rId465"/>
    <p:sldId id="1306" r:id="rId466"/>
    <p:sldId id="1281" r:id="rId467"/>
    <p:sldId id="1307" r:id="rId468"/>
    <p:sldId id="1305" r:id="rId469"/>
    <p:sldId id="1282" r:id="rId470"/>
    <p:sldId id="1309" r:id="rId471"/>
    <p:sldId id="1310" r:id="rId472"/>
    <p:sldId id="1257" r:id="rId473"/>
    <p:sldId id="1288" r:id="rId474"/>
    <p:sldId id="1290" r:id="rId475"/>
    <p:sldId id="1291" r:id="rId476"/>
    <p:sldId id="1292" r:id="rId477"/>
    <p:sldId id="1293" r:id="rId478"/>
    <p:sldId id="1294" r:id="rId479"/>
    <p:sldId id="1295" r:id="rId480"/>
    <p:sldId id="1296" r:id="rId481"/>
    <p:sldId id="1297" r:id="rId482"/>
    <p:sldId id="1299" r:id="rId483"/>
    <p:sldId id="1283" r:id="rId484"/>
    <p:sldId id="1313" r:id="rId485"/>
    <p:sldId id="1312" r:id="rId486"/>
    <p:sldId id="1314" r:id="rId487"/>
    <p:sldId id="1326" r:id="rId488"/>
    <p:sldId id="1327" r:id="rId489"/>
    <p:sldId id="1325" r:id="rId490"/>
    <p:sldId id="1286" r:id="rId491"/>
    <p:sldId id="1316" r:id="rId492"/>
    <p:sldId id="1315" r:id="rId493"/>
    <p:sldId id="1317" r:id="rId494"/>
    <p:sldId id="1563" r:id="rId495"/>
    <p:sldId id="1564" r:id="rId496"/>
    <p:sldId id="1565" r:id="rId497"/>
    <p:sldId id="1566" r:id="rId498"/>
    <p:sldId id="1335" r:id="rId499"/>
    <p:sldId id="1318" r:id="rId500"/>
    <p:sldId id="1284" r:id="rId501"/>
    <p:sldId id="1319" r:id="rId502"/>
    <p:sldId id="1285" r:id="rId503"/>
    <p:sldId id="1320" r:id="rId504"/>
    <p:sldId id="1321" r:id="rId505"/>
    <p:sldId id="1322" r:id="rId506"/>
    <p:sldId id="1323" r:id="rId507"/>
    <p:sldId id="1324" r:id="rId508"/>
    <p:sldId id="735" r:id="rId509"/>
    <p:sldId id="1107" r:id="rId510"/>
    <p:sldId id="1311" r:id="rId511"/>
    <p:sldId id="589" r:id="rId512"/>
    <p:sldId id="884" r:id="rId513"/>
    <p:sldId id="885" r:id="rId514"/>
    <p:sldId id="886" r:id="rId515"/>
    <p:sldId id="887" r:id="rId516"/>
    <p:sldId id="888" r:id="rId517"/>
    <p:sldId id="889" r:id="rId518"/>
    <p:sldId id="890" r:id="rId519"/>
    <p:sldId id="891" r:id="rId520"/>
    <p:sldId id="892" r:id="rId521"/>
    <p:sldId id="893" r:id="rId522"/>
    <p:sldId id="894" r:id="rId523"/>
    <p:sldId id="895" r:id="rId524"/>
    <p:sldId id="896" r:id="rId525"/>
    <p:sldId id="897" r:id="rId526"/>
    <p:sldId id="898" r:id="rId527"/>
    <p:sldId id="899" r:id="rId528"/>
    <p:sldId id="900" r:id="rId529"/>
    <p:sldId id="901" r:id="rId530"/>
    <p:sldId id="902" r:id="rId531"/>
    <p:sldId id="903" r:id="rId532"/>
    <p:sldId id="904" r:id="rId533"/>
    <p:sldId id="905" r:id="rId534"/>
    <p:sldId id="906" r:id="rId535"/>
    <p:sldId id="907" r:id="rId536"/>
    <p:sldId id="908" r:id="rId537"/>
    <p:sldId id="909" r:id="rId538"/>
    <p:sldId id="910" r:id="rId539"/>
    <p:sldId id="809" r:id="rId540"/>
    <p:sldId id="810" r:id="rId541"/>
    <p:sldId id="812" r:id="rId542"/>
    <p:sldId id="813" r:id="rId543"/>
    <p:sldId id="814" r:id="rId544"/>
    <p:sldId id="911" r:id="rId545"/>
    <p:sldId id="912" r:id="rId546"/>
    <p:sldId id="913" r:id="rId547"/>
    <p:sldId id="914" r:id="rId548"/>
    <p:sldId id="915" r:id="rId549"/>
    <p:sldId id="816" r:id="rId550"/>
    <p:sldId id="1164" r:id="rId551"/>
    <p:sldId id="921" r:id="rId552"/>
    <p:sldId id="922" r:id="rId553"/>
    <p:sldId id="923" r:id="rId554"/>
    <p:sldId id="924" r:id="rId555"/>
    <p:sldId id="925" r:id="rId556"/>
    <p:sldId id="926" r:id="rId557"/>
    <p:sldId id="927" r:id="rId558"/>
    <p:sldId id="928" r:id="rId559"/>
    <p:sldId id="929" r:id="rId560"/>
    <p:sldId id="930" r:id="rId561"/>
    <p:sldId id="931" r:id="rId562"/>
    <p:sldId id="932" r:id="rId563"/>
    <p:sldId id="933" r:id="rId564"/>
    <p:sldId id="959" r:id="rId565"/>
    <p:sldId id="960" r:id="rId566"/>
    <p:sldId id="961" r:id="rId567"/>
    <p:sldId id="962" r:id="rId568"/>
    <p:sldId id="963" r:id="rId569"/>
    <p:sldId id="964" r:id="rId570"/>
    <p:sldId id="965" r:id="rId571"/>
    <p:sldId id="940" r:id="rId572"/>
    <p:sldId id="934" r:id="rId573"/>
    <p:sldId id="935" r:id="rId574"/>
    <p:sldId id="936" r:id="rId575"/>
    <p:sldId id="937" r:id="rId576"/>
    <p:sldId id="938" r:id="rId577"/>
    <p:sldId id="939" r:id="rId578"/>
    <p:sldId id="941" r:id="rId579"/>
    <p:sldId id="942" r:id="rId580"/>
    <p:sldId id="943" r:id="rId581"/>
    <p:sldId id="944" r:id="rId582"/>
    <p:sldId id="945" r:id="rId583"/>
    <p:sldId id="946" r:id="rId584"/>
    <p:sldId id="947" r:id="rId585"/>
    <p:sldId id="948" r:id="rId586"/>
    <p:sldId id="949" r:id="rId587"/>
    <p:sldId id="966" r:id="rId588"/>
    <p:sldId id="967" r:id="rId589"/>
    <p:sldId id="968" r:id="rId590"/>
    <p:sldId id="969" r:id="rId591"/>
    <p:sldId id="970" r:id="rId592"/>
    <p:sldId id="971" r:id="rId593"/>
    <p:sldId id="972" r:id="rId594"/>
    <p:sldId id="973" r:id="rId595"/>
    <p:sldId id="974" r:id="rId596"/>
    <p:sldId id="975" r:id="rId597"/>
    <p:sldId id="950" r:id="rId598"/>
    <p:sldId id="951" r:id="rId599"/>
    <p:sldId id="952" r:id="rId600"/>
    <p:sldId id="953" r:id="rId601"/>
    <p:sldId id="954" r:id="rId602"/>
    <p:sldId id="958" r:id="rId603"/>
    <p:sldId id="955" r:id="rId604"/>
    <p:sldId id="956" r:id="rId605"/>
    <p:sldId id="957" r:id="rId606"/>
    <p:sldId id="513" r:id="rId607"/>
    <p:sldId id="515" r:id="rId608"/>
    <p:sldId id="514" r:id="rId609"/>
    <p:sldId id="294" r:id="rId610"/>
  </p:sldIdLst>
  <p:sldSz cx="9144000" cy="5943600"/>
  <p:notesSz cx="9144000" cy="594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16" userDrawn="1">
          <p15:clr>
            <a:srgbClr val="A4A3A4"/>
          </p15:clr>
        </p15:guide>
        <p15:guide id="2" pos="2160">
          <p15:clr>
            <a:srgbClr val="A4A3A4"/>
          </p15:clr>
        </p15:guide>
        <p15:guide id="3" pos="960" userDrawn="1">
          <p15:clr>
            <a:srgbClr val="A4A3A4"/>
          </p15:clr>
        </p15:guide>
        <p15:guide id="4" pos="3696" userDrawn="1">
          <p15:clr>
            <a:srgbClr val="A4A3A4"/>
          </p15:clr>
        </p15:guide>
        <p15:guide id="5" orient="horz" pos="244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ael J McMahan" initials="MJM" lastIdx="43" clrIdx="0">
    <p:extLst>
      <p:ext uri="{19B8F6BF-5375-455C-9EA6-DF929625EA0E}">
        <p15:presenceInfo xmlns:p15="http://schemas.microsoft.com/office/powerpoint/2012/main" userId="S::o004618@ofgbancorp.com::f5de8ce0-42e9-4038-a990-3facc77dc678" providerId="AD"/>
      </p:ext>
    </p:extLst>
  </p:cmAuthor>
  <p:cmAuthor id="2" name="Alvarez Holgado, Raquel (Cognizant)" initials="AHR(" lastIdx="2" clrIdx="1">
    <p:extLst>
      <p:ext uri="{19B8F6BF-5375-455C-9EA6-DF929625EA0E}">
        <p15:presenceInfo xmlns:p15="http://schemas.microsoft.com/office/powerpoint/2012/main" userId="S-1-5-21-1178368992-402679808-390482200-3157283" providerId="AD"/>
      </p:ext>
    </p:extLst>
  </p:cmAuthor>
  <p:cmAuthor id="3" name="david martin" initials="dm" lastIdx="1" clrIdx="2">
    <p:extLst>
      <p:ext uri="{19B8F6BF-5375-455C-9EA6-DF929625EA0E}">
        <p15:presenceInfo xmlns:p15="http://schemas.microsoft.com/office/powerpoint/2012/main" userId="david mart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D9B5"/>
    <a:srgbClr val="CC9900"/>
    <a:srgbClr val="FF5050"/>
    <a:srgbClr val="1E1A20"/>
    <a:srgbClr val="D322F2"/>
    <a:srgbClr val="727272"/>
    <a:srgbClr val="DFF7F1"/>
    <a:srgbClr val="F1EAFF"/>
    <a:srgbClr val="64597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61" autoAdjust="0"/>
    <p:restoredTop sz="93979" autoAdjust="0"/>
  </p:normalViewPr>
  <p:slideViewPr>
    <p:cSldViewPr>
      <p:cViewPr varScale="1">
        <p:scale>
          <a:sx n="63" d="100"/>
          <a:sy n="63" d="100"/>
        </p:scale>
        <p:origin x="1308" y="272"/>
      </p:cViewPr>
      <p:guideLst>
        <p:guide orient="horz" pos="2016"/>
        <p:guide pos="2160"/>
        <p:guide pos="960"/>
        <p:guide pos="3696"/>
        <p:guide orient="horz" pos="244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324" Type="http://schemas.openxmlformats.org/officeDocument/2006/relationships/slide" Target="slides/slide320.xml"/><Relationship Id="rId531" Type="http://schemas.openxmlformats.org/officeDocument/2006/relationships/slide" Target="slides/slide527.xml"/><Relationship Id="rId170" Type="http://schemas.openxmlformats.org/officeDocument/2006/relationships/slide" Target="slides/slide166.xml"/><Relationship Id="rId268" Type="http://schemas.openxmlformats.org/officeDocument/2006/relationships/slide" Target="slides/slide264.xml"/><Relationship Id="rId475" Type="http://schemas.openxmlformats.org/officeDocument/2006/relationships/slide" Target="slides/slide471.xml"/><Relationship Id="rId32" Type="http://schemas.openxmlformats.org/officeDocument/2006/relationships/slide" Target="slides/slide28.xml"/><Relationship Id="rId128" Type="http://schemas.openxmlformats.org/officeDocument/2006/relationships/slide" Target="slides/slide124.xml"/><Relationship Id="rId335" Type="http://schemas.openxmlformats.org/officeDocument/2006/relationships/slide" Target="slides/slide331.xml"/><Relationship Id="rId542" Type="http://schemas.openxmlformats.org/officeDocument/2006/relationships/slide" Target="slides/slide538.xml"/><Relationship Id="rId181" Type="http://schemas.openxmlformats.org/officeDocument/2006/relationships/slide" Target="slides/slide177.xml"/><Relationship Id="rId402" Type="http://schemas.openxmlformats.org/officeDocument/2006/relationships/slide" Target="slides/slide398.xml"/><Relationship Id="rId279" Type="http://schemas.openxmlformats.org/officeDocument/2006/relationships/slide" Target="slides/slide275.xml"/><Relationship Id="rId486" Type="http://schemas.openxmlformats.org/officeDocument/2006/relationships/slide" Target="slides/slide482.xml"/><Relationship Id="rId43" Type="http://schemas.openxmlformats.org/officeDocument/2006/relationships/slide" Target="slides/slide39.xml"/><Relationship Id="rId139" Type="http://schemas.openxmlformats.org/officeDocument/2006/relationships/slide" Target="slides/slide135.xml"/><Relationship Id="rId346" Type="http://schemas.openxmlformats.org/officeDocument/2006/relationships/slide" Target="slides/slide342.xml"/><Relationship Id="rId553" Type="http://schemas.openxmlformats.org/officeDocument/2006/relationships/slide" Target="slides/slide549.xml"/><Relationship Id="rId192" Type="http://schemas.openxmlformats.org/officeDocument/2006/relationships/slide" Target="slides/slide188.xml"/><Relationship Id="rId206" Type="http://schemas.openxmlformats.org/officeDocument/2006/relationships/slide" Target="slides/slide202.xml"/><Relationship Id="rId413" Type="http://schemas.openxmlformats.org/officeDocument/2006/relationships/slide" Target="slides/slide409.xml"/><Relationship Id="rId497" Type="http://schemas.openxmlformats.org/officeDocument/2006/relationships/slide" Target="slides/slide493.xml"/><Relationship Id="rId357" Type="http://schemas.openxmlformats.org/officeDocument/2006/relationships/slide" Target="slides/slide353.xml"/><Relationship Id="rId54" Type="http://schemas.openxmlformats.org/officeDocument/2006/relationships/slide" Target="slides/slide50.xml"/><Relationship Id="rId217" Type="http://schemas.openxmlformats.org/officeDocument/2006/relationships/slide" Target="slides/slide213.xml"/><Relationship Id="rId564" Type="http://schemas.openxmlformats.org/officeDocument/2006/relationships/slide" Target="slides/slide560.xml"/><Relationship Id="rId424" Type="http://schemas.openxmlformats.org/officeDocument/2006/relationships/slide" Target="slides/slide420.xml"/><Relationship Id="rId270" Type="http://schemas.openxmlformats.org/officeDocument/2006/relationships/slide" Target="slides/slide266.xml"/><Relationship Id="rId65" Type="http://schemas.openxmlformats.org/officeDocument/2006/relationships/slide" Target="slides/slide61.xml"/><Relationship Id="rId130" Type="http://schemas.openxmlformats.org/officeDocument/2006/relationships/slide" Target="slides/slide126.xml"/><Relationship Id="rId368" Type="http://schemas.openxmlformats.org/officeDocument/2006/relationships/slide" Target="slides/slide364.xml"/><Relationship Id="rId575" Type="http://schemas.openxmlformats.org/officeDocument/2006/relationships/slide" Target="slides/slide571.xml"/><Relationship Id="rId228" Type="http://schemas.openxmlformats.org/officeDocument/2006/relationships/slide" Target="slides/slide224.xml"/><Relationship Id="rId435" Type="http://schemas.openxmlformats.org/officeDocument/2006/relationships/slide" Target="slides/slide431.xml"/><Relationship Id="rId281" Type="http://schemas.openxmlformats.org/officeDocument/2006/relationships/slide" Target="slides/slide277.xml"/><Relationship Id="rId502" Type="http://schemas.openxmlformats.org/officeDocument/2006/relationships/slide" Target="slides/slide498.xml"/><Relationship Id="rId76" Type="http://schemas.openxmlformats.org/officeDocument/2006/relationships/slide" Target="slides/slide72.xml"/><Relationship Id="rId141" Type="http://schemas.openxmlformats.org/officeDocument/2006/relationships/slide" Target="slides/slide137.xml"/><Relationship Id="rId379" Type="http://schemas.openxmlformats.org/officeDocument/2006/relationships/slide" Target="slides/slide375.xml"/><Relationship Id="rId586" Type="http://schemas.openxmlformats.org/officeDocument/2006/relationships/slide" Target="slides/slide582.xml"/><Relationship Id="rId7" Type="http://schemas.openxmlformats.org/officeDocument/2006/relationships/slide" Target="slides/slide3.xml"/><Relationship Id="rId239" Type="http://schemas.openxmlformats.org/officeDocument/2006/relationships/slide" Target="slides/slide235.xml"/><Relationship Id="rId446" Type="http://schemas.openxmlformats.org/officeDocument/2006/relationships/slide" Target="slides/slide442.xml"/><Relationship Id="rId292" Type="http://schemas.openxmlformats.org/officeDocument/2006/relationships/slide" Target="slides/slide288.xml"/><Relationship Id="rId306" Type="http://schemas.openxmlformats.org/officeDocument/2006/relationships/slide" Target="slides/slide302.xml"/><Relationship Id="rId87" Type="http://schemas.openxmlformats.org/officeDocument/2006/relationships/slide" Target="slides/slide83.xml"/><Relationship Id="rId513" Type="http://schemas.openxmlformats.org/officeDocument/2006/relationships/slide" Target="slides/slide509.xml"/><Relationship Id="rId597" Type="http://schemas.openxmlformats.org/officeDocument/2006/relationships/slide" Target="slides/slide593.xml"/><Relationship Id="rId152" Type="http://schemas.openxmlformats.org/officeDocument/2006/relationships/slide" Target="slides/slide148.xml"/><Relationship Id="rId457" Type="http://schemas.openxmlformats.org/officeDocument/2006/relationships/slide" Target="slides/slide453.xml"/><Relationship Id="rId14" Type="http://schemas.openxmlformats.org/officeDocument/2006/relationships/slide" Target="slides/slide10.xml"/><Relationship Id="rId317" Type="http://schemas.openxmlformats.org/officeDocument/2006/relationships/slide" Target="slides/slide313.xml"/><Relationship Id="rId524" Type="http://schemas.openxmlformats.org/officeDocument/2006/relationships/slide" Target="slides/slide520.xml"/><Relationship Id="rId98" Type="http://schemas.openxmlformats.org/officeDocument/2006/relationships/slide" Target="slides/slide94.xml"/><Relationship Id="rId163" Type="http://schemas.openxmlformats.org/officeDocument/2006/relationships/slide" Target="slides/slide159.xml"/><Relationship Id="rId370" Type="http://schemas.openxmlformats.org/officeDocument/2006/relationships/slide" Target="slides/slide366.xml"/><Relationship Id="rId230" Type="http://schemas.openxmlformats.org/officeDocument/2006/relationships/slide" Target="slides/slide226.xml"/><Relationship Id="rId468" Type="http://schemas.openxmlformats.org/officeDocument/2006/relationships/slide" Target="slides/slide464.xml"/><Relationship Id="rId25" Type="http://schemas.openxmlformats.org/officeDocument/2006/relationships/slide" Target="slides/slide21.xml"/><Relationship Id="rId328" Type="http://schemas.openxmlformats.org/officeDocument/2006/relationships/slide" Target="slides/slide324.xml"/><Relationship Id="rId535" Type="http://schemas.openxmlformats.org/officeDocument/2006/relationships/slide" Target="slides/slide531.xml"/><Relationship Id="rId132" Type="http://schemas.openxmlformats.org/officeDocument/2006/relationships/slide" Target="slides/slide128.xml"/><Relationship Id="rId174" Type="http://schemas.openxmlformats.org/officeDocument/2006/relationships/slide" Target="slides/slide170.xml"/><Relationship Id="rId381" Type="http://schemas.openxmlformats.org/officeDocument/2006/relationships/slide" Target="slides/slide377.xml"/><Relationship Id="rId602" Type="http://schemas.openxmlformats.org/officeDocument/2006/relationships/slide" Target="slides/slide598.xml"/><Relationship Id="rId241" Type="http://schemas.openxmlformats.org/officeDocument/2006/relationships/slide" Target="slides/slide237.xml"/><Relationship Id="rId437" Type="http://schemas.openxmlformats.org/officeDocument/2006/relationships/slide" Target="slides/slide433.xml"/><Relationship Id="rId479" Type="http://schemas.openxmlformats.org/officeDocument/2006/relationships/slide" Target="slides/slide475.xml"/><Relationship Id="rId36" Type="http://schemas.openxmlformats.org/officeDocument/2006/relationships/slide" Target="slides/slide32.xml"/><Relationship Id="rId283" Type="http://schemas.openxmlformats.org/officeDocument/2006/relationships/slide" Target="slides/slide279.xml"/><Relationship Id="rId339" Type="http://schemas.openxmlformats.org/officeDocument/2006/relationships/slide" Target="slides/slide335.xml"/><Relationship Id="rId490" Type="http://schemas.openxmlformats.org/officeDocument/2006/relationships/slide" Target="slides/slide486.xml"/><Relationship Id="rId504" Type="http://schemas.openxmlformats.org/officeDocument/2006/relationships/slide" Target="slides/slide500.xml"/><Relationship Id="rId546" Type="http://schemas.openxmlformats.org/officeDocument/2006/relationships/slide" Target="slides/slide542.xml"/><Relationship Id="rId78" Type="http://schemas.openxmlformats.org/officeDocument/2006/relationships/slide" Target="slides/slide74.xml"/><Relationship Id="rId101" Type="http://schemas.openxmlformats.org/officeDocument/2006/relationships/slide" Target="slides/slide97.xml"/><Relationship Id="rId143" Type="http://schemas.openxmlformats.org/officeDocument/2006/relationships/slide" Target="slides/slide139.xml"/><Relationship Id="rId185" Type="http://schemas.openxmlformats.org/officeDocument/2006/relationships/slide" Target="slides/slide181.xml"/><Relationship Id="rId350" Type="http://schemas.openxmlformats.org/officeDocument/2006/relationships/slide" Target="slides/slide346.xml"/><Relationship Id="rId406" Type="http://schemas.openxmlformats.org/officeDocument/2006/relationships/slide" Target="slides/slide402.xml"/><Relationship Id="rId588" Type="http://schemas.openxmlformats.org/officeDocument/2006/relationships/slide" Target="slides/slide584.xml"/><Relationship Id="rId9" Type="http://schemas.openxmlformats.org/officeDocument/2006/relationships/slide" Target="slides/slide5.xml"/><Relationship Id="rId210" Type="http://schemas.openxmlformats.org/officeDocument/2006/relationships/slide" Target="slides/slide206.xml"/><Relationship Id="rId392" Type="http://schemas.openxmlformats.org/officeDocument/2006/relationships/slide" Target="slides/slide388.xml"/><Relationship Id="rId448" Type="http://schemas.openxmlformats.org/officeDocument/2006/relationships/slide" Target="slides/slide444.xml"/><Relationship Id="rId613" Type="http://schemas.openxmlformats.org/officeDocument/2006/relationships/presProps" Target="presProps.xml"/><Relationship Id="rId252" Type="http://schemas.openxmlformats.org/officeDocument/2006/relationships/slide" Target="slides/slide248.xml"/><Relationship Id="rId294" Type="http://schemas.openxmlformats.org/officeDocument/2006/relationships/slide" Target="slides/slide290.xml"/><Relationship Id="rId308" Type="http://schemas.openxmlformats.org/officeDocument/2006/relationships/slide" Target="slides/slide304.xml"/><Relationship Id="rId515" Type="http://schemas.openxmlformats.org/officeDocument/2006/relationships/slide" Target="slides/slide511.xml"/><Relationship Id="rId47" Type="http://schemas.openxmlformats.org/officeDocument/2006/relationships/slide" Target="slides/slide43.xml"/><Relationship Id="rId89" Type="http://schemas.openxmlformats.org/officeDocument/2006/relationships/slide" Target="slides/slide85.xml"/><Relationship Id="rId112" Type="http://schemas.openxmlformats.org/officeDocument/2006/relationships/slide" Target="slides/slide108.xml"/><Relationship Id="rId154" Type="http://schemas.openxmlformats.org/officeDocument/2006/relationships/slide" Target="slides/slide150.xml"/><Relationship Id="rId361" Type="http://schemas.openxmlformats.org/officeDocument/2006/relationships/slide" Target="slides/slide357.xml"/><Relationship Id="rId557" Type="http://schemas.openxmlformats.org/officeDocument/2006/relationships/slide" Target="slides/slide553.xml"/><Relationship Id="rId599" Type="http://schemas.openxmlformats.org/officeDocument/2006/relationships/slide" Target="slides/slide595.xml"/><Relationship Id="rId196" Type="http://schemas.openxmlformats.org/officeDocument/2006/relationships/slide" Target="slides/slide192.xml"/><Relationship Id="rId417" Type="http://schemas.openxmlformats.org/officeDocument/2006/relationships/slide" Target="slides/slide413.xml"/><Relationship Id="rId459" Type="http://schemas.openxmlformats.org/officeDocument/2006/relationships/slide" Target="slides/slide455.xml"/><Relationship Id="rId16" Type="http://schemas.openxmlformats.org/officeDocument/2006/relationships/slide" Target="slides/slide12.xml"/><Relationship Id="rId221" Type="http://schemas.openxmlformats.org/officeDocument/2006/relationships/slide" Target="slides/slide217.xml"/><Relationship Id="rId263" Type="http://schemas.openxmlformats.org/officeDocument/2006/relationships/slide" Target="slides/slide259.xml"/><Relationship Id="rId319" Type="http://schemas.openxmlformats.org/officeDocument/2006/relationships/slide" Target="slides/slide315.xml"/><Relationship Id="rId470" Type="http://schemas.openxmlformats.org/officeDocument/2006/relationships/slide" Target="slides/slide466.xml"/><Relationship Id="rId526" Type="http://schemas.openxmlformats.org/officeDocument/2006/relationships/slide" Target="slides/slide522.xml"/><Relationship Id="rId58" Type="http://schemas.openxmlformats.org/officeDocument/2006/relationships/slide" Target="slides/slide54.xml"/><Relationship Id="rId123" Type="http://schemas.openxmlformats.org/officeDocument/2006/relationships/slide" Target="slides/slide119.xml"/><Relationship Id="rId330" Type="http://schemas.openxmlformats.org/officeDocument/2006/relationships/slide" Target="slides/slide326.xml"/><Relationship Id="rId568" Type="http://schemas.openxmlformats.org/officeDocument/2006/relationships/slide" Target="slides/slide564.xml"/><Relationship Id="rId165" Type="http://schemas.openxmlformats.org/officeDocument/2006/relationships/slide" Target="slides/slide161.xml"/><Relationship Id="rId372" Type="http://schemas.openxmlformats.org/officeDocument/2006/relationships/slide" Target="slides/slide368.xml"/><Relationship Id="rId428" Type="http://schemas.openxmlformats.org/officeDocument/2006/relationships/slide" Target="slides/slide424.xml"/><Relationship Id="rId232" Type="http://schemas.openxmlformats.org/officeDocument/2006/relationships/slide" Target="slides/slide228.xml"/><Relationship Id="rId274" Type="http://schemas.openxmlformats.org/officeDocument/2006/relationships/slide" Target="slides/slide270.xml"/><Relationship Id="rId481" Type="http://schemas.openxmlformats.org/officeDocument/2006/relationships/slide" Target="slides/slide477.xml"/><Relationship Id="rId27" Type="http://schemas.openxmlformats.org/officeDocument/2006/relationships/slide" Target="slides/slide23.xml"/><Relationship Id="rId69" Type="http://schemas.openxmlformats.org/officeDocument/2006/relationships/slide" Target="slides/slide65.xml"/><Relationship Id="rId134" Type="http://schemas.openxmlformats.org/officeDocument/2006/relationships/slide" Target="slides/slide130.xml"/><Relationship Id="rId537" Type="http://schemas.openxmlformats.org/officeDocument/2006/relationships/slide" Target="slides/slide533.xml"/><Relationship Id="rId579" Type="http://schemas.openxmlformats.org/officeDocument/2006/relationships/slide" Target="slides/slide575.xml"/><Relationship Id="rId80" Type="http://schemas.openxmlformats.org/officeDocument/2006/relationships/slide" Target="slides/slide76.xml"/><Relationship Id="rId176" Type="http://schemas.openxmlformats.org/officeDocument/2006/relationships/slide" Target="slides/slide172.xml"/><Relationship Id="rId341" Type="http://schemas.openxmlformats.org/officeDocument/2006/relationships/slide" Target="slides/slide337.xml"/><Relationship Id="rId383" Type="http://schemas.openxmlformats.org/officeDocument/2006/relationships/slide" Target="slides/slide379.xml"/><Relationship Id="rId439" Type="http://schemas.openxmlformats.org/officeDocument/2006/relationships/slide" Target="slides/slide435.xml"/><Relationship Id="rId590" Type="http://schemas.openxmlformats.org/officeDocument/2006/relationships/slide" Target="slides/slide586.xml"/><Relationship Id="rId604" Type="http://schemas.openxmlformats.org/officeDocument/2006/relationships/slide" Target="slides/slide600.xml"/><Relationship Id="rId201" Type="http://schemas.openxmlformats.org/officeDocument/2006/relationships/slide" Target="slides/slide197.xml"/><Relationship Id="rId243" Type="http://schemas.openxmlformats.org/officeDocument/2006/relationships/slide" Target="slides/slide239.xml"/><Relationship Id="rId285" Type="http://schemas.openxmlformats.org/officeDocument/2006/relationships/slide" Target="slides/slide281.xml"/><Relationship Id="rId450" Type="http://schemas.openxmlformats.org/officeDocument/2006/relationships/slide" Target="slides/slide446.xml"/><Relationship Id="rId506" Type="http://schemas.openxmlformats.org/officeDocument/2006/relationships/slide" Target="slides/slide502.xml"/><Relationship Id="rId38" Type="http://schemas.openxmlformats.org/officeDocument/2006/relationships/slide" Target="slides/slide34.xml"/><Relationship Id="rId103" Type="http://schemas.openxmlformats.org/officeDocument/2006/relationships/slide" Target="slides/slide99.xml"/><Relationship Id="rId310" Type="http://schemas.openxmlformats.org/officeDocument/2006/relationships/slide" Target="slides/slide306.xml"/><Relationship Id="rId492" Type="http://schemas.openxmlformats.org/officeDocument/2006/relationships/slide" Target="slides/slide488.xml"/><Relationship Id="rId548" Type="http://schemas.openxmlformats.org/officeDocument/2006/relationships/slide" Target="slides/slide544.xml"/><Relationship Id="rId91" Type="http://schemas.openxmlformats.org/officeDocument/2006/relationships/slide" Target="slides/slide87.xml"/><Relationship Id="rId145" Type="http://schemas.openxmlformats.org/officeDocument/2006/relationships/slide" Target="slides/slide141.xml"/><Relationship Id="rId187" Type="http://schemas.openxmlformats.org/officeDocument/2006/relationships/slide" Target="slides/slide183.xml"/><Relationship Id="rId352" Type="http://schemas.openxmlformats.org/officeDocument/2006/relationships/slide" Target="slides/slide348.xml"/><Relationship Id="rId394" Type="http://schemas.openxmlformats.org/officeDocument/2006/relationships/slide" Target="slides/slide390.xml"/><Relationship Id="rId408" Type="http://schemas.openxmlformats.org/officeDocument/2006/relationships/slide" Target="slides/slide404.xml"/><Relationship Id="rId615" Type="http://schemas.openxmlformats.org/officeDocument/2006/relationships/theme" Target="theme/theme1.xml"/><Relationship Id="rId212" Type="http://schemas.openxmlformats.org/officeDocument/2006/relationships/slide" Target="slides/slide208.xml"/><Relationship Id="rId254" Type="http://schemas.openxmlformats.org/officeDocument/2006/relationships/slide" Target="slides/slide250.xml"/><Relationship Id="rId49" Type="http://schemas.openxmlformats.org/officeDocument/2006/relationships/slide" Target="slides/slide45.xml"/><Relationship Id="rId114" Type="http://schemas.openxmlformats.org/officeDocument/2006/relationships/slide" Target="slides/slide110.xml"/><Relationship Id="rId296" Type="http://schemas.openxmlformats.org/officeDocument/2006/relationships/slide" Target="slides/slide292.xml"/><Relationship Id="rId461" Type="http://schemas.openxmlformats.org/officeDocument/2006/relationships/slide" Target="slides/slide457.xml"/><Relationship Id="rId517" Type="http://schemas.openxmlformats.org/officeDocument/2006/relationships/slide" Target="slides/slide513.xml"/><Relationship Id="rId559" Type="http://schemas.openxmlformats.org/officeDocument/2006/relationships/slide" Target="slides/slide555.xml"/><Relationship Id="rId60" Type="http://schemas.openxmlformats.org/officeDocument/2006/relationships/slide" Target="slides/slide56.xml"/><Relationship Id="rId156" Type="http://schemas.openxmlformats.org/officeDocument/2006/relationships/slide" Target="slides/slide152.xml"/><Relationship Id="rId198" Type="http://schemas.openxmlformats.org/officeDocument/2006/relationships/slide" Target="slides/slide194.xml"/><Relationship Id="rId321" Type="http://schemas.openxmlformats.org/officeDocument/2006/relationships/slide" Target="slides/slide317.xml"/><Relationship Id="rId363" Type="http://schemas.openxmlformats.org/officeDocument/2006/relationships/slide" Target="slides/slide359.xml"/><Relationship Id="rId419" Type="http://schemas.openxmlformats.org/officeDocument/2006/relationships/slide" Target="slides/slide415.xml"/><Relationship Id="rId570" Type="http://schemas.openxmlformats.org/officeDocument/2006/relationships/slide" Target="slides/slide566.xml"/><Relationship Id="rId223" Type="http://schemas.openxmlformats.org/officeDocument/2006/relationships/slide" Target="slides/slide219.xml"/><Relationship Id="rId430" Type="http://schemas.openxmlformats.org/officeDocument/2006/relationships/slide" Target="slides/slide426.xml"/><Relationship Id="rId18" Type="http://schemas.openxmlformats.org/officeDocument/2006/relationships/slide" Target="slides/slide14.xml"/><Relationship Id="rId265" Type="http://schemas.openxmlformats.org/officeDocument/2006/relationships/slide" Target="slides/slide261.xml"/><Relationship Id="rId472" Type="http://schemas.openxmlformats.org/officeDocument/2006/relationships/slide" Target="slides/slide468.xml"/><Relationship Id="rId528" Type="http://schemas.openxmlformats.org/officeDocument/2006/relationships/slide" Target="slides/slide524.xml"/><Relationship Id="rId125" Type="http://schemas.openxmlformats.org/officeDocument/2006/relationships/slide" Target="slides/slide121.xml"/><Relationship Id="rId167" Type="http://schemas.openxmlformats.org/officeDocument/2006/relationships/slide" Target="slides/slide163.xml"/><Relationship Id="rId332" Type="http://schemas.openxmlformats.org/officeDocument/2006/relationships/slide" Target="slides/slide328.xml"/><Relationship Id="rId374" Type="http://schemas.openxmlformats.org/officeDocument/2006/relationships/slide" Target="slides/slide370.xml"/><Relationship Id="rId581" Type="http://schemas.openxmlformats.org/officeDocument/2006/relationships/slide" Target="slides/slide577.xml"/><Relationship Id="rId71" Type="http://schemas.openxmlformats.org/officeDocument/2006/relationships/slide" Target="slides/slide67.xml"/><Relationship Id="rId234" Type="http://schemas.openxmlformats.org/officeDocument/2006/relationships/slide" Target="slides/slide230.xml"/><Relationship Id="rId2" Type="http://schemas.openxmlformats.org/officeDocument/2006/relationships/customXml" Target="../customXml/item2.xml"/><Relationship Id="rId29" Type="http://schemas.openxmlformats.org/officeDocument/2006/relationships/slide" Target="slides/slide25.xml"/><Relationship Id="rId276" Type="http://schemas.openxmlformats.org/officeDocument/2006/relationships/slide" Target="slides/slide272.xml"/><Relationship Id="rId441" Type="http://schemas.openxmlformats.org/officeDocument/2006/relationships/slide" Target="slides/slide437.xml"/><Relationship Id="rId483" Type="http://schemas.openxmlformats.org/officeDocument/2006/relationships/slide" Target="slides/slide479.xml"/><Relationship Id="rId539" Type="http://schemas.openxmlformats.org/officeDocument/2006/relationships/slide" Target="slides/slide535.xml"/><Relationship Id="rId40" Type="http://schemas.openxmlformats.org/officeDocument/2006/relationships/slide" Target="slides/slide36.xml"/><Relationship Id="rId136" Type="http://schemas.openxmlformats.org/officeDocument/2006/relationships/slide" Target="slides/slide132.xml"/><Relationship Id="rId178" Type="http://schemas.openxmlformats.org/officeDocument/2006/relationships/slide" Target="slides/slide174.xml"/><Relationship Id="rId301" Type="http://schemas.openxmlformats.org/officeDocument/2006/relationships/slide" Target="slides/slide297.xml"/><Relationship Id="rId343" Type="http://schemas.openxmlformats.org/officeDocument/2006/relationships/slide" Target="slides/slide339.xml"/><Relationship Id="rId550" Type="http://schemas.openxmlformats.org/officeDocument/2006/relationships/slide" Target="slides/slide546.xml"/><Relationship Id="rId82" Type="http://schemas.openxmlformats.org/officeDocument/2006/relationships/slide" Target="slides/slide78.xml"/><Relationship Id="rId203" Type="http://schemas.openxmlformats.org/officeDocument/2006/relationships/slide" Target="slides/slide199.xml"/><Relationship Id="rId385" Type="http://schemas.openxmlformats.org/officeDocument/2006/relationships/slide" Target="slides/slide381.xml"/><Relationship Id="rId592" Type="http://schemas.openxmlformats.org/officeDocument/2006/relationships/slide" Target="slides/slide588.xml"/><Relationship Id="rId606" Type="http://schemas.openxmlformats.org/officeDocument/2006/relationships/slide" Target="slides/slide602.xml"/><Relationship Id="rId245" Type="http://schemas.openxmlformats.org/officeDocument/2006/relationships/slide" Target="slides/slide241.xml"/><Relationship Id="rId287" Type="http://schemas.openxmlformats.org/officeDocument/2006/relationships/slide" Target="slides/slide283.xml"/><Relationship Id="rId410" Type="http://schemas.openxmlformats.org/officeDocument/2006/relationships/slide" Target="slides/slide406.xml"/><Relationship Id="rId452" Type="http://schemas.openxmlformats.org/officeDocument/2006/relationships/slide" Target="slides/slide448.xml"/><Relationship Id="rId494" Type="http://schemas.openxmlformats.org/officeDocument/2006/relationships/slide" Target="slides/slide490.xml"/><Relationship Id="rId508" Type="http://schemas.openxmlformats.org/officeDocument/2006/relationships/slide" Target="slides/slide504.xml"/><Relationship Id="rId105" Type="http://schemas.openxmlformats.org/officeDocument/2006/relationships/slide" Target="slides/slide101.xml"/><Relationship Id="rId147" Type="http://schemas.openxmlformats.org/officeDocument/2006/relationships/slide" Target="slides/slide143.xml"/><Relationship Id="rId312" Type="http://schemas.openxmlformats.org/officeDocument/2006/relationships/slide" Target="slides/slide308.xml"/><Relationship Id="rId354" Type="http://schemas.openxmlformats.org/officeDocument/2006/relationships/slide" Target="slides/slide350.xml"/><Relationship Id="rId51" Type="http://schemas.openxmlformats.org/officeDocument/2006/relationships/slide" Target="slides/slide47.xml"/><Relationship Id="rId93" Type="http://schemas.openxmlformats.org/officeDocument/2006/relationships/slide" Target="slides/slide89.xml"/><Relationship Id="rId189" Type="http://schemas.openxmlformats.org/officeDocument/2006/relationships/slide" Target="slides/slide185.xml"/><Relationship Id="rId396" Type="http://schemas.openxmlformats.org/officeDocument/2006/relationships/slide" Target="slides/slide392.xml"/><Relationship Id="rId561" Type="http://schemas.openxmlformats.org/officeDocument/2006/relationships/slide" Target="slides/slide557.xml"/><Relationship Id="rId617" Type="http://schemas.microsoft.com/office/2016/11/relationships/changesInfo" Target="changesInfos/changesInfo1.xml"/><Relationship Id="rId214" Type="http://schemas.openxmlformats.org/officeDocument/2006/relationships/slide" Target="slides/slide210.xml"/><Relationship Id="rId256" Type="http://schemas.openxmlformats.org/officeDocument/2006/relationships/slide" Target="slides/slide252.xml"/><Relationship Id="rId298" Type="http://schemas.openxmlformats.org/officeDocument/2006/relationships/slide" Target="slides/slide294.xml"/><Relationship Id="rId421" Type="http://schemas.openxmlformats.org/officeDocument/2006/relationships/slide" Target="slides/slide417.xml"/><Relationship Id="rId463" Type="http://schemas.openxmlformats.org/officeDocument/2006/relationships/slide" Target="slides/slide459.xml"/><Relationship Id="rId519" Type="http://schemas.openxmlformats.org/officeDocument/2006/relationships/slide" Target="slides/slide515.xml"/><Relationship Id="rId116" Type="http://schemas.openxmlformats.org/officeDocument/2006/relationships/slide" Target="slides/slide112.xml"/><Relationship Id="rId158" Type="http://schemas.openxmlformats.org/officeDocument/2006/relationships/slide" Target="slides/slide154.xml"/><Relationship Id="rId323" Type="http://schemas.openxmlformats.org/officeDocument/2006/relationships/slide" Target="slides/slide319.xml"/><Relationship Id="rId530" Type="http://schemas.openxmlformats.org/officeDocument/2006/relationships/slide" Target="slides/slide526.xml"/><Relationship Id="rId20" Type="http://schemas.openxmlformats.org/officeDocument/2006/relationships/slide" Target="slides/slide16.xml"/><Relationship Id="rId62" Type="http://schemas.openxmlformats.org/officeDocument/2006/relationships/slide" Target="slides/slide58.xml"/><Relationship Id="rId365" Type="http://schemas.openxmlformats.org/officeDocument/2006/relationships/slide" Target="slides/slide361.xml"/><Relationship Id="rId572" Type="http://schemas.openxmlformats.org/officeDocument/2006/relationships/slide" Target="slides/slide568.xml"/><Relationship Id="rId225" Type="http://schemas.openxmlformats.org/officeDocument/2006/relationships/slide" Target="slides/slide221.xml"/><Relationship Id="rId267" Type="http://schemas.openxmlformats.org/officeDocument/2006/relationships/slide" Target="slides/slide263.xml"/><Relationship Id="rId432" Type="http://schemas.openxmlformats.org/officeDocument/2006/relationships/slide" Target="slides/slide428.xml"/><Relationship Id="rId474" Type="http://schemas.openxmlformats.org/officeDocument/2006/relationships/slide" Target="slides/slide470.xml"/><Relationship Id="rId127" Type="http://schemas.openxmlformats.org/officeDocument/2006/relationships/slide" Target="slides/slide123.xml"/><Relationship Id="rId31" Type="http://schemas.openxmlformats.org/officeDocument/2006/relationships/slide" Target="slides/slide27.xml"/><Relationship Id="rId73" Type="http://schemas.openxmlformats.org/officeDocument/2006/relationships/slide" Target="slides/slide69.xml"/><Relationship Id="rId169" Type="http://schemas.openxmlformats.org/officeDocument/2006/relationships/slide" Target="slides/slide165.xml"/><Relationship Id="rId334" Type="http://schemas.openxmlformats.org/officeDocument/2006/relationships/slide" Target="slides/slide330.xml"/><Relationship Id="rId376" Type="http://schemas.openxmlformats.org/officeDocument/2006/relationships/slide" Target="slides/slide372.xml"/><Relationship Id="rId541" Type="http://schemas.openxmlformats.org/officeDocument/2006/relationships/slide" Target="slides/slide537.xml"/><Relationship Id="rId583" Type="http://schemas.openxmlformats.org/officeDocument/2006/relationships/slide" Target="slides/slide579.xml"/><Relationship Id="rId4" Type="http://schemas.openxmlformats.org/officeDocument/2006/relationships/slideMaster" Target="slideMasters/slideMaster1.xml"/><Relationship Id="rId180" Type="http://schemas.openxmlformats.org/officeDocument/2006/relationships/slide" Target="slides/slide176.xml"/><Relationship Id="rId236" Type="http://schemas.openxmlformats.org/officeDocument/2006/relationships/slide" Target="slides/slide232.xml"/><Relationship Id="rId278" Type="http://schemas.openxmlformats.org/officeDocument/2006/relationships/slide" Target="slides/slide274.xml"/><Relationship Id="rId401" Type="http://schemas.openxmlformats.org/officeDocument/2006/relationships/slide" Target="slides/slide397.xml"/><Relationship Id="rId443" Type="http://schemas.openxmlformats.org/officeDocument/2006/relationships/slide" Target="slides/slide439.xml"/><Relationship Id="rId303" Type="http://schemas.openxmlformats.org/officeDocument/2006/relationships/slide" Target="slides/slide299.xml"/><Relationship Id="rId485" Type="http://schemas.openxmlformats.org/officeDocument/2006/relationships/slide" Target="slides/slide481.xml"/><Relationship Id="rId42" Type="http://schemas.openxmlformats.org/officeDocument/2006/relationships/slide" Target="slides/slide38.xml"/><Relationship Id="rId84" Type="http://schemas.openxmlformats.org/officeDocument/2006/relationships/slide" Target="slides/slide80.xml"/><Relationship Id="rId138" Type="http://schemas.openxmlformats.org/officeDocument/2006/relationships/slide" Target="slides/slide134.xml"/><Relationship Id="rId345" Type="http://schemas.openxmlformats.org/officeDocument/2006/relationships/slide" Target="slides/slide341.xml"/><Relationship Id="rId387" Type="http://schemas.openxmlformats.org/officeDocument/2006/relationships/slide" Target="slides/slide383.xml"/><Relationship Id="rId510" Type="http://schemas.openxmlformats.org/officeDocument/2006/relationships/slide" Target="slides/slide506.xml"/><Relationship Id="rId552" Type="http://schemas.openxmlformats.org/officeDocument/2006/relationships/slide" Target="slides/slide548.xml"/><Relationship Id="rId594" Type="http://schemas.openxmlformats.org/officeDocument/2006/relationships/slide" Target="slides/slide590.xml"/><Relationship Id="rId608" Type="http://schemas.openxmlformats.org/officeDocument/2006/relationships/slide" Target="slides/slide604.xml"/><Relationship Id="rId191" Type="http://schemas.openxmlformats.org/officeDocument/2006/relationships/slide" Target="slides/slide187.xml"/><Relationship Id="rId205" Type="http://schemas.openxmlformats.org/officeDocument/2006/relationships/slide" Target="slides/slide201.xml"/><Relationship Id="rId247" Type="http://schemas.openxmlformats.org/officeDocument/2006/relationships/slide" Target="slides/slide243.xml"/><Relationship Id="rId412" Type="http://schemas.openxmlformats.org/officeDocument/2006/relationships/slide" Target="slides/slide408.xml"/><Relationship Id="rId107" Type="http://schemas.openxmlformats.org/officeDocument/2006/relationships/slide" Target="slides/slide103.xml"/><Relationship Id="rId289" Type="http://schemas.openxmlformats.org/officeDocument/2006/relationships/slide" Target="slides/slide285.xml"/><Relationship Id="rId454" Type="http://schemas.openxmlformats.org/officeDocument/2006/relationships/slide" Target="slides/slide450.xml"/><Relationship Id="rId496" Type="http://schemas.openxmlformats.org/officeDocument/2006/relationships/slide" Target="slides/slide492.xml"/><Relationship Id="rId11" Type="http://schemas.openxmlformats.org/officeDocument/2006/relationships/slide" Target="slides/slide7.xml"/><Relationship Id="rId53" Type="http://schemas.openxmlformats.org/officeDocument/2006/relationships/slide" Target="slides/slide49.xml"/><Relationship Id="rId149" Type="http://schemas.openxmlformats.org/officeDocument/2006/relationships/slide" Target="slides/slide145.xml"/><Relationship Id="rId314" Type="http://schemas.openxmlformats.org/officeDocument/2006/relationships/slide" Target="slides/slide310.xml"/><Relationship Id="rId356" Type="http://schemas.openxmlformats.org/officeDocument/2006/relationships/slide" Target="slides/slide352.xml"/><Relationship Id="rId398" Type="http://schemas.openxmlformats.org/officeDocument/2006/relationships/slide" Target="slides/slide394.xml"/><Relationship Id="rId521" Type="http://schemas.openxmlformats.org/officeDocument/2006/relationships/slide" Target="slides/slide517.xml"/><Relationship Id="rId563" Type="http://schemas.openxmlformats.org/officeDocument/2006/relationships/slide" Target="slides/slide559.xml"/><Relationship Id="rId95" Type="http://schemas.openxmlformats.org/officeDocument/2006/relationships/slide" Target="slides/slide91.xml"/><Relationship Id="rId160" Type="http://schemas.openxmlformats.org/officeDocument/2006/relationships/slide" Target="slides/slide156.xml"/><Relationship Id="rId216" Type="http://schemas.openxmlformats.org/officeDocument/2006/relationships/slide" Target="slides/slide212.xml"/><Relationship Id="rId423" Type="http://schemas.openxmlformats.org/officeDocument/2006/relationships/slide" Target="slides/slide419.xml"/><Relationship Id="rId258" Type="http://schemas.openxmlformats.org/officeDocument/2006/relationships/slide" Target="slides/slide254.xml"/><Relationship Id="rId465" Type="http://schemas.openxmlformats.org/officeDocument/2006/relationships/slide" Target="slides/slide461.xml"/><Relationship Id="rId22" Type="http://schemas.openxmlformats.org/officeDocument/2006/relationships/slide" Target="slides/slide18.xml"/><Relationship Id="rId64" Type="http://schemas.openxmlformats.org/officeDocument/2006/relationships/slide" Target="slides/slide60.xml"/><Relationship Id="rId118" Type="http://schemas.openxmlformats.org/officeDocument/2006/relationships/slide" Target="slides/slide114.xml"/><Relationship Id="rId325" Type="http://schemas.openxmlformats.org/officeDocument/2006/relationships/slide" Target="slides/slide321.xml"/><Relationship Id="rId367" Type="http://schemas.openxmlformats.org/officeDocument/2006/relationships/slide" Target="slides/slide363.xml"/><Relationship Id="rId532" Type="http://schemas.openxmlformats.org/officeDocument/2006/relationships/slide" Target="slides/slide528.xml"/><Relationship Id="rId574" Type="http://schemas.openxmlformats.org/officeDocument/2006/relationships/slide" Target="slides/slide570.xml"/><Relationship Id="rId171" Type="http://schemas.openxmlformats.org/officeDocument/2006/relationships/slide" Target="slides/slide167.xml"/><Relationship Id="rId227" Type="http://schemas.openxmlformats.org/officeDocument/2006/relationships/slide" Target="slides/slide223.xml"/><Relationship Id="rId269" Type="http://schemas.openxmlformats.org/officeDocument/2006/relationships/slide" Target="slides/slide265.xml"/><Relationship Id="rId434" Type="http://schemas.openxmlformats.org/officeDocument/2006/relationships/slide" Target="slides/slide430.xml"/><Relationship Id="rId476" Type="http://schemas.openxmlformats.org/officeDocument/2006/relationships/slide" Target="slides/slide472.xml"/><Relationship Id="rId33" Type="http://schemas.openxmlformats.org/officeDocument/2006/relationships/slide" Target="slides/slide29.xml"/><Relationship Id="rId129" Type="http://schemas.openxmlformats.org/officeDocument/2006/relationships/slide" Target="slides/slide125.xml"/><Relationship Id="rId280" Type="http://schemas.openxmlformats.org/officeDocument/2006/relationships/slide" Target="slides/slide276.xml"/><Relationship Id="rId336" Type="http://schemas.openxmlformats.org/officeDocument/2006/relationships/slide" Target="slides/slide332.xml"/><Relationship Id="rId501" Type="http://schemas.openxmlformats.org/officeDocument/2006/relationships/slide" Target="slides/slide497.xml"/><Relationship Id="rId543" Type="http://schemas.openxmlformats.org/officeDocument/2006/relationships/slide" Target="slides/slide539.xml"/><Relationship Id="rId75" Type="http://schemas.openxmlformats.org/officeDocument/2006/relationships/slide" Target="slides/slide71.xml"/><Relationship Id="rId140" Type="http://schemas.openxmlformats.org/officeDocument/2006/relationships/slide" Target="slides/slide136.xml"/><Relationship Id="rId182" Type="http://schemas.openxmlformats.org/officeDocument/2006/relationships/slide" Target="slides/slide178.xml"/><Relationship Id="rId378" Type="http://schemas.openxmlformats.org/officeDocument/2006/relationships/slide" Target="slides/slide374.xml"/><Relationship Id="rId403" Type="http://schemas.openxmlformats.org/officeDocument/2006/relationships/slide" Target="slides/slide399.xml"/><Relationship Id="rId585" Type="http://schemas.openxmlformats.org/officeDocument/2006/relationships/slide" Target="slides/slide581.xml"/><Relationship Id="rId6" Type="http://schemas.openxmlformats.org/officeDocument/2006/relationships/slide" Target="slides/slide2.xml"/><Relationship Id="rId238" Type="http://schemas.openxmlformats.org/officeDocument/2006/relationships/slide" Target="slides/slide234.xml"/><Relationship Id="rId445" Type="http://schemas.openxmlformats.org/officeDocument/2006/relationships/slide" Target="slides/slide441.xml"/><Relationship Id="rId487" Type="http://schemas.openxmlformats.org/officeDocument/2006/relationships/slide" Target="slides/slide483.xml"/><Relationship Id="rId610" Type="http://schemas.openxmlformats.org/officeDocument/2006/relationships/slide" Target="slides/slide606.xml"/><Relationship Id="rId291" Type="http://schemas.openxmlformats.org/officeDocument/2006/relationships/slide" Target="slides/slide287.xml"/><Relationship Id="rId305" Type="http://schemas.openxmlformats.org/officeDocument/2006/relationships/slide" Target="slides/slide301.xml"/><Relationship Id="rId347" Type="http://schemas.openxmlformats.org/officeDocument/2006/relationships/slide" Target="slides/slide343.xml"/><Relationship Id="rId512" Type="http://schemas.openxmlformats.org/officeDocument/2006/relationships/slide" Target="slides/slide508.xml"/><Relationship Id="rId44" Type="http://schemas.openxmlformats.org/officeDocument/2006/relationships/slide" Target="slides/slide40.xml"/><Relationship Id="rId86" Type="http://schemas.openxmlformats.org/officeDocument/2006/relationships/slide" Target="slides/slide82.xml"/><Relationship Id="rId151" Type="http://schemas.openxmlformats.org/officeDocument/2006/relationships/slide" Target="slides/slide147.xml"/><Relationship Id="rId389" Type="http://schemas.openxmlformats.org/officeDocument/2006/relationships/slide" Target="slides/slide385.xml"/><Relationship Id="rId554" Type="http://schemas.openxmlformats.org/officeDocument/2006/relationships/slide" Target="slides/slide550.xml"/><Relationship Id="rId596" Type="http://schemas.openxmlformats.org/officeDocument/2006/relationships/slide" Target="slides/slide592.xml"/><Relationship Id="rId193" Type="http://schemas.openxmlformats.org/officeDocument/2006/relationships/slide" Target="slides/slide189.xml"/><Relationship Id="rId207" Type="http://schemas.openxmlformats.org/officeDocument/2006/relationships/slide" Target="slides/slide203.xml"/><Relationship Id="rId249" Type="http://schemas.openxmlformats.org/officeDocument/2006/relationships/slide" Target="slides/slide245.xml"/><Relationship Id="rId414" Type="http://schemas.openxmlformats.org/officeDocument/2006/relationships/slide" Target="slides/slide410.xml"/><Relationship Id="rId456" Type="http://schemas.openxmlformats.org/officeDocument/2006/relationships/slide" Target="slides/slide452.xml"/><Relationship Id="rId498" Type="http://schemas.openxmlformats.org/officeDocument/2006/relationships/slide" Target="slides/slide494.xml"/><Relationship Id="rId13" Type="http://schemas.openxmlformats.org/officeDocument/2006/relationships/slide" Target="slides/slide9.xml"/><Relationship Id="rId109" Type="http://schemas.openxmlformats.org/officeDocument/2006/relationships/slide" Target="slides/slide105.xml"/><Relationship Id="rId260" Type="http://schemas.openxmlformats.org/officeDocument/2006/relationships/slide" Target="slides/slide256.xml"/><Relationship Id="rId316" Type="http://schemas.openxmlformats.org/officeDocument/2006/relationships/slide" Target="slides/slide312.xml"/><Relationship Id="rId523" Type="http://schemas.openxmlformats.org/officeDocument/2006/relationships/slide" Target="slides/slide519.xml"/><Relationship Id="rId55" Type="http://schemas.openxmlformats.org/officeDocument/2006/relationships/slide" Target="slides/slide51.xml"/><Relationship Id="rId97" Type="http://schemas.openxmlformats.org/officeDocument/2006/relationships/slide" Target="slides/slide93.xml"/><Relationship Id="rId120" Type="http://schemas.openxmlformats.org/officeDocument/2006/relationships/slide" Target="slides/slide116.xml"/><Relationship Id="rId358" Type="http://schemas.openxmlformats.org/officeDocument/2006/relationships/slide" Target="slides/slide354.xml"/><Relationship Id="rId565" Type="http://schemas.openxmlformats.org/officeDocument/2006/relationships/slide" Target="slides/slide561.xml"/><Relationship Id="rId162" Type="http://schemas.openxmlformats.org/officeDocument/2006/relationships/slide" Target="slides/slide158.xml"/><Relationship Id="rId218" Type="http://schemas.openxmlformats.org/officeDocument/2006/relationships/slide" Target="slides/slide214.xml"/><Relationship Id="rId425" Type="http://schemas.openxmlformats.org/officeDocument/2006/relationships/slide" Target="slides/slide421.xml"/><Relationship Id="rId467" Type="http://schemas.openxmlformats.org/officeDocument/2006/relationships/slide" Target="slides/slide463.xml"/><Relationship Id="rId271" Type="http://schemas.openxmlformats.org/officeDocument/2006/relationships/slide" Target="slides/slide267.xml"/><Relationship Id="rId24" Type="http://schemas.openxmlformats.org/officeDocument/2006/relationships/slide" Target="slides/slide20.xml"/><Relationship Id="rId66" Type="http://schemas.openxmlformats.org/officeDocument/2006/relationships/slide" Target="slides/slide62.xml"/><Relationship Id="rId131" Type="http://schemas.openxmlformats.org/officeDocument/2006/relationships/slide" Target="slides/slide127.xml"/><Relationship Id="rId327" Type="http://schemas.openxmlformats.org/officeDocument/2006/relationships/slide" Target="slides/slide323.xml"/><Relationship Id="rId369" Type="http://schemas.openxmlformats.org/officeDocument/2006/relationships/slide" Target="slides/slide365.xml"/><Relationship Id="rId534" Type="http://schemas.openxmlformats.org/officeDocument/2006/relationships/slide" Target="slides/slide530.xml"/><Relationship Id="rId576" Type="http://schemas.openxmlformats.org/officeDocument/2006/relationships/slide" Target="slides/slide572.xml"/><Relationship Id="rId173" Type="http://schemas.openxmlformats.org/officeDocument/2006/relationships/slide" Target="slides/slide169.xml"/><Relationship Id="rId229" Type="http://schemas.openxmlformats.org/officeDocument/2006/relationships/slide" Target="slides/slide225.xml"/><Relationship Id="rId380" Type="http://schemas.openxmlformats.org/officeDocument/2006/relationships/slide" Target="slides/slide376.xml"/><Relationship Id="rId436" Type="http://schemas.openxmlformats.org/officeDocument/2006/relationships/slide" Target="slides/slide432.xml"/><Relationship Id="rId601" Type="http://schemas.openxmlformats.org/officeDocument/2006/relationships/slide" Target="slides/slide597.xml"/><Relationship Id="rId240" Type="http://schemas.openxmlformats.org/officeDocument/2006/relationships/slide" Target="slides/slide236.xml"/><Relationship Id="rId478" Type="http://schemas.openxmlformats.org/officeDocument/2006/relationships/slide" Target="slides/slide474.xml"/><Relationship Id="rId35" Type="http://schemas.openxmlformats.org/officeDocument/2006/relationships/slide" Target="slides/slide31.xml"/><Relationship Id="rId77" Type="http://schemas.openxmlformats.org/officeDocument/2006/relationships/slide" Target="slides/slide73.xml"/><Relationship Id="rId100" Type="http://schemas.openxmlformats.org/officeDocument/2006/relationships/slide" Target="slides/slide96.xml"/><Relationship Id="rId282" Type="http://schemas.openxmlformats.org/officeDocument/2006/relationships/slide" Target="slides/slide278.xml"/><Relationship Id="rId338" Type="http://schemas.openxmlformats.org/officeDocument/2006/relationships/slide" Target="slides/slide334.xml"/><Relationship Id="rId503" Type="http://schemas.openxmlformats.org/officeDocument/2006/relationships/slide" Target="slides/slide499.xml"/><Relationship Id="rId545" Type="http://schemas.openxmlformats.org/officeDocument/2006/relationships/slide" Target="slides/slide541.xml"/><Relationship Id="rId587" Type="http://schemas.openxmlformats.org/officeDocument/2006/relationships/slide" Target="slides/slide583.xml"/><Relationship Id="rId8" Type="http://schemas.openxmlformats.org/officeDocument/2006/relationships/slide" Target="slides/slide4.xml"/><Relationship Id="rId142" Type="http://schemas.openxmlformats.org/officeDocument/2006/relationships/slide" Target="slides/slide138.xml"/><Relationship Id="rId184" Type="http://schemas.openxmlformats.org/officeDocument/2006/relationships/slide" Target="slides/slide180.xml"/><Relationship Id="rId391" Type="http://schemas.openxmlformats.org/officeDocument/2006/relationships/slide" Target="slides/slide387.xml"/><Relationship Id="rId405" Type="http://schemas.openxmlformats.org/officeDocument/2006/relationships/slide" Target="slides/slide401.xml"/><Relationship Id="rId447" Type="http://schemas.openxmlformats.org/officeDocument/2006/relationships/slide" Target="slides/slide443.xml"/><Relationship Id="rId612" Type="http://schemas.openxmlformats.org/officeDocument/2006/relationships/commentAuthors" Target="commentAuthors.xml"/><Relationship Id="rId251" Type="http://schemas.openxmlformats.org/officeDocument/2006/relationships/slide" Target="slides/slide247.xml"/><Relationship Id="rId489" Type="http://schemas.openxmlformats.org/officeDocument/2006/relationships/slide" Target="slides/slide485.xml"/><Relationship Id="rId46" Type="http://schemas.openxmlformats.org/officeDocument/2006/relationships/slide" Target="slides/slide42.xml"/><Relationship Id="rId293" Type="http://schemas.openxmlformats.org/officeDocument/2006/relationships/slide" Target="slides/slide289.xml"/><Relationship Id="rId307" Type="http://schemas.openxmlformats.org/officeDocument/2006/relationships/slide" Target="slides/slide303.xml"/><Relationship Id="rId349" Type="http://schemas.openxmlformats.org/officeDocument/2006/relationships/slide" Target="slides/slide345.xml"/><Relationship Id="rId514" Type="http://schemas.openxmlformats.org/officeDocument/2006/relationships/slide" Target="slides/slide510.xml"/><Relationship Id="rId556" Type="http://schemas.openxmlformats.org/officeDocument/2006/relationships/slide" Target="slides/slide552.xml"/><Relationship Id="rId88" Type="http://schemas.openxmlformats.org/officeDocument/2006/relationships/slide" Target="slides/slide84.xml"/><Relationship Id="rId111" Type="http://schemas.openxmlformats.org/officeDocument/2006/relationships/slide" Target="slides/slide107.xml"/><Relationship Id="rId153" Type="http://schemas.openxmlformats.org/officeDocument/2006/relationships/slide" Target="slides/slide149.xml"/><Relationship Id="rId195" Type="http://schemas.openxmlformats.org/officeDocument/2006/relationships/slide" Target="slides/slide191.xml"/><Relationship Id="rId209" Type="http://schemas.openxmlformats.org/officeDocument/2006/relationships/slide" Target="slides/slide205.xml"/><Relationship Id="rId360" Type="http://schemas.openxmlformats.org/officeDocument/2006/relationships/slide" Target="slides/slide356.xml"/><Relationship Id="rId416" Type="http://schemas.openxmlformats.org/officeDocument/2006/relationships/slide" Target="slides/slide412.xml"/><Relationship Id="rId598" Type="http://schemas.openxmlformats.org/officeDocument/2006/relationships/slide" Target="slides/slide594.xml"/><Relationship Id="rId220" Type="http://schemas.openxmlformats.org/officeDocument/2006/relationships/slide" Target="slides/slide216.xml"/><Relationship Id="rId458" Type="http://schemas.openxmlformats.org/officeDocument/2006/relationships/slide" Target="slides/slide454.xml"/><Relationship Id="rId15" Type="http://schemas.openxmlformats.org/officeDocument/2006/relationships/slide" Target="slides/slide11.xml"/><Relationship Id="rId57" Type="http://schemas.openxmlformats.org/officeDocument/2006/relationships/slide" Target="slides/slide53.xml"/><Relationship Id="rId262" Type="http://schemas.openxmlformats.org/officeDocument/2006/relationships/slide" Target="slides/slide258.xml"/><Relationship Id="rId318" Type="http://schemas.openxmlformats.org/officeDocument/2006/relationships/slide" Target="slides/slide314.xml"/><Relationship Id="rId525" Type="http://schemas.openxmlformats.org/officeDocument/2006/relationships/slide" Target="slides/slide521.xml"/><Relationship Id="rId567" Type="http://schemas.openxmlformats.org/officeDocument/2006/relationships/slide" Target="slides/slide563.xml"/><Relationship Id="rId99" Type="http://schemas.openxmlformats.org/officeDocument/2006/relationships/slide" Target="slides/slide95.xml"/><Relationship Id="rId122" Type="http://schemas.openxmlformats.org/officeDocument/2006/relationships/slide" Target="slides/slide118.xml"/><Relationship Id="rId164" Type="http://schemas.openxmlformats.org/officeDocument/2006/relationships/slide" Target="slides/slide160.xml"/><Relationship Id="rId371" Type="http://schemas.openxmlformats.org/officeDocument/2006/relationships/slide" Target="slides/slide367.xml"/><Relationship Id="rId427" Type="http://schemas.openxmlformats.org/officeDocument/2006/relationships/slide" Target="slides/slide423.xml"/><Relationship Id="rId469" Type="http://schemas.openxmlformats.org/officeDocument/2006/relationships/slide" Target="slides/slide465.xml"/><Relationship Id="rId26" Type="http://schemas.openxmlformats.org/officeDocument/2006/relationships/slide" Target="slides/slide22.xml"/><Relationship Id="rId231" Type="http://schemas.openxmlformats.org/officeDocument/2006/relationships/slide" Target="slides/slide227.xml"/><Relationship Id="rId273" Type="http://schemas.openxmlformats.org/officeDocument/2006/relationships/slide" Target="slides/slide269.xml"/><Relationship Id="rId329" Type="http://schemas.openxmlformats.org/officeDocument/2006/relationships/slide" Target="slides/slide325.xml"/><Relationship Id="rId480" Type="http://schemas.openxmlformats.org/officeDocument/2006/relationships/slide" Target="slides/slide476.xml"/><Relationship Id="rId536" Type="http://schemas.openxmlformats.org/officeDocument/2006/relationships/slide" Target="slides/slide532.xml"/><Relationship Id="rId68" Type="http://schemas.openxmlformats.org/officeDocument/2006/relationships/slide" Target="slides/slide64.xml"/><Relationship Id="rId133" Type="http://schemas.openxmlformats.org/officeDocument/2006/relationships/slide" Target="slides/slide129.xml"/><Relationship Id="rId175" Type="http://schemas.openxmlformats.org/officeDocument/2006/relationships/slide" Target="slides/slide171.xml"/><Relationship Id="rId340" Type="http://schemas.openxmlformats.org/officeDocument/2006/relationships/slide" Target="slides/slide336.xml"/><Relationship Id="rId578" Type="http://schemas.openxmlformats.org/officeDocument/2006/relationships/slide" Target="slides/slide574.xml"/><Relationship Id="rId200" Type="http://schemas.openxmlformats.org/officeDocument/2006/relationships/slide" Target="slides/slide196.xml"/><Relationship Id="rId382" Type="http://schemas.openxmlformats.org/officeDocument/2006/relationships/slide" Target="slides/slide378.xml"/><Relationship Id="rId438" Type="http://schemas.openxmlformats.org/officeDocument/2006/relationships/slide" Target="slides/slide434.xml"/><Relationship Id="rId603" Type="http://schemas.openxmlformats.org/officeDocument/2006/relationships/slide" Target="slides/slide599.xml"/><Relationship Id="rId242" Type="http://schemas.openxmlformats.org/officeDocument/2006/relationships/slide" Target="slides/slide238.xml"/><Relationship Id="rId284" Type="http://schemas.openxmlformats.org/officeDocument/2006/relationships/slide" Target="slides/slide280.xml"/><Relationship Id="rId491" Type="http://schemas.openxmlformats.org/officeDocument/2006/relationships/slide" Target="slides/slide487.xml"/><Relationship Id="rId505" Type="http://schemas.openxmlformats.org/officeDocument/2006/relationships/slide" Target="slides/slide501.xml"/><Relationship Id="rId37" Type="http://schemas.openxmlformats.org/officeDocument/2006/relationships/slide" Target="slides/slide33.xml"/><Relationship Id="rId79" Type="http://schemas.openxmlformats.org/officeDocument/2006/relationships/slide" Target="slides/slide75.xml"/><Relationship Id="rId102" Type="http://schemas.openxmlformats.org/officeDocument/2006/relationships/slide" Target="slides/slide98.xml"/><Relationship Id="rId144" Type="http://schemas.openxmlformats.org/officeDocument/2006/relationships/slide" Target="slides/slide140.xml"/><Relationship Id="rId547" Type="http://schemas.openxmlformats.org/officeDocument/2006/relationships/slide" Target="slides/slide543.xml"/><Relationship Id="rId589" Type="http://schemas.openxmlformats.org/officeDocument/2006/relationships/slide" Target="slides/slide585.xml"/><Relationship Id="rId90" Type="http://schemas.openxmlformats.org/officeDocument/2006/relationships/slide" Target="slides/slide86.xml"/><Relationship Id="rId186" Type="http://schemas.openxmlformats.org/officeDocument/2006/relationships/slide" Target="slides/slide182.xml"/><Relationship Id="rId351" Type="http://schemas.openxmlformats.org/officeDocument/2006/relationships/slide" Target="slides/slide347.xml"/><Relationship Id="rId393" Type="http://schemas.openxmlformats.org/officeDocument/2006/relationships/slide" Target="slides/slide389.xml"/><Relationship Id="rId407" Type="http://schemas.openxmlformats.org/officeDocument/2006/relationships/slide" Target="slides/slide403.xml"/><Relationship Id="rId449" Type="http://schemas.openxmlformats.org/officeDocument/2006/relationships/slide" Target="slides/slide445.xml"/><Relationship Id="rId614" Type="http://schemas.openxmlformats.org/officeDocument/2006/relationships/viewProps" Target="viewProps.xml"/><Relationship Id="rId211" Type="http://schemas.openxmlformats.org/officeDocument/2006/relationships/slide" Target="slides/slide207.xml"/><Relationship Id="rId253" Type="http://schemas.openxmlformats.org/officeDocument/2006/relationships/slide" Target="slides/slide249.xml"/><Relationship Id="rId295" Type="http://schemas.openxmlformats.org/officeDocument/2006/relationships/slide" Target="slides/slide291.xml"/><Relationship Id="rId309" Type="http://schemas.openxmlformats.org/officeDocument/2006/relationships/slide" Target="slides/slide305.xml"/><Relationship Id="rId460" Type="http://schemas.openxmlformats.org/officeDocument/2006/relationships/slide" Target="slides/slide456.xml"/><Relationship Id="rId516" Type="http://schemas.openxmlformats.org/officeDocument/2006/relationships/slide" Target="slides/slide512.xml"/><Relationship Id="rId48" Type="http://schemas.openxmlformats.org/officeDocument/2006/relationships/slide" Target="slides/slide44.xml"/><Relationship Id="rId113" Type="http://schemas.openxmlformats.org/officeDocument/2006/relationships/slide" Target="slides/slide109.xml"/><Relationship Id="rId320" Type="http://schemas.openxmlformats.org/officeDocument/2006/relationships/slide" Target="slides/slide316.xml"/><Relationship Id="rId558" Type="http://schemas.openxmlformats.org/officeDocument/2006/relationships/slide" Target="slides/slide554.xml"/><Relationship Id="rId155" Type="http://schemas.openxmlformats.org/officeDocument/2006/relationships/slide" Target="slides/slide151.xml"/><Relationship Id="rId197" Type="http://schemas.openxmlformats.org/officeDocument/2006/relationships/slide" Target="slides/slide193.xml"/><Relationship Id="rId362" Type="http://schemas.openxmlformats.org/officeDocument/2006/relationships/slide" Target="slides/slide358.xml"/><Relationship Id="rId418" Type="http://schemas.openxmlformats.org/officeDocument/2006/relationships/slide" Target="slides/slide414.xml"/><Relationship Id="rId222" Type="http://schemas.openxmlformats.org/officeDocument/2006/relationships/slide" Target="slides/slide218.xml"/><Relationship Id="rId264" Type="http://schemas.openxmlformats.org/officeDocument/2006/relationships/slide" Target="slides/slide260.xml"/><Relationship Id="rId471" Type="http://schemas.openxmlformats.org/officeDocument/2006/relationships/slide" Target="slides/slide467.xml"/><Relationship Id="rId17" Type="http://schemas.openxmlformats.org/officeDocument/2006/relationships/slide" Target="slides/slide13.xml"/><Relationship Id="rId59" Type="http://schemas.openxmlformats.org/officeDocument/2006/relationships/slide" Target="slides/slide55.xml"/><Relationship Id="rId124" Type="http://schemas.openxmlformats.org/officeDocument/2006/relationships/slide" Target="slides/slide120.xml"/><Relationship Id="rId527" Type="http://schemas.openxmlformats.org/officeDocument/2006/relationships/slide" Target="slides/slide523.xml"/><Relationship Id="rId569" Type="http://schemas.openxmlformats.org/officeDocument/2006/relationships/slide" Target="slides/slide565.xml"/><Relationship Id="rId70" Type="http://schemas.openxmlformats.org/officeDocument/2006/relationships/slide" Target="slides/slide66.xml"/><Relationship Id="rId166" Type="http://schemas.openxmlformats.org/officeDocument/2006/relationships/slide" Target="slides/slide162.xml"/><Relationship Id="rId331" Type="http://schemas.openxmlformats.org/officeDocument/2006/relationships/slide" Target="slides/slide327.xml"/><Relationship Id="rId373" Type="http://schemas.openxmlformats.org/officeDocument/2006/relationships/slide" Target="slides/slide369.xml"/><Relationship Id="rId429" Type="http://schemas.openxmlformats.org/officeDocument/2006/relationships/slide" Target="slides/slide425.xml"/><Relationship Id="rId580" Type="http://schemas.openxmlformats.org/officeDocument/2006/relationships/slide" Target="slides/slide576.xml"/><Relationship Id="rId1" Type="http://schemas.openxmlformats.org/officeDocument/2006/relationships/customXml" Target="../customXml/item1.xml"/><Relationship Id="rId233" Type="http://schemas.openxmlformats.org/officeDocument/2006/relationships/slide" Target="slides/slide229.xml"/><Relationship Id="rId440" Type="http://schemas.openxmlformats.org/officeDocument/2006/relationships/slide" Target="slides/slide436.xml"/><Relationship Id="rId28" Type="http://schemas.openxmlformats.org/officeDocument/2006/relationships/slide" Target="slides/slide24.xml"/><Relationship Id="rId275" Type="http://schemas.openxmlformats.org/officeDocument/2006/relationships/slide" Target="slides/slide271.xml"/><Relationship Id="rId300" Type="http://schemas.openxmlformats.org/officeDocument/2006/relationships/slide" Target="slides/slide296.xml"/><Relationship Id="rId482" Type="http://schemas.openxmlformats.org/officeDocument/2006/relationships/slide" Target="slides/slide478.xml"/><Relationship Id="rId538" Type="http://schemas.openxmlformats.org/officeDocument/2006/relationships/slide" Target="slides/slide534.xml"/><Relationship Id="rId81" Type="http://schemas.openxmlformats.org/officeDocument/2006/relationships/slide" Target="slides/slide77.xml"/><Relationship Id="rId135" Type="http://schemas.openxmlformats.org/officeDocument/2006/relationships/slide" Target="slides/slide131.xml"/><Relationship Id="rId177" Type="http://schemas.openxmlformats.org/officeDocument/2006/relationships/slide" Target="slides/slide173.xml"/><Relationship Id="rId342" Type="http://schemas.openxmlformats.org/officeDocument/2006/relationships/slide" Target="slides/slide338.xml"/><Relationship Id="rId384" Type="http://schemas.openxmlformats.org/officeDocument/2006/relationships/slide" Target="slides/slide380.xml"/><Relationship Id="rId591" Type="http://schemas.openxmlformats.org/officeDocument/2006/relationships/slide" Target="slides/slide587.xml"/><Relationship Id="rId605" Type="http://schemas.openxmlformats.org/officeDocument/2006/relationships/slide" Target="slides/slide601.xml"/><Relationship Id="rId202" Type="http://schemas.openxmlformats.org/officeDocument/2006/relationships/slide" Target="slides/slide198.xml"/><Relationship Id="rId244" Type="http://schemas.openxmlformats.org/officeDocument/2006/relationships/slide" Target="slides/slide240.xml"/><Relationship Id="rId39" Type="http://schemas.openxmlformats.org/officeDocument/2006/relationships/slide" Target="slides/slide35.xml"/><Relationship Id="rId286" Type="http://schemas.openxmlformats.org/officeDocument/2006/relationships/slide" Target="slides/slide282.xml"/><Relationship Id="rId451" Type="http://schemas.openxmlformats.org/officeDocument/2006/relationships/slide" Target="slides/slide447.xml"/><Relationship Id="rId493" Type="http://schemas.openxmlformats.org/officeDocument/2006/relationships/slide" Target="slides/slide489.xml"/><Relationship Id="rId507" Type="http://schemas.openxmlformats.org/officeDocument/2006/relationships/slide" Target="slides/slide503.xml"/><Relationship Id="rId549" Type="http://schemas.openxmlformats.org/officeDocument/2006/relationships/slide" Target="slides/slide545.xml"/><Relationship Id="rId50" Type="http://schemas.openxmlformats.org/officeDocument/2006/relationships/slide" Target="slides/slide46.xml"/><Relationship Id="rId104" Type="http://schemas.openxmlformats.org/officeDocument/2006/relationships/slide" Target="slides/slide100.xml"/><Relationship Id="rId146" Type="http://schemas.openxmlformats.org/officeDocument/2006/relationships/slide" Target="slides/slide142.xml"/><Relationship Id="rId188" Type="http://schemas.openxmlformats.org/officeDocument/2006/relationships/slide" Target="slides/slide184.xml"/><Relationship Id="rId311" Type="http://schemas.openxmlformats.org/officeDocument/2006/relationships/slide" Target="slides/slide307.xml"/><Relationship Id="rId353" Type="http://schemas.openxmlformats.org/officeDocument/2006/relationships/slide" Target="slides/slide349.xml"/><Relationship Id="rId395" Type="http://schemas.openxmlformats.org/officeDocument/2006/relationships/slide" Target="slides/slide391.xml"/><Relationship Id="rId409" Type="http://schemas.openxmlformats.org/officeDocument/2006/relationships/slide" Target="slides/slide405.xml"/><Relationship Id="rId560" Type="http://schemas.openxmlformats.org/officeDocument/2006/relationships/slide" Target="slides/slide556.xml"/><Relationship Id="rId92" Type="http://schemas.openxmlformats.org/officeDocument/2006/relationships/slide" Target="slides/slide88.xml"/><Relationship Id="rId213" Type="http://schemas.openxmlformats.org/officeDocument/2006/relationships/slide" Target="slides/slide209.xml"/><Relationship Id="rId420" Type="http://schemas.openxmlformats.org/officeDocument/2006/relationships/slide" Target="slides/slide416.xml"/><Relationship Id="rId616" Type="http://schemas.openxmlformats.org/officeDocument/2006/relationships/tableStyles" Target="tableStyles.xml"/><Relationship Id="rId255" Type="http://schemas.openxmlformats.org/officeDocument/2006/relationships/slide" Target="slides/slide251.xml"/><Relationship Id="rId297" Type="http://schemas.openxmlformats.org/officeDocument/2006/relationships/slide" Target="slides/slide293.xml"/><Relationship Id="rId462" Type="http://schemas.openxmlformats.org/officeDocument/2006/relationships/slide" Target="slides/slide458.xml"/><Relationship Id="rId518" Type="http://schemas.openxmlformats.org/officeDocument/2006/relationships/slide" Target="slides/slide514.xml"/><Relationship Id="rId115" Type="http://schemas.openxmlformats.org/officeDocument/2006/relationships/slide" Target="slides/slide111.xml"/><Relationship Id="rId157" Type="http://schemas.openxmlformats.org/officeDocument/2006/relationships/slide" Target="slides/slide153.xml"/><Relationship Id="rId322" Type="http://schemas.openxmlformats.org/officeDocument/2006/relationships/slide" Target="slides/slide318.xml"/><Relationship Id="rId364" Type="http://schemas.openxmlformats.org/officeDocument/2006/relationships/slide" Target="slides/slide360.xml"/><Relationship Id="rId61" Type="http://schemas.openxmlformats.org/officeDocument/2006/relationships/slide" Target="slides/slide57.xml"/><Relationship Id="rId199" Type="http://schemas.openxmlformats.org/officeDocument/2006/relationships/slide" Target="slides/slide195.xml"/><Relationship Id="rId571" Type="http://schemas.openxmlformats.org/officeDocument/2006/relationships/slide" Target="slides/slide567.xml"/><Relationship Id="rId19" Type="http://schemas.openxmlformats.org/officeDocument/2006/relationships/slide" Target="slides/slide15.xml"/><Relationship Id="rId224" Type="http://schemas.openxmlformats.org/officeDocument/2006/relationships/slide" Target="slides/slide220.xml"/><Relationship Id="rId266" Type="http://schemas.openxmlformats.org/officeDocument/2006/relationships/slide" Target="slides/slide262.xml"/><Relationship Id="rId431" Type="http://schemas.openxmlformats.org/officeDocument/2006/relationships/slide" Target="slides/slide427.xml"/><Relationship Id="rId473" Type="http://schemas.openxmlformats.org/officeDocument/2006/relationships/slide" Target="slides/slide469.xml"/><Relationship Id="rId529" Type="http://schemas.openxmlformats.org/officeDocument/2006/relationships/slide" Target="slides/slide525.xml"/><Relationship Id="rId30" Type="http://schemas.openxmlformats.org/officeDocument/2006/relationships/slide" Target="slides/slide26.xml"/><Relationship Id="rId126" Type="http://schemas.openxmlformats.org/officeDocument/2006/relationships/slide" Target="slides/slide122.xml"/><Relationship Id="rId168" Type="http://schemas.openxmlformats.org/officeDocument/2006/relationships/slide" Target="slides/slide164.xml"/><Relationship Id="rId333" Type="http://schemas.openxmlformats.org/officeDocument/2006/relationships/slide" Target="slides/slide329.xml"/><Relationship Id="rId540" Type="http://schemas.openxmlformats.org/officeDocument/2006/relationships/slide" Target="slides/slide536.xml"/><Relationship Id="rId72" Type="http://schemas.openxmlformats.org/officeDocument/2006/relationships/slide" Target="slides/slide68.xml"/><Relationship Id="rId375" Type="http://schemas.openxmlformats.org/officeDocument/2006/relationships/slide" Target="slides/slide371.xml"/><Relationship Id="rId582" Type="http://schemas.openxmlformats.org/officeDocument/2006/relationships/slide" Target="slides/slide578.xml"/><Relationship Id="rId3" Type="http://schemas.openxmlformats.org/officeDocument/2006/relationships/customXml" Target="../customXml/item3.xml"/><Relationship Id="rId235" Type="http://schemas.openxmlformats.org/officeDocument/2006/relationships/slide" Target="slides/slide231.xml"/><Relationship Id="rId277" Type="http://schemas.openxmlformats.org/officeDocument/2006/relationships/slide" Target="slides/slide273.xml"/><Relationship Id="rId400" Type="http://schemas.openxmlformats.org/officeDocument/2006/relationships/slide" Target="slides/slide396.xml"/><Relationship Id="rId442" Type="http://schemas.openxmlformats.org/officeDocument/2006/relationships/slide" Target="slides/slide438.xml"/><Relationship Id="rId484" Type="http://schemas.openxmlformats.org/officeDocument/2006/relationships/slide" Target="slides/slide480.xml"/><Relationship Id="rId137" Type="http://schemas.openxmlformats.org/officeDocument/2006/relationships/slide" Target="slides/slide133.xml"/><Relationship Id="rId302" Type="http://schemas.openxmlformats.org/officeDocument/2006/relationships/slide" Target="slides/slide298.xml"/><Relationship Id="rId344" Type="http://schemas.openxmlformats.org/officeDocument/2006/relationships/slide" Target="slides/slide340.xml"/><Relationship Id="rId41" Type="http://schemas.openxmlformats.org/officeDocument/2006/relationships/slide" Target="slides/slide37.xml"/><Relationship Id="rId83" Type="http://schemas.openxmlformats.org/officeDocument/2006/relationships/slide" Target="slides/slide79.xml"/><Relationship Id="rId179" Type="http://schemas.openxmlformats.org/officeDocument/2006/relationships/slide" Target="slides/slide175.xml"/><Relationship Id="rId386" Type="http://schemas.openxmlformats.org/officeDocument/2006/relationships/slide" Target="slides/slide382.xml"/><Relationship Id="rId551" Type="http://schemas.openxmlformats.org/officeDocument/2006/relationships/slide" Target="slides/slide547.xml"/><Relationship Id="rId593" Type="http://schemas.openxmlformats.org/officeDocument/2006/relationships/slide" Target="slides/slide589.xml"/><Relationship Id="rId607" Type="http://schemas.openxmlformats.org/officeDocument/2006/relationships/slide" Target="slides/slide603.xml"/><Relationship Id="rId190" Type="http://schemas.openxmlformats.org/officeDocument/2006/relationships/slide" Target="slides/slide186.xml"/><Relationship Id="rId204" Type="http://schemas.openxmlformats.org/officeDocument/2006/relationships/slide" Target="slides/slide200.xml"/><Relationship Id="rId246" Type="http://schemas.openxmlformats.org/officeDocument/2006/relationships/slide" Target="slides/slide242.xml"/><Relationship Id="rId288" Type="http://schemas.openxmlformats.org/officeDocument/2006/relationships/slide" Target="slides/slide284.xml"/><Relationship Id="rId411" Type="http://schemas.openxmlformats.org/officeDocument/2006/relationships/slide" Target="slides/slide407.xml"/><Relationship Id="rId453" Type="http://schemas.openxmlformats.org/officeDocument/2006/relationships/slide" Target="slides/slide449.xml"/><Relationship Id="rId509" Type="http://schemas.openxmlformats.org/officeDocument/2006/relationships/slide" Target="slides/slide505.xml"/><Relationship Id="rId106" Type="http://schemas.openxmlformats.org/officeDocument/2006/relationships/slide" Target="slides/slide102.xml"/><Relationship Id="rId313" Type="http://schemas.openxmlformats.org/officeDocument/2006/relationships/slide" Target="slides/slide309.xml"/><Relationship Id="rId495" Type="http://schemas.openxmlformats.org/officeDocument/2006/relationships/slide" Target="slides/slide491.xml"/><Relationship Id="rId10" Type="http://schemas.openxmlformats.org/officeDocument/2006/relationships/slide" Target="slides/slide6.xml"/><Relationship Id="rId52" Type="http://schemas.openxmlformats.org/officeDocument/2006/relationships/slide" Target="slides/slide48.xml"/><Relationship Id="rId94" Type="http://schemas.openxmlformats.org/officeDocument/2006/relationships/slide" Target="slides/slide90.xml"/><Relationship Id="rId148" Type="http://schemas.openxmlformats.org/officeDocument/2006/relationships/slide" Target="slides/slide144.xml"/><Relationship Id="rId355" Type="http://schemas.openxmlformats.org/officeDocument/2006/relationships/slide" Target="slides/slide351.xml"/><Relationship Id="rId397" Type="http://schemas.openxmlformats.org/officeDocument/2006/relationships/slide" Target="slides/slide393.xml"/><Relationship Id="rId520" Type="http://schemas.openxmlformats.org/officeDocument/2006/relationships/slide" Target="slides/slide516.xml"/><Relationship Id="rId562" Type="http://schemas.openxmlformats.org/officeDocument/2006/relationships/slide" Target="slides/slide558.xml"/><Relationship Id="rId215" Type="http://schemas.openxmlformats.org/officeDocument/2006/relationships/slide" Target="slides/slide211.xml"/><Relationship Id="rId257" Type="http://schemas.openxmlformats.org/officeDocument/2006/relationships/slide" Target="slides/slide253.xml"/><Relationship Id="rId422" Type="http://schemas.openxmlformats.org/officeDocument/2006/relationships/slide" Target="slides/slide418.xml"/><Relationship Id="rId464" Type="http://schemas.openxmlformats.org/officeDocument/2006/relationships/slide" Target="slides/slide460.xml"/><Relationship Id="rId299" Type="http://schemas.openxmlformats.org/officeDocument/2006/relationships/slide" Target="slides/slide295.xml"/><Relationship Id="rId63" Type="http://schemas.openxmlformats.org/officeDocument/2006/relationships/slide" Target="slides/slide59.xml"/><Relationship Id="rId159" Type="http://schemas.openxmlformats.org/officeDocument/2006/relationships/slide" Target="slides/slide155.xml"/><Relationship Id="rId366" Type="http://schemas.openxmlformats.org/officeDocument/2006/relationships/slide" Target="slides/slide362.xml"/><Relationship Id="rId573" Type="http://schemas.openxmlformats.org/officeDocument/2006/relationships/slide" Target="slides/slide569.xml"/><Relationship Id="rId226" Type="http://schemas.openxmlformats.org/officeDocument/2006/relationships/slide" Target="slides/slide222.xml"/><Relationship Id="rId433" Type="http://schemas.openxmlformats.org/officeDocument/2006/relationships/slide" Target="slides/slide429.xml"/><Relationship Id="rId74" Type="http://schemas.openxmlformats.org/officeDocument/2006/relationships/slide" Target="slides/slide70.xml"/><Relationship Id="rId377" Type="http://schemas.openxmlformats.org/officeDocument/2006/relationships/slide" Target="slides/slide373.xml"/><Relationship Id="rId500" Type="http://schemas.openxmlformats.org/officeDocument/2006/relationships/slide" Target="slides/slide496.xml"/><Relationship Id="rId584" Type="http://schemas.openxmlformats.org/officeDocument/2006/relationships/slide" Target="slides/slide580.xml"/><Relationship Id="rId5" Type="http://schemas.openxmlformats.org/officeDocument/2006/relationships/slide" Target="slides/slide1.xml"/><Relationship Id="rId237" Type="http://schemas.openxmlformats.org/officeDocument/2006/relationships/slide" Target="slides/slide233.xml"/><Relationship Id="rId444" Type="http://schemas.openxmlformats.org/officeDocument/2006/relationships/slide" Target="slides/slide440.xml"/><Relationship Id="rId290" Type="http://schemas.openxmlformats.org/officeDocument/2006/relationships/slide" Target="slides/slide286.xml"/><Relationship Id="rId304" Type="http://schemas.openxmlformats.org/officeDocument/2006/relationships/slide" Target="slides/slide300.xml"/><Relationship Id="rId388" Type="http://schemas.openxmlformats.org/officeDocument/2006/relationships/slide" Target="slides/slide384.xml"/><Relationship Id="rId511" Type="http://schemas.openxmlformats.org/officeDocument/2006/relationships/slide" Target="slides/slide507.xml"/><Relationship Id="rId609" Type="http://schemas.openxmlformats.org/officeDocument/2006/relationships/slide" Target="slides/slide605.xml"/><Relationship Id="rId85" Type="http://schemas.openxmlformats.org/officeDocument/2006/relationships/slide" Target="slides/slide81.xml"/><Relationship Id="rId150" Type="http://schemas.openxmlformats.org/officeDocument/2006/relationships/slide" Target="slides/slide146.xml"/><Relationship Id="rId595" Type="http://schemas.openxmlformats.org/officeDocument/2006/relationships/slide" Target="slides/slide591.xml"/><Relationship Id="rId248" Type="http://schemas.openxmlformats.org/officeDocument/2006/relationships/slide" Target="slides/slide244.xml"/><Relationship Id="rId455" Type="http://schemas.openxmlformats.org/officeDocument/2006/relationships/slide" Target="slides/slide451.xml"/><Relationship Id="rId12" Type="http://schemas.openxmlformats.org/officeDocument/2006/relationships/slide" Target="slides/slide8.xml"/><Relationship Id="rId108" Type="http://schemas.openxmlformats.org/officeDocument/2006/relationships/slide" Target="slides/slide104.xml"/><Relationship Id="rId315" Type="http://schemas.openxmlformats.org/officeDocument/2006/relationships/slide" Target="slides/slide311.xml"/><Relationship Id="rId522" Type="http://schemas.openxmlformats.org/officeDocument/2006/relationships/slide" Target="slides/slide518.xml"/><Relationship Id="rId96" Type="http://schemas.openxmlformats.org/officeDocument/2006/relationships/slide" Target="slides/slide92.xml"/><Relationship Id="rId161" Type="http://schemas.openxmlformats.org/officeDocument/2006/relationships/slide" Target="slides/slide157.xml"/><Relationship Id="rId399" Type="http://schemas.openxmlformats.org/officeDocument/2006/relationships/slide" Target="slides/slide395.xml"/><Relationship Id="rId259" Type="http://schemas.openxmlformats.org/officeDocument/2006/relationships/slide" Target="slides/slide255.xml"/><Relationship Id="rId466" Type="http://schemas.openxmlformats.org/officeDocument/2006/relationships/slide" Target="slides/slide462.xml"/><Relationship Id="rId23" Type="http://schemas.openxmlformats.org/officeDocument/2006/relationships/slide" Target="slides/slide19.xml"/><Relationship Id="rId119" Type="http://schemas.openxmlformats.org/officeDocument/2006/relationships/slide" Target="slides/slide115.xml"/><Relationship Id="rId326" Type="http://schemas.openxmlformats.org/officeDocument/2006/relationships/slide" Target="slides/slide322.xml"/><Relationship Id="rId533" Type="http://schemas.openxmlformats.org/officeDocument/2006/relationships/slide" Target="slides/slide529.xml"/><Relationship Id="rId172" Type="http://schemas.openxmlformats.org/officeDocument/2006/relationships/slide" Target="slides/slide168.xml"/><Relationship Id="rId477" Type="http://schemas.openxmlformats.org/officeDocument/2006/relationships/slide" Target="slides/slide473.xml"/><Relationship Id="rId600" Type="http://schemas.openxmlformats.org/officeDocument/2006/relationships/slide" Target="slides/slide596.xml"/><Relationship Id="rId337" Type="http://schemas.openxmlformats.org/officeDocument/2006/relationships/slide" Target="slides/slide333.xml"/><Relationship Id="rId34" Type="http://schemas.openxmlformats.org/officeDocument/2006/relationships/slide" Target="slides/slide30.xml"/><Relationship Id="rId544" Type="http://schemas.openxmlformats.org/officeDocument/2006/relationships/slide" Target="slides/slide540.xml"/><Relationship Id="rId183" Type="http://schemas.openxmlformats.org/officeDocument/2006/relationships/slide" Target="slides/slide179.xml"/><Relationship Id="rId390" Type="http://schemas.openxmlformats.org/officeDocument/2006/relationships/slide" Target="slides/slide386.xml"/><Relationship Id="rId404" Type="http://schemas.openxmlformats.org/officeDocument/2006/relationships/slide" Target="slides/slide400.xml"/><Relationship Id="rId611" Type="http://schemas.openxmlformats.org/officeDocument/2006/relationships/notesMaster" Target="notesMasters/notesMaster1.xml"/><Relationship Id="rId250" Type="http://schemas.openxmlformats.org/officeDocument/2006/relationships/slide" Target="slides/slide246.xml"/><Relationship Id="rId488" Type="http://schemas.openxmlformats.org/officeDocument/2006/relationships/slide" Target="slides/slide484.xml"/><Relationship Id="rId45" Type="http://schemas.openxmlformats.org/officeDocument/2006/relationships/slide" Target="slides/slide41.xml"/><Relationship Id="rId110" Type="http://schemas.openxmlformats.org/officeDocument/2006/relationships/slide" Target="slides/slide106.xml"/><Relationship Id="rId348" Type="http://schemas.openxmlformats.org/officeDocument/2006/relationships/slide" Target="slides/slide344.xml"/><Relationship Id="rId555" Type="http://schemas.openxmlformats.org/officeDocument/2006/relationships/slide" Target="slides/slide551.xml"/><Relationship Id="rId194" Type="http://schemas.openxmlformats.org/officeDocument/2006/relationships/slide" Target="slides/slide190.xml"/><Relationship Id="rId208" Type="http://schemas.openxmlformats.org/officeDocument/2006/relationships/slide" Target="slides/slide204.xml"/><Relationship Id="rId415" Type="http://schemas.openxmlformats.org/officeDocument/2006/relationships/slide" Target="slides/slide411.xml"/><Relationship Id="rId261" Type="http://schemas.openxmlformats.org/officeDocument/2006/relationships/slide" Target="slides/slide257.xml"/><Relationship Id="rId499" Type="http://schemas.openxmlformats.org/officeDocument/2006/relationships/slide" Target="slides/slide495.xml"/><Relationship Id="rId56" Type="http://schemas.openxmlformats.org/officeDocument/2006/relationships/slide" Target="slides/slide52.xml"/><Relationship Id="rId359" Type="http://schemas.openxmlformats.org/officeDocument/2006/relationships/slide" Target="slides/slide355.xml"/><Relationship Id="rId566" Type="http://schemas.openxmlformats.org/officeDocument/2006/relationships/slide" Target="slides/slide562.xml"/><Relationship Id="rId121" Type="http://schemas.openxmlformats.org/officeDocument/2006/relationships/slide" Target="slides/slide117.xml"/><Relationship Id="rId219" Type="http://schemas.openxmlformats.org/officeDocument/2006/relationships/slide" Target="slides/slide215.xml"/><Relationship Id="rId426" Type="http://schemas.openxmlformats.org/officeDocument/2006/relationships/slide" Target="slides/slide422.xml"/><Relationship Id="rId67" Type="http://schemas.openxmlformats.org/officeDocument/2006/relationships/slide" Target="slides/slide63.xml"/><Relationship Id="rId272" Type="http://schemas.openxmlformats.org/officeDocument/2006/relationships/slide" Target="slides/slide268.xml"/><Relationship Id="rId577" Type="http://schemas.openxmlformats.org/officeDocument/2006/relationships/slide" Target="slides/slide57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y, Sandip (Cognizant)" userId="5f7625ad-98d9-4890-9d14-c521d7d0e727" providerId="ADAL" clId="{C2AB7451-CC97-4FB3-8B68-F5313FB7DC79}"/>
    <pc:docChg chg="modSld">
      <pc:chgData name="Ray, Sandip (Cognizant)" userId="5f7625ad-98d9-4890-9d14-c521d7d0e727" providerId="ADAL" clId="{C2AB7451-CC97-4FB3-8B68-F5313FB7DC79}" dt="2023-04-06T04:09:00.980" v="256" actId="20577"/>
      <pc:docMkLst>
        <pc:docMk/>
      </pc:docMkLst>
      <pc:sldChg chg="modSp mod">
        <pc:chgData name="Ray, Sandip (Cognizant)" userId="5f7625ad-98d9-4890-9d14-c521d7d0e727" providerId="ADAL" clId="{C2AB7451-CC97-4FB3-8B68-F5313FB7DC79}" dt="2023-04-06T03:59:36.364" v="161" actId="20577"/>
        <pc:sldMkLst>
          <pc:docMk/>
          <pc:sldMk cId="0" sldId="260"/>
        </pc:sldMkLst>
        <pc:spChg chg="mod">
          <ac:chgData name="Ray, Sandip (Cognizant)" userId="5f7625ad-98d9-4890-9d14-c521d7d0e727" providerId="ADAL" clId="{C2AB7451-CC97-4FB3-8B68-F5313FB7DC79}" dt="2023-04-06T03:59:36.364" v="161" actId="20577"/>
          <ac:spMkLst>
            <pc:docMk/>
            <pc:sldMk cId="0" sldId="260"/>
            <ac:spMk id="6" creationId="{6F1A71D4-B0E2-03B4-6EE7-DB07A3C27BD4}"/>
          </ac:spMkLst>
        </pc:spChg>
      </pc:sldChg>
      <pc:sldChg chg="modSp mod">
        <pc:chgData name="Ray, Sandip (Cognizant)" userId="5f7625ad-98d9-4890-9d14-c521d7d0e727" providerId="ADAL" clId="{C2AB7451-CC97-4FB3-8B68-F5313FB7DC79}" dt="2023-04-06T03:48:53.533" v="73" actId="20577"/>
        <pc:sldMkLst>
          <pc:docMk/>
          <pc:sldMk cId="4047161330" sldId="286"/>
        </pc:sldMkLst>
        <pc:spChg chg="mod">
          <ac:chgData name="Ray, Sandip (Cognizant)" userId="5f7625ad-98d9-4890-9d14-c521d7d0e727" providerId="ADAL" clId="{C2AB7451-CC97-4FB3-8B68-F5313FB7DC79}" dt="2023-04-06T03:45:56.046" v="16" actId="20577"/>
          <ac:spMkLst>
            <pc:docMk/>
            <pc:sldMk cId="4047161330" sldId="286"/>
            <ac:spMk id="10" creationId="{00000000-0000-0000-0000-000000000000}"/>
          </ac:spMkLst>
        </pc:spChg>
        <pc:spChg chg="mod">
          <ac:chgData name="Ray, Sandip (Cognizant)" userId="5f7625ad-98d9-4890-9d14-c521d7d0e727" providerId="ADAL" clId="{C2AB7451-CC97-4FB3-8B68-F5313FB7DC79}" dt="2023-04-06T03:48:53.533" v="73" actId="20577"/>
          <ac:spMkLst>
            <pc:docMk/>
            <pc:sldMk cId="4047161330" sldId="286"/>
            <ac:spMk id="22" creationId="{2C359A52-6812-58BA-7F74-5756C76E8AAB}"/>
          </ac:spMkLst>
        </pc:spChg>
      </pc:sldChg>
      <pc:sldChg chg="modSp mod">
        <pc:chgData name="Ray, Sandip (Cognizant)" userId="5f7625ad-98d9-4890-9d14-c521d7d0e727" providerId="ADAL" clId="{C2AB7451-CC97-4FB3-8B68-F5313FB7DC79}" dt="2023-04-06T03:50:55.737" v="137" actId="20577"/>
        <pc:sldMkLst>
          <pc:docMk/>
          <pc:sldMk cId="1704172639" sldId="287"/>
        </pc:sldMkLst>
        <pc:spChg chg="mod">
          <ac:chgData name="Ray, Sandip (Cognizant)" userId="5f7625ad-98d9-4890-9d14-c521d7d0e727" providerId="ADAL" clId="{C2AB7451-CC97-4FB3-8B68-F5313FB7DC79}" dt="2023-04-06T03:50:55.737" v="137" actId="20577"/>
          <ac:spMkLst>
            <pc:docMk/>
            <pc:sldMk cId="1704172639" sldId="287"/>
            <ac:spMk id="10" creationId="{00000000-0000-0000-0000-000000000000}"/>
          </ac:spMkLst>
        </pc:spChg>
      </pc:sldChg>
      <pc:sldChg chg="modSp mod">
        <pc:chgData name="Ray, Sandip (Cognizant)" userId="5f7625ad-98d9-4890-9d14-c521d7d0e727" providerId="ADAL" clId="{C2AB7451-CC97-4FB3-8B68-F5313FB7DC79}" dt="2023-04-06T03:52:41.549" v="147" actId="20577"/>
        <pc:sldMkLst>
          <pc:docMk/>
          <pc:sldMk cId="4018458971" sldId="288"/>
        </pc:sldMkLst>
        <pc:spChg chg="mod">
          <ac:chgData name="Ray, Sandip (Cognizant)" userId="5f7625ad-98d9-4890-9d14-c521d7d0e727" providerId="ADAL" clId="{C2AB7451-CC97-4FB3-8B68-F5313FB7DC79}" dt="2023-04-06T03:52:41.549" v="147" actId="20577"/>
          <ac:spMkLst>
            <pc:docMk/>
            <pc:sldMk cId="4018458971" sldId="288"/>
            <ac:spMk id="10" creationId="{00000000-0000-0000-0000-000000000000}"/>
          </ac:spMkLst>
        </pc:spChg>
      </pc:sldChg>
      <pc:sldChg chg="modSp mod">
        <pc:chgData name="Ray, Sandip (Cognizant)" userId="5f7625ad-98d9-4890-9d14-c521d7d0e727" providerId="ADAL" clId="{C2AB7451-CC97-4FB3-8B68-F5313FB7DC79}" dt="2023-04-06T03:56:47.733" v="149" actId="20577"/>
        <pc:sldMkLst>
          <pc:docMk/>
          <pc:sldMk cId="1223559503" sldId="291"/>
        </pc:sldMkLst>
        <pc:spChg chg="mod">
          <ac:chgData name="Ray, Sandip (Cognizant)" userId="5f7625ad-98d9-4890-9d14-c521d7d0e727" providerId="ADAL" clId="{C2AB7451-CC97-4FB3-8B68-F5313FB7DC79}" dt="2023-04-06T03:56:47.733" v="149" actId="20577"/>
          <ac:spMkLst>
            <pc:docMk/>
            <pc:sldMk cId="1223559503" sldId="291"/>
            <ac:spMk id="10" creationId="{00000000-0000-0000-0000-000000000000}"/>
          </ac:spMkLst>
        </pc:spChg>
      </pc:sldChg>
      <pc:sldChg chg="modSp mod">
        <pc:chgData name="Ray, Sandip (Cognizant)" userId="5f7625ad-98d9-4890-9d14-c521d7d0e727" providerId="ADAL" clId="{C2AB7451-CC97-4FB3-8B68-F5313FB7DC79}" dt="2023-04-06T04:09:00.980" v="256" actId="20577"/>
        <pc:sldMkLst>
          <pc:docMk/>
          <pc:sldMk cId="785725705" sldId="292"/>
        </pc:sldMkLst>
        <pc:spChg chg="mod">
          <ac:chgData name="Ray, Sandip (Cognizant)" userId="5f7625ad-98d9-4890-9d14-c521d7d0e727" providerId="ADAL" clId="{C2AB7451-CC97-4FB3-8B68-F5313FB7DC79}" dt="2023-04-06T04:09:00.980" v="256" actId="20577"/>
          <ac:spMkLst>
            <pc:docMk/>
            <pc:sldMk cId="785725705" sldId="292"/>
            <ac:spMk id="10" creationId="{00000000-0000-0000-0000-000000000000}"/>
          </ac:spMkLst>
        </pc:spChg>
      </pc:sldChg>
      <pc:sldChg chg="modSp mod">
        <pc:chgData name="Ray, Sandip (Cognizant)" userId="5f7625ad-98d9-4890-9d14-c521d7d0e727" providerId="ADAL" clId="{C2AB7451-CC97-4FB3-8B68-F5313FB7DC79}" dt="2023-04-06T03:55:08.024" v="148" actId="6549"/>
        <pc:sldMkLst>
          <pc:docMk/>
          <pc:sldMk cId="1456905060" sldId="293"/>
        </pc:sldMkLst>
        <pc:spChg chg="mod">
          <ac:chgData name="Ray, Sandip (Cognizant)" userId="5f7625ad-98d9-4890-9d14-c521d7d0e727" providerId="ADAL" clId="{C2AB7451-CC97-4FB3-8B68-F5313FB7DC79}" dt="2023-04-06T03:55:08.024" v="148" actId="6549"/>
          <ac:spMkLst>
            <pc:docMk/>
            <pc:sldMk cId="1456905060" sldId="293"/>
            <ac:spMk id="10" creationId="{00000000-0000-0000-0000-000000000000}"/>
          </ac:spMkLst>
        </pc:spChg>
      </pc:sldChg>
    </pc:docChg>
  </pc:docChgLst>
  <pc:docChgLst>
    <pc:chgData name="Kumar, Harendra (Cognizant)" userId="8b8433c2-3ce6-4e38-9e1b-c8afb18e9057" providerId="ADAL" clId="{9C4CD99B-EF1B-4C81-94B0-0A1924216EBF}"/>
    <pc:docChg chg="undo custSel addSld delSld modSld sldOrd addSection delSection">
      <pc:chgData name="Kumar, Harendra (Cognizant)" userId="8b8433c2-3ce6-4e38-9e1b-c8afb18e9057" providerId="ADAL" clId="{9C4CD99B-EF1B-4C81-94B0-0A1924216EBF}" dt="2023-04-03T10:14:33.691" v="8675" actId="1035"/>
      <pc:docMkLst>
        <pc:docMk/>
      </pc:docMkLst>
      <pc:sldChg chg="addSp delSp modSp mod">
        <pc:chgData name="Kumar, Harendra (Cognizant)" userId="8b8433c2-3ce6-4e38-9e1b-c8afb18e9057" providerId="ADAL" clId="{9C4CD99B-EF1B-4C81-94B0-0A1924216EBF}" dt="2023-04-03T07:22:34.979" v="3882" actId="1037"/>
        <pc:sldMkLst>
          <pc:docMk/>
          <pc:sldMk cId="0" sldId="256"/>
        </pc:sldMkLst>
        <pc:spChg chg="del mod">
          <ac:chgData name="Kumar, Harendra (Cognizant)" userId="8b8433c2-3ce6-4e38-9e1b-c8afb18e9057" providerId="ADAL" clId="{9C4CD99B-EF1B-4C81-94B0-0A1924216EBF}" dt="2023-04-03T05:55:28.094" v="18" actId="12084"/>
          <ac:spMkLst>
            <pc:docMk/>
            <pc:sldMk cId="0" sldId="256"/>
            <ac:spMk id="2" creationId="{00000000-0000-0000-0000-000000000000}"/>
          </ac:spMkLst>
        </pc:spChg>
        <pc:spChg chg="mod">
          <ac:chgData name="Kumar, Harendra (Cognizant)" userId="8b8433c2-3ce6-4e38-9e1b-c8afb18e9057" providerId="ADAL" clId="{9C4CD99B-EF1B-4C81-94B0-0A1924216EBF}" dt="2023-04-03T07:22:34.979" v="3882" actId="1037"/>
          <ac:spMkLst>
            <pc:docMk/>
            <pc:sldMk cId="0" sldId="256"/>
            <ac:spMk id="3" creationId="{00000000-0000-0000-0000-000000000000}"/>
          </ac:spMkLst>
        </pc:spChg>
        <pc:graphicFrameChg chg="add mod">
          <ac:chgData name="Kumar, Harendra (Cognizant)" userId="8b8433c2-3ce6-4e38-9e1b-c8afb18e9057" providerId="ADAL" clId="{9C4CD99B-EF1B-4C81-94B0-0A1924216EBF}" dt="2023-04-03T07:22:25.842" v="3873" actId="12100"/>
          <ac:graphicFrameMkLst>
            <pc:docMk/>
            <pc:sldMk cId="0" sldId="256"/>
            <ac:graphicFrameMk id="6" creationId="{226DC635-E9B3-0133-0548-37B556605D82}"/>
          </ac:graphicFrameMkLst>
        </pc:graphicFrameChg>
      </pc:sldChg>
      <pc:sldChg chg="addSp delSp modSp mod">
        <pc:chgData name="Kumar, Harendra (Cognizant)" userId="8b8433c2-3ce6-4e38-9e1b-c8afb18e9057" providerId="ADAL" clId="{9C4CD99B-EF1B-4C81-94B0-0A1924216EBF}" dt="2023-04-03T09:52:43.219" v="7266" actId="2"/>
        <pc:sldMkLst>
          <pc:docMk/>
          <pc:sldMk cId="0" sldId="258"/>
        </pc:sldMkLst>
        <pc:spChg chg="mod">
          <ac:chgData name="Kumar, Harendra (Cognizant)" userId="8b8433c2-3ce6-4e38-9e1b-c8afb18e9057" providerId="ADAL" clId="{9C4CD99B-EF1B-4C81-94B0-0A1924216EBF}" dt="2023-04-03T07:17:59.233" v="3847" actId="255"/>
          <ac:spMkLst>
            <pc:docMk/>
            <pc:sldMk cId="0" sldId="258"/>
            <ac:spMk id="2" creationId="{00000000-0000-0000-0000-000000000000}"/>
          </ac:spMkLst>
        </pc:spChg>
        <pc:spChg chg="del mod">
          <ac:chgData name="Kumar, Harendra (Cognizant)" userId="8b8433c2-3ce6-4e38-9e1b-c8afb18e9057" providerId="ADAL" clId="{9C4CD99B-EF1B-4C81-94B0-0A1924216EBF}" dt="2023-04-03T06:39:27.761" v="1746" actId="21"/>
          <ac:spMkLst>
            <pc:docMk/>
            <pc:sldMk cId="0" sldId="258"/>
            <ac:spMk id="4" creationId="{00000000-0000-0000-0000-000000000000}"/>
          </ac:spMkLst>
        </pc:spChg>
        <pc:spChg chg="mod">
          <ac:chgData name="Kumar, Harendra (Cognizant)" userId="8b8433c2-3ce6-4e38-9e1b-c8afb18e9057" providerId="ADAL" clId="{9C4CD99B-EF1B-4C81-94B0-0A1924216EBF}" dt="2023-04-03T09:52:41.695" v="7265" actId="2"/>
          <ac:spMkLst>
            <pc:docMk/>
            <pc:sldMk cId="0" sldId="258"/>
            <ac:spMk id="5" creationId="{00000000-0000-0000-0000-000000000000}"/>
          </ac:spMkLst>
        </pc:spChg>
        <pc:spChg chg="del">
          <ac:chgData name="Kumar, Harendra (Cognizant)" userId="8b8433c2-3ce6-4e38-9e1b-c8afb18e9057" providerId="ADAL" clId="{9C4CD99B-EF1B-4C81-94B0-0A1924216EBF}" dt="2023-04-03T06:39:11.928" v="1740" actId="478"/>
          <ac:spMkLst>
            <pc:docMk/>
            <pc:sldMk cId="0" sldId="258"/>
            <ac:spMk id="7" creationId="{00000000-0000-0000-0000-000000000000}"/>
          </ac:spMkLst>
        </pc:spChg>
        <pc:spChg chg="del">
          <ac:chgData name="Kumar, Harendra (Cognizant)" userId="8b8433c2-3ce6-4e38-9e1b-c8afb18e9057" providerId="ADAL" clId="{9C4CD99B-EF1B-4C81-94B0-0A1924216EBF}" dt="2023-04-03T06:39:09.787" v="1739" actId="478"/>
          <ac:spMkLst>
            <pc:docMk/>
            <pc:sldMk cId="0" sldId="258"/>
            <ac:spMk id="8" creationId="{00000000-0000-0000-0000-000000000000}"/>
          </ac:spMkLst>
        </pc:spChg>
        <pc:spChg chg="add mod">
          <ac:chgData name="Kumar, Harendra (Cognizant)" userId="8b8433c2-3ce6-4e38-9e1b-c8afb18e9057" providerId="ADAL" clId="{9C4CD99B-EF1B-4C81-94B0-0A1924216EBF}" dt="2023-04-03T09:52:43.219" v="7266" actId="2"/>
          <ac:spMkLst>
            <pc:docMk/>
            <pc:sldMk cId="0" sldId="258"/>
            <ac:spMk id="9" creationId="{E2B73E12-784C-7F90-DA48-6D0006E2601C}"/>
          </ac:spMkLst>
        </pc:spChg>
        <pc:picChg chg="add mod">
          <ac:chgData name="Kumar, Harendra (Cognizant)" userId="8b8433c2-3ce6-4e38-9e1b-c8afb18e9057" providerId="ADAL" clId="{9C4CD99B-EF1B-4C81-94B0-0A1924216EBF}" dt="2023-04-03T07:21:03.506" v="3870" actId="14100"/>
          <ac:picMkLst>
            <pc:docMk/>
            <pc:sldMk cId="0" sldId="258"/>
            <ac:picMk id="6" creationId="{7F0752E5-7035-0C32-C92B-70020742F100}"/>
          </ac:picMkLst>
        </pc:picChg>
        <pc:picChg chg="add mod">
          <ac:chgData name="Kumar, Harendra (Cognizant)" userId="8b8433c2-3ce6-4e38-9e1b-c8afb18e9057" providerId="ADAL" clId="{9C4CD99B-EF1B-4C81-94B0-0A1924216EBF}" dt="2023-04-03T07:20:50.567" v="3868" actId="14100"/>
          <ac:picMkLst>
            <pc:docMk/>
            <pc:sldMk cId="0" sldId="258"/>
            <ac:picMk id="11" creationId="{FEB3C8A0-8B7A-23A2-EC4D-3EEE1C72A435}"/>
          </ac:picMkLst>
        </pc:picChg>
      </pc:sldChg>
      <pc:sldChg chg="addSp delSp modSp mod">
        <pc:chgData name="Kumar, Harendra (Cognizant)" userId="8b8433c2-3ce6-4e38-9e1b-c8afb18e9057" providerId="ADAL" clId="{9C4CD99B-EF1B-4C81-94B0-0A1924216EBF}" dt="2023-04-03T09:54:11.475" v="7276" actId="2711"/>
        <pc:sldMkLst>
          <pc:docMk/>
          <pc:sldMk cId="0" sldId="260"/>
        </pc:sldMkLst>
        <pc:spChg chg="del">
          <ac:chgData name="Kumar, Harendra (Cognizant)" userId="8b8433c2-3ce6-4e38-9e1b-c8afb18e9057" providerId="ADAL" clId="{9C4CD99B-EF1B-4C81-94B0-0A1924216EBF}" dt="2023-04-03T06:54:56.237" v="2383" actId="478"/>
          <ac:spMkLst>
            <pc:docMk/>
            <pc:sldMk cId="0" sldId="260"/>
            <ac:spMk id="2" creationId="{00000000-0000-0000-0000-000000000000}"/>
          </ac:spMkLst>
        </pc:spChg>
        <pc:spChg chg="del">
          <ac:chgData name="Kumar, Harendra (Cognizant)" userId="8b8433c2-3ce6-4e38-9e1b-c8afb18e9057" providerId="ADAL" clId="{9C4CD99B-EF1B-4C81-94B0-0A1924216EBF}" dt="2023-04-03T06:54:54.953" v="2382" actId="478"/>
          <ac:spMkLst>
            <pc:docMk/>
            <pc:sldMk cId="0" sldId="260"/>
            <ac:spMk id="3" creationId="{00000000-0000-0000-0000-000000000000}"/>
          </ac:spMkLst>
        </pc:spChg>
        <pc:spChg chg="add mod">
          <ac:chgData name="Kumar, Harendra (Cognizant)" userId="8b8433c2-3ce6-4e38-9e1b-c8afb18e9057" providerId="ADAL" clId="{9C4CD99B-EF1B-4C81-94B0-0A1924216EBF}" dt="2023-04-03T09:54:11.475" v="7276" actId="2711"/>
          <ac:spMkLst>
            <pc:docMk/>
            <pc:sldMk cId="0" sldId="260"/>
            <ac:spMk id="4" creationId="{93A0F582-DCEC-D980-FFA8-A6F1ED88539A}"/>
          </ac:spMkLst>
        </pc:spChg>
        <pc:spChg chg="del mod">
          <ac:chgData name="Kumar, Harendra (Cognizant)" userId="8b8433c2-3ce6-4e38-9e1b-c8afb18e9057" providerId="ADAL" clId="{9C4CD99B-EF1B-4C81-94B0-0A1924216EBF}" dt="2023-04-03T06:54:57.808" v="2385" actId="478"/>
          <ac:spMkLst>
            <pc:docMk/>
            <pc:sldMk cId="0" sldId="260"/>
            <ac:spMk id="5" creationId="{00000000-0000-0000-0000-000000000000}"/>
          </ac:spMkLst>
        </pc:spChg>
        <pc:spChg chg="add mod">
          <ac:chgData name="Kumar, Harendra (Cognizant)" userId="8b8433c2-3ce6-4e38-9e1b-c8afb18e9057" providerId="ADAL" clId="{9C4CD99B-EF1B-4C81-94B0-0A1924216EBF}" dt="2023-04-03T09:53:42.213" v="7275" actId="2711"/>
          <ac:spMkLst>
            <pc:docMk/>
            <pc:sldMk cId="0" sldId="260"/>
            <ac:spMk id="6" creationId="{6F1A71D4-B0E2-03B4-6EE7-DB07A3C27BD4}"/>
          </ac:spMkLst>
        </pc:spChg>
        <pc:spChg chg="del mod">
          <ac:chgData name="Kumar, Harendra (Cognizant)" userId="8b8433c2-3ce6-4e38-9e1b-c8afb18e9057" providerId="ADAL" clId="{9C4CD99B-EF1B-4C81-94B0-0A1924216EBF}" dt="2023-04-03T06:54:53.249" v="2381" actId="478"/>
          <ac:spMkLst>
            <pc:docMk/>
            <pc:sldMk cId="0" sldId="260"/>
            <ac:spMk id="7"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0" sldId="269"/>
        </pc:sldMkLst>
        <pc:spChg chg="mod">
          <ac:chgData name="Kumar, Harendra (Cognizant)" userId="8b8433c2-3ce6-4e38-9e1b-c8afb18e9057" providerId="ADAL" clId="{9C4CD99B-EF1B-4C81-94B0-0A1924216EBF}" dt="2023-04-03T05:56:19.037" v="24"/>
          <ac:spMkLst>
            <pc:docMk/>
            <pc:sldMk cId="0" sldId="269"/>
            <ac:spMk id="14" creationId="{00000000-0000-0000-0000-000000000000}"/>
          </ac:spMkLst>
        </pc:spChg>
        <pc:spChg chg="mod">
          <ac:chgData name="Kumar, Harendra (Cognizant)" userId="8b8433c2-3ce6-4e38-9e1b-c8afb18e9057" providerId="ADAL" clId="{9C4CD99B-EF1B-4C81-94B0-0A1924216EBF}" dt="2023-04-03T05:56:19.037" v="24"/>
          <ac:spMkLst>
            <pc:docMk/>
            <pc:sldMk cId="0" sldId="269"/>
            <ac:spMk id="15" creationId="{00000000-0000-0000-0000-000000000000}"/>
          </ac:spMkLst>
        </pc:spChg>
        <pc:spChg chg="mod">
          <ac:chgData name="Kumar, Harendra (Cognizant)" userId="8b8433c2-3ce6-4e38-9e1b-c8afb18e9057" providerId="ADAL" clId="{9C4CD99B-EF1B-4C81-94B0-0A1924216EBF}" dt="2023-04-03T05:56:19.037" v="24"/>
          <ac:spMkLst>
            <pc:docMk/>
            <pc:sldMk cId="0" sldId="269"/>
            <ac:spMk id="16" creationId="{00000000-0000-0000-0000-000000000000}"/>
          </ac:spMkLst>
        </pc:spChg>
      </pc:sldChg>
      <pc:sldChg chg="del">
        <pc:chgData name="Kumar, Harendra (Cognizant)" userId="8b8433c2-3ce6-4e38-9e1b-c8afb18e9057" providerId="ADAL" clId="{9C4CD99B-EF1B-4C81-94B0-0A1924216EBF}" dt="2023-04-03T07:22:56.532" v="3883" actId="47"/>
        <pc:sldMkLst>
          <pc:docMk/>
          <pc:sldMk cId="0" sldId="270"/>
        </pc:sldMkLst>
      </pc:sldChg>
      <pc:sldChg chg="del">
        <pc:chgData name="Kumar, Harendra (Cognizant)" userId="8b8433c2-3ce6-4e38-9e1b-c8afb18e9057" providerId="ADAL" clId="{9C4CD99B-EF1B-4C81-94B0-0A1924216EBF}" dt="2023-04-03T07:22:56.532" v="3883" actId="47"/>
        <pc:sldMkLst>
          <pc:docMk/>
          <pc:sldMk cId="0" sldId="275"/>
        </pc:sldMkLst>
      </pc:sldChg>
      <pc:sldChg chg="del">
        <pc:chgData name="Kumar, Harendra (Cognizant)" userId="8b8433c2-3ce6-4e38-9e1b-c8afb18e9057" providerId="ADAL" clId="{9C4CD99B-EF1B-4C81-94B0-0A1924216EBF}" dt="2023-04-03T07:22:56.532" v="3883" actId="47"/>
        <pc:sldMkLst>
          <pc:docMk/>
          <pc:sldMk cId="3766500295" sldId="276"/>
        </pc:sldMkLst>
      </pc:sldChg>
      <pc:sldChg chg="del">
        <pc:chgData name="Kumar, Harendra (Cognizant)" userId="8b8433c2-3ce6-4e38-9e1b-c8afb18e9057" providerId="ADAL" clId="{9C4CD99B-EF1B-4C81-94B0-0A1924216EBF}" dt="2023-04-03T07:22:56.532" v="3883" actId="47"/>
        <pc:sldMkLst>
          <pc:docMk/>
          <pc:sldMk cId="3958584192" sldId="277"/>
        </pc:sldMkLst>
      </pc:sldChg>
      <pc:sldChg chg="modSp del">
        <pc:chgData name="Kumar, Harendra (Cognizant)" userId="8b8433c2-3ce6-4e38-9e1b-c8afb18e9057" providerId="ADAL" clId="{9C4CD99B-EF1B-4C81-94B0-0A1924216EBF}" dt="2023-04-03T07:22:56.532" v="3883" actId="47"/>
        <pc:sldMkLst>
          <pc:docMk/>
          <pc:sldMk cId="3888009725" sldId="278"/>
        </pc:sldMkLst>
        <pc:spChg chg="mod">
          <ac:chgData name="Kumar, Harendra (Cognizant)" userId="8b8433c2-3ce6-4e38-9e1b-c8afb18e9057" providerId="ADAL" clId="{9C4CD99B-EF1B-4C81-94B0-0A1924216EBF}" dt="2023-04-03T05:56:19.037" v="24"/>
          <ac:spMkLst>
            <pc:docMk/>
            <pc:sldMk cId="3888009725" sldId="278"/>
            <ac:spMk id="25"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1415307865" sldId="279"/>
        </pc:sldMkLst>
        <pc:spChg chg="mod">
          <ac:chgData name="Kumar, Harendra (Cognizant)" userId="8b8433c2-3ce6-4e38-9e1b-c8afb18e9057" providerId="ADAL" clId="{9C4CD99B-EF1B-4C81-94B0-0A1924216EBF}" dt="2023-04-03T05:56:19.037" v="24"/>
          <ac:spMkLst>
            <pc:docMk/>
            <pc:sldMk cId="1415307865" sldId="279"/>
            <ac:spMk id="13"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299004302" sldId="280"/>
        </pc:sldMkLst>
        <pc:spChg chg="mod">
          <ac:chgData name="Kumar, Harendra (Cognizant)" userId="8b8433c2-3ce6-4e38-9e1b-c8afb18e9057" providerId="ADAL" clId="{9C4CD99B-EF1B-4C81-94B0-0A1924216EBF}" dt="2023-04-03T05:56:19.037" v="24"/>
          <ac:spMkLst>
            <pc:docMk/>
            <pc:sldMk cId="299004302" sldId="280"/>
            <ac:spMk id="21" creationId="{00000000-0000-0000-0000-000000000000}"/>
          </ac:spMkLst>
        </pc:spChg>
      </pc:sldChg>
      <pc:sldChg chg="del">
        <pc:chgData name="Kumar, Harendra (Cognizant)" userId="8b8433c2-3ce6-4e38-9e1b-c8afb18e9057" providerId="ADAL" clId="{9C4CD99B-EF1B-4C81-94B0-0A1924216EBF}" dt="2023-04-03T07:22:56.532" v="3883" actId="47"/>
        <pc:sldMkLst>
          <pc:docMk/>
          <pc:sldMk cId="3040225914" sldId="281"/>
        </pc:sldMkLst>
      </pc:sldChg>
      <pc:sldChg chg="del">
        <pc:chgData name="Kumar, Harendra (Cognizant)" userId="8b8433c2-3ce6-4e38-9e1b-c8afb18e9057" providerId="ADAL" clId="{9C4CD99B-EF1B-4C81-94B0-0A1924216EBF}" dt="2023-04-03T07:22:56.532" v="3883" actId="47"/>
        <pc:sldMkLst>
          <pc:docMk/>
          <pc:sldMk cId="2805173323" sldId="282"/>
        </pc:sldMkLst>
      </pc:sldChg>
      <pc:sldChg chg="del">
        <pc:chgData name="Kumar, Harendra (Cognizant)" userId="8b8433c2-3ce6-4e38-9e1b-c8afb18e9057" providerId="ADAL" clId="{9C4CD99B-EF1B-4C81-94B0-0A1924216EBF}" dt="2023-04-03T07:22:56.532" v="3883" actId="47"/>
        <pc:sldMkLst>
          <pc:docMk/>
          <pc:sldMk cId="2680098498" sldId="283"/>
        </pc:sldMkLst>
      </pc:sldChg>
      <pc:sldChg chg="addSp delSp modSp mod">
        <pc:chgData name="Kumar, Harendra (Cognizant)" userId="8b8433c2-3ce6-4e38-9e1b-c8afb18e9057" providerId="ADAL" clId="{9C4CD99B-EF1B-4C81-94B0-0A1924216EBF}" dt="2023-04-03T07:24:11.475" v="3885" actId="207"/>
        <pc:sldMkLst>
          <pc:docMk/>
          <pc:sldMk cId="4047161330" sldId="286"/>
        </pc:sldMkLst>
        <pc:spChg chg="add del mod">
          <ac:chgData name="Kumar, Harendra (Cognizant)" userId="8b8433c2-3ce6-4e38-9e1b-c8afb18e9057" providerId="ADAL" clId="{9C4CD99B-EF1B-4C81-94B0-0A1924216EBF}" dt="2023-04-03T06:34:01.733" v="1679" actId="767"/>
          <ac:spMkLst>
            <pc:docMk/>
            <pc:sldMk cId="4047161330" sldId="286"/>
            <ac:spMk id="4" creationId="{A412336A-1D81-041F-9B56-742FB28DC2EE}"/>
          </ac:spMkLst>
        </pc:spChg>
        <pc:spChg chg="mod">
          <ac:chgData name="Kumar, Harendra (Cognizant)" userId="8b8433c2-3ce6-4e38-9e1b-c8afb18e9057" providerId="ADAL" clId="{9C4CD99B-EF1B-4C81-94B0-0A1924216EBF}" dt="2023-04-03T06:36:10.730" v="1694" actId="21"/>
          <ac:spMkLst>
            <pc:docMk/>
            <pc:sldMk cId="4047161330" sldId="286"/>
            <ac:spMk id="10" creationId="{00000000-0000-0000-0000-000000000000}"/>
          </ac:spMkLst>
        </pc:spChg>
        <pc:spChg chg="del">
          <ac:chgData name="Kumar, Harendra (Cognizant)" userId="8b8433c2-3ce6-4e38-9e1b-c8afb18e9057" providerId="ADAL" clId="{9C4CD99B-EF1B-4C81-94B0-0A1924216EBF}" dt="2023-04-03T05:55:53.265" v="22" actId="478"/>
          <ac:spMkLst>
            <pc:docMk/>
            <pc:sldMk cId="4047161330" sldId="286"/>
            <ac:spMk id="15" creationId="{00000000-0000-0000-0000-000000000000}"/>
          </ac:spMkLst>
        </pc:spChg>
        <pc:spChg chg="del">
          <ac:chgData name="Kumar, Harendra (Cognizant)" userId="8b8433c2-3ce6-4e38-9e1b-c8afb18e9057" providerId="ADAL" clId="{9C4CD99B-EF1B-4C81-94B0-0A1924216EBF}" dt="2023-04-03T05:55:56.104" v="23" actId="478"/>
          <ac:spMkLst>
            <pc:docMk/>
            <pc:sldMk cId="4047161330" sldId="286"/>
            <ac:spMk id="16" creationId="{00000000-0000-0000-0000-000000000000}"/>
          </ac:spMkLst>
        </pc:spChg>
        <pc:spChg chg="mod">
          <ac:chgData name="Kumar, Harendra (Cognizant)" userId="8b8433c2-3ce6-4e38-9e1b-c8afb18e9057" providerId="ADAL" clId="{9C4CD99B-EF1B-4C81-94B0-0A1924216EBF}" dt="2023-04-03T07:24:11.475" v="3885" actId="207"/>
          <ac:spMkLst>
            <pc:docMk/>
            <pc:sldMk cId="4047161330" sldId="286"/>
            <ac:spMk id="17" creationId="{00000000-0000-0000-0000-000000000000}"/>
          </ac:spMkLst>
        </pc:spChg>
        <pc:spChg chg="add mod">
          <ac:chgData name="Kumar, Harendra (Cognizant)" userId="8b8433c2-3ce6-4e38-9e1b-c8afb18e9057" providerId="ADAL" clId="{9C4CD99B-EF1B-4C81-94B0-0A1924216EBF}" dt="2023-04-03T06:37:59.503" v="1718" actId="14100"/>
          <ac:spMkLst>
            <pc:docMk/>
            <pc:sldMk cId="4047161330" sldId="286"/>
            <ac:spMk id="22" creationId="{2C359A52-6812-58BA-7F74-5756C76E8AAB}"/>
          </ac:spMkLst>
        </pc:spChg>
        <pc:grpChg chg="del">
          <ac:chgData name="Kumar, Harendra (Cognizant)" userId="8b8433c2-3ce6-4e38-9e1b-c8afb18e9057" providerId="ADAL" clId="{9C4CD99B-EF1B-4C81-94B0-0A1924216EBF}" dt="2023-04-03T05:55:50.662" v="21" actId="478"/>
          <ac:grpSpMkLst>
            <pc:docMk/>
            <pc:sldMk cId="4047161330" sldId="286"/>
            <ac:grpSpMk id="3" creationId="{00000000-0000-0000-0000-000000000000}"/>
          </ac:grpSpMkLst>
        </pc:grpChg>
        <pc:grpChg chg="del">
          <ac:chgData name="Kumar, Harendra (Cognizant)" userId="8b8433c2-3ce6-4e38-9e1b-c8afb18e9057" providerId="ADAL" clId="{9C4CD99B-EF1B-4C81-94B0-0A1924216EBF}" dt="2023-04-03T05:55:42.479" v="19" actId="478"/>
          <ac:grpSpMkLst>
            <pc:docMk/>
            <pc:sldMk cId="4047161330" sldId="286"/>
            <ac:grpSpMk id="6" creationId="{00000000-0000-0000-0000-000000000000}"/>
          </ac:grpSpMkLst>
        </pc:grpChg>
        <pc:grpChg chg="del">
          <ac:chgData name="Kumar, Harendra (Cognizant)" userId="8b8433c2-3ce6-4e38-9e1b-c8afb18e9057" providerId="ADAL" clId="{9C4CD99B-EF1B-4C81-94B0-0A1924216EBF}" dt="2023-04-03T05:55:48.650" v="20" actId="478"/>
          <ac:grpSpMkLst>
            <pc:docMk/>
            <pc:sldMk cId="4047161330" sldId="286"/>
            <ac:grpSpMk id="19" creationId="{00000000-0000-0000-0000-000000000000}"/>
          </ac:grpSpMkLst>
        </pc:grpChg>
        <pc:picChg chg="add del mod">
          <ac:chgData name="Kumar, Harendra (Cognizant)" userId="8b8433c2-3ce6-4e38-9e1b-c8afb18e9057" providerId="ADAL" clId="{9C4CD99B-EF1B-4C81-94B0-0A1924216EBF}" dt="2023-04-03T06:34:00.625" v="1677" actId="22"/>
          <ac:picMkLst>
            <pc:docMk/>
            <pc:sldMk cId="4047161330" sldId="286"/>
            <ac:picMk id="7" creationId="{4BDB3BD7-FCAC-998F-2189-4D4512E8B244}"/>
          </ac:picMkLst>
        </pc:picChg>
        <pc:picChg chg="add mod">
          <ac:chgData name="Kumar, Harendra (Cognizant)" userId="8b8433c2-3ce6-4e38-9e1b-c8afb18e9057" providerId="ADAL" clId="{9C4CD99B-EF1B-4C81-94B0-0A1924216EBF}" dt="2023-04-03T06:37:37.142" v="1715" actId="14100"/>
          <ac:picMkLst>
            <pc:docMk/>
            <pc:sldMk cId="4047161330" sldId="286"/>
            <ac:picMk id="9" creationId="{2720219B-D876-535C-5076-9CD15E0C9272}"/>
          </ac:picMkLst>
        </pc:picChg>
      </pc:sldChg>
      <pc:sldChg chg="modSp del">
        <pc:chgData name="Kumar, Harendra (Cognizant)" userId="8b8433c2-3ce6-4e38-9e1b-c8afb18e9057" providerId="ADAL" clId="{9C4CD99B-EF1B-4C81-94B0-0A1924216EBF}" dt="2023-04-03T07:22:56.532" v="3883" actId="47"/>
        <pc:sldMkLst>
          <pc:docMk/>
          <pc:sldMk cId="1522341275" sldId="287"/>
        </pc:sldMkLst>
        <pc:spChg chg="mod">
          <ac:chgData name="Kumar, Harendra (Cognizant)" userId="8b8433c2-3ce6-4e38-9e1b-c8afb18e9057" providerId="ADAL" clId="{9C4CD99B-EF1B-4C81-94B0-0A1924216EBF}" dt="2023-04-03T05:56:19.037" v="24"/>
          <ac:spMkLst>
            <pc:docMk/>
            <pc:sldMk cId="1522341275" sldId="287"/>
            <ac:spMk id="19" creationId="{00000000-0000-0000-0000-000000000000}"/>
          </ac:spMkLst>
        </pc:spChg>
      </pc:sldChg>
      <pc:sldChg chg="addSp delSp modSp add mod">
        <pc:chgData name="Kumar, Harendra (Cognizant)" userId="8b8433c2-3ce6-4e38-9e1b-c8afb18e9057" providerId="ADAL" clId="{9C4CD99B-EF1B-4C81-94B0-0A1924216EBF}" dt="2023-04-03T10:03:39.898" v="7844" actId="14100"/>
        <pc:sldMkLst>
          <pc:docMk/>
          <pc:sldMk cId="1704172639" sldId="287"/>
        </pc:sldMkLst>
        <pc:spChg chg="add del mod">
          <ac:chgData name="Kumar, Harendra (Cognizant)" userId="8b8433c2-3ce6-4e38-9e1b-c8afb18e9057" providerId="ADAL" clId="{9C4CD99B-EF1B-4C81-94B0-0A1924216EBF}" dt="2023-04-03T07:59:02.079" v="4283"/>
          <ac:spMkLst>
            <pc:docMk/>
            <pc:sldMk cId="1704172639" sldId="287"/>
            <ac:spMk id="8" creationId="{BC64A90C-8B92-0B87-54E9-00E89581B42F}"/>
          </ac:spMkLst>
        </pc:spChg>
        <pc:spChg chg="mod">
          <ac:chgData name="Kumar, Harendra (Cognizant)" userId="8b8433c2-3ce6-4e38-9e1b-c8afb18e9057" providerId="ADAL" clId="{9C4CD99B-EF1B-4C81-94B0-0A1924216EBF}" dt="2023-04-03T10:03:21.279" v="7838" actId="1036"/>
          <ac:spMkLst>
            <pc:docMk/>
            <pc:sldMk cId="1704172639" sldId="287"/>
            <ac:spMk id="10" creationId="{00000000-0000-0000-0000-000000000000}"/>
          </ac:spMkLst>
        </pc:spChg>
        <pc:spChg chg="add mod">
          <ac:chgData name="Kumar, Harendra (Cognizant)" userId="8b8433c2-3ce6-4e38-9e1b-c8afb18e9057" providerId="ADAL" clId="{9C4CD99B-EF1B-4C81-94B0-0A1924216EBF}" dt="2023-04-03T10:02:09.227" v="7721" actId="1037"/>
          <ac:spMkLst>
            <pc:docMk/>
            <pc:sldMk cId="1704172639" sldId="287"/>
            <ac:spMk id="13" creationId="{EFA37FE9-227B-4C1C-6280-8E2D16CFFD48}"/>
          </ac:spMkLst>
        </pc:spChg>
        <pc:spChg chg="mod">
          <ac:chgData name="Kumar, Harendra (Cognizant)" userId="8b8433c2-3ce6-4e38-9e1b-c8afb18e9057" providerId="ADAL" clId="{9C4CD99B-EF1B-4C81-94B0-0A1924216EBF}" dt="2023-04-03T10:03:16.187" v="7837" actId="20577"/>
          <ac:spMkLst>
            <pc:docMk/>
            <pc:sldMk cId="1704172639" sldId="287"/>
            <ac:spMk id="17" creationId="{00000000-0000-0000-0000-000000000000}"/>
          </ac:spMkLst>
        </pc:spChg>
        <pc:spChg chg="del mod">
          <ac:chgData name="Kumar, Harendra (Cognizant)" userId="8b8433c2-3ce6-4e38-9e1b-c8afb18e9057" providerId="ADAL" clId="{9C4CD99B-EF1B-4C81-94B0-0A1924216EBF}" dt="2023-04-03T08:06:30.934" v="4562" actId="21"/>
          <ac:spMkLst>
            <pc:docMk/>
            <pc:sldMk cId="1704172639" sldId="287"/>
            <ac:spMk id="22" creationId="{2C359A52-6812-58BA-7F74-5756C76E8AAB}"/>
          </ac:spMkLst>
        </pc:spChg>
        <pc:picChg chg="add del mod">
          <ac:chgData name="Kumar, Harendra (Cognizant)" userId="8b8433c2-3ce6-4e38-9e1b-c8afb18e9057" providerId="ADAL" clId="{9C4CD99B-EF1B-4C81-94B0-0A1924216EBF}" dt="2023-04-03T07:54:48.109" v="4143" actId="22"/>
          <ac:picMkLst>
            <pc:docMk/>
            <pc:sldMk cId="1704172639" sldId="287"/>
            <ac:picMk id="3" creationId="{EBCD9881-B8EB-CAEF-6BE8-457225B40691}"/>
          </ac:picMkLst>
        </pc:picChg>
        <pc:picChg chg="add del mod">
          <ac:chgData name="Kumar, Harendra (Cognizant)" userId="8b8433c2-3ce6-4e38-9e1b-c8afb18e9057" providerId="ADAL" clId="{9C4CD99B-EF1B-4C81-94B0-0A1924216EBF}" dt="2023-04-03T07:55:50.120" v="4152" actId="931"/>
          <ac:picMkLst>
            <pc:docMk/>
            <pc:sldMk cId="1704172639" sldId="287"/>
            <ac:picMk id="5" creationId="{6B79AB95-8E3E-0E8C-72AD-E23E6AF67DC1}"/>
          </ac:picMkLst>
        </pc:picChg>
        <pc:picChg chg="add del mod">
          <ac:chgData name="Kumar, Harendra (Cognizant)" userId="8b8433c2-3ce6-4e38-9e1b-c8afb18e9057" providerId="ADAL" clId="{9C4CD99B-EF1B-4C81-94B0-0A1924216EBF}" dt="2023-04-03T10:01:55.565" v="7715" actId="21"/>
          <ac:picMkLst>
            <pc:docMk/>
            <pc:sldMk cId="1704172639" sldId="287"/>
            <ac:picMk id="7" creationId="{C7905C8B-45C2-7E9F-D08D-AE1B48727475}"/>
          </ac:picMkLst>
        </pc:picChg>
        <pc:picChg chg="del">
          <ac:chgData name="Kumar, Harendra (Cognizant)" userId="8b8433c2-3ce6-4e38-9e1b-c8afb18e9057" providerId="ADAL" clId="{9C4CD99B-EF1B-4C81-94B0-0A1924216EBF}" dt="2023-04-03T07:24:32.173" v="3894" actId="478"/>
          <ac:picMkLst>
            <pc:docMk/>
            <pc:sldMk cId="1704172639" sldId="287"/>
            <ac:picMk id="9" creationId="{2720219B-D876-535C-5076-9CD15E0C9272}"/>
          </ac:picMkLst>
        </pc:picChg>
        <pc:picChg chg="add mod">
          <ac:chgData name="Kumar, Harendra (Cognizant)" userId="8b8433c2-3ce6-4e38-9e1b-c8afb18e9057" providerId="ADAL" clId="{9C4CD99B-EF1B-4C81-94B0-0A1924216EBF}" dt="2023-04-03T10:03:33.200" v="7842" actId="14100"/>
          <ac:picMkLst>
            <pc:docMk/>
            <pc:sldMk cId="1704172639" sldId="287"/>
            <ac:picMk id="12" creationId="{723F3FE9-59C9-408D-1BEB-95D6FEE240A3}"/>
          </ac:picMkLst>
        </pc:picChg>
        <pc:picChg chg="add del mod">
          <ac:chgData name="Kumar, Harendra (Cognizant)" userId="8b8433c2-3ce6-4e38-9e1b-c8afb18e9057" providerId="ADAL" clId="{9C4CD99B-EF1B-4C81-94B0-0A1924216EBF}" dt="2023-04-03T08:06:05.880" v="4551" actId="478"/>
          <ac:picMkLst>
            <pc:docMk/>
            <pc:sldMk cId="1704172639" sldId="287"/>
            <ac:picMk id="15" creationId="{A32BDC4F-6687-E003-29CD-AFCA0D507C7B}"/>
          </ac:picMkLst>
        </pc:picChg>
        <pc:picChg chg="add mod">
          <ac:chgData name="Kumar, Harendra (Cognizant)" userId="8b8433c2-3ce6-4e38-9e1b-c8afb18e9057" providerId="ADAL" clId="{9C4CD99B-EF1B-4C81-94B0-0A1924216EBF}" dt="2023-04-03T10:03:39.898" v="7844" actId="14100"/>
          <ac:picMkLst>
            <pc:docMk/>
            <pc:sldMk cId="1704172639" sldId="287"/>
            <ac:picMk id="18" creationId="{531221BF-6E63-CAAE-6926-9A7265ED5230}"/>
          </ac:picMkLst>
        </pc:picChg>
      </pc:sldChg>
      <pc:sldChg chg="del">
        <pc:chgData name="Kumar, Harendra (Cognizant)" userId="8b8433c2-3ce6-4e38-9e1b-c8afb18e9057" providerId="ADAL" clId="{9C4CD99B-EF1B-4C81-94B0-0A1924216EBF}" dt="2023-04-03T07:22:56.532" v="3883" actId="47"/>
        <pc:sldMkLst>
          <pc:docMk/>
          <pc:sldMk cId="428928714" sldId="288"/>
        </pc:sldMkLst>
      </pc:sldChg>
      <pc:sldChg chg="addSp delSp modSp add mod">
        <pc:chgData name="Kumar, Harendra (Cognizant)" userId="8b8433c2-3ce6-4e38-9e1b-c8afb18e9057" providerId="ADAL" clId="{9C4CD99B-EF1B-4C81-94B0-0A1924216EBF}" dt="2023-04-03T09:52:21.679" v="7259" actId="2"/>
        <pc:sldMkLst>
          <pc:docMk/>
          <pc:sldMk cId="4018458971" sldId="288"/>
        </pc:sldMkLst>
        <pc:spChg chg="add del">
          <ac:chgData name="Kumar, Harendra (Cognizant)" userId="8b8433c2-3ce6-4e38-9e1b-c8afb18e9057" providerId="ADAL" clId="{9C4CD99B-EF1B-4C81-94B0-0A1924216EBF}" dt="2023-04-03T09:50:10.296" v="7255" actId="478"/>
          <ac:spMkLst>
            <pc:docMk/>
            <pc:sldMk cId="4018458971" sldId="288"/>
            <ac:spMk id="6" creationId="{36C18FB9-59E7-96B5-9936-83F3B55F38E2}"/>
          </ac:spMkLst>
        </pc:spChg>
        <pc:spChg chg="mod">
          <ac:chgData name="Kumar, Harendra (Cognizant)" userId="8b8433c2-3ce6-4e38-9e1b-c8afb18e9057" providerId="ADAL" clId="{9C4CD99B-EF1B-4C81-94B0-0A1924216EBF}" dt="2023-04-03T09:52:21.679" v="7259" actId="2"/>
          <ac:spMkLst>
            <pc:docMk/>
            <pc:sldMk cId="4018458971" sldId="288"/>
            <ac:spMk id="10" creationId="{00000000-0000-0000-0000-000000000000}"/>
          </ac:spMkLst>
        </pc:spChg>
        <pc:spChg chg="del mod">
          <ac:chgData name="Kumar, Harendra (Cognizant)" userId="8b8433c2-3ce6-4e38-9e1b-c8afb18e9057" providerId="ADAL" clId="{9C4CD99B-EF1B-4C81-94B0-0A1924216EBF}" dt="2023-04-03T08:08:21.550" v="4666" actId="21"/>
          <ac:spMkLst>
            <pc:docMk/>
            <pc:sldMk cId="4018458971" sldId="288"/>
            <ac:spMk id="13" creationId="{EFA37FE9-227B-4C1C-6280-8E2D16CFFD48}"/>
          </ac:spMkLst>
        </pc:spChg>
        <pc:spChg chg="mod">
          <ac:chgData name="Kumar, Harendra (Cognizant)" userId="8b8433c2-3ce6-4e38-9e1b-c8afb18e9057" providerId="ADAL" clId="{9C4CD99B-EF1B-4C81-94B0-0A1924216EBF}" dt="2023-04-03T08:08:01.030" v="4646" actId="5793"/>
          <ac:spMkLst>
            <pc:docMk/>
            <pc:sldMk cId="4018458971" sldId="288"/>
            <ac:spMk id="17" creationId="{00000000-0000-0000-0000-000000000000}"/>
          </ac:spMkLst>
        </pc:spChg>
        <pc:picChg chg="add del mod">
          <ac:chgData name="Kumar, Harendra (Cognizant)" userId="8b8433c2-3ce6-4e38-9e1b-c8afb18e9057" providerId="ADAL" clId="{9C4CD99B-EF1B-4C81-94B0-0A1924216EBF}" dt="2023-04-03T08:37:12.883" v="5853" actId="478"/>
          <ac:picMkLst>
            <pc:docMk/>
            <pc:sldMk cId="4018458971" sldId="288"/>
            <ac:picMk id="3" creationId="{88F30A0D-D46C-FEFC-19F4-CD063CF77750}"/>
          </ac:picMkLst>
        </pc:picChg>
        <pc:picChg chg="add mod">
          <ac:chgData name="Kumar, Harendra (Cognizant)" userId="8b8433c2-3ce6-4e38-9e1b-c8afb18e9057" providerId="ADAL" clId="{9C4CD99B-EF1B-4C81-94B0-0A1924216EBF}" dt="2023-04-03T08:37:32.858" v="5863" actId="14100"/>
          <ac:picMkLst>
            <pc:docMk/>
            <pc:sldMk cId="4018458971" sldId="288"/>
            <ac:picMk id="5" creationId="{746E00E2-3F5D-7BF9-8FED-6FAD3C400887}"/>
          </ac:picMkLst>
        </pc:picChg>
        <pc:picChg chg="del">
          <ac:chgData name="Kumar, Harendra (Cognizant)" userId="8b8433c2-3ce6-4e38-9e1b-c8afb18e9057" providerId="ADAL" clId="{9C4CD99B-EF1B-4C81-94B0-0A1924216EBF}" dt="2023-04-03T08:08:14.235" v="4662" actId="478"/>
          <ac:picMkLst>
            <pc:docMk/>
            <pc:sldMk cId="4018458971" sldId="288"/>
            <ac:picMk id="7" creationId="{C7905C8B-45C2-7E9F-D08D-AE1B48727475}"/>
          </ac:picMkLst>
        </pc:picChg>
        <pc:picChg chg="del mod">
          <ac:chgData name="Kumar, Harendra (Cognizant)" userId="8b8433c2-3ce6-4e38-9e1b-c8afb18e9057" providerId="ADAL" clId="{9C4CD99B-EF1B-4C81-94B0-0A1924216EBF}" dt="2023-04-03T08:08:15.915" v="4664" actId="478"/>
          <ac:picMkLst>
            <pc:docMk/>
            <pc:sldMk cId="4018458971" sldId="288"/>
            <ac:picMk id="12" creationId="{723F3FE9-59C9-408D-1BEB-95D6FEE240A3}"/>
          </ac:picMkLst>
        </pc:picChg>
        <pc:picChg chg="del">
          <ac:chgData name="Kumar, Harendra (Cognizant)" userId="8b8433c2-3ce6-4e38-9e1b-c8afb18e9057" providerId="ADAL" clId="{9C4CD99B-EF1B-4C81-94B0-0A1924216EBF}" dt="2023-04-03T08:08:11.781" v="4661" actId="478"/>
          <ac:picMkLst>
            <pc:docMk/>
            <pc:sldMk cId="4018458971" sldId="288"/>
            <ac:picMk id="18" creationId="{531221BF-6E63-CAAE-6926-9A7265ED5230}"/>
          </ac:picMkLst>
        </pc:picChg>
      </pc:sldChg>
      <pc:sldChg chg="modSp del">
        <pc:chgData name="Kumar, Harendra (Cognizant)" userId="8b8433c2-3ce6-4e38-9e1b-c8afb18e9057" providerId="ADAL" clId="{9C4CD99B-EF1B-4C81-94B0-0A1924216EBF}" dt="2023-04-03T07:22:56.532" v="3883" actId="47"/>
        <pc:sldMkLst>
          <pc:docMk/>
          <pc:sldMk cId="452766161" sldId="289"/>
        </pc:sldMkLst>
        <pc:spChg chg="mod">
          <ac:chgData name="Kumar, Harendra (Cognizant)" userId="8b8433c2-3ce6-4e38-9e1b-c8afb18e9057" providerId="ADAL" clId="{9C4CD99B-EF1B-4C81-94B0-0A1924216EBF}" dt="2023-04-03T05:56:19.037" v="24"/>
          <ac:spMkLst>
            <pc:docMk/>
            <pc:sldMk cId="452766161" sldId="289"/>
            <ac:spMk id="52" creationId="{00000000-0000-0000-0000-000000000000}"/>
          </ac:spMkLst>
        </pc:spChg>
      </pc:sldChg>
      <pc:sldChg chg="addSp delSp modSp add mod">
        <pc:chgData name="Kumar, Harendra (Cognizant)" userId="8b8433c2-3ce6-4e38-9e1b-c8afb18e9057" providerId="ADAL" clId="{9C4CD99B-EF1B-4C81-94B0-0A1924216EBF}" dt="2023-04-03T09:52:27.788" v="7260" actId="313"/>
        <pc:sldMkLst>
          <pc:docMk/>
          <pc:sldMk cId="2064697556" sldId="289"/>
        </pc:sldMkLst>
        <pc:spChg chg="mod">
          <ac:chgData name="Kumar, Harendra (Cognizant)" userId="8b8433c2-3ce6-4e38-9e1b-c8afb18e9057" providerId="ADAL" clId="{9C4CD99B-EF1B-4C81-94B0-0A1924216EBF}" dt="2023-04-03T09:52:27.788" v="7260" actId="313"/>
          <ac:spMkLst>
            <pc:docMk/>
            <pc:sldMk cId="2064697556" sldId="289"/>
            <ac:spMk id="10" creationId="{00000000-0000-0000-0000-000000000000}"/>
          </ac:spMkLst>
        </pc:spChg>
        <pc:spChg chg="mod">
          <ac:chgData name="Kumar, Harendra (Cognizant)" userId="8b8433c2-3ce6-4e38-9e1b-c8afb18e9057" providerId="ADAL" clId="{9C4CD99B-EF1B-4C81-94B0-0A1924216EBF}" dt="2023-04-03T08:37:52.602" v="5906" actId="6549"/>
          <ac:spMkLst>
            <pc:docMk/>
            <pc:sldMk cId="2064697556" sldId="289"/>
            <ac:spMk id="17" creationId="{00000000-0000-0000-0000-000000000000}"/>
          </ac:spMkLst>
        </pc:spChg>
        <pc:picChg chg="mod">
          <ac:chgData name="Kumar, Harendra (Cognizant)" userId="8b8433c2-3ce6-4e38-9e1b-c8afb18e9057" providerId="ADAL" clId="{9C4CD99B-EF1B-4C81-94B0-0A1924216EBF}" dt="2023-04-03T08:41:47.745" v="6103" actId="14100"/>
          <ac:picMkLst>
            <pc:docMk/>
            <pc:sldMk cId="2064697556" sldId="289"/>
            <ac:picMk id="3" creationId="{88F30A0D-D46C-FEFC-19F4-CD063CF77750}"/>
          </ac:picMkLst>
        </pc:picChg>
        <pc:picChg chg="add mod">
          <ac:chgData name="Kumar, Harendra (Cognizant)" userId="8b8433c2-3ce6-4e38-9e1b-c8afb18e9057" providerId="ADAL" clId="{9C4CD99B-EF1B-4C81-94B0-0A1924216EBF}" dt="2023-04-03T08:41:54.805" v="6105" actId="14100"/>
          <ac:picMkLst>
            <pc:docMk/>
            <pc:sldMk cId="2064697556" sldId="289"/>
            <ac:picMk id="4" creationId="{40E263CA-FFBD-B3F3-AE30-7D8EFF0A12D8}"/>
          </ac:picMkLst>
        </pc:picChg>
        <pc:picChg chg="del">
          <ac:chgData name="Kumar, Harendra (Cognizant)" userId="8b8433c2-3ce6-4e38-9e1b-c8afb18e9057" providerId="ADAL" clId="{9C4CD99B-EF1B-4C81-94B0-0A1924216EBF}" dt="2023-04-03T08:40:28.735" v="6096" actId="478"/>
          <ac:picMkLst>
            <pc:docMk/>
            <pc:sldMk cId="2064697556" sldId="289"/>
            <ac:picMk id="5" creationId="{746E00E2-3F5D-7BF9-8FED-6FAD3C400887}"/>
          </ac:picMkLst>
        </pc:picChg>
      </pc:sldChg>
      <pc:sldChg chg="modSp del">
        <pc:chgData name="Kumar, Harendra (Cognizant)" userId="8b8433c2-3ce6-4e38-9e1b-c8afb18e9057" providerId="ADAL" clId="{9C4CD99B-EF1B-4C81-94B0-0A1924216EBF}" dt="2023-04-03T07:22:56.532" v="3883" actId="47"/>
        <pc:sldMkLst>
          <pc:docMk/>
          <pc:sldMk cId="3369816941" sldId="290"/>
        </pc:sldMkLst>
        <pc:spChg chg="mod">
          <ac:chgData name="Kumar, Harendra (Cognizant)" userId="8b8433c2-3ce6-4e38-9e1b-c8afb18e9057" providerId="ADAL" clId="{9C4CD99B-EF1B-4C81-94B0-0A1924216EBF}" dt="2023-04-03T05:56:19.037" v="24"/>
          <ac:spMkLst>
            <pc:docMk/>
            <pc:sldMk cId="3369816941" sldId="290"/>
            <ac:spMk id="51" creationId="{BF5627D9-3BE8-43E5-ACEA-B86C93214EB2}"/>
          </ac:spMkLst>
        </pc:spChg>
        <pc:spChg chg="mod">
          <ac:chgData name="Kumar, Harendra (Cognizant)" userId="8b8433c2-3ce6-4e38-9e1b-c8afb18e9057" providerId="ADAL" clId="{9C4CD99B-EF1B-4C81-94B0-0A1924216EBF}" dt="2023-04-03T05:56:19.037" v="24"/>
          <ac:spMkLst>
            <pc:docMk/>
            <pc:sldMk cId="3369816941" sldId="290"/>
            <ac:spMk id="82" creationId="{00000000-0000-0000-0000-000000000000}"/>
          </ac:spMkLst>
        </pc:spChg>
      </pc:sldChg>
      <pc:sldChg chg="addSp delSp modSp add mod">
        <pc:chgData name="Kumar, Harendra (Cognizant)" userId="8b8433c2-3ce6-4e38-9e1b-c8afb18e9057" providerId="ADAL" clId="{9C4CD99B-EF1B-4C81-94B0-0A1924216EBF}" dt="2023-04-03T09:52:37.071" v="7262" actId="2"/>
        <pc:sldMkLst>
          <pc:docMk/>
          <pc:sldMk cId="3516052301" sldId="290"/>
        </pc:sldMkLst>
        <pc:spChg chg="add mod">
          <ac:chgData name="Kumar, Harendra (Cognizant)" userId="8b8433c2-3ce6-4e38-9e1b-c8afb18e9057" providerId="ADAL" clId="{9C4CD99B-EF1B-4C81-94B0-0A1924216EBF}" dt="2023-04-03T09:52:37.071" v="7262" actId="2"/>
          <ac:spMkLst>
            <pc:docMk/>
            <pc:sldMk cId="3516052301" sldId="290"/>
            <ac:spMk id="7" creationId="{FECB05A3-091C-BB4C-293C-D91F24FAD8F1}"/>
          </ac:spMkLst>
        </pc:spChg>
        <pc:spChg chg="add del mod">
          <ac:chgData name="Kumar, Harendra (Cognizant)" userId="8b8433c2-3ce6-4e38-9e1b-c8afb18e9057" providerId="ADAL" clId="{9C4CD99B-EF1B-4C81-94B0-0A1924216EBF}" dt="2023-04-03T09:52:34.737" v="7261" actId="2"/>
          <ac:spMkLst>
            <pc:docMk/>
            <pc:sldMk cId="3516052301" sldId="290"/>
            <ac:spMk id="10" creationId="{00000000-0000-0000-0000-000000000000}"/>
          </ac:spMkLst>
        </pc:spChg>
        <pc:spChg chg="mod">
          <ac:chgData name="Kumar, Harendra (Cognizant)" userId="8b8433c2-3ce6-4e38-9e1b-c8afb18e9057" providerId="ADAL" clId="{9C4CD99B-EF1B-4C81-94B0-0A1924216EBF}" dt="2023-04-03T08:42:49.245" v="6181" actId="5793"/>
          <ac:spMkLst>
            <pc:docMk/>
            <pc:sldMk cId="3516052301" sldId="290"/>
            <ac:spMk id="17" creationId="{00000000-0000-0000-0000-000000000000}"/>
          </ac:spMkLst>
        </pc:spChg>
        <pc:picChg chg="del">
          <ac:chgData name="Kumar, Harendra (Cognizant)" userId="8b8433c2-3ce6-4e38-9e1b-c8afb18e9057" providerId="ADAL" clId="{9C4CD99B-EF1B-4C81-94B0-0A1924216EBF}" dt="2023-04-03T08:43:37.080" v="6272" actId="478"/>
          <ac:picMkLst>
            <pc:docMk/>
            <pc:sldMk cId="3516052301" sldId="290"/>
            <ac:picMk id="3" creationId="{88F30A0D-D46C-FEFC-19F4-CD063CF77750}"/>
          </ac:picMkLst>
        </pc:picChg>
        <pc:picChg chg="del">
          <ac:chgData name="Kumar, Harendra (Cognizant)" userId="8b8433c2-3ce6-4e38-9e1b-c8afb18e9057" providerId="ADAL" clId="{9C4CD99B-EF1B-4C81-94B0-0A1924216EBF}" dt="2023-04-03T08:43:38.320" v="6273" actId="478"/>
          <ac:picMkLst>
            <pc:docMk/>
            <pc:sldMk cId="3516052301" sldId="290"/>
            <ac:picMk id="4" creationId="{40E263CA-FFBD-B3F3-AE30-7D8EFF0A12D8}"/>
          </ac:picMkLst>
        </pc:picChg>
        <pc:picChg chg="add mod">
          <ac:chgData name="Kumar, Harendra (Cognizant)" userId="8b8433c2-3ce6-4e38-9e1b-c8afb18e9057" providerId="ADAL" clId="{9C4CD99B-EF1B-4C81-94B0-0A1924216EBF}" dt="2023-04-03T08:54:40.242" v="7114" actId="1038"/>
          <ac:picMkLst>
            <pc:docMk/>
            <pc:sldMk cId="3516052301" sldId="290"/>
            <ac:picMk id="5" creationId="{8B45853E-0110-E1D0-9122-748124353568}"/>
          </ac:picMkLst>
        </pc:picChg>
        <pc:picChg chg="add mod">
          <ac:chgData name="Kumar, Harendra (Cognizant)" userId="8b8433c2-3ce6-4e38-9e1b-c8afb18e9057" providerId="ADAL" clId="{9C4CD99B-EF1B-4C81-94B0-0A1924216EBF}" dt="2023-04-03T08:57:07.945" v="7173" actId="1038"/>
          <ac:picMkLst>
            <pc:docMk/>
            <pc:sldMk cId="3516052301" sldId="290"/>
            <ac:picMk id="9" creationId="{77677CE2-7EB1-EA27-ECBB-DA6DDB641771}"/>
          </ac:picMkLst>
        </pc:picChg>
      </pc:sldChg>
      <pc:sldChg chg="modSp del">
        <pc:chgData name="Kumar, Harendra (Cognizant)" userId="8b8433c2-3ce6-4e38-9e1b-c8afb18e9057" providerId="ADAL" clId="{9C4CD99B-EF1B-4C81-94B0-0A1924216EBF}" dt="2023-04-03T07:22:56.532" v="3883" actId="47"/>
        <pc:sldMkLst>
          <pc:docMk/>
          <pc:sldMk cId="956773638" sldId="291"/>
        </pc:sldMkLst>
        <pc:spChg chg="mod">
          <ac:chgData name="Kumar, Harendra (Cognizant)" userId="8b8433c2-3ce6-4e38-9e1b-c8afb18e9057" providerId="ADAL" clId="{9C4CD99B-EF1B-4C81-94B0-0A1924216EBF}" dt="2023-04-03T05:56:19.037" v="24"/>
          <ac:spMkLst>
            <pc:docMk/>
            <pc:sldMk cId="956773638" sldId="291"/>
            <ac:spMk id="52"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1"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2"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3" creationId="{00000000-0000-0000-0000-000000000000}"/>
          </ac:spMkLst>
        </pc:spChg>
        <pc:spChg chg="mod">
          <ac:chgData name="Kumar, Harendra (Cognizant)" userId="8b8433c2-3ce6-4e38-9e1b-c8afb18e9057" providerId="ADAL" clId="{9C4CD99B-EF1B-4C81-94B0-0A1924216EBF}" dt="2023-04-03T05:56:19.037" v="24"/>
          <ac:spMkLst>
            <pc:docMk/>
            <pc:sldMk cId="956773638" sldId="291"/>
            <ac:spMk id="84" creationId="{00000000-0000-0000-0000-000000000000}"/>
          </ac:spMkLst>
        </pc:spChg>
      </pc:sldChg>
      <pc:sldChg chg="addSp delSp modSp add mod ord">
        <pc:chgData name="Kumar, Harendra (Cognizant)" userId="8b8433c2-3ce6-4e38-9e1b-c8afb18e9057" providerId="ADAL" clId="{9C4CD99B-EF1B-4C81-94B0-0A1924216EBF}" dt="2023-04-03T10:14:33.691" v="8675" actId="1035"/>
        <pc:sldMkLst>
          <pc:docMk/>
          <pc:sldMk cId="1223559503" sldId="291"/>
        </pc:sldMkLst>
        <pc:spChg chg="add del mod">
          <ac:chgData name="Kumar, Harendra (Cognizant)" userId="8b8433c2-3ce6-4e38-9e1b-c8afb18e9057" providerId="ADAL" clId="{9C4CD99B-EF1B-4C81-94B0-0A1924216EBF}" dt="2023-04-03T10:06:53.999" v="7936" actId="767"/>
          <ac:spMkLst>
            <pc:docMk/>
            <pc:sldMk cId="1223559503" sldId="291"/>
            <ac:spMk id="4" creationId="{94FC8D60-BDBB-9C2F-E5B2-6027A878C655}"/>
          </ac:spMkLst>
        </pc:spChg>
        <pc:spChg chg="add del mod">
          <ac:chgData name="Kumar, Harendra (Cognizant)" userId="8b8433c2-3ce6-4e38-9e1b-c8afb18e9057" providerId="ADAL" clId="{9C4CD99B-EF1B-4C81-94B0-0A1924216EBF}" dt="2023-04-03T10:07:13.319" v="7942" actId="767"/>
          <ac:spMkLst>
            <pc:docMk/>
            <pc:sldMk cId="1223559503" sldId="291"/>
            <ac:spMk id="5" creationId="{53FE68A1-663A-4DEC-DF40-85C7B5B84B7E}"/>
          </ac:spMkLst>
        </pc:spChg>
        <pc:spChg chg="del">
          <ac:chgData name="Kumar, Harendra (Cognizant)" userId="8b8433c2-3ce6-4e38-9e1b-c8afb18e9057" providerId="ADAL" clId="{9C4CD99B-EF1B-4C81-94B0-0A1924216EBF}" dt="2023-04-03T08:58:01.192" v="7191" actId="478"/>
          <ac:spMkLst>
            <pc:docMk/>
            <pc:sldMk cId="1223559503" sldId="291"/>
            <ac:spMk id="6" creationId="{36C18FB9-59E7-96B5-9936-83F3B55F38E2}"/>
          </ac:spMkLst>
        </pc:spChg>
        <pc:spChg chg="add mod">
          <ac:chgData name="Kumar, Harendra (Cognizant)" userId="8b8433c2-3ce6-4e38-9e1b-c8afb18e9057" providerId="ADAL" clId="{9C4CD99B-EF1B-4C81-94B0-0A1924216EBF}" dt="2023-04-03T10:14:33.691" v="8675" actId="1035"/>
          <ac:spMkLst>
            <pc:docMk/>
            <pc:sldMk cId="1223559503" sldId="291"/>
            <ac:spMk id="6" creationId="{B4AA0405-CA4D-CA6B-047B-9822B03F17F5}"/>
          </ac:spMkLst>
        </pc:spChg>
        <pc:spChg chg="add del mod">
          <ac:chgData name="Kumar, Harendra (Cognizant)" userId="8b8433c2-3ce6-4e38-9e1b-c8afb18e9057" providerId="ADAL" clId="{9C4CD99B-EF1B-4C81-94B0-0A1924216EBF}" dt="2023-04-03T10:10:53.415" v="8239"/>
          <ac:spMkLst>
            <pc:docMk/>
            <pc:sldMk cId="1223559503" sldId="291"/>
            <ac:spMk id="7" creationId="{A855D9BF-4CE1-B980-BA13-8039EF8CEF08}"/>
          </ac:spMkLst>
        </pc:spChg>
        <pc:spChg chg="mod">
          <ac:chgData name="Kumar, Harendra (Cognizant)" userId="8b8433c2-3ce6-4e38-9e1b-c8afb18e9057" providerId="ADAL" clId="{9C4CD99B-EF1B-4C81-94B0-0A1924216EBF}" dt="2023-04-03T10:14:33.691" v="8675" actId="1035"/>
          <ac:spMkLst>
            <pc:docMk/>
            <pc:sldMk cId="1223559503" sldId="291"/>
            <ac:spMk id="10" creationId="{00000000-0000-0000-0000-000000000000}"/>
          </ac:spMkLst>
        </pc:spChg>
        <pc:spChg chg="mod">
          <ac:chgData name="Kumar, Harendra (Cognizant)" userId="8b8433c2-3ce6-4e38-9e1b-c8afb18e9057" providerId="ADAL" clId="{9C4CD99B-EF1B-4C81-94B0-0A1924216EBF}" dt="2023-04-03T10:14:33.691" v="8675" actId="1035"/>
          <ac:spMkLst>
            <pc:docMk/>
            <pc:sldMk cId="1223559503" sldId="291"/>
            <ac:spMk id="17" creationId="{00000000-0000-0000-0000-000000000000}"/>
          </ac:spMkLst>
        </pc:spChg>
        <pc:picChg chg="add mod">
          <ac:chgData name="Kumar, Harendra (Cognizant)" userId="8b8433c2-3ce6-4e38-9e1b-c8afb18e9057" providerId="ADAL" clId="{9C4CD99B-EF1B-4C81-94B0-0A1924216EBF}" dt="2023-04-03T10:14:33.691" v="8675" actId="1035"/>
          <ac:picMkLst>
            <pc:docMk/>
            <pc:sldMk cId="1223559503" sldId="291"/>
            <ac:picMk id="2" creationId="{BD2BA625-28D8-D1DD-D9C4-19A175FC7279}"/>
          </ac:picMkLst>
        </pc:picChg>
        <pc:picChg chg="add mod">
          <ac:chgData name="Kumar, Harendra (Cognizant)" userId="8b8433c2-3ce6-4e38-9e1b-c8afb18e9057" providerId="ADAL" clId="{9C4CD99B-EF1B-4C81-94B0-0A1924216EBF}" dt="2023-04-03T10:14:33.691" v="8675" actId="1035"/>
          <ac:picMkLst>
            <pc:docMk/>
            <pc:sldMk cId="1223559503" sldId="291"/>
            <ac:picMk id="3" creationId="{3A52B991-812D-36F8-572E-E63FC7DF49DE}"/>
          </ac:picMkLst>
        </pc:picChg>
        <pc:picChg chg="del">
          <ac:chgData name="Kumar, Harendra (Cognizant)" userId="8b8433c2-3ce6-4e38-9e1b-c8afb18e9057" providerId="ADAL" clId="{9C4CD99B-EF1B-4C81-94B0-0A1924216EBF}" dt="2023-04-03T08:57:56.929" v="7190" actId="478"/>
          <ac:picMkLst>
            <pc:docMk/>
            <pc:sldMk cId="1223559503" sldId="291"/>
            <ac:picMk id="3" creationId="{88F30A0D-D46C-FEFC-19F4-CD063CF77750}"/>
          </ac:picMkLst>
        </pc:picChg>
        <pc:picChg chg="del mod">
          <ac:chgData name="Kumar, Harendra (Cognizant)" userId="8b8433c2-3ce6-4e38-9e1b-c8afb18e9057" providerId="ADAL" clId="{9C4CD99B-EF1B-4C81-94B0-0A1924216EBF}" dt="2023-04-03T08:57:55.374" v="7189" actId="478"/>
          <ac:picMkLst>
            <pc:docMk/>
            <pc:sldMk cId="1223559503" sldId="291"/>
            <ac:picMk id="4" creationId="{40E263CA-FFBD-B3F3-AE30-7D8EFF0A12D8}"/>
          </ac:picMkLst>
        </pc:picChg>
      </pc:sldChg>
      <pc:sldChg chg="modSp add mod ord">
        <pc:chgData name="Kumar, Harendra (Cognizant)" userId="8b8433c2-3ce6-4e38-9e1b-c8afb18e9057" providerId="ADAL" clId="{9C4CD99B-EF1B-4C81-94B0-0A1924216EBF}" dt="2023-04-03T09:00:17.848" v="7254" actId="20577"/>
        <pc:sldMkLst>
          <pc:docMk/>
          <pc:sldMk cId="785725705" sldId="292"/>
        </pc:sldMkLst>
        <pc:spChg chg="mod">
          <ac:chgData name="Kumar, Harendra (Cognizant)" userId="8b8433c2-3ce6-4e38-9e1b-c8afb18e9057" providerId="ADAL" clId="{9C4CD99B-EF1B-4C81-94B0-0A1924216EBF}" dt="2023-04-03T09:00:17.848" v="7254" actId="20577"/>
          <ac:spMkLst>
            <pc:docMk/>
            <pc:sldMk cId="785725705" sldId="292"/>
            <ac:spMk id="10" creationId="{00000000-0000-0000-0000-000000000000}"/>
          </ac:spMkLst>
        </pc:spChg>
        <pc:spChg chg="mod">
          <ac:chgData name="Kumar, Harendra (Cognizant)" userId="8b8433c2-3ce6-4e38-9e1b-c8afb18e9057" providerId="ADAL" clId="{9C4CD99B-EF1B-4C81-94B0-0A1924216EBF}" dt="2023-04-03T09:00:08.222" v="7242" actId="20577"/>
          <ac:spMkLst>
            <pc:docMk/>
            <pc:sldMk cId="785725705" sldId="292"/>
            <ac:spMk id="17" creationId="{00000000-0000-0000-0000-000000000000}"/>
          </ac:spMkLst>
        </pc:spChg>
      </pc:sldChg>
      <pc:sldChg chg="modSp del">
        <pc:chgData name="Kumar, Harendra (Cognizant)" userId="8b8433c2-3ce6-4e38-9e1b-c8afb18e9057" providerId="ADAL" clId="{9C4CD99B-EF1B-4C81-94B0-0A1924216EBF}" dt="2023-04-03T07:22:56.532" v="3883" actId="47"/>
        <pc:sldMkLst>
          <pc:docMk/>
          <pc:sldMk cId="2983598549" sldId="292"/>
        </pc:sldMkLst>
        <pc:spChg chg="mod">
          <ac:chgData name="Kumar, Harendra (Cognizant)" userId="8b8433c2-3ce6-4e38-9e1b-c8afb18e9057" providerId="ADAL" clId="{9C4CD99B-EF1B-4C81-94B0-0A1924216EBF}" dt="2023-04-03T05:56:19.037" v="24"/>
          <ac:spMkLst>
            <pc:docMk/>
            <pc:sldMk cId="2983598549" sldId="292"/>
            <ac:spMk id="28" creationId="{00000000-0000-0000-0000-000000000000}"/>
          </ac:spMkLst>
        </pc:spChg>
      </pc:sldChg>
      <pc:sldMasterChg chg="delSldLayout">
        <pc:chgData name="Kumar, Harendra (Cognizant)" userId="8b8433c2-3ce6-4e38-9e1b-c8afb18e9057" providerId="ADAL" clId="{9C4CD99B-EF1B-4C81-94B0-0A1924216EBF}" dt="2023-04-03T07:22:56.532" v="3883" actId="47"/>
        <pc:sldMasterMkLst>
          <pc:docMk/>
          <pc:sldMasterMk cId="0" sldId="2147483648"/>
        </pc:sldMasterMkLst>
        <pc:sldLayoutChg chg="del">
          <pc:chgData name="Kumar, Harendra (Cognizant)" userId="8b8433c2-3ce6-4e38-9e1b-c8afb18e9057" providerId="ADAL" clId="{9C4CD99B-EF1B-4C81-94B0-0A1924216EBF}" dt="2023-04-03T07:22:56.532" v="3883" actId="47"/>
          <pc:sldLayoutMkLst>
            <pc:docMk/>
            <pc:sldMasterMk cId="0" sldId="2147483648"/>
            <pc:sldLayoutMk cId="4086406886" sldId="2147483666"/>
          </pc:sldLayoutMkLst>
        </pc:sldLayoutChg>
      </pc:sldMasterChg>
    </pc:docChg>
  </pc:docChgLst>
  <pc:docChgLst>
    <pc:chgData name="Kumar, Harendra (Cognizant)" userId="8b8433c2-3ce6-4e38-9e1b-c8afb18e9057" providerId="ADAL" clId="{1A8CCD16-2660-4488-985E-3D0D747599E1}"/>
    <pc:docChg chg="custSel addSld modSld">
      <pc:chgData name="Kumar, Harendra (Cognizant)" userId="8b8433c2-3ce6-4e38-9e1b-c8afb18e9057" providerId="ADAL" clId="{1A8CCD16-2660-4488-985E-3D0D747599E1}" dt="2023-04-04T05:52:01.534" v="2124" actId="2"/>
      <pc:docMkLst>
        <pc:docMk/>
      </pc:docMkLst>
      <pc:sldChg chg="modSp mod">
        <pc:chgData name="Kumar, Harendra (Cognizant)" userId="8b8433c2-3ce6-4e38-9e1b-c8afb18e9057" providerId="ADAL" clId="{1A8CCD16-2660-4488-985E-3D0D747599E1}" dt="2023-04-03T10:22:42.237" v="84" actId="20577"/>
        <pc:sldMkLst>
          <pc:docMk/>
          <pc:sldMk cId="0" sldId="258"/>
        </pc:sldMkLst>
        <pc:spChg chg="mod">
          <ac:chgData name="Kumar, Harendra (Cognizant)" userId="8b8433c2-3ce6-4e38-9e1b-c8afb18e9057" providerId="ADAL" clId="{1A8CCD16-2660-4488-985E-3D0D747599E1}" dt="2023-04-03T10:22:42.237" v="84" actId="20577"/>
          <ac:spMkLst>
            <pc:docMk/>
            <pc:sldMk cId="0" sldId="258"/>
            <ac:spMk id="5" creationId="{00000000-0000-0000-0000-000000000000}"/>
          </ac:spMkLst>
        </pc:spChg>
        <pc:spChg chg="mod">
          <ac:chgData name="Kumar, Harendra (Cognizant)" userId="8b8433c2-3ce6-4e38-9e1b-c8afb18e9057" providerId="ADAL" clId="{1A8CCD16-2660-4488-985E-3D0D747599E1}" dt="2023-04-03T10:22:28.354" v="81" actId="255"/>
          <ac:spMkLst>
            <pc:docMk/>
            <pc:sldMk cId="0" sldId="258"/>
            <ac:spMk id="9" creationId="{E2B73E12-784C-7F90-DA48-6D0006E2601C}"/>
          </ac:spMkLst>
        </pc:spChg>
        <pc:picChg chg="mod">
          <ac:chgData name="Kumar, Harendra (Cognizant)" userId="8b8433c2-3ce6-4e38-9e1b-c8afb18e9057" providerId="ADAL" clId="{1A8CCD16-2660-4488-985E-3D0D747599E1}" dt="2023-04-03T10:21:37.538" v="0" actId="1076"/>
          <ac:picMkLst>
            <pc:docMk/>
            <pc:sldMk cId="0" sldId="258"/>
            <ac:picMk id="6" creationId="{7F0752E5-7035-0C32-C92B-70020742F100}"/>
          </ac:picMkLst>
        </pc:picChg>
      </pc:sldChg>
      <pc:sldChg chg="modSp mod">
        <pc:chgData name="Kumar, Harendra (Cognizant)" userId="8b8433c2-3ce6-4e38-9e1b-c8afb18e9057" providerId="ADAL" clId="{1A8CCD16-2660-4488-985E-3D0D747599E1}" dt="2023-04-03T10:23:34.344" v="86" actId="2711"/>
        <pc:sldMkLst>
          <pc:docMk/>
          <pc:sldMk cId="0" sldId="260"/>
        </pc:sldMkLst>
        <pc:spChg chg="mod">
          <ac:chgData name="Kumar, Harendra (Cognizant)" userId="8b8433c2-3ce6-4e38-9e1b-c8afb18e9057" providerId="ADAL" clId="{1A8CCD16-2660-4488-985E-3D0D747599E1}" dt="2023-04-03T10:23:34.344" v="86" actId="2711"/>
          <ac:spMkLst>
            <pc:docMk/>
            <pc:sldMk cId="0" sldId="260"/>
            <ac:spMk id="4" creationId="{93A0F582-DCEC-D980-FFA8-A6F1ED88539A}"/>
          </ac:spMkLst>
        </pc:spChg>
      </pc:sldChg>
      <pc:sldChg chg="modSp mod">
        <pc:chgData name="Kumar, Harendra (Cognizant)" userId="8b8433c2-3ce6-4e38-9e1b-c8afb18e9057" providerId="ADAL" clId="{1A8CCD16-2660-4488-985E-3D0D747599E1}" dt="2023-04-03T10:39:20.183" v="130" actId="20577"/>
        <pc:sldMkLst>
          <pc:docMk/>
          <pc:sldMk cId="4047161330" sldId="286"/>
        </pc:sldMkLst>
        <pc:spChg chg="mod">
          <ac:chgData name="Kumar, Harendra (Cognizant)" userId="8b8433c2-3ce6-4e38-9e1b-c8afb18e9057" providerId="ADAL" clId="{1A8CCD16-2660-4488-985E-3D0D747599E1}" dt="2023-04-03T10:39:20.183" v="130" actId="20577"/>
          <ac:spMkLst>
            <pc:docMk/>
            <pc:sldMk cId="4047161330" sldId="286"/>
            <ac:spMk id="10" creationId="{00000000-0000-0000-0000-000000000000}"/>
          </ac:spMkLst>
        </pc:spChg>
      </pc:sldChg>
      <pc:sldChg chg="modSp mod">
        <pc:chgData name="Kumar, Harendra (Cognizant)" userId="8b8433c2-3ce6-4e38-9e1b-c8afb18e9057" providerId="ADAL" clId="{1A8CCD16-2660-4488-985E-3D0D747599E1}" dt="2023-04-03T10:40:22.750" v="146" actId="20577"/>
        <pc:sldMkLst>
          <pc:docMk/>
          <pc:sldMk cId="2064697556" sldId="289"/>
        </pc:sldMkLst>
        <pc:spChg chg="mod">
          <ac:chgData name="Kumar, Harendra (Cognizant)" userId="8b8433c2-3ce6-4e38-9e1b-c8afb18e9057" providerId="ADAL" clId="{1A8CCD16-2660-4488-985E-3D0D747599E1}" dt="2023-04-03T10:40:22.750" v="146" actId="20577"/>
          <ac:spMkLst>
            <pc:docMk/>
            <pc:sldMk cId="2064697556" sldId="289"/>
            <ac:spMk id="17" creationId="{00000000-0000-0000-0000-000000000000}"/>
          </ac:spMkLst>
        </pc:spChg>
      </pc:sldChg>
      <pc:sldChg chg="addSp delSp modSp mod">
        <pc:chgData name="Kumar, Harendra (Cognizant)" userId="8b8433c2-3ce6-4e38-9e1b-c8afb18e9057" providerId="ADAL" clId="{1A8CCD16-2660-4488-985E-3D0D747599E1}" dt="2023-04-04T05:51:47.877" v="2121" actId="2"/>
        <pc:sldMkLst>
          <pc:docMk/>
          <pc:sldMk cId="3516052301" sldId="290"/>
        </pc:sldMkLst>
        <pc:spChg chg="mod">
          <ac:chgData name="Kumar, Harendra (Cognizant)" userId="8b8433c2-3ce6-4e38-9e1b-c8afb18e9057" providerId="ADAL" clId="{1A8CCD16-2660-4488-985E-3D0D747599E1}" dt="2023-04-04T05:51:47.877" v="2121" actId="2"/>
          <ac:spMkLst>
            <pc:docMk/>
            <pc:sldMk cId="3516052301" sldId="290"/>
            <ac:spMk id="7" creationId="{FECB05A3-091C-BB4C-293C-D91F24FAD8F1}"/>
          </ac:spMkLst>
        </pc:spChg>
        <pc:spChg chg="del mod">
          <ac:chgData name="Kumar, Harendra (Cognizant)" userId="8b8433c2-3ce6-4e38-9e1b-c8afb18e9057" providerId="ADAL" clId="{1A8CCD16-2660-4488-985E-3D0D747599E1}" dt="2023-04-03T10:43:45.136" v="188" actId="21"/>
          <ac:spMkLst>
            <pc:docMk/>
            <pc:sldMk cId="3516052301" sldId="290"/>
            <ac:spMk id="10" creationId="{00000000-0000-0000-0000-000000000000}"/>
          </ac:spMkLst>
        </pc:spChg>
        <pc:picChg chg="add mod">
          <ac:chgData name="Kumar, Harendra (Cognizant)" userId="8b8433c2-3ce6-4e38-9e1b-c8afb18e9057" providerId="ADAL" clId="{1A8CCD16-2660-4488-985E-3D0D747599E1}" dt="2023-04-03T10:51:38.830" v="355" actId="14100"/>
          <ac:picMkLst>
            <pc:docMk/>
            <pc:sldMk cId="3516052301" sldId="290"/>
            <ac:picMk id="3" creationId="{7BD2D7E6-917A-6160-90C4-2F4024D5B37B}"/>
          </ac:picMkLst>
        </pc:picChg>
        <pc:picChg chg="mod">
          <ac:chgData name="Kumar, Harendra (Cognizant)" userId="8b8433c2-3ce6-4e38-9e1b-c8afb18e9057" providerId="ADAL" clId="{1A8CCD16-2660-4488-985E-3D0D747599E1}" dt="2023-04-03T10:51:34.847" v="354" actId="14100"/>
          <ac:picMkLst>
            <pc:docMk/>
            <pc:sldMk cId="3516052301" sldId="290"/>
            <ac:picMk id="5" creationId="{8B45853E-0110-E1D0-9122-748124353568}"/>
          </ac:picMkLst>
        </pc:picChg>
        <pc:picChg chg="del">
          <ac:chgData name="Kumar, Harendra (Cognizant)" userId="8b8433c2-3ce6-4e38-9e1b-c8afb18e9057" providerId="ADAL" clId="{1A8CCD16-2660-4488-985E-3D0D747599E1}" dt="2023-04-03T10:43:40.804" v="186" actId="21"/>
          <ac:picMkLst>
            <pc:docMk/>
            <pc:sldMk cId="3516052301" sldId="290"/>
            <ac:picMk id="9" creationId="{77677CE2-7EB1-EA27-ECBB-DA6DDB641771}"/>
          </ac:picMkLst>
        </pc:picChg>
      </pc:sldChg>
      <pc:sldChg chg="modSp mod">
        <pc:chgData name="Kumar, Harendra (Cognizant)" userId="8b8433c2-3ce6-4e38-9e1b-c8afb18e9057" providerId="ADAL" clId="{1A8CCD16-2660-4488-985E-3D0D747599E1}" dt="2023-04-04T05:51:59.990" v="2123" actId="2"/>
        <pc:sldMkLst>
          <pc:docMk/>
          <pc:sldMk cId="1223559503" sldId="291"/>
        </pc:sldMkLst>
        <pc:spChg chg="mod">
          <ac:chgData name="Kumar, Harendra (Cognizant)" userId="8b8433c2-3ce6-4e38-9e1b-c8afb18e9057" providerId="ADAL" clId="{1A8CCD16-2660-4488-985E-3D0D747599E1}" dt="2023-04-04T05:51:59.990" v="2123" actId="2"/>
          <ac:spMkLst>
            <pc:docMk/>
            <pc:sldMk cId="1223559503" sldId="291"/>
            <ac:spMk id="6" creationId="{B4AA0405-CA4D-CA6B-047B-9822B03F17F5}"/>
          </ac:spMkLst>
        </pc:spChg>
        <pc:spChg chg="mod">
          <ac:chgData name="Kumar, Harendra (Cognizant)" userId="8b8433c2-3ce6-4e38-9e1b-c8afb18e9057" providerId="ADAL" clId="{1A8CCD16-2660-4488-985E-3D0D747599E1}" dt="2023-04-04T05:51:58.430" v="2122" actId="2"/>
          <ac:spMkLst>
            <pc:docMk/>
            <pc:sldMk cId="1223559503" sldId="291"/>
            <ac:spMk id="10" creationId="{00000000-0000-0000-0000-000000000000}"/>
          </ac:spMkLst>
        </pc:spChg>
        <pc:picChg chg="mod">
          <ac:chgData name="Kumar, Harendra (Cognizant)" userId="8b8433c2-3ce6-4e38-9e1b-c8afb18e9057" providerId="ADAL" clId="{1A8CCD16-2660-4488-985E-3D0D747599E1}" dt="2023-04-04T05:49:40.613" v="2117" actId="1036"/>
          <ac:picMkLst>
            <pc:docMk/>
            <pc:sldMk cId="1223559503" sldId="291"/>
            <ac:picMk id="2" creationId="{BD2BA625-28D8-D1DD-D9C4-19A175FC7279}"/>
          </ac:picMkLst>
        </pc:picChg>
        <pc:picChg chg="mod">
          <ac:chgData name="Kumar, Harendra (Cognizant)" userId="8b8433c2-3ce6-4e38-9e1b-c8afb18e9057" providerId="ADAL" clId="{1A8CCD16-2660-4488-985E-3D0D747599E1}" dt="2023-04-04T05:49:42.490" v="2120" actId="1036"/>
          <ac:picMkLst>
            <pc:docMk/>
            <pc:sldMk cId="1223559503" sldId="291"/>
            <ac:picMk id="3" creationId="{3A52B991-812D-36F8-572E-E63FC7DF49DE}"/>
          </ac:picMkLst>
        </pc:picChg>
      </pc:sldChg>
      <pc:sldChg chg="modSp mod">
        <pc:chgData name="Kumar, Harendra (Cognizant)" userId="8b8433c2-3ce6-4e38-9e1b-c8afb18e9057" providerId="ADAL" clId="{1A8CCD16-2660-4488-985E-3D0D747599E1}" dt="2023-04-04T05:52:01.534" v="2124" actId="2"/>
        <pc:sldMkLst>
          <pc:docMk/>
          <pc:sldMk cId="785725705" sldId="292"/>
        </pc:sldMkLst>
        <pc:spChg chg="mod">
          <ac:chgData name="Kumar, Harendra (Cognizant)" userId="8b8433c2-3ce6-4e38-9e1b-c8afb18e9057" providerId="ADAL" clId="{1A8CCD16-2660-4488-985E-3D0D747599E1}" dt="2023-04-04T05:52:01.534" v="2124" actId="2"/>
          <ac:spMkLst>
            <pc:docMk/>
            <pc:sldMk cId="785725705" sldId="292"/>
            <ac:spMk id="10" creationId="{00000000-0000-0000-0000-000000000000}"/>
          </ac:spMkLst>
        </pc:spChg>
        <pc:spChg chg="mod">
          <ac:chgData name="Kumar, Harendra (Cognizant)" userId="8b8433c2-3ce6-4e38-9e1b-c8afb18e9057" providerId="ADAL" clId="{1A8CCD16-2660-4488-985E-3D0D747599E1}" dt="2023-04-03T10:53:26.252" v="367" actId="20577"/>
          <ac:spMkLst>
            <pc:docMk/>
            <pc:sldMk cId="785725705" sldId="292"/>
            <ac:spMk id="17" creationId="{00000000-0000-0000-0000-000000000000}"/>
          </ac:spMkLst>
        </pc:spChg>
      </pc:sldChg>
      <pc:sldChg chg="delSp modSp add mod">
        <pc:chgData name="Kumar, Harendra (Cognizant)" userId="8b8433c2-3ce6-4e38-9e1b-c8afb18e9057" providerId="ADAL" clId="{1A8CCD16-2660-4488-985E-3D0D747599E1}" dt="2023-04-03T10:51:59.412" v="357" actId="115"/>
        <pc:sldMkLst>
          <pc:docMk/>
          <pc:sldMk cId="1456905060" sldId="293"/>
        </pc:sldMkLst>
        <pc:spChg chg="del">
          <ac:chgData name="Kumar, Harendra (Cognizant)" userId="8b8433c2-3ce6-4e38-9e1b-c8afb18e9057" providerId="ADAL" clId="{1A8CCD16-2660-4488-985E-3D0D747599E1}" dt="2023-04-03T10:43:05.747" v="174" actId="21"/>
          <ac:spMkLst>
            <pc:docMk/>
            <pc:sldMk cId="1456905060" sldId="293"/>
            <ac:spMk id="6" creationId="{36C18FB9-59E7-96B5-9936-83F3B55F38E2}"/>
          </ac:spMkLst>
        </pc:spChg>
        <pc:spChg chg="del mod">
          <ac:chgData name="Kumar, Harendra (Cognizant)" userId="8b8433c2-3ce6-4e38-9e1b-c8afb18e9057" providerId="ADAL" clId="{1A8CCD16-2660-4488-985E-3D0D747599E1}" dt="2023-04-03T10:43:02.425" v="173" actId="21"/>
          <ac:spMkLst>
            <pc:docMk/>
            <pc:sldMk cId="1456905060" sldId="293"/>
            <ac:spMk id="7" creationId="{FECB05A3-091C-BB4C-293C-D91F24FAD8F1}"/>
          </ac:spMkLst>
        </pc:spChg>
        <pc:spChg chg="mod">
          <ac:chgData name="Kumar, Harendra (Cognizant)" userId="8b8433c2-3ce6-4e38-9e1b-c8afb18e9057" providerId="ADAL" clId="{1A8CCD16-2660-4488-985E-3D0D747599E1}" dt="2023-04-03T10:51:59.412" v="357" actId="115"/>
          <ac:spMkLst>
            <pc:docMk/>
            <pc:sldMk cId="1456905060" sldId="293"/>
            <ac:spMk id="10" creationId="{00000000-0000-0000-0000-000000000000}"/>
          </ac:spMkLst>
        </pc:spChg>
        <pc:picChg chg="del">
          <ac:chgData name="Kumar, Harendra (Cognizant)" userId="8b8433c2-3ce6-4e38-9e1b-c8afb18e9057" providerId="ADAL" clId="{1A8CCD16-2660-4488-985E-3D0D747599E1}" dt="2023-04-03T10:42:59.412" v="171" actId="21"/>
          <ac:picMkLst>
            <pc:docMk/>
            <pc:sldMk cId="1456905060" sldId="293"/>
            <ac:picMk id="5" creationId="{8B45853E-0110-E1D0-9122-748124353568}"/>
          </ac:picMkLst>
        </pc:picChg>
        <pc:picChg chg="mod">
          <ac:chgData name="Kumar, Harendra (Cognizant)" userId="8b8433c2-3ce6-4e38-9e1b-c8afb18e9057" providerId="ADAL" clId="{1A8CCD16-2660-4488-985E-3D0D747599E1}" dt="2023-04-03T10:43:32.985" v="185" actId="1035"/>
          <ac:picMkLst>
            <pc:docMk/>
            <pc:sldMk cId="1456905060" sldId="293"/>
            <ac:picMk id="9" creationId="{77677CE2-7EB1-EA27-ECBB-DA6DDB641771}"/>
          </ac:picMkLst>
        </pc:picChg>
      </pc:sldChg>
      <pc:sldChg chg="delSp modSp add mod">
        <pc:chgData name="Kumar, Harendra (Cognizant)" userId="8b8433c2-3ce6-4e38-9e1b-c8afb18e9057" providerId="ADAL" clId="{1A8CCD16-2660-4488-985E-3D0D747599E1}" dt="2023-04-03T11:01:11.658" v="733" actId="1036"/>
        <pc:sldMkLst>
          <pc:docMk/>
          <pc:sldMk cId="367818717" sldId="294"/>
        </pc:sldMkLst>
        <pc:spChg chg="del mod">
          <ac:chgData name="Kumar, Harendra (Cognizant)" userId="8b8433c2-3ce6-4e38-9e1b-c8afb18e9057" providerId="ADAL" clId="{1A8CCD16-2660-4488-985E-3D0D747599E1}" dt="2023-04-03T11:00:17.287" v="714" actId="21"/>
          <ac:spMkLst>
            <pc:docMk/>
            <pc:sldMk cId="367818717" sldId="294"/>
            <ac:spMk id="10" creationId="{00000000-0000-0000-0000-000000000000}"/>
          </ac:spMkLst>
        </pc:spChg>
        <pc:spChg chg="mod">
          <ac:chgData name="Kumar, Harendra (Cognizant)" userId="8b8433c2-3ce6-4e38-9e1b-c8afb18e9057" providerId="ADAL" clId="{1A8CCD16-2660-4488-985E-3D0D747599E1}" dt="2023-04-03T11:01:11.658" v="733" actId="1036"/>
          <ac:spMkLst>
            <pc:docMk/>
            <pc:sldMk cId="367818717" sldId="294"/>
            <ac:spMk id="17"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0.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1.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3.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4.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6.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7.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8.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9.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Distributed Systems</a:t>
          </a:r>
        </a:p>
        <a:p>
          <a:r>
            <a:rPr lang="en-US" b="1" i="0" dirty="0"/>
            <a:t>(Refresher)</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Distributed Systems Basics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4651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Distributed Systems Basics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4651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Distributed Systems Basics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4651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 Basics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Timing and Ordering</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Performance</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Performance</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Performance</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Performance</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Performance</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Performance</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Performance</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Performance</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Performance</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Performance</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Performance</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Performance</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Performance</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Performance</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Performance</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Performance</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b="1" i="0" kern="1200" dirty="0"/>
            <a:t>Scalability</a:t>
          </a:r>
          <a:endParaRPr lang="en-US" sz="2800" kern="1200" dirty="0">
            <a:solidFill>
              <a:prstClr val="white"/>
            </a:solidFill>
            <a:latin typeface="Calibri"/>
            <a:ea typeface="+mn-ea"/>
            <a:cs typeface="+mn-cs"/>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Scalability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4651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Scalability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4651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Scalability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4651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Scalability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4651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8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Scalability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4651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t>Scalability</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4651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8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Scalability</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Scalability</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Scalability</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Scalability</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Scalability</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Scalability</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Scalability</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Scalability</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Scalability</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Scalability</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Scalability</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Scalability</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kern="1200" dirty="0">
              <a:solidFill>
                <a:schemeClr val="lt1"/>
              </a:solidFill>
              <a:latin typeface="+mn-lt"/>
              <a:ea typeface="+mn-ea"/>
              <a:cs typeface="+mn-cs"/>
            </a:rPr>
            <a:t>CAP &amp; PACELC Theorems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833" custLinFactNeighborY="-1897">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kern="1200" dirty="0">
              <a:solidFill>
                <a:prstClr val="white"/>
              </a:solidFill>
              <a:latin typeface="Calibri"/>
              <a:ea typeface="+mn-ea"/>
              <a:cs typeface="+mn-cs"/>
            </a:rPr>
            <a:t>CAP &amp; PACELC Theorems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kern="1200" dirty="0">
              <a:solidFill>
                <a:schemeClr val="lt1"/>
              </a:solidFill>
              <a:latin typeface="+mn-lt"/>
              <a:ea typeface="+mn-ea"/>
              <a:cs typeface="+mn-cs"/>
            </a:rPr>
            <a:t>Consistency Models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833" custLinFactNeighborY="-597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b="1" i="0" dirty="0">
              <a:solidFill>
                <a:schemeClr val="lt1"/>
              </a:solidFill>
              <a:latin typeface="+mn-lt"/>
              <a:ea typeface="+mn-ea"/>
              <a:cs typeface="+mn-cs"/>
            </a:rPr>
            <a:t>Consistency Models</a:t>
          </a:r>
          <a:endParaRPr lang="en-US" dirty="0"/>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300" b="1" i="0" kern="1200" dirty="0">
              <a:solidFill>
                <a:prstClr val="white"/>
              </a:solidFill>
              <a:latin typeface="Calibri"/>
              <a:ea typeface="+mn-ea"/>
              <a:cs typeface="+mn-cs"/>
            </a:rPr>
            <a:t>Consistency Models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300" b="1" i="0" kern="1200" dirty="0">
              <a:solidFill>
                <a:prstClr val="white"/>
              </a:solidFill>
              <a:latin typeface="Calibri"/>
              <a:ea typeface="+mn-ea"/>
              <a:cs typeface="+mn-cs"/>
            </a:rPr>
            <a:t>Consistency Models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pPr marL="0" lvl="0" indent="0" algn="l" defTabSz="1022350">
            <a:lnSpc>
              <a:spcPct val="90000"/>
            </a:lnSpc>
            <a:spcBef>
              <a:spcPct val="0"/>
            </a:spcBef>
            <a:spcAft>
              <a:spcPct val="35000"/>
            </a:spcAft>
            <a:buNone/>
          </a:pPr>
          <a:r>
            <a:rPr lang="en-US" sz="2300" b="1" i="0" kern="1200" dirty="0">
              <a:solidFill>
                <a:prstClr val="white"/>
              </a:solidFill>
              <a:latin typeface="Calibri"/>
              <a:ea typeface="+mn-ea"/>
              <a:cs typeface="+mn-cs"/>
            </a:rPr>
            <a:t>Consistency Models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dgm:spPr/>
      <dgm:t>
        <a:bodyPr/>
        <a:lstStyle/>
        <a:p>
          <a:r>
            <a:rPr lang="en-US" dirty="0"/>
            <a:t>Distributed Transaction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Distributed Systems Impedance Mismatch</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X="-1059" custLinFactNeighborY="-2732">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500" b="1" i="0" dirty="0"/>
            <a:t>Distributed Systems</a:t>
          </a:r>
          <a:endParaRPr lang="en-US" sz="2500" dirty="0">
            <a:solidFill>
              <a:schemeClr val="bg1"/>
            </a:solidFill>
          </a:endParaRP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LinFactY="-120188" custLinFactNeighborX="-3870" custLinFactNeighborY="-200000">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P2P Networking And Architecture</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Blockchain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54599" custLinFactNeighborX="-870" custLinFactNeighborY="-2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Blockchain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54599" custLinFactNeighborX="-870" custLinFactNeighborY="-2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Blockchain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54599" custLinFactNeighborX="-870" custLinFactNeighborY="-2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Blockchain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54599" custLinFactNeighborX="-870" custLinFactNeighborY="-2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Blockchain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54599" custLinFactNeighborX="-870" custLinFactNeighborY="-2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Blockchain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54599" custLinFactNeighborX="-870" custLinFactNeighborY="-2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Blockchain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54599" custLinFactNeighborX="-870" custLinFactNeighborY="-2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Blockchain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68306" custLinFactNeighborX="-870" custLinFactNeighborY="-2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Blockchain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68306" custLinFactNeighborX="-870" custLinFactNeighborY="-2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Blockchain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68306" custLinFactNeighborX="-870" custLinFactNeighborY="-2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Blockchain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68306" custLinFactNeighborX="-870" custLinFactNeighborY="-2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Blockchain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68306" custLinFactNeighborX="-870" custLinFactNeighborY="-2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Blockchain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68306" custLinFactNeighborX="-870" custLinFactNeighborY="-2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Blockchain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68306" custLinFactNeighborX="-870" custLinFactNeighborY="-2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Blockchain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68306" custLinFactNeighborX="-870" custLinFactNeighborY="-2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Blockchain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68306" custLinFactNeighborX="-870" custLinFactNeighborY="-2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Blockchain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68306" custLinFactNeighborX="-870" custLinFactNeighborY="-2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Blockchain</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68306" custLinFactNeighborX="-870" custLinFactNeighborY="-25">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0.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1.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2.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3.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4.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5.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6.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7.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8.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9.xml><?xml version="1.0" encoding="utf-8"?>
<dgm:dataModel xmlns:dgm="http://schemas.openxmlformats.org/drawingml/2006/diagram" xmlns:a="http://schemas.openxmlformats.org/drawingml/2006/main">
  <dgm:ptLst>
    <dgm:pt modelId="{3D18ECC6-4C07-4ED0-B457-A8875E161891}" type="doc">
      <dgm:prSet loTypeId="urn:microsoft.com/office/officeart/2005/8/layout/vList2" loCatId="list" qsTypeId="urn:microsoft.com/office/officeart/2005/8/quickstyle/simple1" qsCatId="simple" csTypeId="urn:microsoft.com/office/officeart/2005/8/colors/accent6_2" csCatId="accent6" phldr="1"/>
      <dgm:spPr/>
      <dgm:t>
        <a:bodyPr/>
        <a:lstStyle/>
        <a:p>
          <a:endParaRPr lang="en-US"/>
        </a:p>
      </dgm:t>
    </dgm:pt>
    <dgm:pt modelId="{15585729-31E8-4080-A4AC-F9E8A5AD39F6}">
      <dgm:prSet custT="1"/>
      <dgm:spPr/>
      <dgm:t>
        <a:bodyPr/>
        <a:lstStyle/>
        <a:p>
          <a:r>
            <a:rPr lang="en-US" sz="2800" kern="1200" dirty="0">
              <a:solidFill>
                <a:prstClr val="white"/>
              </a:solidFill>
              <a:latin typeface="Calibri"/>
              <a:ea typeface="+mn-ea"/>
              <a:cs typeface="+mn-cs"/>
            </a:rPr>
            <a:t>Location Apps   </a:t>
          </a:r>
        </a:p>
      </dgm:t>
    </dgm:pt>
    <dgm:pt modelId="{4736A3DD-BAE6-4A5A-9EFC-ACFDCC57D94D}" type="parTrans" cxnId="{0697E87E-1D9E-4FD4-A917-9D00A5C777C7}">
      <dgm:prSet/>
      <dgm:spPr/>
      <dgm:t>
        <a:bodyPr/>
        <a:lstStyle/>
        <a:p>
          <a:endParaRPr lang="en-US"/>
        </a:p>
      </dgm:t>
    </dgm:pt>
    <dgm:pt modelId="{776B4B96-121A-4673-825F-A8FB9B16A48D}" type="sibTrans" cxnId="{0697E87E-1D9E-4FD4-A917-9D00A5C777C7}">
      <dgm:prSet/>
      <dgm:spPr/>
      <dgm:t>
        <a:bodyPr/>
        <a:lstStyle/>
        <a:p>
          <a:endParaRPr lang="en-US"/>
        </a:p>
      </dgm:t>
    </dgm:pt>
    <dgm:pt modelId="{372D3855-33CE-4AA6-B521-95368CEBF303}" type="pres">
      <dgm:prSet presAssocID="{3D18ECC6-4C07-4ED0-B457-A8875E161891}" presName="linear" presStyleCnt="0">
        <dgm:presLayoutVars>
          <dgm:animLvl val="lvl"/>
          <dgm:resizeHandles val="exact"/>
        </dgm:presLayoutVars>
      </dgm:prSet>
      <dgm:spPr/>
    </dgm:pt>
    <dgm:pt modelId="{8BDC319F-5CB9-4546-B805-D62F0303BCC3}" type="pres">
      <dgm:prSet presAssocID="{15585729-31E8-4080-A4AC-F9E8A5AD39F6}" presName="parentText" presStyleLbl="node1" presStyleIdx="0" presStyleCnt="1" custScaleY="36184" custLinFactNeighborY="-14971">
        <dgm:presLayoutVars>
          <dgm:chMax val="0"/>
          <dgm:bulletEnabled val="1"/>
        </dgm:presLayoutVars>
      </dgm:prSet>
      <dgm:spPr/>
    </dgm:pt>
  </dgm:ptLst>
  <dgm:cxnLst>
    <dgm:cxn modelId="{7138E30E-8285-4AF3-9897-26542BFB33C0}" type="presOf" srcId="{15585729-31E8-4080-A4AC-F9E8A5AD39F6}" destId="{8BDC319F-5CB9-4546-B805-D62F0303BCC3}" srcOrd="0" destOrd="0" presId="urn:microsoft.com/office/officeart/2005/8/layout/vList2"/>
    <dgm:cxn modelId="{84B12825-B80A-4803-9B0C-8B2B98F6F13B}" type="presOf" srcId="{3D18ECC6-4C07-4ED0-B457-A8875E161891}" destId="{372D3855-33CE-4AA6-B521-95368CEBF303}" srcOrd="0" destOrd="0" presId="urn:microsoft.com/office/officeart/2005/8/layout/vList2"/>
    <dgm:cxn modelId="{0697E87E-1D9E-4FD4-A917-9D00A5C777C7}" srcId="{3D18ECC6-4C07-4ED0-B457-A8875E161891}" destId="{15585729-31E8-4080-A4AC-F9E8A5AD39F6}" srcOrd="0" destOrd="0" parTransId="{4736A3DD-BAE6-4A5A-9EFC-ACFDCC57D94D}" sibTransId="{776B4B96-121A-4673-825F-A8FB9B16A48D}"/>
    <dgm:cxn modelId="{20BB53BC-EDF4-4028-B07A-7C54661C4202}" type="presParOf" srcId="{372D3855-33CE-4AA6-B521-95368CEBF303}" destId="{8BDC319F-5CB9-4546-B805-D62F0303BCC3}"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17546"/>
          <a:ext cx="8868700" cy="177957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8590" tIns="148590" rIns="148590" bIns="148590" numCol="1" spcCol="1270" anchor="ctr" anchorCtr="0">
          <a:noAutofit/>
        </a:bodyPr>
        <a:lstStyle/>
        <a:p>
          <a:pPr marL="0" lvl="0" indent="0" algn="l" defTabSz="1733550">
            <a:lnSpc>
              <a:spcPct val="90000"/>
            </a:lnSpc>
            <a:spcBef>
              <a:spcPct val="0"/>
            </a:spcBef>
            <a:spcAft>
              <a:spcPct val="35000"/>
            </a:spcAft>
            <a:buNone/>
          </a:pPr>
          <a:r>
            <a:rPr lang="en-US" sz="3900" b="1" i="0" kern="1200" dirty="0"/>
            <a:t>Distributed Systems</a:t>
          </a:r>
        </a:p>
        <a:p>
          <a:pPr marL="0" lvl="0" indent="0" algn="l" defTabSz="1733550">
            <a:lnSpc>
              <a:spcPct val="90000"/>
            </a:lnSpc>
            <a:spcBef>
              <a:spcPct val="0"/>
            </a:spcBef>
            <a:spcAft>
              <a:spcPct val="35000"/>
            </a:spcAft>
            <a:buNone/>
          </a:pPr>
          <a:r>
            <a:rPr lang="en-US" sz="3900" b="1" i="0" kern="1200" dirty="0"/>
            <a:t>(Refresher)</a:t>
          </a:r>
          <a:endParaRPr lang="en-US" sz="3900" kern="1200" dirty="0"/>
        </a:p>
      </dsp:txBody>
      <dsp:txXfrm>
        <a:off x="86871" y="104417"/>
        <a:ext cx="8694958" cy="16058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67800" cy="6359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i="0" kern="1200" dirty="0"/>
            <a:t>Distributed Systems Basics</a:t>
          </a:r>
          <a:endParaRPr lang="en-US" sz="2600" kern="1200" dirty="0"/>
        </a:p>
      </dsp:txBody>
      <dsp:txXfrm>
        <a:off x="31043" y="31043"/>
        <a:ext cx="9005714" cy="573827"/>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67800" cy="6359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i="0" kern="1200" dirty="0"/>
            <a:t>Distributed Systems Basics</a:t>
          </a:r>
          <a:endParaRPr lang="en-US" sz="2600" kern="1200" dirty="0"/>
        </a:p>
      </dsp:txBody>
      <dsp:txXfrm>
        <a:off x="31043" y="31043"/>
        <a:ext cx="9005714" cy="573827"/>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67800" cy="6359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i="0" kern="1200" dirty="0"/>
            <a:t>Distributed Systems Basics</a:t>
          </a:r>
          <a:endParaRPr lang="en-US" sz="2600" kern="1200" dirty="0"/>
        </a:p>
      </dsp:txBody>
      <dsp:txXfrm>
        <a:off x="31043" y="31043"/>
        <a:ext cx="9005714" cy="573827"/>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 Basics</a:t>
          </a:r>
          <a:endParaRPr lang="en-US" sz="2500" kern="1200" dirty="0">
            <a:solidFill>
              <a:schemeClr val="bg1"/>
            </a:solidFill>
          </a:endParaRPr>
        </a:p>
      </dsp:txBody>
      <dsp:txXfrm>
        <a:off x="23493" y="23493"/>
        <a:ext cx="8669314" cy="434267"/>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Timing and Ordering</a:t>
          </a:r>
          <a:endParaRPr lang="en-US" sz="2500" kern="1200" dirty="0">
            <a:solidFill>
              <a:schemeClr val="bg1"/>
            </a:solidFill>
          </a:endParaRPr>
        </a:p>
      </dsp:txBody>
      <dsp:txXfrm>
        <a:off x="23493" y="23493"/>
        <a:ext cx="8669314" cy="434267"/>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Performance</a:t>
          </a:r>
          <a:endParaRPr lang="en-US" sz="2500" kern="1200" dirty="0">
            <a:solidFill>
              <a:schemeClr val="bg1"/>
            </a:solidFill>
          </a:endParaRPr>
        </a:p>
      </dsp:txBody>
      <dsp:txXfrm>
        <a:off x="23493" y="23493"/>
        <a:ext cx="8669314" cy="434267"/>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Performance</a:t>
          </a:r>
          <a:endParaRPr lang="en-US" sz="2500" kern="1200" dirty="0">
            <a:solidFill>
              <a:schemeClr val="bg1"/>
            </a:solidFill>
          </a:endParaRPr>
        </a:p>
      </dsp:txBody>
      <dsp:txXfrm>
        <a:off x="23493" y="23493"/>
        <a:ext cx="8669314" cy="434267"/>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Performance</a:t>
          </a:r>
          <a:endParaRPr lang="en-US" sz="2500" kern="1200" dirty="0">
            <a:solidFill>
              <a:schemeClr val="bg1"/>
            </a:solidFill>
          </a:endParaRPr>
        </a:p>
      </dsp:txBody>
      <dsp:txXfrm>
        <a:off x="23493" y="23493"/>
        <a:ext cx="8669314" cy="434267"/>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Performance</a:t>
          </a:r>
          <a:endParaRPr lang="en-US" sz="2500" kern="1200" dirty="0">
            <a:solidFill>
              <a:schemeClr val="bg1"/>
            </a:solidFill>
          </a:endParaRPr>
        </a:p>
      </dsp:txBody>
      <dsp:txXfrm>
        <a:off x="23493" y="23493"/>
        <a:ext cx="8669314" cy="434267"/>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Performance</a:t>
          </a:r>
          <a:endParaRPr lang="en-US" sz="2500" kern="1200" dirty="0">
            <a:solidFill>
              <a:schemeClr val="bg1"/>
            </a:solidFill>
          </a:endParaRPr>
        </a:p>
      </dsp:txBody>
      <dsp:txXfrm>
        <a:off x="23493" y="23493"/>
        <a:ext cx="8669314" cy="434267"/>
      </dsp:txXfrm>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Performance</a:t>
          </a:r>
          <a:endParaRPr lang="en-US" sz="2500" kern="1200" dirty="0">
            <a:solidFill>
              <a:schemeClr val="bg1"/>
            </a:solidFill>
          </a:endParaRPr>
        </a:p>
      </dsp:txBody>
      <dsp:txXfrm>
        <a:off x="23493" y="23493"/>
        <a:ext cx="8669314" cy="434267"/>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Performance</a:t>
          </a:r>
          <a:endParaRPr lang="en-US" sz="2500" kern="1200" dirty="0">
            <a:solidFill>
              <a:schemeClr val="bg1"/>
            </a:solidFill>
          </a:endParaRPr>
        </a:p>
      </dsp:txBody>
      <dsp:txXfrm>
        <a:off x="23493" y="23493"/>
        <a:ext cx="8669314" cy="434267"/>
      </dsp:txXfrm>
    </dsp:sp>
  </dsp:spTree>
</dsp:drawing>
</file>

<file path=ppt/diagrams/drawing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Performance</a:t>
          </a:r>
          <a:endParaRPr lang="en-US" sz="2500" kern="1200" dirty="0">
            <a:solidFill>
              <a:schemeClr val="bg1"/>
            </a:solidFill>
          </a:endParaRPr>
        </a:p>
      </dsp:txBody>
      <dsp:txXfrm>
        <a:off x="23493" y="23493"/>
        <a:ext cx="8669314" cy="434267"/>
      </dsp:txXfrm>
    </dsp:sp>
  </dsp:spTree>
</dsp:drawing>
</file>

<file path=ppt/diagrams/drawing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Performance</a:t>
          </a:r>
          <a:endParaRPr lang="en-US" sz="2500" kern="1200" dirty="0">
            <a:solidFill>
              <a:schemeClr val="bg1"/>
            </a:solidFill>
          </a:endParaRPr>
        </a:p>
      </dsp:txBody>
      <dsp:txXfrm>
        <a:off x="23493" y="23493"/>
        <a:ext cx="8669314" cy="434267"/>
      </dsp:txXfrm>
    </dsp:sp>
  </dsp:spTree>
</dsp:drawing>
</file>

<file path=ppt/diagrams/drawing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Performance</a:t>
          </a:r>
          <a:endParaRPr lang="en-US" sz="2500" kern="1200" dirty="0">
            <a:solidFill>
              <a:schemeClr val="bg1"/>
            </a:solidFill>
          </a:endParaRPr>
        </a:p>
      </dsp:txBody>
      <dsp:txXfrm>
        <a:off x="23493" y="23493"/>
        <a:ext cx="8669314" cy="434267"/>
      </dsp:txXfrm>
    </dsp:sp>
  </dsp:spTree>
</dsp:drawing>
</file>

<file path=ppt/diagrams/drawing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Performance</a:t>
          </a:r>
          <a:endParaRPr lang="en-US" sz="2500" kern="1200" dirty="0">
            <a:solidFill>
              <a:schemeClr val="bg1"/>
            </a:solidFill>
          </a:endParaRPr>
        </a:p>
      </dsp:txBody>
      <dsp:txXfrm>
        <a:off x="23493" y="23493"/>
        <a:ext cx="8669314" cy="434267"/>
      </dsp:txXfrm>
    </dsp:sp>
  </dsp:spTree>
</dsp:drawing>
</file>

<file path=ppt/diagrams/drawing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Performance</a:t>
          </a:r>
          <a:endParaRPr lang="en-US" sz="2500" kern="1200" dirty="0">
            <a:solidFill>
              <a:schemeClr val="bg1"/>
            </a:solidFill>
          </a:endParaRPr>
        </a:p>
      </dsp:txBody>
      <dsp:txXfrm>
        <a:off x="23493" y="23493"/>
        <a:ext cx="8669314" cy="434267"/>
      </dsp:txXfrm>
    </dsp:sp>
  </dsp:spTree>
</dsp:drawing>
</file>

<file path=ppt/diagrams/drawing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Performance</a:t>
          </a:r>
          <a:endParaRPr lang="en-US" sz="2500" kern="1200" dirty="0">
            <a:solidFill>
              <a:schemeClr val="bg1"/>
            </a:solidFill>
          </a:endParaRPr>
        </a:p>
      </dsp:txBody>
      <dsp:txXfrm>
        <a:off x="23493" y="23493"/>
        <a:ext cx="8669314" cy="434267"/>
      </dsp:txXfrm>
    </dsp:sp>
  </dsp:spTree>
</dsp:drawing>
</file>

<file path=ppt/diagrams/drawing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Performance</a:t>
          </a:r>
          <a:endParaRPr lang="en-US" sz="2500" kern="1200" dirty="0">
            <a:solidFill>
              <a:schemeClr val="bg1"/>
            </a:solidFill>
          </a:endParaRPr>
        </a:p>
      </dsp:txBody>
      <dsp:txXfrm>
        <a:off x="23493" y="23493"/>
        <a:ext cx="8669314" cy="434267"/>
      </dsp:txXfrm>
    </dsp:sp>
  </dsp:spTree>
</dsp:drawing>
</file>

<file path=ppt/diagrams/drawing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Performance</a:t>
          </a:r>
          <a:endParaRPr lang="en-US" sz="2500" kern="1200" dirty="0">
            <a:solidFill>
              <a:schemeClr val="bg1"/>
            </a:solidFill>
          </a:endParaRPr>
        </a:p>
      </dsp:txBody>
      <dsp:txXfrm>
        <a:off x="23493" y="23493"/>
        <a:ext cx="8669314" cy="434267"/>
      </dsp:txXfrm>
    </dsp:sp>
  </dsp:spTree>
</dsp:drawing>
</file>

<file path=ppt/diagrams/drawing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Performance</a:t>
          </a:r>
          <a:endParaRPr lang="en-US" sz="2500" kern="1200" dirty="0">
            <a:solidFill>
              <a:schemeClr val="bg1"/>
            </a:solidFill>
          </a:endParaRPr>
        </a:p>
      </dsp:txBody>
      <dsp:txXfrm>
        <a:off x="23493" y="23493"/>
        <a:ext cx="8669314" cy="434267"/>
      </dsp:txXfrm>
    </dsp:sp>
  </dsp:spTree>
</dsp:drawing>
</file>

<file path=ppt/diagrams/drawing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67800" cy="422725"/>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Scalability</a:t>
          </a:r>
          <a:endParaRPr lang="en-US" sz="2800" kern="1200" dirty="0">
            <a:solidFill>
              <a:prstClr val="white"/>
            </a:solidFill>
            <a:latin typeface="Calibri"/>
            <a:ea typeface="+mn-ea"/>
            <a:cs typeface="+mn-cs"/>
          </a:endParaRPr>
        </a:p>
      </dsp:txBody>
      <dsp:txXfrm>
        <a:off x="20636" y="20636"/>
        <a:ext cx="9026528" cy="381453"/>
      </dsp:txXfrm>
    </dsp:sp>
  </dsp:spTree>
</dsp:drawing>
</file>

<file path=ppt/diagrams/drawing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67800" cy="6359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i="0" kern="1200" dirty="0"/>
            <a:t>Scalability</a:t>
          </a:r>
          <a:endParaRPr lang="en-US" sz="2600" kern="1200" dirty="0"/>
        </a:p>
      </dsp:txBody>
      <dsp:txXfrm>
        <a:off x="31043" y="31043"/>
        <a:ext cx="9005714" cy="573827"/>
      </dsp:txXfrm>
    </dsp:sp>
  </dsp:spTree>
</dsp:drawing>
</file>

<file path=ppt/diagrams/drawing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67800" cy="6359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i="0" kern="1200" dirty="0"/>
            <a:t>Scalability</a:t>
          </a:r>
          <a:endParaRPr lang="en-US" sz="2600" kern="1200" dirty="0"/>
        </a:p>
      </dsp:txBody>
      <dsp:txXfrm>
        <a:off x="31043" y="31043"/>
        <a:ext cx="9005714" cy="573827"/>
      </dsp:txXfrm>
    </dsp:sp>
  </dsp:spTree>
</dsp:drawing>
</file>

<file path=ppt/diagrams/drawing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67800" cy="6359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i="0" kern="1200" dirty="0"/>
            <a:t>Scalability</a:t>
          </a:r>
          <a:endParaRPr lang="en-US" sz="2600" kern="1200" dirty="0"/>
        </a:p>
      </dsp:txBody>
      <dsp:txXfrm>
        <a:off x="31043" y="31043"/>
        <a:ext cx="9005714" cy="573827"/>
      </dsp:txXfrm>
    </dsp:sp>
  </dsp:spTree>
</dsp:drawing>
</file>

<file path=ppt/diagrams/drawing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67800" cy="6359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i="0" kern="1200" dirty="0"/>
            <a:t>Scalability</a:t>
          </a:r>
          <a:endParaRPr lang="en-US" sz="2600" kern="1200" dirty="0"/>
        </a:p>
      </dsp:txBody>
      <dsp:txXfrm>
        <a:off x="31043" y="31043"/>
        <a:ext cx="9005714" cy="573827"/>
      </dsp:txXfrm>
    </dsp:sp>
  </dsp:spTree>
</dsp:drawing>
</file>

<file path=ppt/diagrams/drawing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67800" cy="6359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i="0" kern="1200" dirty="0"/>
            <a:t>Scalability</a:t>
          </a:r>
          <a:endParaRPr lang="en-US" sz="2600" kern="1200" dirty="0"/>
        </a:p>
      </dsp:txBody>
      <dsp:txXfrm>
        <a:off x="31043" y="31043"/>
        <a:ext cx="9005714" cy="573827"/>
      </dsp:txXfrm>
    </dsp:sp>
  </dsp:spTree>
</dsp:drawing>
</file>

<file path=ppt/diagrams/drawing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067800" cy="6359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i="0" kern="1200" dirty="0"/>
            <a:t>Scalability</a:t>
          </a:r>
          <a:endParaRPr lang="en-US" sz="2600" kern="1200" dirty="0"/>
        </a:p>
      </dsp:txBody>
      <dsp:txXfrm>
        <a:off x="31043" y="31043"/>
        <a:ext cx="9005714" cy="573827"/>
      </dsp:txXfrm>
    </dsp:sp>
  </dsp:spTree>
</dsp:drawing>
</file>

<file path=ppt/diagrams/drawing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dsp:txBody>
      <dsp:txXfrm>
        <a:off x="23493" y="23493"/>
        <a:ext cx="8669314" cy="434267"/>
      </dsp:txXfrm>
    </dsp:sp>
  </dsp:spTree>
</dsp:drawing>
</file>

<file path=ppt/diagrams/drawing9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dsp:txBody>
      <dsp:txXfrm>
        <a:off x="23493" y="23493"/>
        <a:ext cx="8669314" cy="434267"/>
      </dsp:txXfrm>
    </dsp:sp>
  </dsp:spTree>
</dsp:drawing>
</file>

<file path=ppt/diagrams/drawing9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dsp:txBody>
      <dsp:txXfrm>
        <a:off x="23493" y="23493"/>
        <a:ext cx="8669314" cy="434267"/>
      </dsp:txXfrm>
    </dsp:sp>
  </dsp:spTree>
</dsp:drawing>
</file>

<file path=ppt/diagrams/drawing9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dsp:txBody>
      <dsp:txXfrm>
        <a:off x="23493" y="23493"/>
        <a:ext cx="8669314" cy="434267"/>
      </dsp:txXfrm>
    </dsp:sp>
  </dsp:spTree>
</dsp:drawing>
</file>

<file path=ppt/diagrams/drawing9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dsp:txBody>
      <dsp:txXfrm>
        <a:off x="23493" y="23493"/>
        <a:ext cx="8669314" cy="434267"/>
      </dsp:txXfrm>
    </dsp:sp>
  </dsp:spTree>
</dsp:drawing>
</file>

<file path=ppt/diagrams/drawing9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dsp:txBody>
      <dsp:txXfrm>
        <a:off x="23493" y="23493"/>
        <a:ext cx="8669314" cy="434267"/>
      </dsp:txXfrm>
    </dsp:sp>
  </dsp:spTree>
</dsp:drawing>
</file>

<file path=ppt/diagrams/drawing9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dsp:txBody>
      <dsp:txXfrm>
        <a:off x="23493" y="23493"/>
        <a:ext cx="8669314" cy="434267"/>
      </dsp:txXfrm>
    </dsp:sp>
  </dsp:spTree>
</dsp:drawing>
</file>

<file path=ppt/diagrams/drawing9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dsp:txBody>
      <dsp:txXfrm>
        <a:off x="23493" y="23493"/>
        <a:ext cx="8669314" cy="434267"/>
      </dsp:txXfrm>
    </dsp:sp>
  </dsp:spTree>
</dsp:drawing>
</file>

<file path=ppt/diagrams/drawing9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dsp:txBody>
      <dsp:txXfrm>
        <a:off x="23493" y="23493"/>
        <a:ext cx="8669314" cy="434267"/>
      </dsp:txXfrm>
    </dsp:sp>
  </dsp:spTree>
</dsp:drawing>
</file>

<file path=ppt/diagrams/drawing9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dsp:txBody>
      <dsp:txXfrm>
        <a:off x="23493" y="23493"/>
        <a:ext cx="8669314" cy="434267"/>
      </dsp:txXfrm>
    </dsp:sp>
  </dsp:spTree>
</dsp:drawing>
</file>

<file path=ppt/diagrams/drawing9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dsp:txBody>
      <dsp:txXfrm>
        <a:off x="23493" y="23493"/>
        <a:ext cx="8669314" cy="434267"/>
      </dsp:txXfrm>
    </dsp:sp>
  </dsp:spTree>
</dsp:drawing>
</file>

<file path=ppt/diagrams/drawing10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dsp:txBody>
      <dsp:txXfrm>
        <a:off x="23493" y="23493"/>
        <a:ext cx="8669314" cy="434267"/>
      </dsp:txXfrm>
    </dsp:sp>
  </dsp:spTree>
</dsp:drawing>
</file>

<file path=ppt/diagrams/drawing10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84047"/>
          <a:ext cx="91440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solidFill>
                <a:schemeClr val="lt1"/>
              </a:solidFill>
              <a:latin typeface="+mn-lt"/>
              <a:ea typeface="+mn-ea"/>
              <a:cs typeface="+mn-cs"/>
            </a:rPr>
            <a:t>CAP &amp; PACELC Theorems</a:t>
          </a:r>
        </a:p>
      </dsp:txBody>
      <dsp:txXfrm>
        <a:off x="21162" y="105209"/>
        <a:ext cx="9101676" cy="391189"/>
      </dsp:txXfrm>
    </dsp:sp>
  </dsp:spTree>
</dsp:drawing>
</file>

<file path=ppt/diagrams/drawing10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solidFill>
                <a:prstClr val="white"/>
              </a:solidFill>
              <a:latin typeface="Calibri"/>
              <a:ea typeface="+mn-ea"/>
              <a:cs typeface="+mn-cs"/>
            </a:rPr>
            <a:t>CAP &amp; PACELC Theorems</a:t>
          </a:r>
        </a:p>
      </dsp:txBody>
      <dsp:txXfrm>
        <a:off x="21162" y="21162"/>
        <a:ext cx="9101676" cy="391189"/>
      </dsp:txXfrm>
    </dsp:sp>
  </dsp:spTree>
</dsp:drawing>
</file>

<file path=ppt/diagrams/drawing10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35189"/>
          <a:ext cx="91440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solidFill>
                <a:schemeClr val="lt1"/>
              </a:solidFill>
              <a:latin typeface="+mn-lt"/>
              <a:ea typeface="+mn-ea"/>
              <a:cs typeface="+mn-cs"/>
            </a:rPr>
            <a:t>Consistency Models</a:t>
          </a:r>
        </a:p>
      </dsp:txBody>
      <dsp:txXfrm>
        <a:off x="21162" y="56351"/>
        <a:ext cx="9101676" cy="391189"/>
      </dsp:txXfrm>
    </dsp:sp>
  </dsp:spTree>
</dsp:drawing>
</file>

<file path=ppt/diagrams/drawing10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55438"/>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solidFill>
                <a:schemeClr val="lt1"/>
              </a:solidFill>
              <a:latin typeface="+mn-lt"/>
              <a:ea typeface="+mn-ea"/>
              <a:cs typeface="+mn-cs"/>
            </a:rPr>
            <a:t>Consistency Models</a:t>
          </a:r>
          <a:endParaRPr lang="en-US" sz="2300" kern="1200" dirty="0"/>
        </a:p>
      </dsp:txBody>
      <dsp:txXfrm>
        <a:off x="27114" y="27114"/>
        <a:ext cx="9089772" cy="501210"/>
      </dsp:txXfrm>
    </dsp:sp>
  </dsp:spTree>
</dsp:drawing>
</file>

<file path=ppt/diagrams/drawing10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solidFill>
                <a:prstClr val="white"/>
              </a:solidFill>
              <a:latin typeface="Calibri"/>
              <a:ea typeface="+mn-ea"/>
              <a:cs typeface="+mn-cs"/>
            </a:rPr>
            <a:t>Consistency Models</a:t>
          </a:r>
        </a:p>
      </dsp:txBody>
      <dsp:txXfrm>
        <a:off x="21162" y="21162"/>
        <a:ext cx="9101676" cy="391189"/>
      </dsp:txXfrm>
    </dsp:sp>
  </dsp:spTree>
</dsp:drawing>
</file>

<file path=ppt/diagrams/drawing10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solidFill>
                <a:prstClr val="white"/>
              </a:solidFill>
              <a:latin typeface="Calibri"/>
              <a:ea typeface="+mn-ea"/>
              <a:cs typeface="+mn-cs"/>
            </a:rPr>
            <a:t>Consistency Models</a:t>
          </a:r>
        </a:p>
      </dsp:txBody>
      <dsp:txXfrm>
        <a:off x="21162" y="21162"/>
        <a:ext cx="9101676" cy="391189"/>
      </dsp:txXfrm>
    </dsp:sp>
  </dsp:spTree>
</dsp:drawing>
</file>

<file path=ppt/diagrams/drawing10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1" i="0" kern="1200" dirty="0">
              <a:solidFill>
                <a:prstClr val="white"/>
              </a:solidFill>
              <a:latin typeface="Calibri"/>
              <a:ea typeface="+mn-ea"/>
              <a:cs typeface="+mn-cs"/>
            </a:rPr>
            <a:t>Consistency Models</a:t>
          </a:r>
        </a:p>
      </dsp:txBody>
      <dsp:txXfrm>
        <a:off x="21162" y="21162"/>
        <a:ext cx="9101676" cy="391189"/>
      </dsp:txXfrm>
    </dsp:sp>
  </dsp:spTree>
</dsp:drawing>
</file>

<file path=ppt/diagrams/drawing10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555438"/>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dirty="0"/>
            <a:t>Distributed Transaction</a:t>
          </a:r>
        </a:p>
      </dsp:txBody>
      <dsp:txXfrm>
        <a:off x="27114" y="27114"/>
        <a:ext cx="9089772" cy="501210"/>
      </dsp:txXfrm>
    </dsp:sp>
  </dsp:spTree>
</dsp:drawing>
</file>

<file path=ppt/diagrams/drawing10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915399" cy="383529"/>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Distributed Systems Impedance Mismatch</a:t>
          </a:r>
        </a:p>
      </dsp:txBody>
      <dsp:txXfrm>
        <a:off x="18722" y="18722"/>
        <a:ext cx="8877955" cy="346085"/>
      </dsp:txXfrm>
    </dsp:sp>
  </dsp:spTree>
</dsp:drawing>
</file>

<file path=ppt/diagrams/drawing1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a:t>
          </a:r>
          <a:endParaRPr lang="en-US" sz="2500" kern="1200" dirty="0">
            <a:solidFill>
              <a:schemeClr val="bg1"/>
            </a:solidFill>
          </a:endParaRPr>
        </a:p>
      </dsp:txBody>
      <dsp:txXfrm>
        <a:off x="23493" y="23493"/>
        <a:ext cx="8669314" cy="434267"/>
      </dsp:txXfrm>
    </dsp:sp>
  </dsp:spTree>
</dsp:drawing>
</file>

<file path=ppt/diagrams/drawing1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8716300" cy="48125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Systems</a:t>
          </a:r>
          <a:endParaRPr lang="en-US" sz="2500" kern="1200" dirty="0">
            <a:solidFill>
              <a:schemeClr val="bg1"/>
            </a:solidFill>
          </a:endParaRPr>
        </a:p>
      </dsp:txBody>
      <dsp:txXfrm>
        <a:off x="23493" y="23493"/>
        <a:ext cx="8669314" cy="434267"/>
      </dsp:txXfrm>
    </dsp:sp>
  </dsp:spTree>
</dsp:drawing>
</file>

<file path=ppt/diagrams/drawing1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 </a:t>
          </a:r>
        </a:p>
      </dsp:txBody>
      <dsp:txXfrm>
        <a:off x="21162" y="21162"/>
        <a:ext cx="7149976" cy="391189"/>
      </dsp:txXfrm>
    </dsp:sp>
  </dsp:spTree>
</dsp:drawing>
</file>

<file path=ppt/diagrams/drawing1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 </a:t>
          </a:r>
        </a:p>
      </dsp:txBody>
      <dsp:txXfrm>
        <a:off x="21162" y="21162"/>
        <a:ext cx="7149976" cy="391189"/>
      </dsp:txXfrm>
    </dsp:sp>
  </dsp:spTree>
</dsp:drawing>
</file>

<file path=ppt/diagrams/drawing1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P2P Networking And Architecture</a:t>
          </a:r>
        </a:p>
      </dsp:txBody>
      <dsp:txXfrm>
        <a:off x="21162" y="21162"/>
        <a:ext cx="7149976" cy="391189"/>
      </dsp:txXfrm>
    </dsp:sp>
  </dsp:spTree>
</dsp:drawing>
</file>

<file path=ppt/diagrams/drawing1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66303"/>
          <a:ext cx="9144000" cy="685121"/>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Blockchain</a:t>
          </a:r>
        </a:p>
      </dsp:txBody>
      <dsp:txXfrm>
        <a:off x="33445" y="99748"/>
        <a:ext cx="9077110" cy="618231"/>
      </dsp:txXfrm>
    </dsp:sp>
  </dsp:spTree>
</dsp:drawing>
</file>

<file path=ppt/diagrams/drawing1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66303"/>
          <a:ext cx="9144000" cy="685121"/>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Blockchain</a:t>
          </a:r>
        </a:p>
      </dsp:txBody>
      <dsp:txXfrm>
        <a:off x="33445" y="99748"/>
        <a:ext cx="9077110" cy="618231"/>
      </dsp:txXfrm>
    </dsp:sp>
  </dsp:spTree>
</dsp:drawing>
</file>

<file path=ppt/diagrams/drawing1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66303"/>
          <a:ext cx="9144000" cy="685121"/>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Blockchain</a:t>
          </a:r>
        </a:p>
      </dsp:txBody>
      <dsp:txXfrm>
        <a:off x="33445" y="99748"/>
        <a:ext cx="9077110" cy="618231"/>
      </dsp:txXfrm>
    </dsp:sp>
  </dsp:spTree>
</dsp:drawing>
</file>

<file path=ppt/diagrams/drawing1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66303"/>
          <a:ext cx="9144000" cy="685121"/>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Blockchain</a:t>
          </a:r>
        </a:p>
      </dsp:txBody>
      <dsp:txXfrm>
        <a:off x="33445" y="99748"/>
        <a:ext cx="9077110" cy="618231"/>
      </dsp:txXfrm>
    </dsp:sp>
  </dsp:spTree>
</dsp:drawing>
</file>

<file path=ppt/diagrams/drawing1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66303"/>
          <a:ext cx="9144000" cy="685121"/>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Blockchain</a:t>
          </a:r>
        </a:p>
      </dsp:txBody>
      <dsp:txXfrm>
        <a:off x="33445" y="99748"/>
        <a:ext cx="9077110" cy="618231"/>
      </dsp:txXfrm>
    </dsp:sp>
  </dsp:spTree>
</dsp:drawing>
</file>

<file path=ppt/diagrams/drawing1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66303"/>
          <a:ext cx="9144000" cy="685121"/>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Blockchain</a:t>
          </a:r>
        </a:p>
      </dsp:txBody>
      <dsp:txXfrm>
        <a:off x="33445" y="99748"/>
        <a:ext cx="9077110" cy="618231"/>
      </dsp:txXfrm>
    </dsp:sp>
  </dsp:spTree>
</dsp:drawing>
</file>

<file path=ppt/diagrams/drawing1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66303"/>
          <a:ext cx="9144000" cy="685121"/>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Blockchain</a:t>
          </a:r>
        </a:p>
      </dsp:txBody>
      <dsp:txXfrm>
        <a:off x="33445" y="99748"/>
        <a:ext cx="9077110" cy="618231"/>
      </dsp:txXfrm>
    </dsp:sp>
  </dsp:spTree>
</dsp:drawing>
</file>

<file path=ppt/diagrams/drawing1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818308"/>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Blockchain</a:t>
          </a:r>
        </a:p>
      </dsp:txBody>
      <dsp:txXfrm>
        <a:off x="39947" y="39947"/>
        <a:ext cx="9064106" cy="738414"/>
      </dsp:txXfrm>
    </dsp:sp>
  </dsp:spTree>
</dsp:drawing>
</file>

<file path=ppt/diagrams/drawing1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818308"/>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Blockchain</a:t>
          </a:r>
        </a:p>
      </dsp:txBody>
      <dsp:txXfrm>
        <a:off x="39947" y="39947"/>
        <a:ext cx="9064106" cy="738414"/>
      </dsp:txXfrm>
    </dsp:sp>
  </dsp:spTree>
</dsp:drawing>
</file>

<file path=ppt/diagrams/drawing1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818308"/>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Blockchain</a:t>
          </a:r>
        </a:p>
      </dsp:txBody>
      <dsp:txXfrm>
        <a:off x="39947" y="39947"/>
        <a:ext cx="9064106" cy="738414"/>
      </dsp:txXfrm>
    </dsp:sp>
  </dsp:spTree>
</dsp:drawing>
</file>

<file path=ppt/diagrams/drawing1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818308"/>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Blockchain</a:t>
          </a:r>
        </a:p>
      </dsp:txBody>
      <dsp:txXfrm>
        <a:off x="39947" y="39947"/>
        <a:ext cx="9064106" cy="738414"/>
      </dsp:txXfrm>
    </dsp:sp>
  </dsp:spTree>
</dsp:drawing>
</file>

<file path=ppt/diagrams/drawing1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818308"/>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Blockchain</a:t>
          </a:r>
        </a:p>
      </dsp:txBody>
      <dsp:txXfrm>
        <a:off x="39947" y="39947"/>
        <a:ext cx="9064106" cy="738414"/>
      </dsp:txXfrm>
    </dsp:sp>
  </dsp:spTree>
</dsp:drawing>
</file>

<file path=ppt/diagrams/drawing1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818308"/>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Blockchain</a:t>
          </a:r>
        </a:p>
      </dsp:txBody>
      <dsp:txXfrm>
        <a:off x="39947" y="39947"/>
        <a:ext cx="9064106" cy="738414"/>
      </dsp:txXfrm>
    </dsp:sp>
  </dsp:spTree>
</dsp:drawing>
</file>

<file path=ppt/diagrams/drawing1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818308"/>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Blockchain</a:t>
          </a:r>
        </a:p>
      </dsp:txBody>
      <dsp:txXfrm>
        <a:off x="39947" y="39947"/>
        <a:ext cx="9064106" cy="738414"/>
      </dsp:txXfrm>
    </dsp:sp>
  </dsp:spTree>
</dsp:drawing>
</file>

<file path=ppt/diagrams/drawing1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818308"/>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Blockchain</a:t>
          </a:r>
        </a:p>
      </dsp:txBody>
      <dsp:txXfrm>
        <a:off x="39947" y="39947"/>
        <a:ext cx="9064106" cy="738414"/>
      </dsp:txXfrm>
    </dsp:sp>
  </dsp:spTree>
</dsp:drawing>
</file>

<file path=ppt/diagrams/drawing1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818308"/>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Blockchain</a:t>
          </a:r>
        </a:p>
      </dsp:txBody>
      <dsp:txXfrm>
        <a:off x="39947" y="39947"/>
        <a:ext cx="9064106" cy="738414"/>
      </dsp:txXfrm>
    </dsp:sp>
  </dsp:spTree>
</dsp:drawing>
</file>

<file path=ppt/diagrams/drawing1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818308"/>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Blockchain</a:t>
          </a:r>
        </a:p>
      </dsp:txBody>
      <dsp:txXfrm>
        <a:off x="39947" y="39947"/>
        <a:ext cx="9064106" cy="738414"/>
      </dsp:txXfrm>
    </dsp:sp>
  </dsp:spTree>
</dsp:drawing>
</file>

<file path=ppt/diagrams/drawing1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9144000" cy="818308"/>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Blockchain</a:t>
          </a:r>
        </a:p>
      </dsp:txBody>
      <dsp:txXfrm>
        <a:off x="39947" y="39947"/>
        <a:ext cx="9064106" cy="738414"/>
      </dsp:txXfrm>
    </dsp:sp>
  </dsp:spTree>
</dsp:drawing>
</file>

<file path=ppt/diagrams/drawing1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7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7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7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7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7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8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8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8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8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8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8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8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8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8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8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9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9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9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9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9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9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9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9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9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19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20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20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20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20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20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20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20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20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20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a:t>
          </a:r>
        </a:p>
      </dsp:txBody>
      <dsp:txXfrm>
        <a:off x="21162" y="21162"/>
        <a:ext cx="7149976" cy="391189"/>
      </dsp:txXfrm>
    </dsp:sp>
  </dsp:spTree>
</dsp:drawing>
</file>

<file path=ppt/diagrams/drawing20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C319F-5CB9-4546-B805-D62F0303BCC3}">
      <dsp:nvSpPr>
        <dsp:cNvPr id="0" name=""/>
        <dsp:cNvSpPr/>
      </dsp:nvSpPr>
      <dsp:spPr>
        <a:xfrm>
          <a:off x="0" y="0"/>
          <a:ext cx="7192300" cy="433513"/>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dirty="0">
              <a:solidFill>
                <a:prstClr val="white"/>
              </a:solidFill>
              <a:latin typeface="Calibri"/>
              <a:ea typeface="+mn-ea"/>
              <a:cs typeface="+mn-cs"/>
            </a:rPr>
            <a:t>Location Apps   </a:t>
          </a:r>
        </a:p>
      </dsp:txBody>
      <dsp:txXfrm>
        <a:off x="21162" y="21162"/>
        <a:ext cx="7149976" cy="39118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9845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5180013" y="0"/>
            <a:ext cx="3962400" cy="298450"/>
          </a:xfrm>
          <a:prstGeom prst="rect">
            <a:avLst/>
          </a:prstGeom>
        </p:spPr>
        <p:txBody>
          <a:bodyPr vert="horz" lIns="91440" tIns="45720" rIns="91440" bIns="45720" rtlCol="0"/>
          <a:lstStyle>
            <a:lvl1pPr algn="r">
              <a:defRPr sz="1200"/>
            </a:lvl1pPr>
          </a:lstStyle>
          <a:p>
            <a:fld id="{9AE750B3-386C-4233-BFC3-7F4AC971F92C}" type="datetimeFigureOut">
              <a:rPr lang="en-US" smtClean="0"/>
              <a:t>3/6/2026</a:t>
            </a:fld>
            <a:endParaRPr lang="en-US" dirty="0"/>
          </a:p>
        </p:txBody>
      </p:sp>
      <p:sp>
        <p:nvSpPr>
          <p:cNvPr id="4" name="Slide Image Placeholder 3"/>
          <p:cNvSpPr>
            <a:spLocks noGrp="1" noRot="1" noChangeAspect="1"/>
          </p:cNvSpPr>
          <p:nvPr>
            <p:ph type="sldImg" idx="2"/>
          </p:nvPr>
        </p:nvSpPr>
        <p:spPr>
          <a:xfrm>
            <a:off x="3028950" y="742950"/>
            <a:ext cx="3086100" cy="20066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914400" y="2860675"/>
            <a:ext cx="7315200" cy="2339975"/>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5645150"/>
            <a:ext cx="3962400" cy="29845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5180013" y="5645150"/>
            <a:ext cx="3962400" cy="298450"/>
          </a:xfrm>
          <a:prstGeom prst="rect">
            <a:avLst/>
          </a:prstGeom>
        </p:spPr>
        <p:txBody>
          <a:bodyPr vert="horz" lIns="91440" tIns="45720" rIns="91440" bIns="45720" rtlCol="0" anchor="b"/>
          <a:lstStyle>
            <a:lvl1pPr algn="r">
              <a:defRPr sz="1200"/>
            </a:lvl1pPr>
          </a:lstStyle>
          <a:p>
            <a:fld id="{0C49AC16-2221-4935-809C-2A72A26F729C}" type="slidenum">
              <a:rPr lang="en-US" smtClean="0"/>
              <a:t>‹#›</a:t>
            </a:fld>
            <a:endParaRPr lang="en-US" dirty="0"/>
          </a:p>
        </p:txBody>
      </p:sp>
    </p:spTree>
    <p:extLst>
      <p:ext uri="{BB962C8B-B14F-4D97-AF65-F5344CB8AC3E}">
        <p14:creationId xmlns:p14="http://schemas.microsoft.com/office/powerpoint/2010/main" val="4081582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6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0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0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49AC16-2221-4935-809C-2A72A26F729C}" type="slidenum">
              <a:rPr lang="en-US" smtClean="0"/>
              <a:t>158</a:t>
            </a:fld>
            <a:endParaRPr lang="en-US" dirty="0"/>
          </a:p>
        </p:txBody>
      </p:sp>
    </p:spTree>
    <p:extLst>
      <p:ext uri="{BB962C8B-B14F-4D97-AF65-F5344CB8AC3E}">
        <p14:creationId xmlns:p14="http://schemas.microsoft.com/office/powerpoint/2010/main" val="38572586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49AC16-2221-4935-809C-2A72A26F729C}" type="slidenum">
              <a:rPr lang="en-US" smtClean="0"/>
              <a:t>364</a:t>
            </a:fld>
            <a:endParaRPr lang="en-US" dirty="0"/>
          </a:p>
        </p:txBody>
      </p:sp>
    </p:spTree>
    <p:extLst>
      <p:ext uri="{BB962C8B-B14F-4D97-AF65-F5344CB8AC3E}">
        <p14:creationId xmlns:p14="http://schemas.microsoft.com/office/powerpoint/2010/main" val="29667991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9B778-A1E0-BA7B-AF3E-EF901C63C2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EAD46-D6B1-D873-0EF1-789832481D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722557-8204-1F1C-67D5-B9535E3448D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8D8CE6-D751-1C54-7B14-CD76DB369BB2}"/>
              </a:ext>
            </a:extLst>
          </p:cNvPr>
          <p:cNvSpPr>
            <a:spLocks noGrp="1"/>
          </p:cNvSpPr>
          <p:nvPr>
            <p:ph type="sldNum" sz="quarter" idx="5"/>
          </p:nvPr>
        </p:nvSpPr>
        <p:spPr/>
        <p:txBody>
          <a:bodyPr/>
          <a:lstStyle/>
          <a:p>
            <a:fld id="{0C49AC16-2221-4935-809C-2A72A26F729C}" type="slidenum">
              <a:rPr lang="en-US" smtClean="0"/>
              <a:t>365</a:t>
            </a:fld>
            <a:endParaRPr lang="en-US" dirty="0"/>
          </a:p>
        </p:txBody>
      </p:sp>
    </p:spTree>
    <p:extLst>
      <p:ext uri="{BB962C8B-B14F-4D97-AF65-F5344CB8AC3E}">
        <p14:creationId xmlns:p14="http://schemas.microsoft.com/office/powerpoint/2010/main" val="3338149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FA5AF-9F1D-3C39-996A-2EF62E84DD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08744D-6E0E-6563-164A-DBDFDFB213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29FCB5-4F7A-C087-7F69-807B09601F9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04B31C-D558-7C2A-56B1-10A0392CC156}"/>
              </a:ext>
            </a:extLst>
          </p:cNvPr>
          <p:cNvSpPr>
            <a:spLocks noGrp="1"/>
          </p:cNvSpPr>
          <p:nvPr>
            <p:ph type="sldNum" sz="quarter" idx="5"/>
          </p:nvPr>
        </p:nvSpPr>
        <p:spPr/>
        <p:txBody>
          <a:bodyPr/>
          <a:lstStyle/>
          <a:p>
            <a:fld id="{0C49AC16-2221-4935-809C-2A72A26F729C}" type="slidenum">
              <a:rPr lang="en-US" smtClean="0"/>
              <a:t>505</a:t>
            </a:fld>
            <a:endParaRPr lang="en-US" dirty="0"/>
          </a:p>
        </p:txBody>
      </p:sp>
    </p:spTree>
    <p:extLst>
      <p:ext uri="{BB962C8B-B14F-4D97-AF65-F5344CB8AC3E}">
        <p14:creationId xmlns:p14="http://schemas.microsoft.com/office/powerpoint/2010/main" val="12762404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E7AA0-F52F-5BB5-2188-D29F925EDF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2E08BC-4061-A380-588F-12CB766D4D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DEEB72-E5F3-4104-A361-51F4620394E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DA6F3E8-83DA-3717-EB96-46E96D0E6856}"/>
              </a:ext>
            </a:extLst>
          </p:cNvPr>
          <p:cNvSpPr>
            <a:spLocks noGrp="1"/>
          </p:cNvSpPr>
          <p:nvPr>
            <p:ph type="sldNum" sz="quarter" idx="5"/>
          </p:nvPr>
        </p:nvSpPr>
        <p:spPr/>
        <p:txBody>
          <a:bodyPr/>
          <a:lstStyle/>
          <a:p>
            <a:fld id="{0C49AC16-2221-4935-809C-2A72A26F729C}" type="slidenum">
              <a:rPr lang="en-US" smtClean="0"/>
              <a:t>508</a:t>
            </a:fld>
            <a:endParaRPr lang="en-US" dirty="0"/>
          </a:p>
        </p:txBody>
      </p:sp>
    </p:spTree>
    <p:extLst>
      <p:ext uri="{BB962C8B-B14F-4D97-AF65-F5344CB8AC3E}">
        <p14:creationId xmlns:p14="http://schemas.microsoft.com/office/powerpoint/2010/main" val="3321884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4798A-6B52-3FCC-0D80-93FE22BCF3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15C5C0-24D6-F974-507D-112A35F43F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64F6F3-9708-479F-006A-AD0F52DA3D2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3038E68-5A8E-F9F1-6CA5-518FD4708204}"/>
              </a:ext>
            </a:extLst>
          </p:cNvPr>
          <p:cNvSpPr>
            <a:spLocks noGrp="1"/>
          </p:cNvSpPr>
          <p:nvPr>
            <p:ph type="sldNum" sz="quarter" idx="5"/>
          </p:nvPr>
        </p:nvSpPr>
        <p:spPr/>
        <p:txBody>
          <a:bodyPr/>
          <a:lstStyle/>
          <a:p>
            <a:fld id="{0C49AC16-2221-4935-809C-2A72A26F729C}" type="slidenum">
              <a:rPr lang="en-US" smtClean="0"/>
              <a:t>509</a:t>
            </a:fld>
            <a:endParaRPr lang="en-US" dirty="0"/>
          </a:p>
        </p:txBody>
      </p:sp>
    </p:spTree>
    <p:extLst>
      <p:ext uri="{BB962C8B-B14F-4D97-AF65-F5344CB8AC3E}">
        <p14:creationId xmlns:p14="http://schemas.microsoft.com/office/powerpoint/2010/main" val="749600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AB7F5-7EC2-1957-2B3B-BE27ABE95F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35490-5332-7FF1-20A5-38DD9B8A06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AEC4C7-1805-4E57-8210-3EE6E95FF31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1489F6D-43B4-90DE-E727-054CC42C1449}"/>
              </a:ext>
            </a:extLst>
          </p:cNvPr>
          <p:cNvSpPr>
            <a:spLocks noGrp="1"/>
          </p:cNvSpPr>
          <p:nvPr>
            <p:ph type="sldNum" sz="quarter" idx="5"/>
          </p:nvPr>
        </p:nvSpPr>
        <p:spPr/>
        <p:txBody>
          <a:bodyPr/>
          <a:lstStyle/>
          <a:p>
            <a:fld id="{0C49AC16-2221-4935-809C-2A72A26F729C}" type="slidenum">
              <a:rPr lang="en-US" smtClean="0"/>
              <a:t>510</a:t>
            </a:fld>
            <a:endParaRPr lang="en-US" dirty="0"/>
          </a:p>
        </p:txBody>
      </p:sp>
    </p:spTree>
    <p:extLst>
      <p:ext uri="{BB962C8B-B14F-4D97-AF65-F5344CB8AC3E}">
        <p14:creationId xmlns:p14="http://schemas.microsoft.com/office/powerpoint/2010/main" val="1992186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2282F-88AF-94AA-7920-3B4D37E10D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36E38-18B1-F5DB-52A6-1B9A4E3AA0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0CC74D-883C-C7A9-BF52-819344CA8C2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B8F0231-78E1-AF7D-2645-BAC70E787FDE}"/>
              </a:ext>
            </a:extLst>
          </p:cNvPr>
          <p:cNvSpPr>
            <a:spLocks noGrp="1"/>
          </p:cNvSpPr>
          <p:nvPr>
            <p:ph type="sldNum" sz="quarter" idx="5"/>
          </p:nvPr>
        </p:nvSpPr>
        <p:spPr/>
        <p:txBody>
          <a:bodyPr/>
          <a:lstStyle/>
          <a:p>
            <a:fld id="{0C49AC16-2221-4935-809C-2A72A26F729C}" type="slidenum">
              <a:rPr lang="en-US" smtClean="0"/>
              <a:t>511</a:t>
            </a:fld>
            <a:endParaRPr lang="en-US" dirty="0"/>
          </a:p>
        </p:txBody>
      </p:sp>
    </p:spTree>
    <p:extLst>
      <p:ext uri="{BB962C8B-B14F-4D97-AF65-F5344CB8AC3E}">
        <p14:creationId xmlns:p14="http://schemas.microsoft.com/office/powerpoint/2010/main" val="37852144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5F71F-C944-3FBE-24A5-60F5D20B10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594A2-1180-A85D-85D5-CD73AC2B04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004EDE-59C0-865C-2C13-4CE1EA62341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5EB8B16-CAE9-9A34-1400-29F296392762}"/>
              </a:ext>
            </a:extLst>
          </p:cNvPr>
          <p:cNvSpPr>
            <a:spLocks noGrp="1"/>
          </p:cNvSpPr>
          <p:nvPr>
            <p:ph type="sldNum" sz="quarter" idx="5"/>
          </p:nvPr>
        </p:nvSpPr>
        <p:spPr/>
        <p:txBody>
          <a:bodyPr/>
          <a:lstStyle/>
          <a:p>
            <a:fld id="{0C49AC16-2221-4935-809C-2A72A26F729C}" type="slidenum">
              <a:rPr lang="en-US" smtClean="0"/>
              <a:t>512</a:t>
            </a:fld>
            <a:endParaRPr lang="en-US" dirty="0"/>
          </a:p>
        </p:txBody>
      </p:sp>
    </p:spTree>
    <p:extLst>
      <p:ext uri="{BB962C8B-B14F-4D97-AF65-F5344CB8AC3E}">
        <p14:creationId xmlns:p14="http://schemas.microsoft.com/office/powerpoint/2010/main" val="36101608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83B59-34ED-5826-BD99-3CA53A4723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26746-05B1-4AAA-0BD2-EAFE512B4F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255EA1-6908-B88D-B2E3-26C34C35961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CEF0C6-15AB-1B09-354A-50BDE4501463}"/>
              </a:ext>
            </a:extLst>
          </p:cNvPr>
          <p:cNvSpPr>
            <a:spLocks noGrp="1"/>
          </p:cNvSpPr>
          <p:nvPr>
            <p:ph type="sldNum" sz="quarter" idx="5"/>
          </p:nvPr>
        </p:nvSpPr>
        <p:spPr/>
        <p:txBody>
          <a:bodyPr/>
          <a:lstStyle/>
          <a:p>
            <a:fld id="{0C49AC16-2221-4935-809C-2A72A26F729C}" type="slidenum">
              <a:rPr lang="en-US" smtClean="0"/>
              <a:t>513</a:t>
            </a:fld>
            <a:endParaRPr lang="en-US" dirty="0"/>
          </a:p>
        </p:txBody>
      </p:sp>
    </p:spTree>
    <p:extLst>
      <p:ext uri="{BB962C8B-B14F-4D97-AF65-F5344CB8AC3E}">
        <p14:creationId xmlns:p14="http://schemas.microsoft.com/office/powerpoint/2010/main" val="41171042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52D6B-B09C-87D1-AAF8-8733773DC7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0D56B2-D4FA-89E1-B1F7-63E0D72755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17DC9D-34CB-83E4-5380-BD2CAD559BB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1F115EC-2F70-341D-4D9A-CD936B85EBBB}"/>
              </a:ext>
            </a:extLst>
          </p:cNvPr>
          <p:cNvSpPr>
            <a:spLocks noGrp="1"/>
          </p:cNvSpPr>
          <p:nvPr>
            <p:ph type="sldNum" sz="quarter" idx="5"/>
          </p:nvPr>
        </p:nvSpPr>
        <p:spPr/>
        <p:txBody>
          <a:bodyPr/>
          <a:lstStyle/>
          <a:p>
            <a:fld id="{0C49AC16-2221-4935-809C-2A72A26F729C}" type="slidenum">
              <a:rPr lang="en-US" smtClean="0"/>
              <a:t>514</a:t>
            </a:fld>
            <a:endParaRPr lang="en-US" dirty="0"/>
          </a:p>
        </p:txBody>
      </p:sp>
    </p:spTree>
    <p:extLst>
      <p:ext uri="{BB962C8B-B14F-4D97-AF65-F5344CB8AC3E}">
        <p14:creationId xmlns:p14="http://schemas.microsoft.com/office/powerpoint/2010/main" val="34089548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240BD-8CAA-2745-EF73-1A56858E7B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1682B-83E0-A5BA-5180-AC927A1651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19B867-7477-EE87-CD07-7F9A328F579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91F909B-F450-F027-64C7-AE84D2214C44}"/>
              </a:ext>
            </a:extLst>
          </p:cNvPr>
          <p:cNvSpPr>
            <a:spLocks noGrp="1"/>
          </p:cNvSpPr>
          <p:nvPr>
            <p:ph type="sldNum" sz="quarter" idx="5"/>
          </p:nvPr>
        </p:nvSpPr>
        <p:spPr/>
        <p:txBody>
          <a:bodyPr/>
          <a:lstStyle/>
          <a:p>
            <a:fld id="{0C49AC16-2221-4935-809C-2A72A26F729C}" type="slidenum">
              <a:rPr lang="en-US" smtClean="0"/>
              <a:t>515</a:t>
            </a:fld>
            <a:endParaRPr lang="en-US" dirty="0"/>
          </a:p>
        </p:txBody>
      </p:sp>
    </p:spTree>
    <p:extLst>
      <p:ext uri="{BB962C8B-B14F-4D97-AF65-F5344CB8AC3E}">
        <p14:creationId xmlns:p14="http://schemas.microsoft.com/office/powerpoint/2010/main" val="293915797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B3CB7-0DD1-64E6-64C8-CEDB3AFC03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F8BF61-F22B-7E24-E4E9-3E239182CC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D86AC0-FE3C-012E-C572-A15EF5765B3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8A1EB00-D8D0-0E04-FC78-5E9BBA8E5B67}"/>
              </a:ext>
            </a:extLst>
          </p:cNvPr>
          <p:cNvSpPr>
            <a:spLocks noGrp="1"/>
          </p:cNvSpPr>
          <p:nvPr>
            <p:ph type="sldNum" sz="quarter" idx="5"/>
          </p:nvPr>
        </p:nvSpPr>
        <p:spPr/>
        <p:txBody>
          <a:bodyPr/>
          <a:lstStyle/>
          <a:p>
            <a:fld id="{0C49AC16-2221-4935-809C-2A72A26F729C}" type="slidenum">
              <a:rPr lang="en-US" smtClean="0"/>
              <a:t>516</a:t>
            </a:fld>
            <a:endParaRPr lang="en-US" dirty="0"/>
          </a:p>
        </p:txBody>
      </p:sp>
    </p:spTree>
    <p:extLst>
      <p:ext uri="{BB962C8B-B14F-4D97-AF65-F5344CB8AC3E}">
        <p14:creationId xmlns:p14="http://schemas.microsoft.com/office/powerpoint/2010/main" val="3870172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09F18-AAC6-68AF-6572-5B6E8C99DD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CD88BD-6571-4277-6DBA-A55815CC53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4B3264-063C-8473-F79D-9D004AA7101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6265D22-265B-7A43-9045-ADC8192773F7}"/>
              </a:ext>
            </a:extLst>
          </p:cNvPr>
          <p:cNvSpPr>
            <a:spLocks noGrp="1"/>
          </p:cNvSpPr>
          <p:nvPr>
            <p:ph type="sldNum" sz="quarter" idx="5"/>
          </p:nvPr>
        </p:nvSpPr>
        <p:spPr/>
        <p:txBody>
          <a:bodyPr/>
          <a:lstStyle/>
          <a:p>
            <a:fld id="{0C49AC16-2221-4935-809C-2A72A26F729C}" type="slidenum">
              <a:rPr lang="en-US" smtClean="0"/>
              <a:t>517</a:t>
            </a:fld>
            <a:endParaRPr lang="en-US" dirty="0"/>
          </a:p>
        </p:txBody>
      </p:sp>
    </p:spTree>
    <p:extLst>
      <p:ext uri="{BB962C8B-B14F-4D97-AF65-F5344CB8AC3E}">
        <p14:creationId xmlns:p14="http://schemas.microsoft.com/office/powerpoint/2010/main" val="3403481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7F413-B959-8D22-6B07-5A821AAF25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7050F5-63BC-03DC-EDF2-7CAE793294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AE506A-6238-E9EC-7E09-827FE09623D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98EAC4D-50E1-CEAC-821A-63F2A614845A}"/>
              </a:ext>
            </a:extLst>
          </p:cNvPr>
          <p:cNvSpPr>
            <a:spLocks noGrp="1"/>
          </p:cNvSpPr>
          <p:nvPr>
            <p:ph type="sldNum" sz="quarter" idx="5"/>
          </p:nvPr>
        </p:nvSpPr>
        <p:spPr/>
        <p:txBody>
          <a:bodyPr/>
          <a:lstStyle/>
          <a:p>
            <a:fld id="{0C49AC16-2221-4935-809C-2A72A26F729C}" type="slidenum">
              <a:rPr lang="en-US" smtClean="0"/>
              <a:t>518</a:t>
            </a:fld>
            <a:endParaRPr lang="en-US" dirty="0"/>
          </a:p>
        </p:txBody>
      </p:sp>
    </p:spTree>
    <p:extLst>
      <p:ext uri="{BB962C8B-B14F-4D97-AF65-F5344CB8AC3E}">
        <p14:creationId xmlns:p14="http://schemas.microsoft.com/office/powerpoint/2010/main" val="33780780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F585A-1446-04CA-7946-11E95FD2B1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67534B-DDE3-BD73-4234-EFAB250D60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05BC94-8AEE-2AF0-AF08-5D1F12D661E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7FA084B-B8EB-EDBE-70B3-78FA17D0A03A}"/>
              </a:ext>
            </a:extLst>
          </p:cNvPr>
          <p:cNvSpPr>
            <a:spLocks noGrp="1"/>
          </p:cNvSpPr>
          <p:nvPr>
            <p:ph type="sldNum" sz="quarter" idx="5"/>
          </p:nvPr>
        </p:nvSpPr>
        <p:spPr/>
        <p:txBody>
          <a:bodyPr/>
          <a:lstStyle/>
          <a:p>
            <a:fld id="{0C49AC16-2221-4935-809C-2A72A26F729C}" type="slidenum">
              <a:rPr lang="en-US" smtClean="0"/>
              <a:t>519</a:t>
            </a:fld>
            <a:endParaRPr lang="en-US" dirty="0"/>
          </a:p>
        </p:txBody>
      </p:sp>
    </p:spTree>
    <p:extLst>
      <p:ext uri="{BB962C8B-B14F-4D97-AF65-F5344CB8AC3E}">
        <p14:creationId xmlns:p14="http://schemas.microsoft.com/office/powerpoint/2010/main" val="16546224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A25C3-98AE-8786-7A85-9A9B06D016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3EC2AC-EF07-C2CB-206D-5E82ED61BB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4729CB-080A-88C9-534B-C8EC3611701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AE018A6-7E84-EEE1-4885-4B4CB2F5012D}"/>
              </a:ext>
            </a:extLst>
          </p:cNvPr>
          <p:cNvSpPr>
            <a:spLocks noGrp="1"/>
          </p:cNvSpPr>
          <p:nvPr>
            <p:ph type="sldNum" sz="quarter" idx="5"/>
          </p:nvPr>
        </p:nvSpPr>
        <p:spPr/>
        <p:txBody>
          <a:bodyPr/>
          <a:lstStyle/>
          <a:p>
            <a:fld id="{0C49AC16-2221-4935-809C-2A72A26F729C}" type="slidenum">
              <a:rPr lang="en-US" smtClean="0"/>
              <a:t>520</a:t>
            </a:fld>
            <a:endParaRPr lang="en-US" dirty="0"/>
          </a:p>
        </p:txBody>
      </p:sp>
    </p:spTree>
    <p:extLst>
      <p:ext uri="{BB962C8B-B14F-4D97-AF65-F5344CB8AC3E}">
        <p14:creationId xmlns:p14="http://schemas.microsoft.com/office/powerpoint/2010/main" val="16417238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D61E0-0F77-F199-7471-61BD306655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B5B4A0-9159-C983-655C-5F42FDC886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9D52F8-B3EC-D2DE-9859-4861289E9F8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A61E040-33FB-A4B8-28C6-68911FA5EEFD}"/>
              </a:ext>
            </a:extLst>
          </p:cNvPr>
          <p:cNvSpPr>
            <a:spLocks noGrp="1"/>
          </p:cNvSpPr>
          <p:nvPr>
            <p:ph type="sldNum" sz="quarter" idx="5"/>
          </p:nvPr>
        </p:nvSpPr>
        <p:spPr/>
        <p:txBody>
          <a:bodyPr/>
          <a:lstStyle/>
          <a:p>
            <a:fld id="{0C49AC16-2221-4935-809C-2A72A26F729C}" type="slidenum">
              <a:rPr lang="en-US" smtClean="0"/>
              <a:t>521</a:t>
            </a:fld>
            <a:endParaRPr lang="en-US" dirty="0"/>
          </a:p>
        </p:txBody>
      </p:sp>
    </p:spTree>
    <p:extLst>
      <p:ext uri="{BB962C8B-B14F-4D97-AF65-F5344CB8AC3E}">
        <p14:creationId xmlns:p14="http://schemas.microsoft.com/office/powerpoint/2010/main" val="416077191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32C75-488C-BF0A-D435-82AF69CB68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AFB22D-A9F0-C031-04E3-B0ED059533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4EA37E-E537-9A88-02C1-8033D09526C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914CCE7-ED29-D1BD-15D9-A78C128DA144}"/>
              </a:ext>
            </a:extLst>
          </p:cNvPr>
          <p:cNvSpPr>
            <a:spLocks noGrp="1"/>
          </p:cNvSpPr>
          <p:nvPr>
            <p:ph type="sldNum" sz="quarter" idx="5"/>
          </p:nvPr>
        </p:nvSpPr>
        <p:spPr/>
        <p:txBody>
          <a:bodyPr/>
          <a:lstStyle/>
          <a:p>
            <a:fld id="{0C49AC16-2221-4935-809C-2A72A26F729C}" type="slidenum">
              <a:rPr lang="en-US" smtClean="0"/>
              <a:t>522</a:t>
            </a:fld>
            <a:endParaRPr lang="en-US" dirty="0"/>
          </a:p>
        </p:txBody>
      </p:sp>
    </p:spTree>
    <p:extLst>
      <p:ext uri="{BB962C8B-B14F-4D97-AF65-F5344CB8AC3E}">
        <p14:creationId xmlns:p14="http://schemas.microsoft.com/office/powerpoint/2010/main" val="12378895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A42EF-D169-8A81-7B26-09CF45F99E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671FE9-5A41-962E-63F8-ABAD58451E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E9E4A0-93D7-9B44-84F9-824DDADD8FF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59690DC-3668-A96D-8B0D-8388FFC438C8}"/>
              </a:ext>
            </a:extLst>
          </p:cNvPr>
          <p:cNvSpPr>
            <a:spLocks noGrp="1"/>
          </p:cNvSpPr>
          <p:nvPr>
            <p:ph type="sldNum" sz="quarter" idx="5"/>
          </p:nvPr>
        </p:nvSpPr>
        <p:spPr/>
        <p:txBody>
          <a:bodyPr/>
          <a:lstStyle/>
          <a:p>
            <a:fld id="{0C49AC16-2221-4935-809C-2A72A26F729C}" type="slidenum">
              <a:rPr lang="en-US" smtClean="0"/>
              <a:t>523</a:t>
            </a:fld>
            <a:endParaRPr lang="en-US" dirty="0"/>
          </a:p>
        </p:txBody>
      </p:sp>
    </p:spTree>
    <p:extLst>
      <p:ext uri="{BB962C8B-B14F-4D97-AF65-F5344CB8AC3E}">
        <p14:creationId xmlns:p14="http://schemas.microsoft.com/office/powerpoint/2010/main" val="33795205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881A3-43B5-C928-10C8-CE6662CD91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A7A0E-9D34-F305-7CF6-DA1D43B70F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44C052-7337-79DC-4E06-3CFFCAD868A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F962208-A418-256E-E339-D8C8F31383FF}"/>
              </a:ext>
            </a:extLst>
          </p:cNvPr>
          <p:cNvSpPr>
            <a:spLocks noGrp="1"/>
          </p:cNvSpPr>
          <p:nvPr>
            <p:ph type="sldNum" sz="quarter" idx="5"/>
          </p:nvPr>
        </p:nvSpPr>
        <p:spPr/>
        <p:txBody>
          <a:bodyPr/>
          <a:lstStyle/>
          <a:p>
            <a:fld id="{0C49AC16-2221-4935-809C-2A72A26F729C}" type="slidenum">
              <a:rPr lang="en-US" smtClean="0"/>
              <a:t>524</a:t>
            </a:fld>
            <a:endParaRPr lang="en-US" dirty="0"/>
          </a:p>
        </p:txBody>
      </p:sp>
    </p:spTree>
    <p:extLst>
      <p:ext uri="{BB962C8B-B14F-4D97-AF65-F5344CB8AC3E}">
        <p14:creationId xmlns:p14="http://schemas.microsoft.com/office/powerpoint/2010/main" val="27117471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6D7C5B-CE80-651B-A447-3D522CD89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C500DA-5AE3-529B-66AD-07EC836547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74AD72-3133-1F2A-F883-6EFA139BB8D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1CD29B2-5D1E-362C-9571-DAF848C10A5C}"/>
              </a:ext>
            </a:extLst>
          </p:cNvPr>
          <p:cNvSpPr>
            <a:spLocks noGrp="1"/>
          </p:cNvSpPr>
          <p:nvPr>
            <p:ph type="sldNum" sz="quarter" idx="5"/>
          </p:nvPr>
        </p:nvSpPr>
        <p:spPr/>
        <p:txBody>
          <a:bodyPr/>
          <a:lstStyle/>
          <a:p>
            <a:fld id="{0C49AC16-2221-4935-809C-2A72A26F729C}" type="slidenum">
              <a:rPr lang="en-US" smtClean="0"/>
              <a:t>525</a:t>
            </a:fld>
            <a:endParaRPr lang="en-US" dirty="0"/>
          </a:p>
        </p:txBody>
      </p:sp>
    </p:spTree>
    <p:extLst>
      <p:ext uri="{BB962C8B-B14F-4D97-AF65-F5344CB8AC3E}">
        <p14:creationId xmlns:p14="http://schemas.microsoft.com/office/powerpoint/2010/main" val="3250151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833AF-F786-8B00-EBBC-D3199B839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9E40D1-F2FD-B2D2-61BB-E85D97611A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7449F-BDBE-3704-E4BD-AC04FABAAC8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6E9E949-3045-376B-10C9-E1C776B7B2CC}"/>
              </a:ext>
            </a:extLst>
          </p:cNvPr>
          <p:cNvSpPr>
            <a:spLocks noGrp="1"/>
          </p:cNvSpPr>
          <p:nvPr>
            <p:ph type="sldNum" sz="quarter" idx="5"/>
          </p:nvPr>
        </p:nvSpPr>
        <p:spPr/>
        <p:txBody>
          <a:bodyPr/>
          <a:lstStyle/>
          <a:p>
            <a:fld id="{0C49AC16-2221-4935-809C-2A72A26F729C}" type="slidenum">
              <a:rPr lang="en-US" smtClean="0"/>
              <a:t>526</a:t>
            </a:fld>
            <a:endParaRPr lang="en-US" dirty="0"/>
          </a:p>
        </p:txBody>
      </p:sp>
    </p:spTree>
    <p:extLst>
      <p:ext uri="{BB962C8B-B14F-4D97-AF65-F5344CB8AC3E}">
        <p14:creationId xmlns:p14="http://schemas.microsoft.com/office/powerpoint/2010/main" val="6596435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8D54E-4073-E34D-32F1-60AF8D9BF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8239B9-1BB4-E362-C799-639E597382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EB3F82-9F3E-6E25-6F17-8588439C1D9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DE03D0C-B88B-496D-9714-5376C99F752F}"/>
              </a:ext>
            </a:extLst>
          </p:cNvPr>
          <p:cNvSpPr>
            <a:spLocks noGrp="1"/>
          </p:cNvSpPr>
          <p:nvPr>
            <p:ph type="sldNum" sz="quarter" idx="5"/>
          </p:nvPr>
        </p:nvSpPr>
        <p:spPr/>
        <p:txBody>
          <a:bodyPr/>
          <a:lstStyle/>
          <a:p>
            <a:fld id="{0C49AC16-2221-4935-809C-2A72A26F729C}" type="slidenum">
              <a:rPr lang="en-US" smtClean="0"/>
              <a:t>527</a:t>
            </a:fld>
            <a:endParaRPr lang="en-US" dirty="0"/>
          </a:p>
        </p:txBody>
      </p:sp>
    </p:spTree>
    <p:extLst>
      <p:ext uri="{BB962C8B-B14F-4D97-AF65-F5344CB8AC3E}">
        <p14:creationId xmlns:p14="http://schemas.microsoft.com/office/powerpoint/2010/main" val="31603526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D39D0-10E7-A1BD-58D7-7ACE9505FF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062BD4-208E-A2CE-5E34-86CC3A991E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CACA8-8BF0-606C-9FCF-F20E2701812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F3D42EE-4027-BB70-E155-C725BE79B4FC}"/>
              </a:ext>
            </a:extLst>
          </p:cNvPr>
          <p:cNvSpPr>
            <a:spLocks noGrp="1"/>
          </p:cNvSpPr>
          <p:nvPr>
            <p:ph type="sldNum" sz="quarter" idx="5"/>
          </p:nvPr>
        </p:nvSpPr>
        <p:spPr/>
        <p:txBody>
          <a:bodyPr/>
          <a:lstStyle/>
          <a:p>
            <a:fld id="{0C49AC16-2221-4935-809C-2A72A26F729C}" type="slidenum">
              <a:rPr lang="en-US" smtClean="0"/>
              <a:t>528</a:t>
            </a:fld>
            <a:endParaRPr lang="en-US" dirty="0"/>
          </a:p>
        </p:txBody>
      </p:sp>
    </p:spTree>
    <p:extLst>
      <p:ext uri="{BB962C8B-B14F-4D97-AF65-F5344CB8AC3E}">
        <p14:creationId xmlns:p14="http://schemas.microsoft.com/office/powerpoint/2010/main" val="3818562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9F36D-B1D9-7F57-4DB5-415521D0E8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9A3D17-1129-0603-E31A-640F82C4BD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017A36-69BA-EDD9-384B-603DA8AD030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4E997F1-6377-4D03-27A8-E6D8917E996A}"/>
              </a:ext>
            </a:extLst>
          </p:cNvPr>
          <p:cNvSpPr>
            <a:spLocks noGrp="1"/>
          </p:cNvSpPr>
          <p:nvPr>
            <p:ph type="sldNum" sz="quarter" idx="5"/>
          </p:nvPr>
        </p:nvSpPr>
        <p:spPr/>
        <p:txBody>
          <a:bodyPr/>
          <a:lstStyle/>
          <a:p>
            <a:fld id="{0C49AC16-2221-4935-809C-2A72A26F729C}" type="slidenum">
              <a:rPr lang="en-US" smtClean="0"/>
              <a:t>529</a:t>
            </a:fld>
            <a:endParaRPr lang="en-US" dirty="0"/>
          </a:p>
        </p:txBody>
      </p:sp>
    </p:spTree>
    <p:extLst>
      <p:ext uri="{BB962C8B-B14F-4D97-AF65-F5344CB8AC3E}">
        <p14:creationId xmlns:p14="http://schemas.microsoft.com/office/powerpoint/2010/main" val="41531629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9A5EE-9F7E-9128-6530-5E483186E4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A2B610-8A2B-AE37-863B-AF1CEE16F8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CA6E14-1658-8C8B-7DC6-70BB21FC8C4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3E5FB3B-CEAF-BB1D-48A0-DA20D5BF1C54}"/>
              </a:ext>
            </a:extLst>
          </p:cNvPr>
          <p:cNvSpPr>
            <a:spLocks noGrp="1"/>
          </p:cNvSpPr>
          <p:nvPr>
            <p:ph type="sldNum" sz="quarter" idx="5"/>
          </p:nvPr>
        </p:nvSpPr>
        <p:spPr/>
        <p:txBody>
          <a:bodyPr/>
          <a:lstStyle/>
          <a:p>
            <a:fld id="{0C49AC16-2221-4935-809C-2A72A26F729C}" type="slidenum">
              <a:rPr lang="en-US" smtClean="0"/>
              <a:t>530</a:t>
            </a:fld>
            <a:endParaRPr lang="en-US" dirty="0"/>
          </a:p>
        </p:txBody>
      </p:sp>
    </p:spTree>
    <p:extLst>
      <p:ext uri="{BB962C8B-B14F-4D97-AF65-F5344CB8AC3E}">
        <p14:creationId xmlns:p14="http://schemas.microsoft.com/office/powerpoint/2010/main" val="41041516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A0305-EEF3-812D-8304-0E37130376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C99FD1-0B73-69A2-04A4-841541180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2B2568-F31B-4A7C-DD33-4AAED8B0201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4767FC3-B090-EC0C-D304-204EC554C1BB}"/>
              </a:ext>
            </a:extLst>
          </p:cNvPr>
          <p:cNvSpPr>
            <a:spLocks noGrp="1"/>
          </p:cNvSpPr>
          <p:nvPr>
            <p:ph type="sldNum" sz="quarter" idx="5"/>
          </p:nvPr>
        </p:nvSpPr>
        <p:spPr/>
        <p:txBody>
          <a:bodyPr/>
          <a:lstStyle/>
          <a:p>
            <a:fld id="{0C49AC16-2221-4935-809C-2A72A26F729C}" type="slidenum">
              <a:rPr lang="en-US" smtClean="0"/>
              <a:t>531</a:t>
            </a:fld>
            <a:endParaRPr lang="en-US" dirty="0"/>
          </a:p>
        </p:txBody>
      </p:sp>
    </p:spTree>
    <p:extLst>
      <p:ext uri="{BB962C8B-B14F-4D97-AF65-F5344CB8AC3E}">
        <p14:creationId xmlns:p14="http://schemas.microsoft.com/office/powerpoint/2010/main" val="1582867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33C69-2264-0A42-26D2-AE59DE27FB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FA75F-5E4E-B1B7-4901-14245F0B82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2E6C3B-12FB-1287-4208-37A1A2DF042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B017CA7-7D0A-B553-D566-278F08D6A507}"/>
              </a:ext>
            </a:extLst>
          </p:cNvPr>
          <p:cNvSpPr>
            <a:spLocks noGrp="1"/>
          </p:cNvSpPr>
          <p:nvPr>
            <p:ph type="sldNum" sz="quarter" idx="5"/>
          </p:nvPr>
        </p:nvSpPr>
        <p:spPr/>
        <p:txBody>
          <a:bodyPr/>
          <a:lstStyle/>
          <a:p>
            <a:fld id="{0C49AC16-2221-4935-809C-2A72A26F729C}" type="slidenum">
              <a:rPr lang="en-US" smtClean="0"/>
              <a:t>532</a:t>
            </a:fld>
            <a:endParaRPr lang="en-US" dirty="0"/>
          </a:p>
        </p:txBody>
      </p:sp>
    </p:spTree>
    <p:extLst>
      <p:ext uri="{BB962C8B-B14F-4D97-AF65-F5344CB8AC3E}">
        <p14:creationId xmlns:p14="http://schemas.microsoft.com/office/powerpoint/2010/main" val="36530189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A6CCF-BAE2-7A36-CD68-7CA3810491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680680-D76B-8421-D4E9-10E90C607C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E41B42-3C39-2D1A-4066-505724A0E74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8BF1732-E4DE-2F93-2393-C2EB6286CDAE}"/>
              </a:ext>
            </a:extLst>
          </p:cNvPr>
          <p:cNvSpPr>
            <a:spLocks noGrp="1"/>
          </p:cNvSpPr>
          <p:nvPr>
            <p:ph type="sldNum" sz="quarter" idx="5"/>
          </p:nvPr>
        </p:nvSpPr>
        <p:spPr/>
        <p:txBody>
          <a:bodyPr/>
          <a:lstStyle/>
          <a:p>
            <a:fld id="{0C49AC16-2221-4935-809C-2A72A26F729C}" type="slidenum">
              <a:rPr lang="en-US" smtClean="0"/>
              <a:t>533</a:t>
            </a:fld>
            <a:endParaRPr lang="en-US" dirty="0"/>
          </a:p>
        </p:txBody>
      </p:sp>
    </p:spTree>
    <p:extLst>
      <p:ext uri="{BB962C8B-B14F-4D97-AF65-F5344CB8AC3E}">
        <p14:creationId xmlns:p14="http://schemas.microsoft.com/office/powerpoint/2010/main" val="24806591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335C6-91B2-612D-C311-D5A511797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9106F6-7DDE-CD71-176D-AA9C5EC37C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9D053F-694F-2977-EF74-4CBD364E476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E224580-6699-1410-D906-D227F56D7DBE}"/>
              </a:ext>
            </a:extLst>
          </p:cNvPr>
          <p:cNvSpPr>
            <a:spLocks noGrp="1"/>
          </p:cNvSpPr>
          <p:nvPr>
            <p:ph type="sldNum" sz="quarter" idx="5"/>
          </p:nvPr>
        </p:nvSpPr>
        <p:spPr/>
        <p:txBody>
          <a:bodyPr/>
          <a:lstStyle/>
          <a:p>
            <a:fld id="{0C49AC16-2221-4935-809C-2A72A26F729C}" type="slidenum">
              <a:rPr lang="en-US" smtClean="0"/>
              <a:t>534</a:t>
            </a:fld>
            <a:endParaRPr lang="en-US" dirty="0"/>
          </a:p>
        </p:txBody>
      </p:sp>
    </p:spTree>
    <p:extLst>
      <p:ext uri="{BB962C8B-B14F-4D97-AF65-F5344CB8AC3E}">
        <p14:creationId xmlns:p14="http://schemas.microsoft.com/office/powerpoint/2010/main" val="22868142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D835F-E399-7CB0-C06E-2F5DE9A9E4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11A0F6-6927-9A83-A8EF-FD7138318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621105-9599-4430-8691-10BD08FD0A3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975F639-BEC7-FB58-9C9E-7E548707AE6E}"/>
              </a:ext>
            </a:extLst>
          </p:cNvPr>
          <p:cNvSpPr>
            <a:spLocks noGrp="1"/>
          </p:cNvSpPr>
          <p:nvPr>
            <p:ph type="sldNum" sz="quarter" idx="5"/>
          </p:nvPr>
        </p:nvSpPr>
        <p:spPr/>
        <p:txBody>
          <a:bodyPr/>
          <a:lstStyle/>
          <a:p>
            <a:fld id="{0C49AC16-2221-4935-809C-2A72A26F729C}" type="slidenum">
              <a:rPr lang="en-US" smtClean="0"/>
              <a:t>535</a:t>
            </a:fld>
            <a:endParaRPr lang="en-US" dirty="0"/>
          </a:p>
        </p:txBody>
      </p:sp>
    </p:spTree>
    <p:extLst>
      <p:ext uri="{BB962C8B-B14F-4D97-AF65-F5344CB8AC3E}">
        <p14:creationId xmlns:p14="http://schemas.microsoft.com/office/powerpoint/2010/main" val="27726284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A4A00-95D6-2E87-51E4-DC39E09058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6F8A1-8144-1618-1604-DA4073D7F2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72C401-E1ED-0934-380F-437B9E6A45D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4F6F9E4F-C039-75BB-0ED5-DE8F2B0A97CD}"/>
              </a:ext>
            </a:extLst>
          </p:cNvPr>
          <p:cNvSpPr>
            <a:spLocks noGrp="1"/>
          </p:cNvSpPr>
          <p:nvPr>
            <p:ph type="sldNum" sz="quarter" idx="5"/>
          </p:nvPr>
        </p:nvSpPr>
        <p:spPr/>
        <p:txBody>
          <a:bodyPr/>
          <a:lstStyle/>
          <a:p>
            <a:fld id="{0C49AC16-2221-4935-809C-2A72A26F729C}" type="slidenum">
              <a:rPr lang="en-US" smtClean="0"/>
              <a:t>536</a:t>
            </a:fld>
            <a:endParaRPr lang="en-US" dirty="0"/>
          </a:p>
        </p:txBody>
      </p:sp>
    </p:spTree>
    <p:extLst>
      <p:ext uri="{BB962C8B-B14F-4D97-AF65-F5344CB8AC3E}">
        <p14:creationId xmlns:p14="http://schemas.microsoft.com/office/powerpoint/2010/main" val="14346537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9DC8E-3BF5-A3B6-2C3F-95F8E6DFBB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87ED4C-9693-F20C-6E67-849C95124E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681FFD-53BF-1269-B176-CE0CF51EEA2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55F9BA2-B78A-CDB0-611A-33989E116534}"/>
              </a:ext>
            </a:extLst>
          </p:cNvPr>
          <p:cNvSpPr>
            <a:spLocks noGrp="1"/>
          </p:cNvSpPr>
          <p:nvPr>
            <p:ph type="sldNum" sz="quarter" idx="5"/>
          </p:nvPr>
        </p:nvSpPr>
        <p:spPr/>
        <p:txBody>
          <a:bodyPr/>
          <a:lstStyle/>
          <a:p>
            <a:fld id="{0C49AC16-2221-4935-809C-2A72A26F729C}" type="slidenum">
              <a:rPr lang="en-US" smtClean="0"/>
              <a:t>537</a:t>
            </a:fld>
            <a:endParaRPr lang="en-US" dirty="0"/>
          </a:p>
        </p:txBody>
      </p:sp>
    </p:spTree>
    <p:extLst>
      <p:ext uri="{BB962C8B-B14F-4D97-AF65-F5344CB8AC3E}">
        <p14:creationId xmlns:p14="http://schemas.microsoft.com/office/powerpoint/2010/main" val="27316740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2B569-01FE-9DEB-0737-EFA7162DED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5EBE63-2E13-B513-9D03-5D24FDB7AA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B0E5FC-8A36-2461-7F10-1B7CBCBD09C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A87708C-D56F-4270-B7D5-F4C4BD36C9BE}"/>
              </a:ext>
            </a:extLst>
          </p:cNvPr>
          <p:cNvSpPr>
            <a:spLocks noGrp="1"/>
          </p:cNvSpPr>
          <p:nvPr>
            <p:ph type="sldNum" sz="quarter" idx="5"/>
          </p:nvPr>
        </p:nvSpPr>
        <p:spPr/>
        <p:txBody>
          <a:bodyPr/>
          <a:lstStyle/>
          <a:p>
            <a:fld id="{0C49AC16-2221-4935-809C-2A72A26F729C}" type="slidenum">
              <a:rPr lang="en-US" smtClean="0"/>
              <a:t>538</a:t>
            </a:fld>
            <a:endParaRPr lang="en-US" dirty="0"/>
          </a:p>
        </p:txBody>
      </p:sp>
    </p:spTree>
    <p:extLst>
      <p:ext uri="{BB962C8B-B14F-4D97-AF65-F5344CB8AC3E}">
        <p14:creationId xmlns:p14="http://schemas.microsoft.com/office/powerpoint/2010/main" val="9207537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CF084-DB38-C3E5-A4BA-9C7A702123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423B29-3FDB-51FA-D131-3EEB058BAA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7602DF-34E2-9339-9A34-4CD40032B38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D33C9B3-2803-D0FB-A120-3B12206EF52C}"/>
              </a:ext>
            </a:extLst>
          </p:cNvPr>
          <p:cNvSpPr>
            <a:spLocks noGrp="1"/>
          </p:cNvSpPr>
          <p:nvPr>
            <p:ph type="sldNum" sz="quarter" idx="5"/>
          </p:nvPr>
        </p:nvSpPr>
        <p:spPr/>
        <p:txBody>
          <a:bodyPr/>
          <a:lstStyle/>
          <a:p>
            <a:fld id="{0C49AC16-2221-4935-809C-2A72A26F729C}" type="slidenum">
              <a:rPr lang="en-US" smtClean="0"/>
              <a:t>539</a:t>
            </a:fld>
            <a:endParaRPr lang="en-US" dirty="0"/>
          </a:p>
        </p:txBody>
      </p:sp>
    </p:spTree>
    <p:extLst>
      <p:ext uri="{BB962C8B-B14F-4D97-AF65-F5344CB8AC3E}">
        <p14:creationId xmlns:p14="http://schemas.microsoft.com/office/powerpoint/2010/main" val="19488872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3612D-C0A9-CF02-3C95-3BE78CC2D1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4C8444-2F24-413F-22ED-C1D45EF3CA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9F1920-381F-48D4-43D0-F5BAB4222D3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1566D09-665F-F58A-5AB4-7DE26BDE3B0D}"/>
              </a:ext>
            </a:extLst>
          </p:cNvPr>
          <p:cNvSpPr>
            <a:spLocks noGrp="1"/>
          </p:cNvSpPr>
          <p:nvPr>
            <p:ph type="sldNum" sz="quarter" idx="5"/>
          </p:nvPr>
        </p:nvSpPr>
        <p:spPr/>
        <p:txBody>
          <a:bodyPr/>
          <a:lstStyle/>
          <a:p>
            <a:fld id="{0C49AC16-2221-4935-809C-2A72A26F729C}" type="slidenum">
              <a:rPr lang="en-US" smtClean="0"/>
              <a:t>540</a:t>
            </a:fld>
            <a:endParaRPr lang="en-US" dirty="0"/>
          </a:p>
        </p:txBody>
      </p:sp>
    </p:spTree>
    <p:extLst>
      <p:ext uri="{BB962C8B-B14F-4D97-AF65-F5344CB8AC3E}">
        <p14:creationId xmlns:p14="http://schemas.microsoft.com/office/powerpoint/2010/main" val="35821835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3B6A1-2B9F-3A7D-193E-9AC0E6B73E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F3CE0-C63B-8D2B-F212-B3D40ECB26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76134E-891A-09BB-55FF-0CE3EC44CF3C}"/>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651A557-EF00-A008-9391-AA530110DA57}"/>
              </a:ext>
            </a:extLst>
          </p:cNvPr>
          <p:cNvSpPr>
            <a:spLocks noGrp="1"/>
          </p:cNvSpPr>
          <p:nvPr>
            <p:ph type="sldNum" sz="quarter" idx="5"/>
          </p:nvPr>
        </p:nvSpPr>
        <p:spPr/>
        <p:txBody>
          <a:bodyPr/>
          <a:lstStyle/>
          <a:p>
            <a:fld id="{0C49AC16-2221-4935-809C-2A72A26F729C}" type="slidenum">
              <a:rPr lang="en-US" smtClean="0"/>
              <a:t>541</a:t>
            </a:fld>
            <a:endParaRPr lang="en-US" dirty="0"/>
          </a:p>
        </p:txBody>
      </p:sp>
    </p:spTree>
    <p:extLst>
      <p:ext uri="{BB962C8B-B14F-4D97-AF65-F5344CB8AC3E}">
        <p14:creationId xmlns:p14="http://schemas.microsoft.com/office/powerpoint/2010/main" val="95506367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26D54-835B-5979-F8B8-72BE298AD5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B2650D-6167-50A8-8969-F1BDC07E05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6913B4-6DB1-F34E-53D2-DF4193E8C07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14A9335-9DBE-D39F-D691-58358FB7A406}"/>
              </a:ext>
            </a:extLst>
          </p:cNvPr>
          <p:cNvSpPr>
            <a:spLocks noGrp="1"/>
          </p:cNvSpPr>
          <p:nvPr>
            <p:ph type="sldNum" sz="quarter" idx="5"/>
          </p:nvPr>
        </p:nvSpPr>
        <p:spPr/>
        <p:txBody>
          <a:bodyPr/>
          <a:lstStyle/>
          <a:p>
            <a:fld id="{0C49AC16-2221-4935-809C-2A72A26F729C}" type="slidenum">
              <a:rPr lang="en-US" smtClean="0"/>
              <a:t>542</a:t>
            </a:fld>
            <a:endParaRPr lang="en-US" dirty="0"/>
          </a:p>
        </p:txBody>
      </p:sp>
    </p:spTree>
    <p:extLst>
      <p:ext uri="{BB962C8B-B14F-4D97-AF65-F5344CB8AC3E}">
        <p14:creationId xmlns:p14="http://schemas.microsoft.com/office/powerpoint/2010/main" val="2380857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AD43B-75F1-777F-33E8-D9F70B2E5C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B8BAEF-352D-845D-AFBE-43F972502C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EC6EDD-4B1D-76B6-1F88-EE6A44A1066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137C992-F8FF-AB4B-E4FF-0E5A6B7E6927}"/>
              </a:ext>
            </a:extLst>
          </p:cNvPr>
          <p:cNvSpPr>
            <a:spLocks noGrp="1"/>
          </p:cNvSpPr>
          <p:nvPr>
            <p:ph type="sldNum" sz="quarter" idx="5"/>
          </p:nvPr>
        </p:nvSpPr>
        <p:spPr/>
        <p:txBody>
          <a:bodyPr/>
          <a:lstStyle/>
          <a:p>
            <a:fld id="{0C49AC16-2221-4935-809C-2A72A26F729C}" type="slidenum">
              <a:rPr lang="en-US" smtClean="0"/>
              <a:t>543</a:t>
            </a:fld>
            <a:endParaRPr lang="en-US" dirty="0"/>
          </a:p>
        </p:txBody>
      </p:sp>
    </p:spTree>
    <p:extLst>
      <p:ext uri="{BB962C8B-B14F-4D97-AF65-F5344CB8AC3E}">
        <p14:creationId xmlns:p14="http://schemas.microsoft.com/office/powerpoint/2010/main" val="21586694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6CB84-8179-E253-13C9-F9A353C92F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3B0452-8E42-5ED4-16B5-F7884FF73D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27384D-3F84-76F0-0ADC-86AC902D34A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863E97A-4765-6D68-040A-65DBB5EDEC7E}"/>
              </a:ext>
            </a:extLst>
          </p:cNvPr>
          <p:cNvSpPr>
            <a:spLocks noGrp="1"/>
          </p:cNvSpPr>
          <p:nvPr>
            <p:ph type="sldNum" sz="quarter" idx="5"/>
          </p:nvPr>
        </p:nvSpPr>
        <p:spPr/>
        <p:txBody>
          <a:bodyPr/>
          <a:lstStyle/>
          <a:p>
            <a:fld id="{0C49AC16-2221-4935-809C-2A72A26F729C}" type="slidenum">
              <a:rPr lang="en-US" smtClean="0"/>
              <a:t>544</a:t>
            </a:fld>
            <a:endParaRPr lang="en-US" dirty="0"/>
          </a:p>
        </p:txBody>
      </p:sp>
    </p:spTree>
    <p:extLst>
      <p:ext uri="{BB962C8B-B14F-4D97-AF65-F5344CB8AC3E}">
        <p14:creationId xmlns:p14="http://schemas.microsoft.com/office/powerpoint/2010/main" val="381703634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B9425-701B-773E-FFD3-6C40040CE3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5EAA6B-5962-968B-9E94-D0025F54A2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D9F745-36CA-8C92-936A-9FEF7621471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0BC11F8-0A74-AA19-F5FF-EBD62959DC23}"/>
              </a:ext>
            </a:extLst>
          </p:cNvPr>
          <p:cNvSpPr>
            <a:spLocks noGrp="1"/>
          </p:cNvSpPr>
          <p:nvPr>
            <p:ph type="sldNum" sz="quarter" idx="5"/>
          </p:nvPr>
        </p:nvSpPr>
        <p:spPr/>
        <p:txBody>
          <a:bodyPr/>
          <a:lstStyle/>
          <a:p>
            <a:fld id="{0C49AC16-2221-4935-809C-2A72A26F729C}" type="slidenum">
              <a:rPr lang="en-US" smtClean="0"/>
              <a:t>545</a:t>
            </a:fld>
            <a:endParaRPr lang="en-US" dirty="0"/>
          </a:p>
        </p:txBody>
      </p:sp>
    </p:spTree>
    <p:extLst>
      <p:ext uri="{BB962C8B-B14F-4D97-AF65-F5344CB8AC3E}">
        <p14:creationId xmlns:p14="http://schemas.microsoft.com/office/powerpoint/2010/main" val="1144785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25903-13D8-5C32-AB4E-EB3B49FF2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D09DEF-BC16-D863-040E-1E0BDAA19E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726BBA-10F4-7467-6F26-9D7F3E2700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8F3A0AB-8533-8037-0EDF-EA2F607E537C}"/>
              </a:ext>
            </a:extLst>
          </p:cNvPr>
          <p:cNvSpPr>
            <a:spLocks noGrp="1"/>
          </p:cNvSpPr>
          <p:nvPr>
            <p:ph type="sldNum" sz="quarter" idx="5"/>
          </p:nvPr>
        </p:nvSpPr>
        <p:spPr/>
        <p:txBody>
          <a:bodyPr/>
          <a:lstStyle/>
          <a:p>
            <a:fld id="{0C49AC16-2221-4935-809C-2A72A26F729C}" type="slidenum">
              <a:rPr lang="en-US" smtClean="0"/>
              <a:t>546</a:t>
            </a:fld>
            <a:endParaRPr lang="en-US" dirty="0"/>
          </a:p>
        </p:txBody>
      </p:sp>
    </p:spTree>
    <p:extLst>
      <p:ext uri="{BB962C8B-B14F-4D97-AF65-F5344CB8AC3E}">
        <p14:creationId xmlns:p14="http://schemas.microsoft.com/office/powerpoint/2010/main" val="122486222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C49AC16-2221-4935-809C-2A72A26F729C}" type="slidenum">
              <a:rPr lang="en-US" smtClean="0"/>
              <a:t>605</a:t>
            </a:fld>
            <a:endParaRPr lang="en-US" dirty="0"/>
          </a:p>
        </p:txBody>
      </p:sp>
    </p:spTree>
    <p:extLst>
      <p:ext uri="{BB962C8B-B14F-4D97-AF65-F5344CB8AC3E}">
        <p14:creationId xmlns:p14="http://schemas.microsoft.com/office/powerpoint/2010/main" val="8141455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9144000" cy="5943600"/>
          </a:xfrm>
          <a:prstGeom prst="rect">
            <a:avLst/>
          </a:prstGeom>
          <a:blipFill>
            <a:blip r:embed="rId2" cstate="print"/>
            <a:stretch>
              <a:fillRect/>
            </a:stretch>
          </a:blipFill>
        </p:spPr>
        <p:txBody>
          <a:bodyPr wrap="square" lIns="0" tIns="0" rIns="0" bIns="0" rtlCol="0"/>
          <a:lstStyle/>
          <a:p>
            <a:endParaRPr dirty="0"/>
          </a:p>
        </p:txBody>
      </p:sp>
      <p:sp>
        <p:nvSpPr>
          <p:cNvPr id="17" name="bk object 17"/>
          <p:cNvSpPr/>
          <p:nvPr/>
        </p:nvSpPr>
        <p:spPr>
          <a:xfrm>
            <a:off x="3079584" y="2139810"/>
            <a:ext cx="3027045" cy="1153795"/>
          </a:xfrm>
          <a:custGeom>
            <a:avLst/>
            <a:gdLst/>
            <a:ahLst/>
            <a:cxnLst/>
            <a:rect l="l" t="t" r="r" b="b"/>
            <a:pathLst>
              <a:path w="3027045" h="1153795">
                <a:moveTo>
                  <a:pt x="0" y="1153236"/>
                </a:moveTo>
                <a:lnTo>
                  <a:pt x="3026829" y="1153236"/>
                </a:lnTo>
                <a:lnTo>
                  <a:pt x="3026829" y="0"/>
                </a:lnTo>
                <a:lnTo>
                  <a:pt x="0" y="0"/>
                </a:lnTo>
                <a:lnTo>
                  <a:pt x="0" y="1153236"/>
                </a:lnTo>
                <a:close/>
              </a:path>
            </a:pathLst>
          </a:custGeom>
          <a:solidFill>
            <a:srgbClr val="FFFFFF"/>
          </a:solidFill>
        </p:spPr>
        <p:txBody>
          <a:bodyPr wrap="square" lIns="0" tIns="0" rIns="0" bIns="0" rtlCol="0"/>
          <a:lstStyle/>
          <a:p>
            <a:endParaRPr dirty="0"/>
          </a:p>
        </p:txBody>
      </p:sp>
      <p:sp>
        <p:nvSpPr>
          <p:cNvPr id="18" name="bk object 18"/>
          <p:cNvSpPr/>
          <p:nvPr/>
        </p:nvSpPr>
        <p:spPr>
          <a:xfrm>
            <a:off x="3186950" y="2836551"/>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19" name="bk object 19"/>
          <p:cNvSpPr/>
          <p:nvPr/>
        </p:nvSpPr>
        <p:spPr>
          <a:xfrm>
            <a:off x="3186950" y="2781966"/>
            <a:ext cx="779145" cy="0"/>
          </a:xfrm>
          <a:custGeom>
            <a:avLst/>
            <a:gdLst/>
            <a:ahLst/>
            <a:cxnLst/>
            <a:rect l="l" t="t" r="r" b="b"/>
            <a:pathLst>
              <a:path w="779145">
                <a:moveTo>
                  <a:pt x="0" y="0"/>
                </a:moveTo>
                <a:lnTo>
                  <a:pt x="778573" y="0"/>
                </a:lnTo>
              </a:path>
            </a:pathLst>
          </a:custGeom>
          <a:ln w="36258">
            <a:solidFill>
              <a:srgbClr val="D322F2"/>
            </a:solidFill>
          </a:ln>
        </p:spPr>
        <p:txBody>
          <a:bodyPr wrap="square" lIns="0" tIns="0" rIns="0" bIns="0" rtlCol="0"/>
          <a:lstStyle/>
          <a:p>
            <a:endParaRPr dirty="0"/>
          </a:p>
        </p:txBody>
      </p:sp>
      <p:sp>
        <p:nvSpPr>
          <p:cNvPr id="2" name="Holder 2"/>
          <p:cNvSpPr>
            <a:spLocks noGrp="1"/>
          </p:cNvSpPr>
          <p:nvPr>
            <p:ph type="ctrTitle"/>
          </p:nvPr>
        </p:nvSpPr>
        <p:spPr>
          <a:xfrm>
            <a:off x="3174246" y="2190333"/>
            <a:ext cx="2415540" cy="354964"/>
          </a:xfrm>
          <a:prstGeom prst="rect">
            <a:avLst/>
          </a:prstGeom>
        </p:spPr>
        <p:txBody>
          <a:bodyPr wrap="square" lIns="0" tIns="0" rIns="0" bIns="0">
            <a:spAutoFit/>
          </a:bodyPr>
          <a:lstStyle>
            <a:lvl1pPr>
              <a:defRPr sz="2150" b="1" i="0">
                <a:solidFill>
                  <a:srgbClr val="231F20"/>
                </a:solidFill>
                <a:latin typeface="Arial"/>
                <a:cs typeface="Arial"/>
              </a:defRPr>
            </a:lvl1pPr>
          </a:lstStyle>
          <a:p>
            <a:endParaRPr/>
          </a:p>
        </p:txBody>
      </p:sp>
      <p:sp>
        <p:nvSpPr>
          <p:cNvPr id="3" name="Holder 3"/>
          <p:cNvSpPr>
            <a:spLocks noGrp="1"/>
          </p:cNvSpPr>
          <p:nvPr>
            <p:ph type="subTitle" idx="4"/>
          </p:nvPr>
        </p:nvSpPr>
        <p:spPr>
          <a:xfrm>
            <a:off x="1371600" y="3328416"/>
            <a:ext cx="6400800" cy="14859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3/6/2026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p:txBody>
          <a:bodyPr lIns="0" tIns="0" rIns="0" bIns="0"/>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3/6/2026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sz="half" idx="2"/>
          </p:nvPr>
        </p:nvSpPr>
        <p:spPr>
          <a:xfrm>
            <a:off x="457200" y="1367028"/>
            <a:ext cx="3977640" cy="39227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367028"/>
            <a:ext cx="3977640" cy="39227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3/6/2026</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Lucida Sans"/>
                <a:cs typeface="Lucida San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3/6/2026</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3/6/2026</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75300" y="830562"/>
            <a:ext cx="2907665" cy="995044"/>
          </a:xfrm>
          <a:prstGeom prst="rect">
            <a:avLst/>
          </a:prstGeom>
        </p:spPr>
        <p:txBody>
          <a:bodyPr wrap="square" lIns="0" tIns="0" rIns="0" bIns="0">
            <a:spAutoFit/>
          </a:bodyPr>
          <a:lstStyle>
            <a:lvl1pPr>
              <a:defRPr sz="3200" b="1" i="0">
                <a:solidFill>
                  <a:schemeClr val="tx1"/>
                </a:solidFill>
                <a:latin typeface="Lucida Sans"/>
                <a:cs typeface="Lucida Sans"/>
              </a:defRPr>
            </a:lvl1pPr>
          </a:lstStyle>
          <a:p>
            <a:endParaRPr/>
          </a:p>
        </p:txBody>
      </p:sp>
      <p:sp>
        <p:nvSpPr>
          <p:cNvPr id="3" name="Holder 3"/>
          <p:cNvSpPr>
            <a:spLocks noGrp="1"/>
          </p:cNvSpPr>
          <p:nvPr>
            <p:ph type="body" idx="1"/>
          </p:nvPr>
        </p:nvSpPr>
        <p:spPr>
          <a:xfrm>
            <a:off x="1217940" y="1414945"/>
            <a:ext cx="6708119" cy="1580514"/>
          </a:xfrm>
          <a:prstGeom prst="rect">
            <a:avLst/>
          </a:prstGeom>
        </p:spPr>
        <p:txBody>
          <a:bodyPr wrap="square" lIns="0" tIns="0" rIns="0" bIns="0">
            <a:spAutoFit/>
          </a:bodyPr>
          <a:lstStyle>
            <a:lvl1pPr>
              <a:defRPr sz="1300" b="1" i="0">
                <a:solidFill>
                  <a:schemeClr val="tx1"/>
                </a:solidFill>
                <a:latin typeface="Lucida Sans"/>
                <a:cs typeface="Lucida Sans"/>
              </a:defRPr>
            </a:lvl1pPr>
          </a:lstStyle>
          <a:p>
            <a:endParaRPr/>
          </a:p>
        </p:txBody>
      </p:sp>
      <p:sp>
        <p:nvSpPr>
          <p:cNvPr id="4" name="Holder 4"/>
          <p:cNvSpPr>
            <a:spLocks noGrp="1"/>
          </p:cNvSpPr>
          <p:nvPr>
            <p:ph type="ftr" sz="quarter" idx="5"/>
          </p:nvPr>
        </p:nvSpPr>
        <p:spPr>
          <a:xfrm>
            <a:off x="3108960" y="5527548"/>
            <a:ext cx="2926080" cy="29718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457200" y="5527548"/>
            <a:ext cx="2103120" cy="2971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3/6/2026</a:t>
            </a:fld>
            <a:endParaRPr lang="en-US" dirty="0"/>
          </a:p>
        </p:txBody>
      </p:sp>
      <p:sp>
        <p:nvSpPr>
          <p:cNvPr id="6" name="Holder 6"/>
          <p:cNvSpPr>
            <a:spLocks noGrp="1"/>
          </p:cNvSpPr>
          <p:nvPr>
            <p:ph type="sldNum" sz="quarter" idx="7"/>
          </p:nvPr>
        </p:nvSpPr>
        <p:spPr>
          <a:xfrm>
            <a:off x="6583680" y="5527548"/>
            <a:ext cx="2103120" cy="2971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2.xml"/><Relationship Id="rId2" Type="http://schemas.openxmlformats.org/officeDocument/2006/relationships/diagramData" Target="../diagrams/data22.xml"/><Relationship Id="rId1" Type="http://schemas.openxmlformats.org/officeDocument/2006/relationships/slideLayout" Target="../slideLayouts/slideLayout2.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3.xml"/><Relationship Id="rId2" Type="http://schemas.openxmlformats.org/officeDocument/2006/relationships/diagramData" Target="../diagrams/data23.xml"/><Relationship Id="rId1" Type="http://schemas.openxmlformats.org/officeDocument/2006/relationships/slideLayout" Target="../slideLayouts/slideLayout2.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2.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5.xml"/><Relationship Id="rId2" Type="http://schemas.openxmlformats.org/officeDocument/2006/relationships/diagramData" Target="../diagrams/data25.xml"/><Relationship Id="rId1" Type="http://schemas.openxmlformats.org/officeDocument/2006/relationships/slideLayout" Target="../slideLayouts/slideLayout2.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2.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2.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8.xml"/><Relationship Id="rId2" Type="http://schemas.openxmlformats.org/officeDocument/2006/relationships/diagramData" Target="../diagrams/data28.xml"/><Relationship Id="rId1" Type="http://schemas.openxmlformats.org/officeDocument/2006/relationships/slideLayout" Target="../slideLayouts/slideLayout2.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Layout" Target="../diagrams/layout29.xml"/><Relationship Id="rId7" Type="http://schemas.openxmlformats.org/officeDocument/2006/relationships/image" Target="../media/image2.png"/><Relationship Id="rId2" Type="http://schemas.openxmlformats.org/officeDocument/2006/relationships/diagramData" Target="../diagrams/data29.xml"/><Relationship Id="rId1" Type="http://schemas.openxmlformats.org/officeDocument/2006/relationships/slideLayout" Target="../slideLayouts/slideLayout2.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30.xml"/><Relationship Id="rId2" Type="http://schemas.openxmlformats.org/officeDocument/2006/relationships/diagramData" Target="../diagrams/data30.xml"/><Relationship Id="rId1" Type="http://schemas.openxmlformats.org/officeDocument/2006/relationships/slideLayout" Target="../slideLayouts/slideLayout2.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Layout" Target="../diagrams/layout31.xml"/><Relationship Id="rId7" Type="http://schemas.openxmlformats.org/officeDocument/2006/relationships/image" Target="../media/image4.png"/><Relationship Id="rId2" Type="http://schemas.openxmlformats.org/officeDocument/2006/relationships/diagramData" Target="../diagrams/data31.xml"/><Relationship Id="rId1" Type="http://schemas.openxmlformats.org/officeDocument/2006/relationships/slideLayout" Target="../slideLayouts/slideLayout2.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2.xml"/><Relationship Id="rId7" Type="http://schemas.openxmlformats.org/officeDocument/2006/relationships/image" Target="../media/image6.png"/><Relationship Id="rId2" Type="http://schemas.openxmlformats.org/officeDocument/2006/relationships/diagramData" Target="../diagrams/data32.xml"/><Relationship Id="rId1" Type="http://schemas.openxmlformats.org/officeDocument/2006/relationships/slideLayout" Target="../slideLayouts/slideLayout2.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Layout" Target="../diagrams/layout33.xml"/><Relationship Id="rId7" Type="http://schemas.openxmlformats.org/officeDocument/2006/relationships/image" Target="../media/image7.png"/><Relationship Id="rId2" Type="http://schemas.openxmlformats.org/officeDocument/2006/relationships/diagramData" Target="../diagrams/data33.xml"/><Relationship Id="rId1" Type="http://schemas.openxmlformats.org/officeDocument/2006/relationships/slideLayout" Target="../slideLayouts/slideLayout2.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 Id="rId9" Type="http://schemas.openxmlformats.org/officeDocument/2006/relationships/image" Target="../media/image9.png"/></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2.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5.xml"/><Relationship Id="rId2" Type="http://schemas.openxmlformats.org/officeDocument/2006/relationships/diagramData" Target="../diagrams/data35.xml"/><Relationship Id="rId1" Type="http://schemas.openxmlformats.org/officeDocument/2006/relationships/slideLayout" Target="../slideLayouts/slideLayout2.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36.xml"/><Relationship Id="rId7" Type="http://schemas.openxmlformats.org/officeDocument/2006/relationships/image" Target="../media/image10.jpeg"/><Relationship Id="rId2" Type="http://schemas.openxmlformats.org/officeDocument/2006/relationships/diagramData" Target="../diagrams/data36.xml"/><Relationship Id="rId1" Type="http://schemas.openxmlformats.org/officeDocument/2006/relationships/slideLayout" Target="../slideLayouts/slideLayout2.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37.xml"/><Relationship Id="rId7" Type="http://schemas.microsoft.com/office/2007/relationships/diagramDrawing" Target="../diagrams/drawing37.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diagramColors" Target="../diagrams/colors37.xml"/><Relationship Id="rId5" Type="http://schemas.openxmlformats.org/officeDocument/2006/relationships/diagramQuickStyle" Target="../diagrams/quickStyle37.xml"/><Relationship Id="rId4" Type="http://schemas.openxmlformats.org/officeDocument/2006/relationships/diagramLayout" Target="../diagrams/layout37.xml"/></Relationships>
</file>

<file path=ppt/slides/_rels/slide38.xml.rels><?xml version="1.0" encoding="UTF-8" standalone="yes"?>
<Relationships xmlns="http://schemas.openxmlformats.org/package/2006/relationships"><Relationship Id="rId8" Type="http://schemas.openxmlformats.org/officeDocument/2006/relationships/diagramQuickStyle" Target="../diagrams/quickStyle38.xml"/><Relationship Id="rId3" Type="http://schemas.openxmlformats.org/officeDocument/2006/relationships/hyperlink" Target="https://www.educative.io/courses/grokking-the-system-design-interview/introduction-to-domain-name-system-dns" TargetMode="External"/><Relationship Id="rId7" Type="http://schemas.openxmlformats.org/officeDocument/2006/relationships/diagramLayout" Target="../diagrams/layout38.xml"/><Relationship Id="rId2" Type="http://schemas.openxmlformats.org/officeDocument/2006/relationships/hyperlink" Target="https://stackoverflow.com/questions/6527229/how-do-i-change-the-hosts-file-in-a-windows-program" TargetMode="External"/><Relationship Id="rId1" Type="http://schemas.openxmlformats.org/officeDocument/2006/relationships/slideLayout" Target="../slideLayouts/slideLayout2.xml"/><Relationship Id="rId6" Type="http://schemas.openxmlformats.org/officeDocument/2006/relationships/diagramData" Target="../diagrams/data38.xml"/><Relationship Id="rId5" Type="http://schemas.openxmlformats.org/officeDocument/2006/relationships/hyperlink" Target="https://www.linkedin.com/posts/imashishmishra_dns-nameservers-howinternetworks-activity-7206120472265060354-sT-H/" TargetMode="External"/><Relationship Id="rId10" Type="http://schemas.microsoft.com/office/2007/relationships/diagramDrawing" Target="../diagrams/drawing38.xml"/><Relationship Id="rId4" Type="http://schemas.openxmlformats.org/officeDocument/2006/relationships/hyperlink" Target="https://www.educative.io/courses/grokking-the-system-design-interview/how-the-domain-name-system-works" TargetMode="External"/><Relationship Id="rId9" Type="http://schemas.openxmlformats.org/officeDocument/2006/relationships/diagramColors" Target="../diagrams/colors38.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39.xml"/><Relationship Id="rId7" Type="http://schemas.openxmlformats.org/officeDocument/2006/relationships/image" Target="../media/image12.png"/><Relationship Id="rId2" Type="http://schemas.openxmlformats.org/officeDocument/2006/relationships/diagramData" Target="../diagrams/data39.xml"/><Relationship Id="rId1" Type="http://schemas.openxmlformats.org/officeDocument/2006/relationships/slideLayout" Target="../slideLayouts/slideLayout2.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4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diagramLayout" Target="../diagrams/layout40.xml"/><Relationship Id="rId7" Type="http://schemas.openxmlformats.org/officeDocument/2006/relationships/image" Target="../media/image13.png"/><Relationship Id="rId2" Type="http://schemas.openxmlformats.org/officeDocument/2006/relationships/diagramData" Target="../diagrams/data40.xml"/><Relationship Id="rId1" Type="http://schemas.openxmlformats.org/officeDocument/2006/relationships/slideLayout" Target="../slideLayouts/slideLayout2.xml"/><Relationship Id="rId6" Type="http://schemas.microsoft.com/office/2007/relationships/diagramDrawing" Target="../diagrams/drawing40.xml"/><Relationship Id="rId5" Type="http://schemas.openxmlformats.org/officeDocument/2006/relationships/diagramColors" Target="../diagrams/colors40.xml"/><Relationship Id="rId4" Type="http://schemas.openxmlformats.org/officeDocument/2006/relationships/diagramQuickStyle" Target="../diagrams/quickStyle40.xml"/><Relationship Id="rId9" Type="http://schemas.openxmlformats.org/officeDocument/2006/relationships/image" Target="../media/image15.png"/></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41.xml"/><Relationship Id="rId2" Type="http://schemas.openxmlformats.org/officeDocument/2006/relationships/diagramData" Target="../diagrams/data41.xml"/><Relationship Id="rId1" Type="http://schemas.openxmlformats.org/officeDocument/2006/relationships/slideLayout" Target="../slideLayouts/slideLayout2.xml"/><Relationship Id="rId6" Type="http://schemas.microsoft.com/office/2007/relationships/diagramDrawing" Target="../diagrams/drawing41.xml"/><Relationship Id="rId5" Type="http://schemas.openxmlformats.org/officeDocument/2006/relationships/diagramColors" Target="../diagrams/colors41.xml"/><Relationship Id="rId4" Type="http://schemas.openxmlformats.org/officeDocument/2006/relationships/diagramQuickStyle" Target="../diagrams/quickStyle41.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42.xml"/><Relationship Id="rId2" Type="http://schemas.openxmlformats.org/officeDocument/2006/relationships/diagramData" Target="../diagrams/data42.xml"/><Relationship Id="rId1" Type="http://schemas.openxmlformats.org/officeDocument/2006/relationships/slideLayout" Target="../slideLayouts/slideLayout2.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43.xml"/><Relationship Id="rId2" Type="http://schemas.openxmlformats.org/officeDocument/2006/relationships/diagramData" Target="../diagrams/data43.xml"/><Relationship Id="rId1" Type="http://schemas.openxmlformats.org/officeDocument/2006/relationships/slideLayout" Target="../slideLayouts/slideLayout2.xml"/><Relationship Id="rId6" Type="http://schemas.microsoft.com/office/2007/relationships/diagramDrawing" Target="../diagrams/drawing43.xml"/><Relationship Id="rId5" Type="http://schemas.openxmlformats.org/officeDocument/2006/relationships/diagramColors" Target="../diagrams/colors43.xml"/><Relationship Id="rId4" Type="http://schemas.openxmlformats.org/officeDocument/2006/relationships/diagramQuickStyle" Target="../diagrams/quickStyle43.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44.xml"/><Relationship Id="rId2" Type="http://schemas.openxmlformats.org/officeDocument/2006/relationships/diagramData" Target="../diagrams/data44.xml"/><Relationship Id="rId1" Type="http://schemas.openxmlformats.org/officeDocument/2006/relationships/slideLayout" Target="../slideLayouts/slideLayout2.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45.xml"/><Relationship Id="rId2" Type="http://schemas.openxmlformats.org/officeDocument/2006/relationships/diagramData" Target="../diagrams/data45.xml"/><Relationship Id="rId1" Type="http://schemas.openxmlformats.org/officeDocument/2006/relationships/slideLayout" Target="../slideLayouts/slideLayout2.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46.xml"/><Relationship Id="rId2" Type="http://schemas.openxmlformats.org/officeDocument/2006/relationships/diagramData" Target="../diagrams/data46.xml"/><Relationship Id="rId1" Type="http://schemas.openxmlformats.org/officeDocument/2006/relationships/slideLayout" Target="../slideLayouts/slideLayout2.xml"/><Relationship Id="rId6" Type="http://schemas.microsoft.com/office/2007/relationships/diagramDrawing" Target="../diagrams/drawing46.xml"/><Relationship Id="rId5" Type="http://schemas.openxmlformats.org/officeDocument/2006/relationships/diagramColors" Target="../diagrams/colors46.xml"/><Relationship Id="rId4" Type="http://schemas.openxmlformats.org/officeDocument/2006/relationships/diagramQuickStyle" Target="../diagrams/quickStyle46.xml"/></Relationships>
</file>

<file path=ppt/slides/_rels/slide47.xml.rels><?xml version="1.0" encoding="UTF-8" standalone="yes"?>
<Relationships xmlns="http://schemas.openxmlformats.org/package/2006/relationships"><Relationship Id="rId3" Type="http://schemas.openxmlformats.org/officeDocument/2006/relationships/diagramLayout" Target="../diagrams/layout47.xml"/><Relationship Id="rId2" Type="http://schemas.openxmlformats.org/officeDocument/2006/relationships/diagramData" Target="../diagrams/data47.xml"/><Relationship Id="rId1" Type="http://schemas.openxmlformats.org/officeDocument/2006/relationships/slideLayout" Target="../slideLayouts/slideLayout2.xml"/><Relationship Id="rId6" Type="http://schemas.microsoft.com/office/2007/relationships/diagramDrawing" Target="../diagrams/drawing47.xml"/><Relationship Id="rId5" Type="http://schemas.openxmlformats.org/officeDocument/2006/relationships/diagramColors" Target="../diagrams/colors47.xml"/><Relationship Id="rId4" Type="http://schemas.openxmlformats.org/officeDocument/2006/relationships/diagramQuickStyle" Target="../diagrams/quickStyle47.xml"/></Relationships>
</file>

<file path=ppt/slides/_rels/slide48.xml.rels><?xml version="1.0" encoding="UTF-8" standalone="yes"?>
<Relationships xmlns="http://schemas.openxmlformats.org/package/2006/relationships"><Relationship Id="rId3" Type="http://schemas.openxmlformats.org/officeDocument/2006/relationships/diagramLayout" Target="../diagrams/layout48.xml"/><Relationship Id="rId2" Type="http://schemas.openxmlformats.org/officeDocument/2006/relationships/diagramData" Target="../diagrams/data48.xml"/><Relationship Id="rId1" Type="http://schemas.openxmlformats.org/officeDocument/2006/relationships/slideLayout" Target="../slideLayouts/slideLayout2.xml"/><Relationship Id="rId6" Type="http://schemas.microsoft.com/office/2007/relationships/diagramDrawing" Target="../diagrams/drawing48.xml"/><Relationship Id="rId5" Type="http://schemas.openxmlformats.org/officeDocument/2006/relationships/diagramColors" Target="../diagrams/colors48.xml"/><Relationship Id="rId4" Type="http://schemas.openxmlformats.org/officeDocument/2006/relationships/diagramQuickStyle" Target="../diagrams/quickStyle48.xml"/></Relationships>
</file>

<file path=ppt/slides/_rels/slide49.xml.rels><?xml version="1.0" encoding="UTF-8" standalone="yes"?>
<Relationships xmlns="http://schemas.openxmlformats.org/package/2006/relationships"><Relationship Id="rId3" Type="http://schemas.openxmlformats.org/officeDocument/2006/relationships/diagramLayout" Target="../diagrams/layout49.xml"/><Relationship Id="rId2" Type="http://schemas.openxmlformats.org/officeDocument/2006/relationships/diagramData" Target="../diagrams/data49.xml"/><Relationship Id="rId1" Type="http://schemas.openxmlformats.org/officeDocument/2006/relationships/slideLayout" Target="../slideLayouts/slideLayout2.xml"/><Relationship Id="rId6" Type="http://schemas.microsoft.com/office/2007/relationships/diagramDrawing" Target="../diagrams/drawing49.xml"/><Relationship Id="rId5" Type="http://schemas.openxmlformats.org/officeDocument/2006/relationships/diagramColors" Target="../diagrams/colors49.xml"/><Relationship Id="rId4" Type="http://schemas.openxmlformats.org/officeDocument/2006/relationships/diagramQuickStyle" Target="../diagrams/quickStyle49.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50.xml"/><Relationship Id="rId2" Type="http://schemas.openxmlformats.org/officeDocument/2006/relationships/diagramData" Target="../diagrams/data50.xml"/><Relationship Id="rId1" Type="http://schemas.openxmlformats.org/officeDocument/2006/relationships/slideLayout" Target="../slideLayouts/slideLayout2.xml"/><Relationship Id="rId6" Type="http://schemas.microsoft.com/office/2007/relationships/diagramDrawing" Target="../diagrams/drawing50.xml"/><Relationship Id="rId5" Type="http://schemas.openxmlformats.org/officeDocument/2006/relationships/diagramColors" Target="../diagrams/colors50.xml"/><Relationship Id="rId4" Type="http://schemas.openxmlformats.org/officeDocument/2006/relationships/diagramQuickStyle" Target="../diagrams/quickStyle50.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51.xml"/><Relationship Id="rId2" Type="http://schemas.openxmlformats.org/officeDocument/2006/relationships/diagramData" Target="../diagrams/data51.xml"/><Relationship Id="rId1" Type="http://schemas.openxmlformats.org/officeDocument/2006/relationships/slideLayout" Target="../slideLayouts/slideLayout2.xml"/><Relationship Id="rId6" Type="http://schemas.microsoft.com/office/2007/relationships/diagramDrawing" Target="../diagrams/drawing51.xml"/><Relationship Id="rId5" Type="http://schemas.openxmlformats.org/officeDocument/2006/relationships/diagramColors" Target="../diagrams/colors51.xml"/><Relationship Id="rId4" Type="http://schemas.openxmlformats.org/officeDocument/2006/relationships/diagramQuickStyle" Target="../diagrams/quickStyle51.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52.xml"/><Relationship Id="rId2" Type="http://schemas.openxmlformats.org/officeDocument/2006/relationships/diagramData" Target="../diagrams/data52.xml"/><Relationship Id="rId1" Type="http://schemas.openxmlformats.org/officeDocument/2006/relationships/slideLayout" Target="../slideLayouts/slideLayout2.xml"/><Relationship Id="rId6" Type="http://schemas.microsoft.com/office/2007/relationships/diagramDrawing" Target="../diagrams/drawing52.xml"/><Relationship Id="rId5" Type="http://schemas.openxmlformats.org/officeDocument/2006/relationships/diagramColors" Target="../diagrams/colors52.xml"/><Relationship Id="rId4" Type="http://schemas.openxmlformats.org/officeDocument/2006/relationships/diagramQuickStyle" Target="../diagrams/quickStyle52.xml"/></Relationships>
</file>

<file path=ppt/slides/_rels/slide53.xml.rels><?xml version="1.0" encoding="UTF-8" standalone="yes"?>
<Relationships xmlns="http://schemas.openxmlformats.org/package/2006/relationships"><Relationship Id="rId3" Type="http://schemas.openxmlformats.org/officeDocument/2006/relationships/diagramLayout" Target="../diagrams/layout53.xml"/><Relationship Id="rId2" Type="http://schemas.openxmlformats.org/officeDocument/2006/relationships/diagramData" Target="../diagrams/data53.xml"/><Relationship Id="rId1" Type="http://schemas.openxmlformats.org/officeDocument/2006/relationships/slideLayout" Target="../slideLayouts/slideLayout2.xml"/><Relationship Id="rId6" Type="http://schemas.microsoft.com/office/2007/relationships/diagramDrawing" Target="../diagrams/drawing53.xml"/><Relationship Id="rId5" Type="http://schemas.openxmlformats.org/officeDocument/2006/relationships/diagramColors" Target="../diagrams/colors53.xml"/><Relationship Id="rId4" Type="http://schemas.openxmlformats.org/officeDocument/2006/relationships/diagramQuickStyle" Target="../diagrams/quickStyle53.xml"/></Relationships>
</file>

<file path=ppt/slides/_rels/slide54.xml.rels><?xml version="1.0" encoding="UTF-8" standalone="yes"?>
<Relationships xmlns="http://schemas.openxmlformats.org/package/2006/relationships"><Relationship Id="rId3" Type="http://schemas.openxmlformats.org/officeDocument/2006/relationships/diagramLayout" Target="../diagrams/layout54.xml"/><Relationship Id="rId2" Type="http://schemas.openxmlformats.org/officeDocument/2006/relationships/diagramData" Target="../diagrams/data54.xml"/><Relationship Id="rId1" Type="http://schemas.openxmlformats.org/officeDocument/2006/relationships/slideLayout" Target="../slideLayouts/slideLayout2.xml"/><Relationship Id="rId6" Type="http://schemas.microsoft.com/office/2007/relationships/diagramDrawing" Target="../diagrams/drawing54.xml"/><Relationship Id="rId5" Type="http://schemas.openxmlformats.org/officeDocument/2006/relationships/diagramColors" Target="../diagrams/colors54.xml"/><Relationship Id="rId4" Type="http://schemas.openxmlformats.org/officeDocument/2006/relationships/diagramQuickStyle" Target="../diagrams/quickStyle54.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55.xml"/><Relationship Id="rId2" Type="http://schemas.openxmlformats.org/officeDocument/2006/relationships/diagramData" Target="../diagrams/data55.xml"/><Relationship Id="rId1" Type="http://schemas.openxmlformats.org/officeDocument/2006/relationships/slideLayout" Target="../slideLayouts/slideLayout2.xml"/><Relationship Id="rId6" Type="http://schemas.microsoft.com/office/2007/relationships/diagramDrawing" Target="../diagrams/drawing55.xml"/><Relationship Id="rId5" Type="http://schemas.openxmlformats.org/officeDocument/2006/relationships/diagramColors" Target="../diagrams/colors55.xml"/><Relationship Id="rId4" Type="http://schemas.openxmlformats.org/officeDocument/2006/relationships/diagramQuickStyle" Target="../diagrams/quickStyle55.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56.xml"/><Relationship Id="rId2" Type="http://schemas.openxmlformats.org/officeDocument/2006/relationships/diagramData" Target="../diagrams/data56.xml"/><Relationship Id="rId1" Type="http://schemas.openxmlformats.org/officeDocument/2006/relationships/slideLayout" Target="../slideLayouts/slideLayout2.xml"/><Relationship Id="rId6" Type="http://schemas.microsoft.com/office/2007/relationships/diagramDrawing" Target="../diagrams/drawing56.xml"/><Relationship Id="rId5" Type="http://schemas.openxmlformats.org/officeDocument/2006/relationships/diagramColors" Target="../diagrams/colors56.xml"/><Relationship Id="rId4" Type="http://schemas.openxmlformats.org/officeDocument/2006/relationships/diagramQuickStyle" Target="../diagrams/quickStyle56.xml"/></Relationships>
</file>

<file path=ppt/slides/_rels/slide57.xml.rels><?xml version="1.0" encoding="UTF-8" standalone="yes"?>
<Relationships xmlns="http://schemas.openxmlformats.org/package/2006/relationships"><Relationship Id="rId3" Type="http://schemas.openxmlformats.org/officeDocument/2006/relationships/diagramLayout" Target="../diagrams/layout57.xml"/><Relationship Id="rId2" Type="http://schemas.openxmlformats.org/officeDocument/2006/relationships/diagramData" Target="../diagrams/data57.xml"/><Relationship Id="rId1" Type="http://schemas.openxmlformats.org/officeDocument/2006/relationships/slideLayout" Target="../slideLayouts/slideLayout2.xml"/><Relationship Id="rId6" Type="http://schemas.microsoft.com/office/2007/relationships/diagramDrawing" Target="../diagrams/drawing57.xml"/><Relationship Id="rId5" Type="http://schemas.openxmlformats.org/officeDocument/2006/relationships/diagramColors" Target="../diagrams/colors57.xml"/><Relationship Id="rId4" Type="http://schemas.openxmlformats.org/officeDocument/2006/relationships/diagramQuickStyle" Target="../diagrams/quickStyle57.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58.xml"/><Relationship Id="rId2" Type="http://schemas.openxmlformats.org/officeDocument/2006/relationships/diagramData" Target="../diagrams/data58.xml"/><Relationship Id="rId1" Type="http://schemas.openxmlformats.org/officeDocument/2006/relationships/slideLayout" Target="../slideLayouts/slideLayout2.xml"/><Relationship Id="rId6" Type="http://schemas.microsoft.com/office/2007/relationships/diagramDrawing" Target="../diagrams/drawing58.xml"/><Relationship Id="rId5" Type="http://schemas.openxmlformats.org/officeDocument/2006/relationships/diagramColors" Target="../diagrams/colors58.xml"/><Relationship Id="rId4" Type="http://schemas.openxmlformats.org/officeDocument/2006/relationships/diagramQuickStyle" Target="../diagrams/quickStyle58.xml"/></Relationships>
</file>

<file path=ppt/slides/_rels/slide59.xml.rels><?xml version="1.0" encoding="UTF-8" standalone="yes"?>
<Relationships xmlns="http://schemas.openxmlformats.org/package/2006/relationships"><Relationship Id="rId3" Type="http://schemas.openxmlformats.org/officeDocument/2006/relationships/diagramLayout" Target="../diagrams/layout59.xml"/><Relationship Id="rId2" Type="http://schemas.openxmlformats.org/officeDocument/2006/relationships/diagramData" Target="../diagrams/data59.xml"/><Relationship Id="rId1" Type="http://schemas.openxmlformats.org/officeDocument/2006/relationships/slideLayout" Target="../slideLayouts/slideLayout2.xml"/><Relationship Id="rId6" Type="http://schemas.microsoft.com/office/2007/relationships/diagramDrawing" Target="../diagrams/drawing59.xml"/><Relationship Id="rId5" Type="http://schemas.openxmlformats.org/officeDocument/2006/relationships/diagramColors" Target="../diagrams/colors59.xml"/><Relationship Id="rId4" Type="http://schemas.openxmlformats.org/officeDocument/2006/relationships/diagramQuickStyle" Target="../diagrams/quickStyle59.xml"/></Relationships>
</file>

<file path=ppt/slides/_rels/slide60.xml.rels><?xml version="1.0" encoding="UTF-8" standalone="yes"?>
<Relationships xmlns="http://schemas.openxmlformats.org/package/2006/relationships"><Relationship Id="rId3" Type="http://schemas.openxmlformats.org/officeDocument/2006/relationships/diagramLayout" Target="../diagrams/layout60.xml"/><Relationship Id="rId2" Type="http://schemas.openxmlformats.org/officeDocument/2006/relationships/diagramData" Target="../diagrams/data60.xml"/><Relationship Id="rId1" Type="http://schemas.openxmlformats.org/officeDocument/2006/relationships/slideLayout" Target="../slideLayouts/slideLayout2.xml"/><Relationship Id="rId6" Type="http://schemas.microsoft.com/office/2007/relationships/diagramDrawing" Target="../diagrams/drawing60.xml"/><Relationship Id="rId5" Type="http://schemas.openxmlformats.org/officeDocument/2006/relationships/diagramColors" Target="../diagrams/colors60.xml"/><Relationship Id="rId4" Type="http://schemas.openxmlformats.org/officeDocument/2006/relationships/diagramQuickStyle" Target="../diagrams/quickStyle60.xml"/></Relationships>
</file>

<file path=ppt/slides/_rels/slide61.xml.rels><?xml version="1.0" encoding="UTF-8" standalone="yes"?>
<Relationships xmlns="http://schemas.openxmlformats.org/package/2006/relationships"><Relationship Id="rId3" Type="http://schemas.openxmlformats.org/officeDocument/2006/relationships/diagramLayout" Target="../diagrams/layout61.xml"/><Relationship Id="rId2" Type="http://schemas.openxmlformats.org/officeDocument/2006/relationships/diagramData" Target="../diagrams/data61.xml"/><Relationship Id="rId1" Type="http://schemas.openxmlformats.org/officeDocument/2006/relationships/slideLayout" Target="../slideLayouts/slideLayout2.xml"/><Relationship Id="rId6" Type="http://schemas.microsoft.com/office/2007/relationships/diagramDrawing" Target="../diagrams/drawing61.xml"/><Relationship Id="rId5" Type="http://schemas.openxmlformats.org/officeDocument/2006/relationships/diagramColors" Target="../diagrams/colors61.xml"/><Relationship Id="rId4" Type="http://schemas.openxmlformats.org/officeDocument/2006/relationships/diagramQuickStyle" Target="../diagrams/quickStyle61.xml"/></Relationships>
</file>

<file path=ppt/slides/_rels/slide62.xml.rels><?xml version="1.0" encoding="UTF-8" standalone="yes"?>
<Relationships xmlns="http://schemas.openxmlformats.org/package/2006/relationships"><Relationship Id="rId3" Type="http://schemas.openxmlformats.org/officeDocument/2006/relationships/diagramLayout" Target="../diagrams/layout62.xml"/><Relationship Id="rId2" Type="http://schemas.openxmlformats.org/officeDocument/2006/relationships/diagramData" Target="../diagrams/data62.xml"/><Relationship Id="rId1" Type="http://schemas.openxmlformats.org/officeDocument/2006/relationships/slideLayout" Target="../slideLayouts/slideLayout2.xml"/><Relationship Id="rId6" Type="http://schemas.microsoft.com/office/2007/relationships/diagramDrawing" Target="../diagrams/drawing62.xml"/><Relationship Id="rId5" Type="http://schemas.openxmlformats.org/officeDocument/2006/relationships/diagramColors" Target="../diagrams/colors62.xml"/><Relationship Id="rId4" Type="http://schemas.openxmlformats.org/officeDocument/2006/relationships/diagramQuickStyle" Target="../diagrams/quickStyle62.xml"/></Relationships>
</file>

<file path=ppt/slides/_rels/slide63.xml.rels><?xml version="1.0" encoding="UTF-8" standalone="yes"?>
<Relationships xmlns="http://schemas.openxmlformats.org/package/2006/relationships"><Relationship Id="rId3" Type="http://schemas.openxmlformats.org/officeDocument/2006/relationships/diagramLayout" Target="../diagrams/layout63.xml"/><Relationship Id="rId2" Type="http://schemas.openxmlformats.org/officeDocument/2006/relationships/diagramData" Target="../diagrams/data63.xml"/><Relationship Id="rId1" Type="http://schemas.openxmlformats.org/officeDocument/2006/relationships/slideLayout" Target="../slideLayouts/slideLayout2.xml"/><Relationship Id="rId6" Type="http://schemas.microsoft.com/office/2007/relationships/diagramDrawing" Target="../diagrams/drawing63.xml"/><Relationship Id="rId5" Type="http://schemas.openxmlformats.org/officeDocument/2006/relationships/diagramColors" Target="../diagrams/colors63.xml"/><Relationship Id="rId4" Type="http://schemas.openxmlformats.org/officeDocument/2006/relationships/diagramQuickStyle" Target="../diagrams/quickStyle63.xml"/></Relationships>
</file>

<file path=ppt/slides/_rels/slide64.xml.rels><?xml version="1.0" encoding="UTF-8" standalone="yes"?>
<Relationships xmlns="http://schemas.openxmlformats.org/package/2006/relationships"><Relationship Id="rId3" Type="http://schemas.openxmlformats.org/officeDocument/2006/relationships/diagramLayout" Target="../diagrams/layout64.xml"/><Relationship Id="rId7" Type="http://schemas.openxmlformats.org/officeDocument/2006/relationships/image" Target="../media/image16.png"/><Relationship Id="rId2" Type="http://schemas.openxmlformats.org/officeDocument/2006/relationships/diagramData" Target="../diagrams/data64.xml"/><Relationship Id="rId1" Type="http://schemas.openxmlformats.org/officeDocument/2006/relationships/slideLayout" Target="../slideLayouts/slideLayout2.xml"/><Relationship Id="rId6" Type="http://schemas.microsoft.com/office/2007/relationships/diagramDrawing" Target="../diagrams/drawing64.xml"/><Relationship Id="rId5" Type="http://schemas.openxmlformats.org/officeDocument/2006/relationships/diagramColors" Target="../diagrams/colors64.xml"/><Relationship Id="rId4" Type="http://schemas.openxmlformats.org/officeDocument/2006/relationships/diagramQuickStyle" Target="../diagrams/quickStyle64.xml"/></Relationships>
</file>

<file path=ppt/slides/_rels/slide65.xml.rels><?xml version="1.0" encoding="UTF-8" standalone="yes"?>
<Relationships xmlns="http://schemas.openxmlformats.org/package/2006/relationships"><Relationship Id="rId8" Type="http://schemas.openxmlformats.org/officeDocument/2006/relationships/hyperlink" Target="https://www.linkedin.com/posts/maheshma_systemdesign-engineering-productdevelopment-activity-7149225837093920768-PW4P/" TargetMode="External"/><Relationship Id="rId13" Type="http://schemas.openxmlformats.org/officeDocument/2006/relationships/hyperlink" Target="https://aeron.io/docs/distributed-systems-basics/total-ordering/" TargetMode="External"/><Relationship Id="rId18" Type="http://schemas.openxmlformats.org/officeDocument/2006/relationships/hyperlink" Target="https://www.bartoszsypytkowski.com/hybrid-logical-clocks/" TargetMode="External"/><Relationship Id="rId3" Type="http://schemas.openxmlformats.org/officeDocument/2006/relationships/diagramLayout" Target="../diagrams/layout65.xml"/><Relationship Id="rId7" Type="http://schemas.openxmlformats.org/officeDocument/2006/relationships/hyperlink" Target="https://levelup.gitconnected.com/distributed-systems-physical-logical-and-vector-clocks-7ca989f5f780" TargetMode="External"/><Relationship Id="rId12" Type="http://schemas.openxmlformats.org/officeDocument/2006/relationships/hyperlink" Target="https://www.geeksforgeeks.org/computer-networks/vector-clocks-in-distributed-systems/" TargetMode="External"/><Relationship Id="rId17" Type="http://schemas.openxmlformats.org/officeDocument/2006/relationships/hyperlink" Target="https://www.youtube.com/watch?v=yBqFL9vQdjo" TargetMode="External"/><Relationship Id="rId2" Type="http://schemas.openxmlformats.org/officeDocument/2006/relationships/diagramData" Target="../diagrams/data65.xml"/><Relationship Id="rId16" Type="http://schemas.openxmlformats.org/officeDocument/2006/relationships/hyperlink" Target="https://medium.com/@sa7vik/why-your-computer-cant-tell-time-and-how-atomic-clocks-are-quietly-saving-the-world-442d13d31cc3" TargetMode="External"/><Relationship Id="rId1" Type="http://schemas.openxmlformats.org/officeDocument/2006/relationships/slideLayout" Target="../slideLayouts/slideLayout2.xml"/><Relationship Id="rId6" Type="http://schemas.microsoft.com/office/2007/relationships/diagramDrawing" Target="../diagrams/drawing65.xml"/><Relationship Id="rId11" Type="http://schemas.openxmlformats.org/officeDocument/2006/relationships/hyperlink" Target="https://www.geeksforgeeks.org/dsa/lamports-logical-clock/" TargetMode="External"/><Relationship Id="rId5" Type="http://schemas.openxmlformats.org/officeDocument/2006/relationships/diagramColors" Target="../diagrams/colors65.xml"/><Relationship Id="rId15" Type="http://schemas.openxmlformats.org/officeDocument/2006/relationships/hyperlink" Target="https://stephenjayakar.substack.com/p/my-notes-on-googles-truetime" TargetMode="External"/><Relationship Id="rId10" Type="http://schemas.openxmlformats.org/officeDocument/2006/relationships/hyperlink" Target="https://medium.com/geekculture/all-things-clock-time-and-order-in-distributed-systems-logical-clocks-in-real-life-2-ad99aa64753" TargetMode="External"/><Relationship Id="rId19" Type="http://schemas.openxmlformats.org/officeDocument/2006/relationships/hyperlink" Target="https://sookocheff.com/post/time/hybrid-logical-clocks/" TargetMode="External"/><Relationship Id="rId4" Type="http://schemas.openxmlformats.org/officeDocument/2006/relationships/diagramQuickStyle" Target="../diagrams/quickStyle65.xml"/><Relationship Id="rId9" Type="http://schemas.openxmlformats.org/officeDocument/2006/relationships/hyperlink" Target="https://dev.to/javadinteger/distributed-systems-networking-time-order-and-coordination-beyond-simple-timestamps-74d" TargetMode="External"/><Relationship Id="rId14" Type="http://schemas.openxmlformats.org/officeDocument/2006/relationships/hyperlink" Target="https://sookocheff.com/post/time/truetime/" TargetMode="External"/></Relationships>
</file>

<file path=ppt/slides/_rels/slide66.xml.rels><?xml version="1.0" encoding="UTF-8" standalone="yes"?>
<Relationships xmlns="http://schemas.openxmlformats.org/package/2006/relationships"><Relationship Id="rId3" Type="http://schemas.openxmlformats.org/officeDocument/2006/relationships/diagramLayout" Target="../diagrams/layout66.xml"/><Relationship Id="rId7" Type="http://schemas.openxmlformats.org/officeDocument/2006/relationships/image" Target="../media/image17.png"/><Relationship Id="rId2" Type="http://schemas.openxmlformats.org/officeDocument/2006/relationships/diagramData" Target="../diagrams/data66.xml"/><Relationship Id="rId1" Type="http://schemas.openxmlformats.org/officeDocument/2006/relationships/slideLayout" Target="../slideLayouts/slideLayout2.xml"/><Relationship Id="rId6" Type="http://schemas.microsoft.com/office/2007/relationships/diagramDrawing" Target="../diagrams/drawing66.xml"/><Relationship Id="rId5" Type="http://schemas.openxmlformats.org/officeDocument/2006/relationships/diagramColors" Target="../diagrams/colors66.xml"/><Relationship Id="rId4" Type="http://schemas.openxmlformats.org/officeDocument/2006/relationships/diagramQuickStyle" Target="../diagrams/quickStyle66.xml"/></Relationships>
</file>

<file path=ppt/slides/_rels/slide67.xml.rels><?xml version="1.0" encoding="UTF-8" standalone="yes"?>
<Relationships xmlns="http://schemas.openxmlformats.org/package/2006/relationships"><Relationship Id="rId8" Type="http://schemas.openxmlformats.org/officeDocument/2006/relationships/hyperlink" Target="https://www.linkedin.com/posts/mwaseemzakir_15-steps-to-improve-ef-core-performance-activity-7059768639381475328-1YkS/?trk=public_profile_like_view" TargetMode="External"/><Relationship Id="rId3" Type="http://schemas.openxmlformats.org/officeDocument/2006/relationships/diagramLayout" Target="../diagrams/layout67.xml"/><Relationship Id="rId7" Type="http://schemas.openxmlformats.org/officeDocument/2006/relationships/hyperlink" Target="https://www.geeksforgeeks.org/sql/sql-performance-tuning/" TargetMode="External"/><Relationship Id="rId2" Type="http://schemas.openxmlformats.org/officeDocument/2006/relationships/diagramData" Target="../diagrams/data67.xml"/><Relationship Id="rId1" Type="http://schemas.openxmlformats.org/officeDocument/2006/relationships/slideLayout" Target="../slideLayouts/slideLayout2.xml"/><Relationship Id="rId6" Type="http://schemas.microsoft.com/office/2007/relationships/diagramDrawing" Target="../diagrams/drawing67.xml"/><Relationship Id="rId5" Type="http://schemas.openxmlformats.org/officeDocument/2006/relationships/diagramColors" Target="../diagrams/colors67.xml"/><Relationship Id="rId4" Type="http://schemas.openxmlformats.org/officeDocument/2006/relationships/diagramQuickStyle" Target="../diagrams/quickStyle67.xml"/><Relationship Id="rId9" Type="http://schemas.openxmlformats.org/officeDocument/2006/relationships/hyperlink" Target="https://stackoverflow.com/questions/1349850/c-sharp-what-are-some-high-performance-best-practices-tips-for-ado-net" TargetMode="External"/></Relationships>
</file>

<file path=ppt/slides/_rels/slide68.xml.rels><?xml version="1.0" encoding="UTF-8" standalone="yes"?>
<Relationships xmlns="http://schemas.openxmlformats.org/package/2006/relationships"><Relationship Id="rId8" Type="http://schemas.openxmlformats.org/officeDocument/2006/relationships/hyperlink" Target="https://www.geeksforgeeks.org/system-design/types-of-cache/" TargetMode="External"/><Relationship Id="rId13" Type="http://schemas.openxmlformats.org/officeDocument/2006/relationships/hyperlink" Target="https://css-tricks.com/strategies-for-cache-busting-css/" TargetMode="External"/><Relationship Id="rId3" Type="http://schemas.openxmlformats.org/officeDocument/2006/relationships/diagramLayout" Target="../diagrams/layout68.xml"/><Relationship Id="rId7" Type="http://schemas.openxmlformats.org/officeDocument/2006/relationships/hyperlink" Target="https://aws.amazon.com/elasticache/redis-vs-memcached/" TargetMode="External"/><Relationship Id="rId12" Type="http://schemas.openxmlformats.org/officeDocument/2006/relationships/hyperlink" Target="https://maxtsh.medium.com/the-ultimate-guide-to-cache-busting-for-react-production-applications-d583e4248f02" TargetMode="External"/><Relationship Id="rId2" Type="http://schemas.openxmlformats.org/officeDocument/2006/relationships/diagramData" Target="../diagrams/data68.xml"/><Relationship Id="rId16" Type="http://schemas.openxmlformats.org/officeDocument/2006/relationships/hyperlink" Target="https://stackoverflow.com/questions/5321876/which-one-to-use-expire-header-last-modified-header-or-etags" TargetMode="External"/><Relationship Id="rId1" Type="http://schemas.openxmlformats.org/officeDocument/2006/relationships/slideLayout" Target="../slideLayouts/slideLayout2.xml"/><Relationship Id="rId6" Type="http://schemas.microsoft.com/office/2007/relationships/diagramDrawing" Target="../diagrams/drawing68.xml"/><Relationship Id="rId11" Type="http://schemas.openxmlformats.org/officeDocument/2006/relationships/hyperlink" Target="https://medium.com/@siddontang/the-coordinated-omission-problem-in-the-benchmark-tools-5d9abef79279" TargetMode="External"/><Relationship Id="rId5" Type="http://schemas.openxmlformats.org/officeDocument/2006/relationships/diagramColors" Target="../diagrams/colors68.xml"/><Relationship Id="rId15" Type="http://schemas.openxmlformats.org/officeDocument/2006/relationships/hyperlink" Target="https://www.milanjovanovic.tech/blog/hybrid-cache-in-aspnetcore-new-caching-library" TargetMode="External"/><Relationship Id="rId10" Type="http://schemas.openxmlformats.org/officeDocument/2006/relationships/hyperlink" Target="https://en.wikipedia.org/wiki/Cache_replacement_policies" TargetMode="External"/><Relationship Id="rId4" Type="http://schemas.openxmlformats.org/officeDocument/2006/relationships/diagramQuickStyle" Target="../diagrams/quickStyle68.xml"/><Relationship Id="rId9" Type="http://schemas.openxmlformats.org/officeDocument/2006/relationships/hyperlink" Target="https://blog.bytebytego.com/p/top-caching-strategies" TargetMode="External"/><Relationship Id="rId14" Type="http://schemas.openxmlformats.org/officeDocument/2006/relationships/hyperlink" Target="https://medium.com/@Gotit.GotIT/optimizing-distributed-cache-for-read-heavy-vs-write-heavy-workloads-with-docker-e97d94fc5bc9" TargetMode="External"/></Relationships>
</file>

<file path=ppt/slides/_rels/slide69.xml.rels><?xml version="1.0" encoding="UTF-8" standalone="yes"?>
<Relationships xmlns="http://schemas.openxmlformats.org/package/2006/relationships"><Relationship Id="rId8" Type="http://schemas.openxmlformats.org/officeDocument/2006/relationships/hyperlink" Target="https://www.martinfowler.com/articles/data-fetch-spa.html" TargetMode="External"/><Relationship Id="rId3" Type="http://schemas.openxmlformats.org/officeDocument/2006/relationships/diagramLayout" Target="../diagrams/layout69.xml"/><Relationship Id="rId7" Type="http://schemas.openxmlformats.org/officeDocument/2006/relationships/hyperlink" Target="https://www.keycdn.com/blog/frontend-optimization" TargetMode="External"/><Relationship Id="rId12" Type="http://schemas.openxmlformats.org/officeDocument/2006/relationships/hyperlink" Target="https://learn.microsoft.com/en-us/azure/service-bus-messaging/service-bus-performance-improvements?tabs=net-standard-sdk-2" TargetMode="External"/><Relationship Id="rId2" Type="http://schemas.openxmlformats.org/officeDocument/2006/relationships/diagramData" Target="../diagrams/data69.xml"/><Relationship Id="rId1" Type="http://schemas.openxmlformats.org/officeDocument/2006/relationships/slideLayout" Target="../slideLayouts/slideLayout2.xml"/><Relationship Id="rId6" Type="http://schemas.microsoft.com/office/2007/relationships/diagramDrawing" Target="../diagrams/drawing69.xml"/><Relationship Id="rId11" Type="http://schemas.openxmlformats.org/officeDocument/2006/relationships/hyperlink" Target="https://github.com/PacktPublishing/ASP.NET-Core-1.0-High-Performance" TargetMode="External"/><Relationship Id="rId5" Type="http://schemas.openxmlformats.org/officeDocument/2006/relationships/diagramColors" Target="../diagrams/colors69.xml"/><Relationship Id="rId10" Type="http://schemas.openxmlformats.org/officeDocument/2006/relationships/hyperlink" Target="https://www.linkedin.com/posts/maheshma_performanceengineering-testing-softwareengineering-activity-7203946221932093440-7jWO/" TargetMode="External"/><Relationship Id="rId4" Type="http://schemas.openxmlformats.org/officeDocument/2006/relationships/diagramQuickStyle" Target="../diagrams/quickStyle69.xml"/><Relationship Id="rId9" Type="http://schemas.openxmlformats.org/officeDocument/2006/relationships/hyperlink" Target="https://www.linkedin.com/feed/update/urn:li:activity:7218872038575243267/" TargetMode="Externa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70.xml"/><Relationship Id="rId7" Type="http://schemas.openxmlformats.org/officeDocument/2006/relationships/hyperlink" Target="https://stackoverflow.com/questions/43594911/how-to-load-large-files-with-streamreader-in-chunks" TargetMode="External"/><Relationship Id="rId2" Type="http://schemas.openxmlformats.org/officeDocument/2006/relationships/diagramData" Target="../diagrams/data70.xml"/><Relationship Id="rId1" Type="http://schemas.openxmlformats.org/officeDocument/2006/relationships/slideLayout" Target="../slideLayouts/slideLayout2.xml"/><Relationship Id="rId6" Type="http://schemas.microsoft.com/office/2007/relationships/diagramDrawing" Target="../diagrams/drawing70.xml"/><Relationship Id="rId5" Type="http://schemas.openxmlformats.org/officeDocument/2006/relationships/diagramColors" Target="../diagrams/colors70.xml"/><Relationship Id="rId4" Type="http://schemas.openxmlformats.org/officeDocument/2006/relationships/diagramQuickStyle" Target="../diagrams/quickStyle70.xml"/></Relationships>
</file>

<file path=ppt/slides/_rels/slide71.xml.rels><?xml version="1.0" encoding="UTF-8" standalone="yes"?>
<Relationships xmlns="http://schemas.openxmlformats.org/package/2006/relationships"><Relationship Id="rId8" Type="http://schemas.openxmlformats.org/officeDocument/2006/relationships/hyperlink" Target="https://stackoverflow.com/questions/1078523/how-do-i-download-a-large-file-via-http-in-net" TargetMode="External"/><Relationship Id="rId3" Type="http://schemas.openxmlformats.org/officeDocument/2006/relationships/diagramLayout" Target="../diagrams/layout71.xml"/><Relationship Id="rId7" Type="http://schemas.openxmlformats.org/officeDocument/2006/relationships/hyperlink" Target="https://stackoverflow.com/questions/16958448/what-is-http-multipart-request" TargetMode="External"/><Relationship Id="rId2" Type="http://schemas.openxmlformats.org/officeDocument/2006/relationships/diagramData" Target="../diagrams/data71.xml"/><Relationship Id="rId1" Type="http://schemas.openxmlformats.org/officeDocument/2006/relationships/slideLayout" Target="../slideLayouts/slideLayout2.xml"/><Relationship Id="rId6" Type="http://schemas.microsoft.com/office/2007/relationships/diagramDrawing" Target="../diagrams/drawing71.xml"/><Relationship Id="rId5" Type="http://schemas.openxmlformats.org/officeDocument/2006/relationships/diagramColors" Target="../diagrams/colors71.xml"/><Relationship Id="rId4" Type="http://schemas.openxmlformats.org/officeDocument/2006/relationships/diagramQuickStyle" Target="../diagrams/quickStyle71.xml"/></Relationships>
</file>

<file path=ppt/slides/_rels/slide7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diagramLayout" Target="../diagrams/layout72.xml"/><Relationship Id="rId7" Type="http://schemas.openxmlformats.org/officeDocument/2006/relationships/image" Target="../media/image18.png"/><Relationship Id="rId2" Type="http://schemas.openxmlformats.org/officeDocument/2006/relationships/diagramData" Target="../diagrams/data72.xml"/><Relationship Id="rId1" Type="http://schemas.openxmlformats.org/officeDocument/2006/relationships/slideLayout" Target="../slideLayouts/slideLayout2.xml"/><Relationship Id="rId6" Type="http://schemas.microsoft.com/office/2007/relationships/diagramDrawing" Target="../diagrams/drawing72.xml"/><Relationship Id="rId5" Type="http://schemas.openxmlformats.org/officeDocument/2006/relationships/diagramColors" Target="../diagrams/colors72.xml"/><Relationship Id="rId4" Type="http://schemas.openxmlformats.org/officeDocument/2006/relationships/diagramQuickStyle" Target="../diagrams/quickStyle72.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73.xml"/><Relationship Id="rId7" Type="http://schemas.openxmlformats.org/officeDocument/2006/relationships/image" Target="../media/image20.png"/><Relationship Id="rId2" Type="http://schemas.openxmlformats.org/officeDocument/2006/relationships/diagramData" Target="../diagrams/data73.xml"/><Relationship Id="rId1" Type="http://schemas.openxmlformats.org/officeDocument/2006/relationships/slideLayout" Target="../slideLayouts/slideLayout2.xml"/><Relationship Id="rId6" Type="http://schemas.microsoft.com/office/2007/relationships/diagramDrawing" Target="../diagrams/drawing73.xml"/><Relationship Id="rId5" Type="http://schemas.openxmlformats.org/officeDocument/2006/relationships/diagramColors" Target="../diagrams/colors73.xml"/><Relationship Id="rId4" Type="http://schemas.openxmlformats.org/officeDocument/2006/relationships/diagramQuickStyle" Target="../diagrams/quickStyle73.xml"/></Relationships>
</file>

<file path=ppt/slides/_rels/slide7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diagramLayout" Target="../diagrams/layout74.xml"/><Relationship Id="rId7" Type="http://schemas.openxmlformats.org/officeDocument/2006/relationships/image" Target="../media/image20.png"/><Relationship Id="rId2" Type="http://schemas.openxmlformats.org/officeDocument/2006/relationships/diagramData" Target="../diagrams/data74.xml"/><Relationship Id="rId1" Type="http://schemas.openxmlformats.org/officeDocument/2006/relationships/slideLayout" Target="../slideLayouts/slideLayout2.xml"/><Relationship Id="rId6" Type="http://schemas.microsoft.com/office/2007/relationships/diagramDrawing" Target="../diagrams/drawing74.xml"/><Relationship Id="rId5" Type="http://schemas.openxmlformats.org/officeDocument/2006/relationships/diagramColors" Target="../diagrams/colors74.xml"/><Relationship Id="rId4" Type="http://schemas.openxmlformats.org/officeDocument/2006/relationships/diagramQuickStyle" Target="../diagrams/quickStyle74.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75.xml"/><Relationship Id="rId2" Type="http://schemas.openxmlformats.org/officeDocument/2006/relationships/diagramData" Target="../diagrams/data75.xml"/><Relationship Id="rId1" Type="http://schemas.openxmlformats.org/officeDocument/2006/relationships/slideLayout" Target="../slideLayouts/slideLayout2.xml"/><Relationship Id="rId6" Type="http://schemas.microsoft.com/office/2007/relationships/diagramDrawing" Target="../diagrams/drawing75.xml"/><Relationship Id="rId5" Type="http://schemas.openxmlformats.org/officeDocument/2006/relationships/diagramColors" Target="../diagrams/colors75.xml"/><Relationship Id="rId4" Type="http://schemas.openxmlformats.org/officeDocument/2006/relationships/diagramQuickStyle" Target="../diagrams/quickStyle75.xml"/></Relationships>
</file>

<file path=ppt/slides/_rels/slide76.xml.rels><?xml version="1.0" encoding="UTF-8" standalone="yes"?>
<Relationships xmlns="http://schemas.openxmlformats.org/package/2006/relationships"><Relationship Id="rId3" Type="http://schemas.openxmlformats.org/officeDocument/2006/relationships/diagramLayout" Target="../diagrams/layout76.xml"/><Relationship Id="rId2" Type="http://schemas.openxmlformats.org/officeDocument/2006/relationships/diagramData" Target="../diagrams/data76.xml"/><Relationship Id="rId1" Type="http://schemas.openxmlformats.org/officeDocument/2006/relationships/slideLayout" Target="../slideLayouts/slideLayout2.xml"/><Relationship Id="rId6" Type="http://schemas.microsoft.com/office/2007/relationships/diagramDrawing" Target="../diagrams/drawing76.xml"/><Relationship Id="rId5" Type="http://schemas.openxmlformats.org/officeDocument/2006/relationships/diagramColors" Target="../diagrams/colors76.xml"/><Relationship Id="rId4" Type="http://schemas.openxmlformats.org/officeDocument/2006/relationships/diagramQuickStyle" Target="../diagrams/quickStyle76.xml"/></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77.xml"/><Relationship Id="rId2" Type="http://schemas.openxmlformats.org/officeDocument/2006/relationships/diagramData" Target="../diagrams/data77.xml"/><Relationship Id="rId1" Type="http://schemas.openxmlformats.org/officeDocument/2006/relationships/slideLayout" Target="../slideLayouts/slideLayout2.xml"/><Relationship Id="rId6" Type="http://schemas.microsoft.com/office/2007/relationships/diagramDrawing" Target="../diagrams/drawing77.xml"/><Relationship Id="rId5" Type="http://schemas.openxmlformats.org/officeDocument/2006/relationships/diagramColors" Target="../diagrams/colors77.xml"/><Relationship Id="rId4" Type="http://schemas.openxmlformats.org/officeDocument/2006/relationships/diagramQuickStyle" Target="../diagrams/quickStyle77.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78.xml"/><Relationship Id="rId2" Type="http://schemas.openxmlformats.org/officeDocument/2006/relationships/diagramData" Target="../diagrams/data78.xml"/><Relationship Id="rId1" Type="http://schemas.openxmlformats.org/officeDocument/2006/relationships/slideLayout" Target="../slideLayouts/slideLayout2.xml"/><Relationship Id="rId6" Type="http://schemas.microsoft.com/office/2007/relationships/diagramDrawing" Target="../diagrams/drawing78.xml"/><Relationship Id="rId5" Type="http://schemas.openxmlformats.org/officeDocument/2006/relationships/diagramColors" Target="../diagrams/colors78.xml"/><Relationship Id="rId4" Type="http://schemas.openxmlformats.org/officeDocument/2006/relationships/diagramQuickStyle" Target="../diagrams/quickStyle78.xml"/></Relationships>
</file>

<file path=ppt/slides/_rels/slide79.xml.rels><?xml version="1.0" encoding="UTF-8" standalone="yes"?>
<Relationships xmlns="http://schemas.openxmlformats.org/package/2006/relationships"><Relationship Id="rId8" Type="http://schemas.openxmlformats.org/officeDocument/2006/relationships/hyperlink" Target="https://research.google/pubs/the-tail-at-scale/" TargetMode="External"/><Relationship Id="rId3" Type="http://schemas.openxmlformats.org/officeDocument/2006/relationships/diagramLayout" Target="../diagrams/layout79.xml"/><Relationship Id="rId7" Type="http://schemas.openxmlformats.org/officeDocument/2006/relationships/hyperlink" Target="https://nurkiewicz.com/2020/06/littles-law.html" TargetMode="External"/><Relationship Id="rId2" Type="http://schemas.openxmlformats.org/officeDocument/2006/relationships/diagramData" Target="../diagrams/data79.xml"/><Relationship Id="rId1" Type="http://schemas.openxmlformats.org/officeDocument/2006/relationships/slideLayout" Target="../slideLayouts/slideLayout2.xml"/><Relationship Id="rId6" Type="http://schemas.microsoft.com/office/2007/relationships/diagramDrawing" Target="../diagrams/drawing79.xml"/><Relationship Id="rId5" Type="http://schemas.openxmlformats.org/officeDocument/2006/relationships/diagramColors" Target="../diagrams/colors79.xml"/><Relationship Id="rId4" Type="http://schemas.openxmlformats.org/officeDocument/2006/relationships/diagramQuickStyle" Target="../diagrams/quickStyle79.xml"/></Relationships>
</file>

<file path=ppt/slides/_rels/slide80.xml.rels><?xml version="1.0" encoding="UTF-8" standalone="yes"?>
<Relationships xmlns="http://schemas.openxmlformats.org/package/2006/relationships"><Relationship Id="rId3" Type="http://schemas.openxmlformats.org/officeDocument/2006/relationships/diagramLayout" Target="../diagrams/layout80.xml"/><Relationship Id="rId7" Type="http://schemas.openxmlformats.org/officeDocument/2006/relationships/hyperlink" Target="https://bravenewgeek.com/benchmarking-message-queue-latency/" TargetMode="External"/><Relationship Id="rId2" Type="http://schemas.openxmlformats.org/officeDocument/2006/relationships/diagramData" Target="../diagrams/data80.xml"/><Relationship Id="rId1" Type="http://schemas.openxmlformats.org/officeDocument/2006/relationships/slideLayout" Target="../slideLayouts/slideLayout2.xml"/><Relationship Id="rId6" Type="http://schemas.microsoft.com/office/2007/relationships/diagramDrawing" Target="../diagrams/drawing80.xml"/><Relationship Id="rId5" Type="http://schemas.openxmlformats.org/officeDocument/2006/relationships/diagramColors" Target="../diagrams/colors80.xml"/><Relationship Id="rId4" Type="http://schemas.openxmlformats.org/officeDocument/2006/relationships/diagramQuickStyle" Target="../diagrams/quickStyle80.xml"/></Relationships>
</file>

<file path=ppt/slides/_rels/slide81.xml.rels><?xml version="1.0" encoding="UTF-8" standalone="yes"?>
<Relationships xmlns="http://schemas.openxmlformats.org/package/2006/relationships"><Relationship Id="rId3" Type="http://schemas.openxmlformats.org/officeDocument/2006/relationships/diagramLayout" Target="../diagrams/layout81.xml"/><Relationship Id="rId7" Type="http://schemas.openxmlformats.org/officeDocument/2006/relationships/hyperlink" Target="https://medium.com/@siddontang/the-coordinated-omission-problem-in-the-benchmark-tools-5d9abef79279" TargetMode="External"/><Relationship Id="rId2" Type="http://schemas.openxmlformats.org/officeDocument/2006/relationships/diagramData" Target="../diagrams/data81.xml"/><Relationship Id="rId1" Type="http://schemas.openxmlformats.org/officeDocument/2006/relationships/slideLayout" Target="../slideLayouts/slideLayout2.xml"/><Relationship Id="rId6" Type="http://schemas.microsoft.com/office/2007/relationships/diagramDrawing" Target="../diagrams/drawing81.xml"/><Relationship Id="rId5" Type="http://schemas.openxmlformats.org/officeDocument/2006/relationships/diagramColors" Target="../diagrams/colors81.xml"/><Relationship Id="rId4" Type="http://schemas.openxmlformats.org/officeDocument/2006/relationships/diagramQuickStyle" Target="../diagrams/quickStyle81.xml"/></Relationships>
</file>

<file path=ppt/slides/_rels/slide82.xml.rels><?xml version="1.0" encoding="UTF-8" standalone="yes"?>
<Relationships xmlns="http://schemas.openxmlformats.org/package/2006/relationships"><Relationship Id="rId3" Type="http://schemas.openxmlformats.org/officeDocument/2006/relationships/diagramLayout" Target="../diagrams/layout82.xml"/><Relationship Id="rId7" Type="http://schemas.openxmlformats.org/officeDocument/2006/relationships/image" Target="../media/image22.png"/><Relationship Id="rId2" Type="http://schemas.openxmlformats.org/officeDocument/2006/relationships/diagramData" Target="../diagrams/data82.xml"/><Relationship Id="rId1" Type="http://schemas.openxmlformats.org/officeDocument/2006/relationships/slideLayout" Target="../slideLayouts/slideLayout2.xml"/><Relationship Id="rId6" Type="http://schemas.microsoft.com/office/2007/relationships/diagramDrawing" Target="../diagrams/drawing82.xml"/><Relationship Id="rId5" Type="http://schemas.openxmlformats.org/officeDocument/2006/relationships/diagramColors" Target="../diagrams/colors82.xml"/><Relationship Id="rId4" Type="http://schemas.openxmlformats.org/officeDocument/2006/relationships/diagramQuickStyle" Target="../diagrams/quickStyle82.xml"/></Relationships>
</file>

<file path=ppt/slides/_rels/slide8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hyperlink" Target="https://www.nops.io/blog/horizontal-vs-vertical-scaling" TargetMode="External"/><Relationship Id="rId2" Type="http://schemas.openxmlformats.org/officeDocument/2006/relationships/hyperlink" Target="https://mybaker.co/blogs/blogposts/whats-the-difference-between-a-tier-and-a-layer" TargetMode="External"/><Relationship Id="rId1" Type="http://schemas.openxmlformats.org/officeDocument/2006/relationships/slideLayout" Target="../slideLayouts/slideLayout2.xml"/><Relationship Id="rId4" Type="http://schemas.openxmlformats.org/officeDocument/2006/relationships/hyperlink" Target="https://microservices.io/articles/scalecube.html" TargetMode="External"/></Relationships>
</file>

<file path=ppt/slides/_rels/slide86.xml.rels><?xml version="1.0" encoding="UTF-8" standalone="yes"?>
<Relationships xmlns="http://schemas.openxmlformats.org/package/2006/relationships"><Relationship Id="rId3" Type="http://schemas.openxmlformats.org/officeDocument/2006/relationships/diagramData" Target="../diagrams/data83.xml"/><Relationship Id="rId7" Type="http://schemas.microsoft.com/office/2007/relationships/diagramDrawing" Target="../diagrams/drawing83.xml"/><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diagramColors" Target="../diagrams/colors83.xml"/><Relationship Id="rId5" Type="http://schemas.openxmlformats.org/officeDocument/2006/relationships/diagramQuickStyle" Target="../diagrams/quickStyle83.xml"/><Relationship Id="rId4" Type="http://schemas.openxmlformats.org/officeDocument/2006/relationships/diagramLayout" Target="../diagrams/layout83.xml"/></Relationships>
</file>

<file path=ppt/slides/_rels/slide87.xml.rels><?xml version="1.0" encoding="UTF-8" standalone="yes"?>
<Relationships xmlns="http://schemas.openxmlformats.org/package/2006/relationships"><Relationship Id="rId3" Type="http://schemas.openxmlformats.org/officeDocument/2006/relationships/diagramLayout" Target="../diagrams/layout84.xml"/><Relationship Id="rId2" Type="http://schemas.openxmlformats.org/officeDocument/2006/relationships/diagramData" Target="../diagrams/data84.xml"/><Relationship Id="rId1" Type="http://schemas.openxmlformats.org/officeDocument/2006/relationships/slideLayout" Target="../slideLayouts/slideLayout2.xml"/><Relationship Id="rId6" Type="http://schemas.microsoft.com/office/2007/relationships/diagramDrawing" Target="../diagrams/drawing84.xml"/><Relationship Id="rId5" Type="http://schemas.openxmlformats.org/officeDocument/2006/relationships/diagramColors" Target="../diagrams/colors84.xml"/><Relationship Id="rId4" Type="http://schemas.openxmlformats.org/officeDocument/2006/relationships/diagramQuickStyle" Target="../diagrams/quickStyle84.xml"/></Relationships>
</file>

<file path=ppt/slides/_rels/slide88.xml.rels><?xml version="1.0" encoding="UTF-8" standalone="yes"?>
<Relationships xmlns="http://schemas.openxmlformats.org/package/2006/relationships"><Relationship Id="rId3" Type="http://schemas.openxmlformats.org/officeDocument/2006/relationships/diagramLayout" Target="../diagrams/layout85.xml"/><Relationship Id="rId2" Type="http://schemas.openxmlformats.org/officeDocument/2006/relationships/diagramData" Target="../diagrams/data85.xml"/><Relationship Id="rId1" Type="http://schemas.openxmlformats.org/officeDocument/2006/relationships/slideLayout" Target="../slideLayouts/slideLayout2.xml"/><Relationship Id="rId6" Type="http://schemas.microsoft.com/office/2007/relationships/diagramDrawing" Target="../diagrams/drawing85.xml"/><Relationship Id="rId5" Type="http://schemas.openxmlformats.org/officeDocument/2006/relationships/diagramColors" Target="../diagrams/colors85.xml"/><Relationship Id="rId4" Type="http://schemas.openxmlformats.org/officeDocument/2006/relationships/diagramQuickStyle" Target="../diagrams/quickStyle85.xml"/></Relationships>
</file>

<file path=ppt/slides/_rels/slide89.xml.rels><?xml version="1.0" encoding="UTF-8" standalone="yes"?>
<Relationships xmlns="http://schemas.openxmlformats.org/package/2006/relationships"><Relationship Id="rId8" Type="http://schemas.openxmlformats.org/officeDocument/2006/relationships/diagramQuickStyle" Target="../diagrams/quickStyle86.xml"/><Relationship Id="rId3" Type="http://schemas.openxmlformats.org/officeDocument/2006/relationships/image" Target="../media/image27.png"/><Relationship Id="rId7" Type="http://schemas.openxmlformats.org/officeDocument/2006/relationships/diagramLayout" Target="../diagrams/layout86.xml"/><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diagramData" Target="../diagrams/data86.xml"/><Relationship Id="rId5" Type="http://schemas.openxmlformats.org/officeDocument/2006/relationships/image" Target="../media/image29.png"/><Relationship Id="rId10" Type="http://schemas.microsoft.com/office/2007/relationships/diagramDrawing" Target="../diagrams/drawing86.xml"/><Relationship Id="rId4" Type="http://schemas.openxmlformats.org/officeDocument/2006/relationships/image" Target="../media/image28.png"/><Relationship Id="rId9" Type="http://schemas.openxmlformats.org/officeDocument/2006/relationships/diagramColors" Target="../diagrams/colors86.xml"/></Relationships>
</file>

<file path=ppt/slides/_rels/slide90.xml.rels><?xml version="1.0" encoding="UTF-8" standalone="yes"?>
<Relationships xmlns="http://schemas.openxmlformats.org/package/2006/relationships"><Relationship Id="rId8" Type="http://schemas.microsoft.com/office/2007/relationships/diagramDrawing" Target="../diagrams/drawing87.xml"/><Relationship Id="rId3" Type="http://schemas.openxmlformats.org/officeDocument/2006/relationships/image" Target="../media/image30.png"/><Relationship Id="rId7" Type="http://schemas.openxmlformats.org/officeDocument/2006/relationships/diagramColors" Target="../diagrams/colors87.xml"/><Relationship Id="rId2" Type="http://schemas.openxmlformats.org/officeDocument/2006/relationships/hyperlink" Target="https://www.linkedin.com/posts/brijpandeyji_the-top-12-load-balancing-techniques-to-keep-activity-7101526263709716481-a9-Q/?trk=public_profile_like_view" TargetMode="External"/><Relationship Id="rId1" Type="http://schemas.openxmlformats.org/officeDocument/2006/relationships/slideLayout" Target="../slideLayouts/slideLayout2.xml"/><Relationship Id="rId6" Type="http://schemas.openxmlformats.org/officeDocument/2006/relationships/diagramQuickStyle" Target="../diagrams/quickStyle87.xml"/><Relationship Id="rId5" Type="http://schemas.openxmlformats.org/officeDocument/2006/relationships/diagramLayout" Target="../diagrams/layout87.xml"/><Relationship Id="rId4" Type="http://schemas.openxmlformats.org/officeDocument/2006/relationships/diagramData" Target="../diagrams/data87.xml"/></Relationships>
</file>

<file path=ppt/slides/_rels/slide91.xml.rels><?xml version="1.0" encoding="UTF-8" standalone="yes"?>
<Relationships xmlns="http://schemas.openxmlformats.org/package/2006/relationships"><Relationship Id="rId8" Type="http://schemas.openxmlformats.org/officeDocument/2006/relationships/hyperlink" Target="https://github.com/Netflix/zuul" TargetMode="External"/><Relationship Id="rId13" Type="http://schemas.microsoft.com/office/2007/relationships/diagramDrawing" Target="../diagrams/drawing88.xml"/><Relationship Id="rId3" Type="http://schemas.openxmlformats.org/officeDocument/2006/relationships/hyperlink" Target="https://systemsarchitect.io/docs/requirements/systems/services/load-balancer/choices" TargetMode="External"/><Relationship Id="rId7" Type="http://schemas.openxmlformats.org/officeDocument/2006/relationships/hyperlink" Target="https://github.com/microsoft/service-fabric-yarp" TargetMode="External"/><Relationship Id="rId12" Type="http://schemas.openxmlformats.org/officeDocument/2006/relationships/diagramColors" Target="../diagrams/colors88.xml"/><Relationship Id="rId2" Type="http://schemas.openxmlformats.org/officeDocument/2006/relationships/hyperlink" Target="https://www.educative.io/courses/grokking-the-system-design-interview/introduction-to-load-balancers" TargetMode="External"/><Relationship Id="rId1" Type="http://schemas.openxmlformats.org/officeDocument/2006/relationships/slideLayout" Target="../slideLayouts/slideLayout2.xml"/><Relationship Id="rId6" Type="http://schemas.openxmlformats.org/officeDocument/2006/relationships/hyperlink" Target="https://medium.com/@tejeswar_79802/a-deep-dive-into-yarp-and-ocelot-809ec5b982e0" TargetMode="External"/><Relationship Id="rId11" Type="http://schemas.openxmlformats.org/officeDocument/2006/relationships/diagramQuickStyle" Target="../diagrams/quickStyle88.xml"/><Relationship Id="rId5" Type="http://schemas.openxmlformats.org/officeDocument/2006/relationships/hyperlink" Target="https://www.enjoyalgorithms.com/blog/proxies-in-system-design" TargetMode="External"/><Relationship Id="rId10" Type="http://schemas.openxmlformats.org/officeDocument/2006/relationships/diagramLayout" Target="../diagrams/layout88.xml"/><Relationship Id="rId4" Type="http://schemas.openxmlformats.org/officeDocument/2006/relationships/hyperlink" Target="https://www.imperva.com/learn/availability/sticky-session-persistence-and-cookies/" TargetMode="External"/><Relationship Id="rId9" Type="http://schemas.openxmlformats.org/officeDocument/2006/relationships/diagramData" Target="../diagrams/data88.xml"/></Relationships>
</file>

<file path=ppt/slides/_rels/slide92.xml.rels><?xml version="1.0" encoding="UTF-8" standalone="yes"?>
<Relationships xmlns="http://schemas.openxmlformats.org/package/2006/relationships"><Relationship Id="rId3" Type="http://schemas.openxmlformats.org/officeDocument/2006/relationships/diagramLayout" Target="../diagrams/layout89.xml"/><Relationship Id="rId7" Type="http://schemas.openxmlformats.org/officeDocument/2006/relationships/image" Target="../media/image31.png"/><Relationship Id="rId2" Type="http://schemas.openxmlformats.org/officeDocument/2006/relationships/diagramData" Target="../diagrams/data89.xml"/><Relationship Id="rId1" Type="http://schemas.openxmlformats.org/officeDocument/2006/relationships/slideLayout" Target="../slideLayouts/slideLayout2.xml"/><Relationship Id="rId6" Type="http://schemas.microsoft.com/office/2007/relationships/diagramDrawing" Target="../diagrams/drawing89.xml"/><Relationship Id="rId5" Type="http://schemas.openxmlformats.org/officeDocument/2006/relationships/diagramColors" Target="../diagrams/colors89.xml"/><Relationship Id="rId4" Type="http://schemas.openxmlformats.org/officeDocument/2006/relationships/diagramQuickStyle" Target="../diagrams/quickStyle89.xml"/></Relationships>
</file>

<file path=ppt/slides/_rels/slide93.xml.rels><?xml version="1.0" encoding="UTF-8" standalone="yes"?>
<Relationships xmlns="http://schemas.openxmlformats.org/package/2006/relationships"><Relationship Id="rId3" Type="http://schemas.openxmlformats.org/officeDocument/2006/relationships/diagramLayout" Target="../diagrams/layout90.xml"/><Relationship Id="rId7" Type="http://schemas.openxmlformats.org/officeDocument/2006/relationships/image" Target="../media/image32.png"/><Relationship Id="rId2" Type="http://schemas.openxmlformats.org/officeDocument/2006/relationships/diagramData" Target="../diagrams/data90.xml"/><Relationship Id="rId1" Type="http://schemas.openxmlformats.org/officeDocument/2006/relationships/slideLayout" Target="../slideLayouts/slideLayout2.xml"/><Relationship Id="rId6" Type="http://schemas.microsoft.com/office/2007/relationships/diagramDrawing" Target="../diagrams/drawing90.xml"/><Relationship Id="rId5" Type="http://schemas.openxmlformats.org/officeDocument/2006/relationships/diagramColors" Target="../diagrams/colors90.xml"/><Relationship Id="rId4" Type="http://schemas.openxmlformats.org/officeDocument/2006/relationships/diagramQuickStyle" Target="../diagrams/quickStyle90.xml"/></Relationships>
</file>

<file path=ppt/slides/_rels/slide94.xml.rels><?xml version="1.0" encoding="UTF-8" standalone="yes"?>
<Relationships xmlns="http://schemas.openxmlformats.org/package/2006/relationships"><Relationship Id="rId3" Type="http://schemas.openxmlformats.org/officeDocument/2006/relationships/diagramLayout" Target="../diagrams/layout91.xml"/><Relationship Id="rId7" Type="http://schemas.openxmlformats.org/officeDocument/2006/relationships/image" Target="../media/image33.png"/><Relationship Id="rId2" Type="http://schemas.openxmlformats.org/officeDocument/2006/relationships/diagramData" Target="../diagrams/data91.xml"/><Relationship Id="rId1" Type="http://schemas.openxmlformats.org/officeDocument/2006/relationships/slideLayout" Target="../slideLayouts/slideLayout2.xml"/><Relationship Id="rId6" Type="http://schemas.microsoft.com/office/2007/relationships/diagramDrawing" Target="../diagrams/drawing91.xml"/><Relationship Id="rId5" Type="http://schemas.openxmlformats.org/officeDocument/2006/relationships/diagramColors" Target="../diagrams/colors91.xml"/><Relationship Id="rId4" Type="http://schemas.openxmlformats.org/officeDocument/2006/relationships/diagramQuickStyle" Target="../diagrams/quickStyle91.xml"/></Relationships>
</file>

<file path=ppt/slides/_rels/slide95.xml.rels><?xml version="1.0" encoding="UTF-8" standalone="yes"?>
<Relationships xmlns="http://schemas.openxmlformats.org/package/2006/relationships"><Relationship Id="rId3" Type="http://schemas.openxmlformats.org/officeDocument/2006/relationships/diagramLayout" Target="../diagrams/layout92.xml"/><Relationship Id="rId7" Type="http://schemas.openxmlformats.org/officeDocument/2006/relationships/image" Target="../media/image34.png"/><Relationship Id="rId2" Type="http://schemas.openxmlformats.org/officeDocument/2006/relationships/diagramData" Target="../diagrams/data92.xml"/><Relationship Id="rId1" Type="http://schemas.openxmlformats.org/officeDocument/2006/relationships/slideLayout" Target="../slideLayouts/slideLayout2.xml"/><Relationship Id="rId6" Type="http://schemas.microsoft.com/office/2007/relationships/diagramDrawing" Target="../diagrams/drawing92.xml"/><Relationship Id="rId5" Type="http://schemas.openxmlformats.org/officeDocument/2006/relationships/diagramColors" Target="../diagrams/colors92.xml"/><Relationship Id="rId4" Type="http://schemas.openxmlformats.org/officeDocument/2006/relationships/diagramQuickStyle" Target="../diagrams/quickStyle92.xml"/></Relationships>
</file>

<file path=ppt/slides/_rels/slide96.xml.rels><?xml version="1.0" encoding="UTF-8" standalone="yes"?>
<Relationships xmlns="http://schemas.openxmlformats.org/package/2006/relationships"><Relationship Id="rId3" Type="http://schemas.openxmlformats.org/officeDocument/2006/relationships/diagramLayout" Target="../diagrams/layout93.xml"/><Relationship Id="rId2" Type="http://schemas.openxmlformats.org/officeDocument/2006/relationships/diagramData" Target="../diagrams/data93.xml"/><Relationship Id="rId1" Type="http://schemas.openxmlformats.org/officeDocument/2006/relationships/slideLayout" Target="../slideLayouts/slideLayout2.xml"/><Relationship Id="rId6" Type="http://schemas.microsoft.com/office/2007/relationships/diagramDrawing" Target="../diagrams/drawing93.xml"/><Relationship Id="rId5" Type="http://schemas.openxmlformats.org/officeDocument/2006/relationships/diagramColors" Target="../diagrams/colors93.xml"/><Relationship Id="rId4" Type="http://schemas.openxmlformats.org/officeDocument/2006/relationships/diagramQuickStyle" Target="../diagrams/quickStyle93.xml"/></Relationships>
</file>

<file path=ppt/slides/_rels/slide9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diagramLayout" Target="../diagrams/layout94.xml"/><Relationship Id="rId7" Type="http://schemas.openxmlformats.org/officeDocument/2006/relationships/image" Target="../media/image35.png"/><Relationship Id="rId2" Type="http://schemas.openxmlformats.org/officeDocument/2006/relationships/diagramData" Target="../diagrams/data94.xml"/><Relationship Id="rId1" Type="http://schemas.openxmlformats.org/officeDocument/2006/relationships/slideLayout" Target="../slideLayouts/slideLayout2.xml"/><Relationship Id="rId6" Type="http://schemas.microsoft.com/office/2007/relationships/diagramDrawing" Target="../diagrams/drawing94.xml"/><Relationship Id="rId5" Type="http://schemas.openxmlformats.org/officeDocument/2006/relationships/diagramColors" Target="../diagrams/colors94.xml"/><Relationship Id="rId4" Type="http://schemas.openxmlformats.org/officeDocument/2006/relationships/diagramQuickStyle" Target="../diagrams/quickStyle94.xml"/></Relationships>
</file>

<file path=ppt/slides/_rels/slide98.xml.rels><?xml version="1.0" encoding="UTF-8" standalone="yes"?>
<Relationships xmlns="http://schemas.openxmlformats.org/package/2006/relationships"><Relationship Id="rId3" Type="http://schemas.openxmlformats.org/officeDocument/2006/relationships/diagramLayout" Target="../diagrams/layout95.xml"/><Relationship Id="rId7" Type="http://schemas.openxmlformats.org/officeDocument/2006/relationships/image" Target="../media/image37.png"/><Relationship Id="rId2" Type="http://schemas.openxmlformats.org/officeDocument/2006/relationships/diagramData" Target="../diagrams/data95.xml"/><Relationship Id="rId1" Type="http://schemas.openxmlformats.org/officeDocument/2006/relationships/slideLayout" Target="../slideLayouts/slideLayout2.xml"/><Relationship Id="rId6" Type="http://schemas.microsoft.com/office/2007/relationships/diagramDrawing" Target="../diagrams/drawing95.xml"/><Relationship Id="rId5" Type="http://schemas.openxmlformats.org/officeDocument/2006/relationships/diagramColors" Target="../diagrams/colors95.xml"/><Relationship Id="rId4" Type="http://schemas.openxmlformats.org/officeDocument/2006/relationships/diagramQuickStyle" Target="../diagrams/quickStyle95.xml"/></Relationships>
</file>

<file path=ppt/slides/_rels/slide99.xml.rels><?xml version="1.0" encoding="UTF-8" standalone="yes"?>
<Relationships xmlns="http://schemas.openxmlformats.org/package/2006/relationships"><Relationship Id="rId3" Type="http://schemas.openxmlformats.org/officeDocument/2006/relationships/diagramLayout" Target="../diagrams/layout96.xml"/><Relationship Id="rId2" Type="http://schemas.openxmlformats.org/officeDocument/2006/relationships/diagramData" Target="../diagrams/data96.xml"/><Relationship Id="rId1" Type="http://schemas.openxmlformats.org/officeDocument/2006/relationships/slideLayout" Target="../slideLayouts/slideLayout2.xml"/><Relationship Id="rId6" Type="http://schemas.microsoft.com/office/2007/relationships/diagramDrawing" Target="../diagrams/drawing96.xml"/><Relationship Id="rId5" Type="http://schemas.openxmlformats.org/officeDocument/2006/relationships/diagramColors" Target="../diagrams/colors96.xml"/><Relationship Id="rId4" Type="http://schemas.openxmlformats.org/officeDocument/2006/relationships/diagramQuickStyle" Target="../diagrams/quickStyle96.xml"/></Relationships>
</file>

<file path=ppt/slides/_rels/slide100.xml.rels><?xml version="1.0" encoding="UTF-8" standalone="yes"?>
<Relationships xmlns="http://schemas.openxmlformats.org/package/2006/relationships"><Relationship Id="rId3" Type="http://schemas.openxmlformats.org/officeDocument/2006/relationships/diagramLayout" Target="../diagrams/layout97.xml"/><Relationship Id="rId2" Type="http://schemas.openxmlformats.org/officeDocument/2006/relationships/diagramData" Target="../diagrams/data97.xml"/><Relationship Id="rId1" Type="http://schemas.openxmlformats.org/officeDocument/2006/relationships/slideLayout" Target="../slideLayouts/slideLayout2.xml"/><Relationship Id="rId6" Type="http://schemas.microsoft.com/office/2007/relationships/diagramDrawing" Target="../diagrams/drawing97.xml"/><Relationship Id="rId5" Type="http://schemas.openxmlformats.org/officeDocument/2006/relationships/diagramColors" Target="../diagrams/colors97.xml"/><Relationship Id="rId4" Type="http://schemas.openxmlformats.org/officeDocument/2006/relationships/diagramQuickStyle" Target="../diagrams/quickStyle9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diagramLayout" Target="../diagrams/layout98.xml"/><Relationship Id="rId7" Type="http://schemas.openxmlformats.org/officeDocument/2006/relationships/image" Target="../media/image38.png"/><Relationship Id="rId2" Type="http://schemas.openxmlformats.org/officeDocument/2006/relationships/diagramData" Target="../diagrams/data98.xml"/><Relationship Id="rId1" Type="http://schemas.openxmlformats.org/officeDocument/2006/relationships/slideLayout" Target="../slideLayouts/slideLayout2.xml"/><Relationship Id="rId6" Type="http://schemas.microsoft.com/office/2007/relationships/diagramDrawing" Target="../diagrams/drawing98.xml"/><Relationship Id="rId5" Type="http://schemas.openxmlformats.org/officeDocument/2006/relationships/diagramColors" Target="../diagrams/colors98.xml"/><Relationship Id="rId4" Type="http://schemas.openxmlformats.org/officeDocument/2006/relationships/diagramQuickStyle" Target="../diagrams/quickStyle98.xml"/><Relationship Id="rId9" Type="http://schemas.openxmlformats.org/officeDocument/2006/relationships/image" Target="../media/image40.png"/></Relationships>
</file>

<file path=ppt/slides/_rels/slide104.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diagramLayout" Target="../diagrams/layout99.xml"/><Relationship Id="rId7" Type="http://schemas.openxmlformats.org/officeDocument/2006/relationships/image" Target="../media/image38.png"/><Relationship Id="rId2" Type="http://schemas.openxmlformats.org/officeDocument/2006/relationships/diagramData" Target="../diagrams/data99.xml"/><Relationship Id="rId1" Type="http://schemas.openxmlformats.org/officeDocument/2006/relationships/slideLayout" Target="../slideLayouts/slideLayout2.xml"/><Relationship Id="rId6" Type="http://schemas.microsoft.com/office/2007/relationships/diagramDrawing" Target="../diagrams/drawing99.xml"/><Relationship Id="rId5" Type="http://schemas.openxmlformats.org/officeDocument/2006/relationships/diagramColors" Target="../diagrams/colors99.xml"/><Relationship Id="rId10" Type="http://schemas.openxmlformats.org/officeDocument/2006/relationships/image" Target="../media/image43.png"/><Relationship Id="rId4" Type="http://schemas.openxmlformats.org/officeDocument/2006/relationships/diagramQuickStyle" Target="../diagrams/quickStyle99.xml"/><Relationship Id="rId9" Type="http://schemas.openxmlformats.org/officeDocument/2006/relationships/image" Target="../media/image42.png"/></Relationships>
</file>

<file path=ppt/slides/_rels/slide105.xml.rels><?xml version="1.0" encoding="UTF-8" standalone="yes"?>
<Relationships xmlns="http://schemas.openxmlformats.org/package/2006/relationships"><Relationship Id="rId3" Type="http://schemas.openxmlformats.org/officeDocument/2006/relationships/diagramLayout" Target="../diagrams/layout100.xml"/><Relationship Id="rId2" Type="http://schemas.openxmlformats.org/officeDocument/2006/relationships/diagramData" Target="../diagrams/data100.xml"/><Relationship Id="rId1" Type="http://schemas.openxmlformats.org/officeDocument/2006/relationships/slideLayout" Target="../slideLayouts/slideLayout2.xml"/><Relationship Id="rId6" Type="http://schemas.microsoft.com/office/2007/relationships/diagramDrawing" Target="../diagrams/drawing100.xml"/><Relationship Id="rId5" Type="http://schemas.openxmlformats.org/officeDocument/2006/relationships/diagramColors" Target="../diagrams/colors100.xml"/><Relationship Id="rId4" Type="http://schemas.openxmlformats.org/officeDocument/2006/relationships/diagramQuickStyle" Target="../diagrams/quickStyle100.xml"/></Relationships>
</file>

<file path=ppt/slides/_rels/slide10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hyperlink" Target="https://www.youtube.com/watch?v=eQ3eNd5WbH8" TargetMode="Externa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8" Type="http://schemas.openxmlformats.org/officeDocument/2006/relationships/hyperlink" Target="https://azure.github.io/Cloud-Native/cnny-2023/fundamentals-day-5/" TargetMode="External"/><Relationship Id="rId13" Type="http://schemas.openxmlformats.org/officeDocument/2006/relationships/hyperlink" Target="https://mikhail.io/2017/07/sending-large-batches-to-azure-service-bus/" TargetMode="External"/><Relationship Id="rId3" Type="http://schemas.openxmlformats.org/officeDocument/2006/relationships/hyperlink" Target="https://www.linkedin.com/posts/sina-riyahi_backend-fullstack-developer-activity-7202949667351937024-waTb/" TargetMode="External"/><Relationship Id="rId7" Type="http://schemas.openxmlformats.org/officeDocument/2006/relationships/hyperlink" Target="https://www.amazon.in/Web-Operations-Keeping-Data-Time-ebook/dp/B0043M4Z34" TargetMode="External"/><Relationship Id="rId12" Type="http://schemas.openxmlformats.org/officeDocument/2006/relationships/hyperlink" Target="https://learn.microsoft.com/en-us/azure/service-bus-messaging/service-bus-quotas" TargetMode="External"/><Relationship Id="rId17" Type="http://schemas.openxmlformats.org/officeDocument/2006/relationships/hyperlink" Target="https://www.datacamp.com/blog/sharding-vs-partitioning" TargetMode="External"/><Relationship Id="rId2" Type="http://schemas.openxmlformats.org/officeDocument/2006/relationships/hyperlink" Target="https://www.linkedin.com/feed/update/urn:li:activity:7216096293738184706/" TargetMode="External"/><Relationship Id="rId16" Type="http://schemas.openxmlformats.org/officeDocument/2006/relationships/hyperlink" Target="https://www3.cs.stonybrook.edu/~anshul/courses/cse591_s16/autoscaling_survey.pdf" TargetMode="External"/><Relationship Id="rId1" Type="http://schemas.openxmlformats.org/officeDocument/2006/relationships/slideLayout" Target="../slideLayouts/slideLayout2.xml"/><Relationship Id="rId6" Type="http://schemas.openxmlformats.org/officeDocument/2006/relationships/hyperlink" Target="https://www.amazon.in/Scalability-Rules-Principles-Scaling-Sites-ebook/dp/B00503D1TY" TargetMode="External"/><Relationship Id="rId11" Type="http://schemas.openxmlformats.org/officeDocument/2006/relationships/hyperlink" Target="https://learn.microsoft.com/en-us/azure/service-bus-messaging/automate-update-messaging-units" TargetMode="External"/><Relationship Id="rId5" Type="http://schemas.openxmlformats.org/officeDocument/2006/relationships/hyperlink" Target="https://www.oreilly.com/library/view/the-art-of/9781491939192/" TargetMode="External"/><Relationship Id="rId15" Type="http://schemas.openxmlformats.org/officeDocument/2006/relationships/hyperlink" Target="https://gist.github.com/sandipray63in/842c7c80f3a9db886159f5b6ff087824" TargetMode="External"/><Relationship Id="rId10" Type="http://schemas.openxmlformats.org/officeDocument/2006/relationships/hyperlink" Target="https://learn.microsoft.com/en-us/azure/aks/best-practices-performance-scale" TargetMode="External"/><Relationship Id="rId4" Type="http://schemas.openxmlformats.org/officeDocument/2006/relationships/hyperlink" Target="https://www.amazon.in/Art-Scalability-Architecture-Organizations-Enterprise-ebook/dp/B00YF0OSHC" TargetMode="External"/><Relationship Id="rId9" Type="http://schemas.openxmlformats.org/officeDocument/2006/relationships/hyperlink" Target="https://learn.microsoft.com/en-us/azure/aks/concepts-scale" TargetMode="External"/><Relationship Id="rId14" Type="http://schemas.openxmlformats.org/officeDocument/2006/relationships/hyperlink" Target="https://learn.microsoft.com/en-us/azure/aks/keda-about" TargetMode="Externa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diagramLayout" Target="../diagrams/layout101.xml"/><Relationship Id="rId7" Type="http://schemas.openxmlformats.org/officeDocument/2006/relationships/image" Target="../media/image48.png"/><Relationship Id="rId2" Type="http://schemas.openxmlformats.org/officeDocument/2006/relationships/diagramData" Target="../diagrams/data101.xml"/><Relationship Id="rId1" Type="http://schemas.openxmlformats.org/officeDocument/2006/relationships/slideLayout" Target="../slideLayouts/slideLayout2.xml"/><Relationship Id="rId6" Type="http://schemas.microsoft.com/office/2007/relationships/diagramDrawing" Target="../diagrams/drawing101.xml"/><Relationship Id="rId5" Type="http://schemas.openxmlformats.org/officeDocument/2006/relationships/diagramColors" Target="../diagrams/colors101.xml"/><Relationship Id="rId4" Type="http://schemas.openxmlformats.org/officeDocument/2006/relationships/diagramQuickStyle" Target="../diagrams/quickStyle101.xml"/></Relationships>
</file>

<file path=ppt/slides/_rels/slide118.xml.rels><?xml version="1.0" encoding="UTF-8" standalone="yes"?>
<Relationships xmlns="http://schemas.openxmlformats.org/package/2006/relationships"><Relationship Id="rId3" Type="http://schemas.openxmlformats.org/officeDocument/2006/relationships/diagramLayout" Target="../diagrams/layout102.xml"/><Relationship Id="rId7" Type="http://schemas.openxmlformats.org/officeDocument/2006/relationships/image" Target="../media/image49.png"/><Relationship Id="rId2" Type="http://schemas.openxmlformats.org/officeDocument/2006/relationships/diagramData" Target="../diagrams/data102.xml"/><Relationship Id="rId1" Type="http://schemas.openxmlformats.org/officeDocument/2006/relationships/slideLayout" Target="../slideLayouts/slideLayout2.xml"/><Relationship Id="rId6" Type="http://schemas.microsoft.com/office/2007/relationships/diagramDrawing" Target="../diagrams/drawing102.xml"/><Relationship Id="rId5" Type="http://schemas.openxmlformats.org/officeDocument/2006/relationships/diagramColors" Target="../diagrams/colors102.xml"/><Relationship Id="rId4" Type="http://schemas.openxmlformats.org/officeDocument/2006/relationships/diagramQuickStyle" Target="../diagrams/quickStyle102.xml"/></Relationships>
</file>

<file path=ppt/slides/_rels/slide1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diagramLayout" Target="../diagrams/layout103.xml"/><Relationship Id="rId7" Type="http://schemas.openxmlformats.org/officeDocument/2006/relationships/image" Target="../media/image52.png"/><Relationship Id="rId2" Type="http://schemas.openxmlformats.org/officeDocument/2006/relationships/diagramData" Target="../diagrams/data103.xml"/><Relationship Id="rId1" Type="http://schemas.openxmlformats.org/officeDocument/2006/relationships/slideLayout" Target="../slideLayouts/slideLayout2.xml"/><Relationship Id="rId6" Type="http://schemas.microsoft.com/office/2007/relationships/diagramDrawing" Target="../diagrams/drawing103.xml"/><Relationship Id="rId5" Type="http://schemas.openxmlformats.org/officeDocument/2006/relationships/diagramColors" Target="../diagrams/colors103.xml"/><Relationship Id="rId4" Type="http://schemas.openxmlformats.org/officeDocument/2006/relationships/diagramQuickStyle" Target="../diagrams/quickStyle103.xml"/></Relationships>
</file>

<file path=ppt/slides/_rels/slide12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diagramLayout" Target="../diagrams/layout104.xml"/><Relationship Id="rId7" Type="http://schemas.openxmlformats.org/officeDocument/2006/relationships/image" Target="../media/image54.png"/><Relationship Id="rId2" Type="http://schemas.openxmlformats.org/officeDocument/2006/relationships/diagramData" Target="../diagrams/data104.xml"/><Relationship Id="rId1" Type="http://schemas.openxmlformats.org/officeDocument/2006/relationships/slideLayout" Target="../slideLayouts/slideLayout2.xml"/><Relationship Id="rId6" Type="http://schemas.microsoft.com/office/2007/relationships/diagramDrawing" Target="../diagrams/drawing104.xml"/><Relationship Id="rId5" Type="http://schemas.openxmlformats.org/officeDocument/2006/relationships/diagramColors" Target="../diagrams/colors104.xml"/><Relationship Id="rId4" Type="http://schemas.openxmlformats.org/officeDocument/2006/relationships/diagramQuickStyle" Target="../diagrams/quickStyle104.xml"/></Relationships>
</file>

<file path=ppt/slides/_rels/slide123.xml.rels><?xml version="1.0" encoding="UTF-8" standalone="yes"?>
<Relationships xmlns="http://schemas.openxmlformats.org/package/2006/relationships"><Relationship Id="rId3" Type="http://schemas.openxmlformats.org/officeDocument/2006/relationships/diagramLayout" Target="../diagrams/layout105.xml"/><Relationship Id="rId7" Type="http://schemas.openxmlformats.org/officeDocument/2006/relationships/image" Target="../media/image56.png"/><Relationship Id="rId2" Type="http://schemas.openxmlformats.org/officeDocument/2006/relationships/diagramData" Target="../diagrams/data105.xml"/><Relationship Id="rId1" Type="http://schemas.openxmlformats.org/officeDocument/2006/relationships/slideLayout" Target="../slideLayouts/slideLayout2.xml"/><Relationship Id="rId6" Type="http://schemas.microsoft.com/office/2007/relationships/diagramDrawing" Target="../diagrams/drawing105.xml"/><Relationship Id="rId5" Type="http://schemas.openxmlformats.org/officeDocument/2006/relationships/diagramColors" Target="../diagrams/colors105.xml"/><Relationship Id="rId4" Type="http://schemas.openxmlformats.org/officeDocument/2006/relationships/diagramQuickStyle" Target="../diagrams/quickStyle105.xml"/></Relationships>
</file>

<file path=ppt/slides/_rels/slide124.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diagramLayout" Target="../diagrams/layout106.xml"/><Relationship Id="rId7" Type="http://schemas.openxmlformats.org/officeDocument/2006/relationships/image" Target="../media/image57.png"/><Relationship Id="rId2" Type="http://schemas.openxmlformats.org/officeDocument/2006/relationships/diagramData" Target="../diagrams/data106.xml"/><Relationship Id="rId1" Type="http://schemas.openxmlformats.org/officeDocument/2006/relationships/slideLayout" Target="../slideLayouts/slideLayout2.xml"/><Relationship Id="rId6" Type="http://schemas.microsoft.com/office/2007/relationships/diagramDrawing" Target="../diagrams/drawing106.xml"/><Relationship Id="rId5" Type="http://schemas.openxmlformats.org/officeDocument/2006/relationships/diagramColors" Target="../diagrams/colors106.xml"/><Relationship Id="rId4" Type="http://schemas.openxmlformats.org/officeDocument/2006/relationships/diagramQuickStyle" Target="../diagrams/quickStyle106.xml"/></Relationships>
</file>

<file path=ppt/slides/_rels/slide125.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diagramLayout" Target="../diagrams/layout107.xml"/><Relationship Id="rId7" Type="http://schemas.openxmlformats.org/officeDocument/2006/relationships/image" Target="../media/image59.png"/><Relationship Id="rId2" Type="http://schemas.openxmlformats.org/officeDocument/2006/relationships/diagramData" Target="../diagrams/data107.xml"/><Relationship Id="rId1" Type="http://schemas.openxmlformats.org/officeDocument/2006/relationships/slideLayout" Target="../slideLayouts/slideLayout2.xml"/><Relationship Id="rId6" Type="http://schemas.microsoft.com/office/2007/relationships/diagramDrawing" Target="../diagrams/drawing107.xml"/><Relationship Id="rId5" Type="http://schemas.openxmlformats.org/officeDocument/2006/relationships/diagramColors" Target="../diagrams/colors107.xml"/><Relationship Id="rId4" Type="http://schemas.openxmlformats.org/officeDocument/2006/relationships/diagramQuickStyle" Target="../diagrams/quickStyle10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 Id="rId4" Type="http://schemas.openxmlformats.org/officeDocument/2006/relationships/image" Target="../media/image7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14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8" Type="http://schemas.openxmlformats.org/officeDocument/2006/relationships/hyperlink" Target="https://github.com/Operational-Transformation/ot.js" TargetMode="External"/><Relationship Id="rId3" Type="http://schemas.openxmlformats.org/officeDocument/2006/relationships/hyperlink" Target="https://betterprogramming.pub/system-design-concepts-dynamo-16-sheets-of-paper-that-changed-the-world-fd2cba6585e3" TargetMode="External"/><Relationship Id="rId7" Type="http://schemas.openxmlformats.org/officeDocument/2006/relationships/hyperlink" Target="https://doc.akka.io/libraries/akka-core/current/typed/distributed-data.html" TargetMode="External"/><Relationship Id="rId2" Type="http://schemas.openxmlformats.org/officeDocument/2006/relationships/hyperlink" Target="https://medium.com/coinmonks/chain-replication-how-to-build-an-effective-kv-storage-part-1-2-b0ce10d5afc3" TargetMode="External"/><Relationship Id="rId1" Type="http://schemas.openxmlformats.org/officeDocument/2006/relationships/slideLayout" Target="../slideLayouts/slideLayout2.xml"/><Relationship Id="rId6" Type="http://schemas.openxmlformats.org/officeDocument/2006/relationships/hyperlink" Target="https://en.wikipedia.org/wiki/Conflict-free_replicated_data_type" TargetMode="External"/><Relationship Id="rId5" Type="http://schemas.openxmlformats.org/officeDocument/2006/relationships/hyperlink" Target="https://medium.com/@istanbul_techie/a-look-at-conflict-free-replicated-data-types-crdt-221a5f629e7e" TargetMode="External"/><Relationship Id="rId4" Type="http://schemas.openxmlformats.org/officeDocument/2006/relationships/hyperlink" Target="https://medium.com/@sohail_saifii/conflict-resolution-strategies-for-distributed-systems-when-two-truths-collide-5d4abc4f1945" TargetMode="External"/></Relationships>
</file>

<file path=ppt/slides/_rels/slide150.xml.rels><?xml version="1.0" encoding="UTF-8" standalone="yes"?>
<Relationships xmlns="http://schemas.openxmlformats.org/package/2006/relationships"><Relationship Id="rId8" Type="http://schemas.openxmlformats.org/officeDocument/2006/relationships/image" Target="../media/image83.png"/><Relationship Id="rId3" Type="http://schemas.openxmlformats.org/officeDocument/2006/relationships/diagramLayout" Target="../diagrams/layout108.xml"/><Relationship Id="rId7" Type="http://schemas.openxmlformats.org/officeDocument/2006/relationships/image" Target="../media/image82.png"/><Relationship Id="rId2" Type="http://schemas.openxmlformats.org/officeDocument/2006/relationships/diagramData" Target="../diagrams/data108.xml"/><Relationship Id="rId1" Type="http://schemas.openxmlformats.org/officeDocument/2006/relationships/slideLayout" Target="../slideLayouts/slideLayout2.xml"/><Relationship Id="rId6" Type="http://schemas.microsoft.com/office/2007/relationships/diagramDrawing" Target="../diagrams/drawing108.xml"/><Relationship Id="rId5" Type="http://schemas.openxmlformats.org/officeDocument/2006/relationships/diagramColors" Target="../diagrams/colors108.xml"/><Relationship Id="rId4" Type="http://schemas.openxmlformats.org/officeDocument/2006/relationships/diagramQuickStyle" Target="../diagrams/quickStyle108.xml"/></Relationships>
</file>

<file path=ppt/slides/_rels/slide15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hyperlink" Target="https://docs.oracle.com/en/database/oracle/transaction-manager-for-microservices/24.2/tmmdg/tcc-transaction-model.html" TargetMode="External"/><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8" Type="http://schemas.openxmlformats.org/officeDocument/2006/relationships/hyperlink" Target="https://microservices.io/patterns/data/transactional-outbox.html" TargetMode="External"/><Relationship Id="rId3" Type="http://schemas.openxmlformats.org/officeDocument/2006/relationships/hyperlink" Target="https://github.com/sandipray63in/DDD-Based-Enterprise-Application-Framework/blob/master/Infrastructure/UnitOfWork/UnitOfWork.cs" TargetMode="External"/><Relationship Id="rId7" Type="http://schemas.openxmlformats.org/officeDocument/2006/relationships/hyperlink" Target="https://www.geeksforgeeks.org/flat-nested-distributed-transactions/"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masteranyfield.com/2021/07/26/dealing-distributed-transactions-with-2pc-3pc-local-transaction-table-with-mqs/" TargetMode="External"/><Relationship Id="rId5" Type="http://schemas.openxmlformats.org/officeDocument/2006/relationships/hyperlink" Target="https://systemdesignbasic.wordpress.com/2020/06/20/15-acid-vs-base-database-transactions/" TargetMode="External"/><Relationship Id="rId10" Type="http://schemas.openxmlformats.org/officeDocument/2006/relationships/hyperlink" Target="https://www.oracle.com/docs/tech/transaction-manager-for-microservices.pdf" TargetMode="External"/><Relationship Id="rId4" Type="http://schemas.openxmlformats.org/officeDocument/2006/relationships/hyperlink" Target="https://www.linkedin.com/advice/0/what-differences-similarities-between-acid-base-properties" TargetMode="External"/><Relationship Id="rId9" Type="http://schemas.openxmlformats.org/officeDocument/2006/relationships/hyperlink" Target="https://microservices.io/patterns/data/saga.html" TargetMode="External"/></Relationships>
</file>

<file path=ppt/slides/_rels/slide15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hyperlink" Target="https://www.datacore.com/blog/availability-durability-reliability-resilience-fault-tolerance/" TargetMode="External"/><Relationship Id="rId2" Type="http://schemas.openxmlformats.org/officeDocument/2006/relationships/hyperlink" Target="https://www.nobl9.com/service-availability/high-availability-vs-fault-tolerance" TargetMode="Externa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hyperlink" Target="https://d1.awsstatic.com/whitepapers/architecture/CalculatingTotalSystemAvailability.pdf" TargetMode="External"/><Relationship Id="rId7" Type="http://schemas.openxmlformats.org/officeDocument/2006/relationships/hyperlink" Target="https://stackoverflow.com/questions/58770795/performing-a-health-check-in-net-core-worker-service" TargetMode="External"/><Relationship Id="rId2" Type="http://schemas.openxmlformats.org/officeDocument/2006/relationships/hyperlink" Target="https://www.eventhelix.com/fault-handling/system-reliability-availability/" TargetMode="External"/><Relationship Id="rId1" Type="http://schemas.openxmlformats.org/officeDocument/2006/relationships/slideLayout" Target="../slideLayouts/slideLayout2.xml"/><Relationship Id="rId6" Type="http://schemas.openxmlformats.org/officeDocument/2006/relationships/hyperlink" Target="https://learn.microsoft.com/en-us/azure/architecture/guide/aks/aks-high-availability" TargetMode="External"/><Relationship Id="rId5" Type="http://schemas.openxmlformats.org/officeDocument/2006/relationships/hyperlink" Target="https://www.davidguida.net/health-checks-with-asp-net-core-and-kubernetes/" TargetMode="External"/><Relationship Id="rId4" Type="http://schemas.openxmlformats.org/officeDocument/2006/relationships/hyperlink" Target="https://www.sedai.io/blog/system-availability-calculation-definition-and-measurement" TargetMode="External"/></Relationships>
</file>

<file path=ppt/slides/_rels/slide164.xml.rels><?xml version="1.0" encoding="UTF-8" standalone="yes"?>
<Relationships xmlns="http://schemas.openxmlformats.org/package/2006/relationships"><Relationship Id="rId3" Type="http://schemas.openxmlformats.org/officeDocument/2006/relationships/hyperlink" Target="https://www.google.com/search?safe=active&amp;rlz=1C1GCEW_enIN1075IN1075&amp;cs=0&amp;sca_esv=46d8f456fc647ea5&amp;sxsrf=AE3TifNDLoEIu_tJAOFPiPzZOnk7jiIWYw%3A1754371051152&amp;q=MTTR+%28Mean+Time+to+Repair%2FResolution%29&amp;sa=X&amp;ved=2ahUKEwjU8L659fKOAxXg3TgGHdvdI60QxccNegQIDxAB&amp;mstk=AUtExfCvwzx0hHXloPmoX3A5T7ANmqYoRoBScVQ6WS9CyJz_OtYViWqwx9-4kG0SoMaUYYp0G88L1pJZ9MniP1HsNJHL0qXD3ZKJIFTxhYNMoR2CiNzvzKPeDePiUr9EWReXU0hVL7wfKLkW3lRwgp0lRC3WD79jigC1pMtclNTWTZx_BU8&amp;csui=3" TargetMode="External"/><Relationship Id="rId2" Type="http://schemas.openxmlformats.org/officeDocument/2006/relationships/hyperlink" Target="https://www.google.com/search?safe=active&amp;rlz=1C1GCEW_enIN1075IN1075&amp;cs=0&amp;sca_esv=46d8f456fc647ea5&amp;sxsrf=AE3TifNDLoEIu_tJAOFPiPzZOnk7jiIWYw%3A1754371051152&amp;q=MTTD+%28Mean+Time+to+Detect%29&amp;sa=X&amp;ved=2ahUKEwjU8L659fKOAxXg3TgGHdvdI60QxccNegQIDRAB&amp;mstk=AUtExfCvwzx0hHXloPmoX3A5T7ANmqYoRoBScVQ6WS9CyJz_OtYViWqwx9-4kG0SoMaUYYp0G88L1pJZ9MniP1HsNJHL0qXD3ZKJIFTxhYNMoR2CiNzvzKPeDePiUr9EWReXU0hVL7wfKLkW3lRwgp0lRC3WD79jigC1pMtclNTWTZx_BU8&amp;csui=3" TargetMode="External"/><Relationship Id="rId1" Type="http://schemas.openxmlformats.org/officeDocument/2006/relationships/slideLayout" Target="../slideLayouts/slideLayout2.xml"/><Relationship Id="rId4" Type="http://schemas.openxmlformats.org/officeDocument/2006/relationships/hyperlink" Target="https://www.google.com/search?safe=active&amp;rlz=1C1GCEW_enIN1075IN1075&amp;cs=0&amp;sca_esv=46d8f456fc647ea5&amp;sxsrf=AE3TifNDLoEIu_tJAOFPiPzZOnk7jiIWYw%3A1754371051152&amp;q=MTTF+%28Mean+Time+to+Failure%29&amp;sa=X&amp;ved=2ahUKEwjU8L659fKOAxXg3TgGHdvdI60QxccNegQIDhAB&amp;mstk=AUtExfCvwzx0hHXloPmoX3A5T7ANmqYoRoBScVQ6WS9CyJz_OtYViWqwx9-4kG0SoMaUYYp0G88L1pJZ9MniP1HsNJHL0qXD3ZKJIFTxhYNMoR2CiNzvzKPeDePiUr9EWReXU0hVL7wfKLkW3lRwgp0lRC3WD79jigC1pMtclNTWTZx_BU8&amp;csui=3" TargetMode="Externa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96.jpe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 Id="rId6" Type="http://schemas.openxmlformats.org/officeDocument/2006/relationships/hyperlink" Target="https://www.druva.com/documents/pf/ebooks/druva-ebook-ultimate-guide-to-achieving-rpo-rto.pdf" TargetMode="External"/><Relationship Id="rId5" Type="http://schemas.openxmlformats.org/officeDocument/2006/relationships/hyperlink" Target="https://learn.microsoft.com/en-us/azure/architecture/solution-ideas/articles/disaster-recovery-enterprise-scale-dr" TargetMode="External"/><Relationship Id="rId4" Type="http://schemas.openxmlformats.org/officeDocument/2006/relationships/hyperlink" Target="https://docs.aws.amazon.com/whitepapers/latest/disaster-recovery-workloads-on-aws/disaster-recovery-options-in-the-cloud.html" TargetMode="Externa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3" Type="http://schemas.openxmlformats.org/officeDocument/2006/relationships/hyperlink" Target="https://www.solarwinds.com/resources/it-glossary/network-availability" TargetMode="External"/><Relationship Id="rId2" Type="http://schemas.openxmlformats.org/officeDocument/2006/relationships/hyperlink" Target="https://nilesecure.com/network-design/network-scalability" TargetMode="External"/><Relationship Id="rId1" Type="http://schemas.openxmlformats.org/officeDocument/2006/relationships/slideLayout" Target="../slideLayouts/slideLayout2.xml"/><Relationship Id="rId4" Type="http://schemas.openxmlformats.org/officeDocument/2006/relationships/hyperlink" Target="https://www.f5.com/glossary/network-availability" TargetMode="External"/></Relationships>
</file>

<file path=ppt/slides/_rels/slide179.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186.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hyperlink" Target="https://aws.amazon.com/blogs/architecture/shuffle-sharding-massive-and-magical-fault-isolation/" TargetMode="External"/><Relationship Id="rId2" Type="http://schemas.openxmlformats.org/officeDocument/2006/relationships/hyperlink" Target="https://learn.microsoft.com/en-us/azure/architecture/patterns/bulkhead" TargetMode="External"/><Relationship Id="rId1" Type="http://schemas.openxmlformats.org/officeDocument/2006/relationships/slideLayout" Target="../slideLayouts/slideLayout2.xml"/><Relationship Id="rId4" Type="http://schemas.openxmlformats.org/officeDocument/2006/relationships/hyperlink" Target="https://docs.aws.amazon.com/wellarchitected/latest/reducing-scope-of-impact-with-cell-based-architecture/reducing-scope-of-impact-with-cell-based-architecture.html" TargetMode="External"/></Relationships>
</file>

<file path=ppt/slides/_rels/slide191.xml.rels><?xml version="1.0" encoding="UTF-8" standalone="yes"?>
<Relationships xmlns="http://schemas.openxmlformats.org/package/2006/relationships"><Relationship Id="rId3" Type="http://schemas.openxmlformats.org/officeDocument/2006/relationships/hyperlink" Target="https://www.deccanherald.com/technology/iisc-scientists-report-computing-breakthrough-3187052" TargetMode="External"/><Relationship Id="rId2" Type="http://schemas.openxmlformats.org/officeDocument/2006/relationships/hyperlink" Target="http://akka.io/?ref=hackernoon.com" TargetMode="External"/><Relationship Id="rId1" Type="http://schemas.openxmlformats.org/officeDocument/2006/relationships/slideLayout" Target="../slideLayouts/slideLayout2.xml"/><Relationship Id="rId5" Type="http://schemas.openxmlformats.org/officeDocument/2006/relationships/hyperlink" Target="https://petabridge.com/blog/top-akkadotnet-design-patterns/" TargetMode="External"/><Relationship Id="rId4" Type="http://schemas.openxmlformats.org/officeDocument/2006/relationships/hyperlink" Target="https://petabridge.com/blog/how-actors-recover-from-failure-hierarchy-and-supervision/" TargetMode="Externa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hyperlink" Target="https://aws.amazon.com/builders-library/timeouts-retries-and-backoff-with-jitter/" TargetMode="External"/><Relationship Id="rId7" Type="http://schemas.openxmlformats.org/officeDocument/2006/relationships/hyperlink" Target="https://learn.microsoft.com/en-us/azure/architecture/patterns/circuit-breaker" TargetMode="External"/><Relationship Id="rId2" Type="http://schemas.openxmlformats.org/officeDocument/2006/relationships/hyperlink" Target="https://github.com/sandipray63in/DDD-Based-Enterprise-Application-Framework/tree/master/Infrastructure/ExceptionHandling" TargetMode="External"/><Relationship Id="rId1" Type="http://schemas.openxmlformats.org/officeDocument/2006/relationships/slideLayout" Target="../slideLayouts/slideLayout2.xml"/><Relationship Id="rId6" Type="http://schemas.openxmlformats.org/officeDocument/2006/relationships/hyperlink" Target="https://learn.microsoft.com/en-us/dotnet/core/resilience/http-resilience?tabs=dotnet-cli#standard-resilience-handler-defaults" TargetMode="External"/><Relationship Id="rId5" Type="http://schemas.openxmlformats.org/officeDocument/2006/relationships/hyperlink" Target="https://devblogs.microsoft.com/dotnet/building-resilient-cloud-services-with-dotnet-8/" TargetMode="External"/><Relationship Id="rId4" Type="http://schemas.openxmlformats.org/officeDocument/2006/relationships/hyperlink" Target="https://www.nikolatech.net/blogs/resilient-dotnet-application-with-polly-resilience-pipelines" TargetMode="External"/></Relationships>
</file>

<file path=ppt/slides/_rels/slide196.xml.rels><?xml version="1.0" encoding="UTF-8" standalone="yes"?>
<Relationships xmlns="http://schemas.openxmlformats.org/package/2006/relationships"><Relationship Id="rId3" Type="http://schemas.openxmlformats.org/officeDocument/2006/relationships/hyperlink" Target="https://www.linkedin.com/posts/maheshma_engineering-systemdesign-interview-activity-7157922929328943104-1A7d/" TargetMode="External"/><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xml"/><Relationship Id="rId4" Type="http://schemas.openxmlformats.org/officeDocument/2006/relationships/image" Target="../media/image119.png"/></Relationships>
</file>

<file path=ppt/slides/_rels/slide223.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2.xml"/><Relationship Id="rId4" Type="http://schemas.openxmlformats.org/officeDocument/2006/relationships/image" Target="../media/image126.png"/></Relationships>
</file>

<file path=ppt/slides/_rels/slide228.xml.rels><?xml version="1.0" encoding="UTF-8" standalone="yes"?>
<Relationships xmlns="http://schemas.openxmlformats.org/package/2006/relationships"><Relationship Id="rId3" Type="http://schemas.openxmlformats.org/officeDocument/2006/relationships/hyperlink" Target="https://www.freecodecamp.org/news/how-to-deal-with-traffic-surges-in-distributed-systems/" TargetMode="External"/><Relationship Id="rId2" Type="http://schemas.openxmlformats.org/officeDocument/2006/relationships/hyperlink" Target="https://www.ioriver.io/terms/burst-traffic-management" TargetMode="External"/><Relationship Id="rId1" Type="http://schemas.openxmlformats.org/officeDocument/2006/relationships/slideLayout" Target="../slideLayouts/slideLayout2.xml"/><Relationship Id="rId4" Type="http://schemas.openxmlformats.org/officeDocument/2006/relationships/hyperlink" Target="https://scalabrix.medium.com/system-design-concepts-bursty-traffic-handling-7738127f5a0d" TargetMode="Externa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8" Type="http://schemas.openxmlformats.org/officeDocument/2006/relationships/hyperlink" Target="https://cloud.connect.isc2.org/sscp-ultimate-guide?utm_source=google&amp;utm_medium=cpc&amp;utm_campaign=GBL-B2C-SSCPultimateguide&amp;utm_term=search&amp;utm_content=GBL-B2C-SSCPultimateguide&amp;gad_source=1&amp;gad_campaignid=22034240543&amp;gbraid=0AAAAAD-S_-PA4fJCMfnVx9PIsQ5UU-uPk&amp;gclid=CjwKCAiA95fLBhBPEiwATXUsxCuex7MLofd2Hk2Uo9kgayp0IS6Tm6iAkikmrz8oHrB9C-JlQSD-LRoC-WsQAvD_BwE" TargetMode="External"/><Relationship Id="rId3" Type="http://schemas.openxmlformats.org/officeDocument/2006/relationships/hyperlink" Target="https://www.splunk.com/en_us/training/free-courses/overview.html" TargetMode="External"/><Relationship Id="rId7" Type="http://schemas.openxmlformats.org/officeDocument/2006/relationships/hyperlink" Target="https://www.fortinet.com/nse-training" TargetMode="External"/><Relationship Id="rId2" Type="http://schemas.openxmlformats.org/officeDocument/2006/relationships/hyperlink" Target="https://www.levelupinfosec.com/freestuff" TargetMode="External"/><Relationship Id="rId1" Type="http://schemas.openxmlformats.org/officeDocument/2006/relationships/slideLayout" Target="../slideLayouts/slideLayout2.xml"/><Relationship Id="rId6" Type="http://schemas.openxmlformats.org/officeDocument/2006/relationships/hyperlink" Target="https://www.netacad.com/" TargetMode="External"/><Relationship Id="rId5" Type="http://schemas.openxmlformats.org/officeDocument/2006/relationships/hyperlink" Target="https://github.com/jassics/awesome-cybersecurity-learning-resources" TargetMode="External"/><Relationship Id="rId4" Type="http://schemas.openxmlformats.org/officeDocument/2006/relationships/hyperlink" Target="https://www.coursera.org/specializations/cybersecurity-fundamentals" TargetMode="External"/></Relationships>
</file>

<file path=ppt/slides/_rels/slide237.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2" Type="http://schemas.openxmlformats.org/officeDocument/2006/relationships/hyperlink" Target="https://en.m.wikipedia.org/wiki/Privacy-nhancing_technologies" TargetMode="External"/><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3" Type="http://schemas.openxmlformats.org/officeDocument/2006/relationships/hyperlink" Target="https://tetrate.io/learn/what-is-mtls/" TargetMode="External"/><Relationship Id="rId2" Type="http://schemas.openxmlformats.org/officeDocument/2006/relationships/image" Target="../media/image131.png"/><Relationship Id="rId1" Type="http://schemas.openxmlformats.org/officeDocument/2006/relationships/slideLayout" Target="../slideLayouts/slideLayout2.xml"/><Relationship Id="rId6" Type="http://schemas.openxmlformats.org/officeDocument/2006/relationships/hyperlink" Target="https://learn.microsoft.com/en-us/answers/questions/2141429/implementing-mtls-between-two-apps-using-asp-net" TargetMode="External"/><Relationship Id="rId5" Type="http://schemas.openxmlformats.org/officeDocument/2006/relationships/hyperlink" Target="https://github.com/kallerosenbaum/grokkingbitcoin/blob/master/ch02-hash-functions-and-signatures.adoc" TargetMode="External"/><Relationship Id="rId4" Type="http://schemas.openxmlformats.org/officeDocument/2006/relationships/hyperlink" Target="https://aws.amazon.com/compare/the-difference-between-ssl-and-tls/" TargetMode="Externa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3" Type="http://schemas.openxmlformats.org/officeDocument/2006/relationships/hyperlink" Target="https://www.c-sharpcorner.com/article/building-a-dynamic-data-masking-and-declassification-pipeline-in-net/" TargetMode="External"/><Relationship Id="rId2" Type="http://schemas.openxmlformats.org/officeDocument/2006/relationships/hyperlink" Target="https://learn.microsoft.com/en-us/dotnet/standard/security/how-to-use-data-protection" TargetMode="External"/><Relationship Id="rId1" Type="http://schemas.openxmlformats.org/officeDocument/2006/relationships/slideLayout" Target="../slideLayouts/slideLayout2.xml"/><Relationship Id="rId6" Type="http://schemas.openxmlformats.org/officeDocument/2006/relationships/hyperlink" Target="https://learn.microsoft.com/en-us/visualstudio/ide/dotfuscator/?view=visualstudio" TargetMode="External"/><Relationship Id="rId5" Type="http://schemas.openxmlformats.org/officeDocument/2006/relationships/hyperlink" Target="https://www.tonic.ai/blog/evaluating-open-source-tools-data-masking" TargetMode="External"/><Relationship Id="rId4" Type="http://schemas.openxmlformats.org/officeDocument/2006/relationships/hyperlink" Target="https://digital.ai/catalyst-blog/how-to-obfuscate-c-sharp-code/" TargetMode="Externa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2" Type="http://schemas.openxmlformats.org/officeDocument/2006/relationships/image" Target="../media/image137.png"/><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2" Type="http://schemas.openxmlformats.org/officeDocument/2006/relationships/hyperlink" Target="https://connect2id.com/blog/how-to-validate-an-openid-connect-id-token" TargetMode="External"/><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3" Type="http://schemas.openxmlformats.org/officeDocument/2006/relationships/hyperlink" Target="https://stackoverflow.com/questions/63465539/web-sso-with-external-or-partner-applications" TargetMode="External"/><Relationship Id="rId2" Type="http://schemas.openxmlformats.org/officeDocument/2006/relationships/image" Target="../media/image139.png"/><Relationship Id="rId1" Type="http://schemas.openxmlformats.org/officeDocument/2006/relationships/slideLayout" Target="../slideLayouts/slideLayout2.xml"/><Relationship Id="rId5" Type="http://schemas.openxmlformats.org/officeDocument/2006/relationships/hyperlink" Target="https://www.linkedin.com/posts/nikkisiapno_%3F%3F%3F-%3F%3F%3F%3F%3F%3F-%3F%3F%3F%3F-%3F%3F-%3F%3F%3F%3F%3F%3F%3F%3F%3F-activity-7204024260158193664-HTSo/" TargetMode="External"/><Relationship Id="rId4" Type="http://schemas.openxmlformats.org/officeDocument/2006/relationships/hyperlink" Target="https://newsletter.techworld-with-milan.com/p/how-does-single-sign-on-sso-work" TargetMode="External"/></Relationships>
</file>

<file path=ppt/slides/_rels/slide322.xml.rels><?xml version="1.0" encoding="UTF-8" standalone="yes"?>
<Relationships xmlns="http://schemas.openxmlformats.org/package/2006/relationships"><Relationship Id="rId3" Type="http://schemas.openxmlformats.org/officeDocument/2006/relationships/hyperlink" Target="https://auth0.com/docs/manage-users/organizations" TargetMode="External"/><Relationship Id="rId2" Type="http://schemas.openxmlformats.org/officeDocument/2006/relationships/hyperlink" Target="https://auth0.com/docs/manage-users/user-accounts/user-account-linking" TargetMode="External"/><Relationship Id="rId1" Type="http://schemas.openxmlformats.org/officeDocument/2006/relationships/slideLayout" Target="../slideLayouts/slideLayout2.xml"/><Relationship Id="rId4" Type="http://schemas.openxmlformats.org/officeDocument/2006/relationships/hyperlink" Target="https://community.auth0.com/t/account-linking-and-sso/128446" TargetMode="Externa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3" Type="http://schemas.openxmlformats.org/officeDocument/2006/relationships/hyperlink" Target="https://www.openpolicyagent.org/docs/policy-language" TargetMode="External"/><Relationship Id="rId7" Type="http://schemas.openxmlformats.org/officeDocument/2006/relationships/hyperlink" Target="https://www.manning.com/books/dynamic-authorization" TargetMode="External"/><Relationship Id="rId2" Type="http://schemas.openxmlformats.org/officeDocument/2006/relationships/hyperlink" Target="https://www.aserto.com/blog/rbac-abac-and-rebac-differences-and-scenarios" TargetMode="External"/><Relationship Id="rId1" Type="http://schemas.openxmlformats.org/officeDocument/2006/relationships/slideLayout" Target="../slideLayouts/slideLayout2.xml"/><Relationship Id="rId6" Type="http://schemas.openxmlformats.org/officeDocument/2006/relationships/hyperlink" Target="https://docs.solo.io/gloo-mesh-enterprise/main/security/external-auth/opa/opa-byo/" TargetMode="External"/><Relationship Id="rId5" Type="http://schemas.openxmlformats.org/officeDocument/2006/relationships/hyperlink" Target="https://github.com/openfga/dotnet-sdk" TargetMode="External"/><Relationship Id="rId4" Type="http://schemas.openxmlformats.org/officeDocument/2006/relationships/hyperlink" Target="https://github.com/open-policy-agent/opa-csharp" TargetMode="External"/></Relationships>
</file>

<file path=ppt/slides/_rels/slide329.xml.rels><?xml version="1.0" encoding="UTF-8" standalone="yes"?>
<Relationships xmlns="http://schemas.openxmlformats.org/package/2006/relationships"><Relationship Id="rId3" Type="http://schemas.openxmlformats.org/officeDocument/2006/relationships/hyperlink" Target="https://github.com/aserto-dev/topaz" TargetMode="External"/><Relationship Id="rId2" Type="http://schemas.openxmlformats.org/officeDocument/2006/relationships/hyperlink" Target="https://www.aserto.com/blog/fine-grained-authorization-with-topaz" TargetMode="External"/><Relationship Id="rId1" Type="http://schemas.openxmlformats.org/officeDocument/2006/relationships/slideLayout" Target="../slideLayouts/slideLayout2.xml"/><Relationship Id="rId4" Type="http://schemas.openxmlformats.org/officeDocument/2006/relationships/hyperlink" Target="https://github.com/aserto-dev/aserto-dotnet" TargetMode="Externa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2" Type="http://schemas.openxmlformats.org/officeDocument/2006/relationships/hyperlink" Target="https://github.com/hysnsec/awesome-threat-modelling" TargetMode="External"/><Relationship Id="rId1" Type="http://schemas.openxmlformats.org/officeDocument/2006/relationships/slideLayout" Target="../slideLayouts/slideLayout2.xml"/></Relationships>
</file>

<file path=ppt/slides/_rels/slide345.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3" Type="http://schemas.openxmlformats.org/officeDocument/2006/relationships/hyperlink" Target="https://www.microsoft.com/en-in/security/business/zero-trust" TargetMode="External"/><Relationship Id="rId2" Type="http://schemas.openxmlformats.org/officeDocument/2006/relationships/hyperlink" Target="https://www.crowdstrike.com/en-us/cybersecurity-101/zero-trust-security/" TargetMode="External"/><Relationship Id="rId1" Type="http://schemas.openxmlformats.org/officeDocument/2006/relationships/slideLayout" Target="../slideLayouts/slideLayout2.xml"/><Relationship Id="rId5" Type="http://schemas.openxmlformats.org/officeDocument/2006/relationships/hyperlink" Target="https://github.com/pomerium/awesome-zero-trust" TargetMode="External"/><Relationship Id="rId4" Type="http://schemas.openxmlformats.org/officeDocument/2006/relationships/hyperlink" Target="https://www.linkedin.com/pulse/zero-trust-security-cautious-move-balaji-ramarajan/" TargetMode="External"/></Relationships>
</file>

<file path=ppt/slides/_rels/slide363.xml.rels><?xml version="1.0" encoding="UTF-8" standalone="yes"?>
<Relationships xmlns="http://schemas.openxmlformats.org/package/2006/relationships"><Relationship Id="rId3" Type="http://schemas.openxmlformats.org/officeDocument/2006/relationships/hyperlink" Target="https://accelera.com.au/what-the-sec-is-devsecops/" TargetMode="External"/><Relationship Id="rId2" Type="http://schemas.openxmlformats.org/officeDocument/2006/relationships/hyperlink" Target="https://www.blackduck.com/blog/secure-sdlc.html" TargetMode="External"/><Relationship Id="rId1" Type="http://schemas.openxmlformats.org/officeDocument/2006/relationships/slideLayout" Target="../slideLayouts/slideLayout2.xml"/><Relationship Id="rId4" Type="http://schemas.openxmlformats.org/officeDocument/2006/relationships/image" Target="../media/image141.png"/></Relationships>
</file>

<file path=ppt/slides/_rels/slide364.xml.rels><?xml version="1.0" encoding="UTF-8" standalone="yes"?>
<Relationships xmlns="http://schemas.openxmlformats.org/package/2006/relationships"><Relationship Id="rId8" Type="http://schemas.openxmlformats.org/officeDocument/2006/relationships/hyperlink" Target="https://curity.io/resources/learn/impersonation-flow-approaches/" TargetMode="External"/><Relationship Id="rId13" Type="http://schemas.openxmlformats.org/officeDocument/2006/relationships/hyperlink" Target="https://www.manning.com/books/microservices-security-in-action" TargetMode="External"/><Relationship Id="rId18" Type="http://schemas.openxmlformats.org/officeDocument/2006/relationships/hyperlink" Target="https://pathlock.com/learn/data-masking-vs-tokenization/" TargetMode="External"/><Relationship Id="rId26" Type="http://schemas.openxmlformats.org/officeDocument/2006/relationships/hyperlink" Target="https://github.com/dvsekhvalnov/jose-jwt" TargetMode="External"/><Relationship Id="rId3" Type="http://schemas.openxmlformats.org/officeDocument/2006/relationships/hyperlink" Target="https://www.udemy.com/course/oauth-2-simplified/" TargetMode="External"/><Relationship Id="rId21" Type="http://schemas.openxmlformats.org/officeDocument/2006/relationships/hyperlink" Target="https://www.packtpub.com/en-in/product/implementing-multifactor-authentication-9781803246963" TargetMode="External"/><Relationship Id="rId7" Type="http://schemas.openxmlformats.org/officeDocument/2006/relationships/hyperlink" Target="https://developer.okta.com/docs/guides/implement-grant-type/authcode/main/" TargetMode="External"/><Relationship Id="rId12" Type="http://schemas.openxmlformats.org/officeDocument/2006/relationships/hyperlink" Target="https://www.pingidentity.com/en/resources/identity-fundamentals/authorization/authorization-methods.html" TargetMode="External"/><Relationship Id="rId17" Type="http://schemas.openxmlformats.org/officeDocument/2006/relationships/hyperlink" Target="https://www.techtarget.com/searchsecurity/tip/Data-masking-vs-data-encryption-How-do-they-differ" TargetMode="External"/><Relationship Id="rId25" Type="http://schemas.openxmlformats.org/officeDocument/2006/relationships/hyperlink" Target="https://stackoverflow.com/questions/74257560/what-is-the-difference-between-jose-jwa-jwe-jwk-jws-and-jwt" TargetMode="External"/><Relationship Id="rId2" Type="http://schemas.openxmlformats.org/officeDocument/2006/relationships/notesSlide" Target="../notesSlides/notesSlide2.xml"/><Relationship Id="rId16" Type="http://schemas.openxmlformats.org/officeDocument/2006/relationships/hyperlink" Target="https://identitymeme.org/doc/draft-hodges-learning-saml-00.html" TargetMode="External"/><Relationship Id="rId20" Type="http://schemas.openxmlformats.org/officeDocument/2006/relationships/hyperlink" Target="https://github.com/fschick/Keycloak.ASPNet.Angular?tab=readme-ov-file" TargetMode="External"/><Relationship Id="rId29" Type="http://schemas.openxmlformats.org/officeDocument/2006/relationships/hyperlink" Target="https://learn.microsoft.com/en-us/azure/architecture/reference-architectures/containers/aks-pci/aks-pci-ra-code-assets" TargetMode="External"/><Relationship Id="rId1" Type="http://schemas.openxmlformats.org/officeDocument/2006/relationships/slideLayout" Target="../slideLayouts/slideLayout2.xml"/><Relationship Id="rId6" Type="http://schemas.openxmlformats.org/officeDocument/2006/relationships/hyperlink" Target="https://medium.com/@danny.garcia_19872/creating-your-own-global-identity-provider-part-i-4688bd28e1b3" TargetMode="External"/><Relationship Id="rId11" Type="http://schemas.openxmlformats.org/officeDocument/2006/relationships/hyperlink" Target="https://www.syncfusion.com/succinctly-free-ebooks?category=all&amp;searchkey=security&amp;type=al" TargetMode="External"/><Relationship Id="rId24" Type="http://schemas.openxmlformats.org/officeDocument/2006/relationships/hyperlink" Target="https://bigid.com/blog/sensitive-information-guide/" TargetMode="External"/><Relationship Id="rId5" Type="http://schemas.openxmlformats.org/officeDocument/2006/relationships/hyperlink" Target="https://blog.bytebytego.com/p/ep120-what-do-version-numbers-mean?open=false#%C2%A7cybersecurity-in-one-picture" TargetMode="External"/><Relationship Id="rId15" Type="http://schemas.openxmlformats.org/officeDocument/2006/relationships/hyperlink" Target="https://dzone.com/refcardz/oauth-patterns-and-anti-patterns" TargetMode="External"/><Relationship Id="rId23" Type="http://schemas.openxmlformats.org/officeDocument/2006/relationships/hyperlink" Target="https://sprinto.com/blog/difference-between-pii-phi-and-pci/" TargetMode="External"/><Relationship Id="rId28" Type="http://schemas.openxmlformats.org/officeDocument/2006/relationships/hyperlink" Target="https://www.compliancepoint.com/regulations/pci-3ds/" TargetMode="External"/><Relationship Id="rId10" Type="http://schemas.openxmlformats.org/officeDocument/2006/relationships/hyperlink" Target="https://fusionauth.io/articles/oauth/complete-list-oauth-grants" TargetMode="External"/><Relationship Id="rId19" Type="http://schemas.openxmlformats.org/officeDocument/2006/relationships/hyperlink" Target="https://satoricyber.com/data-masking/data-masking-8-techniques-and-how-to-implement-them-successfully/" TargetMode="External"/><Relationship Id="rId4" Type="http://schemas.openxmlformats.org/officeDocument/2006/relationships/hyperlink" Target="https://stackoverflow.com/questions/48581556/oauth2-scopes-and-user-roles" TargetMode="External"/><Relationship Id="rId9" Type="http://schemas.openxmlformats.org/officeDocument/2006/relationships/hyperlink" Target="https://leverture.com/software/software-design-challenge-how-to-implement-impersonation-with-auth0/" TargetMode="External"/><Relationship Id="rId14" Type="http://schemas.openxmlformats.org/officeDocument/2006/relationships/hyperlink" Target="https://link.springer.com/book/10.1007/978-1-4842-2050-4" TargetMode="External"/><Relationship Id="rId22" Type="http://schemas.openxmlformats.org/officeDocument/2006/relationships/hyperlink" Target="https://www.packtpub.com/en-us/product/identity-management-with-biometrics-9781838988388" TargetMode="External"/><Relationship Id="rId27" Type="http://schemas.openxmlformats.org/officeDocument/2006/relationships/hyperlink" Target="https://learn.microsoft.com/en-us/azure/compliance/offerings/offering-pci-dss" TargetMode="External"/></Relationships>
</file>

<file path=ppt/slides/_rels/slide365.xml.rels><?xml version="1.0" encoding="UTF-8" standalone="yes"?>
<Relationships xmlns="http://schemas.openxmlformats.org/package/2006/relationships"><Relationship Id="rId8" Type="http://schemas.openxmlformats.org/officeDocument/2006/relationships/hyperlink" Target="https://learn.microsoft.com/en-us/entra/identity-platform/app-objects-and-service-principals?tabs=browser" TargetMode="External"/><Relationship Id="rId13" Type="http://schemas.openxmlformats.org/officeDocument/2006/relationships/hyperlink" Target="https://learn.microsoft.com/en-us/entra/architecture/auth-password-based-sso" TargetMode="External"/><Relationship Id="rId18" Type="http://schemas.openxmlformats.org/officeDocument/2006/relationships/hyperlink" Target="https://github.com/microsoftgraph/msgraph-sdk-design" TargetMode="External"/><Relationship Id="rId26" Type="http://schemas.openxmlformats.org/officeDocument/2006/relationships/hyperlink" Target="https://github.com/azure-ad-b2c/samples" TargetMode="External"/><Relationship Id="rId3" Type="http://schemas.openxmlformats.org/officeDocument/2006/relationships/hyperlink" Target="https://learn.microsoft.com/en-us/entra/identity-platform/v2-oauth-ropc" TargetMode="External"/><Relationship Id="rId21" Type="http://schemas.openxmlformats.org/officeDocument/2006/relationships/hyperlink" Target="https://learn.microsoft.com/en-us/azure/active-directory-b2c/microsoft-graph-operations" TargetMode="External"/><Relationship Id="rId7" Type="http://schemas.openxmlformats.org/officeDocument/2006/relationships/hyperlink" Target="https://learn.microsoft.com/en-us/entra/fundamentals/new-name" TargetMode="External"/><Relationship Id="rId12" Type="http://schemas.openxmlformats.org/officeDocument/2006/relationships/hyperlink" Target="https://learn.microsoft.com/en-us/entra/identity-platform/howto-configure-publisher-domain" TargetMode="External"/><Relationship Id="rId17" Type="http://schemas.openxmlformats.org/officeDocument/2006/relationships/hyperlink" Target="https://developer.microsoft.com/en-us/graph/graph-explorer" TargetMode="External"/><Relationship Id="rId25" Type="http://schemas.openxmlformats.org/officeDocument/2006/relationships/hyperlink" Target="https://learn.microsoft.com/en-us/azure/active-directory-b2c/user-migration" TargetMode="External"/><Relationship Id="rId2" Type="http://schemas.openxmlformats.org/officeDocument/2006/relationships/notesSlide" Target="../notesSlides/notesSlide3.xml"/><Relationship Id="rId16" Type="http://schemas.openxmlformats.org/officeDocument/2006/relationships/hyperlink" Target="https://learn.microsoft.com/en-us/entra/identity-platform/v2-protocols-oidc" TargetMode="External"/><Relationship Id="rId20" Type="http://schemas.openxmlformats.org/officeDocument/2006/relationships/hyperlink" Target="https://learn.microsoft.com/en-us/azure/active-directory-b2c/billing" TargetMode="External"/><Relationship Id="rId1" Type="http://schemas.openxmlformats.org/officeDocument/2006/relationships/slideLayout" Target="../slideLayouts/slideLayout2.xml"/><Relationship Id="rId6" Type="http://schemas.openxmlformats.org/officeDocument/2006/relationships/hyperlink" Target="https://www.microsoft.com/en-us/securityengineering/sdl" TargetMode="External"/><Relationship Id="rId11" Type="http://schemas.openxmlformats.org/officeDocument/2006/relationships/hyperlink" Target="https://medium.com/@dany74q/service-to-service-auth-with-azure-ad-msi-oauth-2-0-step-by-step-a1aed196b1e1" TargetMode="External"/><Relationship Id="rId24" Type="http://schemas.openxmlformats.org/officeDocument/2006/relationships/hyperlink" Target="https://learn.microsoft.com/en-us/azure/active-directory-b2c/trustframeworkpolicy" TargetMode="External"/><Relationship Id="rId5" Type="http://schemas.openxmlformats.org/officeDocument/2006/relationships/hyperlink" Target="https://learn.microsoft.com/en-us/entra/identity-platform/v2-overview" TargetMode="External"/><Relationship Id="rId15" Type="http://schemas.openxmlformats.org/officeDocument/2006/relationships/hyperlink" Target="https://www.microsoft.com/en-us/download/details.aspx?id=28362" TargetMode="External"/><Relationship Id="rId23" Type="http://schemas.openxmlformats.org/officeDocument/2006/relationships/hyperlink" Target="https://learn.microsoft.com/en-us/azure/active-directory-b2c/custom-policy-developer-notes" TargetMode="External"/><Relationship Id="rId28" Type="http://schemas.openxmlformats.org/officeDocument/2006/relationships/hyperlink" Target="https://www.syncfusion.com/succinctly-free-ebooks/external-collaboration-with-azure-ad-b2b-succinctly" TargetMode="External"/><Relationship Id="rId10" Type="http://schemas.openxmlformats.org/officeDocument/2006/relationships/hyperlink" Target="https://medium.com/@tophamcherie/creating-azure-service-principals-or-managed-identities-granting-them-access-965ab38d6936" TargetMode="External"/><Relationship Id="rId19" Type="http://schemas.openxmlformats.org/officeDocument/2006/relationships/hyperlink" Target="https://learn.microsoft.com/en-us/azure/active-directory-b2c/overview" TargetMode="External"/><Relationship Id="rId4" Type="http://schemas.openxmlformats.org/officeDocument/2006/relationships/hyperlink" Target="https://stackoverflow.com/questions/39271230/azure-ad-vs-azure-ad-b2c-vs-azure-ad-b2b" TargetMode="External"/><Relationship Id="rId9" Type="http://schemas.openxmlformats.org/officeDocument/2006/relationships/hyperlink" Target="https://www.atmosera.com/blog/azure-service-principal-vs-managed-identity" TargetMode="External"/><Relationship Id="rId14" Type="http://schemas.openxmlformats.org/officeDocument/2006/relationships/hyperlink" Target="https://learn.microsoft.com/en-us/aspnet/web-api/overview/security/integrated-windows-authentication" TargetMode="External"/><Relationship Id="rId22" Type="http://schemas.openxmlformats.org/officeDocument/2006/relationships/hyperlink" Target="https://learn.microsoft.com/en-us/azure/active-directory-b2c/custom-domain?pivots=b2c-user-flow" TargetMode="External"/><Relationship Id="rId27" Type="http://schemas.openxmlformats.org/officeDocument/2006/relationships/hyperlink" Target="https://learn.microsoft.com/en-us/azure/active-directory-b2c/error-codes" TargetMode="Externa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2" Type="http://schemas.openxmlformats.org/officeDocument/2006/relationships/hyperlink" Target="https://learn.microsoft.com/en-us/aspnet/core/security/anti-request-forgery?view=aspnetcore-8.0" TargetMode="External"/><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2" Type="http://schemas.openxmlformats.org/officeDocument/2006/relationships/image" Target="../media/image143.jpeg"/><Relationship Id="rId1" Type="http://schemas.openxmlformats.org/officeDocument/2006/relationships/slideLayout" Target="../slideLayouts/slideLayout2.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2" Type="http://schemas.openxmlformats.org/officeDocument/2006/relationships/hyperlink" Target="https://owasp.org/www-community/attacks/Server_Side_Request_Forgery" TargetMode="External"/><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2" Type="http://schemas.openxmlformats.org/officeDocument/2006/relationships/hyperlink" Target="https://learn.microsoft.com/en-us/aspnet/core/security/cors?view=aspnetcore-8.0" TargetMode="External"/><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2" Type="http://schemas.openxmlformats.org/officeDocument/2006/relationships/hyperlink" Target="https://learn.microsoft.com/en-us/aspnet/core/security/cross-site-scripting?view=aspnetcore-8.0" TargetMode="External"/><Relationship Id="rId1" Type="http://schemas.openxmlformats.org/officeDocument/2006/relationships/slideLayout" Target="../slideLayouts/slideLayout2.xml"/></Relationships>
</file>

<file path=ppt/slides/_rels/slide407.xml.rels><?xml version="1.0" encoding="UTF-8" standalone="yes"?>
<Relationships xmlns="http://schemas.openxmlformats.org/package/2006/relationships"><Relationship Id="rId2" Type="http://schemas.openxmlformats.org/officeDocument/2006/relationships/image" Target="../media/image146.jpeg"/><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2" Type="http://schemas.openxmlformats.org/officeDocument/2006/relationships/hyperlink" Target="https://owasp.org/www-community/attacks/SQL_Injection" TargetMode="External"/><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hyperlink" Target="https://www.cloudflare.com/learning/ddos/what-is-a-ddos-attack/" TargetMode="External"/><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3" Type="http://schemas.openxmlformats.org/officeDocument/2006/relationships/hyperlink" Target="https://www.netscout.com/what-is-ddos/state-exhaustion-attacks" TargetMode="External"/><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xml.rels><?xml version="1.0" encoding="UTF-8" standalone="yes"?>
<Relationships xmlns="http://schemas.openxmlformats.org/package/2006/relationships"><Relationship Id="rId8" Type="http://schemas.openxmlformats.org/officeDocument/2006/relationships/hyperlink" Target="https://portswigger.net/web-security/all-materials/detailed" TargetMode="External"/><Relationship Id="rId3" Type="http://schemas.openxmlformats.org/officeDocument/2006/relationships/hyperlink" Target="https://learn.microsoft.com/en-us/aspnet/core/security/?view=aspnetcore-9.0&amp;viewFallbackFrom=aspnetcor" TargetMode="External"/><Relationship Id="rId7" Type="http://schemas.openxmlformats.org/officeDocument/2006/relationships/hyperlink" Target="https://portswigger.net/burp/documentation/scanner/vulnerabilities-list" TargetMode="External"/><Relationship Id="rId2" Type="http://schemas.openxmlformats.org/officeDocument/2006/relationships/hyperlink" Target="https://artemasemenov.medium.com/unearthing-vulnerabilities-in-c-source-code-a-pragmatic-approach-df595f7686de" TargetMode="External"/><Relationship Id="rId1" Type="http://schemas.openxmlformats.org/officeDocument/2006/relationships/slideLayout" Target="../slideLayouts/slideLayout2.xml"/><Relationship Id="rId6" Type="http://schemas.openxmlformats.org/officeDocument/2006/relationships/hyperlink" Target="https://0xn3va.gitbook.io/cheat-sheets/container/escaping/cve-list" TargetMode="External"/><Relationship Id="rId5" Type="http://schemas.openxmlformats.org/officeDocument/2006/relationships/hyperlink" Target="https://www.oreilly.com/library/view/24-deadly-sins/9780071626750/" TargetMode="External"/><Relationship Id="rId4" Type="http://schemas.openxmlformats.org/officeDocument/2006/relationships/hyperlink" Target="https://owasp.org/www-community/attacks/" TargetMode="Externa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9.png"/><Relationship Id="rId1" Type="http://schemas.openxmlformats.org/officeDocument/2006/relationships/slideLayout" Target="../slideLayouts/slideLayout2.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8.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439.xml.rels><?xml version="1.0" encoding="UTF-8" standalone="yes"?>
<Relationships xmlns="http://schemas.openxmlformats.org/package/2006/relationships"><Relationship Id="rId3" Type="http://schemas.openxmlformats.org/officeDocument/2006/relationships/hyperlink" Target="https://aws.amazon.com/builders-library/leader-election-in-distributed-systems/" TargetMode="External"/><Relationship Id="rId2" Type="http://schemas.openxmlformats.org/officeDocument/2006/relationships/hyperlink" Target="https://learn.microsoft.com/en-us/azure/architecture/patterns/leader-election" TargetMode="External"/><Relationship Id="rId1" Type="http://schemas.openxmlformats.org/officeDocument/2006/relationships/slideLayout" Target="../slideLayouts/slideLayout2.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2.xml"/></Relationships>
</file>

<file path=ppt/slides/_rels/slide444.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3.png"/><Relationship Id="rId1" Type="http://schemas.openxmlformats.org/officeDocument/2006/relationships/slideLayout" Target="../slideLayouts/slideLayout2.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2.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slideLayout" Target="../slideLayouts/slideLayout2.xml"/><Relationship Id="rId4" Type="http://schemas.openxmlformats.org/officeDocument/2006/relationships/image" Target="../media/image159.png"/></Relationships>
</file>

<file path=ppt/slides/_rels/slide461.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2.xml"/><Relationship Id="rId4" Type="http://schemas.openxmlformats.org/officeDocument/2006/relationships/image" Target="../media/image162.png"/></Relationships>
</file>

<file path=ppt/slides/_rels/slide462.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463.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image" Target="../media/image164.png"/><Relationship Id="rId1" Type="http://schemas.openxmlformats.org/officeDocument/2006/relationships/slideLayout" Target="../slideLayouts/slideLayout2.xml"/></Relationships>
</file>

<file path=ppt/slides/_rels/slide464.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xml.rels><?xml version="1.0" encoding="UTF-8" standalone="yes"?>
<Relationships xmlns="http://schemas.openxmlformats.org/package/2006/relationships"><Relationship Id="rId8" Type="http://schemas.openxmlformats.org/officeDocument/2006/relationships/hyperlink" Target="https://www.sciencedirect.com/science/article/pii/B9780080316642500139" TargetMode="External"/><Relationship Id="rId13" Type="http://schemas.openxmlformats.org/officeDocument/2006/relationships/hyperlink" Target="https://www.architecture-weekly.com/p/distributed-locking-a-practical-guide" TargetMode="External"/><Relationship Id="rId3" Type="http://schemas.openxmlformats.org/officeDocument/2006/relationships/hyperlink" Target="https://raft.github.io/" TargetMode="External"/><Relationship Id="rId7" Type="http://schemas.openxmlformats.org/officeDocument/2006/relationships/hyperlink" Target="https://blog.techlanika.com/avoiding-coordination-cost-three-patterns-for-building-efficient-distributed-systems-b8aff9314e88" TargetMode="External"/><Relationship Id="rId12" Type="http://schemas.openxmlformats.org/officeDocument/2006/relationships/hyperlink" Target="https://www.alibabacloud.com/blog/implementation-principles-and-best-practices-of-distributed-lock_600811" TargetMode="External"/><Relationship Id="rId17" Type="http://schemas.openxmlformats.org/officeDocument/2006/relationships/hyperlink" Target="https://jatinchowdhury18.medium.com/wait-free-programming-from-scratch-5ac6a65c23c4" TargetMode="External"/><Relationship Id="rId2" Type="http://schemas.openxmlformats.org/officeDocument/2006/relationships/hyperlink" Target="https://www.youtube.com/watch?v=d7nAGI_NZPk" TargetMode="External"/><Relationship Id="rId16" Type="http://schemas.openxmlformats.org/officeDocument/2006/relationships/hyperlink" Target="https://arxiv.org/abs/2201.00813" TargetMode="External"/><Relationship Id="rId1" Type="http://schemas.openxmlformats.org/officeDocument/2006/relationships/slideLayout" Target="../slideLayouts/slideLayout2.xml"/><Relationship Id="rId6" Type="http://schemas.openxmlformats.org/officeDocument/2006/relationships/hyperlink" Target="https://www.geeksforgeeks.org/operating-systems/consensus-algorithms-in-distributed-system/" TargetMode="External"/><Relationship Id="rId11" Type="http://schemas.openxmlformats.org/officeDocument/2006/relationships/hyperlink" Target="https://martin.kleppmann.com/2016/02/08/how-to-do-distributed-locking.html" TargetMode="External"/><Relationship Id="rId5" Type="http://schemas.openxmlformats.org/officeDocument/2006/relationships/hyperlink" Target="https://algomaster.io/learn/system-design/consensus-algorithms" TargetMode="External"/><Relationship Id="rId15" Type="http://schemas.openxmlformats.org/officeDocument/2006/relationships/hyperlink" Target="https://sites.google.com/site/1024cores/home/scalable-architecture/wide-finder-2" TargetMode="External"/><Relationship Id="rId10" Type="http://schemas.openxmlformats.org/officeDocument/2006/relationships/hyperlink" Target="https://github.com/dgryski/awesome-consensus" TargetMode="External"/><Relationship Id="rId4" Type="http://schemas.openxmlformats.org/officeDocument/2006/relationships/hyperlink" Target="https://medium.com/@mehar.chand.cloud/zookeeper-atomic-broadcast-protocol-zab-understanding-its-mechanisms-ffc157c08f5e" TargetMode="External"/><Relationship Id="rId9" Type="http://schemas.openxmlformats.org/officeDocument/2006/relationships/hyperlink" Target="https://gist.github.com/sandipray63in/2a2c2be2fc02ff2737231bb7490758f1" TargetMode="External"/><Relationship Id="rId14" Type="http://schemas.openxmlformats.org/officeDocument/2006/relationships/hyperlink" Target="https://github.com/madelson/DistributedLock" TargetMode="Externa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xml.rels><?xml version="1.0" encoding="UTF-8" standalone="yes"?>
<Relationships xmlns="http://schemas.openxmlformats.org/package/2006/relationships"><Relationship Id="rId3" Type="http://schemas.openxmlformats.org/officeDocument/2006/relationships/hyperlink" Target="https://www.guildhawk.com/blog/localization-checklist-top-tips-and-tools" TargetMode="External"/><Relationship Id="rId2" Type="http://schemas.openxmlformats.org/officeDocument/2006/relationships/hyperlink" Target="https://www.linkedin.com/advice/1/what-biggest-challenges-designing-global-system" TargetMode="External"/><Relationship Id="rId1" Type="http://schemas.openxmlformats.org/officeDocument/2006/relationships/slideLayout" Target="../slideLayouts/slideLayout2.xml"/><Relationship Id="rId6" Type="http://schemas.openxmlformats.org/officeDocument/2006/relationships/hyperlink" Target="https://tutorialsdojo.com/azure-global-infrastructure/" TargetMode="External"/><Relationship Id="rId5" Type="http://schemas.openxmlformats.org/officeDocument/2006/relationships/hyperlink" Target="https://www.bmc.com/blogs/aws-regions-availability-zones/" TargetMode="External"/><Relationship Id="rId4" Type="http://schemas.openxmlformats.org/officeDocument/2006/relationships/hyperlink" Target="https://www.bmc.com/blogs/cloud-availability-regions-zones/" TargetMode="Externa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2.xml"/></Relationships>
</file>

<file path=ppt/slides/_rels/slide482.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slideLayout" Target="../slideLayouts/slideLayout2.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6.xml.rels><?xml version="1.0" encoding="UTF-8" standalone="yes"?>
<Relationships xmlns="http://schemas.openxmlformats.org/package/2006/relationships"><Relationship Id="rId3" Type="http://schemas.openxmlformats.org/officeDocument/2006/relationships/hyperlink" Target="https://www.min.io/blog/erasure-coding" TargetMode="External"/><Relationship Id="rId2" Type="http://schemas.openxmlformats.org/officeDocument/2006/relationships/hyperlink" Target="https://dataakkadian.medium.com/learn-the-differences-between-block-file-and-object-storage-93c67ef4e163" TargetMode="External"/><Relationship Id="rId1" Type="http://schemas.openxmlformats.org/officeDocument/2006/relationships/slideLayout" Target="../slideLayouts/slideLayout2.xml"/><Relationship Id="rId5" Type="http://schemas.openxmlformats.org/officeDocument/2006/relationships/hyperlink" Target="https://www.youtube.com/watch?v=Q5kVuM7zEUI" TargetMode="External"/><Relationship Id="rId4" Type="http://schemas.openxmlformats.org/officeDocument/2006/relationships/hyperlink" Target="https://blog.bytebytego.com/p/erasure-coding" TargetMode="Externa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73.png"/><Relationship Id="rId1" Type="http://schemas.openxmlformats.org/officeDocument/2006/relationships/slideLayout" Target="../slideLayouts/slideLayout2.xml"/></Relationships>
</file>

<file path=ppt/slides/_rels/slide492.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image" Target="../media/image175.png"/><Relationship Id="rId1" Type="http://schemas.openxmlformats.org/officeDocument/2006/relationships/slideLayout" Target="../slideLayouts/slideLayout2.xml"/></Relationships>
</file>

<file path=ppt/slides/_rels/slide493.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177.png"/><Relationship Id="rId1" Type="http://schemas.openxmlformats.org/officeDocument/2006/relationships/slideLayout" Target="../slideLayouts/slideLayout2.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xml.rels><?xml version="1.0" encoding="UTF-8" standalone="yes"?>
<Relationships xmlns="http://schemas.openxmlformats.org/package/2006/relationships"><Relationship Id="rId8" Type="http://schemas.openxmlformats.org/officeDocument/2006/relationships/hyperlink" Target="https://gist.github.com/sandipray63in/2dff8e99be077c465bc7575485be49d1" TargetMode="External"/><Relationship Id="rId3" Type="http://schemas.openxmlformats.org/officeDocument/2006/relationships/hyperlink" Target="https://www.confluent.io/resources/" TargetMode="External"/><Relationship Id="rId7" Type="http://schemas.openxmlformats.org/officeDocument/2006/relationships/hyperlink" Target="https://gist.github.com/sandipray63in/41a8080184a54e3f86b7148de5836246" TargetMode="External"/><Relationship Id="rId2" Type="http://schemas.openxmlformats.org/officeDocument/2006/relationships/hyperlink" Target="https://engineering.linkedin.com/distributed-systems/log-what-every-software-engineer-should-know-about-real-time-datas-unifying" TargetMode="External"/><Relationship Id="rId1" Type="http://schemas.openxmlformats.org/officeDocument/2006/relationships/slideLayout" Target="../slideLayouts/slideLayout2.xml"/><Relationship Id="rId6" Type="http://schemas.openxmlformats.org/officeDocument/2006/relationships/hyperlink" Target="https://jaceklaskowski.gitbooks.io/apache-kafka/content/" TargetMode="External"/><Relationship Id="rId5" Type="http://schemas.openxmlformats.org/officeDocument/2006/relationships/hyperlink" Target="https://www.enterpriseintegrationpatterns.com/" TargetMode="External"/><Relationship Id="rId4" Type="http://schemas.openxmlformats.org/officeDocument/2006/relationships/hyperlink" Target="https://www.youtube.com/@hnasr/playlists" TargetMode="Externa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xml.rels><?xml version="1.0" encoding="UTF-8" standalone="yes"?>
<Relationships xmlns="http://schemas.openxmlformats.org/package/2006/relationships"><Relationship Id="rId3" Type="http://schemas.openxmlformats.org/officeDocument/2006/relationships/hyperlink" Target="https://www.packtpub.com/en-in/product/distributed-computing-with-python-9781785889691" TargetMode="External"/><Relationship Id="rId2" Type="http://schemas.openxmlformats.org/officeDocument/2006/relationships/hyperlink" Target="https://github.com/aphyr/distsys-class" TargetMode="External"/><Relationship Id="rId1" Type="http://schemas.openxmlformats.org/officeDocument/2006/relationships/slideLayout" Target="../slideLayouts/slideLayout2.xml"/></Relationships>
</file>

<file path=ppt/slides/_rels/slide499.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179.png"/><Relationship Id="rId1" Type="http://schemas.openxmlformats.org/officeDocument/2006/relationships/slideLayout" Target="../slideLayouts/slideLayout2.xml"/><Relationship Id="rId4" Type="http://schemas.openxmlformats.org/officeDocument/2006/relationships/image" Target="../media/image181.png"/></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2.xml"/></Relationships>
</file>

<file path=ppt/slides/_rels/slide504.xml.rels><?xml version="1.0" encoding="UTF-8" standalone="yes"?>
<Relationships xmlns="http://schemas.openxmlformats.org/package/2006/relationships"><Relationship Id="rId3" Type="http://schemas.openxmlformats.org/officeDocument/2006/relationships/hyperlink" Target="https://www.oreilly.com/radar/the-world-beyond-batch-streaming-102/" TargetMode="External"/><Relationship Id="rId2" Type="http://schemas.openxmlformats.org/officeDocument/2006/relationships/hyperlink" Target="https://www.redpanda.com/blog/batch-vs-streaming-data-processing" TargetMode="External"/><Relationship Id="rId1" Type="http://schemas.openxmlformats.org/officeDocument/2006/relationships/slideLayout" Target="../slideLayouts/slideLayout2.xml"/><Relationship Id="rId5" Type="http://schemas.openxmlformats.org/officeDocument/2006/relationships/hyperlink" Target="https://gist.github.com/sandipray63in/1dc814b787b40d9bdec29b39496d8c08" TargetMode="External"/><Relationship Id="rId4" Type="http://schemas.openxmlformats.org/officeDocument/2006/relationships/hyperlink" Target="https://github.com/manuzhang/awesome-streaming" TargetMode="External"/></Relationships>
</file>

<file path=ppt/slides/_rels/slide505.xml.rels><?xml version="1.0" encoding="UTF-8" standalone="yes"?>
<Relationships xmlns="http://schemas.openxmlformats.org/package/2006/relationships"><Relationship Id="rId8" Type="http://schemas.openxmlformats.org/officeDocument/2006/relationships/hyperlink" Target="https://learn.microsoft.com/en-us/azure/architecture/patterns/queue-based-load-leveling" TargetMode="External"/><Relationship Id="rId3" Type="http://schemas.openxmlformats.org/officeDocument/2006/relationships/diagramData" Target="../diagrams/data109.xml"/><Relationship Id="rId7" Type="http://schemas.microsoft.com/office/2007/relationships/diagramDrawing" Target="../diagrams/drawing109.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09.xml"/><Relationship Id="rId5" Type="http://schemas.openxmlformats.org/officeDocument/2006/relationships/diagramQuickStyle" Target="../diagrams/quickStyle109.xml"/><Relationship Id="rId4" Type="http://schemas.openxmlformats.org/officeDocument/2006/relationships/diagramLayout" Target="../diagrams/layout109.xml"/></Relationships>
</file>

<file path=ppt/slides/_rels/slide506.xml.rels><?xml version="1.0" encoding="UTF-8" standalone="yes"?>
<Relationships xmlns="http://schemas.openxmlformats.org/package/2006/relationships"><Relationship Id="rId8" Type="http://schemas.openxmlformats.org/officeDocument/2006/relationships/hyperlink" Target="https://www.amazon.in/System-Design-Interview-insiders-Colour/dp/9355426844" TargetMode="External"/><Relationship Id="rId13" Type="http://schemas.openxmlformats.org/officeDocument/2006/relationships/hyperlink" Target="https://www.linkedin.com/pulse/distributed-systems-6-must-read-books-sachin-joshi-g09wc/" TargetMode="External"/><Relationship Id="rId18" Type="http://schemas.openxmlformats.org/officeDocument/2006/relationships/hyperlink" Target="https://github.com/ByteByteGoHq/system-design-101" TargetMode="External"/><Relationship Id="rId26" Type="http://schemas.openxmlformats.org/officeDocument/2006/relationships/hyperlink" Target="https://github.com/madd86/awesome-system-design" TargetMode="External"/><Relationship Id="rId3" Type="http://schemas.openxmlformats.org/officeDocument/2006/relationships/diagramLayout" Target="../diagrams/layout110.xml"/><Relationship Id="rId21" Type="http://schemas.openxmlformats.org/officeDocument/2006/relationships/hyperlink" Target="https://www.amazon.in/System-Design-Google-Engineering-Interviews/dp/B0BX8ZW147/ref=sr_1_1" TargetMode="External"/><Relationship Id="rId7" Type="http://schemas.openxmlformats.org/officeDocument/2006/relationships/hyperlink" Target="https://understandingdistributed.systems/" TargetMode="External"/><Relationship Id="rId12" Type="http://schemas.openxmlformats.org/officeDocument/2006/relationships/hyperlink" Target="https://www.amazon.com/Distributed-Systems-Concepts-Design-5th/dp/0132143011" TargetMode="External"/><Relationship Id="rId17" Type="http://schemas.openxmlformats.org/officeDocument/2006/relationships/hyperlink" Target="https://www.cs.uic.edu/~ajayk/DCS-Book" TargetMode="External"/><Relationship Id="rId25" Type="http://schemas.openxmlformats.org/officeDocument/2006/relationships/hyperlink" Target="https://github.com/theanalyst/awesome-distributed-systems" TargetMode="External"/><Relationship Id="rId2" Type="http://schemas.openxmlformats.org/officeDocument/2006/relationships/diagramData" Target="../diagrams/data110.xml"/><Relationship Id="rId16" Type="http://schemas.openxmlformats.org/officeDocument/2006/relationships/hyperlink" Target="https://mitpress.mit.edu/9780262037662/distributed-algorithms/" TargetMode="External"/><Relationship Id="rId20" Type="http://schemas.openxmlformats.org/officeDocument/2006/relationships/hyperlink" Target="https://medium.com/bytebytego-system-design-alliance/system-design-blueprint-the-ultimate-guide-e27b914bf8f1" TargetMode="External"/><Relationship Id="rId1" Type="http://schemas.openxmlformats.org/officeDocument/2006/relationships/slideLayout" Target="../slideLayouts/slideLayout2.xml"/><Relationship Id="rId6" Type="http://schemas.microsoft.com/office/2007/relationships/diagramDrawing" Target="../diagrams/drawing110.xml"/><Relationship Id="rId11" Type="http://schemas.openxmlformats.org/officeDocument/2006/relationships/hyperlink" Target="https://www.distributed-systems.net/index.php/books/ds4/" TargetMode="External"/><Relationship Id="rId24" Type="http://schemas.openxmlformats.org/officeDocument/2006/relationships/hyperlink" Target="https://github.com/ashishps1/awesome-system-design-resources" TargetMode="External"/><Relationship Id="rId5" Type="http://schemas.openxmlformats.org/officeDocument/2006/relationships/diagramColors" Target="../diagrams/colors110.xml"/><Relationship Id="rId15" Type="http://schemas.openxmlformats.org/officeDocument/2006/relationships/hyperlink" Target="https://www.oreilly.com/library/view/database-internals/9781492040330/" TargetMode="External"/><Relationship Id="rId23" Type="http://schemas.openxmlformats.org/officeDocument/2006/relationships/hyperlink" Target="https://www.linkedin.com/posts/arpit-adlakha-30691a101_13-github-repositories-that-will-make-software-activity-7273993511509602304-ydrA/?utm_source=share&amp;utm_medium=member_desktop" TargetMode="External"/><Relationship Id="rId10" Type="http://schemas.openxmlformats.org/officeDocument/2006/relationships/hyperlink" Target="https://highscalability.com/" TargetMode="External"/><Relationship Id="rId19" Type="http://schemas.openxmlformats.org/officeDocument/2006/relationships/hyperlink" Target="https://www.linkedin.com/posts/gkcs_system-design-tradeoff-series-1-an-introduction-activity-7207432736918118400-aQ4y/" TargetMode="External"/><Relationship Id="rId4" Type="http://schemas.openxmlformats.org/officeDocument/2006/relationships/diagramQuickStyle" Target="../diagrams/quickStyle110.xml"/><Relationship Id="rId9" Type="http://schemas.openxmlformats.org/officeDocument/2006/relationships/hyperlink" Target="https://www.amazon.in/Designing-High-Performance-Distributed-Systems-Principles/dp/B0DT4RLXYV" TargetMode="External"/><Relationship Id="rId14" Type="http://schemas.openxmlformats.org/officeDocument/2006/relationships/hyperlink" Target="https://gist.github.com/sandipray63in/555037d7eb706d02e3bf764995590708" TargetMode="External"/><Relationship Id="rId22" Type="http://schemas.openxmlformats.org/officeDocument/2006/relationships/hyperlink" Target="https://roadmap.sh/system-design" TargetMode="External"/></Relationships>
</file>

<file path=ppt/slides/_rels/slide507.xml.rels><?xml version="1.0" encoding="UTF-8" standalone="yes"?>
<Relationships xmlns="http://schemas.openxmlformats.org/package/2006/relationships"><Relationship Id="rId8" Type="http://schemas.openxmlformats.org/officeDocument/2006/relationships/hyperlink" Target="https://github.com/PawanRamaMali/System-Design" TargetMode="External"/><Relationship Id="rId13" Type="http://schemas.openxmlformats.org/officeDocument/2006/relationships/hyperlink" Target="https://github.com/jepsen-io/maelstrom" TargetMode="External"/><Relationship Id="rId3" Type="http://schemas.openxmlformats.org/officeDocument/2006/relationships/diagramLayout" Target="../diagrams/layout111.xml"/><Relationship Id="rId7" Type="http://schemas.openxmlformats.org/officeDocument/2006/relationships/hyperlink" Target="https://blog.bytebytego.com/p/free-system-design-pdf-158-pages" TargetMode="External"/><Relationship Id="rId12" Type="http://schemas.openxmlformats.org/officeDocument/2006/relationships/hyperlink" Target="https://aws.amazon.com/builders-library/" TargetMode="External"/><Relationship Id="rId2" Type="http://schemas.openxmlformats.org/officeDocument/2006/relationships/diagramData" Target="../diagrams/data111.xml"/><Relationship Id="rId1" Type="http://schemas.openxmlformats.org/officeDocument/2006/relationships/slideLayout" Target="../slideLayouts/slideLayout2.xml"/><Relationship Id="rId6" Type="http://schemas.microsoft.com/office/2007/relationships/diagramDrawing" Target="../diagrams/drawing111.xml"/><Relationship Id="rId11" Type="http://schemas.openxmlformats.org/officeDocument/2006/relationships/hyperlink" Target="https://www.linkedin.com/posts/rajatgajbhiye_study-these-45-problems-well-and-you-have-activity-7231260876379455488-eLA1/" TargetMode="External"/><Relationship Id="rId5" Type="http://schemas.openxmlformats.org/officeDocument/2006/relationships/diagramColors" Target="../diagrams/colors111.xml"/><Relationship Id="rId15" Type="http://schemas.openxmlformats.org/officeDocument/2006/relationships/hyperlink" Target="https://github.com/kilimchoi/engineering-blogs" TargetMode="External"/><Relationship Id="rId10" Type="http://schemas.openxmlformats.org/officeDocument/2006/relationships/hyperlink" Target="https://www.oreilly.com/library/view/system-design-on/9781098146887/" TargetMode="External"/><Relationship Id="rId4" Type="http://schemas.openxmlformats.org/officeDocument/2006/relationships/diagramQuickStyle" Target="../diagrams/quickStyle111.xml"/><Relationship Id="rId9" Type="http://schemas.openxmlformats.org/officeDocument/2006/relationships/hyperlink" Target="https://github.com/drveillard/system-design-architecture" TargetMode="External"/><Relationship Id="rId14" Type="http://schemas.openxmlformats.org/officeDocument/2006/relationships/hyperlink" Target="https://aphyr.com/tags/jepsen" TargetMode="External"/></Relationships>
</file>

<file path=ppt/slides/_rels/slide508.xml.rels><?xml version="1.0" encoding="UTF-8" standalone="yes"?>
<Relationships xmlns="http://schemas.openxmlformats.org/package/2006/relationships"><Relationship Id="rId8" Type="http://schemas.openxmlformats.org/officeDocument/2006/relationships/image" Target="../media/image183.png"/><Relationship Id="rId3" Type="http://schemas.openxmlformats.org/officeDocument/2006/relationships/diagramData" Target="../diagrams/data112.xml"/><Relationship Id="rId7" Type="http://schemas.microsoft.com/office/2007/relationships/diagramDrawing" Target="../diagrams/drawing11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112.xml"/><Relationship Id="rId5" Type="http://schemas.openxmlformats.org/officeDocument/2006/relationships/diagramQuickStyle" Target="../diagrams/quickStyle112.xml"/><Relationship Id="rId4" Type="http://schemas.openxmlformats.org/officeDocument/2006/relationships/diagramLayout" Target="../diagrams/layout112.xml"/></Relationships>
</file>

<file path=ppt/slides/_rels/slide509.xml.rels><?xml version="1.0" encoding="UTF-8" standalone="yes"?>
<Relationships xmlns="http://schemas.openxmlformats.org/package/2006/relationships"><Relationship Id="rId8" Type="http://schemas.openxmlformats.org/officeDocument/2006/relationships/image" Target="../media/image184.png"/><Relationship Id="rId3" Type="http://schemas.openxmlformats.org/officeDocument/2006/relationships/diagramData" Target="../diagrams/data113.xml"/><Relationship Id="rId7" Type="http://schemas.microsoft.com/office/2007/relationships/diagramDrawing" Target="../diagrams/drawing113.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13.xml"/><Relationship Id="rId5" Type="http://schemas.openxmlformats.org/officeDocument/2006/relationships/diagramQuickStyle" Target="../diagrams/quickStyle113.xml"/><Relationship Id="rId4" Type="http://schemas.openxmlformats.org/officeDocument/2006/relationships/diagramLayout" Target="../diagrams/layout113.xml"/></Relationships>
</file>

<file path=ppt/slides/_rels/slide510.xml.rels><?xml version="1.0" encoding="UTF-8" standalone="yes"?>
<Relationships xmlns="http://schemas.openxmlformats.org/package/2006/relationships"><Relationship Id="rId3" Type="http://schemas.openxmlformats.org/officeDocument/2006/relationships/diagramData" Target="../diagrams/data114.xml"/><Relationship Id="rId7" Type="http://schemas.microsoft.com/office/2007/relationships/diagramDrawing" Target="../diagrams/drawing11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14.xml"/><Relationship Id="rId5" Type="http://schemas.openxmlformats.org/officeDocument/2006/relationships/diagramQuickStyle" Target="../diagrams/quickStyle114.xml"/><Relationship Id="rId4" Type="http://schemas.openxmlformats.org/officeDocument/2006/relationships/diagramLayout" Target="../diagrams/layout114.xml"/></Relationships>
</file>

<file path=ppt/slides/_rels/slide511.xml.rels><?xml version="1.0" encoding="UTF-8" standalone="yes"?>
<Relationships xmlns="http://schemas.openxmlformats.org/package/2006/relationships"><Relationship Id="rId3" Type="http://schemas.openxmlformats.org/officeDocument/2006/relationships/diagramData" Target="../diagrams/data115.xml"/><Relationship Id="rId7" Type="http://schemas.microsoft.com/office/2007/relationships/diagramDrawing" Target="../diagrams/drawing115.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15.xml"/><Relationship Id="rId5" Type="http://schemas.openxmlformats.org/officeDocument/2006/relationships/diagramQuickStyle" Target="../diagrams/quickStyle115.xml"/><Relationship Id="rId4" Type="http://schemas.openxmlformats.org/officeDocument/2006/relationships/diagramLayout" Target="../diagrams/layout115.xml"/></Relationships>
</file>

<file path=ppt/slides/_rels/slide512.xml.rels><?xml version="1.0" encoding="UTF-8" standalone="yes"?>
<Relationships xmlns="http://schemas.openxmlformats.org/package/2006/relationships"><Relationship Id="rId3" Type="http://schemas.openxmlformats.org/officeDocument/2006/relationships/diagramData" Target="../diagrams/data116.xml"/><Relationship Id="rId7" Type="http://schemas.microsoft.com/office/2007/relationships/diagramDrawing" Target="../diagrams/drawing116.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16.xml"/><Relationship Id="rId5" Type="http://schemas.openxmlformats.org/officeDocument/2006/relationships/diagramQuickStyle" Target="../diagrams/quickStyle116.xml"/><Relationship Id="rId4" Type="http://schemas.openxmlformats.org/officeDocument/2006/relationships/diagramLayout" Target="../diagrams/layout116.xml"/></Relationships>
</file>

<file path=ppt/slides/_rels/slide513.xml.rels><?xml version="1.0" encoding="UTF-8" standalone="yes"?>
<Relationships xmlns="http://schemas.openxmlformats.org/package/2006/relationships"><Relationship Id="rId8" Type="http://schemas.openxmlformats.org/officeDocument/2006/relationships/image" Target="../media/image185.png"/><Relationship Id="rId3" Type="http://schemas.openxmlformats.org/officeDocument/2006/relationships/diagramData" Target="../diagrams/data117.xml"/><Relationship Id="rId7" Type="http://schemas.microsoft.com/office/2007/relationships/diagramDrawing" Target="../diagrams/drawing117.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17.xml"/><Relationship Id="rId5" Type="http://schemas.openxmlformats.org/officeDocument/2006/relationships/diagramQuickStyle" Target="../diagrams/quickStyle117.xml"/><Relationship Id="rId4" Type="http://schemas.openxmlformats.org/officeDocument/2006/relationships/diagramLayout" Target="../diagrams/layout117.xml"/></Relationships>
</file>

<file path=ppt/slides/_rels/slide514.xml.rels><?xml version="1.0" encoding="UTF-8" standalone="yes"?>
<Relationships xmlns="http://schemas.openxmlformats.org/package/2006/relationships"><Relationship Id="rId3" Type="http://schemas.openxmlformats.org/officeDocument/2006/relationships/diagramData" Target="../diagrams/data118.xml"/><Relationship Id="rId7" Type="http://schemas.microsoft.com/office/2007/relationships/diagramDrawing" Target="../diagrams/drawing118.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118.xml"/><Relationship Id="rId5" Type="http://schemas.openxmlformats.org/officeDocument/2006/relationships/diagramQuickStyle" Target="../diagrams/quickStyle118.xml"/><Relationship Id="rId4" Type="http://schemas.openxmlformats.org/officeDocument/2006/relationships/diagramLayout" Target="../diagrams/layout118.xml"/></Relationships>
</file>

<file path=ppt/slides/_rels/slide515.xml.rels><?xml version="1.0" encoding="UTF-8" standalone="yes"?>
<Relationships xmlns="http://schemas.openxmlformats.org/package/2006/relationships"><Relationship Id="rId3" Type="http://schemas.openxmlformats.org/officeDocument/2006/relationships/diagramData" Target="../diagrams/data119.xml"/><Relationship Id="rId7" Type="http://schemas.microsoft.com/office/2007/relationships/diagramDrawing" Target="../diagrams/drawing119.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19.xml"/><Relationship Id="rId5" Type="http://schemas.openxmlformats.org/officeDocument/2006/relationships/diagramQuickStyle" Target="../diagrams/quickStyle119.xml"/><Relationship Id="rId4" Type="http://schemas.openxmlformats.org/officeDocument/2006/relationships/diagramLayout" Target="../diagrams/layout119.xml"/></Relationships>
</file>

<file path=ppt/slides/_rels/slide516.xml.rels><?xml version="1.0" encoding="UTF-8" standalone="yes"?>
<Relationships xmlns="http://schemas.openxmlformats.org/package/2006/relationships"><Relationship Id="rId8" Type="http://schemas.openxmlformats.org/officeDocument/2006/relationships/image" Target="../media/image186.png"/><Relationship Id="rId3" Type="http://schemas.openxmlformats.org/officeDocument/2006/relationships/diagramData" Target="../diagrams/data120.xml"/><Relationship Id="rId7" Type="http://schemas.microsoft.com/office/2007/relationships/diagramDrawing" Target="../diagrams/drawing120.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20.xml"/><Relationship Id="rId5" Type="http://schemas.openxmlformats.org/officeDocument/2006/relationships/diagramQuickStyle" Target="../diagrams/quickStyle120.xml"/><Relationship Id="rId4" Type="http://schemas.openxmlformats.org/officeDocument/2006/relationships/diagramLayout" Target="../diagrams/layout120.xml"/></Relationships>
</file>

<file path=ppt/slides/_rels/slide517.xml.rels><?xml version="1.0" encoding="UTF-8" standalone="yes"?>
<Relationships xmlns="http://schemas.openxmlformats.org/package/2006/relationships"><Relationship Id="rId3" Type="http://schemas.openxmlformats.org/officeDocument/2006/relationships/diagramData" Target="../diagrams/data121.xml"/><Relationship Id="rId7" Type="http://schemas.microsoft.com/office/2007/relationships/diagramDrawing" Target="../diagrams/drawing12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21.xml"/><Relationship Id="rId5" Type="http://schemas.openxmlformats.org/officeDocument/2006/relationships/diagramQuickStyle" Target="../diagrams/quickStyle121.xml"/><Relationship Id="rId4" Type="http://schemas.openxmlformats.org/officeDocument/2006/relationships/diagramLayout" Target="../diagrams/layout121.xml"/></Relationships>
</file>

<file path=ppt/slides/_rels/slide518.xml.rels><?xml version="1.0" encoding="UTF-8" standalone="yes"?>
<Relationships xmlns="http://schemas.openxmlformats.org/package/2006/relationships"><Relationship Id="rId3" Type="http://schemas.openxmlformats.org/officeDocument/2006/relationships/diagramData" Target="../diagrams/data122.xml"/><Relationship Id="rId7" Type="http://schemas.microsoft.com/office/2007/relationships/diagramDrawing" Target="../diagrams/drawing12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122.xml"/><Relationship Id="rId5" Type="http://schemas.openxmlformats.org/officeDocument/2006/relationships/diagramQuickStyle" Target="../diagrams/quickStyle122.xml"/><Relationship Id="rId4" Type="http://schemas.openxmlformats.org/officeDocument/2006/relationships/diagramLayout" Target="../diagrams/layout122.xml"/></Relationships>
</file>

<file path=ppt/slides/_rels/slide519.xml.rels><?xml version="1.0" encoding="UTF-8" standalone="yes"?>
<Relationships xmlns="http://schemas.openxmlformats.org/package/2006/relationships"><Relationship Id="rId3" Type="http://schemas.openxmlformats.org/officeDocument/2006/relationships/diagramData" Target="../diagrams/data123.xml"/><Relationship Id="rId7" Type="http://schemas.microsoft.com/office/2007/relationships/diagramDrawing" Target="../diagrams/drawing123.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23.xml"/><Relationship Id="rId5" Type="http://schemas.openxmlformats.org/officeDocument/2006/relationships/diagramQuickStyle" Target="../diagrams/quickStyle123.xml"/><Relationship Id="rId4" Type="http://schemas.openxmlformats.org/officeDocument/2006/relationships/diagramLayout" Target="../diagrams/layout123.xml"/></Relationships>
</file>

<file path=ppt/slides/_rels/slide520.xml.rels><?xml version="1.0" encoding="UTF-8" standalone="yes"?>
<Relationships xmlns="http://schemas.openxmlformats.org/package/2006/relationships"><Relationship Id="rId3" Type="http://schemas.openxmlformats.org/officeDocument/2006/relationships/diagramData" Target="../diagrams/data124.xml"/><Relationship Id="rId7" Type="http://schemas.microsoft.com/office/2007/relationships/diagramDrawing" Target="../diagrams/drawing124.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124.xml"/><Relationship Id="rId5" Type="http://schemas.openxmlformats.org/officeDocument/2006/relationships/diagramQuickStyle" Target="../diagrams/quickStyle124.xml"/><Relationship Id="rId4" Type="http://schemas.openxmlformats.org/officeDocument/2006/relationships/diagramLayout" Target="../diagrams/layout124.xml"/></Relationships>
</file>

<file path=ppt/slides/_rels/slide521.xml.rels><?xml version="1.0" encoding="UTF-8" standalone="yes"?>
<Relationships xmlns="http://schemas.openxmlformats.org/package/2006/relationships"><Relationship Id="rId3" Type="http://schemas.openxmlformats.org/officeDocument/2006/relationships/diagramData" Target="../diagrams/data125.xml"/><Relationship Id="rId7" Type="http://schemas.microsoft.com/office/2007/relationships/diagramDrawing" Target="../diagrams/drawing125.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125.xml"/><Relationship Id="rId5" Type="http://schemas.openxmlformats.org/officeDocument/2006/relationships/diagramQuickStyle" Target="../diagrams/quickStyle125.xml"/><Relationship Id="rId4" Type="http://schemas.openxmlformats.org/officeDocument/2006/relationships/diagramLayout" Target="../diagrams/layout125.xml"/></Relationships>
</file>

<file path=ppt/slides/_rels/slide522.xml.rels><?xml version="1.0" encoding="UTF-8" standalone="yes"?>
<Relationships xmlns="http://schemas.openxmlformats.org/package/2006/relationships"><Relationship Id="rId3" Type="http://schemas.openxmlformats.org/officeDocument/2006/relationships/diagramData" Target="../diagrams/data126.xml"/><Relationship Id="rId7" Type="http://schemas.microsoft.com/office/2007/relationships/diagramDrawing" Target="../diagrams/drawing126.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26.xml"/><Relationship Id="rId5" Type="http://schemas.openxmlformats.org/officeDocument/2006/relationships/diagramQuickStyle" Target="../diagrams/quickStyle126.xml"/><Relationship Id="rId4" Type="http://schemas.openxmlformats.org/officeDocument/2006/relationships/diagramLayout" Target="../diagrams/layout126.xml"/></Relationships>
</file>

<file path=ppt/slides/_rels/slide523.xml.rels><?xml version="1.0" encoding="UTF-8" standalone="yes"?>
<Relationships xmlns="http://schemas.openxmlformats.org/package/2006/relationships"><Relationship Id="rId3" Type="http://schemas.openxmlformats.org/officeDocument/2006/relationships/diagramData" Target="../diagrams/data127.xml"/><Relationship Id="rId7" Type="http://schemas.microsoft.com/office/2007/relationships/diagramDrawing" Target="../diagrams/drawing127.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127.xml"/><Relationship Id="rId5" Type="http://schemas.openxmlformats.org/officeDocument/2006/relationships/diagramQuickStyle" Target="../diagrams/quickStyle127.xml"/><Relationship Id="rId4" Type="http://schemas.openxmlformats.org/officeDocument/2006/relationships/diagramLayout" Target="../diagrams/layout127.xml"/></Relationships>
</file>

<file path=ppt/slides/_rels/slide524.xml.rels><?xml version="1.0" encoding="UTF-8" standalone="yes"?>
<Relationships xmlns="http://schemas.openxmlformats.org/package/2006/relationships"><Relationship Id="rId8" Type="http://schemas.openxmlformats.org/officeDocument/2006/relationships/image" Target="../media/image187.png"/><Relationship Id="rId3" Type="http://schemas.openxmlformats.org/officeDocument/2006/relationships/diagramData" Target="../diagrams/data128.xml"/><Relationship Id="rId7" Type="http://schemas.microsoft.com/office/2007/relationships/diagramDrawing" Target="../diagrams/drawing128.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128.xml"/><Relationship Id="rId5" Type="http://schemas.openxmlformats.org/officeDocument/2006/relationships/diagramQuickStyle" Target="../diagrams/quickStyle128.xml"/><Relationship Id="rId4" Type="http://schemas.openxmlformats.org/officeDocument/2006/relationships/diagramLayout" Target="../diagrams/layout128.xml"/></Relationships>
</file>

<file path=ppt/slides/_rels/slide525.xml.rels><?xml version="1.0" encoding="UTF-8" standalone="yes"?>
<Relationships xmlns="http://schemas.openxmlformats.org/package/2006/relationships"><Relationship Id="rId3" Type="http://schemas.openxmlformats.org/officeDocument/2006/relationships/diagramData" Target="../diagrams/data129.xml"/><Relationship Id="rId7" Type="http://schemas.microsoft.com/office/2007/relationships/diagramDrawing" Target="../diagrams/drawing129.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129.xml"/><Relationship Id="rId5" Type="http://schemas.openxmlformats.org/officeDocument/2006/relationships/diagramQuickStyle" Target="../diagrams/quickStyle129.xml"/><Relationship Id="rId4" Type="http://schemas.openxmlformats.org/officeDocument/2006/relationships/diagramLayout" Target="../diagrams/layout129.xml"/></Relationships>
</file>

<file path=ppt/slides/_rels/slide526.xml.rels><?xml version="1.0" encoding="UTF-8" standalone="yes"?>
<Relationships xmlns="http://schemas.openxmlformats.org/package/2006/relationships"><Relationship Id="rId8" Type="http://schemas.openxmlformats.org/officeDocument/2006/relationships/image" Target="../media/image188.png"/><Relationship Id="rId3" Type="http://schemas.openxmlformats.org/officeDocument/2006/relationships/diagramData" Target="../diagrams/data130.xml"/><Relationship Id="rId7" Type="http://schemas.microsoft.com/office/2007/relationships/diagramDrawing" Target="../diagrams/drawing130.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130.xml"/><Relationship Id="rId5" Type="http://schemas.openxmlformats.org/officeDocument/2006/relationships/diagramQuickStyle" Target="../diagrams/quickStyle130.xml"/><Relationship Id="rId4" Type="http://schemas.openxmlformats.org/officeDocument/2006/relationships/diagramLayout" Target="../diagrams/layout130.xml"/></Relationships>
</file>

<file path=ppt/slides/_rels/slide527.xml.rels><?xml version="1.0" encoding="UTF-8" standalone="yes"?>
<Relationships xmlns="http://schemas.openxmlformats.org/package/2006/relationships"><Relationship Id="rId3" Type="http://schemas.openxmlformats.org/officeDocument/2006/relationships/diagramData" Target="../diagrams/data131.xml"/><Relationship Id="rId7" Type="http://schemas.microsoft.com/office/2007/relationships/diagramDrawing" Target="../diagrams/drawing131.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131.xml"/><Relationship Id="rId5" Type="http://schemas.openxmlformats.org/officeDocument/2006/relationships/diagramQuickStyle" Target="../diagrams/quickStyle131.xml"/><Relationship Id="rId4" Type="http://schemas.openxmlformats.org/officeDocument/2006/relationships/diagramLayout" Target="../diagrams/layout131.xml"/></Relationships>
</file>

<file path=ppt/slides/_rels/slide528.xml.rels><?xml version="1.0" encoding="UTF-8" standalone="yes"?>
<Relationships xmlns="http://schemas.openxmlformats.org/package/2006/relationships"><Relationship Id="rId8" Type="http://schemas.openxmlformats.org/officeDocument/2006/relationships/hyperlink" Target="https://en.wikipedia.org/wiki/Peer-to-peer" TargetMode="External"/><Relationship Id="rId13" Type="http://schemas.openxmlformats.org/officeDocument/2006/relationships/hyperlink" Target="https://onlinecourses.nptel.ac.in/noc20_ee78/preview" TargetMode="External"/><Relationship Id="rId3" Type="http://schemas.openxmlformats.org/officeDocument/2006/relationships/diagramData" Target="../diagrams/data132.xml"/><Relationship Id="rId7" Type="http://schemas.microsoft.com/office/2007/relationships/diagramDrawing" Target="../diagrams/drawing132.xml"/><Relationship Id="rId12" Type="http://schemas.openxmlformats.org/officeDocument/2006/relationships/hyperlink" Target="https://www.youtube.com/@6.824" TargetMode="External"/><Relationship Id="rId17" Type="http://schemas.openxmlformats.org/officeDocument/2006/relationships/hyperlink" Target="https://dl.acm.org/doi/10.1145/863955.863999" TargetMode="External"/><Relationship Id="rId2" Type="http://schemas.openxmlformats.org/officeDocument/2006/relationships/notesSlide" Target="../notesSlides/notesSlide25.xml"/><Relationship Id="rId16" Type="http://schemas.openxmlformats.org/officeDocument/2006/relationships/hyperlink" Target="https://www.quora.com/What-are-good-books-on-P2P-technology/answer/Wolf-Garbe" TargetMode="External"/><Relationship Id="rId1" Type="http://schemas.openxmlformats.org/officeDocument/2006/relationships/slideLayout" Target="../slideLayouts/slideLayout2.xml"/><Relationship Id="rId6" Type="http://schemas.openxmlformats.org/officeDocument/2006/relationships/diagramColors" Target="../diagrams/colors132.xml"/><Relationship Id="rId11" Type="http://schemas.openxmlformats.org/officeDocument/2006/relationships/hyperlink" Target="https://www.geeksforgeeks.org/peer-to-peer-p2p-architecture/" TargetMode="External"/><Relationship Id="rId5" Type="http://schemas.openxmlformats.org/officeDocument/2006/relationships/diagramQuickStyle" Target="../diagrams/quickStyle132.xml"/><Relationship Id="rId15" Type="http://schemas.openxmlformats.org/officeDocument/2006/relationships/hyperlink" Target="https://highscalability.com/gossip-protocol-explained/" TargetMode="External"/><Relationship Id="rId10" Type="http://schemas.openxmlformats.org/officeDocument/2006/relationships/hyperlink" Target="https://www.geeksforgeeks.org/what-is-p2p-peer-to-peer-process/" TargetMode="External"/><Relationship Id="rId4" Type="http://schemas.openxmlformats.org/officeDocument/2006/relationships/diagramLayout" Target="../diagrams/layout132.xml"/><Relationship Id="rId9" Type="http://schemas.openxmlformats.org/officeDocument/2006/relationships/hyperlink" Target="https://www.syncfusion.com/succinctly-free-ebooks/kademlia-protocol-succinctly" TargetMode="External"/><Relationship Id="rId14" Type="http://schemas.openxmlformats.org/officeDocument/2006/relationships/hyperlink" Target="https://www.amazon.in/Cloud-Distributed-Computing-Algorithms-Systems-ebook/dp/B086V7Q2KW" TargetMode="External"/></Relationships>
</file>

<file path=ppt/slides/_rels/slide529.xml.rels><?xml version="1.0" encoding="UTF-8" standalone="yes"?>
<Relationships xmlns="http://schemas.openxmlformats.org/package/2006/relationships"><Relationship Id="rId3" Type="http://schemas.openxmlformats.org/officeDocument/2006/relationships/diagramData" Target="../diagrams/data133.xml"/><Relationship Id="rId7" Type="http://schemas.microsoft.com/office/2007/relationships/diagramDrawing" Target="../diagrams/drawing133.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133.xml"/><Relationship Id="rId5" Type="http://schemas.openxmlformats.org/officeDocument/2006/relationships/diagramQuickStyle" Target="../diagrams/quickStyle133.xml"/><Relationship Id="rId4" Type="http://schemas.openxmlformats.org/officeDocument/2006/relationships/diagramLayout" Target="../diagrams/layout133.xml"/></Relationships>
</file>

<file path=ppt/slides/_rels/slide530.xml.rels><?xml version="1.0" encoding="UTF-8" standalone="yes"?>
<Relationships xmlns="http://schemas.openxmlformats.org/package/2006/relationships"><Relationship Id="rId3" Type="http://schemas.openxmlformats.org/officeDocument/2006/relationships/diagramData" Target="../diagrams/data134.xml"/><Relationship Id="rId7" Type="http://schemas.microsoft.com/office/2007/relationships/diagramDrawing" Target="../diagrams/drawing134.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134.xml"/><Relationship Id="rId5" Type="http://schemas.openxmlformats.org/officeDocument/2006/relationships/diagramQuickStyle" Target="../diagrams/quickStyle134.xml"/><Relationship Id="rId4" Type="http://schemas.openxmlformats.org/officeDocument/2006/relationships/diagramLayout" Target="../diagrams/layout134.xml"/></Relationships>
</file>

<file path=ppt/slides/_rels/slide531.xml.rels><?xml version="1.0" encoding="UTF-8" standalone="yes"?>
<Relationships xmlns="http://schemas.openxmlformats.org/package/2006/relationships"><Relationship Id="rId3" Type="http://schemas.openxmlformats.org/officeDocument/2006/relationships/diagramData" Target="../diagrams/data135.xml"/><Relationship Id="rId7" Type="http://schemas.microsoft.com/office/2007/relationships/diagramDrawing" Target="../diagrams/drawing135.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Colors" Target="../diagrams/colors135.xml"/><Relationship Id="rId5" Type="http://schemas.openxmlformats.org/officeDocument/2006/relationships/diagramQuickStyle" Target="../diagrams/quickStyle135.xml"/><Relationship Id="rId4" Type="http://schemas.openxmlformats.org/officeDocument/2006/relationships/diagramLayout" Target="../diagrams/layout135.xml"/></Relationships>
</file>

<file path=ppt/slides/_rels/slide532.xml.rels><?xml version="1.0" encoding="UTF-8" standalone="yes"?>
<Relationships xmlns="http://schemas.openxmlformats.org/package/2006/relationships"><Relationship Id="rId3" Type="http://schemas.openxmlformats.org/officeDocument/2006/relationships/diagramData" Target="../diagrams/data136.xml"/><Relationship Id="rId7" Type="http://schemas.microsoft.com/office/2007/relationships/diagramDrawing" Target="../diagrams/drawing136.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136.xml"/><Relationship Id="rId5" Type="http://schemas.openxmlformats.org/officeDocument/2006/relationships/diagramQuickStyle" Target="../diagrams/quickStyle136.xml"/><Relationship Id="rId4" Type="http://schemas.openxmlformats.org/officeDocument/2006/relationships/diagramLayout" Target="../diagrams/layout136.xml"/></Relationships>
</file>

<file path=ppt/slides/_rels/slide533.xml.rels><?xml version="1.0" encoding="UTF-8" standalone="yes"?>
<Relationships xmlns="http://schemas.openxmlformats.org/package/2006/relationships"><Relationship Id="rId3" Type="http://schemas.openxmlformats.org/officeDocument/2006/relationships/diagramData" Target="../diagrams/data137.xml"/><Relationship Id="rId7" Type="http://schemas.microsoft.com/office/2007/relationships/diagramDrawing" Target="../diagrams/drawing137.xml"/><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diagramColors" Target="../diagrams/colors137.xml"/><Relationship Id="rId5" Type="http://schemas.openxmlformats.org/officeDocument/2006/relationships/diagramQuickStyle" Target="../diagrams/quickStyle137.xml"/><Relationship Id="rId4" Type="http://schemas.openxmlformats.org/officeDocument/2006/relationships/diagramLayout" Target="../diagrams/layout137.xml"/></Relationships>
</file>

<file path=ppt/slides/_rels/slide534.xml.rels><?xml version="1.0" encoding="UTF-8" standalone="yes"?>
<Relationships xmlns="http://schemas.openxmlformats.org/package/2006/relationships"><Relationship Id="rId3" Type="http://schemas.openxmlformats.org/officeDocument/2006/relationships/diagramData" Target="../diagrams/data138.xml"/><Relationship Id="rId7" Type="http://schemas.microsoft.com/office/2007/relationships/diagramDrawing" Target="../diagrams/drawing138.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Colors" Target="../diagrams/colors138.xml"/><Relationship Id="rId5" Type="http://schemas.openxmlformats.org/officeDocument/2006/relationships/diagramQuickStyle" Target="../diagrams/quickStyle138.xml"/><Relationship Id="rId4" Type="http://schemas.openxmlformats.org/officeDocument/2006/relationships/diagramLayout" Target="../diagrams/layout138.xml"/></Relationships>
</file>

<file path=ppt/slides/_rels/slide535.xml.rels><?xml version="1.0" encoding="UTF-8" standalone="yes"?>
<Relationships xmlns="http://schemas.openxmlformats.org/package/2006/relationships"><Relationship Id="rId3" Type="http://schemas.openxmlformats.org/officeDocument/2006/relationships/diagramData" Target="../diagrams/data139.xml"/><Relationship Id="rId7" Type="http://schemas.microsoft.com/office/2007/relationships/diagramDrawing" Target="../diagrams/drawing139.xml"/><Relationship Id="rId2" Type="http://schemas.openxmlformats.org/officeDocument/2006/relationships/notesSlide" Target="../notesSlides/notesSlide32.xml"/><Relationship Id="rId1" Type="http://schemas.openxmlformats.org/officeDocument/2006/relationships/slideLayout" Target="../slideLayouts/slideLayout2.xml"/><Relationship Id="rId6" Type="http://schemas.openxmlformats.org/officeDocument/2006/relationships/diagramColors" Target="../diagrams/colors139.xml"/><Relationship Id="rId5" Type="http://schemas.openxmlformats.org/officeDocument/2006/relationships/diagramQuickStyle" Target="../diagrams/quickStyle139.xml"/><Relationship Id="rId4" Type="http://schemas.openxmlformats.org/officeDocument/2006/relationships/diagramLayout" Target="../diagrams/layout139.xml"/></Relationships>
</file>

<file path=ppt/slides/_rels/slide536.xml.rels><?xml version="1.0" encoding="UTF-8" standalone="yes"?>
<Relationships xmlns="http://schemas.openxmlformats.org/package/2006/relationships"><Relationship Id="rId8" Type="http://schemas.openxmlformats.org/officeDocument/2006/relationships/image" Target="../media/image189.png"/><Relationship Id="rId3" Type="http://schemas.openxmlformats.org/officeDocument/2006/relationships/diagramData" Target="../diagrams/data140.xml"/><Relationship Id="rId7" Type="http://schemas.microsoft.com/office/2007/relationships/diagramDrawing" Target="../diagrams/drawing140.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140.xml"/><Relationship Id="rId5" Type="http://schemas.openxmlformats.org/officeDocument/2006/relationships/diagramQuickStyle" Target="../diagrams/quickStyle140.xml"/><Relationship Id="rId4" Type="http://schemas.openxmlformats.org/officeDocument/2006/relationships/diagramLayout" Target="../diagrams/layout140.xml"/></Relationships>
</file>

<file path=ppt/slides/_rels/slide537.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diagramData" Target="../diagrams/data141.xml"/><Relationship Id="rId7" Type="http://schemas.microsoft.com/office/2007/relationships/diagramDrawing" Target="../diagrams/drawing141.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141.xml"/><Relationship Id="rId5" Type="http://schemas.openxmlformats.org/officeDocument/2006/relationships/diagramQuickStyle" Target="../diagrams/quickStyle141.xml"/><Relationship Id="rId4" Type="http://schemas.openxmlformats.org/officeDocument/2006/relationships/diagramLayout" Target="../diagrams/layout141.xml"/></Relationships>
</file>

<file path=ppt/slides/_rels/slide538.xml.rels><?xml version="1.0" encoding="UTF-8" standalone="yes"?>
<Relationships xmlns="http://schemas.openxmlformats.org/package/2006/relationships"><Relationship Id="rId3" Type="http://schemas.openxmlformats.org/officeDocument/2006/relationships/diagramData" Target="../diagrams/data142.xml"/><Relationship Id="rId7" Type="http://schemas.microsoft.com/office/2007/relationships/diagramDrawing" Target="../diagrams/drawing142.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142.xml"/><Relationship Id="rId5" Type="http://schemas.openxmlformats.org/officeDocument/2006/relationships/diagramQuickStyle" Target="../diagrams/quickStyle142.xml"/><Relationship Id="rId4" Type="http://schemas.openxmlformats.org/officeDocument/2006/relationships/diagramLayout" Target="../diagrams/layout142.xml"/></Relationships>
</file>

<file path=ppt/slides/_rels/slide539.xml.rels><?xml version="1.0" encoding="UTF-8" standalone="yes"?>
<Relationships xmlns="http://schemas.openxmlformats.org/package/2006/relationships"><Relationship Id="rId3" Type="http://schemas.openxmlformats.org/officeDocument/2006/relationships/diagramData" Target="../diagrams/data143.xml"/><Relationship Id="rId7" Type="http://schemas.microsoft.com/office/2007/relationships/diagramDrawing" Target="../diagrams/drawing143.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Colors" Target="../diagrams/colors143.xml"/><Relationship Id="rId5" Type="http://schemas.openxmlformats.org/officeDocument/2006/relationships/diagramQuickStyle" Target="../diagrams/quickStyle143.xml"/><Relationship Id="rId4" Type="http://schemas.openxmlformats.org/officeDocument/2006/relationships/diagramLayout" Target="../diagrams/layout143.xml"/></Relationships>
</file>

<file path=ppt/slides/_rels/slide540.xml.rels><?xml version="1.0" encoding="UTF-8" standalone="yes"?>
<Relationships xmlns="http://schemas.openxmlformats.org/package/2006/relationships"><Relationship Id="rId3" Type="http://schemas.openxmlformats.org/officeDocument/2006/relationships/diagramData" Target="../diagrams/data144.xml"/><Relationship Id="rId7" Type="http://schemas.microsoft.com/office/2007/relationships/diagramDrawing" Target="../diagrams/drawing144.xml"/><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diagramColors" Target="../diagrams/colors144.xml"/><Relationship Id="rId5" Type="http://schemas.openxmlformats.org/officeDocument/2006/relationships/diagramQuickStyle" Target="../diagrams/quickStyle144.xml"/><Relationship Id="rId4" Type="http://schemas.openxmlformats.org/officeDocument/2006/relationships/diagramLayout" Target="../diagrams/layout144.xml"/></Relationships>
</file>

<file path=ppt/slides/_rels/slide541.xml.rels><?xml version="1.0" encoding="UTF-8" standalone="yes"?>
<Relationships xmlns="http://schemas.openxmlformats.org/package/2006/relationships"><Relationship Id="rId3" Type="http://schemas.openxmlformats.org/officeDocument/2006/relationships/diagramData" Target="../diagrams/data145.xml"/><Relationship Id="rId7" Type="http://schemas.microsoft.com/office/2007/relationships/diagramDrawing" Target="../diagrams/drawing145.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145.xml"/><Relationship Id="rId5" Type="http://schemas.openxmlformats.org/officeDocument/2006/relationships/diagramQuickStyle" Target="../diagrams/quickStyle145.xml"/><Relationship Id="rId4" Type="http://schemas.openxmlformats.org/officeDocument/2006/relationships/diagramLayout" Target="../diagrams/layout145.xml"/></Relationships>
</file>

<file path=ppt/slides/_rels/slide542.xml.rels><?xml version="1.0" encoding="UTF-8" standalone="yes"?>
<Relationships xmlns="http://schemas.openxmlformats.org/package/2006/relationships"><Relationship Id="rId3" Type="http://schemas.openxmlformats.org/officeDocument/2006/relationships/diagramData" Target="../diagrams/data146.xml"/><Relationship Id="rId7" Type="http://schemas.microsoft.com/office/2007/relationships/diagramDrawing" Target="../diagrams/drawing146.xml"/><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diagramColors" Target="../diagrams/colors146.xml"/><Relationship Id="rId5" Type="http://schemas.openxmlformats.org/officeDocument/2006/relationships/diagramQuickStyle" Target="../diagrams/quickStyle146.xml"/><Relationship Id="rId4" Type="http://schemas.openxmlformats.org/officeDocument/2006/relationships/diagramLayout" Target="../diagrams/layout146.xml"/></Relationships>
</file>

<file path=ppt/slides/_rels/slide543.xml.rels><?xml version="1.0" encoding="UTF-8" standalone="yes"?>
<Relationships xmlns="http://schemas.openxmlformats.org/package/2006/relationships"><Relationship Id="rId3" Type="http://schemas.openxmlformats.org/officeDocument/2006/relationships/diagramData" Target="../diagrams/data147.xml"/><Relationship Id="rId7" Type="http://schemas.microsoft.com/office/2007/relationships/diagramDrawing" Target="../diagrams/drawing147.xm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diagramColors" Target="../diagrams/colors147.xml"/><Relationship Id="rId5" Type="http://schemas.openxmlformats.org/officeDocument/2006/relationships/diagramQuickStyle" Target="../diagrams/quickStyle147.xml"/><Relationship Id="rId4" Type="http://schemas.openxmlformats.org/officeDocument/2006/relationships/diagramLayout" Target="../diagrams/layout147.xml"/></Relationships>
</file>

<file path=ppt/slides/_rels/slide544.xml.rels><?xml version="1.0" encoding="UTF-8" standalone="yes"?>
<Relationships xmlns="http://schemas.openxmlformats.org/package/2006/relationships"><Relationship Id="rId3" Type="http://schemas.openxmlformats.org/officeDocument/2006/relationships/diagramData" Target="../diagrams/data148.xml"/><Relationship Id="rId7" Type="http://schemas.microsoft.com/office/2007/relationships/diagramDrawing" Target="../diagrams/drawing148.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diagramColors" Target="../diagrams/colors148.xml"/><Relationship Id="rId5" Type="http://schemas.openxmlformats.org/officeDocument/2006/relationships/diagramQuickStyle" Target="../diagrams/quickStyle148.xml"/><Relationship Id="rId4" Type="http://schemas.openxmlformats.org/officeDocument/2006/relationships/diagramLayout" Target="../diagrams/layout148.xml"/></Relationships>
</file>

<file path=ppt/slides/_rels/slide545.xml.rels><?xml version="1.0" encoding="UTF-8" standalone="yes"?>
<Relationships xmlns="http://schemas.openxmlformats.org/package/2006/relationships"><Relationship Id="rId3" Type="http://schemas.openxmlformats.org/officeDocument/2006/relationships/diagramData" Target="../diagrams/data149.xml"/><Relationship Id="rId7" Type="http://schemas.microsoft.com/office/2007/relationships/diagramDrawing" Target="../diagrams/drawing149.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Colors" Target="../diagrams/colors149.xml"/><Relationship Id="rId5" Type="http://schemas.openxmlformats.org/officeDocument/2006/relationships/diagramQuickStyle" Target="../diagrams/quickStyle149.xml"/><Relationship Id="rId4" Type="http://schemas.openxmlformats.org/officeDocument/2006/relationships/diagramLayout" Target="../diagrams/layout149.xml"/></Relationships>
</file>

<file path=ppt/slides/_rels/slide546.xml.rels><?xml version="1.0" encoding="UTF-8" standalone="yes"?>
<Relationships xmlns="http://schemas.openxmlformats.org/package/2006/relationships"><Relationship Id="rId8" Type="http://schemas.openxmlformats.org/officeDocument/2006/relationships/hyperlink" Target="https://www.geeksforgeeks.org/types-of-blockchain/" TargetMode="External"/><Relationship Id="rId13" Type="http://schemas.openxmlformats.org/officeDocument/2006/relationships/hyperlink" Target="https://github.com/kallerosenbaum/grokkingbitcoin" TargetMode="External"/><Relationship Id="rId3" Type="http://schemas.openxmlformats.org/officeDocument/2006/relationships/diagramData" Target="../diagrams/data150.xml"/><Relationship Id="rId7" Type="http://schemas.microsoft.com/office/2007/relationships/diagramDrawing" Target="../diagrams/drawing150.xml"/><Relationship Id="rId12" Type="http://schemas.openxmlformats.org/officeDocument/2006/relationships/hyperlink" Target="https://roadmap.sh/blockchain"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diagramColors" Target="../diagrams/colors150.xml"/><Relationship Id="rId11" Type="http://schemas.openxmlformats.org/officeDocument/2006/relationships/hyperlink" Target="https://blog.cfte.education/types-of-digital-assets-explained/" TargetMode="External"/><Relationship Id="rId5" Type="http://schemas.openxmlformats.org/officeDocument/2006/relationships/diagramQuickStyle" Target="../diagrams/quickStyle150.xml"/><Relationship Id="rId15" Type="http://schemas.openxmlformats.org/officeDocument/2006/relationships/hyperlink" Target="https://github.com/PacktPublishing/Mastering-Blockchain-Fourth-Edition" TargetMode="External"/><Relationship Id="rId10" Type="http://schemas.openxmlformats.org/officeDocument/2006/relationships/hyperlink" Target="https://cybersecurity.springeropen.com/articles/10.1186/s42400-023-00163-y" TargetMode="External"/><Relationship Id="rId4" Type="http://schemas.openxmlformats.org/officeDocument/2006/relationships/diagramLayout" Target="../diagrams/layout150.xml"/><Relationship Id="rId9" Type="http://schemas.openxmlformats.org/officeDocument/2006/relationships/hyperlink" Target="https://www.scalingparrots.com/en/blockchain-consensus-algorithm/" TargetMode="External"/><Relationship Id="rId14" Type="http://schemas.openxmlformats.org/officeDocument/2006/relationships/hyperlink" Target="https://www.amazon.in/Blockchain-Applications-Hands-Arshdeep-Bahga/dp/0996025588" TargetMode="External"/></Relationships>
</file>

<file path=ppt/slides/_rels/slide547.xml.rels><?xml version="1.0" encoding="UTF-8" standalone="yes"?>
<Relationships xmlns="http://schemas.openxmlformats.org/package/2006/relationships"><Relationship Id="rId3" Type="http://schemas.openxmlformats.org/officeDocument/2006/relationships/diagramLayout" Target="../diagrams/layout151.xml"/><Relationship Id="rId2" Type="http://schemas.openxmlformats.org/officeDocument/2006/relationships/diagramData" Target="../diagrams/data151.xml"/><Relationship Id="rId1" Type="http://schemas.openxmlformats.org/officeDocument/2006/relationships/slideLayout" Target="../slideLayouts/slideLayout2.xml"/><Relationship Id="rId6" Type="http://schemas.microsoft.com/office/2007/relationships/diagramDrawing" Target="../diagrams/drawing151.xml"/><Relationship Id="rId5" Type="http://schemas.openxmlformats.org/officeDocument/2006/relationships/diagramColors" Target="../diagrams/colors151.xml"/><Relationship Id="rId4" Type="http://schemas.openxmlformats.org/officeDocument/2006/relationships/diagramQuickStyle" Target="../diagrams/quickStyle151.xml"/></Relationships>
</file>

<file path=ppt/slides/_rels/slide548.xml.rels><?xml version="1.0" encoding="UTF-8" standalone="yes"?>
<Relationships xmlns="http://schemas.openxmlformats.org/package/2006/relationships"><Relationship Id="rId3" Type="http://schemas.openxmlformats.org/officeDocument/2006/relationships/diagramLayout" Target="../diagrams/layout152.xml"/><Relationship Id="rId2" Type="http://schemas.openxmlformats.org/officeDocument/2006/relationships/diagramData" Target="../diagrams/data152.xml"/><Relationship Id="rId1" Type="http://schemas.openxmlformats.org/officeDocument/2006/relationships/slideLayout" Target="../slideLayouts/slideLayout2.xml"/><Relationship Id="rId6" Type="http://schemas.microsoft.com/office/2007/relationships/diagramDrawing" Target="../diagrams/drawing152.xml"/><Relationship Id="rId5" Type="http://schemas.openxmlformats.org/officeDocument/2006/relationships/diagramColors" Target="../diagrams/colors152.xml"/><Relationship Id="rId4" Type="http://schemas.openxmlformats.org/officeDocument/2006/relationships/diagramQuickStyle" Target="../diagrams/quickStyle152.xml"/></Relationships>
</file>

<file path=ppt/slides/_rels/slide549.xml.rels><?xml version="1.0" encoding="UTF-8" standalone="yes"?>
<Relationships xmlns="http://schemas.openxmlformats.org/package/2006/relationships"><Relationship Id="rId3" Type="http://schemas.openxmlformats.org/officeDocument/2006/relationships/diagramLayout" Target="../diagrams/layout153.xml"/><Relationship Id="rId2" Type="http://schemas.openxmlformats.org/officeDocument/2006/relationships/diagramData" Target="../diagrams/data153.xml"/><Relationship Id="rId1" Type="http://schemas.openxmlformats.org/officeDocument/2006/relationships/slideLayout" Target="../slideLayouts/slideLayout2.xml"/><Relationship Id="rId6" Type="http://schemas.microsoft.com/office/2007/relationships/diagramDrawing" Target="../diagrams/drawing153.xml"/><Relationship Id="rId5" Type="http://schemas.openxmlformats.org/officeDocument/2006/relationships/diagramColors" Target="../diagrams/colors153.xml"/><Relationship Id="rId4" Type="http://schemas.openxmlformats.org/officeDocument/2006/relationships/diagramQuickStyle" Target="../diagrams/quickStyle153.xml"/></Relationships>
</file>

<file path=ppt/slides/_rels/slide550.xml.rels><?xml version="1.0" encoding="UTF-8" standalone="yes"?>
<Relationships xmlns="http://schemas.openxmlformats.org/package/2006/relationships"><Relationship Id="rId3" Type="http://schemas.openxmlformats.org/officeDocument/2006/relationships/diagramLayout" Target="../diagrams/layout154.xml"/><Relationship Id="rId2" Type="http://schemas.openxmlformats.org/officeDocument/2006/relationships/diagramData" Target="../diagrams/data154.xml"/><Relationship Id="rId1" Type="http://schemas.openxmlformats.org/officeDocument/2006/relationships/slideLayout" Target="../slideLayouts/slideLayout2.xml"/><Relationship Id="rId6" Type="http://schemas.microsoft.com/office/2007/relationships/diagramDrawing" Target="../diagrams/drawing154.xml"/><Relationship Id="rId5" Type="http://schemas.openxmlformats.org/officeDocument/2006/relationships/diagramColors" Target="../diagrams/colors154.xml"/><Relationship Id="rId4" Type="http://schemas.openxmlformats.org/officeDocument/2006/relationships/diagramQuickStyle" Target="../diagrams/quickStyle154.xml"/></Relationships>
</file>

<file path=ppt/slides/_rels/slide551.xml.rels><?xml version="1.0" encoding="UTF-8" standalone="yes"?>
<Relationships xmlns="http://schemas.openxmlformats.org/package/2006/relationships"><Relationship Id="rId3" Type="http://schemas.openxmlformats.org/officeDocument/2006/relationships/diagramLayout" Target="../diagrams/layout155.xml"/><Relationship Id="rId2" Type="http://schemas.openxmlformats.org/officeDocument/2006/relationships/diagramData" Target="../diagrams/data155.xml"/><Relationship Id="rId1" Type="http://schemas.openxmlformats.org/officeDocument/2006/relationships/slideLayout" Target="../slideLayouts/slideLayout2.xml"/><Relationship Id="rId6" Type="http://schemas.microsoft.com/office/2007/relationships/diagramDrawing" Target="../diagrams/drawing155.xml"/><Relationship Id="rId5" Type="http://schemas.openxmlformats.org/officeDocument/2006/relationships/diagramColors" Target="../diagrams/colors155.xml"/><Relationship Id="rId4" Type="http://schemas.openxmlformats.org/officeDocument/2006/relationships/diagramQuickStyle" Target="../diagrams/quickStyle155.xml"/></Relationships>
</file>

<file path=ppt/slides/_rels/slide552.xml.rels><?xml version="1.0" encoding="UTF-8" standalone="yes"?>
<Relationships xmlns="http://schemas.openxmlformats.org/package/2006/relationships"><Relationship Id="rId3" Type="http://schemas.openxmlformats.org/officeDocument/2006/relationships/diagramLayout" Target="../diagrams/layout156.xml"/><Relationship Id="rId2" Type="http://schemas.openxmlformats.org/officeDocument/2006/relationships/diagramData" Target="../diagrams/data156.xml"/><Relationship Id="rId1" Type="http://schemas.openxmlformats.org/officeDocument/2006/relationships/slideLayout" Target="../slideLayouts/slideLayout2.xml"/><Relationship Id="rId6" Type="http://schemas.microsoft.com/office/2007/relationships/diagramDrawing" Target="../diagrams/drawing156.xml"/><Relationship Id="rId5" Type="http://schemas.openxmlformats.org/officeDocument/2006/relationships/diagramColors" Target="../diagrams/colors156.xml"/><Relationship Id="rId4" Type="http://schemas.openxmlformats.org/officeDocument/2006/relationships/diagramQuickStyle" Target="../diagrams/quickStyle156.xml"/></Relationships>
</file>

<file path=ppt/slides/_rels/slide553.xml.rels><?xml version="1.0" encoding="UTF-8" standalone="yes"?>
<Relationships xmlns="http://schemas.openxmlformats.org/package/2006/relationships"><Relationship Id="rId3" Type="http://schemas.openxmlformats.org/officeDocument/2006/relationships/diagramLayout" Target="../diagrams/layout157.xml"/><Relationship Id="rId2" Type="http://schemas.openxmlformats.org/officeDocument/2006/relationships/diagramData" Target="../diagrams/data157.xml"/><Relationship Id="rId1" Type="http://schemas.openxmlformats.org/officeDocument/2006/relationships/slideLayout" Target="../slideLayouts/slideLayout2.xml"/><Relationship Id="rId6" Type="http://schemas.microsoft.com/office/2007/relationships/diagramDrawing" Target="../diagrams/drawing157.xml"/><Relationship Id="rId5" Type="http://schemas.openxmlformats.org/officeDocument/2006/relationships/diagramColors" Target="../diagrams/colors157.xml"/><Relationship Id="rId4" Type="http://schemas.openxmlformats.org/officeDocument/2006/relationships/diagramQuickStyle" Target="../diagrams/quickStyle157.xml"/></Relationships>
</file>

<file path=ppt/slides/_rels/slide554.xml.rels><?xml version="1.0" encoding="UTF-8" standalone="yes"?>
<Relationships xmlns="http://schemas.openxmlformats.org/package/2006/relationships"><Relationship Id="rId3" Type="http://schemas.openxmlformats.org/officeDocument/2006/relationships/diagramLayout" Target="../diagrams/layout158.xml"/><Relationship Id="rId2" Type="http://schemas.openxmlformats.org/officeDocument/2006/relationships/diagramData" Target="../diagrams/data158.xml"/><Relationship Id="rId1" Type="http://schemas.openxmlformats.org/officeDocument/2006/relationships/slideLayout" Target="../slideLayouts/slideLayout2.xml"/><Relationship Id="rId6" Type="http://schemas.microsoft.com/office/2007/relationships/diagramDrawing" Target="../diagrams/drawing158.xml"/><Relationship Id="rId5" Type="http://schemas.openxmlformats.org/officeDocument/2006/relationships/diagramColors" Target="../diagrams/colors158.xml"/><Relationship Id="rId4" Type="http://schemas.openxmlformats.org/officeDocument/2006/relationships/diagramQuickStyle" Target="../diagrams/quickStyle158.xml"/></Relationships>
</file>

<file path=ppt/slides/_rels/slide555.xml.rels><?xml version="1.0" encoding="UTF-8" standalone="yes"?>
<Relationships xmlns="http://schemas.openxmlformats.org/package/2006/relationships"><Relationship Id="rId8" Type="http://schemas.openxmlformats.org/officeDocument/2006/relationships/image" Target="../media/image192.png"/><Relationship Id="rId3" Type="http://schemas.openxmlformats.org/officeDocument/2006/relationships/diagramLayout" Target="../diagrams/layout159.xml"/><Relationship Id="rId7" Type="http://schemas.openxmlformats.org/officeDocument/2006/relationships/image" Target="../media/image191.png"/><Relationship Id="rId2" Type="http://schemas.openxmlformats.org/officeDocument/2006/relationships/diagramData" Target="../diagrams/data159.xml"/><Relationship Id="rId1" Type="http://schemas.openxmlformats.org/officeDocument/2006/relationships/slideLayout" Target="../slideLayouts/slideLayout2.xml"/><Relationship Id="rId6" Type="http://schemas.microsoft.com/office/2007/relationships/diagramDrawing" Target="../diagrams/drawing159.xml"/><Relationship Id="rId5" Type="http://schemas.openxmlformats.org/officeDocument/2006/relationships/diagramColors" Target="../diagrams/colors159.xml"/><Relationship Id="rId4" Type="http://schemas.openxmlformats.org/officeDocument/2006/relationships/diagramQuickStyle" Target="../diagrams/quickStyle159.xml"/></Relationships>
</file>

<file path=ppt/slides/_rels/slide556.xml.rels><?xml version="1.0" encoding="UTF-8" standalone="yes"?>
<Relationships xmlns="http://schemas.openxmlformats.org/package/2006/relationships"><Relationship Id="rId3" Type="http://schemas.openxmlformats.org/officeDocument/2006/relationships/diagramLayout" Target="../diagrams/layout160.xml"/><Relationship Id="rId2" Type="http://schemas.openxmlformats.org/officeDocument/2006/relationships/diagramData" Target="../diagrams/data160.xml"/><Relationship Id="rId1" Type="http://schemas.openxmlformats.org/officeDocument/2006/relationships/slideLayout" Target="../slideLayouts/slideLayout2.xml"/><Relationship Id="rId6" Type="http://schemas.microsoft.com/office/2007/relationships/diagramDrawing" Target="../diagrams/drawing160.xml"/><Relationship Id="rId5" Type="http://schemas.openxmlformats.org/officeDocument/2006/relationships/diagramColors" Target="../diagrams/colors160.xml"/><Relationship Id="rId4" Type="http://schemas.openxmlformats.org/officeDocument/2006/relationships/diagramQuickStyle" Target="../diagrams/quickStyle160.xml"/></Relationships>
</file>

<file path=ppt/slides/_rels/slide557.xml.rels><?xml version="1.0" encoding="UTF-8" standalone="yes"?>
<Relationships xmlns="http://schemas.openxmlformats.org/package/2006/relationships"><Relationship Id="rId3" Type="http://schemas.openxmlformats.org/officeDocument/2006/relationships/diagramLayout" Target="../diagrams/layout161.xml"/><Relationship Id="rId2" Type="http://schemas.openxmlformats.org/officeDocument/2006/relationships/diagramData" Target="../diagrams/data161.xml"/><Relationship Id="rId1" Type="http://schemas.openxmlformats.org/officeDocument/2006/relationships/slideLayout" Target="../slideLayouts/slideLayout2.xml"/><Relationship Id="rId6" Type="http://schemas.microsoft.com/office/2007/relationships/diagramDrawing" Target="../diagrams/drawing161.xml"/><Relationship Id="rId5" Type="http://schemas.openxmlformats.org/officeDocument/2006/relationships/diagramColors" Target="../diagrams/colors161.xml"/><Relationship Id="rId4" Type="http://schemas.openxmlformats.org/officeDocument/2006/relationships/diagramQuickStyle" Target="../diagrams/quickStyle161.xml"/></Relationships>
</file>

<file path=ppt/slides/_rels/slide558.xml.rels><?xml version="1.0" encoding="UTF-8" standalone="yes"?>
<Relationships xmlns="http://schemas.openxmlformats.org/package/2006/relationships"><Relationship Id="rId3" Type="http://schemas.openxmlformats.org/officeDocument/2006/relationships/diagramLayout" Target="../diagrams/layout162.xml"/><Relationship Id="rId2" Type="http://schemas.openxmlformats.org/officeDocument/2006/relationships/diagramData" Target="../diagrams/data162.xml"/><Relationship Id="rId1" Type="http://schemas.openxmlformats.org/officeDocument/2006/relationships/slideLayout" Target="../slideLayouts/slideLayout2.xml"/><Relationship Id="rId6" Type="http://schemas.microsoft.com/office/2007/relationships/diagramDrawing" Target="../diagrams/drawing162.xml"/><Relationship Id="rId5" Type="http://schemas.openxmlformats.org/officeDocument/2006/relationships/diagramColors" Target="../diagrams/colors162.xml"/><Relationship Id="rId4" Type="http://schemas.openxmlformats.org/officeDocument/2006/relationships/diagramQuickStyle" Target="../diagrams/quickStyle162.xml"/></Relationships>
</file>

<file path=ppt/slides/_rels/slide559.xml.rels><?xml version="1.0" encoding="UTF-8" standalone="yes"?>
<Relationships xmlns="http://schemas.openxmlformats.org/package/2006/relationships"><Relationship Id="rId3" Type="http://schemas.openxmlformats.org/officeDocument/2006/relationships/diagramLayout" Target="../diagrams/layout163.xml"/><Relationship Id="rId2" Type="http://schemas.openxmlformats.org/officeDocument/2006/relationships/diagramData" Target="../diagrams/data163.xml"/><Relationship Id="rId1" Type="http://schemas.openxmlformats.org/officeDocument/2006/relationships/slideLayout" Target="../slideLayouts/slideLayout2.xml"/><Relationship Id="rId6" Type="http://schemas.microsoft.com/office/2007/relationships/diagramDrawing" Target="../diagrams/drawing163.xml"/><Relationship Id="rId5" Type="http://schemas.openxmlformats.org/officeDocument/2006/relationships/diagramColors" Target="../diagrams/colors163.xml"/><Relationship Id="rId4" Type="http://schemas.openxmlformats.org/officeDocument/2006/relationships/diagramQuickStyle" Target="../diagrams/quickStyle163.xml"/></Relationships>
</file>

<file path=ppt/slides/_rels/slide560.xml.rels><?xml version="1.0" encoding="UTF-8" standalone="yes"?>
<Relationships xmlns="http://schemas.openxmlformats.org/package/2006/relationships"><Relationship Id="rId8" Type="http://schemas.openxmlformats.org/officeDocument/2006/relationships/hyperlink" Target="https://www.grss-ieee.org/resources/tutorials/remote-sensing-tutorial-in-spanish-french-portuguese-and-english/" TargetMode="External"/><Relationship Id="rId3" Type="http://schemas.openxmlformats.org/officeDocument/2006/relationships/diagramLayout" Target="../diagrams/layout164.xml"/><Relationship Id="rId7" Type="http://schemas.openxmlformats.org/officeDocument/2006/relationships/hyperlink" Target="https://www.earthdata.nasa.gov/learn/earth-observation-data-basics/remote-sensing" TargetMode="External"/><Relationship Id="rId2" Type="http://schemas.openxmlformats.org/officeDocument/2006/relationships/diagramData" Target="../diagrams/data164.xml"/><Relationship Id="rId1" Type="http://schemas.openxmlformats.org/officeDocument/2006/relationships/slideLayout" Target="../slideLayouts/slideLayout2.xml"/><Relationship Id="rId6" Type="http://schemas.microsoft.com/office/2007/relationships/diagramDrawing" Target="../diagrams/drawing164.xml"/><Relationship Id="rId11" Type="http://schemas.openxmlformats.org/officeDocument/2006/relationships/hyperlink" Target="https://www.mdpi.com/journal/mathematics/special_issues/R44HM324ER" TargetMode="External"/><Relationship Id="rId5" Type="http://schemas.openxmlformats.org/officeDocument/2006/relationships/diagramColors" Target="../diagrams/colors164.xml"/><Relationship Id="rId10" Type="http://schemas.openxmlformats.org/officeDocument/2006/relationships/hyperlink" Target="https://www.amazon.in/gp/aw/d/B0BKZN64PW/ref=tmm_kin_swatch_0?ie=UTF8&amp;dib_tag=se&amp;dib=eyJ2IjoiMSJ9.p8SEt2r6z6QdKcksOclkt4aSHEfhZM46sqcfrUS9gx5oJNXgY5UZlp5o8JhAUxIa1BYr11mLcfYpCPKm0zWEJR9RFqhk0V8STgJz8S23xbb0d8kAv-JC_qIArTqMiabprBFTUFedxVA_jxpQLtAOntvnWvNNsyaIsqBezx5LWqePdg9lqWzimAVPtGFUJjeLJDr1TeO9V-cY0Y17_KV10g.QKhIKjqv6VloRdyiUJpYgU-zTLgBnVp1LGwd-x8inAU&amp;qid=1728631374&amp;sr=8-3" TargetMode="External"/><Relationship Id="rId4" Type="http://schemas.openxmlformats.org/officeDocument/2006/relationships/diagramQuickStyle" Target="../diagrams/quickStyle164.xml"/><Relationship Id="rId9" Type="http://schemas.openxmlformats.org/officeDocument/2006/relationships/hyperlink" Target="https://ebooks.inflibnet.ac.in/geop10/" TargetMode="External"/></Relationships>
</file>

<file path=ppt/slides/_rels/slide561.xml.rels><?xml version="1.0" encoding="UTF-8" standalone="yes"?>
<Relationships xmlns="http://schemas.openxmlformats.org/package/2006/relationships"><Relationship Id="rId3" Type="http://schemas.openxmlformats.org/officeDocument/2006/relationships/diagramLayout" Target="../diagrams/layout165.xml"/><Relationship Id="rId2" Type="http://schemas.openxmlformats.org/officeDocument/2006/relationships/diagramData" Target="../diagrams/data165.xml"/><Relationship Id="rId1" Type="http://schemas.openxmlformats.org/officeDocument/2006/relationships/slideLayout" Target="../slideLayouts/slideLayout2.xml"/><Relationship Id="rId6" Type="http://schemas.microsoft.com/office/2007/relationships/diagramDrawing" Target="../diagrams/drawing165.xml"/><Relationship Id="rId5" Type="http://schemas.openxmlformats.org/officeDocument/2006/relationships/diagramColors" Target="../diagrams/colors165.xml"/><Relationship Id="rId4" Type="http://schemas.openxmlformats.org/officeDocument/2006/relationships/diagramQuickStyle" Target="../diagrams/quickStyle165.xml"/></Relationships>
</file>

<file path=ppt/slides/_rels/slide562.xml.rels><?xml version="1.0" encoding="UTF-8" standalone="yes"?>
<Relationships xmlns="http://schemas.openxmlformats.org/package/2006/relationships"><Relationship Id="rId3" Type="http://schemas.openxmlformats.org/officeDocument/2006/relationships/diagramLayout" Target="../diagrams/layout166.xml"/><Relationship Id="rId2" Type="http://schemas.openxmlformats.org/officeDocument/2006/relationships/diagramData" Target="../diagrams/data166.xml"/><Relationship Id="rId1" Type="http://schemas.openxmlformats.org/officeDocument/2006/relationships/slideLayout" Target="../slideLayouts/slideLayout2.xml"/><Relationship Id="rId6" Type="http://schemas.microsoft.com/office/2007/relationships/diagramDrawing" Target="../diagrams/drawing166.xml"/><Relationship Id="rId5" Type="http://schemas.openxmlformats.org/officeDocument/2006/relationships/diagramColors" Target="../diagrams/colors166.xml"/><Relationship Id="rId4" Type="http://schemas.openxmlformats.org/officeDocument/2006/relationships/diagramQuickStyle" Target="../diagrams/quickStyle166.xml"/></Relationships>
</file>

<file path=ppt/slides/_rels/slide563.xml.rels><?xml version="1.0" encoding="UTF-8" standalone="yes"?>
<Relationships xmlns="http://schemas.openxmlformats.org/package/2006/relationships"><Relationship Id="rId3" Type="http://schemas.openxmlformats.org/officeDocument/2006/relationships/diagramLayout" Target="../diagrams/layout167.xml"/><Relationship Id="rId2" Type="http://schemas.openxmlformats.org/officeDocument/2006/relationships/diagramData" Target="../diagrams/data167.xml"/><Relationship Id="rId1" Type="http://schemas.openxmlformats.org/officeDocument/2006/relationships/slideLayout" Target="../slideLayouts/slideLayout2.xml"/><Relationship Id="rId6" Type="http://schemas.microsoft.com/office/2007/relationships/diagramDrawing" Target="../diagrams/drawing167.xml"/><Relationship Id="rId5" Type="http://schemas.openxmlformats.org/officeDocument/2006/relationships/diagramColors" Target="../diagrams/colors167.xml"/><Relationship Id="rId4" Type="http://schemas.openxmlformats.org/officeDocument/2006/relationships/diagramQuickStyle" Target="../diagrams/quickStyle167.xml"/></Relationships>
</file>

<file path=ppt/slides/_rels/slide564.xml.rels><?xml version="1.0" encoding="UTF-8" standalone="yes"?>
<Relationships xmlns="http://schemas.openxmlformats.org/package/2006/relationships"><Relationship Id="rId3" Type="http://schemas.openxmlformats.org/officeDocument/2006/relationships/diagramLayout" Target="../diagrams/layout168.xml"/><Relationship Id="rId2" Type="http://schemas.openxmlformats.org/officeDocument/2006/relationships/diagramData" Target="../diagrams/data168.xml"/><Relationship Id="rId1" Type="http://schemas.openxmlformats.org/officeDocument/2006/relationships/slideLayout" Target="../slideLayouts/slideLayout2.xml"/><Relationship Id="rId6" Type="http://schemas.microsoft.com/office/2007/relationships/diagramDrawing" Target="../diagrams/drawing168.xml"/><Relationship Id="rId5" Type="http://schemas.openxmlformats.org/officeDocument/2006/relationships/diagramColors" Target="../diagrams/colors168.xml"/><Relationship Id="rId4" Type="http://schemas.openxmlformats.org/officeDocument/2006/relationships/diagramQuickStyle" Target="../diagrams/quickStyle168.xml"/></Relationships>
</file>

<file path=ppt/slides/_rels/slide565.xml.rels><?xml version="1.0" encoding="UTF-8" standalone="yes"?>
<Relationships xmlns="http://schemas.openxmlformats.org/package/2006/relationships"><Relationship Id="rId3" Type="http://schemas.openxmlformats.org/officeDocument/2006/relationships/diagramLayout" Target="../diagrams/layout169.xml"/><Relationship Id="rId2" Type="http://schemas.openxmlformats.org/officeDocument/2006/relationships/diagramData" Target="../diagrams/data169.xml"/><Relationship Id="rId1" Type="http://schemas.openxmlformats.org/officeDocument/2006/relationships/slideLayout" Target="../slideLayouts/slideLayout2.xml"/><Relationship Id="rId6" Type="http://schemas.microsoft.com/office/2007/relationships/diagramDrawing" Target="../diagrams/drawing169.xml"/><Relationship Id="rId5" Type="http://schemas.openxmlformats.org/officeDocument/2006/relationships/diagramColors" Target="../diagrams/colors169.xml"/><Relationship Id="rId4" Type="http://schemas.openxmlformats.org/officeDocument/2006/relationships/diagramQuickStyle" Target="../diagrams/quickStyle169.xml"/></Relationships>
</file>

<file path=ppt/slides/_rels/slide566.xml.rels><?xml version="1.0" encoding="UTF-8" standalone="yes"?>
<Relationships xmlns="http://schemas.openxmlformats.org/package/2006/relationships"><Relationship Id="rId8" Type="http://schemas.openxmlformats.org/officeDocument/2006/relationships/image" Target="../media/image194.png"/><Relationship Id="rId3" Type="http://schemas.openxmlformats.org/officeDocument/2006/relationships/diagramLayout" Target="../diagrams/layout170.xml"/><Relationship Id="rId7" Type="http://schemas.openxmlformats.org/officeDocument/2006/relationships/image" Target="../media/image193.png"/><Relationship Id="rId2" Type="http://schemas.openxmlformats.org/officeDocument/2006/relationships/diagramData" Target="../diagrams/data170.xml"/><Relationship Id="rId1" Type="http://schemas.openxmlformats.org/officeDocument/2006/relationships/slideLayout" Target="../slideLayouts/slideLayout2.xml"/><Relationship Id="rId6" Type="http://schemas.microsoft.com/office/2007/relationships/diagramDrawing" Target="../diagrams/drawing170.xml"/><Relationship Id="rId5" Type="http://schemas.openxmlformats.org/officeDocument/2006/relationships/diagramColors" Target="../diagrams/colors170.xml"/><Relationship Id="rId4" Type="http://schemas.openxmlformats.org/officeDocument/2006/relationships/diagramQuickStyle" Target="../diagrams/quickStyle170.xml"/></Relationships>
</file>

<file path=ppt/slides/_rels/slide567.xml.rels><?xml version="1.0" encoding="UTF-8" standalone="yes"?>
<Relationships xmlns="http://schemas.openxmlformats.org/package/2006/relationships"><Relationship Id="rId8" Type="http://schemas.openxmlformats.org/officeDocument/2006/relationships/hyperlink" Target="https://www.ipb.uni-bonn.de/photo12-2021/index.html" TargetMode="External"/><Relationship Id="rId3" Type="http://schemas.openxmlformats.org/officeDocument/2006/relationships/diagramLayout" Target="../diagrams/layout171.xml"/><Relationship Id="rId7" Type="http://schemas.openxmlformats.org/officeDocument/2006/relationships/hyperlink" Target="https://orsac.odisha.gov.in/pdf/Data-Capture-Using-Photogrammetry.pdf" TargetMode="External"/><Relationship Id="rId2" Type="http://schemas.openxmlformats.org/officeDocument/2006/relationships/diagramData" Target="../diagrams/data171.xml"/><Relationship Id="rId1" Type="http://schemas.openxmlformats.org/officeDocument/2006/relationships/slideLayout" Target="../slideLayouts/slideLayout2.xml"/><Relationship Id="rId6" Type="http://schemas.microsoft.com/office/2007/relationships/diagramDrawing" Target="../diagrams/drawing171.xml"/><Relationship Id="rId5" Type="http://schemas.openxmlformats.org/officeDocument/2006/relationships/diagramColors" Target="../diagrams/colors171.xml"/><Relationship Id="rId10" Type="http://schemas.openxmlformats.org/officeDocument/2006/relationships/hyperlink" Target="https://ethz.ch/content/dam/ethz/special-interest/baug/igp/photogrammetry-remote-sensing-dam/documents/pdf/math-of-photogrammetry.pdf" TargetMode="External"/><Relationship Id="rId4" Type="http://schemas.openxmlformats.org/officeDocument/2006/relationships/diagramQuickStyle" Target="../diagrams/quickStyle171.xml"/><Relationship Id="rId9" Type="http://schemas.openxmlformats.org/officeDocument/2006/relationships/hyperlink" Target="https://www.lpl.arizona.edu/hamilton/sites/lpl.arizona.edu.hamilton/files/courses/ptys551/Principles_of_Photogrammetry.pdf" TargetMode="External"/></Relationships>
</file>

<file path=ppt/slides/_rels/slide568.xml.rels><?xml version="1.0" encoding="UTF-8" standalone="yes"?>
<Relationships xmlns="http://schemas.openxmlformats.org/package/2006/relationships"><Relationship Id="rId3" Type="http://schemas.openxmlformats.org/officeDocument/2006/relationships/diagramLayout" Target="../diagrams/layout172.xml"/><Relationship Id="rId2" Type="http://schemas.openxmlformats.org/officeDocument/2006/relationships/diagramData" Target="../diagrams/data172.xml"/><Relationship Id="rId1" Type="http://schemas.openxmlformats.org/officeDocument/2006/relationships/slideLayout" Target="../slideLayouts/slideLayout2.xml"/><Relationship Id="rId6" Type="http://schemas.microsoft.com/office/2007/relationships/diagramDrawing" Target="../diagrams/drawing172.xml"/><Relationship Id="rId5" Type="http://schemas.openxmlformats.org/officeDocument/2006/relationships/diagramColors" Target="../diagrams/colors172.xml"/><Relationship Id="rId4" Type="http://schemas.openxmlformats.org/officeDocument/2006/relationships/diagramQuickStyle" Target="../diagrams/quickStyle172.xml"/></Relationships>
</file>

<file path=ppt/slides/_rels/slide569.xml.rels><?xml version="1.0" encoding="UTF-8" standalone="yes"?>
<Relationships xmlns="http://schemas.openxmlformats.org/package/2006/relationships"><Relationship Id="rId3" Type="http://schemas.openxmlformats.org/officeDocument/2006/relationships/diagramLayout" Target="../diagrams/layout173.xml"/><Relationship Id="rId2" Type="http://schemas.openxmlformats.org/officeDocument/2006/relationships/diagramData" Target="../diagrams/data173.xml"/><Relationship Id="rId1" Type="http://schemas.openxmlformats.org/officeDocument/2006/relationships/slideLayout" Target="../slideLayouts/slideLayout2.xml"/><Relationship Id="rId6" Type="http://schemas.microsoft.com/office/2007/relationships/diagramDrawing" Target="../diagrams/drawing173.xml"/><Relationship Id="rId5" Type="http://schemas.openxmlformats.org/officeDocument/2006/relationships/diagramColors" Target="../diagrams/colors173.xml"/><Relationship Id="rId4" Type="http://schemas.openxmlformats.org/officeDocument/2006/relationships/diagramQuickStyle" Target="../diagrams/quickStyle173.xml"/></Relationships>
</file>

<file path=ppt/slides/_rels/slide570.xml.rels><?xml version="1.0" encoding="UTF-8" standalone="yes"?>
<Relationships xmlns="http://schemas.openxmlformats.org/package/2006/relationships"><Relationship Id="rId3" Type="http://schemas.openxmlformats.org/officeDocument/2006/relationships/diagramLayout" Target="../diagrams/layout174.xml"/><Relationship Id="rId2" Type="http://schemas.openxmlformats.org/officeDocument/2006/relationships/diagramData" Target="../diagrams/data174.xml"/><Relationship Id="rId1" Type="http://schemas.openxmlformats.org/officeDocument/2006/relationships/slideLayout" Target="../slideLayouts/slideLayout2.xml"/><Relationship Id="rId6" Type="http://schemas.microsoft.com/office/2007/relationships/diagramDrawing" Target="../diagrams/drawing174.xml"/><Relationship Id="rId5" Type="http://schemas.openxmlformats.org/officeDocument/2006/relationships/diagramColors" Target="../diagrams/colors174.xml"/><Relationship Id="rId4" Type="http://schemas.openxmlformats.org/officeDocument/2006/relationships/diagramQuickStyle" Target="../diagrams/quickStyle174.xml"/></Relationships>
</file>

<file path=ppt/slides/_rels/slide571.xml.rels><?xml version="1.0" encoding="UTF-8" standalone="yes"?>
<Relationships xmlns="http://schemas.openxmlformats.org/package/2006/relationships"><Relationship Id="rId3" Type="http://schemas.openxmlformats.org/officeDocument/2006/relationships/diagramLayout" Target="../diagrams/layout175.xml"/><Relationship Id="rId2" Type="http://schemas.openxmlformats.org/officeDocument/2006/relationships/diagramData" Target="../diagrams/data175.xml"/><Relationship Id="rId1" Type="http://schemas.openxmlformats.org/officeDocument/2006/relationships/slideLayout" Target="../slideLayouts/slideLayout2.xml"/><Relationship Id="rId6" Type="http://schemas.microsoft.com/office/2007/relationships/diagramDrawing" Target="../diagrams/drawing175.xml"/><Relationship Id="rId5" Type="http://schemas.openxmlformats.org/officeDocument/2006/relationships/diagramColors" Target="../diagrams/colors175.xml"/><Relationship Id="rId4" Type="http://schemas.openxmlformats.org/officeDocument/2006/relationships/diagramQuickStyle" Target="../diagrams/quickStyle175.xml"/></Relationships>
</file>

<file path=ppt/slides/_rels/slide572.xml.rels><?xml version="1.0" encoding="UTF-8" standalone="yes"?>
<Relationships xmlns="http://schemas.openxmlformats.org/package/2006/relationships"><Relationship Id="rId3" Type="http://schemas.openxmlformats.org/officeDocument/2006/relationships/diagramLayout" Target="../diagrams/layout176.xml"/><Relationship Id="rId2" Type="http://schemas.openxmlformats.org/officeDocument/2006/relationships/diagramData" Target="../diagrams/data176.xml"/><Relationship Id="rId1" Type="http://schemas.openxmlformats.org/officeDocument/2006/relationships/slideLayout" Target="../slideLayouts/slideLayout2.xml"/><Relationship Id="rId6" Type="http://schemas.microsoft.com/office/2007/relationships/diagramDrawing" Target="../diagrams/drawing176.xml"/><Relationship Id="rId5" Type="http://schemas.openxmlformats.org/officeDocument/2006/relationships/diagramColors" Target="../diagrams/colors176.xml"/><Relationship Id="rId4" Type="http://schemas.openxmlformats.org/officeDocument/2006/relationships/diagramQuickStyle" Target="../diagrams/quickStyle176.xml"/></Relationships>
</file>

<file path=ppt/slides/_rels/slide573.xml.rels><?xml version="1.0" encoding="UTF-8" standalone="yes"?>
<Relationships xmlns="http://schemas.openxmlformats.org/package/2006/relationships"><Relationship Id="rId3" Type="http://schemas.openxmlformats.org/officeDocument/2006/relationships/diagramLayout" Target="../diagrams/layout177.xml"/><Relationship Id="rId2" Type="http://schemas.openxmlformats.org/officeDocument/2006/relationships/diagramData" Target="../diagrams/data177.xml"/><Relationship Id="rId1" Type="http://schemas.openxmlformats.org/officeDocument/2006/relationships/slideLayout" Target="../slideLayouts/slideLayout2.xml"/><Relationship Id="rId6" Type="http://schemas.microsoft.com/office/2007/relationships/diagramDrawing" Target="../diagrams/drawing177.xml"/><Relationship Id="rId5" Type="http://schemas.openxmlformats.org/officeDocument/2006/relationships/diagramColors" Target="../diagrams/colors177.xml"/><Relationship Id="rId4" Type="http://schemas.openxmlformats.org/officeDocument/2006/relationships/diagramQuickStyle" Target="../diagrams/quickStyle177.xml"/></Relationships>
</file>

<file path=ppt/slides/_rels/slide574.xml.rels><?xml version="1.0" encoding="UTF-8" standalone="yes"?>
<Relationships xmlns="http://schemas.openxmlformats.org/package/2006/relationships"><Relationship Id="rId3" Type="http://schemas.openxmlformats.org/officeDocument/2006/relationships/diagramLayout" Target="../diagrams/layout178.xml"/><Relationship Id="rId2" Type="http://schemas.openxmlformats.org/officeDocument/2006/relationships/diagramData" Target="../diagrams/data178.xml"/><Relationship Id="rId1" Type="http://schemas.openxmlformats.org/officeDocument/2006/relationships/slideLayout" Target="../slideLayouts/slideLayout2.xml"/><Relationship Id="rId6" Type="http://schemas.microsoft.com/office/2007/relationships/diagramDrawing" Target="../diagrams/drawing178.xml"/><Relationship Id="rId5" Type="http://schemas.openxmlformats.org/officeDocument/2006/relationships/diagramColors" Target="../diagrams/colors178.xml"/><Relationship Id="rId4" Type="http://schemas.openxmlformats.org/officeDocument/2006/relationships/diagramQuickStyle" Target="../diagrams/quickStyle178.xml"/></Relationships>
</file>

<file path=ppt/slides/_rels/slide575.xml.rels><?xml version="1.0" encoding="UTF-8" standalone="yes"?>
<Relationships xmlns="http://schemas.openxmlformats.org/package/2006/relationships"><Relationship Id="rId3" Type="http://schemas.openxmlformats.org/officeDocument/2006/relationships/diagramLayout" Target="../diagrams/layout179.xml"/><Relationship Id="rId2" Type="http://schemas.openxmlformats.org/officeDocument/2006/relationships/diagramData" Target="../diagrams/data179.xml"/><Relationship Id="rId1" Type="http://schemas.openxmlformats.org/officeDocument/2006/relationships/slideLayout" Target="../slideLayouts/slideLayout2.xml"/><Relationship Id="rId6" Type="http://schemas.microsoft.com/office/2007/relationships/diagramDrawing" Target="../diagrams/drawing179.xml"/><Relationship Id="rId5" Type="http://schemas.openxmlformats.org/officeDocument/2006/relationships/diagramColors" Target="../diagrams/colors179.xml"/><Relationship Id="rId4" Type="http://schemas.openxmlformats.org/officeDocument/2006/relationships/diagramQuickStyle" Target="../diagrams/quickStyle179.xml"/></Relationships>
</file>

<file path=ppt/slides/_rels/slide576.xml.rels><?xml version="1.0" encoding="UTF-8" standalone="yes"?>
<Relationships xmlns="http://schemas.openxmlformats.org/package/2006/relationships"><Relationship Id="rId3" Type="http://schemas.openxmlformats.org/officeDocument/2006/relationships/diagramLayout" Target="../diagrams/layout180.xml"/><Relationship Id="rId2" Type="http://schemas.openxmlformats.org/officeDocument/2006/relationships/diagramData" Target="../diagrams/data180.xml"/><Relationship Id="rId1" Type="http://schemas.openxmlformats.org/officeDocument/2006/relationships/slideLayout" Target="../slideLayouts/slideLayout2.xml"/><Relationship Id="rId6" Type="http://schemas.microsoft.com/office/2007/relationships/diagramDrawing" Target="../diagrams/drawing180.xml"/><Relationship Id="rId5" Type="http://schemas.openxmlformats.org/officeDocument/2006/relationships/diagramColors" Target="../diagrams/colors180.xml"/><Relationship Id="rId4" Type="http://schemas.openxmlformats.org/officeDocument/2006/relationships/diagramQuickStyle" Target="../diagrams/quickStyle180.xml"/></Relationships>
</file>

<file path=ppt/slides/_rels/slide577.xml.rels><?xml version="1.0" encoding="UTF-8" standalone="yes"?>
<Relationships xmlns="http://schemas.openxmlformats.org/package/2006/relationships"><Relationship Id="rId8" Type="http://schemas.openxmlformats.org/officeDocument/2006/relationships/hyperlink" Target="https://www.amazon.in/Introduction-Geographical-Information-Systems-ebook/dp/B00IZ07WQW/ref=tmm_kin_swatch_0" TargetMode="External"/><Relationship Id="rId13" Type="http://schemas.openxmlformats.org/officeDocument/2006/relationships/hyperlink" Target="https://gist.github.com/sandipray63in/3b434b0bee7e4f9abbe7e78bae9d7eb4" TargetMode="External"/><Relationship Id="rId18" Type="http://schemas.openxmlformats.org/officeDocument/2006/relationships/hyperlink" Target="https://opensearch.org/docs/latest/aggregations/bucket/geohash-grid/" TargetMode="External"/><Relationship Id="rId26" Type="http://schemas.openxmlformats.org/officeDocument/2006/relationships/hyperlink" Target="https://news.ycombinator.com/item?id=17567122" TargetMode="External"/><Relationship Id="rId3" Type="http://schemas.openxmlformats.org/officeDocument/2006/relationships/diagramLayout" Target="../diagrams/layout181.xml"/><Relationship Id="rId21" Type="http://schemas.openxmlformats.org/officeDocument/2006/relationships/hyperlink" Target="https://cwiki.apache.org/confluence/display/LUCENE/SpatialSearch" TargetMode="External"/><Relationship Id="rId7" Type="http://schemas.openxmlformats.org/officeDocument/2006/relationships/hyperlink" Target="https://www.amazon.in/Geospatial-Data-Science-Essentials-Practical-ebook/dp/B0DJ2HBWJY" TargetMode="External"/><Relationship Id="rId12" Type="http://schemas.openxmlformats.org/officeDocument/2006/relationships/hyperlink" Target="https://en.wikipedia.org/wiki/Spatial_database" TargetMode="External"/><Relationship Id="rId17" Type="http://schemas.openxmlformats.org/officeDocument/2006/relationships/hyperlink" Target="https://towardsdatascience.com/system-design-quadtrees-geohash-5b896b975262?gi=e08f006249ca" TargetMode="External"/><Relationship Id="rId25" Type="http://schemas.openxmlformats.org/officeDocument/2006/relationships/hyperlink" Target="http://bit-player.org/extras/hilbert/hilbert-mapping.html" TargetMode="External"/><Relationship Id="rId2" Type="http://schemas.openxmlformats.org/officeDocument/2006/relationships/diagramData" Target="../diagrams/data181.xml"/><Relationship Id="rId16" Type="http://schemas.openxmlformats.org/officeDocument/2006/relationships/hyperlink" Target="https://www.geeksforgeeks.org/understanding-efficient-spatial-indexing/" TargetMode="External"/><Relationship Id="rId20" Type="http://schemas.openxmlformats.org/officeDocument/2006/relationships/hyperlink" Target="https://igorgatis.github.io/ws2/" TargetMode="External"/><Relationship Id="rId1" Type="http://schemas.openxmlformats.org/officeDocument/2006/relationships/slideLayout" Target="../slideLayouts/slideLayout2.xml"/><Relationship Id="rId6" Type="http://schemas.microsoft.com/office/2007/relationships/diagramDrawing" Target="../diagrams/drawing181.xml"/><Relationship Id="rId11" Type="http://schemas.openxmlformats.org/officeDocument/2006/relationships/hyperlink" Target="https://understanding-gis-univredlands.hub.arcgis.com/" TargetMode="External"/><Relationship Id="rId24" Type="http://schemas.openxmlformats.org/officeDocument/2006/relationships/hyperlink" Target="https://en.wikipedia.org/wiki/Address_geocoding" TargetMode="External"/><Relationship Id="rId5" Type="http://schemas.openxmlformats.org/officeDocument/2006/relationships/diagramColors" Target="../diagrams/colors181.xml"/><Relationship Id="rId15" Type="http://schemas.openxmlformats.org/officeDocument/2006/relationships/hyperlink" Target="https://postgis.net/documentation/" TargetMode="External"/><Relationship Id="rId23" Type="http://schemas.openxmlformats.org/officeDocument/2006/relationships/hyperlink" Target="https://medium.com/groupon-eng/scaling-millions-of-geospatial-queries-per-minute-using-redis-7c05bcf6b4db" TargetMode="External"/><Relationship Id="rId10" Type="http://schemas.openxmlformats.org/officeDocument/2006/relationships/hyperlink" Target="https://docs.qgis.org/3.40/en/docs/training_manual/index.html" TargetMode="External"/><Relationship Id="rId19" Type="http://schemas.openxmlformats.org/officeDocument/2006/relationships/hyperlink" Target="http://s2geometry.io/" TargetMode="External"/><Relationship Id="rId4" Type="http://schemas.openxmlformats.org/officeDocument/2006/relationships/diagramQuickStyle" Target="../diagrams/quickStyle181.xml"/><Relationship Id="rId9" Type="http://schemas.openxmlformats.org/officeDocument/2006/relationships/hyperlink" Target="https://www.amazon.in/Geographic-Information-Systems-Science-Longley-ebook/dp/B000S1LZ9Q" TargetMode="External"/><Relationship Id="rId14" Type="http://schemas.openxmlformats.org/officeDocument/2006/relationships/hyperlink" Target="https://postgis.net/documentation/training/" TargetMode="External"/><Relationship Id="rId22" Type="http://schemas.openxmlformats.org/officeDocument/2006/relationships/hyperlink" Target="https://www.elastic.co/guide/en/elasticsearch/reference/current/geo-shape.html" TargetMode="External"/></Relationships>
</file>

<file path=ppt/slides/_rels/slide578.xml.rels><?xml version="1.0" encoding="UTF-8" standalone="yes"?>
<Relationships xmlns="http://schemas.openxmlformats.org/package/2006/relationships"><Relationship Id="rId3" Type="http://schemas.openxmlformats.org/officeDocument/2006/relationships/diagramLayout" Target="../diagrams/layout182.xml"/><Relationship Id="rId2" Type="http://schemas.openxmlformats.org/officeDocument/2006/relationships/diagramData" Target="../diagrams/data182.xml"/><Relationship Id="rId1" Type="http://schemas.openxmlformats.org/officeDocument/2006/relationships/slideLayout" Target="../slideLayouts/slideLayout2.xml"/><Relationship Id="rId6" Type="http://schemas.microsoft.com/office/2007/relationships/diagramDrawing" Target="../diagrams/drawing182.xml"/><Relationship Id="rId5" Type="http://schemas.openxmlformats.org/officeDocument/2006/relationships/diagramColors" Target="../diagrams/colors182.xml"/><Relationship Id="rId4" Type="http://schemas.openxmlformats.org/officeDocument/2006/relationships/diagramQuickStyle" Target="../diagrams/quickStyle182.xml"/></Relationships>
</file>

<file path=ppt/slides/_rels/slide579.xml.rels><?xml version="1.0" encoding="UTF-8" standalone="yes"?>
<Relationships xmlns="http://schemas.openxmlformats.org/package/2006/relationships"><Relationship Id="rId3" Type="http://schemas.openxmlformats.org/officeDocument/2006/relationships/diagramLayout" Target="../diagrams/layout183.xml"/><Relationship Id="rId2" Type="http://schemas.openxmlformats.org/officeDocument/2006/relationships/diagramData" Target="../diagrams/data183.xml"/><Relationship Id="rId1" Type="http://schemas.openxmlformats.org/officeDocument/2006/relationships/slideLayout" Target="../slideLayouts/slideLayout2.xml"/><Relationship Id="rId6" Type="http://schemas.microsoft.com/office/2007/relationships/diagramDrawing" Target="../diagrams/drawing183.xml"/><Relationship Id="rId5" Type="http://schemas.openxmlformats.org/officeDocument/2006/relationships/diagramColors" Target="../diagrams/colors183.xml"/><Relationship Id="rId4" Type="http://schemas.openxmlformats.org/officeDocument/2006/relationships/diagramQuickStyle" Target="../diagrams/quickStyle183.xml"/></Relationships>
</file>

<file path=ppt/slides/_rels/slide580.xml.rels><?xml version="1.0" encoding="UTF-8" standalone="yes"?>
<Relationships xmlns="http://schemas.openxmlformats.org/package/2006/relationships"><Relationship Id="rId3" Type="http://schemas.openxmlformats.org/officeDocument/2006/relationships/diagramLayout" Target="../diagrams/layout184.xml"/><Relationship Id="rId2" Type="http://schemas.openxmlformats.org/officeDocument/2006/relationships/diagramData" Target="../diagrams/data184.xml"/><Relationship Id="rId1" Type="http://schemas.openxmlformats.org/officeDocument/2006/relationships/slideLayout" Target="../slideLayouts/slideLayout2.xml"/><Relationship Id="rId6" Type="http://schemas.microsoft.com/office/2007/relationships/diagramDrawing" Target="../diagrams/drawing184.xml"/><Relationship Id="rId5" Type="http://schemas.openxmlformats.org/officeDocument/2006/relationships/diagramColors" Target="../diagrams/colors184.xml"/><Relationship Id="rId4" Type="http://schemas.openxmlformats.org/officeDocument/2006/relationships/diagramQuickStyle" Target="../diagrams/quickStyle184.xml"/></Relationships>
</file>

<file path=ppt/slides/_rels/slide581.xml.rels><?xml version="1.0" encoding="UTF-8" standalone="yes"?>
<Relationships xmlns="http://schemas.openxmlformats.org/package/2006/relationships"><Relationship Id="rId3" Type="http://schemas.openxmlformats.org/officeDocument/2006/relationships/diagramLayout" Target="../diagrams/layout185.xml"/><Relationship Id="rId2" Type="http://schemas.openxmlformats.org/officeDocument/2006/relationships/diagramData" Target="../diagrams/data185.xml"/><Relationship Id="rId1" Type="http://schemas.openxmlformats.org/officeDocument/2006/relationships/slideLayout" Target="../slideLayouts/slideLayout2.xml"/><Relationship Id="rId6" Type="http://schemas.microsoft.com/office/2007/relationships/diagramDrawing" Target="../diagrams/drawing185.xml"/><Relationship Id="rId5" Type="http://schemas.openxmlformats.org/officeDocument/2006/relationships/diagramColors" Target="../diagrams/colors185.xml"/><Relationship Id="rId4" Type="http://schemas.openxmlformats.org/officeDocument/2006/relationships/diagramQuickStyle" Target="../diagrams/quickStyle185.xml"/></Relationships>
</file>

<file path=ppt/slides/_rels/slide582.xml.rels><?xml version="1.0" encoding="UTF-8" standalone="yes"?>
<Relationships xmlns="http://schemas.openxmlformats.org/package/2006/relationships"><Relationship Id="rId3" Type="http://schemas.openxmlformats.org/officeDocument/2006/relationships/diagramLayout" Target="../diagrams/layout186.xml"/><Relationship Id="rId2" Type="http://schemas.openxmlformats.org/officeDocument/2006/relationships/diagramData" Target="../diagrams/data186.xml"/><Relationship Id="rId1" Type="http://schemas.openxmlformats.org/officeDocument/2006/relationships/slideLayout" Target="../slideLayouts/slideLayout2.xml"/><Relationship Id="rId6" Type="http://schemas.microsoft.com/office/2007/relationships/diagramDrawing" Target="../diagrams/drawing186.xml"/><Relationship Id="rId5" Type="http://schemas.openxmlformats.org/officeDocument/2006/relationships/diagramColors" Target="../diagrams/colors186.xml"/><Relationship Id="rId4" Type="http://schemas.openxmlformats.org/officeDocument/2006/relationships/diagramQuickStyle" Target="../diagrams/quickStyle186.xml"/></Relationships>
</file>

<file path=ppt/slides/_rels/slide583.xml.rels><?xml version="1.0" encoding="UTF-8" standalone="yes"?>
<Relationships xmlns="http://schemas.openxmlformats.org/package/2006/relationships"><Relationship Id="rId3" Type="http://schemas.openxmlformats.org/officeDocument/2006/relationships/diagramLayout" Target="../diagrams/layout187.xml"/><Relationship Id="rId2" Type="http://schemas.openxmlformats.org/officeDocument/2006/relationships/diagramData" Target="../diagrams/data187.xml"/><Relationship Id="rId1" Type="http://schemas.openxmlformats.org/officeDocument/2006/relationships/slideLayout" Target="../slideLayouts/slideLayout2.xml"/><Relationship Id="rId6" Type="http://schemas.microsoft.com/office/2007/relationships/diagramDrawing" Target="../diagrams/drawing187.xml"/><Relationship Id="rId5" Type="http://schemas.openxmlformats.org/officeDocument/2006/relationships/diagramColors" Target="../diagrams/colors187.xml"/><Relationship Id="rId4" Type="http://schemas.openxmlformats.org/officeDocument/2006/relationships/diagramQuickStyle" Target="../diagrams/quickStyle187.xml"/></Relationships>
</file>

<file path=ppt/slides/_rels/slide584.xml.rels><?xml version="1.0" encoding="UTF-8" standalone="yes"?>
<Relationships xmlns="http://schemas.openxmlformats.org/package/2006/relationships"><Relationship Id="rId3" Type="http://schemas.openxmlformats.org/officeDocument/2006/relationships/diagramLayout" Target="../diagrams/layout188.xml"/><Relationship Id="rId2" Type="http://schemas.openxmlformats.org/officeDocument/2006/relationships/diagramData" Target="../diagrams/data188.xml"/><Relationship Id="rId1" Type="http://schemas.openxmlformats.org/officeDocument/2006/relationships/slideLayout" Target="../slideLayouts/slideLayout2.xml"/><Relationship Id="rId6" Type="http://schemas.microsoft.com/office/2007/relationships/diagramDrawing" Target="../diagrams/drawing188.xml"/><Relationship Id="rId5" Type="http://schemas.openxmlformats.org/officeDocument/2006/relationships/diagramColors" Target="../diagrams/colors188.xml"/><Relationship Id="rId4" Type="http://schemas.openxmlformats.org/officeDocument/2006/relationships/diagramQuickStyle" Target="../diagrams/quickStyle188.xml"/></Relationships>
</file>

<file path=ppt/slides/_rels/slide585.xml.rels><?xml version="1.0" encoding="UTF-8" standalone="yes"?>
<Relationships xmlns="http://schemas.openxmlformats.org/package/2006/relationships"><Relationship Id="rId3" Type="http://schemas.openxmlformats.org/officeDocument/2006/relationships/diagramLayout" Target="../diagrams/layout189.xml"/><Relationship Id="rId2" Type="http://schemas.openxmlformats.org/officeDocument/2006/relationships/diagramData" Target="../diagrams/data189.xml"/><Relationship Id="rId1" Type="http://schemas.openxmlformats.org/officeDocument/2006/relationships/slideLayout" Target="../slideLayouts/slideLayout2.xml"/><Relationship Id="rId6" Type="http://schemas.microsoft.com/office/2007/relationships/diagramDrawing" Target="../diagrams/drawing189.xml"/><Relationship Id="rId5" Type="http://schemas.openxmlformats.org/officeDocument/2006/relationships/diagramColors" Target="../diagrams/colors189.xml"/><Relationship Id="rId4" Type="http://schemas.openxmlformats.org/officeDocument/2006/relationships/diagramQuickStyle" Target="../diagrams/quickStyle189.xml"/></Relationships>
</file>

<file path=ppt/slides/_rels/slide586.xml.rels><?xml version="1.0" encoding="UTF-8" standalone="yes"?>
<Relationships xmlns="http://schemas.openxmlformats.org/package/2006/relationships"><Relationship Id="rId3" Type="http://schemas.openxmlformats.org/officeDocument/2006/relationships/diagramLayout" Target="../diagrams/layout190.xml"/><Relationship Id="rId2" Type="http://schemas.openxmlformats.org/officeDocument/2006/relationships/diagramData" Target="../diagrams/data190.xml"/><Relationship Id="rId1" Type="http://schemas.openxmlformats.org/officeDocument/2006/relationships/slideLayout" Target="../slideLayouts/slideLayout2.xml"/><Relationship Id="rId6" Type="http://schemas.microsoft.com/office/2007/relationships/diagramDrawing" Target="../diagrams/drawing190.xml"/><Relationship Id="rId5" Type="http://schemas.openxmlformats.org/officeDocument/2006/relationships/diagramColors" Target="../diagrams/colors190.xml"/><Relationship Id="rId4" Type="http://schemas.openxmlformats.org/officeDocument/2006/relationships/diagramQuickStyle" Target="../diagrams/quickStyle190.xml"/></Relationships>
</file>

<file path=ppt/slides/_rels/slide587.xml.rels><?xml version="1.0" encoding="UTF-8" standalone="yes"?>
<Relationships xmlns="http://schemas.openxmlformats.org/package/2006/relationships"><Relationship Id="rId3" Type="http://schemas.openxmlformats.org/officeDocument/2006/relationships/diagramLayout" Target="../diagrams/layout191.xml"/><Relationship Id="rId2" Type="http://schemas.openxmlformats.org/officeDocument/2006/relationships/diagramData" Target="../diagrams/data191.xml"/><Relationship Id="rId1" Type="http://schemas.openxmlformats.org/officeDocument/2006/relationships/slideLayout" Target="../slideLayouts/slideLayout2.xml"/><Relationship Id="rId6" Type="http://schemas.microsoft.com/office/2007/relationships/diagramDrawing" Target="../diagrams/drawing191.xml"/><Relationship Id="rId5" Type="http://schemas.openxmlformats.org/officeDocument/2006/relationships/diagramColors" Target="../diagrams/colors191.xml"/><Relationship Id="rId4" Type="http://schemas.openxmlformats.org/officeDocument/2006/relationships/diagramQuickStyle" Target="../diagrams/quickStyle191.xml"/></Relationships>
</file>

<file path=ppt/slides/_rels/slide588.xml.rels><?xml version="1.0" encoding="UTF-8" standalone="yes"?>
<Relationships xmlns="http://schemas.openxmlformats.org/package/2006/relationships"><Relationship Id="rId3" Type="http://schemas.openxmlformats.org/officeDocument/2006/relationships/diagramLayout" Target="../diagrams/layout192.xml"/><Relationship Id="rId2" Type="http://schemas.openxmlformats.org/officeDocument/2006/relationships/diagramData" Target="../diagrams/data192.xml"/><Relationship Id="rId1" Type="http://schemas.openxmlformats.org/officeDocument/2006/relationships/slideLayout" Target="../slideLayouts/slideLayout2.xml"/><Relationship Id="rId6" Type="http://schemas.microsoft.com/office/2007/relationships/diagramDrawing" Target="../diagrams/drawing192.xml"/><Relationship Id="rId5" Type="http://schemas.openxmlformats.org/officeDocument/2006/relationships/diagramColors" Target="../diagrams/colors192.xml"/><Relationship Id="rId4" Type="http://schemas.openxmlformats.org/officeDocument/2006/relationships/diagramQuickStyle" Target="../diagrams/quickStyle192.xml"/></Relationships>
</file>

<file path=ppt/slides/_rels/slide589.xml.rels><?xml version="1.0" encoding="UTF-8" standalone="yes"?>
<Relationships xmlns="http://schemas.openxmlformats.org/package/2006/relationships"><Relationship Id="rId3" Type="http://schemas.openxmlformats.org/officeDocument/2006/relationships/diagramLayout" Target="../diagrams/layout193.xml"/><Relationship Id="rId2" Type="http://schemas.openxmlformats.org/officeDocument/2006/relationships/diagramData" Target="../diagrams/data193.xml"/><Relationship Id="rId1" Type="http://schemas.openxmlformats.org/officeDocument/2006/relationships/slideLayout" Target="../slideLayouts/slideLayout2.xml"/><Relationship Id="rId6" Type="http://schemas.microsoft.com/office/2007/relationships/diagramDrawing" Target="../diagrams/drawing193.xml"/><Relationship Id="rId5" Type="http://schemas.openxmlformats.org/officeDocument/2006/relationships/diagramColors" Target="../diagrams/colors193.xml"/><Relationship Id="rId4" Type="http://schemas.openxmlformats.org/officeDocument/2006/relationships/diagramQuickStyle" Target="../diagrams/quickStyle193.xml"/></Relationships>
</file>

<file path=ppt/slides/_rels/slide590.xml.rels><?xml version="1.0" encoding="UTF-8" standalone="yes"?>
<Relationships xmlns="http://schemas.openxmlformats.org/package/2006/relationships"><Relationship Id="rId3" Type="http://schemas.openxmlformats.org/officeDocument/2006/relationships/diagramLayout" Target="../diagrams/layout194.xml"/><Relationship Id="rId2" Type="http://schemas.openxmlformats.org/officeDocument/2006/relationships/diagramData" Target="../diagrams/data194.xml"/><Relationship Id="rId1" Type="http://schemas.openxmlformats.org/officeDocument/2006/relationships/slideLayout" Target="../slideLayouts/slideLayout2.xml"/><Relationship Id="rId6" Type="http://schemas.microsoft.com/office/2007/relationships/diagramDrawing" Target="../diagrams/drawing194.xml"/><Relationship Id="rId5" Type="http://schemas.openxmlformats.org/officeDocument/2006/relationships/diagramColors" Target="../diagrams/colors194.xml"/><Relationship Id="rId4" Type="http://schemas.openxmlformats.org/officeDocument/2006/relationships/diagramQuickStyle" Target="../diagrams/quickStyle194.xml"/></Relationships>
</file>

<file path=ppt/slides/_rels/slide591.xml.rels><?xml version="1.0" encoding="UTF-8" standalone="yes"?>
<Relationships xmlns="http://schemas.openxmlformats.org/package/2006/relationships"><Relationship Id="rId3" Type="http://schemas.openxmlformats.org/officeDocument/2006/relationships/diagramLayout" Target="../diagrams/layout195.xml"/><Relationship Id="rId2" Type="http://schemas.openxmlformats.org/officeDocument/2006/relationships/diagramData" Target="../diagrams/data195.xml"/><Relationship Id="rId1" Type="http://schemas.openxmlformats.org/officeDocument/2006/relationships/slideLayout" Target="../slideLayouts/slideLayout2.xml"/><Relationship Id="rId6" Type="http://schemas.microsoft.com/office/2007/relationships/diagramDrawing" Target="../diagrams/drawing195.xml"/><Relationship Id="rId5" Type="http://schemas.openxmlformats.org/officeDocument/2006/relationships/diagramColors" Target="../diagrams/colors195.xml"/><Relationship Id="rId4" Type="http://schemas.openxmlformats.org/officeDocument/2006/relationships/diagramQuickStyle" Target="../diagrams/quickStyle195.xml"/></Relationships>
</file>

<file path=ppt/slides/_rels/slide592.xml.rels><?xml version="1.0" encoding="UTF-8" standalone="yes"?>
<Relationships xmlns="http://schemas.openxmlformats.org/package/2006/relationships"><Relationship Id="rId3" Type="http://schemas.openxmlformats.org/officeDocument/2006/relationships/diagramLayout" Target="../diagrams/layout196.xml"/><Relationship Id="rId2" Type="http://schemas.openxmlformats.org/officeDocument/2006/relationships/diagramData" Target="../diagrams/data196.xml"/><Relationship Id="rId1" Type="http://schemas.openxmlformats.org/officeDocument/2006/relationships/slideLayout" Target="../slideLayouts/slideLayout2.xml"/><Relationship Id="rId6" Type="http://schemas.microsoft.com/office/2007/relationships/diagramDrawing" Target="../diagrams/drawing196.xml"/><Relationship Id="rId5" Type="http://schemas.openxmlformats.org/officeDocument/2006/relationships/diagramColors" Target="../diagrams/colors196.xml"/><Relationship Id="rId4" Type="http://schemas.openxmlformats.org/officeDocument/2006/relationships/diagramQuickStyle" Target="../diagrams/quickStyle196.xml"/></Relationships>
</file>

<file path=ppt/slides/_rels/slide593.xml.rels><?xml version="1.0" encoding="UTF-8" standalone="yes"?>
<Relationships xmlns="http://schemas.openxmlformats.org/package/2006/relationships"><Relationship Id="rId3" Type="http://schemas.openxmlformats.org/officeDocument/2006/relationships/diagramLayout" Target="../diagrams/layout197.xml"/><Relationship Id="rId2" Type="http://schemas.openxmlformats.org/officeDocument/2006/relationships/diagramData" Target="../diagrams/data197.xml"/><Relationship Id="rId1" Type="http://schemas.openxmlformats.org/officeDocument/2006/relationships/slideLayout" Target="../slideLayouts/slideLayout2.xml"/><Relationship Id="rId6" Type="http://schemas.microsoft.com/office/2007/relationships/diagramDrawing" Target="../diagrams/drawing197.xml"/><Relationship Id="rId5" Type="http://schemas.openxmlformats.org/officeDocument/2006/relationships/diagramColors" Target="../diagrams/colors197.xml"/><Relationship Id="rId4" Type="http://schemas.openxmlformats.org/officeDocument/2006/relationships/diagramQuickStyle" Target="../diagrams/quickStyle197.xml"/></Relationships>
</file>

<file path=ppt/slides/_rels/slide594.xml.rels><?xml version="1.0" encoding="UTF-8" standalone="yes"?>
<Relationships xmlns="http://schemas.openxmlformats.org/package/2006/relationships"><Relationship Id="rId8" Type="http://schemas.openxmlformats.org/officeDocument/2006/relationships/hyperlink" Target="https://www.amazon.in/Mapmatics-Navigate-World-Through-Numbers/dp/1035007053" TargetMode="External"/><Relationship Id="rId13" Type="http://schemas.openxmlformats.org/officeDocument/2006/relationships/hyperlink" Target="https://en.wikipedia.org/wiki/Map_projection" TargetMode="External"/><Relationship Id="rId18" Type="http://schemas.openxmlformats.org/officeDocument/2006/relationships/hyperlink" Target="https://github.com/webgeodatavore/awesome-openlayers" TargetMode="External"/><Relationship Id="rId3" Type="http://schemas.openxmlformats.org/officeDocument/2006/relationships/diagramLayout" Target="../diagrams/layout198.xml"/><Relationship Id="rId21" Type="http://schemas.openxmlformats.org/officeDocument/2006/relationships/hyperlink" Target="https://openlayers.org/en/latest/examples/localized-openstreetmap.html" TargetMode="External"/><Relationship Id="rId7" Type="http://schemas.openxmlformats.org/officeDocument/2006/relationships/hyperlink" Target="https://www.esri.com/en-us/esri-press/browse/cartography-the-definitive-guide-to-making-maps" TargetMode="External"/><Relationship Id="rId12" Type="http://schemas.openxmlformats.org/officeDocument/2006/relationships/hyperlink" Target="https://press.uchicago.edu/books/hoc/HOC_V6/HOC_VOLUME6_A.pdf" TargetMode="External"/><Relationship Id="rId17" Type="http://schemas.openxmlformats.org/officeDocument/2006/relationships/hyperlink" Target="https://www.techtarget.com/whatis/definition/geofencing" TargetMode="External"/><Relationship Id="rId2" Type="http://schemas.openxmlformats.org/officeDocument/2006/relationships/diagramData" Target="../diagrams/data198.xml"/><Relationship Id="rId16" Type="http://schemas.openxmlformats.org/officeDocument/2006/relationships/hyperlink" Target="https://developers.google.com/maps/documentation/javascript/vector-map" TargetMode="External"/><Relationship Id="rId20" Type="http://schemas.openxmlformats.org/officeDocument/2006/relationships/hyperlink" Target="https://opensource.com/article/17/8/openstreetmap" TargetMode="External"/><Relationship Id="rId1" Type="http://schemas.openxmlformats.org/officeDocument/2006/relationships/slideLayout" Target="../slideLayouts/slideLayout2.xml"/><Relationship Id="rId6" Type="http://schemas.microsoft.com/office/2007/relationships/diagramDrawing" Target="../diagrams/drawing198.xml"/><Relationship Id="rId11" Type="http://schemas.openxmlformats.org/officeDocument/2006/relationships/hyperlink" Target="https://onlinecourses.swayam2.ac.in/cec26_hs57/preview" TargetMode="External"/><Relationship Id="rId5" Type="http://schemas.openxmlformats.org/officeDocument/2006/relationships/diagramColors" Target="../diagrams/colors198.xml"/><Relationship Id="rId15" Type="http://schemas.openxmlformats.org/officeDocument/2006/relationships/hyperlink" Target="https://medium.com/google-design/google-maps-cb0326d165f5" TargetMode="External"/><Relationship Id="rId10" Type="http://schemas.openxmlformats.org/officeDocument/2006/relationships/hyperlink" Target="https://ia801500.us.archive.org/8/items/in.ernet.dli.2015.119985/2015.119985.Fundamentals-Of-Cartography_text.pdf" TargetMode="External"/><Relationship Id="rId19" Type="http://schemas.openxmlformats.org/officeDocument/2006/relationships/hyperlink" Target="https://wiki.openstreetmap.org/" TargetMode="External"/><Relationship Id="rId4" Type="http://schemas.openxmlformats.org/officeDocument/2006/relationships/diagramQuickStyle" Target="../diagrams/quickStyle198.xml"/><Relationship Id="rId9" Type="http://schemas.openxmlformats.org/officeDocument/2006/relationships/hyperlink" Target="https://www.kngac.ac.in/elearning-portal/ec/admin/contents/2_18KGAG1_2020120403172623.pdf" TargetMode="External"/><Relationship Id="rId14" Type="http://schemas.openxmlformats.org/officeDocument/2006/relationships/hyperlink" Target="https://valhalla.github.io/valhalla/mjolnir/why_tiles/" TargetMode="External"/><Relationship Id="rId22" Type="http://schemas.openxmlformats.org/officeDocument/2006/relationships/hyperlink" Target="https://arxiv.org/abs/2312.07901" TargetMode="External"/></Relationships>
</file>

<file path=ppt/slides/_rels/slide595.xml.rels><?xml version="1.0" encoding="UTF-8" standalone="yes"?>
<Relationships xmlns="http://schemas.openxmlformats.org/package/2006/relationships"><Relationship Id="rId3" Type="http://schemas.openxmlformats.org/officeDocument/2006/relationships/diagramLayout" Target="../diagrams/layout199.xml"/><Relationship Id="rId2" Type="http://schemas.openxmlformats.org/officeDocument/2006/relationships/diagramData" Target="../diagrams/data199.xml"/><Relationship Id="rId1" Type="http://schemas.openxmlformats.org/officeDocument/2006/relationships/slideLayout" Target="../slideLayouts/slideLayout2.xml"/><Relationship Id="rId6" Type="http://schemas.microsoft.com/office/2007/relationships/diagramDrawing" Target="../diagrams/drawing199.xml"/><Relationship Id="rId5" Type="http://schemas.openxmlformats.org/officeDocument/2006/relationships/diagramColors" Target="../diagrams/colors199.xml"/><Relationship Id="rId4" Type="http://schemas.openxmlformats.org/officeDocument/2006/relationships/diagramQuickStyle" Target="../diagrams/quickStyle199.xml"/></Relationships>
</file>

<file path=ppt/slides/_rels/slide596.xml.rels><?xml version="1.0" encoding="UTF-8" standalone="yes"?>
<Relationships xmlns="http://schemas.openxmlformats.org/package/2006/relationships"><Relationship Id="rId3" Type="http://schemas.openxmlformats.org/officeDocument/2006/relationships/diagramLayout" Target="../diagrams/layout200.xml"/><Relationship Id="rId2" Type="http://schemas.openxmlformats.org/officeDocument/2006/relationships/diagramData" Target="../diagrams/data200.xml"/><Relationship Id="rId1" Type="http://schemas.openxmlformats.org/officeDocument/2006/relationships/slideLayout" Target="../slideLayouts/slideLayout2.xml"/><Relationship Id="rId6" Type="http://schemas.microsoft.com/office/2007/relationships/diagramDrawing" Target="../diagrams/drawing200.xml"/><Relationship Id="rId5" Type="http://schemas.openxmlformats.org/officeDocument/2006/relationships/diagramColors" Target="../diagrams/colors200.xml"/><Relationship Id="rId4" Type="http://schemas.openxmlformats.org/officeDocument/2006/relationships/diagramQuickStyle" Target="../diagrams/quickStyle200.xml"/></Relationships>
</file>

<file path=ppt/slides/_rels/slide597.xml.rels><?xml version="1.0" encoding="UTF-8" standalone="yes"?>
<Relationships xmlns="http://schemas.openxmlformats.org/package/2006/relationships"><Relationship Id="rId3" Type="http://schemas.openxmlformats.org/officeDocument/2006/relationships/diagramLayout" Target="../diagrams/layout201.xml"/><Relationship Id="rId2" Type="http://schemas.openxmlformats.org/officeDocument/2006/relationships/diagramData" Target="../diagrams/data201.xml"/><Relationship Id="rId1" Type="http://schemas.openxmlformats.org/officeDocument/2006/relationships/slideLayout" Target="../slideLayouts/slideLayout2.xml"/><Relationship Id="rId6" Type="http://schemas.microsoft.com/office/2007/relationships/diagramDrawing" Target="../diagrams/drawing201.xml"/><Relationship Id="rId5" Type="http://schemas.openxmlformats.org/officeDocument/2006/relationships/diagramColors" Target="../diagrams/colors201.xml"/><Relationship Id="rId4" Type="http://schemas.openxmlformats.org/officeDocument/2006/relationships/diagramQuickStyle" Target="../diagrams/quickStyle201.xml"/></Relationships>
</file>

<file path=ppt/slides/_rels/slide598.xml.rels><?xml version="1.0" encoding="UTF-8" standalone="yes"?>
<Relationships xmlns="http://schemas.openxmlformats.org/package/2006/relationships"><Relationship Id="rId3" Type="http://schemas.openxmlformats.org/officeDocument/2006/relationships/diagramLayout" Target="../diagrams/layout202.xml"/><Relationship Id="rId2" Type="http://schemas.openxmlformats.org/officeDocument/2006/relationships/diagramData" Target="../diagrams/data202.xml"/><Relationship Id="rId1" Type="http://schemas.openxmlformats.org/officeDocument/2006/relationships/slideLayout" Target="../slideLayouts/slideLayout2.xml"/><Relationship Id="rId6" Type="http://schemas.microsoft.com/office/2007/relationships/diagramDrawing" Target="../diagrams/drawing202.xml"/><Relationship Id="rId5" Type="http://schemas.openxmlformats.org/officeDocument/2006/relationships/diagramColors" Target="../diagrams/colors202.xml"/><Relationship Id="rId4" Type="http://schemas.openxmlformats.org/officeDocument/2006/relationships/diagramQuickStyle" Target="../diagrams/quickStyle202.xml"/></Relationships>
</file>

<file path=ppt/slides/_rels/slide599.xml.rels><?xml version="1.0" encoding="UTF-8" standalone="yes"?>
<Relationships xmlns="http://schemas.openxmlformats.org/package/2006/relationships"><Relationship Id="rId8" Type="http://schemas.openxmlformats.org/officeDocument/2006/relationships/hyperlink" Target="https://www.sciencedirect.com/science/article/abs/pii/S0198971506000184" TargetMode="External"/><Relationship Id="rId3" Type="http://schemas.openxmlformats.org/officeDocument/2006/relationships/diagramLayout" Target="../diagrams/layout203.xml"/><Relationship Id="rId7" Type="http://schemas.openxmlformats.org/officeDocument/2006/relationships/hyperlink" Target="https://www.amazon.in/Location-Based-Services-Geo-Information-Engineering-Mastering/dp/0470857374/ref=sr_1_1?crid=7XBMVSUNPOHY&amp;dib=eyJ2IjoiMSJ9.6kKcQfpmPnbVTxQYAaCBkLSks1ApmazQu0laajSakBQ1vLlASZewRQ_CM5ASqIwXSI_GqNC6KQyeamWovaz4tBqtWYkeGTcZZ6ocdM2MnVY.tavHS9UXfq3fGDtgSmgFTM8HxpN7-fPJILNWec-iOZc&amp;dib_tag=se&amp;keywords=Location-Based+Services+and+Geo-Information+Engineering&amp;qid=1762869569&amp;sprefix=location-based+services+and+geo-information+engineering+%2Caps%2C557&amp;sr=8-1" TargetMode="External"/><Relationship Id="rId2" Type="http://schemas.openxmlformats.org/officeDocument/2006/relationships/diagramData" Target="../diagrams/data203.xml"/><Relationship Id="rId1" Type="http://schemas.openxmlformats.org/officeDocument/2006/relationships/slideLayout" Target="../slideLayouts/slideLayout2.xml"/><Relationship Id="rId6" Type="http://schemas.microsoft.com/office/2007/relationships/diagramDrawing" Target="../diagrams/drawing203.xml"/><Relationship Id="rId11" Type="http://schemas.openxmlformats.org/officeDocument/2006/relationships/hyperlink" Target="https://www.sciencedirect.com/science/article/pii/S1389128622001918" TargetMode="External"/><Relationship Id="rId5" Type="http://schemas.openxmlformats.org/officeDocument/2006/relationships/diagramColors" Target="../diagrams/colors203.xml"/><Relationship Id="rId10" Type="http://schemas.openxmlformats.org/officeDocument/2006/relationships/hyperlink" Target="https://arxiv.org/abs/2004.03738" TargetMode="External"/><Relationship Id="rId4" Type="http://schemas.openxmlformats.org/officeDocument/2006/relationships/diagramQuickStyle" Target="../diagrams/quickStyle203.xml"/><Relationship Id="rId9" Type="http://schemas.openxmlformats.org/officeDocument/2006/relationships/hyperlink" Target="https://www.researchgate.net/publication/327256471_Location_based_services_ongoing_evolution_and_research_agenda" TargetMode="External"/></Relationships>
</file>

<file path=ppt/slides/_rels/slide600.xml.rels><?xml version="1.0" encoding="UTF-8" standalone="yes"?>
<Relationships xmlns="http://schemas.openxmlformats.org/package/2006/relationships"><Relationship Id="rId3" Type="http://schemas.openxmlformats.org/officeDocument/2006/relationships/diagramLayout" Target="../diagrams/layout204.xml"/><Relationship Id="rId2" Type="http://schemas.openxmlformats.org/officeDocument/2006/relationships/diagramData" Target="../diagrams/data204.xml"/><Relationship Id="rId1" Type="http://schemas.openxmlformats.org/officeDocument/2006/relationships/slideLayout" Target="../slideLayouts/slideLayout2.xml"/><Relationship Id="rId6" Type="http://schemas.microsoft.com/office/2007/relationships/diagramDrawing" Target="../diagrams/drawing204.xml"/><Relationship Id="rId5" Type="http://schemas.openxmlformats.org/officeDocument/2006/relationships/diagramColors" Target="../diagrams/colors204.xml"/><Relationship Id="rId4" Type="http://schemas.openxmlformats.org/officeDocument/2006/relationships/diagramQuickStyle" Target="../diagrams/quickStyle204.xml"/></Relationships>
</file>

<file path=ppt/slides/_rels/slide601.xml.rels><?xml version="1.0" encoding="UTF-8" standalone="yes"?>
<Relationships xmlns="http://schemas.openxmlformats.org/package/2006/relationships"><Relationship Id="rId3" Type="http://schemas.openxmlformats.org/officeDocument/2006/relationships/diagramLayout" Target="../diagrams/layout205.xml"/><Relationship Id="rId2" Type="http://schemas.openxmlformats.org/officeDocument/2006/relationships/diagramData" Target="../diagrams/data205.xml"/><Relationship Id="rId1" Type="http://schemas.openxmlformats.org/officeDocument/2006/relationships/slideLayout" Target="../slideLayouts/slideLayout2.xml"/><Relationship Id="rId6" Type="http://schemas.microsoft.com/office/2007/relationships/diagramDrawing" Target="../diagrams/drawing205.xml"/><Relationship Id="rId5" Type="http://schemas.openxmlformats.org/officeDocument/2006/relationships/diagramColors" Target="../diagrams/colors205.xml"/><Relationship Id="rId4" Type="http://schemas.openxmlformats.org/officeDocument/2006/relationships/diagramQuickStyle" Target="../diagrams/quickStyle205.xml"/></Relationships>
</file>

<file path=ppt/slides/_rels/slide602.xml.rels><?xml version="1.0" encoding="UTF-8" standalone="yes"?>
<Relationships xmlns="http://schemas.openxmlformats.org/package/2006/relationships"><Relationship Id="rId3" Type="http://schemas.openxmlformats.org/officeDocument/2006/relationships/diagramLayout" Target="../diagrams/layout206.xml"/><Relationship Id="rId2" Type="http://schemas.openxmlformats.org/officeDocument/2006/relationships/diagramData" Target="../diagrams/data206.xml"/><Relationship Id="rId1" Type="http://schemas.openxmlformats.org/officeDocument/2006/relationships/slideLayout" Target="../slideLayouts/slideLayout2.xml"/><Relationship Id="rId6" Type="http://schemas.microsoft.com/office/2007/relationships/diagramDrawing" Target="../diagrams/drawing206.xml"/><Relationship Id="rId5" Type="http://schemas.openxmlformats.org/officeDocument/2006/relationships/diagramColors" Target="../diagrams/colors206.xml"/><Relationship Id="rId4" Type="http://schemas.openxmlformats.org/officeDocument/2006/relationships/diagramQuickStyle" Target="../diagrams/quickStyle206.xml"/></Relationships>
</file>

<file path=ppt/slides/_rels/slide603.xml.rels><?xml version="1.0" encoding="UTF-8" standalone="yes"?>
<Relationships xmlns="http://schemas.openxmlformats.org/package/2006/relationships"><Relationship Id="rId3" Type="http://schemas.openxmlformats.org/officeDocument/2006/relationships/diagramLayout" Target="../diagrams/layout207.xml"/><Relationship Id="rId7" Type="http://schemas.openxmlformats.org/officeDocument/2006/relationships/image" Target="../media/image195.png"/><Relationship Id="rId2" Type="http://schemas.openxmlformats.org/officeDocument/2006/relationships/diagramData" Target="../diagrams/data207.xml"/><Relationship Id="rId1" Type="http://schemas.openxmlformats.org/officeDocument/2006/relationships/slideLayout" Target="../slideLayouts/slideLayout2.xml"/><Relationship Id="rId6" Type="http://schemas.microsoft.com/office/2007/relationships/diagramDrawing" Target="../diagrams/drawing207.xml"/><Relationship Id="rId5" Type="http://schemas.openxmlformats.org/officeDocument/2006/relationships/diagramColors" Target="../diagrams/colors207.xml"/><Relationship Id="rId4" Type="http://schemas.openxmlformats.org/officeDocument/2006/relationships/diagramQuickStyle" Target="../diagrams/quickStyle207.xml"/></Relationships>
</file>

<file path=ppt/slides/_rels/slide604.xml.rels><?xml version="1.0" encoding="UTF-8" standalone="yes"?>
<Relationships xmlns="http://schemas.openxmlformats.org/package/2006/relationships"><Relationship Id="rId3" Type="http://schemas.openxmlformats.org/officeDocument/2006/relationships/diagramLayout" Target="../diagrams/layout208.xml"/><Relationship Id="rId7" Type="http://schemas.openxmlformats.org/officeDocument/2006/relationships/image" Target="../media/image196.png"/><Relationship Id="rId2" Type="http://schemas.openxmlformats.org/officeDocument/2006/relationships/diagramData" Target="../diagrams/data208.xml"/><Relationship Id="rId1" Type="http://schemas.openxmlformats.org/officeDocument/2006/relationships/slideLayout" Target="../slideLayouts/slideLayout2.xml"/><Relationship Id="rId6" Type="http://schemas.microsoft.com/office/2007/relationships/diagramDrawing" Target="../diagrams/drawing208.xml"/><Relationship Id="rId5" Type="http://schemas.openxmlformats.org/officeDocument/2006/relationships/diagramColors" Target="../diagrams/colors208.xml"/><Relationship Id="rId4" Type="http://schemas.openxmlformats.org/officeDocument/2006/relationships/diagramQuickStyle" Target="../diagrams/quickStyle208.xml"/></Relationships>
</file>

<file path=ppt/slides/_rels/slide605.xml.rels><?xml version="1.0" encoding="UTF-8" standalone="yes"?>
<Relationships xmlns="http://schemas.openxmlformats.org/package/2006/relationships"><Relationship Id="rId8" Type="http://schemas.openxmlformats.org/officeDocument/2006/relationships/hyperlink" Target="https://link.springer.com/book/10.1007/978-3-540-77974-2" TargetMode="External"/><Relationship Id="rId13" Type="http://schemas.openxmlformats.org/officeDocument/2006/relationships/hyperlink" Target="https://github.com/Kasheftin/RoutePlanner" TargetMode="External"/><Relationship Id="rId3" Type="http://schemas.openxmlformats.org/officeDocument/2006/relationships/diagramData" Target="../diagrams/data209.xml"/><Relationship Id="rId7" Type="http://schemas.microsoft.com/office/2007/relationships/diagramDrawing" Target="../diagrams/drawing209.xml"/><Relationship Id="rId12" Type="http://schemas.openxmlformats.org/officeDocument/2006/relationships/hyperlink" Target="https://www.opentripplanner.org/" TargetMode="External"/><Relationship Id="rId2" Type="http://schemas.openxmlformats.org/officeDocument/2006/relationships/notesSlide" Target="../notesSlides/notesSlide44.xml"/><Relationship Id="rId16" Type="http://schemas.openxmlformats.org/officeDocument/2006/relationships/hyperlink" Target="https://www.linkedin.com/posts/gkcs_systemdesign-locationbasedapplications-activity-7207803072083877888-J4os/" TargetMode="External"/><Relationship Id="rId1" Type="http://schemas.openxmlformats.org/officeDocument/2006/relationships/slideLayout" Target="../slideLayouts/slideLayout2.xml"/><Relationship Id="rId6" Type="http://schemas.openxmlformats.org/officeDocument/2006/relationships/diagramColors" Target="../diagrams/colors209.xml"/><Relationship Id="rId11" Type="http://schemas.openxmlformats.org/officeDocument/2006/relationships/hyperlink" Target="https://www.linkedin.com/posts/bonagirisandeep_inside-ubers-system-design-from-rider-request-activity-7379354238176583680-xN-v/" TargetMode="External"/><Relationship Id="rId5" Type="http://schemas.openxmlformats.org/officeDocument/2006/relationships/diagramQuickStyle" Target="../diagrams/quickStyle209.xml"/><Relationship Id="rId15" Type="http://schemas.openxmlformats.org/officeDocument/2006/relationships/hyperlink" Target="https://github.com/opengeos" TargetMode="External"/><Relationship Id="rId10" Type="http://schemas.openxmlformats.org/officeDocument/2006/relationships/hyperlink" Target="https://nostarch.com/math-security" TargetMode="External"/><Relationship Id="rId4" Type="http://schemas.openxmlformats.org/officeDocument/2006/relationships/diagramLayout" Target="../diagrams/layout209.xml"/><Relationship Id="rId9" Type="http://schemas.openxmlformats.org/officeDocument/2006/relationships/hyperlink" Target="https://deeplearning.lipingyang.org/computational-geometry-in-python/" TargetMode="External"/><Relationship Id="rId14" Type="http://schemas.openxmlformats.org/officeDocument/2006/relationships/hyperlink" Target="https://courses.spatialthoughts.com/end-to-end-gee.html" TargetMode="Externa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p:nvPr/>
        </p:nvSpPr>
        <p:spPr>
          <a:xfrm>
            <a:off x="1756803" y="25883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278999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690736356"/>
              </p:ext>
            </p:extLst>
          </p:nvPr>
        </p:nvGraphicFramePr>
        <p:xfrm>
          <a:off x="275300" y="685799"/>
          <a:ext cx="8868700" cy="18146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24F16-9B49-6432-A279-912E90E31F8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FFD7C91-8B9D-6F9F-9852-910E5BD31525}"/>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AA6E6A6-DA70-9D31-273B-1EFA38617338}"/>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0F5503E-1597-FC59-9686-9876727EB6E4}"/>
              </a:ext>
            </a:extLst>
          </p:cNvPr>
          <p:cNvGraphicFramePr/>
          <p:nvPr>
            <p:extLst>
              <p:ext uri="{D42A27DB-BD31-4B8C-83A1-F6EECF244321}">
                <p14:modId xmlns:p14="http://schemas.microsoft.com/office/powerpoint/2010/main" val="1812455050"/>
              </p:ext>
            </p:extLst>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ED343C5C-E70F-354F-60AE-73BC4C83FF9A}"/>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BF23CD4-D745-9087-C9C9-2F8BB719AD60}"/>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B994DDE7-486B-5010-9F72-5CA582E14093}"/>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06D2887A-939F-E865-867D-DD6AFCAFC868}"/>
              </a:ext>
            </a:extLst>
          </p:cNvPr>
          <p:cNvSpPr txBox="1">
            <a:spLocks/>
          </p:cNvSpPr>
          <p:nvPr/>
        </p:nvSpPr>
        <p:spPr>
          <a:xfrm>
            <a:off x="55803" y="774902"/>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1. API call flow over the network</a:t>
            </a:r>
          </a:p>
          <a:p>
            <a:r>
              <a:rPr lang="en-US" sz="1500" dirty="0">
                <a:solidFill>
                  <a:schemeClr val="accent6"/>
                </a:solidFill>
                <a:latin typeface="Google Sans"/>
                <a:ea typeface="+mn-ea"/>
                <a:cs typeface="+mn-cs"/>
              </a:rPr>
              <a:t>When you call an API over the network, a well-defined sequence of steps happens across your application, the network, and the server. </a:t>
            </a:r>
          </a:p>
          <a:p>
            <a:r>
              <a:rPr lang="en-US" sz="1500" dirty="0">
                <a:solidFill>
                  <a:schemeClr val="accent2"/>
                </a:solidFill>
                <a:latin typeface="Google Sans"/>
                <a:ea typeface="+mn-ea"/>
                <a:cs typeface="+mn-cs"/>
              </a:rPr>
              <a:t>a. API call is created (Client side)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Your application prepares a request.             </a:t>
            </a:r>
          </a:p>
          <a:p>
            <a:r>
              <a:rPr lang="en-US" sz="1500" dirty="0">
                <a:solidFill>
                  <a:schemeClr val="accent2"/>
                </a:solidFill>
                <a:latin typeface="Google Sans"/>
                <a:ea typeface="+mn-ea"/>
                <a:cs typeface="+mn-cs"/>
              </a:rPr>
              <a:t>Example (HTTP REST API): </a:t>
            </a:r>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Method: </a:t>
            </a:r>
            <a:r>
              <a:rPr lang="en-US" sz="1500" dirty="0">
                <a:solidFill>
                  <a:schemeClr val="accent6"/>
                </a:solidFill>
                <a:latin typeface="Google Sans"/>
                <a:ea typeface="+mn-ea"/>
                <a:cs typeface="+mn-cs"/>
              </a:rPr>
              <a:t>GET / POST / PUT / DELETE          </a:t>
            </a:r>
          </a:p>
          <a:p>
            <a:r>
              <a:rPr lang="en-US" sz="1500" dirty="0">
                <a:solidFill>
                  <a:schemeClr val="accent2"/>
                </a:solidFill>
                <a:latin typeface="Google Sans"/>
                <a:ea typeface="+mn-ea"/>
                <a:cs typeface="+mn-cs"/>
              </a:rPr>
              <a:t>URL: </a:t>
            </a:r>
            <a:r>
              <a:rPr lang="en-US" sz="1500" dirty="0">
                <a:solidFill>
                  <a:schemeClr val="accent6"/>
                </a:solidFill>
                <a:latin typeface="Google Sans"/>
                <a:ea typeface="+mn-ea"/>
                <a:cs typeface="+mn-cs"/>
              </a:rPr>
              <a:t>https://api.example.com/users/42          </a:t>
            </a:r>
          </a:p>
          <a:p>
            <a:r>
              <a:rPr lang="en-US" sz="1500" dirty="0">
                <a:solidFill>
                  <a:schemeClr val="accent2"/>
                </a:solidFill>
                <a:latin typeface="Google Sans"/>
                <a:ea typeface="+mn-ea"/>
                <a:cs typeface="+mn-cs"/>
              </a:rPr>
              <a:t>Headers: </a:t>
            </a:r>
            <a:r>
              <a:rPr lang="en-US" sz="1500" dirty="0">
                <a:solidFill>
                  <a:schemeClr val="accent6"/>
                </a:solidFill>
                <a:latin typeface="Google Sans"/>
                <a:ea typeface="+mn-ea"/>
                <a:cs typeface="+mn-cs"/>
              </a:rPr>
              <a:t>Authorization, Content-Type, etc.          </a:t>
            </a:r>
          </a:p>
          <a:p>
            <a:r>
              <a:rPr lang="en-US" sz="1500" dirty="0">
                <a:solidFill>
                  <a:schemeClr val="accent2"/>
                </a:solidFill>
                <a:latin typeface="Google Sans"/>
                <a:ea typeface="+mn-ea"/>
                <a:cs typeface="+mn-cs"/>
              </a:rPr>
              <a:t>Body (optional):</a:t>
            </a:r>
            <a:r>
              <a:rPr lang="en-US" sz="1500" dirty="0">
                <a:solidFill>
                  <a:schemeClr val="accent6"/>
                </a:solidFill>
                <a:latin typeface="Google Sans"/>
                <a:ea typeface="+mn-ea"/>
                <a:cs typeface="+mn-cs"/>
              </a:rPr>
              <a:t> JSON, XML, form data             </a:t>
            </a:r>
          </a:p>
          <a:p>
            <a:r>
              <a:rPr lang="en-US" sz="1500" dirty="0">
                <a:solidFill>
                  <a:schemeClr val="accent6"/>
                </a:solidFill>
                <a:latin typeface="Google Sans"/>
                <a:ea typeface="+mn-ea"/>
                <a:cs typeface="+mn-cs"/>
              </a:rPr>
              <a:t>➡️ At this point, it’s just data in memory.           </a:t>
            </a:r>
          </a:p>
          <a:p>
            <a:r>
              <a:rPr lang="en-US" sz="1500" dirty="0">
                <a:solidFill>
                  <a:schemeClr val="accent2"/>
                </a:solidFill>
                <a:latin typeface="Google Sans"/>
                <a:ea typeface="+mn-ea"/>
                <a:cs typeface="+mn-cs"/>
              </a:rPr>
              <a:t>b. DNS resolution (Name → IP)          </a:t>
            </a:r>
          </a:p>
          <a:p>
            <a:r>
              <a:rPr lang="en-US" sz="1500" dirty="0">
                <a:solidFill>
                  <a:schemeClr val="accent2"/>
                </a:solidFill>
                <a:latin typeface="Google Sans"/>
                <a:ea typeface="+mn-ea"/>
                <a:cs typeface="+mn-cs"/>
              </a:rPr>
              <a:t>If you used a domain name: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api.example.com → 93.184.216.34      </a:t>
            </a:r>
          </a:p>
          <a:p>
            <a:r>
              <a:rPr lang="en-US" sz="1500" dirty="0">
                <a:solidFill>
                  <a:schemeClr val="accent6"/>
                </a:solidFill>
                <a:latin typeface="Google Sans"/>
                <a:ea typeface="+mn-ea"/>
                <a:cs typeface="+mn-cs"/>
              </a:rPr>
              <a:t>OS checks DNS cache        </a:t>
            </a:r>
          </a:p>
          <a:p>
            <a:r>
              <a:rPr lang="en-US" sz="1500" dirty="0">
                <a:solidFill>
                  <a:schemeClr val="accent6"/>
                </a:solidFill>
                <a:latin typeface="Google Sans"/>
                <a:ea typeface="+mn-ea"/>
                <a:cs typeface="+mn-cs"/>
              </a:rPr>
              <a:t>If not found → queries DNS servers(1st OS checks the local host file in .NET )                </a:t>
            </a:r>
          </a:p>
          <a:p>
            <a:r>
              <a:rPr lang="en-US" sz="1500" dirty="0">
                <a:solidFill>
                  <a:schemeClr val="accent6"/>
                </a:solidFill>
                <a:latin typeface="Google Sans"/>
                <a:ea typeface="+mn-ea"/>
                <a:cs typeface="+mn-cs"/>
              </a:rPr>
              <a:t>Result is cached for future calls         </a:t>
            </a:r>
          </a:p>
          <a:p>
            <a:r>
              <a:rPr lang="en-US" sz="1500" dirty="0">
                <a:solidFill>
                  <a:schemeClr val="accent6"/>
                </a:solidFill>
                <a:latin typeface="Google Sans"/>
                <a:ea typeface="+mn-ea"/>
                <a:cs typeface="+mn-cs"/>
              </a:rPr>
              <a:t>⏱️ Usually a few milliseconds         </a:t>
            </a:r>
          </a:p>
          <a:p>
            <a:r>
              <a:rPr lang="en-US" sz="1500" dirty="0">
                <a:solidFill>
                  <a:schemeClr val="accent2"/>
                </a:solidFill>
                <a:latin typeface="Google Sans"/>
                <a:ea typeface="+mn-ea"/>
                <a:cs typeface="+mn-cs"/>
              </a:rPr>
              <a:t>c. TCP connection is established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The client opens a TCP connection to the server IP and port (usually 443 for HTTPS).         </a:t>
            </a:r>
          </a:p>
          <a:p>
            <a:r>
              <a:rPr lang="en-US" sz="1500" dirty="0">
                <a:solidFill>
                  <a:schemeClr val="accent2"/>
                </a:solidFill>
                <a:latin typeface="Google Sans"/>
                <a:ea typeface="+mn-ea"/>
                <a:cs typeface="+mn-cs"/>
              </a:rPr>
              <a:t>3-way handshake: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SYN →        </a:t>
            </a:r>
          </a:p>
          <a:p>
            <a:r>
              <a:rPr lang="en-US" sz="1500" dirty="0">
                <a:solidFill>
                  <a:schemeClr val="accent6"/>
                </a:solidFill>
                <a:latin typeface="Google Sans"/>
                <a:ea typeface="+mn-ea"/>
                <a:cs typeface="+mn-cs"/>
              </a:rPr>
              <a:t>SYN-ACK ←</a:t>
            </a:r>
          </a:p>
        </p:txBody>
      </p:sp>
    </p:spTree>
    <p:extLst>
      <p:ext uri="{BB962C8B-B14F-4D97-AF65-F5344CB8AC3E}">
        <p14:creationId xmlns:p14="http://schemas.microsoft.com/office/powerpoint/2010/main" val="211882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ADDDD-EAE5-91C2-157D-8872F119DB4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B5E5838-9AC2-30CF-F3D7-06B5B0F8B8A0}"/>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E9C8024-F54B-5C70-2B25-C3841CEF703C}"/>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DA12C61-DE2B-2D01-E378-2FC27B803BCE}"/>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89170FE4-FD23-9971-56A5-25EE352D56C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DEEBCFEB-DF18-9A8E-52DD-C5EBDAA8BBC0}"/>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C41BB4F8-913D-BE38-957A-2DB12B14AA9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9F1114DC-333C-DD36-C627-6218F5D582F3}"/>
              </a:ext>
            </a:extLst>
          </p:cNvPr>
          <p:cNvSpPr txBox="1">
            <a:spLocks/>
          </p:cNvSpPr>
          <p:nvPr/>
        </p:nvSpPr>
        <p:spPr>
          <a:xfrm>
            <a:off x="55803" y="774902"/>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1. API call flow over the network</a:t>
            </a:r>
          </a:p>
          <a:p>
            <a:r>
              <a:rPr lang="en-US" sz="1500" dirty="0">
                <a:solidFill>
                  <a:schemeClr val="accent2"/>
                </a:solidFill>
                <a:latin typeface="Google Sans"/>
                <a:ea typeface="+mn-ea"/>
                <a:cs typeface="+mn-cs"/>
              </a:rPr>
              <a:t>c. TCP connection is established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ACK →        </a:t>
            </a:r>
          </a:p>
          <a:p>
            <a:r>
              <a:rPr lang="en-US" sz="1500" dirty="0">
                <a:solidFill>
                  <a:schemeClr val="accent6"/>
                </a:solidFill>
                <a:latin typeface="Google Sans"/>
                <a:ea typeface="+mn-ea"/>
                <a:cs typeface="+mn-cs"/>
              </a:rPr>
              <a:t>➡️ A reliable, ordered communication channel is now ready.           </a:t>
            </a:r>
          </a:p>
          <a:p>
            <a:r>
              <a:rPr lang="en-US" sz="1500" dirty="0">
                <a:solidFill>
                  <a:schemeClr val="accent6"/>
                </a:solidFill>
                <a:latin typeface="Google Sans"/>
                <a:ea typeface="+mn-ea"/>
                <a:cs typeface="+mn-cs"/>
              </a:rPr>
              <a:t>(With HTTP/2 or HTTP/3, this may be reused or optimized.)            </a:t>
            </a:r>
          </a:p>
          <a:p>
            <a:r>
              <a:rPr lang="en-US" sz="1500" dirty="0">
                <a:solidFill>
                  <a:schemeClr val="accent2"/>
                </a:solidFill>
                <a:latin typeface="Google Sans"/>
                <a:ea typeface="+mn-ea"/>
                <a:cs typeface="+mn-cs"/>
              </a:rPr>
              <a:t>d. TLS handshake (for HTTPS)    </a:t>
            </a:r>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If it’s HTTPS:</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Server sends its SSL certificate           </a:t>
            </a:r>
          </a:p>
          <a:p>
            <a:r>
              <a:rPr lang="en-US" sz="1500" dirty="0">
                <a:solidFill>
                  <a:schemeClr val="accent6"/>
                </a:solidFill>
                <a:latin typeface="Google Sans"/>
                <a:ea typeface="+mn-ea"/>
                <a:cs typeface="+mn-cs"/>
              </a:rPr>
              <a:t>Client verifies it (CA, expiry, domain match)            </a:t>
            </a:r>
          </a:p>
          <a:p>
            <a:r>
              <a:rPr lang="en-US" sz="1500" dirty="0">
                <a:solidFill>
                  <a:schemeClr val="accent6"/>
                </a:solidFill>
                <a:latin typeface="Google Sans"/>
                <a:ea typeface="+mn-ea"/>
                <a:cs typeface="+mn-cs"/>
              </a:rPr>
              <a:t>Encryption keys are negotiated          </a:t>
            </a:r>
          </a:p>
          <a:p>
            <a:r>
              <a:rPr lang="en-US" sz="1500" dirty="0">
                <a:solidFill>
                  <a:schemeClr val="accent6"/>
                </a:solidFill>
                <a:latin typeface="Google Sans"/>
                <a:ea typeface="+mn-ea"/>
                <a:cs typeface="+mn-cs"/>
              </a:rPr>
              <a:t>🔐 All further data is encrypted            </a:t>
            </a:r>
          </a:p>
          <a:p>
            <a:r>
              <a:rPr lang="en-US" sz="1500" dirty="0">
                <a:solidFill>
                  <a:schemeClr val="accent2"/>
                </a:solidFill>
                <a:latin typeface="Google Sans"/>
                <a:ea typeface="+mn-ea"/>
                <a:cs typeface="+mn-cs"/>
              </a:rPr>
              <a:t>e. HTTP request is sent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Your API request is sent over the established connection.           </a:t>
            </a:r>
          </a:p>
          <a:p>
            <a:r>
              <a:rPr lang="en-US" sz="1500" dirty="0">
                <a:solidFill>
                  <a:schemeClr val="accent2"/>
                </a:solidFill>
                <a:latin typeface="Google Sans"/>
                <a:ea typeface="+mn-ea"/>
                <a:cs typeface="+mn-cs"/>
              </a:rPr>
              <a:t>Example:</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GET /users/42 HTTP/1.1         </a:t>
            </a:r>
          </a:p>
          <a:p>
            <a:r>
              <a:rPr lang="en-US" sz="1500" dirty="0">
                <a:solidFill>
                  <a:schemeClr val="accent6"/>
                </a:solidFill>
                <a:latin typeface="Google Sans"/>
                <a:ea typeface="+mn-ea"/>
                <a:cs typeface="+mn-cs"/>
              </a:rPr>
              <a:t>Host: api.example.com        </a:t>
            </a:r>
          </a:p>
          <a:p>
            <a:r>
              <a:rPr lang="en-US" sz="1500" dirty="0">
                <a:solidFill>
                  <a:schemeClr val="accent6"/>
                </a:solidFill>
                <a:latin typeface="Google Sans"/>
                <a:ea typeface="+mn-ea"/>
                <a:cs typeface="+mn-cs"/>
              </a:rPr>
              <a:t>Authorization: Bearer token          </a:t>
            </a:r>
          </a:p>
          <a:p>
            <a:r>
              <a:rPr lang="en-US" sz="1500" dirty="0">
                <a:solidFill>
                  <a:schemeClr val="accent6"/>
                </a:solidFill>
                <a:latin typeface="Google Sans"/>
                <a:ea typeface="+mn-ea"/>
                <a:cs typeface="+mn-cs"/>
              </a:rPr>
              <a:t>➡️ The request is broken into network packets and transmitted.         </a:t>
            </a:r>
          </a:p>
          <a:p>
            <a:r>
              <a:rPr lang="en-US" sz="1500" dirty="0">
                <a:solidFill>
                  <a:schemeClr val="accent2"/>
                </a:solidFill>
                <a:latin typeface="Google Sans"/>
                <a:ea typeface="+mn-ea"/>
                <a:cs typeface="+mn-cs"/>
              </a:rPr>
              <a:t>f. Network routing &amp; delivery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Packets travel through:        </a:t>
            </a:r>
          </a:p>
          <a:p>
            <a:r>
              <a:rPr lang="en-US" sz="1500" dirty="0">
                <a:solidFill>
                  <a:schemeClr val="accent6"/>
                </a:solidFill>
                <a:latin typeface="Google Sans"/>
                <a:ea typeface="+mn-ea"/>
                <a:cs typeface="+mn-cs"/>
              </a:rPr>
              <a:t>Routers        </a:t>
            </a:r>
          </a:p>
          <a:p>
            <a:r>
              <a:rPr lang="en-US" sz="1500" dirty="0">
                <a:solidFill>
                  <a:schemeClr val="accent6"/>
                </a:solidFill>
                <a:latin typeface="Google Sans"/>
                <a:ea typeface="+mn-ea"/>
                <a:cs typeface="+mn-cs"/>
              </a:rPr>
              <a:t>Switches         </a:t>
            </a:r>
          </a:p>
          <a:p>
            <a:r>
              <a:rPr lang="en-US" sz="1500" dirty="0">
                <a:solidFill>
                  <a:schemeClr val="accent6"/>
                </a:solidFill>
                <a:latin typeface="Google Sans"/>
                <a:ea typeface="+mn-ea"/>
                <a:cs typeface="+mn-cs"/>
              </a:rPr>
              <a:t>ISPs       </a:t>
            </a:r>
          </a:p>
        </p:txBody>
      </p:sp>
    </p:spTree>
    <p:extLst>
      <p:ext uri="{BB962C8B-B14F-4D97-AF65-F5344CB8AC3E}">
        <p14:creationId xmlns:p14="http://schemas.microsoft.com/office/powerpoint/2010/main" val="20638799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1F312-14C9-D71A-203A-3B1534BB97A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827582E-2CA1-763C-48DC-E104A44314BA}"/>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77218B0-9E90-4EF2-880D-A1493E5890A6}"/>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D6B3B73-F417-9978-2860-F1CE5A16AD16}"/>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0C054F81-8F57-024D-E142-1A78F4BF54D0}"/>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4A10671C-4756-730F-4A31-3034E8566913}"/>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B9983074-3C67-BB27-D567-5D40B245789A}"/>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44240868-E4EA-F24D-B1E6-75CB9810EC26}"/>
              </a:ext>
            </a:extLst>
          </p:cNvPr>
          <p:cNvSpPr txBox="1">
            <a:spLocks/>
          </p:cNvSpPr>
          <p:nvPr/>
        </p:nvSpPr>
        <p:spPr>
          <a:xfrm>
            <a:off x="55803" y="774902"/>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1. API call flow over the network</a:t>
            </a:r>
          </a:p>
          <a:p>
            <a:r>
              <a:rPr lang="en-US" sz="1500" dirty="0">
                <a:solidFill>
                  <a:schemeClr val="accent2"/>
                </a:solidFill>
                <a:latin typeface="Google Sans"/>
                <a:ea typeface="+mn-ea"/>
                <a:cs typeface="+mn-cs"/>
              </a:rPr>
              <a:t>f. Network routing &amp; delivery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Load balancers (cloud / data center)        </a:t>
            </a:r>
          </a:p>
          <a:p>
            <a:r>
              <a:rPr lang="en-US" sz="1500" dirty="0">
                <a:solidFill>
                  <a:schemeClr val="accent6"/>
                </a:solidFill>
                <a:latin typeface="Google Sans"/>
                <a:ea typeface="+mn-ea"/>
                <a:cs typeface="+mn-cs"/>
              </a:rPr>
              <a:t>➡️ They eventually reach the API server.         </a:t>
            </a:r>
          </a:p>
          <a:p>
            <a:r>
              <a:rPr lang="en-US" sz="1500" dirty="0">
                <a:solidFill>
                  <a:schemeClr val="accent2"/>
                </a:solidFill>
                <a:latin typeface="Google Sans"/>
                <a:ea typeface="+mn-ea"/>
                <a:cs typeface="+mn-cs"/>
              </a:rPr>
              <a:t>g. Request received by the server        </a:t>
            </a:r>
          </a:p>
          <a:p>
            <a:r>
              <a:rPr lang="en-US" sz="1500" dirty="0">
                <a:solidFill>
                  <a:schemeClr val="accent2"/>
                </a:solidFill>
                <a:latin typeface="Google Sans"/>
                <a:ea typeface="+mn-ea"/>
                <a:cs typeface="+mn-cs"/>
              </a:rPr>
              <a:t>On the server side:        </a:t>
            </a:r>
          </a:p>
          <a:p>
            <a:r>
              <a:rPr lang="en-US" sz="1500" dirty="0">
                <a:solidFill>
                  <a:schemeClr val="accent6"/>
                </a:solidFill>
                <a:latin typeface="Google Sans"/>
                <a:ea typeface="+mn-ea"/>
                <a:cs typeface="+mn-cs"/>
              </a:rPr>
              <a:t>Web server (Nginx, Apache, Envoy) accepts the request       </a:t>
            </a:r>
          </a:p>
          <a:p>
            <a:r>
              <a:rPr lang="en-US" sz="1500" dirty="0">
                <a:solidFill>
                  <a:schemeClr val="accent6"/>
                </a:solidFill>
                <a:latin typeface="Google Sans"/>
                <a:ea typeface="+mn-ea"/>
                <a:cs typeface="+mn-cs"/>
              </a:rPr>
              <a:t>Request is forwarded to the application server       </a:t>
            </a:r>
          </a:p>
          <a:p>
            <a:r>
              <a:rPr lang="en-US" sz="1500" dirty="0">
                <a:solidFill>
                  <a:schemeClr val="accent2"/>
                </a:solidFill>
                <a:latin typeface="Google Sans"/>
                <a:ea typeface="+mn-ea"/>
                <a:cs typeface="+mn-cs"/>
              </a:rPr>
              <a:t>Middleware runs: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Authentication          </a:t>
            </a:r>
          </a:p>
          <a:p>
            <a:r>
              <a:rPr lang="en-US" sz="1500" dirty="0">
                <a:solidFill>
                  <a:schemeClr val="accent6"/>
                </a:solidFill>
                <a:latin typeface="Google Sans"/>
                <a:ea typeface="+mn-ea"/>
                <a:cs typeface="+mn-cs"/>
              </a:rPr>
              <a:t>Authorization        </a:t>
            </a:r>
          </a:p>
          <a:p>
            <a:r>
              <a:rPr lang="en-US" sz="1500" dirty="0">
                <a:solidFill>
                  <a:schemeClr val="accent6"/>
                </a:solidFill>
                <a:latin typeface="Google Sans"/>
                <a:ea typeface="+mn-ea"/>
                <a:cs typeface="+mn-cs"/>
              </a:rPr>
              <a:t>Logging      </a:t>
            </a:r>
          </a:p>
          <a:p>
            <a:r>
              <a:rPr lang="en-US" sz="1500" dirty="0">
                <a:solidFill>
                  <a:schemeClr val="accent6"/>
                </a:solidFill>
                <a:latin typeface="Google Sans"/>
                <a:ea typeface="+mn-ea"/>
                <a:cs typeface="+mn-cs"/>
              </a:rPr>
              <a:t>Rate limiting       </a:t>
            </a:r>
          </a:p>
          <a:p>
            <a:r>
              <a:rPr lang="en-US" sz="1500" dirty="0">
                <a:solidFill>
                  <a:schemeClr val="accent6"/>
                </a:solidFill>
                <a:latin typeface="Google Sans"/>
                <a:ea typeface="+mn-ea"/>
                <a:cs typeface="+mn-cs"/>
              </a:rPr>
              <a:t>Validation      </a:t>
            </a:r>
          </a:p>
          <a:p>
            <a:r>
              <a:rPr lang="en-US" sz="1500" dirty="0">
                <a:solidFill>
                  <a:schemeClr val="accent2"/>
                </a:solidFill>
                <a:latin typeface="Google Sans"/>
                <a:ea typeface="+mn-ea"/>
                <a:cs typeface="+mn-cs"/>
              </a:rPr>
              <a:t>h. Business logic execution          </a:t>
            </a:r>
          </a:p>
          <a:p>
            <a:r>
              <a:rPr lang="en-US" sz="1500" dirty="0">
                <a:solidFill>
                  <a:schemeClr val="accent2"/>
                </a:solidFill>
                <a:latin typeface="Google Sans"/>
                <a:ea typeface="+mn-ea"/>
                <a:cs typeface="+mn-cs"/>
              </a:rPr>
              <a:t>The API handler:       </a:t>
            </a:r>
          </a:p>
          <a:p>
            <a:r>
              <a:rPr lang="en-US" sz="1500" dirty="0">
                <a:solidFill>
                  <a:schemeClr val="accent6"/>
                </a:solidFill>
                <a:latin typeface="Google Sans"/>
                <a:ea typeface="+mn-ea"/>
                <a:cs typeface="+mn-cs"/>
              </a:rPr>
              <a:t>Parses request       </a:t>
            </a:r>
          </a:p>
          <a:p>
            <a:r>
              <a:rPr lang="en-US" sz="1500" dirty="0">
                <a:solidFill>
                  <a:schemeClr val="accent6"/>
                </a:solidFill>
                <a:latin typeface="Google Sans"/>
                <a:ea typeface="+mn-ea"/>
                <a:cs typeface="+mn-cs"/>
              </a:rPr>
              <a:t>Runs application logic         </a:t>
            </a:r>
          </a:p>
          <a:p>
            <a:r>
              <a:rPr lang="en-US" sz="1500" dirty="0">
                <a:solidFill>
                  <a:schemeClr val="accent6"/>
                </a:solidFill>
                <a:latin typeface="Google Sans"/>
                <a:ea typeface="+mn-ea"/>
                <a:cs typeface="+mn-cs"/>
              </a:rPr>
              <a:t>Queries databases / caches      </a:t>
            </a:r>
          </a:p>
          <a:p>
            <a:r>
              <a:rPr lang="en-US" sz="1500" dirty="0">
                <a:solidFill>
                  <a:schemeClr val="accent6"/>
                </a:solidFill>
                <a:latin typeface="Google Sans"/>
                <a:ea typeface="+mn-ea"/>
                <a:cs typeface="+mn-cs"/>
              </a:rPr>
              <a:t>Calls other internal services (possibly more APIs)          </a:t>
            </a:r>
          </a:p>
          <a:p>
            <a:r>
              <a:rPr lang="en-US" sz="1500" dirty="0">
                <a:solidFill>
                  <a:schemeClr val="accent2"/>
                </a:solidFill>
                <a:latin typeface="Google Sans"/>
                <a:ea typeface="+mn-ea"/>
                <a:cs typeface="+mn-cs"/>
              </a:rPr>
              <a:t>Example: </a:t>
            </a:r>
            <a:r>
              <a:rPr lang="en-US" sz="1500" dirty="0">
                <a:solidFill>
                  <a:schemeClr val="accent6"/>
                </a:solidFill>
                <a:latin typeface="Google Sans"/>
                <a:ea typeface="+mn-ea"/>
                <a:cs typeface="+mn-cs"/>
              </a:rPr>
              <a:t>        </a:t>
            </a:r>
          </a:p>
          <a:p>
            <a:r>
              <a:rPr lang="en-US" sz="1500" dirty="0" err="1">
                <a:solidFill>
                  <a:schemeClr val="accent6"/>
                </a:solidFill>
                <a:latin typeface="Google Sans"/>
                <a:ea typeface="+mn-ea"/>
                <a:cs typeface="+mn-cs"/>
              </a:rPr>
              <a:t>UserController</a:t>
            </a:r>
            <a:r>
              <a:rPr lang="en-US" sz="1500" dirty="0">
                <a:solidFill>
                  <a:schemeClr val="accent6"/>
                </a:solidFill>
                <a:latin typeface="Google Sans"/>
                <a:ea typeface="+mn-ea"/>
                <a:cs typeface="+mn-cs"/>
              </a:rPr>
              <a:t> → </a:t>
            </a:r>
            <a:r>
              <a:rPr lang="en-US" sz="1500" dirty="0" err="1">
                <a:solidFill>
                  <a:schemeClr val="accent6"/>
                </a:solidFill>
                <a:latin typeface="Google Sans"/>
                <a:ea typeface="+mn-ea"/>
                <a:cs typeface="+mn-cs"/>
              </a:rPr>
              <a:t>UserService</a:t>
            </a:r>
            <a:r>
              <a:rPr lang="en-US" sz="1500" dirty="0">
                <a:solidFill>
                  <a:schemeClr val="accent6"/>
                </a:solidFill>
                <a:latin typeface="Google Sans"/>
                <a:ea typeface="+mn-ea"/>
                <a:cs typeface="+mn-cs"/>
              </a:rPr>
              <a:t> → Database         </a:t>
            </a:r>
          </a:p>
          <a:p>
            <a:r>
              <a:rPr lang="en-US" sz="1500" dirty="0">
                <a:solidFill>
                  <a:schemeClr val="accent6"/>
                </a:solidFill>
                <a:latin typeface="Google Sans"/>
                <a:ea typeface="+mn-ea"/>
                <a:cs typeface="+mn-cs"/>
              </a:rPr>
              <a:t>⏱️ This is often the most time-consuming step.          </a:t>
            </a:r>
          </a:p>
        </p:txBody>
      </p:sp>
    </p:spTree>
    <p:extLst>
      <p:ext uri="{BB962C8B-B14F-4D97-AF65-F5344CB8AC3E}">
        <p14:creationId xmlns:p14="http://schemas.microsoft.com/office/powerpoint/2010/main" val="2957378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6D20E-3524-08A6-4D6A-81A848636F8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6885381-76C5-3313-33E0-F52DAD8A1AD6}"/>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FD529F1-5EDE-2B83-6D3D-624797732357}"/>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0D145F5-C51B-49AE-8F8F-F4C11AFC91D3}"/>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68546CD0-430B-8CE9-1673-5ECD25DF2952}"/>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53B83A9D-5BD3-DB2A-E83B-3509D03CFAF1}"/>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6AEE411D-DBFB-7841-185B-4A7FB33E595B}"/>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B5AB6102-12BA-B7B1-5E6E-D6E54056E1DD}"/>
              </a:ext>
            </a:extLst>
          </p:cNvPr>
          <p:cNvSpPr txBox="1">
            <a:spLocks/>
          </p:cNvSpPr>
          <p:nvPr/>
        </p:nvSpPr>
        <p:spPr>
          <a:xfrm>
            <a:off x="55803" y="774902"/>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1. API call flow over the network</a:t>
            </a:r>
          </a:p>
          <a:p>
            <a:r>
              <a:rPr lang="en-US" sz="1500" dirty="0" err="1">
                <a:solidFill>
                  <a:schemeClr val="accent2"/>
                </a:solidFill>
                <a:latin typeface="Google Sans"/>
                <a:ea typeface="+mn-ea"/>
                <a:cs typeface="+mn-cs"/>
              </a:rPr>
              <a:t>i</a:t>
            </a:r>
            <a:r>
              <a:rPr lang="en-US" sz="1500" dirty="0">
                <a:solidFill>
                  <a:schemeClr val="accent2"/>
                </a:solidFill>
                <a:latin typeface="Google Sans"/>
                <a:ea typeface="+mn-ea"/>
                <a:cs typeface="+mn-cs"/>
              </a:rPr>
              <a:t>. Response is generated        </a:t>
            </a:r>
          </a:p>
          <a:p>
            <a:r>
              <a:rPr lang="en-US" sz="1500" dirty="0">
                <a:solidFill>
                  <a:schemeClr val="accent2"/>
                </a:solidFill>
                <a:latin typeface="Google Sans"/>
                <a:ea typeface="+mn-ea"/>
                <a:cs typeface="+mn-cs"/>
              </a:rPr>
              <a:t>Server creates a response: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Status code (200, 404, 500, etc.)             </a:t>
            </a:r>
          </a:p>
          <a:p>
            <a:r>
              <a:rPr lang="en-US" sz="1500" dirty="0">
                <a:solidFill>
                  <a:schemeClr val="accent6"/>
                </a:solidFill>
                <a:latin typeface="Google Sans"/>
                <a:ea typeface="+mn-ea"/>
                <a:cs typeface="+mn-cs"/>
              </a:rPr>
              <a:t>Headers        </a:t>
            </a:r>
          </a:p>
          <a:p>
            <a:r>
              <a:rPr lang="en-US" sz="1500" dirty="0">
                <a:solidFill>
                  <a:schemeClr val="accent6"/>
                </a:solidFill>
                <a:latin typeface="Google Sans"/>
                <a:ea typeface="+mn-ea"/>
                <a:cs typeface="+mn-cs"/>
              </a:rPr>
              <a:t>Body (JSON, etc.)         </a:t>
            </a:r>
          </a:p>
          <a:p>
            <a:r>
              <a:rPr lang="en-US" sz="1500" dirty="0">
                <a:solidFill>
                  <a:schemeClr val="accent2"/>
                </a:solidFill>
                <a:latin typeface="Google Sans"/>
                <a:ea typeface="+mn-ea"/>
                <a:cs typeface="+mn-cs"/>
              </a:rPr>
              <a:t>Example: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"id": 42,             </a:t>
            </a:r>
          </a:p>
          <a:p>
            <a:r>
              <a:rPr lang="en-US" sz="1500" dirty="0">
                <a:solidFill>
                  <a:schemeClr val="accent6"/>
                </a:solidFill>
                <a:latin typeface="Google Sans"/>
                <a:ea typeface="+mn-ea"/>
                <a:cs typeface="+mn-cs"/>
              </a:rPr>
              <a:t>  "name": "Alice"               </a:t>
            </a:r>
          </a:p>
          <a:p>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j. Response sent back over the network          </a:t>
            </a:r>
          </a:p>
          <a:p>
            <a:r>
              <a:rPr lang="en-US" sz="1500" dirty="0">
                <a:solidFill>
                  <a:schemeClr val="accent6"/>
                </a:solidFill>
                <a:latin typeface="Google Sans"/>
                <a:ea typeface="+mn-ea"/>
                <a:cs typeface="+mn-cs"/>
              </a:rPr>
              <a:t>Response is split into packets         </a:t>
            </a:r>
          </a:p>
          <a:p>
            <a:r>
              <a:rPr lang="en-US" sz="1500" dirty="0">
                <a:solidFill>
                  <a:schemeClr val="accent6"/>
                </a:solidFill>
                <a:latin typeface="Google Sans"/>
                <a:ea typeface="+mn-ea"/>
                <a:cs typeface="+mn-cs"/>
              </a:rPr>
              <a:t>Encrypted (HTTPS)         </a:t>
            </a:r>
          </a:p>
          <a:p>
            <a:r>
              <a:rPr lang="en-US" sz="1500" dirty="0">
                <a:solidFill>
                  <a:schemeClr val="accent6"/>
                </a:solidFill>
                <a:latin typeface="Google Sans"/>
                <a:ea typeface="+mn-ea"/>
                <a:cs typeface="+mn-cs"/>
              </a:rPr>
              <a:t>Routed back to the client        </a:t>
            </a:r>
          </a:p>
          <a:p>
            <a:r>
              <a:rPr lang="en-US" sz="1500" dirty="0">
                <a:solidFill>
                  <a:schemeClr val="accent6"/>
                </a:solidFill>
                <a:latin typeface="Google Sans"/>
                <a:ea typeface="+mn-ea"/>
                <a:cs typeface="+mn-cs"/>
              </a:rPr>
              <a:t>TCP guarantees correct order &amp; delivery        </a:t>
            </a:r>
          </a:p>
          <a:p>
            <a:r>
              <a:rPr lang="en-US" sz="1500" dirty="0">
                <a:solidFill>
                  <a:schemeClr val="accent2"/>
                </a:solidFill>
                <a:latin typeface="Google Sans"/>
                <a:ea typeface="+mn-ea"/>
                <a:cs typeface="+mn-cs"/>
              </a:rPr>
              <a:t>k. Client receives and processes response         </a:t>
            </a:r>
          </a:p>
          <a:p>
            <a:r>
              <a:rPr lang="en-US" sz="1500" dirty="0">
                <a:solidFill>
                  <a:schemeClr val="accent2"/>
                </a:solidFill>
                <a:latin typeface="Google Sans"/>
                <a:ea typeface="+mn-ea"/>
                <a:cs typeface="+mn-cs"/>
              </a:rPr>
              <a:t>On the client:       </a:t>
            </a:r>
          </a:p>
          <a:p>
            <a:r>
              <a:rPr lang="en-US" sz="1500" dirty="0">
                <a:solidFill>
                  <a:schemeClr val="accent6"/>
                </a:solidFill>
                <a:latin typeface="Google Sans"/>
                <a:ea typeface="+mn-ea"/>
                <a:cs typeface="+mn-cs"/>
              </a:rPr>
              <a:t>TCP reassembles packets         </a:t>
            </a:r>
          </a:p>
          <a:p>
            <a:r>
              <a:rPr lang="en-US" sz="1500" dirty="0">
                <a:solidFill>
                  <a:schemeClr val="accent6"/>
                </a:solidFill>
                <a:latin typeface="Google Sans"/>
                <a:ea typeface="+mn-ea"/>
                <a:cs typeface="+mn-cs"/>
              </a:rPr>
              <a:t>TLS decrypts data        </a:t>
            </a:r>
          </a:p>
          <a:p>
            <a:r>
              <a:rPr lang="en-US" sz="1500" dirty="0">
                <a:solidFill>
                  <a:schemeClr val="accent6"/>
                </a:solidFill>
                <a:latin typeface="Google Sans"/>
                <a:ea typeface="+mn-ea"/>
                <a:cs typeface="+mn-cs"/>
              </a:rPr>
              <a:t>HTTP client parses response       </a:t>
            </a:r>
          </a:p>
        </p:txBody>
      </p:sp>
    </p:spTree>
    <p:extLst>
      <p:ext uri="{BB962C8B-B14F-4D97-AF65-F5344CB8AC3E}">
        <p14:creationId xmlns:p14="http://schemas.microsoft.com/office/powerpoint/2010/main" val="201173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79EE6-779B-CE52-2870-47B5BA8BDF8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DED019C-6093-7C49-85CA-2D1F2D52546B}"/>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DDB09C6-C783-1561-7AC1-5ED1D3D2DFB6}"/>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92C18EC-08D6-5790-83D7-4511EB6A87F7}"/>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332DEB64-4B1E-3582-5073-831080A820CF}"/>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91A2909-C78F-71D2-ECB0-4AD5B9F343EB}"/>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08F5D36-0237-6EC9-38ED-9D45907F925D}"/>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323000AD-D56B-8732-80B2-BF7BF7AC1C92}"/>
              </a:ext>
            </a:extLst>
          </p:cNvPr>
          <p:cNvSpPr txBox="1">
            <a:spLocks/>
          </p:cNvSpPr>
          <p:nvPr/>
        </p:nvSpPr>
        <p:spPr>
          <a:xfrm>
            <a:off x="55803" y="774902"/>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1. API call flow over the network</a:t>
            </a:r>
          </a:p>
          <a:p>
            <a:r>
              <a:rPr lang="en-US" sz="1500" dirty="0">
                <a:solidFill>
                  <a:schemeClr val="accent2"/>
                </a:solidFill>
                <a:latin typeface="Google Sans"/>
                <a:ea typeface="+mn-ea"/>
                <a:cs typeface="+mn-cs"/>
              </a:rPr>
              <a:t>k. Client receives and processes response         </a:t>
            </a:r>
          </a:p>
          <a:p>
            <a:r>
              <a:rPr lang="en-US" sz="1500" dirty="0">
                <a:solidFill>
                  <a:schemeClr val="accent2"/>
                </a:solidFill>
                <a:latin typeface="Google Sans"/>
                <a:ea typeface="+mn-ea"/>
                <a:cs typeface="+mn-cs"/>
              </a:rPr>
              <a:t>Your code reads:            </a:t>
            </a:r>
          </a:p>
          <a:p>
            <a:r>
              <a:rPr lang="en-US" sz="1500" dirty="0">
                <a:solidFill>
                  <a:schemeClr val="accent6"/>
                </a:solidFill>
                <a:latin typeface="Google Sans"/>
                <a:ea typeface="+mn-ea"/>
                <a:cs typeface="+mn-cs"/>
              </a:rPr>
              <a:t>Status        </a:t>
            </a:r>
          </a:p>
          <a:p>
            <a:r>
              <a:rPr lang="en-US" sz="1500" dirty="0">
                <a:solidFill>
                  <a:schemeClr val="accent6"/>
                </a:solidFill>
                <a:latin typeface="Google Sans"/>
                <a:ea typeface="+mn-ea"/>
                <a:cs typeface="+mn-cs"/>
              </a:rPr>
              <a:t>Headers        </a:t>
            </a:r>
          </a:p>
          <a:p>
            <a:r>
              <a:rPr lang="en-US" sz="1500" dirty="0">
                <a:solidFill>
                  <a:schemeClr val="accent6"/>
                </a:solidFill>
                <a:latin typeface="Google Sans"/>
                <a:ea typeface="+mn-ea"/>
                <a:cs typeface="+mn-cs"/>
              </a:rPr>
              <a:t>Body       </a:t>
            </a:r>
          </a:p>
          <a:p>
            <a:r>
              <a:rPr lang="en-US" sz="1500" dirty="0">
                <a:solidFill>
                  <a:schemeClr val="accent6"/>
                </a:solidFill>
                <a:latin typeface="Google Sans"/>
                <a:ea typeface="+mn-ea"/>
                <a:cs typeface="+mn-cs"/>
              </a:rPr>
              <a:t>Example:        </a:t>
            </a:r>
          </a:p>
          <a:p>
            <a:r>
              <a:rPr lang="en-US" sz="1500" dirty="0" err="1">
                <a:solidFill>
                  <a:schemeClr val="accent6"/>
                </a:solidFill>
                <a:latin typeface="Google Sans"/>
                <a:ea typeface="+mn-ea"/>
                <a:cs typeface="+mn-cs"/>
              </a:rPr>
              <a:t>response.json</a:t>
            </a:r>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l. Connection handling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Depending on configuration:        </a:t>
            </a:r>
          </a:p>
          <a:p>
            <a:r>
              <a:rPr lang="en-US" sz="1500" dirty="0">
                <a:solidFill>
                  <a:schemeClr val="accent6"/>
                </a:solidFill>
                <a:latin typeface="Google Sans"/>
                <a:ea typeface="+mn-ea"/>
                <a:cs typeface="+mn-cs"/>
              </a:rPr>
              <a:t>Connection is kept alive (HTTP keep-alive)      </a:t>
            </a:r>
          </a:p>
          <a:p>
            <a:r>
              <a:rPr lang="en-US" sz="1500" dirty="0">
                <a:solidFill>
                  <a:schemeClr val="accent6"/>
                </a:solidFill>
                <a:latin typeface="Google Sans"/>
                <a:ea typeface="+mn-ea"/>
                <a:cs typeface="+mn-cs"/>
              </a:rPr>
              <a:t>Or closed     </a:t>
            </a:r>
          </a:p>
          <a:p>
            <a:r>
              <a:rPr lang="en-US" sz="1500" dirty="0">
                <a:solidFill>
                  <a:schemeClr val="accent6"/>
                </a:solidFill>
                <a:latin typeface="Google Sans"/>
                <a:ea typeface="+mn-ea"/>
                <a:cs typeface="+mn-cs"/>
              </a:rPr>
              <a:t>Reusable connections improve performance.     </a:t>
            </a:r>
          </a:p>
          <a:p>
            <a:r>
              <a:rPr lang="en-US" sz="1500" dirty="0">
                <a:solidFill>
                  <a:schemeClr val="accent2"/>
                </a:solidFill>
                <a:latin typeface="Google Sans"/>
                <a:ea typeface="+mn-ea"/>
                <a:cs typeface="+mn-cs"/>
              </a:rPr>
              <a:t>Key failure points 🚨      </a:t>
            </a:r>
          </a:p>
          <a:p>
            <a:r>
              <a:rPr lang="en-US" sz="1500" dirty="0">
                <a:solidFill>
                  <a:schemeClr val="accent2"/>
                </a:solidFill>
                <a:latin typeface="Google Sans"/>
                <a:ea typeface="+mn-ea"/>
                <a:cs typeface="+mn-cs"/>
              </a:rPr>
              <a:t>An API call can fail at many stages:      </a:t>
            </a:r>
          </a:p>
          <a:p>
            <a:r>
              <a:rPr lang="en-US" sz="1500" dirty="0">
                <a:solidFill>
                  <a:schemeClr val="accent6"/>
                </a:solidFill>
                <a:latin typeface="Google Sans"/>
                <a:ea typeface="+mn-ea"/>
                <a:cs typeface="+mn-cs"/>
              </a:rPr>
              <a:t>DNS failure      </a:t>
            </a:r>
          </a:p>
          <a:p>
            <a:r>
              <a:rPr lang="en-US" sz="1500" dirty="0">
                <a:solidFill>
                  <a:schemeClr val="accent6"/>
                </a:solidFill>
                <a:latin typeface="Google Sans"/>
                <a:ea typeface="+mn-ea"/>
                <a:cs typeface="+mn-cs"/>
              </a:rPr>
              <a:t>Network timeout            </a:t>
            </a:r>
          </a:p>
          <a:p>
            <a:r>
              <a:rPr lang="en-US" sz="1500" dirty="0">
                <a:solidFill>
                  <a:schemeClr val="accent6"/>
                </a:solidFill>
                <a:latin typeface="Google Sans"/>
                <a:ea typeface="+mn-ea"/>
                <a:cs typeface="+mn-cs"/>
              </a:rPr>
              <a:t>TLS handshake error       </a:t>
            </a:r>
          </a:p>
          <a:p>
            <a:r>
              <a:rPr lang="en-US" sz="1500" dirty="0">
                <a:solidFill>
                  <a:schemeClr val="accent6"/>
                </a:solidFill>
                <a:latin typeface="Google Sans"/>
                <a:ea typeface="+mn-ea"/>
                <a:cs typeface="+mn-cs"/>
              </a:rPr>
              <a:t>Authentication failure      </a:t>
            </a:r>
          </a:p>
          <a:p>
            <a:r>
              <a:rPr lang="en-US" sz="1500" dirty="0">
                <a:solidFill>
                  <a:schemeClr val="accent6"/>
                </a:solidFill>
                <a:latin typeface="Google Sans"/>
                <a:ea typeface="+mn-ea"/>
                <a:cs typeface="+mn-cs"/>
              </a:rPr>
              <a:t>Server crash       </a:t>
            </a:r>
          </a:p>
          <a:p>
            <a:r>
              <a:rPr lang="en-US" sz="1500" dirty="0">
                <a:solidFill>
                  <a:schemeClr val="accent6"/>
                </a:solidFill>
                <a:latin typeface="Google Sans"/>
                <a:ea typeface="+mn-ea"/>
                <a:cs typeface="+mn-cs"/>
              </a:rPr>
              <a:t>Database latency        </a:t>
            </a:r>
          </a:p>
          <a:p>
            <a:r>
              <a:rPr lang="en-US" sz="1500" dirty="0">
                <a:solidFill>
                  <a:schemeClr val="accent6"/>
                </a:solidFill>
                <a:latin typeface="Google Sans"/>
                <a:ea typeface="+mn-ea"/>
                <a:cs typeface="+mn-cs"/>
              </a:rPr>
              <a:t>That’s why retries, timeouts, and circuit breakers exist.         </a:t>
            </a:r>
          </a:p>
        </p:txBody>
      </p:sp>
    </p:spTree>
    <p:extLst>
      <p:ext uri="{BB962C8B-B14F-4D97-AF65-F5344CB8AC3E}">
        <p14:creationId xmlns:p14="http://schemas.microsoft.com/office/powerpoint/2010/main" val="1575396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7D7E8-7ECD-54EE-979D-FDE1B0AD01C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C7B02B8-3953-B562-4183-9C6A9EF5D48B}"/>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D436EF5-8CDA-D5B9-0E46-6705FAA3AC9E}"/>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6BEEE79-5CF5-9035-3B2B-9D7B31115F64}"/>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10A9EBA4-BC8A-F1F3-F7B6-A3C30673683E}"/>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C01B4F47-7ED3-934E-F104-55C340BF73A4}"/>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3B1BF1F1-5922-FF8E-B7DB-545764C17936}"/>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4C6FE1AE-1F94-A19E-B1B6-ABD46179ABAF}"/>
              </a:ext>
            </a:extLst>
          </p:cNvPr>
          <p:cNvSpPr txBox="1">
            <a:spLocks/>
          </p:cNvSpPr>
          <p:nvPr/>
        </p:nvSpPr>
        <p:spPr>
          <a:xfrm>
            <a:off x="55803" y="774902"/>
            <a:ext cx="8624937" cy="34624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1. API call flow over the network</a:t>
            </a:r>
          </a:p>
          <a:p>
            <a:r>
              <a:rPr lang="en-US" sz="1500" dirty="0">
                <a:solidFill>
                  <a:schemeClr val="accent6"/>
                </a:solidFill>
                <a:latin typeface="Google Sans"/>
                <a:ea typeface="+mn-ea"/>
                <a:cs typeface="+mn-cs"/>
              </a:rPr>
              <a:t>End-to-end timeline (simplified)         </a:t>
            </a:r>
          </a:p>
          <a:p>
            <a:r>
              <a:rPr lang="en-US" sz="1500" dirty="0">
                <a:solidFill>
                  <a:schemeClr val="accent6"/>
                </a:solidFill>
                <a:latin typeface="Google Sans"/>
                <a:ea typeface="+mn-ea"/>
                <a:cs typeface="+mn-cs"/>
              </a:rPr>
              <a:t>Client code        </a:t>
            </a:r>
          </a:p>
          <a:p>
            <a:r>
              <a:rPr lang="en-US" sz="1500" dirty="0">
                <a:solidFill>
                  <a:schemeClr val="accent6"/>
                </a:solidFill>
                <a:latin typeface="Google Sans"/>
                <a:ea typeface="+mn-ea"/>
                <a:cs typeface="+mn-cs"/>
              </a:rPr>
              <a:t> → DNS lookup         </a:t>
            </a:r>
          </a:p>
          <a:p>
            <a:r>
              <a:rPr lang="en-US" sz="1500" dirty="0">
                <a:solidFill>
                  <a:schemeClr val="accent6"/>
                </a:solidFill>
                <a:latin typeface="Google Sans"/>
                <a:ea typeface="+mn-ea"/>
                <a:cs typeface="+mn-cs"/>
              </a:rPr>
              <a:t> → TCP handshake      </a:t>
            </a:r>
          </a:p>
          <a:p>
            <a:r>
              <a:rPr lang="en-US" sz="1500" dirty="0">
                <a:solidFill>
                  <a:schemeClr val="accent6"/>
                </a:solidFill>
                <a:latin typeface="Google Sans"/>
                <a:ea typeface="+mn-ea"/>
                <a:cs typeface="+mn-cs"/>
              </a:rPr>
              <a:t> → TLS handshake      </a:t>
            </a:r>
          </a:p>
          <a:p>
            <a:r>
              <a:rPr lang="en-US" sz="1500" dirty="0">
                <a:solidFill>
                  <a:schemeClr val="accent6"/>
                </a:solidFill>
                <a:latin typeface="Google Sans"/>
                <a:ea typeface="+mn-ea"/>
                <a:cs typeface="+mn-cs"/>
              </a:rPr>
              <a:t> → HTTP request sent        </a:t>
            </a:r>
          </a:p>
          <a:p>
            <a:r>
              <a:rPr lang="en-US" sz="1500" dirty="0">
                <a:solidFill>
                  <a:schemeClr val="accent6"/>
                </a:solidFill>
                <a:latin typeface="Google Sans"/>
                <a:ea typeface="+mn-ea"/>
                <a:cs typeface="+mn-cs"/>
              </a:rPr>
              <a:t> → Server processing       </a:t>
            </a:r>
          </a:p>
          <a:p>
            <a:r>
              <a:rPr lang="en-US" sz="1500" dirty="0">
                <a:solidFill>
                  <a:schemeClr val="accent6"/>
                </a:solidFill>
                <a:latin typeface="Google Sans"/>
                <a:ea typeface="+mn-ea"/>
                <a:cs typeface="+mn-cs"/>
              </a:rPr>
              <a:t> → HTTP response      </a:t>
            </a:r>
          </a:p>
          <a:p>
            <a:r>
              <a:rPr lang="en-US" sz="1500" dirty="0">
                <a:solidFill>
                  <a:schemeClr val="accent6"/>
                </a:solidFill>
                <a:latin typeface="Google Sans"/>
                <a:ea typeface="+mn-ea"/>
                <a:cs typeface="+mn-cs"/>
              </a:rPr>
              <a:t> → Client parsing      </a:t>
            </a:r>
          </a:p>
          <a:p>
            <a:r>
              <a:rPr lang="en-US" sz="1500" dirty="0">
                <a:solidFill>
                  <a:schemeClr val="accent2"/>
                </a:solidFill>
                <a:latin typeface="Google Sans"/>
                <a:ea typeface="+mn-ea"/>
                <a:cs typeface="+mn-cs"/>
              </a:rPr>
              <a:t>One-line summary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Calling an API over the network means your request is serialized, routed, securely transmitted, processed by a remote service, and returned as a structured response—with multiple protocol layers ensuring reliability and security.           </a:t>
            </a:r>
          </a:p>
          <a:p>
            <a:r>
              <a:rPr lang="en-US" sz="1500" dirty="0">
                <a:solidFill>
                  <a:schemeClr val="accent2"/>
                </a:solidFill>
                <a:latin typeface="Google Sans"/>
                <a:ea typeface="+mn-ea"/>
                <a:cs typeface="+mn-cs"/>
              </a:rPr>
              <a:t>📌 Latency contributors:</a:t>
            </a:r>
            <a:r>
              <a:rPr lang="en-US" sz="1500" dirty="0">
                <a:solidFill>
                  <a:schemeClr val="accent6"/>
                </a:solidFill>
                <a:latin typeface="Google Sans"/>
                <a:ea typeface="+mn-ea"/>
                <a:cs typeface="+mn-cs"/>
              </a:rPr>
              <a:t> DNS + TCP + TLS + RTT + server processing</a:t>
            </a:r>
          </a:p>
        </p:txBody>
      </p:sp>
    </p:spTree>
    <p:extLst>
      <p:ext uri="{BB962C8B-B14F-4D97-AF65-F5344CB8AC3E}">
        <p14:creationId xmlns:p14="http://schemas.microsoft.com/office/powerpoint/2010/main" val="430277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892D2-6634-AB4C-0076-BA64468752A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C343468-E0A9-D920-A0E9-0CF4FE29B290}"/>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3240114-C355-2A80-7532-74205E0D80F3}"/>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53CEE83-EF52-4C67-C8C1-6DCB6D0AAED0}"/>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1A8FCB1B-19EC-667D-E93E-C964874AD676}"/>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1CBF8BFA-D932-8B76-8BB3-EF9F0F520C18}"/>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85FE512F-8FD2-DBC5-412E-CB48751173A2}"/>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99EFDAC3-274A-90D8-2FBB-B41A6624FA19}"/>
              </a:ext>
            </a:extLst>
          </p:cNvPr>
          <p:cNvSpPr txBox="1">
            <a:spLocks/>
          </p:cNvSpPr>
          <p:nvPr/>
        </p:nvSpPr>
        <p:spPr>
          <a:xfrm>
            <a:off x="55803" y="774902"/>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1. API call flow over the network</a:t>
            </a:r>
          </a:p>
          <a:p>
            <a:r>
              <a:rPr lang="en-US" sz="1500" dirty="0">
                <a:solidFill>
                  <a:schemeClr val="accent2"/>
                </a:solidFill>
                <a:latin typeface="Google Sans"/>
                <a:ea typeface="+mn-ea"/>
                <a:cs typeface="+mn-cs"/>
              </a:rPr>
              <a:t>API Call Mapped to OSI Layers (Layer-by-Layer)            </a:t>
            </a:r>
          </a:p>
          <a:p>
            <a:r>
              <a:rPr lang="en-US" sz="1500" dirty="0">
                <a:solidFill>
                  <a:schemeClr val="accent6"/>
                </a:solidFill>
                <a:latin typeface="Google Sans"/>
                <a:ea typeface="+mn-ea"/>
                <a:cs typeface="+mn-cs"/>
              </a:rPr>
              <a:t>Think of an API call as data flowing top → bottom on the client, across the network, then bottom → top on the server.           </a:t>
            </a:r>
          </a:p>
          <a:p>
            <a:r>
              <a:rPr lang="en-US" sz="1500" dirty="0">
                <a:solidFill>
                  <a:schemeClr val="accent2"/>
                </a:solidFill>
                <a:latin typeface="Google Sans"/>
                <a:ea typeface="+mn-ea"/>
                <a:cs typeface="+mn-cs"/>
              </a:rPr>
              <a:t>🟣 Layer 7 – Application      </a:t>
            </a:r>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Protocols:</a:t>
            </a:r>
            <a:r>
              <a:rPr lang="en-US" sz="1500" dirty="0">
                <a:solidFill>
                  <a:schemeClr val="accent6"/>
                </a:solidFill>
                <a:latin typeface="Google Sans"/>
                <a:ea typeface="+mn-ea"/>
                <a:cs typeface="+mn-cs"/>
              </a:rPr>
              <a:t> HTTP, HTTPS, REST, </a:t>
            </a:r>
            <a:r>
              <a:rPr lang="en-US" sz="1500" dirty="0" err="1">
                <a:solidFill>
                  <a:schemeClr val="accent6"/>
                </a:solidFill>
                <a:latin typeface="Google Sans"/>
                <a:ea typeface="+mn-ea"/>
                <a:cs typeface="+mn-cs"/>
              </a:rPr>
              <a:t>gRPC</a:t>
            </a:r>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GraphQL</a:t>
            </a:r>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What happens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Your code creates an HTTP request          </a:t>
            </a:r>
          </a:p>
          <a:p>
            <a:r>
              <a:rPr lang="en-US" sz="1500" dirty="0">
                <a:solidFill>
                  <a:schemeClr val="accent6"/>
                </a:solidFill>
                <a:latin typeface="Google Sans"/>
                <a:ea typeface="+mn-ea"/>
                <a:cs typeface="+mn-cs"/>
              </a:rPr>
              <a:t>Headers, body, method are defined         </a:t>
            </a:r>
          </a:p>
          <a:p>
            <a:r>
              <a:rPr lang="en-US" sz="1500" dirty="0">
                <a:solidFill>
                  <a:schemeClr val="accent6"/>
                </a:solidFill>
                <a:latin typeface="Google Sans"/>
                <a:ea typeface="+mn-ea"/>
                <a:cs typeface="+mn-cs"/>
              </a:rPr>
              <a:t>JSON serialization happens          </a:t>
            </a:r>
          </a:p>
          <a:p>
            <a:r>
              <a:rPr lang="en-US" sz="1500" dirty="0">
                <a:solidFill>
                  <a:schemeClr val="accent2"/>
                </a:solidFill>
                <a:latin typeface="Google Sans"/>
                <a:ea typeface="+mn-ea"/>
                <a:cs typeface="+mn-cs"/>
              </a:rPr>
              <a:t>Example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GET /users/42 HTTP/1.1          </a:t>
            </a:r>
          </a:p>
          <a:p>
            <a:r>
              <a:rPr lang="en-US" sz="1500" dirty="0">
                <a:solidFill>
                  <a:schemeClr val="accent6"/>
                </a:solidFill>
                <a:latin typeface="Google Sans"/>
                <a:ea typeface="+mn-ea"/>
                <a:cs typeface="+mn-cs"/>
              </a:rPr>
              <a:t>Authorization: Bearer token           </a:t>
            </a:r>
          </a:p>
          <a:p>
            <a:r>
              <a:rPr lang="en-US" sz="1500" dirty="0">
                <a:solidFill>
                  <a:schemeClr val="accent2"/>
                </a:solidFill>
                <a:latin typeface="Google Sans"/>
                <a:ea typeface="+mn-ea"/>
                <a:cs typeface="+mn-cs"/>
              </a:rPr>
              <a:t>Failures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4xx / 5xx errors         </a:t>
            </a:r>
          </a:p>
          <a:p>
            <a:r>
              <a:rPr lang="en-US" sz="1500" dirty="0">
                <a:solidFill>
                  <a:schemeClr val="accent6"/>
                </a:solidFill>
                <a:latin typeface="Google Sans"/>
                <a:ea typeface="+mn-ea"/>
                <a:cs typeface="+mn-cs"/>
              </a:rPr>
              <a:t>Invalid request format        </a:t>
            </a:r>
          </a:p>
          <a:p>
            <a:r>
              <a:rPr lang="en-US" sz="1500" dirty="0">
                <a:solidFill>
                  <a:schemeClr val="accent2"/>
                </a:solidFill>
                <a:latin typeface="Google Sans"/>
                <a:ea typeface="+mn-ea"/>
                <a:cs typeface="+mn-cs"/>
              </a:rPr>
              <a:t>🔵 Layer 6 – Presentation </a:t>
            </a:r>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Responsibilities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Encryption / Decryption (TLS)          </a:t>
            </a:r>
          </a:p>
          <a:p>
            <a:r>
              <a:rPr lang="en-US" sz="1500" dirty="0">
                <a:solidFill>
                  <a:schemeClr val="accent6"/>
                </a:solidFill>
                <a:latin typeface="Google Sans"/>
                <a:ea typeface="+mn-ea"/>
                <a:cs typeface="+mn-cs"/>
              </a:rPr>
              <a:t>Compression (</a:t>
            </a:r>
            <a:r>
              <a:rPr lang="en-US" sz="1500" dirty="0" err="1">
                <a:solidFill>
                  <a:schemeClr val="accent6"/>
                </a:solidFill>
                <a:latin typeface="Google Sans"/>
                <a:ea typeface="+mn-ea"/>
                <a:cs typeface="+mn-cs"/>
              </a:rPr>
              <a:t>gzip</a:t>
            </a:r>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brotli</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Encoding (UTF-8, JSON)          </a:t>
            </a:r>
          </a:p>
        </p:txBody>
      </p:sp>
    </p:spTree>
    <p:extLst>
      <p:ext uri="{BB962C8B-B14F-4D97-AF65-F5344CB8AC3E}">
        <p14:creationId xmlns:p14="http://schemas.microsoft.com/office/powerpoint/2010/main" val="1054382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A979D-EE97-F6D6-D2D8-F530ADB67DA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E199166-4FE2-BE7E-D205-208C92BDC2E3}"/>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4B90D37-7A7C-29DA-19C8-80D9D25BA34F}"/>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83C25EC-CC7D-809E-7EBE-1E6023B60451}"/>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F4E7084A-1917-660F-2CEE-D17E0ED0E899}"/>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376BAE68-E6F6-FC80-733C-51F31916813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0208AA9D-8AA7-290A-8E80-EB7E801753F1}"/>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75A5F42A-79B9-86B8-6B7E-DC299D748E33}"/>
              </a:ext>
            </a:extLst>
          </p:cNvPr>
          <p:cNvSpPr txBox="1">
            <a:spLocks/>
          </p:cNvSpPr>
          <p:nvPr/>
        </p:nvSpPr>
        <p:spPr>
          <a:xfrm>
            <a:off x="55803" y="774902"/>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1. API call flow over the network</a:t>
            </a:r>
          </a:p>
          <a:p>
            <a:r>
              <a:rPr lang="en-US" sz="1500" dirty="0">
                <a:solidFill>
                  <a:schemeClr val="accent2"/>
                </a:solidFill>
                <a:latin typeface="Google Sans"/>
                <a:ea typeface="+mn-ea"/>
                <a:cs typeface="+mn-cs"/>
              </a:rPr>
              <a:t>🟡 Layer 4 – Transport          </a:t>
            </a:r>
          </a:p>
          <a:p>
            <a:r>
              <a:rPr lang="en-US" sz="1500" dirty="0">
                <a:solidFill>
                  <a:schemeClr val="accent2"/>
                </a:solidFill>
                <a:latin typeface="Google Sans"/>
                <a:ea typeface="+mn-ea"/>
                <a:cs typeface="+mn-cs"/>
              </a:rPr>
              <a:t>Protocols: </a:t>
            </a:r>
            <a:r>
              <a:rPr lang="en-US" sz="1500" dirty="0">
                <a:solidFill>
                  <a:schemeClr val="accent6"/>
                </a:solidFill>
                <a:latin typeface="Google Sans"/>
                <a:ea typeface="+mn-ea"/>
                <a:cs typeface="+mn-cs"/>
              </a:rPr>
              <a:t>TCP / UDP (QUIC for HTTP/3)             </a:t>
            </a:r>
          </a:p>
          <a:p>
            <a:r>
              <a:rPr lang="en-US" sz="1500" dirty="0">
                <a:solidFill>
                  <a:schemeClr val="accent2"/>
                </a:solidFill>
                <a:latin typeface="Google Sans"/>
                <a:ea typeface="+mn-ea"/>
                <a:cs typeface="+mn-cs"/>
              </a:rPr>
              <a:t>What happens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TCP 3-way handshake            </a:t>
            </a:r>
          </a:p>
          <a:p>
            <a:r>
              <a:rPr lang="en-US" sz="1500" dirty="0">
                <a:solidFill>
                  <a:schemeClr val="accent6"/>
                </a:solidFill>
                <a:latin typeface="Google Sans"/>
                <a:ea typeface="+mn-ea"/>
                <a:cs typeface="+mn-cs"/>
              </a:rPr>
              <a:t>Packet ordering &amp; retransmission             </a:t>
            </a:r>
          </a:p>
          <a:p>
            <a:r>
              <a:rPr lang="en-US" sz="1500" dirty="0">
                <a:solidFill>
                  <a:schemeClr val="accent6"/>
                </a:solidFill>
                <a:latin typeface="Google Sans"/>
                <a:ea typeface="+mn-ea"/>
                <a:cs typeface="+mn-cs"/>
              </a:rPr>
              <a:t>Flow &amp; congestion control              </a:t>
            </a:r>
          </a:p>
          <a:p>
            <a:r>
              <a:rPr lang="en-US" sz="1500" dirty="0">
                <a:solidFill>
                  <a:schemeClr val="accent2"/>
                </a:solidFill>
                <a:latin typeface="Google Sans"/>
                <a:ea typeface="+mn-ea"/>
                <a:cs typeface="+mn-cs"/>
              </a:rPr>
              <a:t>Failures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Connection timeout          </a:t>
            </a:r>
          </a:p>
          <a:p>
            <a:r>
              <a:rPr lang="en-US" sz="1500" dirty="0">
                <a:solidFill>
                  <a:schemeClr val="accent6"/>
                </a:solidFill>
                <a:latin typeface="Google Sans"/>
                <a:ea typeface="+mn-ea"/>
                <a:cs typeface="+mn-cs"/>
              </a:rPr>
              <a:t>Packet loss        </a:t>
            </a:r>
          </a:p>
          <a:p>
            <a:r>
              <a:rPr lang="en-US" sz="1500" dirty="0">
                <a:solidFill>
                  <a:schemeClr val="accent6"/>
                </a:solidFill>
                <a:latin typeface="Google Sans"/>
                <a:ea typeface="+mn-ea"/>
                <a:cs typeface="+mn-cs"/>
              </a:rPr>
              <a:t>Congestion collapse         </a:t>
            </a:r>
          </a:p>
          <a:p>
            <a:r>
              <a:rPr lang="en-US" sz="1500" dirty="0">
                <a:solidFill>
                  <a:schemeClr val="accent2"/>
                </a:solidFill>
                <a:latin typeface="Google Sans"/>
                <a:ea typeface="+mn-ea"/>
                <a:cs typeface="+mn-cs"/>
              </a:rPr>
              <a:t>🟠 Layer 3 – Network        </a:t>
            </a:r>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Protocols:</a:t>
            </a:r>
            <a:r>
              <a:rPr lang="en-US" sz="1500" dirty="0">
                <a:solidFill>
                  <a:schemeClr val="accent6"/>
                </a:solidFill>
                <a:latin typeface="Google Sans"/>
                <a:ea typeface="+mn-ea"/>
                <a:cs typeface="+mn-cs"/>
              </a:rPr>
              <a:t> IP, ICMP         </a:t>
            </a:r>
          </a:p>
          <a:p>
            <a:r>
              <a:rPr lang="en-US" sz="1500" dirty="0">
                <a:solidFill>
                  <a:schemeClr val="accent2"/>
                </a:solidFill>
                <a:latin typeface="Google Sans"/>
                <a:ea typeface="+mn-ea"/>
                <a:cs typeface="+mn-cs"/>
              </a:rPr>
              <a:t>What happens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Routing across routers        </a:t>
            </a:r>
          </a:p>
          <a:p>
            <a:r>
              <a:rPr lang="en-US" sz="1500" dirty="0">
                <a:solidFill>
                  <a:schemeClr val="accent6"/>
                </a:solidFill>
                <a:latin typeface="Google Sans"/>
                <a:ea typeface="+mn-ea"/>
                <a:cs typeface="+mn-cs"/>
              </a:rPr>
              <a:t>IP addressing        </a:t>
            </a:r>
          </a:p>
          <a:p>
            <a:r>
              <a:rPr lang="en-US" sz="1500" dirty="0">
                <a:solidFill>
                  <a:schemeClr val="accent6"/>
                </a:solidFill>
                <a:latin typeface="Google Sans"/>
                <a:ea typeface="+mn-ea"/>
                <a:cs typeface="+mn-cs"/>
              </a:rPr>
              <a:t>TTL handling           </a:t>
            </a:r>
          </a:p>
          <a:p>
            <a:r>
              <a:rPr lang="en-US" sz="1500" dirty="0">
                <a:solidFill>
                  <a:schemeClr val="accent2"/>
                </a:solidFill>
                <a:latin typeface="Google Sans"/>
                <a:ea typeface="+mn-ea"/>
                <a:cs typeface="+mn-cs"/>
              </a:rPr>
              <a:t>Failures      </a:t>
            </a:r>
          </a:p>
          <a:p>
            <a:r>
              <a:rPr lang="en-US" sz="1500" dirty="0">
                <a:solidFill>
                  <a:schemeClr val="accent6"/>
                </a:solidFill>
                <a:latin typeface="Google Sans"/>
                <a:ea typeface="+mn-ea"/>
                <a:cs typeface="+mn-cs"/>
              </a:rPr>
              <a:t>Network unreachable        </a:t>
            </a:r>
          </a:p>
          <a:p>
            <a:r>
              <a:rPr lang="en-US" sz="1500" dirty="0">
                <a:solidFill>
                  <a:schemeClr val="accent6"/>
                </a:solidFill>
                <a:latin typeface="Google Sans"/>
                <a:ea typeface="+mn-ea"/>
                <a:cs typeface="+mn-cs"/>
              </a:rPr>
              <a:t>Routing loops    </a:t>
            </a:r>
          </a:p>
        </p:txBody>
      </p:sp>
    </p:spTree>
    <p:extLst>
      <p:ext uri="{BB962C8B-B14F-4D97-AF65-F5344CB8AC3E}">
        <p14:creationId xmlns:p14="http://schemas.microsoft.com/office/powerpoint/2010/main" val="285548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3775E-A09B-A40D-0FD8-FC2D0AABFCD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B7BC8CC-6DA7-DC48-B4DB-EBB8FFB4428A}"/>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3FDF7AD-861E-1205-55B5-EF7434C531C7}"/>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C8DFF92-1948-2D6A-0454-9DD76D387D1F}"/>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DCC2094C-BC0B-E401-BB58-B733B00882D7}"/>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FB6B99C-AA4F-7125-8F80-817B3F87C47F}"/>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D1061D8-9F84-4D5B-69A4-2D7F30DA660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1F6D8AD6-B049-AEF8-86FD-8DC36A5C467A}"/>
              </a:ext>
            </a:extLst>
          </p:cNvPr>
          <p:cNvSpPr txBox="1">
            <a:spLocks/>
          </p:cNvSpPr>
          <p:nvPr/>
        </p:nvSpPr>
        <p:spPr>
          <a:xfrm>
            <a:off x="55803" y="774902"/>
            <a:ext cx="8624937"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1. API call flow over the network</a:t>
            </a:r>
          </a:p>
          <a:p>
            <a:r>
              <a:rPr lang="en-US" sz="1500" dirty="0">
                <a:solidFill>
                  <a:schemeClr val="accent2"/>
                </a:solidFill>
                <a:latin typeface="Google Sans"/>
                <a:ea typeface="+mn-ea"/>
                <a:cs typeface="+mn-cs"/>
              </a:rPr>
              <a:t>🔴 Layer 2 – Data Link            </a:t>
            </a:r>
          </a:p>
          <a:p>
            <a:r>
              <a:rPr lang="en-US" sz="1500" dirty="0">
                <a:solidFill>
                  <a:schemeClr val="accent6"/>
                </a:solidFill>
                <a:latin typeface="Google Sans"/>
                <a:ea typeface="+mn-ea"/>
                <a:cs typeface="+mn-cs"/>
              </a:rPr>
              <a:t>Protocols: Ethernet, Wi-Fi          </a:t>
            </a:r>
          </a:p>
          <a:p>
            <a:r>
              <a:rPr lang="en-US" sz="1500" dirty="0">
                <a:solidFill>
                  <a:schemeClr val="accent2"/>
                </a:solidFill>
                <a:latin typeface="Google Sans"/>
                <a:ea typeface="+mn-ea"/>
                <a:cs typeface="+mn-cs"/>
              </a:rPr>
              <a:t>What happens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Frame delivery on local network              </a:t>
            </a:r>
          </a:p>
          <a:p>
            <a:r>
              <a:rPr lang="en-US" sz="1500" dirty="0">
                <a:solidFill>
                  <a:schemeClr val="accent6"/>
                </a:solidFill>
                <a:latin typeface="Google Sans"/>
                <a:ea typeface="+mn-ea"/>
                <a:cs typeface="+mn-cs"/>
              </a:rPr>
              <a:t>MAC addressing            </a:t>
            </a:r>
          </a:p>
          <a:p>
            <a:r>
              <a:rPr lang="en-US" sz="1500" dirty="0">
                <a:solidFill>
                  <a:schemeClr val="accent6"/>
                </a:solidFill>
                <a:latin typeface="Google Sans"/>
                <a:ea typeface="+mn-ea"/>
                <a:cs typeface="+mn-cs"/>
              </a:rPr>
              <a:t>ARP resolution              </a:t>
            </a:r>
          </a:p>
          <a:p>
            <a:r>
              <a:rPr lang="en-US" sz="1500" dirty="0">
                <a:solidFill>
                  <a:schemeClr val="accent2"/>
                </a:solidFill>
                <a:latin typeface="Google Sans"/>
                <a:ea typeface="+mn-ea"/>
                <a:cs typeface="+mn-cs"/>
              </a:rPr>
              <a:t>Failures           </a:t>
            </a:r>
          </a:p>
          <a:p>
            <a:r>
              <a:rPr lang="en-US" sz="1500" dirty="0">
                <a:solidFill>
                  <a:schemeClr val="accent6"/>
                </a:solidFill>
                <a:latin typeface="Google Sans"/>
                <a:ea typeface="+mn-ea"/>
                <a:cs typeface="+mn-cs"/>
              </a:rPr>
              <a:t>Packet collisions           </a:t>
            </a:r>
          </a:p>
          <a:p>
            <a:r>
              <a:rPr lang="en-US" sz="1500" dirty="0">
                <a:solidFill>
                  <a:schemeClr val="accent6"/>
                </a:solidFill>
                <a:latin typeface="Google Sans"/>
                <a:ea typeface="+mn-ea"/>
                <a:cs typeface="+mn-cs"/>
              </a:rPr>
              <a:t>NIC issues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 Layer 1 – Physical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Medium           </a:t>
            </a:r>
          </a:p>
          <a:p>
            <a:r>
              <a:rPr lang="en-US" sz="1500" dirty="0">
                <a:solidFill>
                  <a:schemeClr val="accent6"/>
                </a:solidFill>
                <a:latin typeface="Google Sans"/>
                <a:ea typeface="+mn-ea"/>
                <a:cs typeface="+mn-cs"/>
              </a:rPr>
              <a:t>Fiber, copper, radio waves           </a:t>
            </a:r>
          </a:p>
          <a:p>
            <a:r>
              <a:rPr lang="en-US" sz="1500" dirty="0">
                <a:solidFill>
                  <a:schemeClr val="accent6"/>
                </a:solidFill>
                <a:latin typeface="Google Sans"/>
                <a:ea typeface="+mn-ea"/>
                <a:cs typeface="+mn-cs"/>
              </a:rPr>
              <a:t>What happens            </a:t>
            </a:r>
          </a:p>
          <a:p>
            <a:r>
              <a:rPr lang="en-US" sz="1500" dirty="0">
                <a:solidFill>
                  <a:schemeClr val="accent6"/>
                </a:solidFill>
                <a:latin typeface="Google Sans"/>
                <a:ea typeface="+mn-ea"/>
                <a:cs typeface="+mn-cs"/>
              </a:rPr>
              <a:t>Bits transmitted as signals               </a:t>
            </a:r>
          </a:p>
          <a:p>
            <a:r>
              <a:rPr lang="en-US" sz="1500" dirty="0">
                <a:solidFill>
                  <a:schemeClr val="accent2"/>
                </a:solidFill>
                <a:latin typeface="Google Sans"/>
                <a:ea typeface="+mn-ea"/>
                <a:cs typeface="+mn-cs"/>
              </a:rPr>
              <a:t>Failures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Cable unplugged 😄           </a:t>
            </a:r>
          </a:p>
          <a:p>
            <a:r>
              <a:rPr lang="en-US" sz="1500" dirty="0">
                <a:solidFill>
                  <a:schemeClr val="accent6"/>
                </a:solidFill>
                <a:latin typeface="Google Sans"/>
                <a:ea typeface="+mn-ea"/>
                <a:cs typeface="+mn-cs"/>
              </a:rPr>
              <a:t>Signal attenuation         </a:t>
            </a: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5676185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8C0D1-C7D3-F9C9-4DA7-A32898CA6C0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CDDCAA1-9329-0B75-B2EF-32B000E8FC48}"/>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8CBDC63-50AF-1B82-069C-0CADA41B7709}"/>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9B8C5AD-F7DB-7DDA-BDFC-B46C2D2B49FC}"/>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D7C059ED-9850-A386-1EE2-4D26D13EBECF}"/>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499A351-2CF4-6725-D801-1B00BC632145}"/>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04585E7A-225A-11A0-85C0-D1612092958F}"/>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0A5F59E7-9FFC-008C-7439-F606B9E74C62}"/>
              </a:ext>
            </a:extLst>
          </p:cNvPr>
          <p:cNvSpPr txBox="1">
            <a:spLocks/>
          </p:cNvSpPr>
          <p:nvPr/>
        </p:nvSpPr>
        <p:spPr>
          <a:xfrm>
            <a:off x="55803" y="774902"/>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1. API call flow over the network</a:t>
            </a:r>
          </a:p>
          <a:p>
            <a:r>
              <a:rPr lang="en-US" sz="1500" dirty="0">
                <a:solidFill>
                  <a:schemeClr val="accent2"/>
                </a:solidFill>
                <a:latin typeface="Google Sans"/>
                <a:ea typeface="+mn-ea"/>
                <a:cs typeface="+mn-cs"/>
              </a:rPr>
              <a:t>🧠 One-liner            </a:t>
            </a:r>
          </a:p>
          <a:p>
            <a:r>
              <a:rPr lang="en-US" sz="1500" dirty="0">
                <a:solidFill>
                  <a:schemeClr val="accent6"/>
                </a:solidFill>
                <a:latin typeface="Google Sans"/>
                <a:ea typeface="+mn-ea"/>
                <a:cs typeface="+mn-cs"/>
              </a:rPr>
              <a:t>HTTP lives at Layer 7, TLS spans Layers 5–6, TCP is Layer 4, IP is Layer 3.             </a:t>
            </a:r>
          </a:p>
          <a:p>
            <a:r>
              <a:rPr lang="en-US" sz="1500" dirty="0">
                <a:solidFill>
                  <a:schemeClr val="accent6"/>
                </a:solidFill>
                <a:latin typeface="Google Sans"/>
                <a:ea typeface="+mn-ea"/>
                <a:cs typeface="+mn-cs"/>
              </a:rPr>
              <a:t>**Where optimizations apply (Layer-wise)**           </a:t>
            </a:r>
          </a:p>
          <a:p>
            <a:r>
              <a:rPr lang="en-US" sz="1500" dirty="0">
                <a:solidFill>
                  <a:schemeClr val="accent2"/>
                </a:solidFill>
                <a:latin typeface="Google Sans"/>
                <a:ea typeface="+mn-ea"/>
                <a:cs typeface="+mn-cs"/>
              </a:rPr>
              <a:t>Layer	        Optimization          </a:t>
            </a:r>
          </a:p>
          <a:p>
            <a:r>
              <a:rPr lang="en-US" sz="1500" dirty="0">
                <a:solidFill>
                  <a:schemeClr val="accent6"/>
                </a:solidFill>
                <a:latin typeface="Google Sans"/>
                <a:ea typeface="+mn-ea"/>
                <a:cs typeface="+mn-cs"/>
              </a:rPr>
              <a:t>L7	        Caching, pagination            </a:t>
            </a:r>
          </a:p>
          <a:p>
            <a:r>
              <a:rPr lang="en-US" sz="1500" dirty="0">
                <a:solidFill>
                  <a:schemeClr val="accent6"/>
                </a:solidFill>
                <a:latin typeface="Google Sans"/>
                <a:ea typeface="+mn-ea"/>
                <a:cs typeface="+mn-cs"/>
              </a:rPr>
              <a:t>L6	        Compression             </a:t>
            </a:r>
          </a:p>
          <a:p>
            <a:r>
              <a:rPr lang="en-US" sz="1500" dirty="0">
                <a:solidFill>
                  <a:schemeClr val="accent6"/>
                </a:solidFill>
                <a:latin typeface="Google Sans"/>
                <a:ea typeface="+mn-ea"/>
                <a:cs typeface="+mn-cs"/>
              </a:rPr>
              <a:t>L5	        Session reuse          </a:t>
            </a:r>
          </a:p>
          <a:p>
            <a:r>
              <a:rPr lang="en-US" sz="1500" dirty="0">
                <a:solidFill>
                  <a:schemeClr val="accent6"/>
                </a:solidFill>
                <a:latin typeface="Google Sans"/>
                <a:ea typeface="+mn-ea"/>
                <a:cs typeface="+mn-cs"/>
              </a:rPr>
              <a:t>L4	        Connection pooling           </a:t>
            </a:r>
          </a:p>
          <a:p>
            <a:r>
              <a:rPr lang="en-US" sz="1500" dirty="0">
                <a:solidFill>
                  <a:schemeClr val="accent6"/>
                </a:solidFill>
                <a:latin typeface="Google Sans"/>
                <a:ea typeface="+mn-ea"/>
                <a:cs typeface="+mn-cs"/>
              </a:rPr>
              <a:t>L3	        Geo-routing          </a:t>
            </a:r>
          </a:p>
          <a:p>
            <a:r>
              <a:rPr lang="en-US" sz="1500" dirty="0">
                <a:solidFill>
                  <a:schemeClr val="accent6"/>
                </a:solidFill>
                <a:latin typeface="Google Sans"/>
                <a:ea typeface="+mn-ea"/>
                <a:cs typeface="+mn-cs"/>
              </a:rPr>
              <a:t>L2	        Faster NIC            </a:t>
            </a:r>
          </a:p>
          <a:p>
            <a:r>
              <a:rPr lang="en-US" sz="1500" dirty="0">
                <a:solidFill>
                  <a:schemeClr val="accent6"/>
                </a:solidFill>
                <a:latin typeface="Google Sans"/>
                <a:ea typeface="+mn-ea"/>
                <a:cs typeface="+mn-cs"/>
              </a:rPr>
              <a:t>L1	        Better network            </a:t>
            </a:r>
          </a:p>
          <a:p>
            <a:r>
              <a:rPr lang="en-US" sz="1500" dirty="0">
                <a:solidFill>
                  <a:schemeClr val="accent2"/>
                </a:solidFill>
                <a:latin typeface="Google Sans"/>
                <a:ea typeface="+mn-ea"/>
                <a:cs typeface="+mn-cs"/>
              </a:rPr>
              <a:t>🧪 Real-world example       </a:t>
            </a:r>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Why first API call is slow, next ones are fast?</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DNS cached          </a:t>
            </a:r>
          </a:p>
          <a:p>
            <a:r>
              <a:rPr lang="en-US" sz="1500" dirty="0">
                <a:solidFill>
                  <a:schemeClr val="accent6"/>
                </a:solidFill>
                <a:latin typeface="Google Sans"/>
                <a:ea typeface="+mn-ea"/>
                <a:cs typeface="+mn-cs"/>
              </a:rPr>
              <a:t>TCP connection reused          </a:t>
            </a:r>
          </a:p>
          <a:p>
            <a:r>
              <a:rPr lang="en-US" sz="1500" dirty="0">
                <a:solidFill>
                  <a:schemeClr val="accent6"/>
                </a:solidFill>
                <a:latin typeface="Google Sans"/>
                <a:ea typeface="+mn-ea"/>
                <a:cs typeface="+mn-cs"/>
              </a:rPr>
              <a:t>TLS session resumed           </a:t>
            </a:r>
          </a:p>
          <a:p>
            <a:r>
              <a:rPr lang="en-US" sz="1500" dirty="0">
                <a:solidFill>
                  <a:schemeClr val="accent2"/>
                </a:solidFill>
                <a:latin typeface="Google Sans"/>
                <a:ea typeface="+mn-ea"/>
                <a:cs typeface="+mn-cs"/>
              </a:rPr>
              <a:t>🎯 Summary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API latency is dominated by network RTT and server processing, not code execution.</a:t>
            </a:r>
          </a:p>
          <a:p>
            <a:r>
              <a:rPr lang="en-US" sz="1500" dirty="0">
                <a:solidFill>
                  <a:schemeClr val="accent6"/>
                </a:solidFill>
                <a:latin typeface="Google Sans"/>
                <a:ea typeface="+mn-ea"/>
                <a:cs typeface="+mn-cs"/>
              </a:rPr>
              <a:t>Optimizing connections, reducing round trips, and caching gives the biggest wins.           </a:t>
            </a: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553407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18E105-2CB5-8A65-66D5-979CD5D9A30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E657E8D-104A-88B3-8DF0-4D78175AF4C8}"/>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BE6F050-13D1-1DF1-E9C7-918F9590ADE0}"/>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FE1D29D-2862-34CB-AE8F-B334F1608893}"/>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07374F38-25AD-65D4-C868-7510F075AF2D}"/>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8999C7D-45B1-FD3D-2A52-69198F8B9E22}"/>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7AD8D0B4-A2E3-ACCE-004E-5FF11726D7B1}"/>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2F46C1D9-BE16-CBBC-B5B4-D5F9BBB946BD}"/>
              </a:ext>
            </a:extLst>
          </p:cNvPr>
          <p:cNvSpPr txBox="1">
            <a:spLocks/>
          </p:cNvSpPr>
          <p:nvPr/>
        </p:nvSpPr>
        <p:spPr>
          <a:xfrm>
            <a:off x="55803" y="774902"/>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2.TCP vs UDP</a:t>
            </a:r>
          </a:p>
          <a:p>
            <a:r>
              <a:rPr lang="en-US" sz="1500" dirty="0">
                <a:solidFill>
                  <a:schemeClr val="accent2"/>
                </a:solidFill>
                <a:latin typeface="Google Sans"/>
                <a:ea typeface="+mn-ea"/>
                <a:cs typeface="+mn-cs"/>
              </a:rPr>
              <a:t>Feature	                 TCP	                                         UDP         </a:t>
            </a:r>
          </a:p>
          <a:p>
            <a:r>
              <a:rPr lang="en-US" sz="1500" dirty="0">
                <a:solidFill>
                  <a:schemeClr val="accent6"/>
                </a:solidFill>
                <a:latin typeface="Google Sans"/>
                <a:ea typeface="+mn-ea"/>
                <a:cs typeface="+mn-cs"/>
              </a:rPr>
              <a:t>Connection	                 Connection-</a:t>
            </a:r>
            <a:r>
              <a:rPr lang="en-US" sz="1500" dirty="0" err="1">
                <a:solidFill>
                  <a:schemeClr val="accent6"/>
                </a:solidFill>
                <a:latin typeface="Google Sans"/>
                <a:ea typeface="+mn-ea"/>
                <a:cs typeface="+mn-cs"/>
              </a:rPr>
              <a:t>oriente</a:t>
            </a:r>
            <a:r>
              <a:rPr lang="en-US" sz="1500" dirty="0">
                <a:solidFill>
                  <a:schemeClr val="accent6"/>
                </a:solidFill>
                <a:latin typeface="Google Sans"/>
                <a:ea typeface="+mn-ea"/>
                <a:cs typeface="+mn-cs"/>
              </a:rPr>
              <a:t>                               Connectionless</a:t>
            </a:r>
          </a:p>
          <a:p>
            <a:r>
              <a:rPr lang="en-US" sz="1500" dirty="0">
                <a:solidFill>
                  <a:schemeClr val="accent6"/>
                </a:solidFill>
                <a:latin typeface="Google Sans"/>
                <a:ea typeface="+mn-ea"/>
                <a:cs typeface="+mn-cs"/>
              </a:rPr>
              <a:t>Reliability	                 Guaranteed delivery                             Best-effort        </a:t>
            </a:r>
          </a:p>
          <a:p>
            <a:r>
              <a:rPr lang="en-US" sz="1500" dirty="0">
                <a:solidFill>
                  <a:schemeClr val="accent6"/>
                </a:solidFill>
                <a:latin typeface="Google Sans"/>
                <a:ea typeface="+mn-ea"/>
                <a:cs typeface="+mn-cs"/>
              </a:rPr>
              <a:t>Ordering	                 Ordered	                                         Not guaranteed        </a:t>
            </a:r>
          </a:p>
          <a:p>
            <a:r>
              <a:rPr lang="en-US" sz="1500" dirty="0">
                <a:solidFill>
                  <a:schemeClr val="accent6"/>
                </a:solidFill>
                <a:latin typeface="Google Sans"/>
                <a:ea typeface="+mn-ea"/>
                <a:cs typeface="+mn-cs"/>
              </a:rPr>
              <a:t>Retransmission          Yes	                                         No        </a:t>
            </a:r>
          </a:p>
          <a:p>
            <a:r>
              <a:rPr lang="en-US" sz="1500" dirty="0">
                <a:solidFill>
                  <a:schemeClr val="accent6"/>
                </a:solidFill>
                <a:latin typeface="Google Sans"/>
                <a:ea typeface="+mn-ea"/>
                <a:cs typeface="+mn-cs"/>
              </a:rPr>
              <a:t>Flow control               Yes	                                         No       </a:t>
            </a:r>
          </a:p>
          <a:p>
            <a:r>
              <a:rPr lang="en-US" sz="1500" dirty="0">
                <a:solidFill>
                  <a:schemeClr val="accent6"/>
                </a:solidFill>
                <a:latin typeface="Google Sans"/>
                <a:ea typeface="+mn-ea"/>
                <a:cs typeface="+mn-cs"/>
              </a:rPr>
              <a:t>(inbuilt        </a:t>
            </a:r>
          </a:p>
          <a:p>
            <a:r>
              <a:rPr lang="en-US" sz="1500" dirty="0">
                <a:solidFill>
                  <a:schemeClr val="accent6"/>
                </a:solidFill>
                <a:latin typeface="Google Sans"/>
                <a:ea typeface="+mn-ea"/>
                <a:cs typeface="+mn-cs"/>
              </a:rPr>
              <a:t>Backpressure)           </a:t>
            </a:r>
          </a:p>
          <a:p>
            <a:r>
              <a:rPr lang="en-US" sz="1500" dirty="0">
                <a:solidFill>
                  <a:schemeClr val="accent6"/>
                </a:solidFill>
                <a:latin typeface="Google Sans"/>
                <a:ea typeface="+mn-ea"/>
                <a:cs typeface="+mn-cs"/>
              </a:rPr>
              <a:t>Speed	                 Slower	                                        Faster                     </a:t>
            </a:r>
          </a:p>
          <a:p>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TCP (Transmission Control Protocol)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Reliable         </a:t>
            </a:r>
          </a:p>
          <a:p>
            <a:r>
              <a:rPr lang="en-US" sz="1500" dirty="0">
                <a:solidFill>
                  <a:schemeClr val="accent6"/>
                </a:solidFill>
                <a:latin typeface="Google Sans"/>
                <a:ea typeface="+mn-ea"/>
                <a:cs typeface="+mn-cs"/>
              </a:rPr>
              <a:t>Ordered          </a:t>
            </a:r>
          </a:p>
          <a:p>
            <a:r>
              <a:rPr lang="en-US" sz="1500" dirty="0">
                <a:solidFill>
                  <a:schemeClr val="accent6"/>
                </a:solidFill>
                <a:latin typeface="Google Sans"/>
                <a:ea typeface="+mn-ea"/>
                <a:cs typeface="+mn-cs"/>
              </a:rPr>
              <a:t>Used when accuracy matters           </a:t>
            </a:r>
          </a:p>
          <a:p>
            <a:r>
              <a:rPr lang="en-US" sz="1500" dirty="0">
                <a:solidFill>
                  <a:schemeClr val="accent2"/>
                </a:solidFill>
                <a:latin typeface="Google Sans"/>
                <a:ea typeface="+mn-ea"/>
                <a:cs typeface="+mn-cs"/>
              </a:rPr>
              <a:t>Examples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HTTP/HTTPS           </a:t>
            </a:r>
          </a:p>
          <a:p>
            <a:r>
              <a:rPr lang="en-US" sz="1500" dirty="0">
                <a:solidFill>
                  <a:schemeClr val="accent6"/>
                </a:solidFill>
                <a:latin typeface="Google Sans"/>
                <a:ea typeface="+mn-ea"/>
                <a:cs typeface="+mn-cs"/>
              </a:rPr>
              <a:t>FTP          </a:t>
            </a:r>
          </a:p>
          <a:p>
            <a:r>
              <a:rPr lang="en-US" sz="1500" dirty="0">
                <a:solidFill>
                  <a:schemeClr val="accent6"/>
                </a:solidFill>
                <a:latin typeface="Google Sans"/>
                <a:ea typeface="+mn-ea"/>
                <a:cs typeface="+mn-cs"/>
              </a:rPr>
              <a:t>Email        </a:t>
            </a:r>
          </a:p>
          <a:p>
            <a:r>
              <a:rPr lang="en-US" sz="1500" dirty="0">
                <a:solidFill>
                  <a:schemeClr val="accent6"/>
                </a:solidFill>
                <a:latin typeface="Google Sans"/>
                <a:ea typeface="+mn-ea"/>
                <a:cs typeface="+mn-cs"/>
              </a:rPr>
              <a:t>Database connections            </a:t>
            </a:r>
          </a:p>
          <a:p>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  </a:t>
            </a:r>
          </a:p>
        </p:txBody>
      </p:sp>
    </p:spTree>
    <p:extLst>
      <p:ext uri="{BB962C8B-B14F-4D97-AF65-F5344CB8AC3E}">
        <p14:creationId xmlns:p14="http://schemas.microsoft.com/office/powerpoint/2010/main" val="1662916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491E3-2765-8237-91F5-FF34C036C8B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38986BA-5A4B-50E0-606A-B38EB5CEB044}"/>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6D3E57B-E2DA-B4D3-0C99-B667771CB636}"/>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EE659D8-55C6-87C9-31E0-7E9281F0107E}"/>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3D915752-9C54-5B4B-DC04-B207FBBB9FC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300A6C0A-EA26-39E2-8DE8-386F3E3A0ED6}"/>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0862BAB3-19E7-569B-6266-E174A48217B1}"/>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F000D66E-587B-7840-8B32-CD63903EC974}"/>
              </a:ext>
            </a:extLst>
          </p:cNvPr>
          <p:cNvSpPr txBox="1">
            <a:spLocks/>
          </p:cNvSpPr>
          <p:nvPr/>
        </p:nvSpPr>
        <p:spPr>
          <a:xfrm>
            <a:off x="55803" y="774902"/>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rPr>
              <a:t>2.TCP vs UDP</a:t>
            </a:r>
          </a:p>
          <a:p>
            <a:r>
              <a:rPr lang="en-US" sz="1500" dirty="0">
                <a:solidFill>
                  <a:schemeClr val="accent2"/>
                </a:solidFill>
                <a:latin typeface="Google Sans"/>
                <a:ea typeface="+mn-ea"/>
                <a:cs typeface="+mn-cs"/>
              </a:rPr>
              <a:t>UDP (User Datagram Protocol)           </a:t>
            </a:r>
          </a:p>
          <a:p>
            <a:r>
              <a:rPr lang="en-US" sz="1500" dirty="0">
                <a:solidFill>
                  <a:schemeClr val="accent6"/>
                </a:solidFill>
                <a:latin typeface="Google Sans"/>
                <a:ea typeface="+mn-ea"/>
                <a:cs typeface="+mn-cs"/>
              </a:rPr>
              <a:t>Fast        </a:t>
            </a:r>
          </a:p>
          <a:p>
            <a:r>
              <a:rPr lang="en-US" sz="1500" dirty="0">
                <a:solidFill>
                  <a:schemeClr val="accent6"/>
                </a:solidFill>
                <a:latin typeface="Google Sans"/>
                <a:ea typeface="+mn-ea"/>
                <a:cs typeface="+mn-cs"/>
              </a:rPr>
              <a:t>No delivery guarantee           </a:t>
            </a:r>
          </a:p>
          <a:p>
            <a:r>
              <a:rPr lang="en-US" sz="1500" dirty="0">
                <a:solidFill>
                  <a:schemeClr val="accent6"/>
                </a:solidFill>
                <a:latin typeface="Google Sans"/>
                <a:ea typeface="+mn-ea"/>
                <a:cs typeface="+mn-cs"/>
              </a:rPr>
              <a:t>Used when speed matters more than accuracy          </a:t>
            </a:r>
          </a:p>
          <a:p>
            <a:r>
              <a:rPr lang="en-US" sz="1500" dirty="0">
                <a:solidFill>
                  <a:schemeClr val="accent2"/>
                </a:solidFill>
                <a:latin typeface="Google Sans"/>
                <a:ea typeface="+mn-ea"/>
                <a:cs typeface="+mn-cs"/>
              </a:rPr>
              <a:t>Examples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Video streaming            </a:t>
            </a:r>
          </a:p>
          <a:p>
            <a:r>
              <a:rPr lang="en-US" sz="1500" dirty="0">
                <a:solidFill>
                  <a:schemeClr val="accent6"/>
                </a:solidFill>
                <a:latin typeface="Google Sans"/>
                <a:ea typeface="+mn-ea"/>
                <a:cs typeface="+mn-cs"/>
              </a:rPr>
              <a:t>Online gaming         </a:t>
            </a:r>
          </a:p>
          <a:p>
            <a:r>
              <a:rPr lang="en-US" sz="1500" dirty="0">
                <a:solidFill>
                  <a:schemeClr val="accent6"/>
                </a:solidFill>
                <a:latin typeface="Google Sans"/>
                <a:ea typeface="+mn-ea"/>
                <a:cs typeface="+mn-cs"/>
              </a:rPr>
              <a:t>VoIP         </a:t>
            </a:r>
          </a:p>
          <a:p>
            <a:r>
              <a:rPr lang="en-US" sz="1500" dirty="0">
                <a:solidFill>
                  <a:schemeClr val="accent6"/>
                </a:solidFill>
                <a:latin typeface="Google Sans"/>
                <a:ea typeface="+mn-ea"/>
                <a:cs typeface="+mn-cs"/>
              </a:rPr>
              <a:t>DNS        </a:t>
            </a:r>
          </a:p>
          <a:p>
            <a:r>
              <a:rPr lang="en-US" sz="1500" dirty="0">
                <a:solidFill>
                  <a:schemeClr val="accent2"/>
                </a:solidFill>
                <a:latin typeface="Google Sans"/>
                <a:ea typeface="+mn-ea"/>
                <a:cs typeface="+mn-cs"/>
              </a:rPr>
              <a:t>📌 One-liner: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TCP trades speed for reliability; UDP trades reliability for speed.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3.Round-Trip Time (RTT)         </a:t>
            </a:r>
          </a:p>
          <a:p>
            <a:r>
              <a:rPr lang="en-US" sz="1500" dirty="0">
                <a:solidFill>
                  <a:schemeClr val="accent6"/>
                </a:solidFill>
                <a:latin typeface="Google Sans"/>
                <a:ea typeface="+mn-ea"/>
                <a:cs typeface="+mn-cs"/>
              </a:rPr>
              <a:t>RTT = Time taken for a packet to go from client → server → client           </a:t>
            </a:r>
          </a:p>
          <a:p>
            <a:r>
              <a:rPr lang="en-US" sz="1500" dirty="0">
                <a:solidFill>
                  <a:schemeClr val="accent2"/>
                </a:solidFill>
                <a:latin typeface="Google Sans"/>
                <a:ea typeface="+mn-ea"/>
                <a:cs typeface="+mn-cs"/>
              </a:rPr>
              <a:t>Example: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Client sends request at t0         </a:t>
            </a:r>
          </a:p>
          <a:p>
            <a:r>
              <a:rPr lang="en-US" sz="1500" dirty="0">
                <a:solidFill>
                  <a:schemeClr val="accent6"/>
                </a:solidFill>
                <a:latin typeface="Google Sans"/>
                <a:ea typeface="+mn-ea"/>
                <a:cs typeface="+mn-cs"/>
              </a:rPr>
              <a:t>Server responds at t1        </a:t>
            </a:r>
          </a:p>
          <a:p>
            <a:r>
              <a:rPr lang="en-US" sz="1500" dirty="0">
                <a:solidFill>
                  <a:schemeClr val="accent6"/>
                </a:solidFill>
                <a:latin typeface="Google Sans"/>
                <a:ea typeface="+mn-ea"/>
                <a:cs typeface="+mn-cs"/>
              </a:rPr>
              <a:t>RTT = t1 - t0       </a:t>
            </a:r>
          </a:p>
          <a:p>
            <a:r>
              <a:rPr lang="en-US" sz="1500" dirty="0">
                <a:solidFill>
                  <a:schemeClr val="accent2"/>
                </a:solidFill>
                <a:latin typeface="Google Sans"/>
                <a:ea typeface="+mn-ea"/>
                <a:cs typeface="+mn-cs"/>
              </a:rPr>
              <a:t>Why RTT matters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TCP handshake takes 1 RTT       </a:t>
            </a:r>
          </a:p>
          <a:p>
            <a:r>
              <a:rPr lang="en-US" sz="1500" dirty="0">
                <a:solidFill>
                  <a:schemeClr val="accent6"/>
                </a:solidFill>
                <a:latin typeface="Google Sans"/>
                <a:ea typeface="+mn-ea"/>
                <a:cs typeface="+mn-cs"/>
              </a:rPr>
              <a:t>TLS handshake takes 1–2 RTTs      </a:t>
            </a:r>
          </a:p>
          <a:p>
            <a:r>
              <a:rPr lang="en-US" sz="1500" dirty="0">
                <a:solidFill>
                  <a:schemeClr val="accent6"/>
                </a:solidFill>
                <a:latin typeface="Google Sans"/>
                <a:ea typeface="+mn-ea"/>
                <a:cs typeface="+mn-cs"/>
              </a:rPr>
              <a:t>Each API call latency depends heavily on RTT        </a:t>
            </a:r>
          </a:p>
        </p:txBody>
      </p:sp>
    </p:spTree>
    <p:extLst>
      <p:ext uri="{BB962C8B-B14F-4D97-AF65-F5344CB8AC3E}">
        <p14:creationId xmlns:p14="http://schemas.microsoft.com/office/powerpoint/2010/main" val="1738512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26E9A-AB13-F6DB-D9E5-2AF27869218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22879FB-2669-3062-3556-25136A458C4A}"/>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39504C0-E118-1B45-619B-2CC79747BC69}"/>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FF68B1C-8393-DFF8-FFDD-5C5D4AB0CAAB}"/>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16163682-D592-C63D-9D31-7A8C70C9B19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67973AEF-F124-9CC4-5C5F-93B615D103C0}"/>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10E9ED9D-272A-D38A-8F1F-064E63E4D4C2}"/>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4886D2E4-A61B-F0A7-B29F-A2B599C94D92}"/>
              </a:ext>
            </a:extLst>
          </p:cNvPr>
          <p:cNvSpPr txBox="1">
            <a:spLocks/>
          </p:cNvSpPr>
          <p:nvPr/>
        </p:nvSpPr>
        <p:spPr>
          <a:xfrm>
            <a:off x="55803" y="774902"/>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3. Round-Trip Time (RTT)</a:t>
            </a:r>
          </a:p>
          <a:p>
            <a:r>
              <a:rPr lang="en-US" sz="1500" dirty="0">
                <a:solidFill>
                  <a:schemeClr val="accent6"/>
                </a:solidFill>
                <a:latin typeface="Google Sans"/>
                <a:ea typeface="+mn-ea"/>
                <a:cs typeface="+mn-cs"/>
              </a:rPr>
              <a:t>📌 Lower RTT = faster APIs       </a:t>
            </a:r>
          </a:p>
          <a:p>
            <a:r>
              <a:rPr lang="en-US" sz="1500" dirty="0">
                <a:solidFill>
                  <a:schemeClr val="accent6"/>
                </a:solidFill>
                <a:latin typeface="Google Sans"/>
                <a:ea typeface="+mn-ea"/>
                <a:cs typeface="+mn-cs"/>
              </a:rPr>
              <a:t>📌 High RTT = noticeable slowness even if server is fast       </a:t>
            </a:r>
          </a:p>
          <a:p>
            <a:r>
              <a:rPr lang="en-US" sz="1500" dirty="0">
                <a:solidFill>
                  <a:schemeClr val="accent2"/>
                </a:solidFill>
                <a:latin typeface="Google Sans"/>
                <a:ea typeface="+mn-ea"/>
                <a:cs typeface="+mn-cs"/>
              </a:rPr>
              <a:t>Where RTT is used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TCP: RTT is crucial for         </a:t>
            </a:r>
          </a:p>
          <a:p>
            <a:r>
              <a:rPr lang="en-US" sz="1500" dirty="0">
                <a:solidFill>
                  <a:schemeClr val="accent6"/>
                </a:solidFill>
                <a:latin typeface="Google Sans"/>
                <a:ea typeface="+mn-ea"/>
                <a:cs typeface="+mn-cs"/>
              </a:rPr>
              <a:t>Setting retransmission timeouts              </a:t>
            </a:r>
          </a:p>
          <a:p>
            <a:r>
              <a:rPr lang="en-US" sz="1500" dirty="0">
                <a:solidFill>
                  <a:schemeClr val="accent6"/>
                </a:solidFill>
                <a:latin typeface="Google Sans"/>
                <a:ea typeface="+mn-ea"/>
                <a:cs typeface="+mn-cs"/>
              </a:rPr>
              <a:t>Congestion control         </a:t>
            </a:r>
          </a:p>
          <a:p>
            <a:r>
              <a:rPr lang="en-US" sz="1500" dirty="0">
                <a:solidFill>
                  <a:schemeClr val="accent2"/>
                </a:solidFill>
                <a:latin typeface="Google Sans"/>
                <a:ea typeface="+mn-ea"/>
                <a:cs typeface="+mn-cs"/>
              </a:rPr>
              <a:t>Networking diagnostics:</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ping command measures RTT              </a:t>
            </a:r>
          </a:p>
          <a:p>
            <a:r>
              <a:rPr lang="en-US" sz="1500" dirty="0">
                <a:solidFill>
                  <a:schemeClr val="accent2"/>
                </a:solidFill>
                <a:latin typeface="Google Sans"/>
                <a:ea typeface="+mn-ea"/>
                <a:cs typeface="+mn-cs"/>
              </a:rPr>
              <a:t>Performance analysis: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High RTT → slow network response           </a:t>
            </a:r>
          </a:p>
          <a:p>
            <a:r>
              <a:rPr lang="en-US" sz="1500" dirty="0">
                <a:solidFill>
                  <a:schemeClr val="accent2"/>
                </a:solidFill>
                <a:latin typeface="Google Sans"/>
                <a:ea typeface="+mn-ea"/>
                <a:cs typeface="+mn-cs"/>
              </a:rPr>
              <a:t>Factors affecting RTT</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Physical distance between sender and receiver           </a:t>
            </a:r>
          </a:p>
          <a:p>
            <a:r>
              <a:rPr lang="en-US" sz="1500" dirty="0">
                <a:solidFill>
                  <a:schemeClr val="accent6"/>
                </a:solidFill>
                <a:latin typeface="Google Sans"/>
                <a:ea typeface="+mn-ea"/>
                <a:cs typeface="+mn-cs"/>
              </a:rPr>
              <a:t>Network congestion          </a:t>
            </a:r>
          </a:p>
          <a:p>
            <a:r>
              <a:rPr lang="en-US" sz="1500" dirty="0">
                <a:solidFill>
                  <a:schemeClr val="accent2"/>
                </a:solidFill>
                <a:latin typeface="Google Sans"/>
                <a:ea typeface="+mn-ea"/>
                <a:cs typeface="+mn-cs"/>
              </a:rPr>
              <a:t>Routing paths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Processing delay at routers and servers          </a:t>
            </a:r>
          </a:p>
          <a:p>
            <a:r>
              <a:rPr lang="en-US" sz="1500" dirty="0">
                <a:solidFill>
                  <a:schemeClr val="accent6"/>
                </a:solidFill>
                <a:latin typeface="Google Sans"/>
                <a:ea typeface="+mn-ea"/>
                <a:cs typeface="+mn-cs"/>
              </a:rPr>
              <a:t>Transmission medium (fiber, Wi-Fi, mobile networks)       </a:t>
            </a:r>
          </a:p>
          <a:p>
            <a:r>
              <a:rPr lang="en-US" sz="1500" dirty="0">
                <a:solidFill>
                  <a:schemeClr val="accent6"/>
                </a:solidFill>
                <a:latin typeface="Google Sans"/>
                <a:ea typeface="+mn-ea"/>
                <a:cs typeface="+mn-cs"/>
              </a:rPr>
              <a:t>Quick example using ping         </a:t>
            </a:r>
          </a:p>
          <a:p>
            <a:r>
              <a:rPr lang="en-US" sz="1500" dirty="0">
                <a:solidFill>
                  <a:schemeClr val="accent6"/>
                </a:solidFill>
                <a:latin typeface="Google Sans"/>
                <a:ea typeface="+mn-ea"/>
                <a:cs typeface="+mn-cs"/>
              </a:rPr>
              <a:t>ping google.com           </a:t>
            </a:r>
          </a:p>
          <a:p>
            <a:r>
              <a:rPr lang="en-US" sz="1500" dirty="0">
                <a:solidFill>
                  <a:schemeClr val="accent2"/>
                </a:solidFill>
                <a:latin typeface="Google Sans"/>
                <a:ea typeface="+mn-ea"/>
                <a:cs typeface="+mn-cs"/>
              </a:rPr>
              <a:t>Output:         </a:t>
            </a:r>
          </a:p>
          <a:p>
            <a:r>
              <a:rPr lang="en-US" sz="1500" dirty="0">
                <a:solidFill>
                  <a:schemeClr val="accent6"/>
                </a:solidFill>
                <a:latin typeface="Google Sans"/>
                <a:ea typeface="+mn-ea"/>
                <a:cs typeface="+mn-cs"/>
              </a:rPr>
              <a:t>time=24 </a:t>
            </a:r>
            <a:r>
              <a:rPr lang="en-US" sz="1500" dirty="0" err="1">
                <a:solidFill>
                  <a:schemeClr val="accent6"/>
                </a:solidFill>
                <a:latin typeface="Google Sans"/>
                <a:ea typeface="+mn-ea"/>
                <a:cs typeface="+mn-cs"/>
              </a:rPr>
              <a:t>ms</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That 24 </a:t>
            </a:r>
            <a:r>
              <a:rPr lang="en-US" sz="1500" dirty="0" err="1">
                <a:solidFill>
                  <a:schemeClr val="accent6"/>
                </a:solidFill>
                <a:latin typeface="Google Sans"/>
                <a:ea typeface="+mn-ea"/>
                <a:cs typeface="+mn-cs"/>
              </a:rPr>
              <a:t>ms</a:t>
            </a:r>
            <a:r>
              <a:rPr lang="en-US" sz="1500" dirty="0">
                <a:solidFill>
                  <a:schemeClr val="accent6"/>
                </a:solidFill>
                <a:latin typeface="Google Sans"/>
                <a:ea typeface="+mn-ea"/>
                <a:cs typeface="+mn-cs"/>
              </a:rPr>
              <a:t> is the RTT.               </a:t>
            </a:r>
          </a:p>
          <a:p>
            <a:r>
              <a:rPr lang="en-US" sz="1500" dirty="0">
                <a:solidFill>
                  <a:schemeClr val="accent6"/>
                </a:solidFill>
                <a:latin typeface="Google Sans"/>
                <a:ea typeface="+mn-ea"/>
                <a:cs typeface="+mn-cs"/>
              </a:rPr>
              <a:t>          </a:t>
            </a:r>
          </a:p>
        </p:txBody>
      </p:sp>
    </p:spTree>
    <p:extLst>
      <p:ext uri="{BB962C8B-B14F-4D97-AF65-F5344CB8AC3E}">
        <p14:creationId xmlns:p14="http://schemas.microsoft.com/office/powerpoint/2010/main" val="4213936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9CBC8-41D4-8E77-10F2-3A54A35A2DF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0F64C9C-EE13-73E8-89AD-02E57BEBED34}"/>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E61DA52-6098-89A1-F389-70388BBF1D25}"/>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72CE3E8-F6B5-DCB4-D444-6EF2A26E7BCD}"/>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4DC1499D-3E7B-9979-ED66-B3DBC0AC70B3}"/>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3D30C769-5FF9-8E66-604F-7AE5ECE43379}"/>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0DD8180-E089-22D6-A4B9-6053C16412DF}"/>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9AF6A1C9-33D6-07E8-D771-38AD4221075E}"/>
              </a:ext>
            </a:extLst>
          </p:cNvPr>
          <p:cNvSpPr txBox="1">
            <a:spLocks/>
          </p:cNvSpPr>
          <p:nvPr/>
        </p:nvSpPr>
        <p:spPr>
          <a:xfrm>
            <a:off x="55803" y="774902"/>
            <a:ext cx="8624937" cy="41549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4.Timeout</a:t>
            </a:r>
          </a:p>
          <a:p>
            <a:r>
              <a:rPr lang="en-US" sz="1500" dirty="0">
                <a:solidFill>
                  <a:schemeClr val="accent6"/>
                </a:solidFill>
                <a:latin typeface="Google Sans"/>
                <a:ea typeface="+mn-ea"/>
                <a:cs typeface="+mn-cs"/>
              </a:rPr>
              <a:t>A timeout is the maximum time a client waits for a response before giving up.         </a:t>
            </a:r>
          </a:p>
          <a:p>
            <a:r>
              <a:rPr lang="en-US" sz="1500" dirty="0">
                <a:solidFill>
                  <a:schemeClr val="accent2"/>
                </a:solidFill>
                <a:latin typeface="Google Sans"/>
                <a:ea typeface="+mn-ea"/>
                <a:cs typeface="+mn-cs"/>
              </a:rPr>
              <a:t>Types of timeouts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Connection timeout – server unreachable         </a:t>
            </a:r>
          </a:p>
          <a:p>
            <a:r>
              <a:rPr lang="en-US" sz="1500" dirty="0">
                <a:solidFill>
                  <a:schemeClr val="accent6"/>
                </a:solidFill>
                <a:latin typeface="Google Sans"/>
                <a:ea typeface="+mn-ea"/>
                <a:cs typeface="+mn-cs"/>
              </a:rPr>
              <a:t>Read timeout – server slow to respond       </a:t>
            </a:r>
          </a:p>
          <a:p>
            <a:r>
              <a:rPr lang="en-US" sz="1500" dirty="0">
                <a:solidFill>
                  <a:schemeClr val="accent6"/>
                </a:solidFill>
                <a:latin typeface="Google Sans"/>
                <a:ea typeface="+mn-ea"/>
                <a:cs typeface="+mn-cs"/>
              </a:rPr>
              <a:t>Write timeout – unable to send data         </a:t>
            </a:r>
          </a:p>
          <a:p>
            <a:r>
              <a:rPr lang="en-US" sz="1500" dirty="0">
                <a:solidFill>
                  <a:schemeClr val="accent6"/>
                </a:solidFill>
                <a:latin typeface="Google Sans"/>
                <a:ea typeface="+mn-ea"/>
                <a:cs typeface="+mn-cs"/>
              </a:rPr>
              <a:t>Session timeout -	Inactivity limit          </a:t>
            </a:r>
          </a:p>
          <a:p>
            <a:r>
              <a:rPr lang="en-US" sz="1500" dirty="0">
                <a:solidFill>
                  <a:schemeClr val="accent6"/>
                </a:solidFill>
                <a:latin typeface="Google Sans"/>
                <a:ea typeface="+mn-ea"/>
                <a:cs typeface="+mn-cs"/>
              </a:rPr>
              <a:t>Execution timeout -	Max allowed runtime          </a:t>
            </a:r>
          </a:p>
          <a:p>
            <a:r>
              <a:rPr lang="en-US" sz="1500" dirty="0">
                <a:solidFill>
                  <a:schemeClr val="accent2"/>
                </a:solidFill>
                <a:latin typeface="Google Sans"/>
                <a:ea typeface="+mn-ea"/>
                <a:cs typeface="+mn-cs"/>
              </a:rPr>
              <a:t>Why timeouts exist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Prevent infinite waiting     </a:t>
            </a:r>
          </a:p>
          <a:p>
            <a:r>
              <a:rPr lang="en-US" sz="1500" dirty="0">
                <a:solidFill>
                  <a:schemeClr val="accent6"/>
                </a:solidFill>
                <a:latin typeface="Google Sans"/>
                <a:ea typeface="+mn-ea"/>
                <a:cs typeface="+mn-cs"/>
              </a:rPr>
              <a:t>Improve fault tolerance      </a:t>
            </a:r>
          </a:p>
          <a:p>
            <a:r>
              <a:rPr lang="en-US" sz="1500" dirty="0">
                <a:solidFill>
                  <a:schemeClr val="accent6"/>
                </a:solidFill>
                <a:latin typeface="Google Sans"/>
                <a:ea typeface="+mn-ea"/>
                <a:cs typeface="+mn-cs"/>
              </a:rPr>
              <a:t>Enable retries and fallbacks     </a:t>
            </a:r>
          </a:p>
          <a:p>
            <a:r>
              <a:rPr lang="en-US" sz="1500" dirty="0">
                <a:solidFill>
                  <a:schemeClr val="accent2"/>
                </a:solidFill>
                <a:latin typeface="Google Sans"/>
                <a:ea typeface="+mn-ea"/>
                <a:cs typeface="+mn-cs"/>
              </a:rPr>
              <a:t>📌 Example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Timeout = 5s     </a:t>
            </a:r>
          </a:p>
          <a:p>
            <a:r>
              <a:rPr lang="en-US" sz="1500" dirty="0">
                <a:solidFill>
                  <a:schemeClr val="accent6"/>
                </a:solidFill>
                <a:latin typeface="Google Sans"/>
                <a:ea typeface="+mn-ea"/>
                <a:cs typeface="+mn-cs"/>
              </a:rPr>
              <a:t>Server responds in 6s → request fails         </a:t>
            </a:r>
          </a:p>
          <a:p>
            <a:r>
              <a:rPr lang="en-US" sz="1500" dirty="0">
                <a:solidFill>
                  <a:schemeClr val="accent2"/>
                </a:solidFill>
                <a:latin typeface="Google Sans"/>
                <a:ea typeface="+mn-ea"/>
                <a:cs typeface="+mn-cs"/>
              </a:rPr>
              <a:t>📌 Tip: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A timeout does NOT mean server failed — it means the client stopped waiting.        </a:t>
            </a:r>
          </a:p>
          <a:p>
            <a:r>
              <a:rPr lang="en-US" sz="1500" dirty="0">
                <a:solidFill>
                  <a:schemeClr val="accent6"/>
                </a:solidFill>
                <a:latin typeface="Google Sans"/>
                <a:ea typeface="+mn-ea"/>
                <a:cs typeface="+mn-cs"/>
              </a:rPr>
              <a:t>       </a:t>
            </a:r>
          </a:p>
        </p:txBody>
      </p:sp>
    </p:spTree>
    <p:extLst>
      <p:ext uri="{BB962C8B-B14F-4D97-AF65-F5344CB8AC3E}">
        <p14:creationId xmlns:p14="http://schemas.microsoft.com/office/powerpoint/2010/main" val="199381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C6A98-5460-9BEC-3840-7D864FB457F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A3BF656-C174-D5A2-76F5-380A2E117498}"/>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E1ADE82-22AE-4DB2-0B96-7A8FB4BEA63A}"/>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17830FA-2162-5C20-5162-2D599F8ED039}"/>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E1C2AE6B-8E84-6F63-3981-5D82D7C2A8A9}"/>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104F3CD-85BC-F835-C5B7-90CB49DEB72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813FC41-554B-F6CA-D66B-9734E97866E3}"/>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F63E73BF-2CEF-D52C-670E-09391242E843}"/>
              </a:ext>
            </a:extLst>
          </p:cNvPr>
          <p:cNvSpPr txBox="1">
            <a:spLocks/>
          </p:cNvSpPr>
          <p:nvPr/>
        </p:nvSpPr>
        <p:spPr>
          <a:xfrm>
            <a:off x="55803" y="774902"/>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Head-of-Line (</a:t>
            </a:r>
            <a:r>
              <a:rPr lang="en-US" sz="1500" dirty="0" err="1">
                <a:solidFill>
                  <a:schemeClr val="accent2"/>
                </a:solidFill>
                <a:latin typeface="Google Sans"/>
                <a:ea typeface="+mn-ea"/>
                <a:cs typeface="+mn-cs"/>
              </a:rPr>
              <a:t>HoL</a:t>
            </a:r>
            <a:r>
              <a:rPr lang="en-US" sz="1500" dirty="0">
                <a:solidFill>
                  <a:schemeClr val="accent2"/>
                </a:solidFill>
                <a:latin typeface="Google Sans"/>
                <a:ea typeface="+mn-ea"/>
                <a:cs typeface="+mn-cs"/>
              </a:rPr>
              <a:t>) Blocking</a:t>
            </a:r>
          </a:p>
          <a:p>
            <a:r>
              <a:rPr lang="en-US" sz="1500" dirty="0">
                <a:solidFill>
                  <a:schemeClr val="accent6"/>
                </a:solidFill>
                <a:latin typeface="Google Sans"/>
                <a:ea typeface="+mn-ea"/>
                <a:cs typeface="+mn-cs"/>
              </a:rPr>
              <a:t>Head-of-Line blocking happens when one slow request blocks all following requests.          </a:t>
            </a:r>
          </a:p>
          <a:p>
            <a:r>
              <a:rPr lang="en-US" sz="1500" dirty="0">
                <a:solidFill>
                  <a:schemeClr val="accent2"/>
                </a:solidFill>
                <a:latin typeface="Google Sans"/>
                <a:ea typeface="+mn-ea"/>
                <a:cs typeface="+mn-cs"/>
              </a:rPr>
              <a:t>Where </a:t>
            </a:r>
            <a:r>
              <a:rPr lang="en-US" sz="1500" dirty="0" err="1">
                <a:solidFill>
                  <a:schemeClr val="accent2"/>
                </a:solidFill>
                <a:latin typeface="Google Sans"/>
                <a:ea typeface="+mn-ea"/>
                <a:cs typeface="+mn-cs"/>
              </a:rPr>
              <a:t>HoL</a:t>
            </a:r>
            <a:r>
              <a:rPr lang="en-US" sz="1500" dirty="0">
                <a:solidFill>
                  <a:schemeClr val="accent2"/>
                </a:solidFill>
                <a:latin typeface="Google Sans"/>
                <a:ea typeface="+mn-ea"/>
                <a:cs typeface="+mn-cs"/>
              </a:rPr>
              <a:t> Blocking happens</a:t>
            </a:r>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a. Networking (most common example)                </a:t>
            </a:r>
          </a:p>
          <a:p>
            <a:r>
              <a:rPr lang="en-US" sz="1500" dirty="0">
                <a:solidFill>
                  <a:schemeClr val="accent6"/>
                </a:solidFill>
                <a:latin typeface="Google Sans"/>
                <a:ea typeface="+mn-ea"/>
                <a:cs typeface="+mn-cs"/>
              </a:rPr>
              <a:t>TCP-level </a:t>
            </a:r>
            <a:r>
              <a:rPr lang="en-US" sz="1500" dirty="0" err="1">
                <a:solidFill>
                  <a:schemeClr val="accent6"/>
                </a:solidFill>
                <a:latin typeface="Google Sans"/>
                <a:ea typeface="+mn-ea"/>
                <a:cs typeface="+mn-cs"/>
              </a:rPr>
              <a:t>HoL</a:t>
            </a:r>
            <a:r>
              <a:rPr lang="en-US" sz="1500" dirty="0">
                <a:solidFill>
                  <a:schemeClr val="accent6"/>
                </a:solidFill>
                <a:latin typeface="Google Sans"/>
                <a:ea typeface="+mn-ea"/>
                <a:cs typeface="+mn-cs"/>
              </a:rPr>
              <a:t> Blocking       </a:t>
            </a:r>
          </a:p>
          <a:p>
            <a:r>
              <a:rPr lang="en-US" sz="1500" dirty="0">
                <a:solidFill>
                  <a:schemeClr val="accent6"/>
                </a:solidFill>
                <a:latin typeface="Google Sans"/>
                <a:ea typeface="+mn-ea"/>
                <a:cs typeface="+mn-cs"/>
              </a:rPr>
              <a:t>TCP guarantees in-order delivery         </a:t>
            </a:r>
          </a:p>
          <a:p>
            <a:r>
              <a:rPr lang="en-US" sz="1500" dirty="0">
                <a:solidFill>
                  <a:schemeClr val="accent6"/>
                </a:solidFill>
                <a:latin typeface="Google Sans"/>
                <a:ea typeface="+mn-ea"/>
                <a:cs typeface="+mn-cs"/>
              </a:rPr>
              <a:t>If packet #1 is lost, packet #2 and #3 cannot be delivered to the application until #1 is retransmitted              </a:t>
            </a:r>
          </a:p>
          <a:p>
            <a:r>
              <a:rPr lang="en-US" sz="1500" dirty="0">
                <a:solidFill>
                  <a:schemeClr val="accent6"/>
                </a:solidFill>
                <a:latin typeface="Google Sans"/>
                <a:ea typeface="+mn-ea"/>
                <a:cs typeface="+mn-cs"/>
              </a:rPr>
              <a:t>➡️ Even if packet #2 arrived successfully, it must wait        </a:t>
            </a:r>
          </a:p>
          <a:p>
            <a:r>
              <a:rPr lang="en-US" sz="1500" dirty="0">
                <a:solidFill>
                  <a:schemeClr val="accent6"/>
                </a:solidFill>
                <a:latin typeface="Google Sans"/>
                <a:ea typeface="+mn-ea"/>
                <a:cs typeface="+mn-cs"/>
              </a:rPr>
              <a:t>✔️ Happens in HTTP/1.1 and HTTP/2 over TCP        </a:t>
            </a:r>
          </a:p>
          <a:p>
            <a:r>
              <a:rPr lang="en-US" sz="1500" dirty="0">
                <a:solidFill>
                  <a:schemeClr val="accent2"/>
                </a:solidFill>
                <a:latin typeface="Google Sans"/>
                <a:ea typeface="+mn-ea"/>
                <a:cs typeface="+mn-cs"/>
              </a:rPr>
              <a:t>b. HTTP Protocols        </a:t>
            </a:r>
          </a:p>
          <a:p>
            <a:r>
              <a:rPr lang="en-US" sz="1500" dirty="0">
                <a:solidFill>
                  <a:schemeClr val="accent6"/>
                </a:solidFill>
                <a:latin typeface="Google Sans"/>
                <a:ea typeface="+mn-ea"/>
                <a:cs typeface="+mn-cs"/>
              </a:rPr>
              <a:t>🔹 HTTP/1.1       </a:t>
            </a:r>
          </a:p>
          <a:p>
            <a:r>
              <a:rPr lang="en-US" sz="1500" dirty="0">
                <a:solidFill>
                  <a:schemeClr val="accent6"/>
                </a:solidFill>
                <a:latin typeface="Google Sans"/>
                <a:ea typeface="+mn-ea"/>
                <a:cs typeface="+mn-cs"/>
              </a:rPr>
              <a:t>Uses one request at a time per connection         </a:t>
            </a:r>
          </a:p>
          <a:p>
            <a:r>
              <a:rPr lang="en-US" sz="1500" dirty="0">
                <a:solidFill>
                  <a:schemeClr val="accent6"/>
                </a:solidFill>
                <a:latin typeface="Google Sans"/>
                <a:ea typeface="+mn-ea"/>
                <a:cs typeface="+mn-cs"/>
              </a:rPr>
              <a:t>If one request is slow, all subsequent requests wait        </a:t>
            </a:r>
          </a:p>
          <a:p>
            <a:r>
              <a:rPr lang="en-US" sz="1500" dirty="0">
                <a:solidFill>
                  <a:schemeClr val="accent6"/>
                </a:solidFill>
                <a:latin typeface="Google Sans"/>
                <a:ea typeface="+mn-ea"/>
                <a:cs typeface="+mn-cs"/>
              </a:rPr>
              <a:t>➡️ Severe </a:t>
            </a:r>
            <a:r>
              <a:rPr lang="en-US" sz="1500" dirty="0" err="1">
                <a:solidFill>
                  <a:schemeClr val="accent6"/>
                </a:solidFill>
                <a:latin typeface="Google Sans"/>
                <a:ea typeface="+mn-ea"/>
                <a:cs typeface="+mn-cs"/>
              </a:rPr>
              <a:t>HoL</a:t>
            </a:r>
            <a:r>
              <a:rPr lang="en-US" sz="1500" dirty="0">
                <a:solidFill>
                  <a:schemeClr val="accent6"/>
                </a:solidFill>
                <a:latin typeface="Google Sans"/>
                <a:ea typeface="+mn-ea"/>
                <a:cs typeface="+mn-cs"/>
              </a:rPr>
              <a:t> blocking       </a:t>
            </a:r>
          </a:p>
          <a:p>
            <a:r>
              <a:rPr lang="en-US" sz="1500" dirty="0">
                <a:solidFill>
                  <a:schemeClr val="accent6"/>
                </a:solidFill>
                <a:latin typeface="Google Sans"/>
                <a:ea typeface="+mn-ea"/>
                <a:cs typeface="+mn-cs"/>
              </a:rPr>
              <a:t>🔹 HTTP/2      </a:t>
            </a:r>
          </a:p>
          <a:p>
            <a:r>
              <a:rPr lang="en-US" sz="1500" dirty="0">
                <a:solidFill>
                  <a:schemeClr val="accent6"/>
                </a:solidFill>
                <a:latin typeface="Google Sans"/>
                <a:ea typeface="+mn-ea"/>
                <a:cs typeface="+mn-cs"/>
              </a:rPr>
              <a:t>Introduced multiplexing (multiple streams in one connection)        </a:t>
            </a:r>
          </a:p>
          <a:p>
            <a:r>
              <a:rPr lang="en-US" sz="1500" dirty="0">
                <a:solidFill>
                  <a:schemeClr val="accent6"/>
                </a:solidFill>
                <a:latin typeface="Google Sans"/>
                <a:ea typeface="+mn-ea"/>
                <a:cs typeface="+mn-cs"/>
              </a:rPr>
              <a:t>BUT still runs over TCP       </a:t>
            </a:r>
          </a:p>
          <a:p>
            <a:r>
              <a:rPr lang="en-US" sz="1500" dirty="0">
                <a:solidFill>
                  <a:schemeClr val="accent6"/>
                </a:solidFill>
                <a:latin typeface="Google Sans"/>
                <a:ea typeface="+mn-ea"/>
                <a:cs typeface="+mn-cs"/>
              </a:rPr>
              <a:t>If one TCP packet is lost:       </a:t>
            </a:r>
          </a:p>
          <a:p>
            <a:r>
              <a:rPr lang="en-US" sz="1500" dirty="0">
                <a:solidFill>
                  <a:schemeClr val="accent6"/>
                </a:solidFill>
                <a:latin typeface="Google Sans"/>
                <a:ea typeface="+mn-ea"/>
                <a:cs typeface="+mn-cs"/>
              </a:rPr>
              <a:t>All streams pause, not just the affected one        </a:t>
            </a:r>
          </a:p>
          <a:p>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HoL</a:t>
            </a:r>
            <a:r>
              <a:rPr lang="en-US" sz="1500" dirty="0">
                <a:solidFill>
                  <a:schemeClr val="accent6"/>
                </a:solidFill>
                <a:latin typeface="Google Sans"/>
                <a:ea typeface="+mn-ea"/>
                <a:cs typeface="+mn-cs"/>
              </a:rPr>
              <a:t> blocking still exists at the transport layer       </a:t>
            </a:r>
          </a:p>
          <a:p>
            <a:r>
              <a:rPr lang="en-US" sz="1500" dirty="0">
                <a:solidFill>
                  <a:schemeClr val="accent6"/>
                </a:solidFill>
                <a:latin typeface="Google Sans"/>
                <a:ea typeface="+mn-ea"/>
                <a:cs typeface="+mn-cs"/>
              </a:rPr>
              <a:t>🔹 HTTP/3 (Solution!)       </a:t>
            </a:r>
          </a:p>
          <a:p>
            <a:r>
              <a:rPr lang="en-US" sz="1500" dirty="0">
                <a:solidFill>
                  <a:schemeClr val="accent6"/>
                </a:solidFill>
                <a:latin typeface="Google Sans"/>
                <a:ea typeface="+mn-ea"/>
                <a:cs typeface="+mn-cs"/>
              </a:rPr>
              <a:t>Runs over QUIC (UDP-based)       </a:t>
            </a:r>
          </a:p>
          <a:p>
            <a:r>
              <a:rPr lang="en-US" sz="1500" dirty="0">
                <a:solidFill>
                  <a:schemeClr val="accent6"/>
                </a:solidFill>
                <a:latin typeface="Google Sans"/>
                <a:ea typeface="+mn-ea"/>
                <a:cs typeface="+mn-cs"/>
              </a:rPr>
              <a:t>Each stream is independent</a:t>
            </a:r>
          </a:p>
        </p:txBody>
      </p:sp>
    </p:spTree>
    <p:extLst>
      <p:ext uri="{BB962C8B-B14F-4D97-AF65-F5344CB8AC3E}">
        <p14:creationId xmlns:p14="http://schemas.microsoft.com/office/powerpoint/2010/main" val="29537960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D6E92-A543-223F-2CDC-B378041E696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FBCC68E-C400-073C-54E1-C721040A50CB}"/>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5A1AEB0-68AF-C231-7DAD-4CE3EE509BDB}"/>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391A4BF-8773-D55B-DAD8-6A30AFFF911C}"/>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D0FF3BAD-39CC-92B9-A4DD-6A2138092B4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457F0E09-94D7-79E0-FE88-896840C7C77A}"/>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134C5AB-35A2-81BD-0183-3DD948EDE8A1}"/>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321961FC-AD53-EE02-F85B-6D08E9300E8D}"/>
              </a:ext>
            </a:extLst>
          </p:cNvPr>
          <p:cNvSpPr txBox="1">
            <a:spLocks/>
          </p:cNvSpPr>
          <p:nvPr/>
        </p:nvSpPr>
        <p:spPr>
          <a:xfrm>
            <a:off x="55803" y="774902"/>
            <a:ext cx="8624937" cy="39241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Head-of-Line (</a:t>
            </a:r>
            <a:r>
              <a:rPr lang="en-US" sz="1500" dirty="0" err="1">
                <a:solidFill>
                  <a:schemeClr val="accent2"/>
                </a:solidFill>
                <a:latin typeface="Google Sans"/>
                <a:ea typeface="+mn-ea"/>
                <a:cs typeface="+mn-cs"/>
              </a:rPr>
              <a:t>HoL</a:t>
            </a:r>
            <a:r>
              <a:rPr lang="en-US" sz="1500" dirty="0">
                <a:solidFill>
                  <a:schemeClr val="accent2"/>
                </a:solidFill>
                <a:latin typeface="Google Sans"/>
                <a:ea typeface="+mn-ea"/>
                <a:cs typeface="+mn-cs"/>
              </a:rPr>
              <a:t>) Blocking</a:t>
            </a:r>
          </a:p>
          <a:p>
            <a:r>
              <a:rPr lang="en-US" sz="1500" dirty="0">
                <a:solidFill>
                  <a:schemeClr val="accent2"/>
                </a:solidFill>
                <a:latin typeface="Google Sans"/>
                <a:ea typeface="+mn-ea"/>
                <a:cs typeface="+mn-cs"/>
              </a:rPr>
              <a:t>b. HTTP Protocols        </a:t>
            </a:r>
          </a:p>
          <a:p>
            <a:r>
              <a:rPr lang="en-US" sz="1500" dirty="0">
                <a:solidFill>
                  <a:schemeClr val="accent6"/>
                </a:solidFill>
                <a:latin typeface="Google Sans"/>
                <a:ea typeface="+mn-ea"/>
                <a:cs typeface="+mn-cs"/>
              </a:rPr>
              <a:t>Packet loss in one stream does not block others        </a:t>
            </a:r>
          </a:p>
          <a:p>
            <a:r>
              <a:rPr lang="en-US" sz="1500" dirty="0">
                <a:solidFill>
                  <a:schemeClr val="accent6"/>
                </a:solidFill>
                <a:latin typeface="Google Sans"/>
                <a:ea typeface="+mn-ea"/>
                <a:cs typeface="+mn-cs"/>
              </a:rPr>
              <a:t>✅ No Head-of-Line blocking             </a:t>
            </a:r>
          </a:p>
          <a:p>
            <a:r>
              <a:rPr lang="en-US" sz="1500" dirty="0">
                <a:solidFill>
                  <a:schemeClr val="accent6"/>
                </a:solidFill>
                <a:latin typeface="Google Sans"/>
                <a:ea typeface="+mn-ea"/>
                <a:cs typeface="+mn-cs"/>
              </a:rPr>
              <a:t>Operating Systems / Queues         </a:t>
            </a:r>
          </a:p>
          <a:p>
            <a:r>
              <a:rPr lang="en-US" sz="1500" dirty="0">
                <a:solidFill>
                  <a:schemeClr val="accent6"/>
                </a:solidFill>
                <a:latin typeface="Google Sans"/>
                <a:ea typeface="+mn-ea"/>
                <a:cs typeface="+mn-cs"/>
              </a:rPr>
              <a:t>A single-threaded queue            </a:t>
            </a:r>
          </a:p>
          <a:p>
            <a:r>
              <a:rPr lang="en-US" sz="1500" dirty="0">
                <a:solidFill>
                  <a:schemeClr val="accent6"/>
                </a:solidFill>
                <a:latin typeface="Google Sans"/>
                <a:ea typeface="+mn-ea"/>
                <a:cs typeface="+mn-cs"/>
              </a:rPr>
              <a:t>One slow task at the front blocks all others              </a:t>
            </a:r>
          </a:p>
          <a:p>
            <a:r>
              <a:rPr lang="en-US" sz="1500" dirty="0">
                <a:solidFill>
                  <a:schemeClr val="accent2"/>
                </a:solidFill>
                <a:latin typeface="Google Sans"/>
                <a:ea typeface="+mn-ea"/>
                <a:cs typeface="+mn-cs"/>
              </a:rPr>
              <a:t>How </a:t>
            </a:r>
            <a:r>
              <a:rPr lang="en-US" sz="1500" dirty="0" err="1">
                <a:solidFill>
                  <a:schemeClr val="accent2"/>
                </a:solidFill>
                <a:latin typeface="Google Sans"/>
                <a:ea typeface="+mn-ea"/>
                <a:cs typeface="+mn-cs"/>
              </a:rPr>
              <a:t>HoL</a:t>
            </a:r>
            <a:r>
              <a:rPr lang="en-US" sz="1500" dirty="0">
                <a:solidFill>
                  <a:schemeClr val="accent2"/>
                </a:solidFill>
                <a:latin typeface="Google Sans"/>
                <a:ea typeface="+mn-ea"/>
                <a:cs typeface="+mn-cs"/>
              </a:rPr>
              <a:t> Blocking is solved 🛠️</a:t>
            </a:r>
          </a:p>
          <a:p>
            <a:r>
              <a:rPr lang="en-US" sz="1500" dirty="0">
                <a:solidFill>
                  <a:schemeClr val="accent2"/>
                </a:solidFill>
                <a:latin typeface="Google Sans"/>
                <a:ea typeface="+mn-ea"/>
                <a:cs typeface="+mn-cs"/>
              </a:rPr>
              <a:t>Approach	                                                               How it helps         </a:t>
            </a:r>
          </a:p>
          <a:p>
            <a:r>
              <a:rPr lang="en-US" sz="1500" dirty="0">
                <a:solidFill>
                  <a:schemeClr val="accent6"/>
                </a:solidFill>
                <a:latin typeface="Google Sans"/>
                <a:ea typeface="+mn-ea"/>
                <a:cs typeface="+mn-cs"/>
              </a:rPr>
              <a:t>Multiplexing	                                         Allows parallel requests       </a:t>
            </a:r>
          </a:p>
          <a:p>
            <a:r>
              <a:rPr lang="en-US" sz="1500" dirty="0">
                <a:solidFill>
                  <a:schemeClr val="accent6"/>
                </a:solidFill>
                <a:latin typeface="Google Sans"/>
                <a:ea typeface="+mn-ea"/>
                <a:cs typeface="+mn-cs"/>
              </a:rPr>
              <a:t>Multiple connections	                                         Avoids single queue        </a:t>
            </a:r>
          </a:p>
          <a:p>
            <a:r>
              <a:rPr lang="en-US" sz="1500" dirty="0">
                <a:solidFill>
                  <a:schemeClr val="accent6"/>
                </a:solidFill>
                <a:latin typeface="Google Sans"/>
                <a:ea typeface="+mn-ea"/>
                <a:cs typeface="+mn-cs"/>
              </a:rPr>
              <a:t>HTTP/3 / QUIC	                                         Removes TCP-level </a:t>
            </a:r>
            <a:r>
              <a:rPr lang="en-US" sz="1500" dirty="0" err="1">
                <a:solidFill>
                  <a:schemeClr val="accent6"/>
                </a:solidFill>
                <a:latin typeface="Google Sans"/>
                <a:ea typeface="+mn-ea"/>
                <a:cs typeface="+mn-cs"/>
              </a:rPr>
              <a:t>HoL</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Asynchronous / multi-threaded design             Prevents queue blocking          </a:t>
            </a:r>
          </a:p>
          <a:p>
            <a:r>
              <a:rPr lang="en-US" sz="1500" dirty="0">
                <a:solidFill>
                  <a:schemeClr val="accent6"/>
                </a:solidFill>
                <a:latin typeface="Google Sans"/>
                <a:ea typeface="+mn-ea"/>
                <a:cs typeface="+mn-cs"/>
              </a:rPr>
              <a:t>Prioritization	                                          Important tasks go first          </a:t>
            </a:r>
          </a:p>
          <a:p>
            <a:r>
              <a:rPr lang="en-US" sz="1500" dirty="0">
                <a:solidFill>
                  <a:schemeClr val="accent2"/>
                </a:solidFill>
                <a:latin typeface="Google Sans"/>
                <a:ea typeface="+mn-ea"/>
                <a:cs typeface="+mn-cs"/>
              </a:rPr>
              <a:t>📌 One-liner: </a:t>
            </a:r>
            <a:r>
              <a:rPr lang="en-US" sz="1500" dirty="0">
                <a:solidFill>
                  <a:schemeClr val="accent6"/>
                </a:solidFill>
                <a:latin typeface="Google Sans"/>
                <a:ea typeface="+mn-ea"/>
                <a:cs typeface="+mn-cs"/>
              </a:rPr>
              <a:t>          </a:t>
            </a:r>
          </a:p>
          <a:p>
            <a:r>
              <a:rPr lang="en-US" sz="1500" dirty="0" err="1">
                <a:solidFill>
                  <a:schemeClr val="accent6"/>
                </a:solidFill>
                <a:latin typeface="Google Sans"/>
                <a:ea typeface="+mn-ea"/>
                <a:cs typeface="+mn-cs"/>
              </a:rPr>
              <a:t>HoL</a:t>
            </a:r>
            <a:r>
              <a:rPr lang="en-US" sz="1500" dirty="0">
                <a:solidFill>
                  <a:schemeClr val="accent6"/>
                </a:solidFill>
                <a:latin typeface="Google Sans"/>
                <a:ea typeface="+mn-ea"/>
                <a:cs typeface="+mn-cs"/>
              </a:rPr>
              <a:t> blocking occurs when ordered delivery causes fast requests to wait behind slow ones.                  </a:t>
            </a:r>
          </a:p>
          <a:p>
            <a:r>
              <a:rPr lang="en-US" sz="1500" dirty="0">
                <a:solidFill>
                  <a:schemeClr val="accent6"/>
                </a:solidFill>
                <a:latin typeface="Google Sans"/>
                <a:ea typeface="+mn-ea"/>
                <a:cs typeface="+mn-cs"/>
              </a:rPr>
              <a:t>Removing order and running things in isolation(parallel) makes systems come out of </a:t>
            </a:r>
            <a:r>
              <a:rPr lang="en-US" sz="1500" dirty="0" err="1">
                <a:solidFill>
                  <a:schemeClr val="accent6"/>
                </a:solidFill>
                <a:latin typeface="Google Sans"/>
                <a:ea typeface="+mn-ea"/>
                <a:cs typeface="+mn-cs"/>
              </a:rPr>
              <a:t>HoL</a:t>
            </a:r>
            <a:r>
              <a:rPr lang="en-US" sz="1500" dirty="0">
                <a:solidFill>
                  <a:schemeClr val="accent6"/>
                </a:solidFill>
                <a:latin typeface="Google Sans"/>
                <a:ea typeface="+mn-ea"/>
                <a:cs typeface="+mn-cs"/>
              </a:rPr>
              <a:t> issue.   </a:t>
            </a:r>
          </a:p>
        </p:txBody>
      </p:sp>
    </p:spTree>
    <p:extLst>
      <p:ext uri="{BB962C8B-B14F-4D97-AF65-F5344CB8AC3E}">
        <p14:creationId xmlns:p14="http://schemas.microsoft.com/office/powerpoint/2010/main" val="7463536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1192E-1EE8-5A66-B260-170B9270B93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E02D710-D51B-A545-0DF3-2DDBB6210F4C}"/>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23209F6-8B49-74BE-435C-5557691CF04F}"/>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CA87D6F-3B72-ED1C-6B28-07321F34BA26}"/>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65AD1BEC-D2A9-D4A5-48AB-74A676260A37}"/>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7213823-A330-DCE6-6531-DC43C63805C1}"/>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9A487ED0-3BAA-00EE-DAC7-687BD5703F6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BB5A9583-B4BD-30BB-E8BA-081BBA39C92B}"/>
              </a:ext>
            </a:extLst>
          </p:cNvPr>
          <p:cNvSpPr txBox="1">
            <a:spLocks/>
          </p:cNvSpPr>
          <p:nvPr/>
        </p:nvSpPr>
        <p:spPr>
          <a:xfrm>
            <a:off x="55803" y="774902"/>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NAT (Network Address Translation)</a:t>
            </a:r>
          </a:p>
          <a:p>
            <a:r>
              <a:rPr lang="en-US" sz="1500" dirty="0">
                <a:solidFill>
                  <a:schemeClr val="accent6"/>
                </a:solidFill>
                <a:latin typeface="Google Sans"/>
                <a:ea typeface="+mn-ea"/>
                <a:cs typeface="+mn-cs"/>
              </a:rPr>
              <a:t>NAT allows multiple private devices to share a single public IP address(with different ports).                </a:t>
            </a:r>
          </a:p>
          <a:p>
            <a:r>
              <a:rPr lang="en-US" sz="1500" dirty="0">
                <a:solidFill>
                  <a:schemeClr val="accent2"/>
                </a:solidFill>
                <a:latin typeface="Google Sans"/>
                <a:ea typeface="+mn-ea"/>
                <a:cs typeface="+mn-cs"/>
              </a:rPr>
              <a:t>Why NAT exists        </a:t>
            </a:r>
          </a:p>
          <a:p>
            <a:r>
              <a:rPr lang="en-US" sz="1500" dirty="0">
                <a:solidFill>
                  <a:schemeClr val="accent6"/>
                </a:solidFill>
                <a:latin typeface="Google Sans"/>
                <a:ea typeface="+mn-ea"/>
                <a:cs typeface="+mn-cs"/>
              </a:rPr>
              <a:t>IPv4 address shortage          </a:t>
            </a:r>
          </a:p>
          <a:p>
            <a:r>
              <a:rPr lang="en-US" sz="1500" dirty="0">
                <a:solidFill>
                  <a:schemeClr val="accent6"/>
                </a:solidFill>
                <a:latin typeface="Google Sans"/>
                <a:ea typeface="+mn-ea"/>
                <a:cs typeface="+mn-cs"/>
              </a:rPr>
              <a:t>Security (hides internal network)     </a:t>
            </a:r>
          </a:p>
          <a:p>
            <a:r>
              <a:rPr lang="en-US" sz="1500" dirty="0">
                <a:solidFill>
                  <a:schemeClr val="accent6"/>
                </a:solidFill>
                <a:latin typeface="Google Sans"/>
                <a:ea typeface="+mn-ea"/>
                <a:cs typeface="+mn-cs"/>
              </a:rPr>
              <a:t>Cost efficiency: Fewer public IPs are required.      </a:t>
            </a:r>
          </a:p>
          <a:p>
            <a:r>
              <a:rPr lang="en-US" sz="1500" dirty="0">
                <a:solidFill>
                  <a:schemeClr val="accent6"/>
                </a:solidFill>
                <a:latin typeface="Google Sans"/>
                <a:ea typeface="+mn-ea"/>
                <a:cs typeface="+mn-cs"/>
              </a:rPr>
              <a:t>Easy internal network changes          </a:t>
            </a:r>
          </a:p>
          <a:p>
            <a:r>
              <a:rPr lang="en-US" sz="1500" dirty="0">
                <a:solidFill>
                  <a:schemeClr val="accent2"/>
                </a:solidFill>
                <a:latin typeface="Google Sans"/>
                <a:ea typeface="+mn-ea"/>
                <a:cs typeface="+mn-cs"/>
              </a:rPr>
              <a:t>How NAT works (simple example)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Your laptop has a private IP: 192.168.1.10           </a:t>
            </a:r>
          </a:p>
          <a:p>
            <a:r>
              <a:rPr lang="en-US" sz="1500" dirty="0">
                <a:solidFill>
                  <a:schemeClr val="accent6"/>
                </a:solidFill>
                <a:latin typeface="Google Sans"/>
                <a:ea typeface="+mn-ea"/>
                <a:cs typeface="+mn-cs"/>
              </a:rPr>
              <a:t>Your router has a public IP: 203.0.113.5           </a:t>
            </a:r>
          </a:p>
          <a:p>
            <a:r>
              <a:rPr lang="en-US" sz="1500" dirty="0">
                <a:solidFill>
                  <a:schemeClr val="accent6"/>
                </a:solidFill>
                <a:latin typeface="Google Sans"/>
                <a:ea typeface="+mn-ea"/>
                <a:cs typeface="+mn-cs"/>
              </a:rPr>
              <a:t>When your laptop accesses a website:          </a:t>
            </a:r>
          </a:p>
          <a:p>
            <a:r>
              <a:rPr lang="en-US" sz="1500" dirty="0">
                <a:solidFill>
                  <a:schemeClr val="accent6"/>
                </a:solidFill>
                <a:latin typeface="Google Sans"/>
                <a:ea typeface="+mn-ea"/>
                <a:cs typeface="+mn-cs"/>
              </a:rPr>
              <a:t>The packet leaves your laptop with source IP 192.168.1.10            </a:t>
            </a:r>
          </a:p>
          <a:p>
            <a:r>
              <a:rPr lang="en-US" sz="1500" dirty="0">
                <a:solidFill>
                  <a:schemeClr val="accent6"/>
                </a:solidFill>
                <a:latin typeface="Google Sans"/>
                <a:ea typeface="+mn-ea"/>
                <a:cs typeface="+mn-cs"/>
              </a:rPr>
              <a:t>The router replaces it with 203.0.113.5         </a:t>
            </a:r>
          </a:p>
          <a:p>
            <a:r>
              <a:rPr lang="en-US" sz="1500" dirty="0">
                <a:solidFill>
                  <a:schemeClr val="accent6"/>
                </a:solidFill>
                <a:latin typeface="Google Sans"/>
                <a:ea typeface="+mn-ea"/>
                <a:cs typeface="+mn-cs"/>
              </a:rPr>
              <a:t>The router stores this mapping in a NAT table             </a:t>
            </a:r>
          </a:p>
          <a:p>
            <a:r>
              <a:rPr lang="en-US" sz="1500" dirty="0">
                <a:solidFill>
                  <a:schemeClr val="accent6"/>
                </a:solidFill>
                <a:latin typeface="Google Sans"/>
                <a:ea typeface="+mn-ea"/>
                <a:cs typeface="+mn-cs"/>
              </a:rPr>
              <a:t>When the response comes back, the router translates it back to 192.168.1.10Types of NAT         </a:t>
            </a:r>
          </a:p>
          <a:p>
            <a:r>
              <a:rPr lang="en-US" sz="1500" dirty="0">
                <a:solidFill>
                  <a:schemeClr val="accent2"/>
                </a:solidFill>
                <a:latin typeface="Google Sans"/>
                <a:ea typeface="+mn-ea"/>
                <a:cs typeface="+mn-cs"/>
              </a:rPr>
              <a:t>1. Static NAT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One private IP ↔ one public IP               </a:t>
            </a:r>
          </a:p>
          <a:p>
            <a:r>
              <a:rPr lang="en-US" sz="1500" dirty="0">
                <a:solidFill>
                  <a:schemeClr val="accent6"/>
                </a:solidFill>
                <a:latin typeface="Google Sans"/>
                <a:ea typeface="+mn-ea"/>
                <a:cs typeface="+mn-cs"/>
              </a:rPr>
              <a:t>Fixed mapping            </a:t>
            </a:r>
          </a:p>
          <a:p>
            <a:r>
              <a:rPr lang="en-US" sz="1500" dirty="0">
                <a:solidFill>
                  <a:schemeClr val="accent6"/>
                </a:solidFill>
                <a:latin typeface="Google Sans"/>
                <a:ea typeface="+mn-ea"/>
                <a:cs typeface="+mn-cs"/>
              </a:rPr>
              <a:t>Used for servers           </a:t>
            </a:r>
          </a:p>
          <a:p>
            <a:r>
              <a:rPr lang="en-US" sz="1500" dirty="0">
                <a:solidFill>
                  <a:schemeClr val="accent6"/>
                </a:solidFill>
                <a:latin typeface="Google Sans"/>
                <a:ea typeface="+mn-ea"/>
                <a:cs typeface="+mn-cs"/>
              </a:rPr>
              <a:t>📌 Example:         </a:t>
            </a:r>
          </a:p>
          <a:p>
            <a:r>
              <a:rPr lang="en-US" sz="1500" dirty="0">
                <a:solidFill>
                  <a:schemeClr val="accent6"/>
                </a:solidFill>
                <a:latin typeface="Google Sans"/>
                <a:ea typeface="+mn-ea"/>
                <a:cs typeface="+mn-cs"/>
              </a:rPr>
              <a:t>192.168.1.100 ↔ 203.0.113.10         </a:t>
            </a:r>
          </a:p>
        </p:txBody>
      </p:sp>
    </p:spTree>
    <p:extLst>
      <p:ext uri="{BB962C8B-B14F-4D97-AF65-F5344CB8AC3E}">
        <p14:creationId xmlns:p14="http://schemas.microsoft.com/office/powerpoint/2010/main" val="2590447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A911F-8D62-5E7E-97BD-B4255AC666D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67439D2-019E-25F7-FF2F-26644B6D1F8E}"/>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68B864E-F86E-DF7F-549A-69D098278861}"/>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CE0EEE7-AA61-DCBA-5F62-2AE03EC726CD}"/>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51C04817-1327-5527-EACC-23A4AFC846BD}"/>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F110FC17-6FBE-34F2-7017-48638BF5EC4E}"/>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C6DD5973-63E5-8F55-C70E-C700ED735B96}"/>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418187FC-35B3-75F6-FC9B-4A3C61EFA03A}"/>
              </a:ext>
            </a:extLst>
          </p:cNvPr>
          <p:cNvSpPr txBox="1">
            <a:spLocks/>
          </p:cNvSpPr>
          <p:nvPr/>
        </p:nvSpPr>
        <p:spPr>
          <a:xfrm>
            <a:off x="55803" y="774902"/>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NAT (Network Address Translation)</a:t>
            </a:r>
          </a:p>
          <a:p>
            <a:r>
              <a:rPr lang="en-US" sz="1500" dirty="0">
                <a:solidFill>
                  <a:schemeClr val="accent2"/>
                </a:solidFill>
                <a:latin typeface="Google Sans"/>
                <a:ea typeface="+mn-ea"/>
                <a:cs typeface="+mn-cs"/>
              </a:rPr>
              <a:t>2. Dynamic NAT           </a:t>
            </a:r>
          </a:p>
          <a:p>
            <a:r>
              <a:rPr lang="en-US" sz="1500" dirty="0">
                <a:solidFill>
                  <a:schemeClr val="accent6"/>
                </a:solidFill>
                <a:latin typeface="Google Sans"/>
                <a:ea typeface="+mn-ea"/>
                <a:cs typeface="+mn-cs"/>
              </a:rPr>
              <a:t>Private IPs mapped to a pool of public IPs            </a:t>
            </a:r>
          </a:p>
          <a:p>
            <a:r>
              <a:rPr lang="en-US" sz="1500" dirty="0">
                <a:solidFill>
                  <a:schemeClr val="accent6"/>
                </a:solidFill>
                <a:latin typeface="Google Sans"/>
                <a:ea typeface="+mn-ea"/>
                <a:cs typeface="+mn-cs"/>
              </a:rPr>
              <a:t>Mapping changes dynamically            </a:t>
            </a:r>
          </a:p>
          <a:p>
            <a:r>
              <a:rPr lang="en-US" sz="1500" dirty="0">
                <a:solidFill>
                  <a:schemeClr val="accent2"/>
                </a:solidFill>
                <a:latin typeface="Google Sans"/>
                <a:ea typeface="+mn-ea"/>
                <a:cs typeface="+mn-cs"/>
              </a:rPr>
              <a:t>3. PAT / NAPT (Port Address Translation)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(Most common – used in home networks)          </a:t>
            </a:r>
          </a:p>
          <a:p>
            <a:r>
              <a:rPr lang="en-US" sz="1500" dirty="0">
                <a:solidFill>
                  <a:schemeClr val="accent6"/>
                </a:solidFill>
                <a:latin typeface="Google Sans"/>
                <a:ea typeface="+mn-ea"/>
                <a:cs typeface="+mn-cs"/>
              </a:rPr>
              <a:t>Multiple private IPs share one public IP           </a:t>
            </a:r>
          </a:p>
          <a:p>
            <a:r>
              <a:rPr lang="en-US" sz="1500" dirty="0">
                <a:solidFill>
                  <a:schemeClr val="accent6"/>
                </a:solidFill>
                <a:latin typeface="Google Sans"/>
                <a:ea typeface="+mn-ea"/>
                <a:cs typeface="+mn-cs"/>
              </a:rPr>
              <a:t>Differentiated using port numbers          </a:t>
            </a:r>
          </a:p>
          <a:p>
            <a:r>
              <a:rPr lang="en-US" sz="1500" dirty="0">
                <a:solidFill>
                  <a:schemeClr val="accent6"/>
                </a:solidFill>
                <a:latin typeface="Google Sans"/>
                <a:ea typeface="+mn-ea"/>
                <a:cs typeface="+mn-cs"/>
              </a:rPr>
              <a:t>📌 Example:        </a:t>
            </a:r>
          </a:p>
          <a:p>
            <a:r>
              <a:rPr lang="en-US" sz="1500" dirty="0">
                <a:solidFill>
                  <a:schemeClr val="accent6"/>
                </a:solidFill>
                <a:latin typeface="Google Sans"/>
                <a:ea typeface="+mn-ea"/>
                <a:cs typeface="+mn-cs"/>
              </a:rPr>
              <a:t>192.168.1.10:5001 → 203.0.113.5:30001         </a:t>
            </a:r>
          </a:p>
          <a:p>
            <a:r>
              <a:rPr lang="en-US" sz="1500" dirty="0">
                <a:solidFill>
                  <a:schemeClr val="accent6"/>
                </a:solidFill>
                <a:latin typeface="Google Sans"/>
                <a:ea typeface="+mn-ea"/>
                <a:cs typeface="+mn-cs"/>
              </a:rPr>
              <a:t>192.168.1.11:5002 → 203.0.113.5:30002            </a:t>
            </a:r>
          </a:p>
          <a:p>
            <a:r>
              <a:rPr lang="en-US" sz="1500" dirty="0">
                <a:solidFill>
                  <a:schemeClr val="accent2"/>
                </a:solidFill>
                <a:latin typeface="Google Sans"/>
                <a:ea typeface="+mn-ea"/>
                <a:cs typeface="+mn-cs"/>
              </a:rPr>
              <a:t>4. SNAT &amp; DNAT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SNAT (Source NAT)          </a:t>
            </a:r>
          </a:p>
          <a:p>
            <a:r>
              <a:rPr lang="en-US" sz="1500" dirty="0">
                <a:solidFill>
                  <a:schemeClr val="accent6"/>
                </a:solidFill>
                <a:latin typeface="Google Sans"/>
                <a:ea typeface="+mn-ea"/>
                <a:cs typeface="+mn-cs"/>
              </a:rPr>
              <a:t>Changes source IP (outgoing traffic)              </a:t>
            </a:r>
          </a:p>
          <a:p>
            <a:r>
              <a:rPr lang="en-US" sz="1500" dirty="0">
                <a:solidFill>
                  <a:schemeClr val="accent6"/>
                </a:solidFill>
                <a:latin typeface="Google Sans"/>
                <a:ea typeface="+mn-ea"/>
                <a:cs typeface="+mn-cs"/>
              </a:rPr>
              <a:t>DNAT (Destination NAT)           </a:t>
            </a:r>
          </a:p>
          <a:p>
            <a:r>
              <a:rPr lang="en-US" sz="1500" dirty="0">
                <a:solidFill>
                  <a:schemeClr val="accent6"/>
                </a:solidFill>
                <a:latin typeface="Google Sans"/>
                <a:ea typeface="+mn-ea"/>
                <a:cs typeface="+mn-cs"/>
              </a:rPr>
              <a:t>Changes destination IP (incoming traffic)            </a:t>
            </a:r>
          </a:p>
          <a:p>
            <a:r>
              <a:rPr lang="en-US" sz="1500" dirty="0">
                <a:solidFill>
                  <a:schemeClr val="accent6"/>
                </a:solidFill>
                <a:latin typeface="Google Sans"/>
                <a:ea typeface="+mn-ea"/>
                <a:cs typeface="+mn-cs"/>
              </a:rPr>
              <a:t>Used in port forwarding         </a:t>
            </a:r>
          </a:p>
          <a:p>
            <a:r>
              <a:rPr lang="en-US" sz="1500" dirty="0">
                <a:solidFill>
                  <a:schemeClr val="accent2"/>
                </a:solidFill>
                <a:latin typeface="Google Sans"/>
                <a:ea typeface="+mn-ea"/>
                <a:cs typeface="+mn-cs"/>
              </a:rPr>
              <a:t>📌 Side effects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Harder for peer-to-peer communication         </a:t>
            </a:r>
          </a:p>
          <a:p>
            <a:r>
              <a:rPr lang="en-US" sz="1500" dirty="0">
                <a:solidFill>
                  <a:schemeClr val="accent6"/>
                </a:solidFill>
                <a:latin typeface="Google Sans"/>
                <a:ea typeface="+mn-ea"/>
                <a:cs typeface="+mn-cs"/>
              </a:rPr>
              <a:t>Needs NAT traversal (STUN, TURN)</a:t>
            </a: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2141348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41EB6-E176-6BC6-AA78-E15E53201D5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E7D56F1-4B71-1A7C-4D5F-C77309B3B53D}"/>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B854434-D3CE-CF48-7EDB-76B83852AE25}"/>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4480D33-1DB1-2A55-9368-30306DCCE2DB}"/>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ABA00ABF-9B46-073E-40F1-C79DF2B48C1E}"/>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BD8A0000-E872-3DDC-B2C0-4CC0A264A24B}"/>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F323745-69DB-96BB-D9EB-A6CD962E5235}"/>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294E3017-226F-7760-6B15-68535C8EE03E}"/>
              </a:ext>
            </a:extLst>
          </p:cNvPr>
          <p:cNvSpPr txBox="1">
            <a:spLocks/>
          </p:cNvSpPr>
          <p:nvPr/>
        </p:nvSpPr>
        <p:spPr>
          <a:xfrm>
            <a:off x="55803" y="774902"/>
            <a:ext cx="8624937" cy="36933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NAT (Network Address Translation)</a:t>
            </a:r>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Disadvantages of NAT        </a:t>
            </a:r>
          </a:p>
          <a:p>
            <a:r>
              <a:rPr lang="en-US" sz="1500" dirty="0">
                <a:solidFill>
                  <a:schemeClr val="accent6"/>
                </a:solidFill>
                <a:latin typeface="Google Sans"/>
                <a:ea typeface="+mn-ea"/>
                <a:cs typeface="+mn-cs"/>
              </a:rPr>
              <a:t>❌ Breaks end-to-end connectivity         </a:t>
            </a:r>
          </a:p>
          <a:p>
            <a:r>
              <a:rPr lang="en-US" sz="1500" dirty="0">
                <a:solidFill>
                  <a:schemeClr val="accent6"/>
                </a:solidFill>
                <a:latin typeface="Google Sans"/>
                <a:ea typeface="+mn-ea"/>
                <a:cs typeface="+mn-cs"/>
              </a:rPr>
              <a:t>❌ Causes issues with some protocols (VoIP, IPsec)        </a:t>
            </a:r>
          </a:p>
          <a:p>
            <a:r>
              <a:rPr lang="en-US" sz="1500" dirty="0">
                <a:solidFill>
                  <a:schemeClr val="accent6"/>
                </a:solidFill>
                <a:latin typeface="Google Sans"/>
                <a:ea typeface="+mn-ea"/>
                <a:cs typeface="+mn-cs"/>
              </a:rPr>
              <a:t>❌ Adds processing overhead         </a:t>
            </a:r>
          </a:p>
          <a:p>
            <a:r>
              <a:rPr lang="en-US" sz="1500" dirty="0">
                <a:solidFill>
                  <a:schemeClr val="accent2"/>
                </a:solidFill>
                <a:latin typeface="Google Sans"/>
                <a:ea typeface="+mn-ea"/>
                <a:cs typeface="+mn-cs"/>
              </a:rPr>
              <a:t>One-line summary           </a:t>
            </a:r>
          </a:p>
          <a:p>
            <a:r>
              <a:rPr lang="en-US" sz="1500" dirty="0">
                <a:solidFill>
                  <a:schemeClr val="accent6"/>
                </a:solidFill>
                <a:latin typeface="Google Sans"/>
                <a:ea typeface="+mn-ea"/>
                <a:cs typeface="+mn-cs"/>
              </a:rPr>
              <a:t>NAT allows multiple private devices to access the Internet using one public IP by translating IP addresses and ports.             </a:t>
            </a:r>
          </a:p>
          <a:p>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 Quick Summary</a:t>
            </a:r>
          </a:p>
          <a:p>
            <a:r>
              <a:rPr lang="en-US" sz="1500" dirty="0">
                <a:solidFill>
                  <a:schemeClr val="accent6"/>
                </a:solidFill>
                <a:latin typeface="Google Sans"/>
                <a:ea typeface="+mn-ea"/>
                <a:cs typeface="+mn-cs"/>
              </a:rPr>
              <a:t>API call → DNS → TCP → TLS → HTTP → Response           </a:t>
            </a:r>
          </a:p>
          <a:p>
            <a:r>
              <a:rPr lang="en-US" sz="1500" dirty="0">
                <a:solidFill>
                  <a:schemeClr val="accent6"/>
                </a:solidFill>
                <a:latin typeface="Google Sans"/>
                <a:ea typeface="+mn-ea"/>
                <a:cs typeface="+mn-cs"/>
              </a:rPr>
              <a:t>TCP vs UDP → reliability vs speed            </a:t>
            </a:r>
          </a:p>
          <a:p>
            <a:r>
              <a:rPr lang="en-US" sz="1500" dirty="0">
                <a:solidFill>
                  <a:schemeClr val="accent6"/>
                </a:solidFill>
                <a:latin typeface="Google Sans"/>
                <a:ea typeface="+mn-ea"/>
                <a:cs typeface="+mn-cs"/>
              </a:rPr>
              <a:t>RTT → fundamental unit of latency           </a:t>
            </a:r>
          </a:p>
          <a:p>
            <a:r>
              <a:rPr lang="en-US" sz="1500" dirty="0">
                <a:solidFill>
                  <a:schemeClr val="accent6"/>
                </a:solidFill>
                <a:latin typeface="Google Sans"/>
                <a:ea typeface="+mn-ea"/>
                <a:cs typeface="+mn-cs"/>
              </a:rPr>
              <a:t>Timeout → client-side failure control        </a:t>
            </a:r>
          </a:p>
          <a:p>
            <a:r>
              <a:rPr lang="en-US" sz="1500" dirty="0" err="1">
                <a:solidFill>
                  <a:schemeClr val="accent6"/>
                </a:solidFill>
                <a:latin typeface="Google Sans"/>
                <a:ea typeface="+mn-ea"/>
                <a:cs typeface="+mn-cs"/>
              </a:rPr>
              <a:t>HoL</a:t>
            </a:r>
            <a:r>
              <a:rPr lang="en-US" sz="1500" dirty="0">
                <a:solidFill>
                  <a:schemeClr val="accent6"/>
                </a:solidFill>
                <a:latin typeface="Google Sans"/>
                <a:ea typeface="+mn-ea"/>
                <a:cs typeface="+mn-cs"/>
              </a:rPr>
              <a:t> blocking → ordered delivery bottleneck       </a:t>
            </a:r>
          </a:p>
          <a:p>
            <a:r>
              <a:rPr lang="en-US" sz="1500" dirty="0">
                <a:solidFill>
                  <a:schemeClr val="accent6"/>
                </a:solidFill>
                <a:latin typeface="Google Sans"/>
                <a:ea typeface="+mn-ea"/>
                <a:cs typeface="+mn-cs"/>
              </a:rPr>
              <a:t>NAT → multiple devices share one public IP </a:t>
            </a:r>
          </a:p>
        </p:txBody>
      </p:sp>
    </p:spTree>
    <p:extLst>
      <p:ext uri="{BB962C8B-B14F-4D97-AF65-F5344CB8AC3E}">
        <p14:creationId xmlns:p14="http://schemas.microsoft.com/office/powerpoint/2010/main" val="26711309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E9E77-8983-BFF5-710C-82C4C5B77F2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FEBBBB7-EC0C-C1B6-4CC0-00B91CFDE656}"/>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6DECFF4-CAD6-6F71-0E3A-07F2447533A4}"/>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D63D106-05D8-3A01-C8B8-B52CD0FE5D51}"/>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065DA606-C774-F345-1683-1D4CC9DA1924}"/>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745C4541-431C-9A5C-E2BC-35D8512325EF}"/>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1216F39B-1E74-4C02-B116-00B76BF91B2C}"/>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95CC79B0-EEBD-9B06-93D3-F20248584B1B}"/>
              </a:ext>
            </a:extLst>
          </p:cNvPr>
          <p:cNvSpPr txBox="1">
            <a:spLocks/>
          </p:cNvSpPr>
          <p:nvPr/>
        </p:nvSpPr>
        <p:spPr>
          <a:xfrm>
            <a:off x="55803" y="774902"/>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What is a Distributed System?         </a:t>
            </a:r>
          </a:p>
          <a:p>
            <a:r>
              <a:rPr lang="en-US" sz="1500" dirty="0">
                <a:solidFill>
                  <a:schemeClr val="accent6"/>
                </a:solidFill>
                <a:latin typeface="Google Sans"/>
                <a:ea typeface="+mn-ea"/>
                <a:cs typeface="+mn-cs"/>
              </a:rPr>
              <a:t>A distributed system is a system where multiple machines coordinate to achieve a common goal while communicating through messages.       </a:t>
            </a:r>
          </a:p>
          <a:p>
            <a:r>
              <a:rPr lang="en-US" sz="1500" dirty="0">
                <a:solidFill>
                  <a:schemeClr val="accent2"/>
                </a:solidFill>
                <a:latin typeface="Google Sans"/>
                <a:ea typeface="+mn-ea"/>
                <a:cs typeface="+mn-cs"/>
              </a:rPr>
              <a:t>Key characteristics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Multiple nodes       </a:t>
            </a:r>
          </a:p>
          <a:p>
            <a:r>
              <a:rPr lang="en-US" sz="1500" dirty="0">
                <a:solidFill>
                  <a:schemeClr val="accent6"/>
                </a:solidFill>
                <a:latin typeface="Google Sans"/>
                <a:ea typeface="+mn-ea"/>
                <a:cs typeface="+mn-cs"/>
              </a:rPr>
              <a:t>Computers are physically separate         </a:t>
            </a:r>
          </a:p>
          <a:p>
            <a:r>
              <a:rPr lang="en-US" sz="1500" dirty="0">
                <a:solidFill>
                  <a:schemeClr val="accent6"/>
                </a:solidFill>
                <a:latin typeface="Google Sans"/>
                <a:ea typeface="+mn-ea"/>
                <a:cs typeface="+mn-cs"/>
              </a:rPr>
              <a:t>Each has its own CPU, memory, and storage         </a:t>
            </a:r>
          </a:p>
          <a:p>
            <a:r>
              <a:rPr lang="en-US" sz="1500" dirty="0">
                <a:solidFill>
                  <a:schemeClr val="accent6"/>
                </a:solidFill>
                <a:latin typeface="Google Sans"/>
                <a:ea typeface="+mn-ea"/>
                <a:cs typeface="+mn-cs"/>
              </a:rPr>
              <a:t>Network communication       </a:t>
            </a:r>
          </a:p>
          <a:p>
            <a:r>
              <a:rPr lang="en-US" sz="1500" dirty="0">
                <a:solidFill>
                  <a:schemeClr val="accent6"/>
                </a:solidFill>
                <a:latin typeface="Google Sans"/>
                <a:ea typeface="+mn-ea"/>
                <a:cs typeface="+mn-cs"/>
              </a:rPr>
              <a:t>Nodes communicate via messages (HTTP, RPC, </a:t>
            </a:r>
            <a:r>
              <a:rPr lang="en-US" sz="1500" dirty="0" err="1">
                <a:solidFill>
                  <a:schemeClr val="accent6"/>
                </a:solidFill>
                <a:latin typeface="Google Sans"/>
                <a:ea typeface="+mn-ea"/>
                <a:cs typeface="+mn-cs"/>
              </a:rPr>
              <a:t>gRPC</a:t>
            </a:r>
            <a:r>
              <a:rPr lang="en-US" sz="1500" dirty="0">
                <a:solidFill>
                  <a:schemeClr val="accent6"/>
                </a:solidFill>
                <a:latin typeface="Google Sans"/>
                <a:ea typeface="+mn-ea"/>
                <a:cs typeface="+mn-cs"/>
              </a:rPr>
              <a:t>, sockets, etc.)           </a:t>
            </a:r>
          </a:p>
          <a:p>
            <a:r>
              <a:rPr lang="en-US" sz="1500" dirty="0">
                <a:solidFill>
                  <a:schemeClr val="accent6"/>
                </a:solidFill>
                <a:latin typeface="Google Sans"/>
                <a:ea typeface="+mn-ea"/>
                <a:cs typeface="+mn-cs"/>
              </a:rPr>
              <a:t>No shared memory        </a:t>
            </a:r>
          </a:p>
          <a:p>
            <a:r>
              <a:rPr lang="en-US" sz="1500" dirty="0">
                <a:solidFill>
                  <a:schemeClr val="accent6"/>
                </a:solidFill>
                <a:latin typeface="Google Sans"/>
                <a:ea typeface="+mn-ea"/>
                <a:cs typeface="+mn-cs"/>
              </a:rPr>
              <a:t>Concurrency        </a:t>
            </a:r>
          </a:p>
          <a:p>
            <a:r>
              <a:rPr lang="en-US" sz="1500" dirty="0">
                <a:solidFill>
                  <a:schemeClr val="accent6"/>
                </a:solidFill>
                <a:latin typeface="Google Sans"/>
                <a:ea typeface="+mn-ea"/>
                <a:cs typeface="+mn-cs"/>
              </a:rPr>
              <a:t>Many operations happen at the same time        </a:t>
            </a:r>
          </a:p>
          <a:p>
            <a:r>
              <a:rPr lang="en-US" sz="1500" dirty="0">
                <a:solidFill>
                  <a:schemeClr val="accent6"/>
                </a:solidFill>
                <a:latin typeface="Google Sans"/>
                <a:ea typeface="+mn-ea"/>
                <a:cs typeface="+mn-cs"/>
              </a:rPr>
              <a:t>No global clock       </a:t>
            </a:r>
          </a:p>
          <a:p>
            <a:r>
              <a:rPr lang="en-US" sz="1500" dirty="0">
                <a:solidFill>
                  <a:schemeClr val="accent6"/>
                </a:solidFill>
                <a:latin typeface="Google Sans"/>
                <a:ea typeface="+mn-ea"/>
                <a:cs typeface="+mn-cs"/>
              </a:rPr>
              <a:t>Each machine has its own time → synchronization is hard          </a:t>
            </a:r>
          </a:p>
          <a:p>
            <a:r>
              <a:rPr lang="en-US" sz="1500" dirty="0">
                <a:solidFill>
                  <a:schemeClr val="accent6"/>
                </a:solidFill>
                <a:latin typeface="Google Sans"/>
                <a:ea typeface="+mn-ea"/>
                <a:cs typeface="+mn-cs"/>
              </a:rPr>
              <a:t>Partial failures       </a:t>
            </a:r>
          </a:p>
          <a:p>
            <a:r>
              <a:rPr lang="en-US" sz="1500" dirty="0">
                <a:solidFill>
                  <a:schemeClr val="accent6"/>
                </a:solidFill>
                <a:latin typeface="Google Sans"/>
                <a:ea typeface="+mn-ea"/>
                <a:cs typeface="+mn-cs"/>
              </a:rPr>
              <a:t>One node may fail while others continue working            </a:t>
            </a:r>
          </a:p>
          <a:p>
            <a:r>
              <a:rPr lang="en-US" sz="1500" dirty="0">
                <a:solidFill>
                  <a:schemeClr val="accent2"/>
                </a:solidFill>
                <a:latin typeface="Google Sans"/>
                <a:ea typeface="+mn-ea"/>
                <a:cs typeface="+mn-cs"/>
              </a:rPr>
              <a:t>Example (real-world analogy)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Think of Google Drive:        </a:t>
            </a:r>
          </a:p>
          <a:p>
            <a:r>
              <a:rPr lang="en-US" sz="1500" dirty="0">
                <a:solidFill>
                  <a:schemeClr val="accent6"/>
                </a:solidFill>
                <a:latin typeface="Google Sans"/>
                <a:ea typeface="+mn-ea"/>
                <a:cs typeface="+mn-cs"/>
              </a:rPr>
              <a:t>Files are stored across many servers         </a:t>
            </a:r>
          </a:p>
          <a:p>
            <a:r>
              <a:rPr lang="en-US" sz="1500" dirty="0">
                <a:solidFill>
                  <a:schemeClr val="accent6"/>
                </a:solidFill>
                <a:latin typeface="Google Sans"/>
                <a:ea typeface="+mn-ea"/>
                <a:cs typeface="+mn-cs"/>
              </a:rPr>
              <a:t>If one server fails, your file is still available          </a:t>
            </a:r>
          </a:p>
          <a:p>
            <a:r>
              <a:rPr lang="en-US" sz="1500" dirty="0">
                <a:solidFill>
                  <a:schemeClr val="accent6"/>
                </a:solidFill>
                <a:latin typeface="Google Sans"/>
                <a:ea typeface="+mn-ea"/>
                <a:cs typeface="+mn-cs"/>
              </a:rPr>
              <a:t>To you, it feels like a single system       </a:t>
            </a:r>
          </a:p>
        </p:txBody>
      </p:sp>
    </p:spTree>
    <p:extLst>
      <p:ext uri="{BB962C8B-B14F-4D97-AF65-F5344CB8AC3E}">
        <p14:creationId xmlns:p14="http://schemas.microsoft.com/office/powerpoint/2010/main" val="3341293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541DB-C7E1-CCE0-88F3-B3EC2EFD5ED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6357109-C129-20A8-5216-709BEB3F4616}"/>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5CADD9E-034A-2363-D43A-BA1AFD192631}"/>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FF22215-E3BD-85D9-DC35-F27C4D3EE6D8}"/>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671AB526-55FD-1A0F-EEA1-8F6048E818A3}"/>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683E5257-CD26-0D79-57A3-DF43734B3F21}"/>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084AA868-41BE-2EC0-D62B-77A33EDCC25A}"/>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C054A216-F071-C066-3474-74D103A6B968}"/>
              </a:ext>
            </a:extLst>
          </p:cNvPr>
          <p:cNvSpPr txBox="1">
            <a:spLocks/>
          </p:cNvSpPr>
          <p:nvPr/>
        </p:nvSpPr>
        <p:spPr>
          <a:xfrm>
            <a:off x="55803" y="774902"/>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What is a Distributed System?         </a:t>
            </a:r>
          </a:p>
          <a:p>
            <a:r>
              <a:rPr lang="en-US" sz="1500" dirty="0">
                <a:solidFill>
                  <a:schemeClr val="accent2"/>
                </a:solidFill>
                <a:latin typeface="Google Sans"/>
                <a:ea typeface="+mn-ea"/>
                <a:cs typeface="+mn-cs"/>
              </a:rPr>
              <a:t>**Common examples        </a:t>
            </a:r>
          </a:p>
          <a:p>
            <a:r>
              <a:rPr lang="en-US" sz="1500" dirty="0">
                <a:solidFill>
                  <a:schemeClr val="accent2"/>
                </a:solidFill>
                <a:latin typeface="Google Sans"/>
                <a:ea typeface="+mn-ea"/>
                <a:cs typeface="+mn-cs"/>
              </a:rPr>
              <a:t>System	                                                                    Why it’s distributed</a:t>
            </a:r>
          </a:p>
          <a:p>
            <a:r>
              <a:rPr lang="en-US" sz="1500" dirty="0">
                <a:solidFill>
                  <a:schemeClr val="accent6"/>
                </a:solidFill>
                <a:latin typeface="Google Sans"/>
                <a:ea typeface="+mn-ea"/>
                <a:cs typeface="+mn-cs"/>
              </a:rPr>
              <a:t>Internet	                                                                    Millions of computers communicating</a:t>
            </a:r>
          </a:p>
          <a:p>
            <a:r>
              <a:rPr lang="en-US" sz="1500" dirty="0">
                <a:solidFill>
                  <a:schemeClr val="accent6"/>
                </a:solidFill>
                <a:latin typeface="Google Sans"/>
                <a:ea typeface="+mn-ea"/>
                <a:cs typeface="+mn-cs"/>
              </a:rPr>
              <a:t>Cloud services (AWS, Azure)	                         Data and services spread across data centers</a:t>
            </a:r>
          </a:p>
          <a:p>
            <a:r>
              <a:rPr lang="en-US" sz="1500" dirty="0">
                <a:solidFill>
                  <a:schemeClr val="accent6"/>
                </a:solidFill>
                <a:latin typeface="Google Sans"/>
                <a:ea typeface="+mn-ea"/>
                <a:cs typeface="+mn-cs"/>
              </a:rPr>
              <a:t>Microservices architecture	                         Each service runs independently</a:t>
            </a:r>
          </a:p>
          <a:p>
            <a:r>
              <a:rPr lang="en-US" sz="1500" dirty="0">
                <a:solidFill>
                  <a:schemeClr val="accent6"/>
                </a:solidFill>
                <a:latin typeface="Google Sans"/>
                <a:ea typeface="+mn-ea"/>
                <a:cs typeface="+mn-cs"/>
              </a:rPr>
              <a:t>Distributed databases (Cassandra, MongoDB)	    Data stored across multiple machines</a:t>
            </a:r>
          </a:p>
          <a:p>
            <a:r>
              <a:rPr lang="en-US" sz="1500" dirty="0">
                <a:solidFill>
                  <a:schemeClr val="accent6"/>
                </a:solidFill>
                <a:latin typeface="Google Sans"/>
                <a:ea typeface="+mn-ea"/>
                <a:cs typeface="+mn-cs"/>
              </a:rPr>
              <a:t>Hadoop / Spark	                                               Data processing across cluster</a:t>
            </a:r>
          </a:p>
          <a:p>
            <a:r>
              <a:rPr lang="en-US" sz="1500" dirty="0">
                <a:solidFill>
                  <a:schemeClr val="accent2"/>
                </a:solidFill>
                <a:latin typeface="Google Sans"/>
                <a:ea typeface="+mn-ea"/>
                <a:cs typeface="+mn-cs"/>
              </a:rPr>
              <a:t>One-liner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A distributed system is a set of independent computers that communicate and coordinate through a network to appear as a single system.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Why Do We Need Distributed Systems?         </a:t>
            </a:r>
          </a:p>
          <a:p>
            <a:r>
              <a:rPr lang="en-US" sz="1500" dirty="0">
                <a:solidFill>
                  <a:schemeClr val="accent6"/>
                </a:solidFill>
                <a:latin typeface="Google Sans"/>
                <a:ea typeface="+mn-ea"/>
                <a:cs typeface="+mn-cs"/>
              </a:rPr>
              <a:t>We need distributed systems because many real-world computing problems cannot be efficiently solved by a single machine. Distributed systems allow multiple independent computers (nodes) to work together as one system to achieve scale, reliability, and performance.          </a:t>
            </a:r>
          </a:p>
          <a:p>
            <a:r>
              <a:rPr lang="en-US" sz="1500" dirty="0">
                <a:solidFill>
                  <a:schemeClr val="accent2"/>
                </a:solidFill>
                <a:latin typeface="Google Sans"/>
                <a:ea typeface="+mn-ea"/>
                <a:cs typeface="+mn-cs"/>
              </a:rPr>
              <a:t>Below are the core reasons -          </a:t>
            </a:r>
          </a:p>
          <a:p>
            <a:r>
              <a:rPr lang="en-US" sz="1500" dirty="0">
                <a:solidFill>
                  <a:schemeClr val="accent2"/>
                </a:solidFill>
                <a:latin typeface="Google Sans"/>
                <a:ea typeface="+mn-ea"/>
                <a:cs typeface="+mn-cs"/>
              </a:rPr>
              <a:t>A. Scalability (Handle Growth)           </a:t>
            </a:r>
          </a:p>
          <a:p>
            <a:r>
              <a:rPr lang="en-US" sz="1500" dirty="0">
                <a:solidFill>
                  <a:schemeClr val="accent6"/>
                </a:solidFill>
                <a:latin typeface="Google Sans"/>
                <a:ea typeface="+mn-ea"/>
                <a:cs typeface="+mn-cs"/>
              </a:rPr>
              <a:t>A single machine has limited CPU, memory, and storage.         </a:t>
            </a:r>
          </a:p>
          <a:p>
            <a:r>
              <a:rPr lang="en-US" sz="1500" dirty="0">
                <a:solidFill>
                  <a:schemeClr val="accent2"/>
                </a:solidFill>
                <a:latin typeface="Google Sans"/>
                <a:ea typeface="+mn-ea"/>
                <a:cs typeface="+mn-cs"/>
              </a:rPr>
              <a:t>Distributed systems allow:</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Horizontal scaling → add more machines instead of upgrading one         </a:t>
            </a:r>
          </a:p>
          <a:p>
            <a:r>
              <a:rPr lang="en-US" sz="1500" dirty="0">
                <a:solidFill>
                  <a:schemeClr val="accent6"/>
                </a:solidFill>
                <a:latin typeface="Google Sans"/>
                <a:ea typeface="+mn-ea"/>
                <a:cs typeface="+mn-cs"/>
              </a:rPr>
              <a:t>Support for millions of users and huge data volumes        </a:t>
            </a:r>
          </a:p>
        </p:txBody>
      </p:sp>
    </p:spTree>
    <p:extLst>
      <p:ext uri="{BB962C8B-B14F-4D97-AF65-F5344CB8AC3E}">
        <p14:creationId xmlns:p14="http://schemas.microsoft.com/office/powerpoint/2010/main" val="23611259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7AA12-FD0B-F2BF-3D8A-BC9BEE2F879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3B33596-3FFB-0154-34A2-60D840F4CD40}"/>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AE5FA94-DE22-804B-F742-449CA530A661}"/>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9B3516E-7ACA-B27C-B81F-0BE7518C15FE}"/>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546F8276-6B64-CA13-6C3D-D3CCED24F6D2}"/>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1AE5CA36-91EC-2311-65B0-1D2E2466230D}"/>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A5AF614-7A41-1E08-AF6B-1E6A7C94DAAC}"/>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5927C5BC-0D03-8F10-3272-4A668CCC214D}"/>
              </a:ext>
            </a:extLst>
          </p:cNvPr>
          <p:cNvSpPr txBox="1">
            <a:spLocks/>
          </p:cNvSpPr>
          <p:nvPr/>
        </p:nvSpPr>
        <p:spPr>
          <a:xfrm>
            <a:off x="55803" y="774902"/>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Why Do We Need Distributed Systems?         </a:t>
            </a:r>
          </a:p>
          <a:p>
            <a:r>
              <a:rPr lang="en-US" sz="1500" dirty="0">
                <a:solidFill>
                  <a:schemeClr val="accent2"/>
                </a:solidFill>
                <a:latin typeface="Google Sans"/>
                <a:ea typeface="+mn-ea"/>
                <a:cs typeface="+mn-cs"/>
              </a:rPr>
              <a:t>Below are the core reasons -          </a:t>
            </a:r>
          </a:p>
          <a:p>
            <a:r>
              <a:rPr lang="en-US" sz="1500" dirty="0">
                <a:solidFill>
                  <a:schemeClr val="accent2"/>
                </a:solidFill>
                <a:latin typeface="Google Sans"/>
                <a:ea typeface="+mn-ea"/>
                <a:cs typeface="+mn-cs"/>
              </a:rPr>
              <a:t>Example:       </a:t>
            </a:r>
          </a:p>
          <a:p>
            <a:r>
              <a:rPr lang="en-US" sz="1500" dirty="0">
                <a:solidFill>
                  <a:schemeClr val="accent6"/>
                </a:solidFill>
                <a:latin typeface="Google Sans"/>
                <a:ea typeface="+mn-ea"/>
                <a:cs typeface="+mn-cs"/>
              </a:rPr>
              <a:t>Google Search       </a:t>
            </a:r>
          </a:p>
          <a:p>
            <a:r>
              <a:rPr lang="en-US" sz="1500" dirty="0">
                <a:solidFill>
                  <a:schemeClr val="accent6"/>
                </a:solidFill>
                <a:latin typeface="Google Sans"/>
                <a:ea typeface="+mn-ea"/>
                <a:cs typeface="+mn-cs"/>
              </a:rPr>
              <a:t>Facebook        </a:t>
            </a:r>
          </a:p>
          <a:p>
            <a:r>
              <a:rPr lang="en-US" sz="1500" dirty="0">
                <a:solidFill>
                  <a:schemeClr val="accent6"/>
                </a:solidFill>
                <a:latin typeface="Google Sans"/>
                <a:ea typeface="+mn-ea"/>
                <a:cs typeface="+mn-cs"/>
              </a:rPr>
              <a:t>Netflix       </a:t>
            </a:r>
          </a:p>
          <a:p>
            <a:r>
              <a:rPr lang="en-US" sz="1500" dirty="0">
                <a:solidFill>
                  <a:schemeClr val="accent6"/>
                </a:solidFill>
                <a:latin typeface="Google Sans"/>
                <a:ea typeface="+mn-ea"/>
                <a:cs typeface="+mn-cs"/>
              </a:rPr>
              <a:t>👉 Without distributed systems, these would crash under load.         </a:t>
            </a:r>
          </a:p>
          <a:p>
            <a:r>
              <a:rPr lang="en-US" sz="1500" dirty="0">
                <a:solidFill>
                  <a:schemeClr val="accent2"/>
                </a:solidFill>
                <a:latin typeface="Google Sans"/>
                <a:ea typeface="+mn-ea"/>
                <a:cs typeface="+mn-cs"/>
              </a:rPr>
              <a:t>B. High Availability (Always On)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Hardware and software fail.       </a:t>
            </a:r>
          </a:p>
          <a:p>
            <a:r>
              <a:rPr lang="en-US" sz="1500" dirty="0">
                <a:solidFill>
                  <a:schemeClr val="accent2"/>
                </a:solidFill>
                <a:latin typeface="Google Sans"/>
                <a:ea typeface="+mn-ea"/>
                <a:cs typeface="+mn-cs"/>
              </a:rPr>
              <a:t>Distributed systems: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Replicate data and services across multiple nodes         </a:t>
            </a:r>
          </a:p>
          <a:p>
            <a:r>
              <a:rPr lang="en-US" sz="1500" dirty="0">
                <a:solidFill>
                  <a:schemeClr val="accent6"/>
                </a:solidFill>
                <a:latin typeface="Google Sans"/>
                <a:ea typeface="+mn-ea"/>
                <a:cs typeface="+mn-cs"/>
              </a:rPr>
              <a:t>Continue working even if some machines fail        </a:t>
            </a:r>
          </a:p>
          <a:p>
            <a:r>
              <a:rPr lang="en-US" sz="1500" dirty="0">
                <a:solidFill>
                  <a:schemeClr val="accent2"/>
                </a:solidFill>
                <a:latin typeface="Google Sans"/>
                <a:ea typeface="+mn-ea"/>
                <a:cs typeface="+mn-cs"/>
              </a:rPr>
              <a:t>Example:</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If one server goes down, another serves the request          </a:t>
            </a:r>
          </a:p>
          <a:p>
            <a:r>
              <a:rPr lang="en-US" sz="1500" dirty="0">
                <a:solidFill>
                  <a:schemeClr val="accent6"/>
                </a:solidFill>
                <a:latin typeface="Google Sans"/>
                <a:ea typeface="+mn-ea"/>
                <a:cs typeface="+mn-cs"/>
              </a:rPr>
              <a:t>Banking, e-commerce, cloud services         </a:t>
            </a:r>
          </a:p>
          <a:p>
            <a:r>
              <a:rPr lang="en-US" sz="1500" dirty="0">
                <a:solidFill>
                  <a:schemeClr val="accent6"/>
                </a:solidFill>
                <a:latin typeface="Google Sans"/>
                <a:ea typeface="+mn-ea"/>
                <a:cs typeface="+mn-cs"/>
              </a:rPr>
              <a:t>👉 Single-machine systems have a single point of failure.</a:t>
            </a:r>
          </a:p>
          <a:p>
            <a:r>
              <a:rPr lang="en-US" sz="1500" dirty="0">
                <a:solidFill>
                  <a:schemeClr val="accent2"/>
                </a:solidFill>
                <a:latin typeface="Google Sans"/>
                <a:ea typeface="+mn-ea"/>
                <a:cs typeface="+mn-cs"/>
              </a:rPr>
              <a:t>C. Fault Tolerance (Failure Is Normal)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Failures are expected, not exceptional.        </a:t>
            </a:r>
          </a:p>
          <a:p>
            <a:r>
              <a:rPr lang="en-US" sz="1500" dirty="0">
                <a:solidFill>
                  <a:schemeClr val="accent2"/>
                </a:solidFill>
                <a:latin typeface="Google Sans"/>
                <a:ea typeface="+mn-ea"/>
                <a:cs typeface="+mn-cs"/>
              </a:rPr>
              <a:t>Distributed systems: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Detect failures automatically      </a:t>
            </a:r>
          </a:p>
          <a:p>
            <a:r>
              <a:rPr lang="en-US" sz="1500" dirty="0">
                <a:solidFill>
                  <a:schemeClr val="accent6"/>
                </a:solidFill>
                <a:latin typeface="Google Sans"/>
                <a:ea typeface="+mn-ea"/>
                <a:cs typeface="+mn-cs"/>
              </a:rPr>
              <a:t>Recover using replicas and consensus protocols        </a:t>
            </a:r>
          </a:p>
        </p:txBody>
      </p:sp>
    </p:spTree>
    <p:extLst>
      <p:ext uri="{BB962C8B-B14F-4D97-AF65-F5344CB8AC3E}">
        <p14:creationId xmlns:p14="http://schemas.microsoft.com/office/powerpoint/2010/main" val="1446665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D688E-82B5-127A-605E-409F5EA0E6D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FD88DF0-34F2-8A2B-AA17-D02332326AD7}"/>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4FCEE20-E162-91AD-0C30-27310A21BFAB}"/>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6AB67F4-20D6-A2B2-8719-29DF5DCCE691}"/>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013253CD-6353-ADA8-9FFF-611122417A7D}"/>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A83D1BF1-9480-B9AD-56E0-F196BAE4D9C6}"/>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5FC05F1F-164F-30B4-5E60-69C911076143}"/>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DA68762B-29CC-F566-5C1C-93A4868529D6}"/>
              </a:ext>
            </a:extLst>
          </p:cNvPr>
          <p:cNvSpPr txBox="1">
            <a:spLocks/>
          </p:cNvSpPr>
          <p:nvPr/>
        </p:nvSpPr>
        <p:spPr>
          <a:xfrm>
            <a:off x="55803" y="774902"/>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Why Do We Need Distributed Systems?         </a:t>
            </a:r>
          </a:p>
          <a:p>
            <a:r>
              <a:rPr lang="en-US" sz="1500" dirty="0">
                <a:solidFill>
                  <a:schemeClr val="accent2"/>
                </a:solidFill>
                <a:latin typeface="Google Sans"/>
                <a:ea typeface="+mn-ea"/>
                <a:cs typeface="+mn-cs"/>
              </a:rPr>
              <a:t>C. Fault Tolerance (Failure Is Normal)   </a:t>
            </a:r>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Distributed systems: </a:t>
            </a:r>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Example:      </a:t>
            </a:r>
          </a:p>
          <a:p>
            <a:r>
              <a:rPr lang="en-US" sz="1500" dirty="0">
                <a:solidFill>
                  <a:schemeClr val="accent6"/>
                </a:solidFill>
                <a:latin typeface="Google Sans"/>
                <a:ea typeface="+mn-ea"/>
                <a:cs typeface="+mn-cs"/>
              </a:rPr>
              <a:t>Distributed databases (Cassandra, MongoDB)        </a:t>
            </a:r>
          </a:p>
          <a:p>
            <a:r>
              <a:rPr lang="en-US" sz="1500" dirty="0">
                <a:solidFill>
                  <a:schemeClr val="accent6"/>
                </a:solidFill>
                <a:latin typeface="Google Sans"/>
                <a:ea typeface="+mn-ea"/>
                <a:cs typeface="+mn-cs"/>
              </a:rPr>
              <a:t>Cloud storage (Google Drive, AWS S3)       </a:t>
            </a:r>
          </a:p>
          <a:p>
            <a:r>
              <a:rPr lang="en-US" sz="1500" dirty="0">
                <a:solidFill>
                  <a:schemeClr val="accent6"/>
                </a:solidFill>
                <a:latin typeface="Google Sans"/>
                <a:ea typeface="+mn-ea"/>
                <a:cs typeface="+mn-cs"/>
              </a:rPr>
              <a:t>👉 The system survives node crashes without data loss.          </a:t>
            </a:r>
          </a:p>
          <a:p>
            <a:r>
              <a:rPr lang="en-US" sz="1500" dirty="0">
                <a:solidFill>
                  <a:schemeClr val="accent2"/>
                </a:solidFill>
                <a:latin typeface="Google Sans"/>
                <a:ea typeface="+mn-ea"/>
                <a:cs typeface="+mn-cs"/>
              </a:rPr>
              <a:t>D. Better Performance (Parallelism)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Work can be done in parallel.      </a:t>
            </a:r>
          </a:p>
          <a:p>
            <a:r>
              <a:rPr lang="en-US" sz="1500" dirty="0">
                <a:solidFill>
                  <a:schemeClr val="accent2"/>
                </a:solidFill>
                <a:latin typeface="Google Sans"/>
                <a:ea typeface="+mn-ea"/>
                <a:cs typeface="+mn-cs"/>
              </a:rPr>
              <a:t>Distributed systems improve: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Throughput → more requests per second         </a:t>
            </a:r>
          </a:p>
          <a:p>
            <a:r>
              <a:rPr lang="en-US" sz="1500" dirty="0">
                <a:solidFill>
                  <a:schemeClr val="accent6"/>
                </a:solidFill>
                <a:latin typeface="Google Sans"/>
                <a:ea typeface="+mn-ea"/>
                <a:cs typeface="+mn-cs"/>
              </a:rPr>
              <a:t>Latency → serve users from nearby locations       </a:t>
            </a:r>
          </a:p>
          <a:p>
            <a:r>
              <a:rPr lang="en-US" sz="1500" dirty="0">
                <a:solidFill>
                  <a:schemeClr val="accent2"/>
                </a:solidFill>
                <a:latin typeface="Google Sans"/>
                <a:ea typeface="+mn-ea"/>
                <a:cs typeface="+mn-cs"/>
              </a:rPr>
              <a:t>Example: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MapReduce processing terabytes of data     </a:t>
            </a:r>
          </a:p>
          <a:p>
            <a:r>
              <a:rPr lang="en-US" sz="1500" dirty="0">
                <a:solidFill>
                  <a:schemeClr val="accent6"/>
                </a:solidFill>
                <a:latin typeface="Google Sans"/>
                <a:ea typeface="+mn-ea"/>
                <a:cs typeface="+mn-cs"/>
              </a:rPr>
              <a:t>CDNs serving content closer to users        </a:t>
            </a:r>
          </a:p>
          <a:p>
            <a:r>
              <a:rPr lang="en-US" sz="1500" dirty="0">
                <a:solidFill>
                  <a:schemeClr val="accent2"/>
                </a:solidFill>
                <a:latin typeface="Google Sans"/>
                <a:ea typeface="+mn-ea"/>
                <a:cs typeface="+mn-cs"/>
              </a:rPr>
              <a:t>E. Geographic Distribution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Users are spread across the globe.       </a:t>
            </a:r>
          </a:p>
          <a:p>
            <a:r>
              <a:rPr lang="en-US" sz="1500" dirty="0">
                <a:solidFill>
                  <a:schemeClr val="accent2"/>
                </a:solidFill>
                <a:latin typeface="Google Sans"/>
                <a:ea typeface="+mn-ea"/>
                <a:cs typeface="+mn-cs"/>
              </a:rPr>
              <a:t>Distributed systems: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Place servers closer to users       </a:t>
            </a:r>
          </a:p>
          <a:p>
            <a:r>
              <a:rPr lang="en-US" sz="1500" dirty="0">
                <a:solidFill>
                  <a:schemeClr val="accent6"/>
                </a:solidFill>
                <a:latin typeface="Google Sans"/>
                <a:ea typeface="+mn-ea"/>
                <a:cs typeface="+mn-cs"/>
              </a:rPr>
              <a:t>Reduce network delay       </a:t>
            </a:r>
          </a:p>
          <a:p>
            <a:r>
              <a:rPr lang="en-US" sz="1500" dirty="0">
                <a:solidFill>
                  <a:schemeClr val="accent2"/>
                </a:solidFill>
                <a:latin typeface="Google Sans"/>
                <a:ea typeface="+mn-ea"/>
                <a:cs typeface="+mn-cs"/>
              </a:rPr>
              <a:t>Example: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YouTube videos load faster from nearby data centers       </a:t>
            </a:r>
          </a:p>
          <a:p>
            <a:r>
              <a:rPr lang="en-US" sz="1500" dirty="0">
                <a:solidFill>
                  <a:schemeClr val="accent6"/>
                </a:solidFill>
                <a:latin typeface="Google Sans"/>
                <a:ea typeface="+mn-ea"/>
                <a:cs typeface="+mn-cs"/>
              </a:rPr>
              <a:t>Online games reduce lag         </a:t>
            </a:r>
          </a:p>
        </p:txBody>
      </p:sp>
    </p:spTree>
    <p:extLst>
      <p:ext uri="{BB962C8B-B14F-4D97-AF65-F5344CB8AC3E}">
        <p14:creationId xmlns:p14="http://schemas.microsoft.com/office/powerpoint/2010/main" val="39344187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460C4-382B-D41A-71DC-9165B12FBC3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8397199-E9C9-0CFE-90E0-4AA32753E39A}"/>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71FD68A-93AF-4469-6233-6EC6A91EBB05}"/>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2D58950-B270-1652-ACC7-A57CEECD9408}"/>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760DF069-188C-37CB-E4CA-0E62EA9E918B}"/>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757C519-46E1-2315-E16E-4BDACAC41619}"/>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53EB8716-C38C-7AC5-AC53-ACAC8F31E1C5}"/>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BD4329B0-A64C-B2FE-4242-1EA0C5F17EC4}"/>
              </a:ext>
            </a:extLst>
          </p:cNvPr>
          <p:cNvSpPr txBox="1">
            <a:spLocks/>
          </p:cNvSpPr>
          <p:nvPr/>
        </p:nvSpPr>
        <p:spPr>
          <a:xfrm>
            <a:off x="55803" y="774902"/>
            <a:ext cx="8624937" cy="553997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Why Do We Need Distributed Systems?         </a:t>
            </a:r>
          </a:p>
          <a:p>
            <a:r>
              <a:rPr lang="en-US" sz="1500" dirty="0">
                <a:solidFill>
                  <a:schemeClr val="accent2"/>
                </a:solidFill>
                <a:latin typeface="Google Sans"/>
                <a:ea typeface="+mn-ea"/>
                <a:cs typeface="+mn-cs"/>
              </a:rPr>
              <a:t>F. Cost Efficiency         </a:t>
            </a:r>
          </a:p>
          <a:p>
            <a:r>
              <a:rPr lang="en-US" sz="1500" dirty="0">
                <a:solidFill>
                  <a:schemeClr val="accent2"/>
                </a:solidFill>
                <a:latin typeface="Google Sans"/>
                <a:ea typeface="+mn-ea"/>
                <a:cs typeface="+mn-cs"/>
              </a:rPr>
              <a:t>Scaling a single powerful machine is: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Expensive      </a:t>
            </a:r>
          </a:p>
          <a:p>
            <a:r>
              <a:rPr lang="en-US" sz="1500" dirty="0">
                <a:solidFill>
                  <a:schemeClr val="accent6"/>
                </a:solidFill>
                <a:latin typeface="Google Sans"/>
                <a:ea typeface="+mn-ea"/>
                <a:cs typeface="+mn-cs"/>
              </a:rPr>
              <a:t>Limited       </a:t>
            </a:r>
          </a:p>
          <a:p>
            <a:r>
              <a:rPr lang="en-US" sz="1500" dirty="0">
                <a:solidFill>
                  <a:schemeClr val="accent2"/>
                </a:solidFill>
                <a:latin typeface="Google Sans"/>
                <a:ea typeface="+mn-ea"/>
                <a:cs typeface="+mn-cs"/>
              </a:rPr>
              <a:t>Distributed systems: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Use commodity hardware       </a:t>
            </a:r>
          </a:p>
          <a:p>
            <a:r>
              <a:rPr lang="en-US" sz="1500" dirty="0">
                <a:solidFill>
                  <a:schemeClr val="accent6"/>
                </a:solidFill>
                <a:latin typeface="Google Sans"/>
                <a:ea typeface="+mn-ea"/>
                <a:cs typeface="+mn-cs"/>
              </a:rPr>
              <a:t>Scale incrementally as demand grows         </a:t>
            </a:r>
          </a:p>
          <a:p>
            <a:r>
              <a:rPr lang="en-US" sz="1500" dirty="0">
                <a:solidFill>
                  <a:schemeClr val="accent6"/>
                </a:solidFill>
                <a:latin typeface="Google Sans"/>
                <a:ea typeface="+mn-ea"/>
                <a:cs typeface="+mn-cs"/>
              </a:rPr>
              <a:t>👉 Adding 10 small machines is often cheaper than buying 1 supercomputer.             </a:t>
            </a:r>
          </a:p>
          <a:p>
            <a:r>
              <a:rPr lang="en-US" sz="1500" dirty="0">
                <a:solidFill>
                  <a:schemeClr val="accent2"/>
                </a:solidFill>
                <a:latin typeface="Google Sans"/>
                <a:ea typeface="+mn-ea"/>
                <a:cs typeface="+mn-cs"/>
              </a:rPr>
              <a:t>G. Data Volume &amp; Big Data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Modern applications generate massive data.      </a:t>
            </a:r>
          </a:p>
          <a:p>
            <a:r>
              <a:rPr lang="en-US" sz="1500" dirty="0">
                <a:solidFill>
                  <a:schemeClr val="accent2"/>
                </a:solidFill>
                <a:latin typeface="Google Sans"/>
                <a:ea typeface="+mn-ea"/>
                <a:cs typeface="+mn-cs"/>
              </a:rPr>
              <a:t>Distributed systems: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Store data across multiple machines         </a:t>
            </a:r>
          </a:p>
          <a:p>
            <a:r>
              <a:rPr lang="en-US" sz="1500" dirty="0">
                <a:solidFill>
                  <a:schemeClr val="accent6"/>
                </a:solidFill>
                <a:latin typeface="Google Sans"/>
                <a:ea typeface="+mn-ea"/>
                <a:cs typeface="+mn-cs"/>
              </a:rPr>
              <a:t>Process large datasets efficiently        </a:t>
            </a:r>
          </a:p>
          <a:p>
            <a:r>
              <a:rPr lang="en-US" sz="1500" dirty="0">
                <a:solidFill>
                  <a:schemeClr val="accent2"/>
                </a:solidFill>
                <a:latin typeface="Google Sans"/>
                <a:ea typeface="+mn-ea"/>
                <a:cs typeface="+mn-cs"/>
              </a:rPr>
              <a:t>Example: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Hadoop        </a:t>
            </a:r>
          </a:p>
          <a:p>
            <a:r>
              <a:rPr lang="en-US" sz="1500" dirty="0">
                <a:solidFill>
                  <a:schemeClr val="accent6"/>
                </a:solidFill>
                <a:latin typeface="Google Sans"/>
                <a:ea typeface="+mn-ea"/>
                <a:cs typeface="+mn-cs"/>
              </a:rPr>
              <a:t>Spark       </a:t>
            </a:r>
          </a:p>
          <a:p>
            <a:r>
              <a:rPr lang="en-US" sz="1500" dirty="0">
                <a:solidFill>
                  <a:schemeClr val="accent6"/>
                </a:solidFill>
                <a:latin typeface="Google Sans"/>
                <a:ea typeface="+mn-ea"/>
                <a:cs typeface="+mn-cs"/>
              </a:rPr>
              <a:t>Distributed file systems (HDFS)        </a:t>
            </a:r>
          </a:p>
          <a:p>
            <a:r>
              <a:rPr lang="en-US" sz="1500" dirty="0">
                <a:solidFill>
                  <a:schemeClr val="accent2"/>
                </a:solidFill>
                <a:latin typeface="Google Sans"/>
                <a:ea typeface="+mn-ea"/>
                <a:cs typeface="+mn-cs"/>
              </a:rPr>
              <a:t>H. Resource Sharing        </a:t>
            </a:r>
          </a:p>
          <a:p>
            <a:r>
              <a:rPr lang="en-US" sz="1500" dirty="0">
                <a:solidFill>
                  <a:schemeClr val="accent6"/>
                </a:solidFill>
                <a:latin typeface="Google Sans"/>
                <a:ea typeface="+mn-ea"/>
                <a:cs typeface="+mn-cs"/>
              </a:rPr>
              <a:t>Different machines contribute different strengths.        </a:t>
            </a:r>
          </a:p>
          <a:p>
            <a:r>
              <a:rPr lang="en-US" sz="1500" dirty="0">
                <a:solidFill>
                  <a:schemeClr val="accent2"/>
                </a:solidFill>
                <a:latin typeface="Google Sans"/>
                <a:ea typeface="+mn-ea"/>
                <a:cs typeface="+mn-cs"/>
              </a:rPr>
              <a:t>Distributed systems allow: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Shared storage       </a:t>
            </a:r>
          </a:p>
          <a:p>
            <a:r>
              <a:rPr lang="en-US" sz="1500" dirty="0">
                <a:solidFill>
                  <a:schemeClr val="accent6"/>
                </a:solidFill>
                <a:latin typeface="Google Sans"/>
                <a:ea typeface="+mn-ea"/>
                <a:cs typeface="+mn-cs"/>
              </a:rPr>
              <a:t>Shared computation    </a:t>
            </a:r>
          </a:p>
          <a:p>
            <a:r>
              <a:rPr lang="en-US" sz="1500" dirty="0">
                <a:solidFill>
                  <a:schemeClr val="accent6"/>
                </a:solidFill>
                <a:latin typeface="Google Sans"/>
                <a:ea typeface="+mn-ea"/>
                <a:cs typeface="+mn-cs"/>
              </a:rPr>
              <a:t>    </a:t>
            </a:r>
          </a:p>
        </p:txBody>
      </p:sp>
    </p:spTree>
    <p:extLst>
      <p:ext uri="{BB962C8B-B14F-4D97-AF65-F5344CB8AC3E}">
        <p14:creationId xmlns:p14="http://schemas.microsoft.com/office/powerpoint/2010/main" val="3792570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15464-A70B-06BF-B467-283870CC7AB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2EBF3E7-4E5F-F37D-E93F-825AB6A01B61}"/>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1E9AC9B-8430-0021-7957-D654500BC444}"/>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6E4A14A-11A9-5290-242A-3B95660F3636}"/>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1FFBD995-0242-126A-76D0-69FAC4FC4C3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6AF6644E-7448-7350-1B63-3AFBDBF605F0}"/>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A572DBF0-07E4-C287-C3A4-C32837CD73BB}"/>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470DB6D8-40A3-9E69-3F3F-CA85A17DB34A}"/>
              </a:ext>
            </a:extLst>
          </p:cNvPr>
          <p:cNvSpPr txBox="1">
            <a:spLocks/>
          </p:cNvSpPr>
          <p:nvPr/>
        </p:nvSpPr>
        <p:spPr>
          <a:xfrm>
            <a:off x="55803" y="774902"/>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Why Do We Need Distributed Systems?         </a:t>
            </a:r>
          </a:p>
          <a:p>
            <a:r>
              <a:rPr lang="en-US" sz="1500" dirty="0">
                <a:solidFill>
                  <a:schemeClr val="accent6"/>
                </a:solidFill>
                <a:latin typeface="Google Sans"/>
                <a:ea typeface="+mn-ea"/>
                <a:cs typeface="+mn-cs"/>
              </a:rPr>
              <a:t>Shared services      </a:t>
            </a:r>
          </a:p>
          <a:p>
            <a:r>
              <a:rPr lang="en-US" sz="1500" dirty="0">
                <a:solidFill>
                  <a:schemeClr val="accent6"/>
                </a:solidFill>
                <a:latin typeface="Google Sans"/>
                <a:ea typeface="+mn-ea"/>
                <a:cs typeface="+mn-cs"/>
              </a:rPr>
              <a:t>👉 Efficient utilization of resources across the network.            </a:t>
            </a:r>
          </a:p>
          <a:p>
            <a:r>
              <a:rPr lang="en-US" sz="1500" dirty="0">
                <a:solidFill>
                  <a:schemeClr val="accent2"/>
                </a:solidFill>
                <a:latin typeface="Google Sans"/>
                <a:ea typeface="+mn-ea"/>
                <a:cs typeface="+mn-cs"/>
              </a:rPr>
              <a:t>What If We Don’t Use Distributed Systems? </a:t>
            </a:r>
          </a:p>
          <a:p>
            <a:r>
              <a:rPr lang="en-US" sz="1500" dirty="0">
                <a:solidFill>
                  <a:schemeClr val="accent2"/>
                </a:solidFill>
                <a:latin typeface="Google Sans"/>
                <a:ea typeface="+mn-ea"/>
                <a:cs typeface="+mn-cs"/>
              </a:rPr>
              <a:t>Problem	                      Single Machine           </a:t>
            </a:r>
          </a:p>
          <a:p>
            <a:r>
              <a:rPr lang="en-US" sz="1500" dirty="0">
                <a:solidFill>
                  <a:schemeClr val="accent6"/>
                </a:solidFill>
                <a:latin typeface="Google Sans"/>
                <a:ea typeface="+mn-ea"/>
                <a:cs typeface="+mn-cs"/>
              </a:rPr>
              <a:t>Scalability	                     ❌ Limited</a:t>
            </a:r>
          </a:p>
          <a:p>
            <a:r>
              <a:rPr lang="en-US" sz="1500" dirty="0">
                <a:solidFill>
                  <a:schemeClr val="accent6"/>
                </a:solidFill>
                <a:latin typeface="Google Sans"/>
                <a:ea typeface="+mn-ea"/>
                <a:cs typeface="+mn-cs"/>
              </a:rPr>
              <a:t>Fault tolerance	❌ No</a:t>
            </a:r>
          </a:p>
          <a:p>
            <a:r>
              <a:rPr lang="en-US" sz="1500" dirty="0">
                <a:solidFill>
                  <a:schemeClr val="accent6"/>
                </a:solidFill>
                <a:latin typeface="Google Sans"/>
                <a:ea typeface="+mn-ea"/>
                <a:cs typeface="+mn-cs"/>
              </a:rPr>
              <a:t>Availability	                     ❌ Low</a:t>
            </a:r>
          </a:p>
          <a:p>
            <a:r>
              <a:rPr lang="en-US" sz="1500" dirty="0">
                <a:solidFill>
                  <a:schemeClr val="accent6"/>
                </a:solidFill>
                <a:latin typeface="Google Sans"/>
                <a:ea typeface="+mn-ea"/>
                <a:cs typeface="+mn-cs"/>
              </a:rPr>
              <a:t>Big data handling	❌ Impossible</a:t>
            </a:r>
          </a:p>
          <a:p>
            <a:r>
              <a:rPr lang="en-US" sz="1500" dirty="0">
                <a:solidFill>
                  <a:schemeClr val="accent6"/>
                </a:solidFill>
                <a:latin typeface="Google Sans"/>
                <a:ea typeface="+mn-ea"/>
                <a:cs typeface="+mn-cs"/>
              </a:rPr>
              <a:t>Global access	❌ Slow</a:t>
            </a:r>
          </a:p>
          <a:p>
            <a:r>
              <a:rPr lang="en-US" sz="1500" dirty="0">
                <a:solidFill>
                  <a:schemeClr val="accent2"/>
                </a:solidFill>
                <a:latin typeface="Google Sans"/>
                <a:ea typeface="+mn-ea"/>
                <a:cs typeface="+mn-cs"/>
              </a:rPr>
              <a:t>Summary</a:t>
            </a:r>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We need distributed systems because: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Scalability – Single machines have limits               </a:t>
            </a:r>
          </a:p>
          <a:p>
            <a:r>
              <a:rPr lang="en-US" sz="1500" dirty="0">
                <a:solidFill>
                  <a:schemeClr val="accent6"/>
                </a:solidFill>
                <a:latin typeface="Google Sans"/>
                <a:ea typeface="+mn-ea"/>
                <a:cs typeface="+mn-cs"/>
              </a:rPr>
              <a:t>High availability – System remains available even if one node fails             </a:t>
            </a:r>
          </a:p>
          <a:p>
            <a:r>
              <a:rPr lang="en-US" sz="1500" dirty="0">
                <a:solidFill>
                  <a:schemeClr val="accent6"/>
                </a:solidFill>
                <a:latin typeface="Google Sans"/>
                <a:ea typeface="+mn-ea"/>
                <a:cs typeface="+mn-cs"/>
              </a:rPr>
              <a:t>Fault tolerance – Failures are isolate        </a:t>
            </a:r>
          </a:p>
          <a:p>
            <a:r>
              <a:rPr lang="en-US" sz="1500" dirty="0">
                <a:solidFill>
                  <a:schemeClr val="accent6"/>
                </a:solidFill>
                <a:latin typeface="Google Sans"/>
                <a:ea typeface="+mn-ea"/>
                <a:cs typeface="+mn-cs"/>
              </a:rPr>
              <a:t>Performance – Workload is distributed            </a:t>
            </a:r>
          </a:p>
          <a:p>
            <a:r>
              <a:rPr lang="en-US" sz="1500" dirty="0">
                <a:solidFill>
                  <a:schemeClr val="accent6"/>
                </a:solidFill>
                <a:latin typeface="Google Sans"/>
                <a:ea typeface="+mn-ea"/>
                <a:cs typeface="+mn-cs"/>
              </a:rPr>
              <a:t>Geographical distribution – Users closer to servers → lower latency             </a:t>
            </a:r>
          </a:p>
          <a:p>
            <a:r>
              <a:rPr lang="en-US" sz="1500" dirty="0">
                <a:solidFill>
                  <a:schemeClr val="accent6"/>
                </a:solidFill>
                <a:latin typeface="Google Sans"/>
                <a:ea typeface="+mn-ea"/>
                <a:cs typeface="+mn-cs"/>
              </a:rPr>
              <a:t>Cost efficiency – Commodity hardware instead of one powerful machine</a:t>
            </a:r>
          </a:p>
          <a:p>
            <a:r>
              <a:rPr lang="en-US" sz="1500" dirty="0">
                <a:solidFill>
                  <a:schemeClr val="accent6"/>
                </a:solidFill>
                <a:latin typeface="Google Sans"/>
                <a:ea typeface="+mn-ea"/>
                <a:cs typeface="+mn-cs"/>
              </a:rPr>
              <a:t>Big Data - Can Handle large volumes, variety, velocity </a:t>
            </a:r>
            <a:r>
              <a:rPr lang="en-US" sz="1500" dirty="0" err="1">
                <a:solidFill>
                  <a:schemeClr val="accent6"/>
                </a:solidFill>
                <a:latin typeface="Google Sans"/>
                <a:ea typeface="+mn-ea"/>
                <a:cs typeface="+mn-cs"/>
              </a:rPr>
              <a:t>etc</a:t>
            </a:r>
            <a:r>
              <a:rPr lang="en-US" sz="1500" dirty="0">
                <a:solidFill>
                  <a:schemeClr val="accent6"/>
                </a:solidFill>
                <a:latin typeface="Google Sans"/>
                <a:ea typeface="+mn-ea"/>
                <a:cs typeface="+mn-cs"/>
              </a:rPr>
              <a:t> of data</a:t>
            </a:r>
          </a:p>
          <a:p>
            <a:r>
              <a:rPr lang="en-US" sz="1500" dirty="0">
                <a:solidFill>
                  <a:schemeClr val="accent6"/>
                </a:solidFill>
                <a:latin typeface="Google Sans"/>
                <a:ea typeface="+mn-ea"/>
                <a:cs typeface="+mn-cs"/>
              </a:rPr>
              <a:t>Resource Sharing - Can share storage, compute, network and services           </a:t>
            </a: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20810296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CC194-CCA3-4472-493C-645B44489C3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9CC8D8C-E2EB-2127-8259-C2184D3DDDF9}"/>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3E639DA-27FD-20AF-6034-CBEB94B32E38}"/>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8916199-5C2F-C2A1-2886-78AC86A3773A}"/>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C458EF04-BA6B-F243-143A-684F70D66115}"/>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AF4185E-93A3-D70F-6B58-02E48D886D85}"/>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8EFC68B7-0AAC-8F70-56CB-649FEBF6A3D6}"/>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F5BE0EB8-FFB8-C144-9B0C-6912F6C038CD}"/>
              </a:ext>
            </a:extLst>
          </p:cNvPr>
          <p:cNvSpPr txBox="1">
            <a:spLocks/>
          </p:cNvSpPr>
          <p:nvPr/>
        </p:nvSpPr>
        <p:spPr>
          <a:xfrm>
            <a:off x="55803" y="774902"/>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Advantages and Disadvantages of Distributed Systems         </a:t>
            </a:r>
          </a:p>
          <a:p>
            <a:r>
              <a:rPr lang="en-US" sz="1500" dirty="0">
                <a:solidFill>
                  <a:schemeClr val="accent2"/>
                </a:solidFill>
                <a:latin typeface="Google Sans"/>
                <a:ea typeface="+mn-ea"/>
                <a:cs typeface="+mn-cs"/>
              </a:rPr>
              <a:t>✅ Advantages        </a:t>
            </a:r>
          </a:p>
          <a:p>
            <a:r>
              <a:rPr lang="en-US" sz="1500" dirty="0">
                <a:solidFill>
                  <a:schemeClr val="accent6"/>
                </a:solidFill>
                <a:latin typeface="Google Sans"/>
                <a:ea typeface="+mn-ea"/>
                <a:cs typeface="+mn-cs"/>
              </a:rPr>
              <a:t>Scalability (easy to add more machines)         </a:t>
            </a:r>
          </a:p>
          <a:p>
            <a:r>
              <a:rPr lang="en-US" sz="1500" dirty="0">
                <a:solidFill>
                  <a:schemeClr val="accent6"/>
                </a:solidFill>
                <a:latin typeface="Google Sans"/>
                <a:ea typeface="+mn-ea"/>
                <a:cs typeface="+mn-cs"/>
              </a:rPr>
              <a:t>High availability        </a:t>
            </a:r>
          </a:p>
          <a:p>
            <a:r>
              <a:rPr lang="en-US" sz="1500" dirty="0">
                <a:solidFill>
                  <a:schemeClr val="accent6"/>
                </a:solidFill>
                <a:latin typeface="Google Sans"/>
                <a:ea typeface="+mn-ea"/>
                <a:cs typeface="+mn-cs"/>
              </a:rPr>
              <a:t>Fault tolerance        </a:t>
            </a:r>
          </a:p>
          <a:p>
            <a:r>
              <a:rPr lang="en-US" sz="1500" dirty="0">
                <a:solidFill>
                  <a:schemeClr val="accent6"/>
                </a:solidFill>
                <a:latin typeface="Google Sans"/>
                <a:ea typeface="+mn-ea"/>
                <a:cs typeface="+mn-cs"/>
              </a:rPr>
              <a:t>Better performance for large workloads         </a:t>
            </a:r>
          </a:p>
          <a:p>
            <a:r>
              <a:rPr lang="en-US" sz="1500" dirty="0">
                <a:solidFill>
                  <a:schemeClr val="accent6"/>
                </a:solidFill>
                <a:latin typeface="Google Sans"/>
                <a:ea typeface="+mn-ea"/>
                <a:cs typeface="+mn-cs"/>
              </a:rPr>
              <a:t>Resource sharing       </a:t>
            </a:r>
          </a:p>
          <a:p>
            <a:r>
              <a:rPr lang="en-US" sz="1500" dirty="0">
                <a:solidFill>
                  <a:schemeClr val="accent2"/>
                </a:solidFill>
                <a:latin typeface="Google Sans"/>
                <a:ea typeface="+mn-ea"/>
                <a:cs typeface="+mn-cs"/>
              </a:rPr>
              <a:t>❌ Disadvantages        </a:t>
            </a:r>
          </a:p>
          <a:p>
            <a:r>
              <a:rPr lang="en-US" sz="1500" dirty="0">
                <a:solidFill>
                  <a:schemeClr val="accent6"/>
                </a:solidFill>
                <a:latin typeface="Google Sans"/>
                <a:ea typeface="+mn-ea"/>
                <a:cs typeface="+mn-cs"/>
              </a:rPr>
              <a:t>Complexity (design, debugging, maintenance)          </a:t>
            </a:r>
          </a:p>
          <a:p>
            <a:r>
              <a:rPr lang="en-US" sz="1500" dirty="0">
                <a:solidFill>
                  <a:schemeClr val="accent6"/>
                </a:solidFill>
                <a:latin typeface="Google Sans"/>
                <a:ea typeface="+mn-ea"/>
                <a:cs typeface="+mn-cs"/>
              </a:rPr>
              <a:t>Network latency and failures         </a:t>
            </a:r>
          </a:p>
          <a:p>
            <a:r>
              <a:rPr lang="en-US" sz="1500" dirty="0">
                <a:solidFill>
                  <a:schemeClr val="accent6"/>
                </a:solidFill>
                <a:latin typeface="Google Sans"/>
                <a:ea typeface="+mn-ea"/>
                <a:cs typeface="+mn-cs"/>
              </a:rPr>
              <a:t>Data consistency challenges        </a:t>
            </a:r>
          </a:p>
          <a:p>
            <a:r>
              <a:rPr lang="en-US" sz="1500" dirty="0">
                <a:solidFill>
                  <a:schemeClr val="accent6"/>
                </a:solidFill>
                <a:latin typeface="Google Sans"/>
                <a:ea typeface="+mn-ea"/>
                <a:cs typeface="+mn-cs"/>
              </a:rPr>
              <a:t>Security issues        </a:t>
            </a:r>
          </a:p>
          <a:p>
            <a:r>
              <a:rPr lang="en-US" sz="1500" dirty="0">
                <a:solidFill>
                  <a:schemeClr val="accent6"/>
                </a:solidFill>
                <a:latin typeface="Google Sans"/>
                <a:ea typeface="+mn-ea"/>
                <a:cs typeface="+mn-cs"/>
              </a:rPr>
              <a:t>Harder testing and monitoring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Latency vs Throughput         </a:t>
            </a:r>
          </a:p>
          <a:p>
            <a:r>
              <a:rPr lang="en-US" sz="1500" dirty="0">
                <a:solidFill>
                  <a:schemeClr val="accent2"/>
                </a:solidFill>
                <a:latin typeface="Google Sans"/>
                <a:ea typeface="+mn-ea"/>
                <a:cs typeface="+mn-cs"/>
              </a:rPr>
              <a:t>🕒 Latency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Time taken to process a single request         </a:t>
            </a:r>
          </a:p>
          <a:p>
            <a:r>
              <a:rPr lang="en-US" sz="1500" dirty="0">
                <a:solidFill>
                  <a:schemeClr val="accent6"/>
                </a:solidFill>
                <a:latin typeface="Google Sans"/>
                <a:ea typeface="+mn-ea"/>
                <a:cs typeface="+mn-cs"/>
              </a:rPr>
              <a:t>Measured in milliseconds (</a:t>
            </a:r>
            <a:r>
              <a:rPr lang="en-US" sz="1500" dirty="0" err="1">
                <a:solidFill>
                  <a:schemeClr val="accent6"/>
                </a:solidFill>
                <a:latin typeface="Google Sans"/>
                <a:ea typeface="+mn-ea"/>
                <a:cs typeface="+mn-cs"/>
              </a:rPr>
              <a:t>ms</a:t>
            </a:r>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Example:       </a:t>
            </a:r>
          </a:p>
          <a:p>
            <a:r>
              <a:rPr lang="en-US" sz="1500" dirty="0">
                <a:solidFill>
                  <a:schemeClr val="accent6"/>
                </a:solidFill>
                <a:latin typeface="Google Sans"/>
                <a:ea typeface="+mn-ea"/>
                <a:cs typeface="+mn-cs"/>
              </a:rPr>
              <a:t>API response time = 100 </a:t>
            </a:r>
            <a:r>
              <a:rPr lang="en-US" sz="1500" dirty="0" err="1">
                <a:solidFill>
                  <a:schemeClr val="accent6"/>
                </a:solidFill>
                <a:latin typeface="Google Sans"/>
                <a:ea typeface="+mn-ea"/>
                <a:cs typeface="+mn-cs"/>
              </a:rPr>
              <a:t>ms</a:t>
            </a:r>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 Throughput</a:t>
            </a:r>
          </a:p>
          <a:p>
            <a:r>
              <a:rPr lang="en-US" sz="1500" dirty="0">
                <a:solidFill>
                  <a:schemeClr val="accent6"/>
                </a:solidFill>
                <a:latin typeface="Google Sans"/>
                <a:ea typeface="+mn-ea"/>
                <a:cs typeface="+mn-cs"/>
              </a:rPr>
              <a:t>Number of requests processed per unit time          </a:t>
            </a:r>
          </a:p>
          <a:p>
            <a:r>
              <a:rPr lang="en-US" sz="1500" dirty="0">
                <a:solidFill>
                  <a:schemeClr val="accent6"/>
                </a:solidFill>
                <a:latin typeface="Google Sans"/>
                <a:ea typeface="+mn-ea"/>
                <a:cs typeface="+mn-cs"/>
              </a:rPr>
              <a:t>Measured in requests/second (RPS)           </a:t>
            </a:r>
          </a:p>
        </p:txBody>
      </p:sp>
    </p:spTree>
    <p:extLst>
      <p:ext uri="{BB962C8B-B14F-4D97-AF65-F5344CB8AC3E}">
        <p14:creationId xmlns:p14="http://schemas.microsoft.com/office/powerpoint/2010/main" val="23561357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16DE9-0899-FE85-7175-A319CB22DF2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2F39DEA-F701-86C1-3CC1-C96545D0BE6C}"/>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5BEFFDA-8034-1B9A-FBAD-7DE0C5D17119}"/>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5B7735E-4288-D4E9-686A-2F1422C4B952}"/>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7A2D54F4-DB5E-A47D-AD2E-C8EEC14625D2}"/>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CE590922-D6B4-AB1E-6D91-16DEE0A0A4BF}"/>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1ECAF68-DCB3-C3AA-C5C2-D95FBB76B53F}"/>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D5165D52-3815-3CAA-FDFF-1D7DFD99436B}"/>
              </a:ext>
            </a:extLst>
          </p:cNvPr>
          <p:cNvSpPr txBox="1">
            <a:spLocks/>
          </p:cNvSpPr>
          <p:nvPr/>
        </p:nvSpPr>
        <p:spPr>
          <a:xfrm>
            <a:off x="55803" y="774902"/>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Latency vs Throughput         </a:t>
            </a:r>
          </a:p>
          <a:p>
            <a:r>
              <a:rPr lang="en-US" sz="1500" dirty="0">
                <a:solidFill>
                  <a:schemeClr val="accent2"/>
                </a:solidFill>
                <a:latin typeface="Google Sans"/>
                <a:ea typeface="+mn-ea"/>
                <a:cs typeface="+mn-cs"/>
              </a:rPr>
              <a:t>🚀 Throughput</a:t>
            </a:r>
          </a:p>
          <a:p>
            <a:r>
              <a:rPr lang="en-US" sz="1500" dirty="0">
                <a:solidFill>
                  <a:schemeClr val="accent2"/>
                </a:solidFill>
                <a:latin typeface="Google Sans"/>
                <a:ea typeface="+mn-ea"/>
                <a:cs typeface="+mn-cs"/>
              </a:rPr>
              <a:t>Example:       </a:t>
            </a:r>
          </a:p>
          <a:p>
            <a:r>
              <a:rPr lang="en-US" sz="1500" dirty="0">
                <a:solidFill>
                  <a:schemeClr val="accent6"/>
                </a:solidFill>
                <a:latin typeface="Google Sans"/>
                <a:ea typeface="+mn-ea"/>
                <a:cs typeface="+mn-cs"/>
              </a:rPr>
              <a:t>10,000 requests per seconds           </a:t>
            </a:r>
          </a:p>
          <a:p>
            <a:r>
              <a:rPr lang="en-US" sz="1500" dirty="0">
                <a:solidFill>
                  <a:schemeClr val="accent2"/>
                </a:solidFill>
                <a:latin typeface="Google Sans"/>
                <a:ea typeface="+mn-ea"/>
                <a:cs typeface="+mn-cs"/>
              </a:rPr>
              <a:t>📌 You can have:       </a:t>
            </a:r>
          </a:p>
          <a:p>
            <a:r>
              <a:rPr lang="en-US" sz="1500" dirty="0">
                <a:solidFill>
                  <a:schemeClr val="accent6"/>
                </a:solidFill>
                <a:latin typeface="Google Sans"/>
                <a:ea typeface="+mn-ea"/>
                <a:cs typeface="+mn-cs"/>
              </a:rPr>
              <a:t>Low latency, low throughput          </a:t>
            </a:r>
          </a:p>
          <a:p>
            <a:r>
              <a:rPr lang="en-US" sz="1500" dirty="0">
                <a:solidFill>
                  <a:schemeClr val="accent6"/>
                </a:solidFill>
                <a:latin typeface="Google Sans"/>
                <a:ea typeface="+mn-ea"/>
                <a:cs typeface="+mn-cs"/>
              </a:rPr>
              <a:t>High throughput, high latency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Horizontal vs Vertical Scaling        </a:t>
            </a:r>
          </a:p>
          <a:p>
            <a:r>
              <a:rPr lang="en-US" sz="1500" dirty="0">
                <a:solidFill>
                  <a:schemeClr val="accent6"/>
                </a:solidFill>
                <a:latin typeface="Google Sans"/>
                <a:ea typeface="+mn-ea"/>
                <a:cs typeface="+mn-cs"/>
              </a:rPr>
              <a:t>Vertical Scaling (Scale Up)       </a:t>
            </a:r>
          </a:p>
          <a:p>
            <a:r>
              <a:rPr lang="en-US" sz="1500" dirty="0">
                <a:solidFill>
                  <a:schemeClr val="accent6"/>
                </a:solidFill>
                <a:latin typeface="Google Sans"/>
                <a:ea typeface="+mn-ea"/>
                <a:cs typeface="+mn-cs"/>
              </a:rPr>
              <a:t>Add more power to one machine       </a:t>
            </a:r>
          </a:p>
          <a:p>
            <a:r>
              <a:rPr lang="en-US" sz="1500" dirty="0">
                <a:solidFill>
                  <a:schemeClr val="accent6"/>
                </a:solidFill>
                <a:latin typeface="Google Sans"/>
                <a:ea typeface="+mn-ea"/>
                <a:cs typeface="+mn-cs"/>
              </a:rPr>
              <a:t>Increase CPU, RAM, Disk       </a:t>
            </a:r>
          </a:p>
          <a:p>
            <a:r>
              <a:rPr lang="en-US" sz="1500" dirty="0">
                <a:solidFill>
                  <a:schemeClr val="accent6"/>
                </a:solidFill>
                <a:latin typeface="Google Sans"/>
                <a:ea typeface="+mn-ea"/>
                <a:cs typeface="+mn-cs"/>
              </a:rPr>
              <a:t>Simple but limited         </a:t>
            </a:r>
          </a:p>
          <a:p>
            <a:r>
              <a:rPr lang="en-US" sz="1500" dirty="0">
                <a:solidFill>
                  <a:schemeClr val="accent2"/>
                </a:solidFill>
                <a:latin typeface="Google Sans"/>
                <a:ea typeface="+mn-ea"/>
                <a:cs typeface="+mn-cs"/>
              </a:rPr>
              <a:t>Example: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Upgrade server from 8GB RAM to 64GB RAM          </a:t>
            </a:r>
          </a:p>
          <a:p>
            <a:r>
              <a:rPr lang="en-US" sz="1500" dirty="0">
                <a:solidFill>
                  <a:schemeClr val="accent6"/>
                </a:solidFill>
                <a:latin typeface="Google Sans"/>
                <a:ea typeface="+mn-ea"/>
                <a:cs typeface="+mn-cs"/>
              </a:rPr>
              <a:t>Horizontal Scaling (Scale Out)       </a:t>
            </a:r>
          </a:p>
          <a:p>
            <a:r>
              <a:rPr lang="en-US" sz="1500" dirty="0">
                <a:solidFill>
                  <a:schemeClr val="accent6"/>
                </a:solidFill>
                <a:latin typeface="Google Sans"/>
                <a:ea typeface="+mn-ea"/>
                <a:cs typeface="+mn-cs"/>
              </a:rPr>
              <a:t>Add more machines     </a:t>
            </a:r>
          </a:p>
          <a:p>
            <a:r>
              <a:rPr lang="en-US" sz="1500" dirty="0">
                <a:solidFill>
                  <a:schemeClr val="accent6"/>
                </a:solidFill>
                <a:latin typeface="Google Sans"/>
                <a:ea typeface="+mn-ea"/>
                <a:cs typeface="+mn-cs"/>
              </a:rPr>
              <a:t>Add servers/nodes       </a:t>
            </a:r>
          </a:p>
          <a:p>
            <a:r>
              <a:rPr lang="en-US" sz="1500" dirty="0">
                <a:solidFill>
                  <a:schemeClr val="accent6"/>
                </a:solidFill>
                <a:latin typeface="Google Sans"/>
                <a:ea typeface="+mn-ea"/>
                <a:cs typeface="+mn-cs"/>
              </a:rPr>
              <a:t>More complex but highly scalable        </a:t>
            </a:r>
          </a:p>
          <a:p>
            <a:r>
              <a:rPr lang="en-US" sz="1500" dirty="0">
                <a:solidFill>
                  <a:schemeClr val="accent2"/>
                </a:solidFill>
                <a:latin typeface="Google Sans"/>
                <a:ea typeface="+mn-ea"/>
                <a:cs typeface="+mn-cs"/>
              </a:rPr>
              <a:t>Example: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Add 10 more backend servers       </a:t>
            </a:r>
          </a:p>
          <a:p>
            <a:r>
              <a:rPr lang="en-US" sz="1500" dirty="0">
                <a:solidFill>
                  <a:schemeClr val="accent6"/>
                </a:solidFill>
                <a:latin typeface="Google Sans"/>
                <a:ea typeface="+mn-ea"/>
                <a:cs typeface="+mn-cs"/>
              </a:rPr>
              <a:t>📌 Distributed systems mainly use horizontal scaling. </a:t>
            </a:r>
          </a:p>
        </p:txBody>
      </p:sp>
    </p:spTree>
    <p:extLst>
      <p:ext uri="{BB962C8B-B14F-4D97-AF65-F5344CB8AC3E}">
        <p14:creationId xmlns:p14="http://schemas.microsoft.com/office/powerpoint/2010/main" val="4011714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34D19-DF97-3989-FABF-AFFE0C182C6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6BA1F5D-D445-425C-2CB0-357231F4216E}"/>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557FCC6-B657-C6CE-83A0-6C8792C0D40C}"/>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F3821B5-6242-C55B-85D9-2D665987816C}"/>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985601EC-825C-27FB-3565-263C555D5A6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E25C167B-F028-7387-F417-59039FB34565}"/>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BF69DDE1-885B-03A6-D536-307B9012DCD4}"/>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D2BB3C6A-A8A8-6BCF-3EF1-9374F611C87D}"/>
              </a:ext>
            </a:extLst>
          </p:cNvPr>
          <p:cNvSpPr txBox="1">
            <a:spLocks/>
          </p:cNvSpPr>
          <p:nvPr/>
        </p:nvSpPr>
        <p:spPr>
          <a:xfrm>
            <a:off x="55803" y="774902"/>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Concurrent vs Parallel vs Distributed Programming/Computing</a:t>
            </a:r>
          </a:p>
        </p:txBody>
      </p:sp>
      <p:pic>
        <p:nvPicPr>
          <p:cNvPr id="9" name="Picture 8">
            <a:extLst>
              <a:ext uri="{FF2B5EF4-FFF2-40B4-BE49-F238E27FC236}">
                <a16:creationId xmlns:a16="http://schemas.microsoft.com/office/drawing/2014/main" id="{41B96A7A-A5CA-6AB8-5B7E-DD9E0C8A4F7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804" y="1143980"/>
            <a:ext cx="8951036" cy="2592940"/>
          </a:xfrm>
          <a:prstGeom prst="rect">
            <a:avLst/>
          </a:prstGeom>
        </p:spPr>
      </p:pic>
      <p:pic>
        <p:nvPicPr>
          <p:cNvPr id="12" name="Picture 11">
            <a:extLst>
              <a:ext uri="{FF2B5EF4-FFF2-40B4-BE49-F238E27FC236}">
                <a16:creationId xmlns:a16="http://schemas.microsoft.com/office/drawing/2014/main" id="{E9266D28-6A23-841D-8407-0C934A4D70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199" y="3829870"/>
            <a:ext cx="8824037" cy="2113729"/>
          </a:xfrm>
          <a:prstGeom prst="rect">
            <a:avLst/>
          </a:prstGeom>
        </p:spPr>
      </p:pic>
    </p:spTree>
    <p:extLst>
      <p:ext uri="{BB962C8B-B14F-4D97-AF65-F5344CB8AC3E}">
        <p14:creationId xmlns:p14="http://schemas.microsoft.com/office/powerpoint/2010/main" val="4062650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A6912-54BE-03BB-4D8C-65A6949268F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9D751A9-A2C4-3673-C69B-24B9371ADC3A}"/>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9554EED-C89D-03F5-436A-5DA9C6BFE851}"/>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B9992F4-7871-03C0-4625-BB2073D85F9D}"/>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A2450913-0E33-2EF4-46A8-9309589332C9}"/>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F42277D-6A2C-6ED8-4B39-66FA71CC4003}"/>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DC98B540-9865-49F2-312F-BA057CA81900}"/>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1ED03017-2C67-798E-2A00-7A91B54526D7}"/>
              </a:ext>
            </a:extLst>
          </p:cNvPr>
          <p:cNvSpPr txBox="1">
            <a:spLocks/>
          </p:cNvSpPr>
          <p:nvPr/>
        </p:nvSpPr>
        <p:spPr>
          <a:xfrm>
            <a:off x="55803" y="774902"/>
            <a:ext cx="8624937" cy="23852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Concurrent vs Parallel vs Distributed Programming/Computing</a:t>
            </a:r>
          </a:p>
          <a:p>
            <a:r>
              <a:rPr lang="en-US" sz="1500" dirty="0">
                <a:solidFill>
                  <a:schemeClr val="accent2"/>
                </a:solidFill>
                <a:latin typeface="Google Sans"/>
                <a:ea typeface="+mn-ea"/>
                <a:cs typeface="+mn-cs"/>
              </a:rPr>
              <a:t>Summary of Differences</a:t>
            </a:r>
          </a:p>
          <a:p>
            <a:r>
              <a:rPr lang="en-US" sz="1500" dirty="0">
                <a:solidFill>
                  <a:schemeClr val="accent2"/>
                </a:solidFill>
                <a:latin typeface="Google Sans"/>
                <a:ea typeface="+mn-ea"/>
                <a:cs typeface="+mn-cs"/>
              </a:rPr>
              <a:t>Concurrent vs. Parallel:</a:t>
            </a:r>
            <a:r>
              <a:rPr lang="en-US" sz="1500" dirty="0">
                <a:solidFill>
                  <a:schemeClr val="accent6"/>
                </a:solidFill>
                <a:latin typeface="Google Sans"/>
                <a:ea typeface="+mn-ea"/>
                <a:cs typeface="+mn-cs"/>
              </a:rPr>
              <a:t> A concurrent system manages multiple tasks simultaneously (interleaved), while a parallel system runs them simultaneously (truly at once). Concurrency is a structure (dealing with many things), while parallelism is an execution (doing many things).</a:t>
            </a:r>
          </a:p>
          <a:p>
            <a:r>
              <a:rPr lang="en-US" sz="1500" dirty="0">
                <a:solidFill>
                  <a:schemeClr val="accent2"/>
                </a:solidFill>
                <a:latin typeface="Google Sans"/>
                <a:ea typeface="+mn-ea"/>
                <a:cs typeface="+mn-cs"/>
              </a:rPr>
              <a:t>Parallel vs. Distributed: </a:t>
            </a:r>
            <a:r>
              <a:rPr lang="en-US" sz="1500" dirty="0">
                <a:solidFill>
                  <a:schemeClr val="accent6"/>
                </a:solidFill>
                <a:latin typeface="Google Sans"/>
                <a:ea typeface="+mn-ea"/>
                <a:cs typeface="+mn-cs"/>
              </a:rPr>
              <a:t>Parallel computing usually occurs on a single computer with shared memory, while distributed computing involves independent machines, each with its own local memory, communicating over a network.</a:t>
            </a:r>
          </a:p>
          <a:p>
            <a:r>
              <a:rPr lang="en-US" sz="1500" dirty="0">
                <a:solidFill>
                  <a:schemeClr val="accent2"/>
                </a:solidFill>
                <a:latin typeface="Google Sans"/>
                <a:ea typeface="+mn-ea"/>
                <a:cs typeface="+mn-cs"/>
              </a:rPr>
              <a:t>Key Overlap: </a:t>
            </a:r>
            <a:r>
              <a:rPr lang="en-US" sz="1500" dirty="0">
                <a:solidFill>
                  <a:schemeClr val="accent6"/>
                </a:solidFill>
                <a:latin typeface="Google Sans"/>
                <a:ea typeface="+mn-ea"/>
                <a:cs typeface="+mn-cs"/>
              </a:rPr>
              <a:t>Distributed systems use concurrent programming to manage multiple connections/tasks, and parallel programming is used within nodes of a distributed system to boost performance. </a:t>
            </a:r>
          </a:p>
        </p:txBody>
      </p:sp>
    </p:spTree>
    <p:extLst>
      <p:ext uri="{BB962C8B-B14F-4D97-AF65-F5344CB8AC3E}">
        <p14:creationId xmlns:p14="http://schemas.microsoft.com/office/powerpoint/2010/main" val="13624576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0255C-6D42-C9F1-4A27-9A7C1465374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038CFA2-140A-9520-BE54-FBB535ECB3B7}"/>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0FEA199-E2E9-51BB-5BA5-6F9E8A66C909}"/>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3453DFA-2A40-5D96-7D2C-79A1AA8E4DF3}"/>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1A881163-8796-D4DC-0E09-2563D813DD09}"/>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87B2351-C4DF-4B9C-4BC9-47C061282966}"/>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3AD7F78-1934-6411-155E-A2861ECB2C1B}"/>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8293C3B5-519A-6467-E306-4C6995006105}"/>
              </a:ext>
            </a:extLst>
          </p:cNvPr>
          <p:cNvSpPr txBox="1">
            <a:spLocks/>
          </p:cNvSpPr>
          <p:nvPr/>
        </p:nvSpPr>
        <p:spPr>
          <a:xfrm>
            <a:off x="55803" y="774902"/>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Node vs Cluster vs Replica</a:t>
            </a:r>
          </a:p>
        </p:txBody>
      </p:sp>
      <p:pic>
        <p:nvPicPr>
          <p:cNvPr id="9" name="Picture 8">
            <a:extLst>
              <a:ext uri="{FF2B5EF4-FFF2-40B4-BE49-F238E27FC236}">
                <a16:creationId xmlns:a16="http://schemas.microsoft.com/office/drawing/2014/main" id="{66B22423-1EAC-4198-C67C-87124932FA6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803" y="1068767"/>
            <a:ext cx="8844434" cy="2881965"/>
          </a:xfrm>
          <a:prstGeom prst="rect">
            <a:avLst/>
          </a:prstGeom>
        </p:spPr>
      </p:pic>
      <p:pic>
        <p:nvPicPr>
          <p:cNvPr id="14" name="Picture 13">
            <a:extLst>
              <a:ext uri="{FF2B5EF4-FFF2-40B4-BE49-F238E27FC236}">
                <a16:creationId xmlns:a16="http://schemas.microsoft.com/office/drawing/2014/main" id="{D635FC3C-057D-9571-C743-31515ACB76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199" y="4012288"/>
            <a:ext cx="8824037" cy="1623534"/>
          </a:xfrm>
          <a:prstGeom prst="rect">
            <a:avLst/>
          </a:prstGeom>
        </p:spPr>
      </p:pic>
      <p:sp>
        <p:nvSpPr>
          <p:cNvPr id="15" name="object 2">
            <a:extLst>
              <a:ext uri="{FF2B5EF4-FFF2-40B4-BE49-F238E27FC236}">
                <a16:creationId xmlns:a16="http://schemas.microsoft.com/office/drawing/2014/main" id="{D6532817-ADE5-AF2B-DC3E-BDA89022F887}"/>
              </a:ext>
            </a:extLst>
          </p:cNvPr>
          <p:cNvSpPr txBox="1">
            <a:spLocks/>
          </p:cNvSpPr>
          <p:nvPr/>
        </p:nvSpPr>
        <p:spPr>
          <a:xfrm>
            <a:off x="55803" y="5635823"/>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N.B.- </a:t>
            </a:r>
            <a:r>
              <a:rPr lang="en-US" sz="1500" dirty="0">
                <a:solidFill>
                  <a:schemeClr val="accent1"/>
                </a:solidFill>
                <a:latin typeface="Google Sans"/>
                <a:ea typeface="+mn-ea"/>
                <a:cs typeface="+mn-cs"/>
              </a:rPr>
              <a:t>Replica is not a node and rather a copy of code/data of some node into another node</a:t>
            </a:r>
          </a:p>
        </p:txBody>
      </p:sp>
    </p:spTree>
    <p:extLst>
      <p:ext uri="{BB962C8B-B14F-4D97-AF65-F5344CB8AC3E}">
        <p14:creationId xmlns:p14="http://schemas.microsoft.com/office/powerpoint/2010/main" val="42464338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AD20F-7E2C-DAB4-3692-04BF41951B2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05EC79F-049F-DA55-85B2-666B0DD8AD0F}"/>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8213BF3-3F16-1756-E142-2CB6B2464F98}"/>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9C6A6D4-C631-48B8-132E-32A4D7EDFAF8}"/>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4346E1E2-B579-527E-FF03-C4679BE9C3F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1053B70E-BD79-0615-D5CA-5D547059A61D}"/>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5B4135CE-36FE-63DC-D52F-51C0582F056C}"/>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CB24747E-A22D-D6C8-7C39-B2712E7D1E02}"/>
              </a:ext>
            </a:extLst>
          </p:cNvPr>
          <p:cNvSpPr txBox="1">
            <a:spLocks/>
          </p:cNvSpPr>
          <p:nvPr/>
        </p:nvSpPr>
        <p:spPr>
          <a:xfrm>
            <a:off x="55803" y="774902"/>
            <a:ext cx="8624937" cy="10002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Stateful vs Stateless Service</a:t>
            </a:r>
          </a:p>
          <a:p>
            <a:r>
              <a:rPr lang="en-US" sz="1500" dirty="0">
                <a:solidFill>
                  <a:schemeClr val="accent6"/>
                </a:solidFill>
                <a:latin typeface="Google Sans"/>
                <a:ea typeface="+mn-ea"/>
                <a:cs typeface="+mn-cs"/>
              </a:rPr>
              <a:t>Stateful and stateless services represent fundamentally different approaches to handling user data, session continuity, and server-side memory. Stateful services maintain context across requests, whereas stateless services treat every request as an independent, isolated interaction. </a:t>
            </a:r>
          </a:p>
        </p:txBody>
      </p:sp>
      <p:pic>
        <p:nvPicPr>
          <p:cNvPr id="11" name="Picture 10">
            <a:extLst>
              <a:ext uri="{FF2B5EF4-FFF2-40B4-BE49-F238E27FC236}">
                <a16:creationId xmlns:a16="http://schemas.microsoft.com/office/drawing/2014/main" id="{B663235E-B0EE-7D3E-580A-50390EE9369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803" y="1775175"/>
            <a:ext cx="9088197" cy="4116729"/>
          </a:xfrm>
          <a:prstGeom prst="rect">
            <a:avLst/>
          </a:prstGeom>
        </p:spPr>
      </p:pic>
    </p:spTree>
    <p:extLst>
      <p:ext uri="{BB962C8B-B14F-4D97-AF65-F5344CB8AC3E}">
        <p14:creationId xmlns:p14="http://schemas.microsoft.com/office/powerpoint/2010/main" val="14849197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F5302-3EB4-C91D-39BE-447B7FBB617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2B8D45B-463B-F12D-4A8B-2C19DC961ED9}"/>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12F88D2-337F-8A46-7244-9C4E73A0857B}"/>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538D2F3-3CCF-6876-7E63-11DACF355241}"/>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DFBB4CB8-9351-525C-F6FC-57570346B7AA}"/>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F5B2291B-A258-E9E0-02B7-8C962678C607}"/>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D1C74E0C-660B-10B9-5B05-204CAD163834}"/>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518A96A0-FD51-B866-E62B-4152D0F783E7}"/>
              </a:ext>
            </a:extLst>
          </p:cNvPr>
          <p:cNvSpPr txBox="1">
            <a:spLocks/>
          </p:cNvSpPr>
          <p:nvPr/>
        </p:nvSpPr>
        <p:spPr>
          <a:xfrm>
            <a:off x="55803" y="774902"/>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Stateful vs Stateless Service</a:t>
            </a:r>
          </a:p>
        </p:txBody>
      </p:sp>
      <p:pic>
        <p:nvPicPr>
          <p:cNvPr id="9" name="Picture 8">
            <a:extLst>
              <a:ext uri="{FF2B5EF4-FFF2-40B4-BE49-F238E27FC236}">
                <a16:creationId xmlns:a16="http://schemas.microsoft.com/office/drawing/2014/main" id="{B45F4DE3-C4CA-7FAC-AC36-A536BE3D187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043" y="1070048"/>
            <a:ext cx="8716300" cy="301552"/>
          </a:xfrm>
          <a:prstGeom prst="rect">
            <a:avLst/>
          </a:prstGeom>
        </p:spPr>
      </p:pic>
      <p:pic>
        <p:nvPicPr>
          <p:cNvPr id="13" name="Picture 12">
            <a:extLst>
              <a:ext uri="{FF2B5EF4-FFF2-40B4-BE49-F238E27FC236}">
                <a16:creationId xmlns:a16="http://schemas.microsoft.com/office/drawing/2014/main" id="{633C900D-11D3-8182-28AC-0DC2BDA0612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7160" y="1400237"/>
            <a:ext cx="8543580" cy="3974641"/>
          </a:xfrm>
          <a:prstGeom prst="rect">
            <a:avLst/>
          </a:prstGeom>
        </p:spPr>
      </p:pic>
      <p:pic>
        <p:nvPicPr>
          <p:cNvPr id="11" name="Picture 10">
            <a:extLst>
              <a:ext uri="{FF2B5EF4-FFF2-40B4-BE49-F238E27FC236}">
                <a16:creationId xmlns:a16="http://schemas.microsoft.com/office/drawing/2014/main" id="{9CE735BC-4176-3155-8366-D7E75231EBC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6200" y="5461049"/>
            <a:ext cx="8290560" cy="430856"/>
          </a:xfrm>
          <a:prstGeom prst="rect">
            <a:avLst/>
          </a:prstGeom>
        </p:spPr>
      </p:pic>
    </p:spTree>
    <p:extLst>
      <p:ext uri="{BB962C8B-B14F-4D97-AF65-F5344CB8AC3E}">
        <p14:creationId xmlns:p14="http://schemas.microsoft.com/office/powerpoint/2010/main" val="23043065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611B4-7096-0105-87C0-91DC4971646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ABB2124-AD3C-0125-ABCD-11A856822079}"/>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ED533B0-74E7-2E59-D7FB-90256D13039A}"/>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289C577-CDD6-1599-1EAC-1ECADA90AA62}"/>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33EBF0AD-C6DB-3C92-9311-AA89029CD364}"/>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8158B502-12DF-EFD0-46E5-11AB96E558CA}"/>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7D585EB-669A-2480-08BF-D3071997C1AF}"/>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AAD96B39-617C-005A-D099-45008F4C6A53}"/>
              </a:ext>
            </a:extLst>
          </p:cNvPr>
          <p:cNvSpPr txBox="1">
            <a:spLocks/>
          </p:cNvSpPr>
          <p:nvPr/>
        </p:nvSpPr>
        <p:spPr>
          <a:xfrm>
            <a:off x="55803" y="774902"/>
            <a:ext cx="8624937" cy="50013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Stateful vs Stateless Service</a:t>
            </a:r>
          </a:p>
          <a:p>
            <a:r>
              <a:rPr lang="en-US" sz="2000" dirty="0">
                <a:solidFill>
                  <a:schemeClr val="accent2"/>
                </a:solidFill>
                <a:latin typeface="Google Sans"/>
                <a:ea typeface="+mn-ea"/>
                <a:cs typeface="+mn-cs"/>
              </a:rPr>
              <a:t>Summary of Key Differences</a:t>
            </a:r>
          </a:p>
          <a:p>
            <a:r>
              <a:rPr lang="en-US" sz="1500" dirty="0">
                <a:solidFill>
                  <a:schemeClr val="accent2"/>
                </a:solidFill>
                <a:latin typeface="Google Sans"/>
                <a:ea typeface="+mn-ea"/>
                <a:cs typeface="+mn-cs"/>
              </a:rPr>
              <a:t>Stateful </a:t>
            </a:r>
            <a:r>
              <a:rPr lang="en-US" sz="1500" dirty="0">
                <a:solidFill>
                  <a:schemeClr val="accent6"/>
                </a:solidFill>
                <a:latin typeface="Google Sans"/>
                <a:ea typeface="+mn-ea"/>
                <a:cs typeface="+mn-cs"/>
              </a:rPr>
              <a:t>= Context-aware. It knows who you are and what you did last. If the server fails, you lose that memory.</a:t>
            </a:r>
          </a:p>
          <a:p>
            <a:r>
              <a:rPr lang="en-US" sz="1500" dirty="0">
                <a:solidFill>
                  <a:schemeClr val="accent2"/>
                </a:solidFill>
                <a:latin typeface="Google Sans"/>
                <a:ea typeface="+mn-ea"/>
                <a:cs typeface="+mn-cs"/>
              </a:rPr>
              <a:t>Stateless</a:t>
            </a:r>
            <a:r>
              <a:rPr lang="en-US" sz="1500" dirty="0">
                <a:solidFill>
                  <a:schemeClr val="accent6"/>
                </a:solidFill>
                <a:latin typeface="Google Sans"/>
                <a:ea typeface="+mn-ea"/>
                <a:cs typeface="+mn-cs"/>
              </a:rPr>
              <a:t> = "Dory" (forgetful). It treats every request as if it’s the first time it has ever seen you. It relies on the client to send all context (e.g., in a JSON Web Token) with every call. </a:t>
            </a:r>
          </a:p>
          <a:p>
            <a:r>
              <a:rPr lang="en-US" sz="1500" dirty="0">
                <a:solidFill>
                  <a:schemeClr val="accent2"/>
                </a:solidFill>
                <a:latin typeface="Google Sans"/>
                <a:ea typeface="+mn-ea"/>
                <a:cs typeface="+mn-cs"/>
              </a:rPr>
              <a:t>When to Use Which?</a:t>
            </a:r>
          </a:p>
          <a:p>
            <a:r>
              <a:rPr lang="en-US" sz="1500" dirty="0">
                <a:solidFill>
                  <a:schemeClr val="accent2"/>
                </a:solidFill>
                <a:latin typeface="Google Sans"/>
                <a:ea typeface="+mn-ea"/>
                <a:cs typeface="+mn-cs"/>
              </a:rPr>
              <a:t>Use Stateful When:</a:t>
            </a:r>
          </a:p>
          <a:p>
            <a:r>
              <a:rPr lang="en-US" sz="1500" dirty="0">
                <a:solidFill>
                  <a:schemeClr val="accent2"/>
                </a:solidFill>
                <a:latin typeface="Google Sans"/>
                <a:ea typeface="+mn-ea"/>
                <a:cs typeface="+mn-cs"/>
              </a:rPr>
              <a:t>Real-time interaction is necessary:</a:t>
            </a:r>
            <a:r>
              <a:rPr lang="en-US" sz="1500" dirty="0">
                <a:solidFill>
                  <a:schemeClr val="accent6"/>
                </a:solidFill>
                <a:latin typeface="Google Sans"/>
                <a:ea typeface="+mn-ea"/>
                <a:cs typeface="+mn-cs"/>
              </a:rPr>
              <a:t> Multiplayer gaming, collaborative editing, or chat servers require live shared state.</a:t>
            </a:r>
          </a:p>
          <a:p>
            <a:r>
              <a:rPr lang="en-US" sz="1500" dirty="0">
                <a:solidFill>
                  <a:schemeClr val="accent2"/>
                </a:solidFill>
                <a:latin typeface="Google Sans"/>
                <a:ea typeface="+mn-ea"/>
                <a:cs typeface="+mn-cs"/>
              </a:rPr>
              <a:t>Multi-step transactions are required: </a:t>
            </a:r>
            <a:r>
              <a:rPr lang="en-US" sz="1500" dirty="0">
                <a:solidFill>
                  <a:schemeClr val="accent6"/>
                </a:solidFill>
                <a:latin typeface="Google Sans"/>
                <a:ea typeface="+mn-ea"/>
                <a:cs typeface="+mn-cs"/>
              </a:rPr>
              <a:t>Complex, multi-step workflows like online banking or specialized banking applications.</a:t>
            </a:r>
          </a:p>
          <a:p>
            <a:r>
              <a:rPr lang="en-US" sz="1500" dirty="0">
                <a:solidFill>
                  <a:schemeClr val="accent2"/>
                </a:solidFill>
                <a:latin typeface="Google Sans"/>
                <a:ea typeface="+mn-ea"/>
                <a:cs typeface="+mn-cs"/>
              </a:rPr>
              <a:t>Performance relies on local caching: </a:t>
            </a:r>
            <a:r>
              <a:rPr lang="en-US" sz="1500" dirty="0">
                <a:solidFill>
                  <a:schemeClr val="accent6"/>
                </a:solidFill>
                <a:latin typeface="Google Sans"/>
                <a:ea typeface="+mn-ea"/>
                <a:cs typeface="+mn-cs"/>
              </a:rPr>
              <a:t>When you need to avoid fetching user profile/permissions from a central database for every single click. </a:t>
            </a:r>
          </a:p>
          <a:p>
            <a:r>
              <a:rPr lang="en-US" sz="1500" dirty="0">
                <a:solidFill>
                  <a:schemeClr val="accent2"/>
                </a:solidFill>
                <a:latin typeface="Google Sans"/>
                <a:ea typeface="+mn-ea"/>
                <a:cs typeface="+mn-cs"/>
              </a:rPr>
              <a:t>Use Stateless When:</a:t>
            </a:r>
          </a:p>
          <a:p>
            <a:r>
              <a:rPr lang="en-US" sz="1500" dirty="0">
                <a:solidFill>
                  <a:schemeClr val="accent2"/>
                </a:solidFill>
                <a:latin typeface="Google Sans"/>
                <a:ea typeface="+mn-ea"/>
                <a:cs typeface="+mn-cs"/>
              </a:rPr>
              <a:t>High scalability is needed:</a:t>
            </a:r>
            <a:r>
              <a:rPr lang="en-US" sz="1500" dirty="0">
                <a:solidFill>
                  <a:schemeClr val="accent6"/>
                </a:solidFill>
                <a:latin typeface="Google Sans"/>
                <a:ea typeface="+mn-ea"/>
                <a:cs typeface="+mn-cs"/>
              </a:rPr>
              <a:t> Cloud-native applications, microservices, or public-facing REST APIs.</a:t>
            </a:r>
          </a:p>
          <a:p>
            <a:r>
              <a:rPr lang="en-US" sz="1500" dirty="0">
                <a:solidFill>
                  <a:schemeClr val="accent6"/>
                </a:solidFill>
                <a:latin typeface="Google Sans"/>
                <a:ea typeface="+mn-ea"/>
                <a:cs typeface="+mn-cs"/>
              </a:rPr>
              <a:t>System resilience is crucial: You need the system to stay online even if multiple servers crash.</a:t>
            </a:r>
          </a:p>
          <a:p>
            <a:r>
              <a:rPr lang="en-US" sz="1500" dirty="0">
                <a:solidFill>
                  <a:schemeClr val="accent2"/>
                </a:solidFill>
                <a:latin typeface="Google Sans"/>
                <a:ea typeface="+mn-ea"/>
                <a:cs typeface="+mn-cs"/>
              </a:rPr>
              <a:t>Simplified Deployment:</a:t>
            </a:r>
            <a:r>
              <a:rPr lang="en-US" sz="1500" dirty="0">
                <a:solidFill>
                  <a:schemeClr val="accent6"/>
                </a:solidFill>
                <a:latin typeface="Google Sans"/>
                <a:ea typeface="+mn-ea"/>
                <a:cs typeface="+mn-cs"/>
              </a:rPr>
              <a:t> You want to easily add or remove servers on the fly without worrying about user session migration. </a:t>
            </a:r>
          </a:p>
          <a:p>
            <a:r>
              <a:rPr lang="en-US" sz="1500" dirty="0">
                <a:solidFill>
                  <a:schemeClr val="accent2"/>
                </a:solidFill>
                <a:latin typeface="Google Sans"/>
                <a:ea typeface="+mn-ea"/>
                <a:cs typeface="+mn-cs"/>
              </a:rPr>
              <a:t>Modern Approach:</a:t>
            </a:r>
            <a:r>
              <a:rPr lang="en-US" sz="1500" dirty="0">
                <a:solidFill>
                  <a:schemeClr val="accent6"/>
                </a:solidFill>
                <a:latin typeface="Google Sans"/>
                <a:ea typeface="+mn-ea"/>
                <a:cs typeface="+mn-cs"/>
              </a:rPr>
              <a:t> Most modern systems use a hybrid approach where the application server is stateless (for scaling) and the state is offloaded to a specialized, high-performance database (like Redis) that is stateful. </a:t>
            </a:r>
          </a:p>
        </p:txBody>
      </p:sp>
    </p:spTree>
    <p:extLst>
      <p:ext uri="{BB962C8B-B14F-4D97-AF65-F5344CB8AC3E}">
        <p14:creationId xmlns:p14="http://schemas.microsoft.com/office/powerpoint/2010/main" val="30467284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C698C-B5CB-477B-8C04-DD8DB42F8A8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F11C63B-2C0C-022E-21C3-54B2C30EA49F}"/>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D19DDE2-C3E4-CC86-E3D6-EF1CACD01DCB}"/>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F3F9450-0FB2-AEB3-81F7-918D886B6A89}"/>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DFBBD144-DBD4-530B-581C-5734A5BE8BD2}"/>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E6B5D86-95A0-C84C-6E66-5EFF3C13EEE6}"/>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79E63823-04C8-BC3A-7650-9788B94F6A06}"/>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1B51D1D-01D3-6CF7-6E96-596F2B66CE03}"/>
              </a:ext>
            </a:extLst>
          </p:cNvPr>
          <p:cNvSpPr txBox="1">
            <a:spLocks/>
          </p:cNvSpPr>
          <p:nvPr/>
        </p:nvSpPr>
        <p:spPr>
          <a:xfrm>
            <a:off x="55803" y="774902"/>
            <a:ext cx="8624937" cy="33085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Shared Nothing Architecture</a:t>
            </a:r>
          </a:p>
          <a:p>
            <a:r>
              <a:rPr lang="en-US" sz="1500" dirty="0">
                <a:solidFill>
                  <a:schemeClr val="accent2"/>
                </a:solidFill>
                <a:latin typeface="Google Sans"/>
                <a:ea typeface="+mn-ea"/>
                <a:cs typeface="+mn-cs"/>
              </a:rPr>
              <a:t>In shared-nothing architecture:</a:t>
            </a:r>
          </a:p>
          <a:p>
            <a:r>
              <a:rPr lang="en-US" sz="1500" dirty="0">
                <a:solidFill>
                  <a:schemeClr val="accent6"/>
                </a:solidFill>
                <a:latin typeface="Google Sans"/>
                <a:ea typeface="+mn-ea"/>
                <a:cs typeface="+mn-cs"/>
              </a:rPr>
              <a:t>Each node has its own memory, disk, and CPU</a:t>
            </a:r>
          </a:p>
          <a:p>
            <a:r>
              <a:rPr lang="en-US" sz="1500" dirty="0">
                <a:solidFill>
                  <a:schemeClr val="accent6"/>
                </a:solidFill>
                <a:latin typeface="Google Sans"/>
                <a:ea typeface="+mn-ea"/>
                <a:cs typeface="+mn-cs"/>
              </a:rPr>
              <a:t>Nodes do not share state</a:t>
            </a:r>
          </a:p>
          <a:p>
            <a:r>
              <a:rPr lang="en-US" sz="1500" dirty="0">
                <a:solidFill>
                  <a:schemeClr val="accent6"/>
                </a:solidFill>
                <a:latin typeface="Google Sans"/>
                <a:ea typeface="+mn-ea"/>
                <a:cs typeface="+mn-cs"/>
              </a:rPr>
              <a:t>Communication is via the network</a:t>
            </a:r>
          </a:p>
          <a:p>
            <a:r>
              <a:rPr lang="en-US" sz="1500" dirty="0">
                <a:solidFill>
                  <a:schemeClr val="accent2"/>
                </a:solidFill>
                <a:latin typeface="Google Sans"/>
                <a:ea typeface="+mn-ea"/>
                <a:cs typeface="+mn-cs"/>
              </a:rPr>
              <a:t>Benefits</a:t>
            </a:r>
          </a:p>
          <a:p>
            <a:r>
              <a:rPr lang="en-US" sz="1500" dirty="0">
                <a:solidFill>
                  <a:schemeClr val="accent6"/>
                </a:solidFill>
                <a:latin typeface="Google Sans"/>
                <a:ea typeface="+mn-ea"/>
                <a:cs typeface="+mn-cs"/>
              </a:rPr>
              <a:t>High scalability</a:t>
            </a:r>
          </a:p>
          <a:p>
            <a:r>
              <a:rPr lang="en-US" sz="1500" dirty="0">
                <a:solidFill>
                  <a:schemeClr val="accent6"/>
                </a:solidFill>
                <a:latin typeface="Google Sans"/>
                <a:ea typeface="+mn-ea"/>
                <a:cs typeface="+mn-cs"/>
              </a:rPr>
              <a:t>No single point of failure</a:t>
            </a:r>
          </a:p>
          <a:p>
            <a:r>
              <a:rPr lang="en-US" sz="1500" dirty="0">
                <a:solidFill>
                  <a:schemeClr val="accent6"/>
                </a:solidFill>
                <a:latin typeface="Google Sans"/>
                <a:ea typeface="+mn-ea"/>
                <a:cs typeface="+mn-cs"/>
              </a:rPr>
              <a:t>Fault isolation</a:t>
            </a:r>
          </a:p>
          <a:p>
            <a:r>
              <a:rPr lang="en-US" sz="1500" dirty="0">
                <a:solidFill>
                  <a:schemeClr val="accent2"/>
                </a:solidFill>
                <a:latin typeface="Google Sans"/>
                <a:ea typeface="+mn-ea"/>
                <a:cs typeface="+mn-cs"/>
              </a:rPr>
              <a:t>Examples</a:t>
            </a:r>
          </a:p>
          <a:p>
            <a:r>
              <a:rPr lang="en-US" sz="1500" dirty="0">
                <a:solidFill>
                  <a:schemeClr val="accent6"/>
                </a:solidFill>
                <a:latin typeface="Google Sans"/>
                <a:ea typeface="+mn-ea"/>
                <a:cs typeface="+mn-cs"/>
              </a:rPr>
              <a:t>Cassandra</a:t>
            </a:r>
          </a:p>
          <a:p>
            <a:r>
              <a:rPr lang="en-US" sz="1500" dirty="0">
                <a:solidFill>
                  <a:schemeClr val="accent6"/>
                </a:solidFill>
                <a:latin typeface="Google Sans"/>
                <a:ea typeface="+mn-ea"/>
                <a:cs typeface="+mn-cs"/>
              </a:rPr>
              <a:t>MongoDB</a:t>
            </a:r>
          </a:p>
          <a:p>
            <a:r>
              <a:rPr lang="en-US" sz="1500" dirty="0">
                <a:solidFill>
                  <a:schemeClr val="accent6"/>
                </a:solidFill>
                <a:latin typeface="Google Sans"/>
                <a:ea typeface="+mn-ea"/>
                <a:cs typeface="+mn-cs"/>
              </a:rPr>
              <a:t>Kafka</a:t>
            </a:r>
          </a:p>
          <a:p>
            <a:r>
              <a:rPr lang="en-US" sz="1500" dirty="0">
                <a:solidFill>
                  <a:schemeClr val="accent6"/>
                </a:solidFill>
                <a:latin typeface="Google Sans"/>
                <a:ea typeface="+mn-ea"/>
                <a:cs typeface="+mn-cs"/>
              </a:rPr>
              <a:t>Hadoop</a:t>
            </a:r>
          </a:p>
        </p:txBody>
      </p:sp>
    </p:spTree>
    <p:extLst>
      <p:ext uri="{BB962C8B-B14F-4D97-AF65-F5344CB8AC3E}">
        <p14:creationId xmlns:p14="http://schemas.microsoft.com/office/powerpoint/2010/main" val="26276674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422539598"/>
              </p:ext>
            </p:extLst>
          </p:nvPr>
        </p:nvGraphicFramePr>
        <p:xfrm>
          <a:off x="0" y="0"/>
          <a:ext cx="9067800" cy="6470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797D0467-E07D-4F69-F84C-E1A6743611F5}"/>
              </a:ext>
            </a:extLst>
          </p:cNvPr>
          <p:cNvSpPr txBox="1">
            <a:spLocks/>
          </p:cNvSpPr>
          <p:nvPr/>
        </p:nvSpPr>
        <p:spPr>
          <a:xfrm>
            <a:off x="76200" y="937736"/>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DNS – </a:t>
            </a:r>
          </a:p>
        </p:txBody>
      </p:sp>
      <p:pic>
        <p:nvPicPr>
          <p:cNvPr id="1026" name="Picture 2" descr="networking - How to access multiple servers with local DNS - Super User">
            <a:extLst>
              <a:ext uri="{FF2B5EF4-FFF2-40B4-BE49-F238E27FC236}">
                <a16:creationId xmlns:a16="http://schemas.microsoft.com/office/drawing/2014/main" id="{F29102EC-6240-AD6D-B518-9691BD39FA1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 y="1445340"/>
            <a:ext cx="8229600" cy="4193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4258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3" name="object 2">
            <a:extLst>
              <a:ext uri="{FF2B5EF4-FFF2-40B4-BE49-F238E27FC236}">
                <a16:creationId xmlns:a16="http://schemas.microsoft.com/office/drawing/2014/main" id="{797D0467-E07D-4F69-F84C-E1A6743611F5}"/>
              </a:ext>
            </a:extLst>
          </p:cNvPr>
          <p:cNvSpPr txBox="1">
            <a:spLocks/>
          </p:cNvSpPr>
          <p:nvPr/>
        </p:nvSpPr>
        <p:spPr>
          <a:xfrm>
            <a:off x="76200" y="937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DNS –</a:t>
            </a:r>
          </a:p>
          <a:p>
            <a:pPr marL="12700" marR="5080"/>
            <a:r>
              <a:rPr lang="en-US" sz="2400" kern="0" spc="-80" dirty="0">
                <a:solidFill>
                  <a:schemeClr val="accent2"/>
                </a:solidFill>
              </a:rPr>
              <a:t>   Hierarchy -  </a:t>
            </a:r>
          </a:p>
        </p:txBody>
      </p:sp>
      <p:pic>
        <p:nvPicPr>
          <p:cNvPr id="7" name="Picture 6">
            <a:extLst>
              <a:ext uri="{FF2B5EF4-FFF2-40B4-BE49-F238E27FC236}">
                <a16:creationId xmlns:a16="http://schemas.microsoft.com/office/drawing/2014/main" id="{A7F142D3-F360-4378-E8A3-39B3AB118875}"/>
              </a:ext>
            </a:extLst>
          </p:cNvPr>
          <p:cNvPicPr>
            <a:picLocks noChangeAspect="1"/>
          </p:cNvPicPr>
          <p:nvPr/>
        </p:nvPicPr>
        <p:blipFill>
          <a:blip r:embed="rId2"/>
          <a:stretch>
            <a:fillRect/>
          </a:stretch>
        </p:blipFill>
        <p:spPr>
          <a:xfrm>
            <a:off x="152400" y="1695259"/>
            <a:ext cx="8630094" cy="3714941"/>
          </a:xfrm>
          <a:prstGeom prst="rect">
            <a:avLst/>
          </a:prstGeom>
        </p:spPr>
      </p:pic>
      <p:graphicFrame>
        <p:nvGraphicFramePr>
          <p:cNvPr id="2" name="Diagram 1">
            <a:extLst>
              <a:ext uri="{FF2B5EF4-FFF2-40B4-BE49-F238E27FC236}">
                <a16:creationId xmlns:a16="http://schemas.microsoft.com/office/drawing/2014/main" id="{E714515D-C567-0985-714B-978F30C95F4E}"/>
              </a:ext>
            </a:extLst>
          </p:cNvPr>
          <p:cNvGraphicFramePr/>
          <p:nvPr>
            <p:extLst>
              <p:ext uri="{D42A27DB-BD31-4B8C-83A1-F6EECF244321}">
                <p14:modId xmlns:p14="http://schemas.microsoft.com/office/powerpoint/2010/main" val="343553121"/>
              </p:ext>
            </p:extLst>
          </p:nvPr>
        </p:nvGraphicFramePr>
        <p:xfrm>
          <a:off x="0" y="38736"/>
          <a:ext cx="9067800" cy="6470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001964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3" name="object 2">
            <a:extLst>
              <a:ext uri="{FF2B5EF4-FFF2-40B4-BE49-F238E27FC236}">
                <a16:creationId xmlns:a16="http://schemas.microsoft.com/office/drawing/2014/main" id="{797D0467-E07D-4F69-F84C-E1A6743611F5}"/>
              </a:ext>
            </a:extLst>
          </p:cNvPr>
          <p:cNvSpPr txBox="1">
            <a:spLocks/>
          </p:cNvSpPr>
          <p:nvPr/>
        </p:nvSpPr>
        <p:spPr>
          <a:xfrm>
            <a:off x="76200" y="937736"/>
            <a:ext cx="8624937" cy="40164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DNS - </a:t>
            </a:r>
          </a:p>
          <a:p>
            <a:pPr marL="12700" marR="5080"/>
            <a:r>
              <a:rPr lang="en-US" sz="2400" kern="0" spc="-80" dirty="0">
                <a:solidFill>
                  <a:schemeClr val="accent2"/>
                </a:solidFill>
              </a:rPr>
              <a:t>For Further Exploration – </a:t>
            </a:r>
          </a:p>
          <a:p>
            <a:pPr marL="12700" marR="5080"/>
            <a:endParaRPr lang="en-US" sz="2400" kern="0" spc="-80" dirty="0">
              <a:solidFill>
                <a:schemeClr val="accent2"/>
              </a:solidFill>
            </a:endParaRPr>
          </a:p>
          <a:p>
            <a:pPr marL="12700" marR="5080"/>
            <a:endParaRPr lang="en-US" sz="2400" kern="0" spc="-80" dirty="0">
              <a:solidFill>
                <a:schemeClr val="accent2"/>
              </a:solidFill>
            </a:endParaRPr>
          </a:p>
          <a:p>
            <a:pPr marL="12700" marR="5080"/>
            <a:r>
              <a:rPr lang="en-US" sz="2400" kern="0" spc="-80" dirty="0">
                <a:solidFill>
                  <a:schemeClr val="accent2"/>
                </a:solidFill>
              </a:rPr>
              <a:t>Local DNS </a:t>
            </a:r>
            <a:r>
              <a:rPr lang="en-US" sz="2400" kern="0" spc="-80" dirty="0">
                <a:solidFill>
                  <a:schemeClr val="accent6"/>
                </a:solidFill>
              </a:rPr>
              <a:t>– i.e. via Host File(</a:t>
            </a:r>
            <a:r>
              <a:rPr lang="en-US" sz="1500" dirty="0" err="1">
                <a:hlinkClick r:id="rId2"/>
              </a:rPr>
              <a:t>c#</a:t>
            </a:r>
            <a:r>
              <a:rPr lang="en-US" sz="1500" dirty="0">
                <a:hlinkClick r:id="rId2"/>
              </a:rPr>
              <a:t> - How do </a:t>
            </a:r>
            <a:r>
              <a:rPr lang="en-US" sz="1500" dirty="0" err="1">
                <a:hlinkClick r:id="rId2"/>
              </a:rPr>
              <a:t>i</a:t>
            </a:r>
            <a:r>
              <a:rPr lang="en-US" sz="1500" dirty="0">
                <a:hlinkClick r:id="rId2"/>
              </a:rPr>
              <a:t> change the hosts file in a windows program? - Stack Overflow</a:t>
            </a:r>
            <a:r>
              <a:rPr lang="en-US" sz="2400" kern="0" spc="-80" dirty="0">
                <a:solidFill>
                  <a:schemeClr val="accent6"/>
                </a:solidFill>
              </a:rPr>
              <a:t>) </a:t>
            </a:r>
          </a:p>
          <a:p>
            <a:pPr marL="12700" marR="5080"/>
            <a:endParaRPr lang="en-US" sz="2400" kern="0" spc="-80" dirty="0">
              <a:solidFill>
                <a:schemeClr val="accent6"/>
              </a:solidFill>
            </a:endParaRPr>
          </a:p>
          <a:p>
            <a:pPr marL="12700" marR="5080"/>
            <a:endParaRPr lang="en-US" sz="2400" kern="0" spc="-80" dirty="0">
              <a:solidFill>
                <a:schemeClr val="accent6"/>
              </a:solidFill>
            </a:endParaRPr>
          </a:p>
          <a:p>
            <a:pPr marL="12700" marR="5080"/>
            <a:r>
              <a:rPr lang="en-US" sz="2400" kern="0" spc="-80" dirty="0">
                <a:solidFill>
                  <a:schemeClr val="accent2"/>
                </a:solidFill>
              </a:rPr>
              <a:t>Hierarchical DNS(using physical servers)</a:t>
            </a:r>
            <a:r>
              <a:rPr lang="en-US" sz="2400" kern="0" spc="-80" dirty="0">
                <a:solidFill>
                  <a:schemeClr val="accent6"/>
                </a:solidFill>
              </a:rPr>
              <a:t> – </a:t>
            </a:r>
          </a:p>
          <a:p>
            <a:pPr marL="12700" marR="5080"/>
            <a:r>
              <a:rPr lang="en-US" sz="1500" dirty="0">
                <a:hlinkClick r:id="rId3"/>
              </a:rPr>
              <a:t>Introduction to Domain Name System (DNS)</a:t>
            </a:r>
            <a:endParaRPr lang="en-US" sz="1500" dirty="0"/>
          </a:p>
          <a:p>
            <a:pPr marL="12700" marR="5080"/>
            <a:r>
              <a:rPr lang="en-US" sz="1500" dirty="0">
                <a:hlinkClick r:id="rId4"/>
              </a:rPr>
              <a:t>How the Domain Name System Works</a:t>
            </a:r>
            <a:endParaRPr lang="en-US" sz="1500" dirty="0"/>
          </a:p>
          <a:p>
            <a:pPr marL="12700" marR="5080"/>
            <a:r>
              <a:rPr lang="en-IN" sz="1500" dirty="0">
                <a:hlinkClick r:id="rId5"/>
              </a:rPr>
              <a:t>DNS Resolution – How the internet find its way | LinkedIn</a:t>
            </a:r>
            <a:endParaRPr lang="en-US" sz="1500" kern="0" spc="-80" dirty="0">
              <a:solidFill>
                <a:schemeClr val="accent6"/>
              </a:solidFill>
            </a:endParaRPr>
          </a:p>
        </p:txBody>
      </p:sp>
      <p:graphicFrame>
        <p:nvGraphicFramePr>
          <p:cNvPr id="2" name="Diagram 1">
            <a:extLst>
              <a:ext uri="{FF2B5EF4-FFF2-40B4-BE49-F238E27FC236}">
                <a16:creationId xmlns:a16="http://schemas.microsoft.com/office/drawing/2014/main" id="{0C237114-B8EA-D3DE-D4F2-6CE17C511F07}"/>
              </a:ext>
            </a:extLst>
          </p:cNvPr>
          <p:cNvGraphicFramePr/>
          <p:nvPr>
            <p:extLst>
              <p:ext uri="{D42A27DB-BD31-4B8C-83A1-F6EECF244321}">
                <p14:modId xmlns:p14="http://schemas.microsoft.com/office/powerpoint/2010/main" val="3888127598"/>
              </p:ext>
            </p:extLst>
          </p:nvPr>
        </p:nvGraphicFramePr>
        <p:xfrm>
          <a:off x="0" y="0"/>
          <a:ext cx="9067800" cy="64706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1255935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25B91-7DB1-3EDE-148A-BA699417BC0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A89346C-84B2-462E-96B6-95754B36CF7D}"/>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F05977B-7AEF-7093-E791-ED7B69DBBE2A}"/>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BBBFAC9-EAE6-E27B-47FF-6DBD66055092}"/>
              </a:ext>
            </a:extLst>
          </p:cNvPr>
          <p:cNvGraphicFramePr/>
          <p:nvPr>
            <p:extLst>
              <p:ext uri="{D42A27DB-BD31-4B8C-83A1-F6EECF244321}">
                <p14:modId xmlns:p14="http://schemas.microsoft.com/office/powerpoint/2010/main" val="3419760880"/>
              </p:ext>
            </p:extLst>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E764D7B1-CB1D-40BF-A2A3-577258A77B77}"/>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17ABE16D-D577-BDB6-C5E0-EA7F19C6F6E6}"/>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82322746-0862-B24B-E629-DAE3874743E1}"/>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1F0B7DB8-D0B1-C3DF-3236-ED86D4A035E2}"/>
              </a:ext>
            </a:extLst>
          </p:cNvPr>
          <p:cNvSpPr txBox="1">
            <a:spLocks/>
          </p:cNvSpPr>
          <p:nvPr/>
        </p:nvSpPr>
        <p:spPr>
          <a:xfrm>
            <a:off x="55803" y="774902"/>
            <a:ext cx="8624937" cy="267765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Management vs Control vs Data Plane</a:t>
            </a:r>
          </a:p>
          <a:p>
            <a:r>
              <a:rPr lang="en-US" sz="1700" dirty="0">
                <a:solidFill>
                  <a:schemeClr val="accent2"/>
                </a:solidFill>
                <a:latin typeface="Google Sans"/>
                <a:ea typeface="+mn-ea"/>
                <a:cs typeface="+mn-cs"/>
              </a:rPr>
              <a:t>Conceptual Overview</a:t>
            </a:r>
          </a:p>
          <a:p>
            <a:r>
              <a:rPr lang="en-US" sz="1500" dirty="0">
                <a:solidFill>
                  <a:schemeClr val="accent6"/>
                </a:solidFill>
                <a:latin typeface="Google Sans"/>
                <a:ea typeface="+mn-ea"/>
                <a:cs typeface="+mn-cs"/>
              </a:rPr>
              <a:t>Modern distributed systems and networks are divided into three functional planes to achieve separation of concerns, scalability, and security. </a:t>
            </a:r>
          </a:p>
          <a:p>
            <a:r>
              <a:rPr lang="en-US" sz="1500" dirty="0">
                <a:solidFill>
                  <a:schemeClr val="accent2"/>
                </a:solidFill>
                <a:latin typeface="Google Sans"/>
                <a:ea typeface="+mn-ea"/>
                <a:cs typeface="+mn-cs"/>
              </a:rPr>
              <a:t>Data Plane (The Muscle): </a:t>
            </a:r>
            <a:r>
              <a:rPr lang="en-US" sz="1500" dirty="0">
                <a:solidFill>
                  <a:schemeClr val="accent6"/>
                </a:solidFill>
                <a:latin typeface="Google Sans"/>
                <a:ea typeface="+mn-ea"/>
                <a:cs typeface="+mn-cs"/>
              </a:rPr>
              <a:t>The "workhorse" that processes and forwards actual user data/traffic (e.g., HTTP requests, packets).</a:t>
            </a:r>
          </a:p>
          <a:p>
            <a:r>
              <a:rPr lang="en-US" sz="1500" dirty="0">
                <a:solidFill>
                  <a:schemeClr val="accent2"/>
                </a:solidFill>
                <a:latin typeface="Google Sans"/>
                <a:ea typeface="+mn-ea"/>
                <a:cs typeface="+mn-cs"/>
              </a:rPr>
              <a:t>Control Plane (The Brain): </a:t>
            </a:r>
            <a:r>
              <a:rPr lang="en-US" sz="1500" dirty="0">
                <a:solidFill>
                  <a:schemeClr val="accent6"/>
                </a:solidFill>
                <a:latin typeface="Google Sans"/>
                <a:ea typeface="+mn-ea"/>
                <a:cs typeface="+mn-cs"/>
              </a:rPr>
              <a:t>The decision-maker that tells the data plane how to handle traffic (e.g., routing tables, load balancing rules).</a:t>
            </a:r>
          </a:p>
          <a:p>
            <a:r>
              <a:rPr lang="en-US" sz="1500" dirty="0">
                <a:solidFill>
                  <a:schemeClr val="accent2"/>
                </a:solidFill>
                <a:latin typeface="Google Sans"/>
                <a:ea typeface="+mn-ea"/>
                <a:cs typeface="+mn-cs"/>
              </a:rPr>
              <a:t>Management Plane (The Administrator): </a:t>
            </a:r>
            <a:r>
              <a:rPr lang="en-US" sz="1500" dirty="0">
                <a:solidFill>
                  <a:schemeClr val="accent6"/>
                </a:solidFill>
                <a:latin typeface="Google Sans"/>
                <a:ea typeface="+mn-ea"/>
                <a:cs typeface="+mn-cs"/>
              </a:rPr>
              <a:t>The interface for humans/automated systems to configure, monitor, and manage the system (e.g., GUIs, APIs, CLI)</a:t>
            </a:r>
          </a:p>
          <a:p>
            <a:r>
              <a:rPr lang="en-US" sz="1700" dirty="0">
                <a:solidFill>
                  <a:schemeClr val="accent2"/>
                </a:solidFill>
                <a:latin typeface="Google Sans"/>
                <a:ea typeface="+mn-ea"/>
                <a:cs typeface="+mn-cs"/>
              </a:rPr>
              <a:t>Comparison</a:t>
            </a:r>
          </a:p>
        </p:txBody>
      </p:sp>
      <p:pic>
        <p:nvPicPr>
          <p:cNvPr id="13" name="Picture 12">
            <a:extLst>
              <a:ext uri="{FF2B5EF4-FFF2-40B4-BE49-F238E27FC236}">
                <a16:creationId xmlns:a16="http://schemas.microsoft.com/office/drawing/2014/main" id="{7F074A8E-9F08-5506-8EDE-B685109E79E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803" y="3452559"/>
            <a:ext cx="8951037" cy="2491042"/>
          </a:xfrm>
          <a:prstGeom prst="rect">
            <a:avLst/>
          </a:prstGeom>
        </p:spPr>
      </p:pic>
    </p:spTree>
    <p:extLst>
      <p:ext uri="{BB962C8B-B14F-4D97-AF65-F5344CB8AC3E}">
        <p14:creationId xmlns:p14="http://schemas.microsoft.com/office/powerpoint/2010/main" val="164919635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5DE89-0774-AE81-427D-2ED092E74C0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59B9A4C-02FD-0664-CAB8-C231CB41A482}"/>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80B3104-0EAF-CA23-1832-AAD5BF10EF04}"/>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AC49362-6671-2DFF-4A67-E79F00B4F071}"/>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A15B4DBF-7849-370B-71FA-BC15FD0768FB}"/>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59CA3DF2-4A07-073D-4FA1-5526151AB5B6}"/>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7" name="object 2">
            <a:extLst>
              <a:ext uri="{FF2B5EF4-FFF2-40B4-BE49-F238E27FC236}">
                <a16:creationId xmlns:a16="http://schemas.microsoft.com/office/drawing/2014/main" id="{7C1DAF14-DF2E-6CB8-CD2D-B316F2C8B467}"/>
              </a:ext>
            </a:extLst>
          </p:cNvPr>
          <p:cNvSpPr txBox="1">
            <a:spLocks/>
          </p:cNvSpPr>
          <p:nvPr/>
        </p:nvSpPr>
        <p:spPr>
          <a:xfrm>
            <a:off x="55803" y="774902"/>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Management vs Control vs Data Plane</a:t>
            </a:r>
          </a:p>
        </p:txBody>
      </p:sp>
      <p:pic>
        <p:nvPicPr>
          <p:cNvPr id="9" name="Picture 8">
            <a:extLst>
              <a:ext uri="{FF2B5EF4-FFF2-40B4-BE49-F238E27FC236}">
                <a16:creationId xmlns:a16="http://schemas.microsoft.com/office/drawing/2014/main" id="{68EFE5D9-B7A5-3F02-B897-68DF63394CE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643" y="1073285"/>
            <a:ext cx="8961197" cy="369332"/>
          </a:xfrm>
          <a:prstGeom prst="rect">
            <a:avLst/>
          </a:prstGeom>
        </p:spPr>
      </p:pic>
      <p:pic>
        <p:nvPicPr>
          <p:cNvPr id="12" name="Picture 11">
            <a:extLst>
              <a:ext uri="{FF2B5EF4-FFF2-40B4-BE49-F238E27FC236}">
                <a16:creationId xmlns:a16="http://schemas.microsoft.com/office/drawing/2014/main" id="{8C4B918D-014A-3A68-E1FF-B2F445EF1E2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803" y="1442616"/>
            <a:ext cx="8951037" cy="4043784"/>
          </a:xfrm>
          <a:prstGeom prst="rect">
            <a:avLst/>
          </a:prstGeom>
        </p:spPr>
      </p:pic>
      <p:pic>
        <p:nvPicPr>
          <p:cNvPr id="15" name="Picture 14">
            <a:extLst>
              <a:ext uri="{FF2B5EF4-FFF2-40B4-BE49-F238E27FC236}">
                <a16:creationId xmlns:a16="http://schemas.microsoft.com/office/drawing/2014/main" id="{1C3B9E4C-DC7A-990F-3192-7491D5F915A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5803" y="5486400"/>
            <a:ext cx="9088197" cy="457200"/>
          </a:xfrm>
          <a:prstGeom prst="rect">
            <a:avLst/>
          </a:prstGeom>
        </p:spPr>
      </p:pic>
    </p:spTree>
    <p:extLst>
      <p:ext uri="{BB962C8B-B14F-4D97-AF65-F5344CB8AC3E}">
        <p14:creationId xmlns:p14="http://schemas.microsoft.com/office/powerpoint/2010/main" val="38149933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E8E6A-E175-00B2-0659-C0879BD639E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16DB4FA-12AC-179C-DE7E-2EBFA1ABE924}"/>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71B9209-F440-2730-FA86-54BC7C08A7CA}"/>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ECB3093-D22A-309E-419B-A38B8A2DB83C}"/>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E9979484-01A4-202D-5AEE-311DB13EE126}"/>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FB3BCD60-BAE9-8F7F-B8F6-6472C5376A2D}"/>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7" name="object 2">
            <a:extLst>
              <a:ext uri="{FF2B5EF4-FFF2-40B4-BE49-F238E27FC236}">
                <a16:creationId xmlns:a16="http://schemas.microsoft.com/office/drawing/2014/main" id="{1374A761-2848-5CD6-C1EA-D3B576F25B55}"/>
              </a:ext>
            </a:extLst>
          </p:cNvPr>
          <p:cNvSpPr txBox="1">
            <a:spLocks/>
          </p:cNvSpPr>
          <p:nvPr/>
        </p:nvSpPr>
        <p:spPr>
          <a:xfrm>
            <a:off x="55803" y="774902"/>
            <a:ext cx="8624937" cy="51398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Management vs Control vs Data Plane</a:t>
            </a:r>
          </a:p>
          <a:p>
            <a:r>
              <a:rPr lang="en-US" sz="1700" dirty="0">
                <a:solidFill>
                  <a:schemeClr val="accent2"/>
                </a:solidFill>
                <a:latin typeface="Google Sans"/>
                <a:ea typeface="+mn-ea"/>
                <a:cs typeface="+mn-cs"/>
              </a:rPr>
              <a:t>Breakdown</a:t>
            </a:r>
          </a:p>
          <a:p>
            <a:r>
              <a:rPr lang="en-US" sz="1400" dirty="0">
                <a:solidFill>
                  <a:schemeClr val="accent2"/>
                </a:solidFill>
                <a:latin typeface="Google Sans"/>
                <a:ea typeface="+mn-ea"/>
                <a:cs typeface="+mn-cs"/>
              </a:rPr>
              <a:t>1. Management Plane </a:t>
            </a:r>
          </a:p>
          <a:p>
            <a:r>
              <a:rPr lang="en-US" sz="1400" dirty="0">
                <a:solidFill>
                  <a:schemeClr val="accent2"/>
                </a:solidFill>
                <a:latin typeface="Google Sans"/>
                <a:ea typeface="+mn-ea"/>
                <a:cs typeface="+mn-cs"/>
              </a:rPr>
              <a:t>Purpose: </a:t>
            </a:r>
            <a:r>
              <a:rPr lang="en-US" sz="1400" dirty="0">
                <a:solidFill>
                  <a:schemeClr val="accent6"/>
                </a:solidFill>
                <a:latin typeface="Google Sans"/>
                <a:ea typeface="+mn-ea"/>
                <a:cs typeface="+mn-cs"/>
              </a:rPr>
              <a:t>To provide a human-readable or machine-API-based interface to manage the configuration and monitor the health of the system.</a:t>
            </a:r>
          </a:p>
          <a:p>
            <a:r>
              <a:rPr lang="en-US" sz="1400" dirty="0">
                <a:solidFill>
                  <a:schemeClr val="accent2"/>
                </a:solidFill>
                <a:latin typeface="Google Sans"/>
                <a:ea typeface="+mn-ea"/>
                <a:cs typeface="+mn-cs"/>
              </a:rPr>
              <a:t>Application Development View: </a:t>
            </a:r>
            <a:r>
              <a:rPr lang="en-US" sz="1400" dirty="0">
                <a:solidFill>
                  <a:schemeClr val="accent6"/>
                </a:solidFill>
                <a:latin typeface="Google Sans"/>
                <a:ea typeface="+mn-ea"/>
                <a:cs typeface="+mn-cs"/>
              </a:rPr>
              <a:t>This is where you call POST /v1/configuration to set up a load balancer policy. If this plane goes down, you cannot change configurations, but the existing application keeps working.</a:t>
            </a:r>
          </a:p>
          <a:p>
            <a:r>
              <a:rPr lang="en-US" sz="1400" dirty="0">
                <a:solidFill>
                  <a:schemeClr val="accent2"/>
                </a:solidFill>
                <a:latin typeface="Google Sans"/>
                <a:ea typeface="+mn-ea"/>
                <a:cs typeface="+mn-cs"/>
              </a:rPr>
              <a:t>Key Responsibilities: </a:t>
            </a:r>
            <a:r>
              <a:rPr lang="en-US" sz="1400" dirty="0">
                <a:solidFill>
                  <a:schemeClr val="accent6"/>
                </a:solidFill>
                <a:latin typeface="Google Sans"/>
                <a:ea typeface="+mn-ea"/>
                <a:cs typeface="+mn-cs"/>
              </a:rPr>
              <a:t>User authentication, logging, configuration management, monitoring (SNMP, telemetry), provisioning. </a:t>
            </a:r>
          </a:p>
          <a:p>
            <a:r>
              <a:rPr lang="en-US" sz="1400" dirty="0">
                <a:solidFill>
                  <a:schemeClr val="accent2"/>
                </a:solidFill>
                <a:latin typeface="Google Sans"/>
                <a:ea typeface="+mn-ea"/>
                <a:cs typeface="+mn-cs"/>
              </a:rPr>
              <a:t>2. Control Plane</a:t>
            </a:r>
          </a:p>
          <a:p>
            <a:r>
              <a:rPr lang="en-US" sz="1400" dirty="0">
                <a:solidFill>
                  <a:schemeClr val="accent2"/>
                </a:solidFill>
                <a:latin typeface="Google Sans"/>
                <a:ea typeface="+mn-ea"/>
                <a:cs typeface="+mn-cs"/>
              </a:rPr>
              <a:t>Purpose: </a:t>
            </a:r>
            <a:r>
              <a:rPr lang="en-US" sz="1400" dirty="0">
                <a:solidFill>
                  <a:schemeClr val="accent6"/>
                </a:solidFill>
                <a:latin typeface="Google Sans"/>
                <a:ea typeface="+mn-ea"/>
                <a:cs typeface="+mn-cs"/>
              </a:rPr>
              <a:t>To make intelligent, automated decisions about how traffic should be handled and to propagate those decisions to the Data Plane.</a:t>
            </a:r>
          </a:p>
          <a:p>
            <a:r>
              <a:rPr lang="en-US" sz="1400" dirty="0">
                <a:solidFill>
                  <a:schemeClr val="accent2"/>
                </a:solidFill>
                <a:latin typeface="Google Sans"/>
                <a:ea typeface="+mn-ea"/>
                <a:cs typeface="+mn-cs"/>
              </a:rPr>
              <a:t>Application Development View:</a:t>
            </a:r>
            <a:r>
              <a:rPr lang="en-US" sz="1400" dirty="0">
                <a:solidFill>
                  <a:schemeClr val="accent6"/>
                </a:solidFill>
                <a:latin typeface="Google Sans"/>
                <a:ea typeface="+mn-ea"/>
                <a:cs typeface="+mn-cs"/>
              </a:rPr>
              <a:t> In a service mesh, the control plane (e.g., </a:t>
            </a:r>
            <a:r>
              <a:rPr lang="en-US" sz="1400" dirty="0" err="1">
                <a:solidFill>
                  <a:schemeClr val="accent6"/>
                </a:solidFill>
                <a:latin typeface="Google Sans"/>
                <a:ea typeface="+mn-ea"/>
                <a:cs typeface="+mn-cs"/>
              </a:rPr>
              <a:t>Istiod</a:t>
            </a:r>
            <a:r>
              <a:rPr lang="en-US" sz="1400" dirty="0">
                <a:solidFill>
                  <a:schemeClr val="accent6"/>
                </a:solidFill>
                <a:latin typeface="Google Sans"/>
                <a:ea typeface="+mn-ea"/>
                <a:cs typeface="+mn-cs"/>
              </a:rPr>
              <a:t>) monitors which service pods are available and tells the data plane proxies (Envoy) which IP addresses to send traffic to.</a:t>
            </a:r>
          </a:p>
          <a:p>
            <a:r>
              <a:rPr lang="en-US" sz="1400" dirty="0">
                <a:solidFill>
                  <a:schemeClr val="accent2"/>
                </a:solidFill>
                <a:latin typeface="Google Sans"/>
                <a:ea typeface="+mn-ea"/>
                <a:cs typeface="+mn-cs"/>
              </a:rPr>
              <a:t>Key Responsibilities: </a:t>
            </a:r>
            <a:r>
              <a:rPr lang="en-US" sz="1400" dirty="0">
                <a:solidFill>
                  <a:schemeClr val="accent6"/>
                </a:solidFill>
                <a:latin typeface="Google Sans"/>
                <a:ea typeface="+mn-ea"/>
                <a:cs typeface="+mn-cs"/>
              </a:rPr>
              <a:t>Routing table updates, path determination, security policy enforcement (ACLs), network topology maintenance. </a:t>
            </a:r>
          </a:p>
          <a:p>
            <a:r>
              <a:rPr lang="en-US" sz="1400" dirty="0">
                <a:solidFill>
                  <a:schemeClr val="accent2"/>
                </a:solidFill>
                <a:latin typeface="Google Sans"/>
                <a:ea typeface="+mn-ea"/>
                <a:cs typeface="+mn-cs"/>
              </a:rPr>
              <a:t>3. Data Plane</a:t>
            </a:r>
          </a:p>
          <a:p>
            <a:r>
              <a:rPr lang="en-US" sz="1400" dirty="0">
                <a:solidFill>
                  <a:schemeClr val="accent2"/>
                </a:solidFill>
                <a:latin typeface="Google Sans"/>
                <a:ea typeface="+mn-ea"/>
                <a:cs typeface="+mn-cs"/>
              </a:rPr>
              <a:t>Purpose: </a:t>
            </a:r>
            <a:r>
              <a:rPr lang="en-US" sz="1400" dirty="0">
                <a:solidFill>
                  <a:schemeClr val="accent6"/>
                </a:solidFill>
                <a:latin typeface="Google Sans"/>
                <a:ea typeface="+mn-ea"/>
                <a:cs typeface="+mn-cs"/>
              </a:rPr>
              <a:t>To execute the forwarding decisions made by the control plane. This is where user data packets are inspected, processed, and forwarded.</a:t>
            </a:r>
          </a:p>
          <a:p>
            <a:r>
              <a:rPr lang="en-US" sz="1400" dirty="0">
                <a:solidFill>
                  <a:schemeClr val="accent2"/>
                </a:solidFill>
                <a:latin typeface="Google Sans"/>
                <a:ea typeface="+mn-ea"/>
                <a:cs typeface="+mn-cs"/>
              </a:rPr>
              <a:t>Application Development View:</a:t>
            </a:r>
            <a:r>
              <a:rPr lang="en-US" sz="1400" dirty="0">
                <a:solidFill>
                  <a:schemeClr val="accent6"/>
                </a:solidFill>
                <a:latin typeface="Google Sans"/>
                <a:ea typeface="+mn-ea"/>
                <a:cs typeface="+mn-cs"/>
              </a:rPr>
              <a:t> This is where your actual microservice requests flow. If this is slow, your user application is slow. It is designed for maximum speed and minimal latency, often using specialized hardware (ASICs) or optimized software (Envoy, VPP).</a:t>
            </a:r>
          </a:p>
          <a:p>
            <a:r>
              <a:rPr lang="en-US" sz="1400" dirty="0">
                <a:solidFill>
                  <a:schemeClr val="accent2"/>
                </a:solidFill>
                <a:latin typeface="Google Sans"/>
                <a:ea typeface="+mn-ea"/>
                <a:cs typeface="+mn-cs"/>
              </a:rPr>
              <a:t>Key Responsibilities: </a:t>
            </a:r>
            <a:r>
              <a:rPr lang="en-US" sz="1400" dirty="0">
                <a:solidFill>
                  <a:schemeClr val="accent6"/>
                </a:solidFill>
                <a:latin typeface="Google Sans"/>
                <a:ea typeface="+mn-ea"/>
                <a:cs typeface="+mn-cs"/>
              </a:rPr>
              <a:t>Packet switching, encapsulating/de-encapsulating, applying ACLs, NAT, QoS</a:t>
            </a:r>
          </a:p>
        </p:txBody>
      </p:sp>
    </p:spTree>
    <p:extLst>
      <p:ext uri="{BB962C8B-B14F-4D97-AF65-F5344CB8AC3E}">
        <p14:creationId xmlns:p14="http://schemas.microsoft.com/office/powerpoint/2010/main" val="18856098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A7BC0-2169-0653-996A-1CC1D677D71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0AB11B5-046A-6308-F22F-27A397CAB5D4}"/>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BE31136-48D5-7260-5304-29E3315B4809}"/>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BF1CAD6-8701-152E-C657-E554C3F46665}"/>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BA5D43C4-4CA5-811D-1B76-951BC7B13359}"/>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76EDBD9-D59E-C4A3-D363-8C7D7243CAE5}"/>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7" name="object 2">
            <a:extLst>
              <a:ext uri="{FF2B5EF4-FFF2-40B4-BE49-F238E27FC236}">
                <a16:creationId xmlns:a16="http://schemas.microsoft.com/office/drawing/2014/main" id="{EA08E3FC-4131-7D6B-419A-F1728BBB488D}"/>
              </a:ext>
            </a:extLst>
          </p:cNvPr>
          <p:cNvSpPr txBox="1">
            <a:spLocks/>
          </p:cNvSpPr>
          <p:nvPr/>
        </p:nvSpPr>
        <p:spPr>
          <a:xfrm>
            <a:off x="55803" y="774902"/>
            <a:ext cx="8624937" cy="23391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Management vs Control vs Data Plane</a:t>
            </a:r>
          </a:p>
          <a:p>
            <a:r>
              <a:rPr lang="en-US" sz="1700" dirty="0">
                <a:solidFill>
                  <a:schemeClr val="accent2"/>
                </a:solidFill>
                <a:latin typeface="Google Sans"/>
                <a:ea typeface="+mn-ea"/>
                <a:cs typeface="+mn-cs"/>
              </a:rPr>
              <a:t>Separation Advantages</a:t>
            </a:r>
          </a:p>
          <a:p>
            <a:r>
              <a:rPr lang="en-US" sz="1400" dirty="0">
                <a:solidFill>
                  <a:schemeClr val="accent2"/>
                </a:solidFill>
                <a:latin typeface="Google Sans"/>
                <a:ea typeface="+mn-ea"/>
                <a:cs typeface="+mn-cs"/>
              </a:rPr>
              <a:t>Scalability: </a:t>
            </a:r>
            <a:r>
              <a:rPr lang="en-US" sz="1400" dirty="0">
                <a:solidFill>
                  <a:schemeClr val="accent6"/>
                </a:solidFill>
                <a:latin typeface="Google Sans"/>
                <a:ea typeface="+mn-ea"/>
                <a:cs typeface="+mn-cs"/>
              </a:rPr>
              <a:t>You can scale the data plane to handle millions of requests without scaling the control plane, which only needs to handle configuration updates.</a:t>
            </a:r>
          </a:p>
          <a:p>
            <a:r>
              <a:rPr lang="en-US" sz="1400" dirty="0">
                <a:solidFill>
                  <a:schemeClr val="accent2"/>
                </a:solidFill>
                <a:latin typeface="Google Sans"/>
                <a:ea typeface="+mn-ea"/>
                <a:cs typeface="+mn-cs"/>
              </a:rPr>
              <a:t>Resilience:</a:t>
            </a:r>
            <a:r>
              <a:rPr lang="en-US" sz="1400" dirty="0">
                <a:solidFill>
                  <a:schemeClr val="accent6"/>
                </a:solidFill>
                <a:latin typeface="Google Sans"/>
                <a:ea typeface="+mn-ea"/>
                <a:cs typeface="+mn-cs"/>
              </a:rPr>
              <a:t> If the control plane fails, the data plane keeps forwarding traffic based on the last known good configuration.</a:t>
            </a:r>
          </a:p>
          <a:p>
            <a:r>
              <a:rPr lang="en-US" sz="1400" dirty="0">
                <a:solidFill>
                  <a:schemeClr val="accent2"/>
                </a:solidFill>
                <a:latin typeface="Google Sans"/>
                <a:ea typeface="+mn-ea"/>
                <a:cs typeface="+mn-cs"/>
              </a:rPr>
              <a:t>Security: </a:t>
            </a:r>
            <a:r>
              <a:rPr lang="en-US" sz="1400" dirty="0">
                <a:solidFill>
                  <a:schemeClr val="accent6"/>
                </a:solidFill>
                <a:latin typeface="Google Sans"/>
                <a:ea typeface="+mn-ea"/>
                <a:cs typeface="+mn-cs"/>
              </a:rPr>
              <a:t>You can secure the management/control plane interfaces tightly (e.g., restricted access) while allowing the data plane to run in a high-performance, open-data mode.</a:t>
            </a:r>
          </a:p>
          <a:p>
            <a:r>
              <a:rPr lang="en-US" sz="1400" dirty="0">
                <a:solidFill>
                  <a:schemeClr val="accent2"/>
                </a:solidFill>
                <a:latin typeface="Google Sans"/>
                <a:ea typeface="+mn-ea"/>
                <a:cs typeface="+mn-cs"/>
              </a:rPr>
              <a:t>Flexibility: </a:t>
            </a:r>
            <a:r>
              <a:rPr lang="en-US" sz="1400" dirty="0">
                <a:solidFill>
                  <a:schemeClr val="accent6"/>
                </a:solidFill>
                <a:latin typeface="Google Sans"/>
                <a:ea typeface="+mn-ea"/>
                <a:cs typeface="+mn-cs"/>
              </a:rPr>
              <a:t>You can update or replace the Control Plane software without downtime in the Data Plane.</a:t>
            </a:r>
          </a:p>
          <a:p>
            <a:endParaRPr lang="en-US" sz="1700" dirty="0">
              <a:solidFill>
                <a:schemeClr val="accent2"/>
              </a:solidFill>
              <a:latin typeface="Google Sans"/>
              <a:ea typeface="+mn-ea"/>
              <a:cs typeface="+mn-cs"/>
            </a:endParaRPr>
          </a:p>
        </p:txBody>
      </p:sp>
    </p:spTree>
    <p:extLst>
      <p:ext uri="{BB962C8B-B14F-4D97-AF65-F5344CB8AC3E}">
        <p14:creationId xmlns:p14="http://schemas.microsoft.com/office/powerpoint/2010/main" val="38126722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557F9-CE01-AAC0-549D-72C66A16E5C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8B21332-8D90-D612-9D51-A08238E7ED8A}"/>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0A746E3-F996-8BB8-8136-BA076DFB457C}"/>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7553BE9-64B0-6FB9-CCB5-124B7910CA09}"/>
              </a:ext>
            </a:extLst>
          </p:cNvPr>
          <p:cNvGraphicFramePr/>
          <p:nvPr>
            <p:extLst>
              <p:ext uri="{D42A27DB-BD31-4B8C-83A1-F6EECF244321}">
                <p14:modId xmlns:p14="http://schemas.microsoft.com/office/powerpoint/2010/main" val="1606225514"/>
              </p:ext>
            </p:extLst>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64E3BE77-83BD-F441-C1F8-13E2D1815F7B}"/>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720E454C-EFA9-B8FF-97EA-07578F7B63D6}"/>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CC517EB6-88D4-DAE2-303D-CD76D3F6EF7A}"/>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8E0D8E23-8A4C-E0D8-E29D-DD4C52D14C40}"/>
              </a:ext>
            </a:extLst>
          </p:cNvPr>
          <p:cNvSpPr txBox="1">
            <a:spLocks/>
          </p:cNvSpPr>
          <p:nvPr/>
        </p:nvSpPr>
        <p:spPr>
          <a:xfrm>
            <a:off x="55803" y="774902"/>
            <a:ext cx="8624937"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6"/>
                </a:solidFill>
                <a:latin typeface="Google Sans"/>
                <a:ea typeface="+mn-ea"/>
                <a:cs typeface="+mn-cs"/>
              </a:rPr>
              <a:t>Timing and ordering in distributed systems define the sequence of events across independent nodes, as physical clocks cannot be perfectly synchronized. They are critical to establish causal relationships, ensure data consistency, and resolve conflicts. Without them, systems suffer from data corruption, inconsistent state, and broken transaction serialization.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Why Timing and Ordering Are Needed </a:t>
            </a:r>
          </a:p>
          <a:p>
            <a:r>
              <a:rPr lang="en-US" sz="1500" dirty="0">
                <a:solidFill>
                  <a:schemeClr val="accent2"/>
                </a:solidFill>
                <a:latin typeface="Google Sans"/>
                <a:ea typeface="+mn-ea"/>
                <a:cs typeface="+mn-cs"/>
              </a:rPr>
              <a:t>Causal Ordering: </a:t>
            </a:r>
            <a:r>
              <a:rPr lang="en-US" sz="1500" dirty="0">
                <a:solidFill>
                  <a:schemeClr val="accent6"/>
                </a:solidFill>
                <a:latin typeface="Google Sans"/>
                <a:ea typeface="+mn-ea"/>
                <a:cs typeface="+mn-cs"/>
              </a:rPr>
              <a:t>Ensures if event A causes event B, A is processed before </a:t>
            </a:r>
          </a:p>
          <a:p>
            <a:r>
              <a:rPr lang="en-US" sz="1500" dirty="0">
                <a:solidFill>
                  <a:schemeClr val="accent2"/>
                </a:solidFill>
                <a:latin typeface="Google Sans"/>
                <a:ea typeface="+mn-ea"/>
                <a:cs typeface="+mn-cs"/>
              </a:rPr>
              <a:t>Consistency: </a:t>
            </a:r>
            <a:r>
              <a:rPr lang="en-US" sz="1500" dirty="0">
                <a:solidFill>
                  <a:schemeClr val="accent6"/>
                </a:solidFill>
                <a:latin typeface="Google Sans"/>
                <a:ea typeface="+mn-ea"/>
                <a:cs typeface="+mn-cs"/>
              </a:rPr>
              <a:t>Maintains the same state across nodes, critical for distributed databases.</a:t>
            </a:r>
          </a:p>
          <a:p>
            <a:r>
              <a:rPr lang="en-US" sz="1500" dirty="0">
                <a:solidFill>
                  <a:schemeClr val="accent2"/>
                </a:solidFill>
                <a:latin typeface="Google Sans"/>
                <a:ea typeface="+mn-ea"/>
                <a:cs typeface="+mn-cs"/>
              </a:rPr>
              <a:t>Conflict Resolution: </a:t>
            </a:r>
            <a:r>
              <a:rPr lang="en-US" sz="1500" dirty="0">
                <a:solidFill>
                  <a:schemeClr val="accent6"/>
                </a:solidFill>
                <a:latin typeface="Google Sans"/>
                <a:ea typeface="+mn-ea"/>
                <a:cs typeface="+mn-cs"/>
              </a:rPr>
              <a:t>Acts as a tie-breaker, such as deciding which transaction occurred first in concurrent updates.</a:t>
            </a:r>
          </a:p>
          <a:p>
            <a:r>
              <a:rPr lang="en-US" sz="1500" dirty="0">
                <a:solidFill>
                  <a:schemeClr val="accent2"/>
                </a:solidFill>
                <a:latin typeface="Google Sans"/>
                <a:ea typeface="+mn-ea"/>
                <a:cs typeface="+mn-cs"/>
              </a:rPr>
              <a:t>Fault Tolerance:</a:t>
            </a:r>
            <a:r>
              <a:rPr lang="en-US" sz="1500" dirty="0">
                <a:solidFill>
                  <a:schemeClr val="accent6"/>
                </a:solidFill>
                <a:latin typeface="Google Sans"/>
                <a:ea typeface="+mn-ea"/>
                <a:cs typeface="+mn-cs"/>
              </a:rPr>
              <a:t> Helps distinguish between actual node failure and high network latency.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 The Core Problem: Time is Broken in Distributed Systems</a:t>
            </a:r>
          </a:p>
          <a:p>
            <a:r>
              <a:rPr lang="en-US" sz="1500" dirty="0">
                <a:solidFill>
                  <a:schemeClr val="accent2"/>
                </a:solidFill>
                <a:latin typeface="Google Sans"/>
                <a:ea typeface="+mn-ea"/>
                <a:cs typeface="+mn-cs"/>
              </a:rPr>
              <a:t>In a single process:</a:t>
            </a:r>
          </a:p>
          <a:p>
            <a:r>
              <a:rPr lang="en-US" sz="1500" dirty="0">
                <a:solidFill>
                  <a:schemeClr val="accent6"/>
                </a:solidFill>
                <a:latin typeface="Google Sans"/>
                <a:ea typeface="+mn-ea"/>
                <a:cs typeface="+mn-cs"/>
              </a:rPr>
              <a:t>Event A happens</a:t>
            </a:r>
          </a:p>
          <a:p>
            <a:r>
              <a:rPr lang="en-US" sz="1500" dirty="0">
                <a:solidFill>
                  <a:schemeClr val="accent6"/>
                </a:solidFill>
                <a:latin typeface="Google Sans"/>
                <a:ea typeface="+mn-ea"/>
                <a:cs typeface="+mn-cs"/>
              </a:rPr>
              <a:t>Event B happens</a:t>
            </a:r>
          </a:p>
          <a:p>
            <a:r>
              <a:rPr lang="en-US" sz="1500" dirty="0">
                <a:solidFill>
                  <a:schemeClr val="accent6"/>
                </a:solidFill>
                <a:latin typeface="Google Sans"/>
                <a:ea typeface="+mn-ea"/>
                <a:cs typeface="+mn-cs"/>
              </a:rPr>
              <a:t>Order = obvious.</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In distributed systems:</a:t>
            </a:r>
          </a:p>
          <a:p>
            <a:r>
              <a:rPr lang="en-US" sz="1500" dirty="0">
                <a:solidFill>
                  <a:schemeClr val="accent6"/>
                </a:solidFill>
                <a:latin typeface="Google Sans"/>
                <a:ea typeface="+mn-ea"/>
                <a:cs typeface="+mn-cs"/>
              </a:rPr>
              <a:t>Machine A      Machine B</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Event A1         Event B1</a:t>
            </a:r>
          </a:p>
          <a:p>
            <a:r>
              <a:rPr lang="en-US" sz="1500" dirty="0">
                <a:solidFill>
                  <a:schemeClr val="accent6"/>
                </a:solidFill>
                <a:latin typeface="Google Sans"/>
                <a:ea typeface="+mn-ea"/>
                <a:cs typeface="+mn-cs"/>
              </a:rPr>
              <a:t>Event A2         Event B2</a:t>
            </a:r>
          </a:p>
        </p:txBody>
      </p:sp>
    </p:spTree>
    <p:extLst>
      <p:ext uri="{BB962C8B-B14F-4D97-AF65-F5344CB8AC3E}">
        <p14:creationId xmlns:p14="http://schemas.microsoft.com/office/powerpoint/2010/main" val="319077034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8BC2F-4AD3-A8D7-CD2A-E5B7CFB031F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719AB97-E4F8-ED44-691A-F53ABF6D4684}"/>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A2C691E-E0B6-E066-2C3F-B7D988908E2B}"/>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D4BFF7A-2611-1E94-04A2-0FDE74728BC5}"/>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2C82C646-772E-0A02-9FFD-4B2B8D15A802}"/>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334ED2A-D61A-28FD-6EB1-B25301DB5743}"/>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CACAC3DD-F987-AA3A-B230-CD23C8059B6A}"/>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FB9867AB-F6F5-0AA5-C538-BE458FC160B4}"/>
              </a:ext>
            </a:extLst>
          </p:cNvPr>
          <p:cNvSpPr txBox="1">
            <a:spLocks/>
          </p:cNvSpPr>
          <p:nvPr/>
        </p:nvSpPr>
        <p:spPr>
          <a:xfrm>
            <a:off x="55803" y="774902"/>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 The Core Problem: Time is Broken in Distributed Systems</a:t>
            </a:r>
          </a:p>
          <a:p>
            <a:r>
              <a:rPr lang="en-US" sz="1500" dirty="0">
                <a:solidFill>
                  <a:schemeClr val="accent2"/>
                </a:solidFill>
                <a:latin typeface="Google Sans"/>
                <a:ea typeface="+mn-ea"/>
                <a:cs typeface="+mn-cs"/>
              </a:rPr>
              <a:t>In distributed systems:</a:t>
            </a:r>
          </a:p>
          <a:p>
            <a:r>
              <a:rPr lang="en-US" sz="1500" dirty="0">
                <a:solidFill>
                  <a:schemeClr val="accent2"/>
                </a:solidFill>
                <a:latin typeface="Google Sans"/>
                <a:ea typeface="+mn-ea"/>
                <a:cs typeface="+mn-cs"/>
              </a:rPr>
              <a:t>Problems:</a:t>
            </a:r>
          </a:p>
          <a:p>
            <a:r>
              <a:rPr lang="en-US" sz="1500" dirty="0">
                <a:solidFill>
                  <a:schemeClr val="accent6"/>
                </a:solidFill>
                <a:latin typeface="Google Sans"/>
                <a:ea typeface="+mn-ea"/>
                <a:cs typeface="+mn-cs"/>
              </a:rPr>
              <a:t>Clocks drift</a:t>
            </a:r>
          </a:p>
          <a:p>
            <a:r>
              <a:rPr lang="en-US" sz="1500" dirty="0">
                <a:solidFill>
                  <a:schemeClr val="accent6"/>
                </a:solidFill>
                <a:latin typeface="Google Sans"/>
                <a:ea typeface="+mn-ea"/>
                <a:cs typeface="+mn-cs"/>
              </a:rPr>
              <a:t>Messages delayed</a:t>
            </a:r>
          </a:p>
          <a:p>
            <a:r>
              <a:rPr lang="en-US" sz="1500" dirty="0">
                <a:solidFill>
                  <a:schemeClr val="accent6"/>
                </a:solidFill>
                <a:latin typeface="Google Sans"/>
                <a:ea typeface="+mn-ea"/>
                <a:cs typeface="+mn-cs"/>
              </a:rPr>
              <a:t>Events occur concurrently</a:t>
            </a:r>
          </a:p>
          <a:p>
            <a:r>
              <a:rPr lang="en-US" sz="1500" dirty="0">
                <a:solidFill>
                  <a:schemeClr val="accent6"/>
                </a:solidFill>
                <a:latin typeface="Google Sans"/>
                <a:ea typeface="+mn-ea"/>
                <a:cs typeface="+mn-cs"/>
              </a:rPr>
              <a:t>Network reordering happens</a:t>
            </a:r>
          </a:p>
          <a:p>
            <a:r>
              <a:rPr lang="en-US" sz="1500" dirty="0">
                <a:solidFill>
                  <a:schemeClr val="accent2"/>
                </a:solidFill>
                <a:latin typeface="Google Sans"/>
                <a:ea typeface="+mn-ea"/>
                <a:cs typeface="+mn-cs"/>
              </a:rPr>
              <a:t>So, we need ways to answer:</a:t>
            </a:r>
          </a:p>
          <a:p>
            <a:r>
              <a:rPr lang="en-US" sz="1500" dirty="0">
                <a:solidFill>
                  <a:schemeClr val="accent6"/>
                </a:solidFill>
                <a:latin typeface="Google Sans"/>
                <a:ea typeface="+mn-ea"/>
                <a:cs typeface="+mn-cs"/>
              </a:rPr>
              <a:t>Did event X happen before event Y?</a:t>
            </a:r>
          </a:p>
          <a:p>
            <a:r>
              <a:rPr lang="en-US" sz="1500" dirty="0">
                <a:solidFill>
                  <a:schemeClr val="accent6"/>
                </a:solidFill>
                <a:latin typeface="Google Sans"/>
                <a:ea typeface="+mn-ea"/>
                <a:cs typeface="+mn-cs"/>
              </a:rPr>
              <a:t>Are X and Y concurrent?</a:t>
            </a:r>
          </a:p>
          <a:p>
            <a:r>
              <a:rPr lang="en-US" sz="1500" dirty="0">
                <a:solidFill>
                  <a:schemeClr val="accent6"/>
                </a:solidFill>
                <a:latin typeface="Google Sans"/>
                <a:ea typeface="+mn-ea"/>
                <a:cs typeface="+mn-cs"/>
              </a:rPr>
              <a:t>Can we produce one consistent global order?</a:t>
            </a:r>
          </a:p>
          <a:p>
            <a:endParaRPr lang="en-US" sz="1500" dirty="0">
              <a:solidFill>
                <a:schemeClr val="accent6"/>
              </a:solidFill>
              <a:latin typeface="Google Sans"/>
              <a:ea typeface="+mn-ea"/>
              <a:cs typeface="+mn-cs"/>
            </a:endParaRPr>
          </a:p>
          <a:p>
            <a:r>
              <a:rPr lang="en-US" sz="2000" dirty="0">
                <a:solidFill>
                  <a:schemeClr val="accent2"/>
                </a:solidFill>
                <a:latin typeface="Google Sans"/>
              </a:rPr>
              <a:t>Clock Skew</a:t>
            </a:r>
            <a:r>
              <a:rPr lang="en-US" sz="1500" dirty="0">
                <a:solidFill>
                  <a:schemeClr val="accent2"/>
                </a:solidFill>
                <a:latin typeface="Google Sans"/>
              </a:rPr>
              <a:t> - </a:t>
            </a:r>
            <a:r>
              <a:rPr lang="en-US" sz="1500" dirty="0">
                <a:solidFill>
                  <a:schemeClr val="accent6"/>
                </a:solidFill>
                <a:latin typeface="Google Sans"/>
              </a:rPr>
              <a:t> In a distributed system, every computer (node) has its own physical clock (quartz crystal oscillator) that tells the time. Even if you set all clocks to 12:00:00 simultaneously, they will eventually drift apart because of: </a:t>
            </a:r>
          </a:p>
          <a:p>
            <a:r>
              <a:rPr lang="en-US" sz="1500" dirty="0">
                <a:solidFill>
                  <a:schemeClr val="accent2"/>
                </a:solidFill>
                <a:latin typeface="Google Sans"/>
              </a:rPr>
              <a:t>Manufacturing Imperfections: </a:t>
            </a:r>
            <a:r>
              <a:rPr lang="en-US" sz="1500" dirty="0">
                <a:solidFill>
                  <a:schemeClr val="accent6"/>
                </a:solidFill>
                <a:latin typeface="Google Sans"/>
              </a:rPr>
              <a:t>No two crystals oscillate at exactly the same </a:t>
            </a:r>
            <a:r>
              <a:rPr lang="en-US" sz="1500" dirty="0" err="1">
                <a:solidFill>
                  <a:schemeClr val="accent6"/>
                </a:solidFill>
                <a:latin typeface="Google Sans"/>
              </a:rPr>
              <a:t>frequency.Environmental</a:t>
            </a:r>
            <a:r>
              <a:rPr lang="en-US" sz="1500" dirty="0">
                <a:solidFill>
                  <a:schemeClr val="accent6"/>
                </a:solidFill>
                <a:latin typeface="Google Sans"/>
              </a:rPr>
              <a:t> Factors: Temperature fluctuations affect speed. </a:t>
            </a:r>
          </a:p>
          <a:p>
            <a:r>
              <a:rPr lang="en-US" sz="1500" dirty="0">
                <a:solidFill>
                  <a:schemeClr val="accent2"/>
                </a:solidFill>
                <a:latin typeface="Google Sans"/>
              </a:rPr>
              <a:t>Clock Skew: </a:t>
            </a:r>
            <a:r>
              <a:rPr lang="en-US" sz="1500" dirty="0">
                <a:solidFill>
                  <a:schemeClr val="accent6"/>
                </a:solidFill>
                <a:latin typeface="Google Sans"/>
              </a:rPr>
              <a:t>The difference in time between two clocks at any given point in time. </a:t>
            </a:r>
          </a:p>
          <a:p>
            <a:r>
              <a:rPr lang="en-US" sz="1500" dirty="0">
                <a:solidFill>
                  <a:schemeClr val="accent2"/>
                </a:solidFill>
                <a:latin typeface="Google Sans"/>
              </a:rPr>
              <a:t>Clock Drift: </a:t>
            </a:r>
            <a:r>
              <a:rPr lang="en-US" sz="1500" dirty="0">
                <a:solidFill>
                  <a:schemeClr val="accent6"/>
                </a:solidFill>
                <a:latin typeface="Google Sans"/>
              </a:rPr>
              <a:t>The difference in the rate (frequency) at which two clocks progress. </a:t>
            </a:r>
          </a:p>
          <a:p>
            <a:r>
              <a:rPr lang="en-US" sz="1500" dirty="0">
                <a:solidFill>
                  <a:schemeClr val="accent2"/>
                </a:solidFill>
                <a:latin typeface="Google Sans"/>
              </a:rPr>
              <a:t>Intuitive Analogy:</a:t>
            </a:r>
            <a:r>
              <a:rPr lang="en-US" sz="1500" dirty="0">
                <a:solidFill>
                  <a:schemeClr val="accent6"/>
                </a:solidFill>
                <a:latin typeface="Google Sans"/>
              </a:rPr>
              <a:t> Imagine two friends, Alice and Bob, both wearing wristwatches. Alice’s watch runs 1 second fast every day, and Bob’s runs 1 second slow. After 10 days, their watches are 20 seconds apart. This 20-second gap is the skew.</a:t>
            </a:r>
          </a:p>
        </p:txBody>
      </p:sp>
    </p:spTree>
    <p:extLst>
      <p:ext uri="{BB962C8B-B14F-4D97-AF65-F5344CB8AC3E}">
        <p14:creationId xmlns:p14="http://schemas.microsoft.com/office/powerpoint/2010/main" val="36121947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618C3-2B2F-4FDF-4948-0A7A1659C3A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39CFDFD-19FE-A9CB-5D6A-10DE059E9C63}"/>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7150D3D-B88F-F5B7-F656-2A1F7BA71053}"/>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423602B-18A5-A166-A16C-56E8C5B2CB56}"/>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96017145-F737-E135-1B4A-1F4682D7DD05}"/>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DDE89C3-23CA-01E5-567B-55AE85A2B6C3}"/>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8CC7C5C-1DB4-BE4A-FCA7-B037AD09D834}"/>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759AE535-E85C-E948-9518-CC5144B798BC}"/>
              </a:ext>
            </a:extLst>
          </p:cNvPr>
          <p:cNvSpPr txBox="1">
            <a:spLocks/>
          </p:cNvSpPr>
          <p:nvPr/>
        </p:nvSpPr>
        <p:spPr>
          <a:xfrm>
            <a:off x="55803" y="774902"/>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Clock Skew</a:t>
            </a:r>
          </a:p>
          <a:p>
            <a:r>
              <a:rPr lang="en-US" sz="2000" dirty="0">
                <a:solidFill>
                  <a:schemeClr val="accent2"/>
                </a:solidFill>
                <a:latin typeface="Google Sans"/>
              </a:rPr>
              <a:t>Why Clock Skew Matters</a:t>
            </a:r>
          </a:p>
          <a:p>
            <a:r>
              <a:rPr lang="en-US" sz="1500" dirty="0">
                <a:solidFill>
                  <a:schemeClr val="accent2"/>
                </a:solidFill>
                <a:latin typeface="Google Sans"/>
              </a:rPr>
              <a:t>Incorrect Event Ordering:</a:t>
            </a:r>
            <a:r>
              <a:rPr lang="en-US" sz="1500" dirty="0">
                <a:solidFill>
                  <a:schemeClr val="accent6"/>
                </a:solidFill>
                <a:latin typeface="Google Sans"/>
              </a:rPr>
              <a:t> If Node A writes data at 10:00:05 and Node B writes to the same record at 10:00:02 (but B’s clock is fast), the system might incorrectly assume B happened after A.</a:t>
            </a:r>
          </a:p>
          <a:p>
            <a:r>
              <a:rPr lang="en-US" sz="1500" dirty="0">
                <a:solidFill>
                  <a:schemeClr val="accent2"/>
                </a:solidFill>
                <a:latin typeface="Google Sans"/>
              </a:rPr>
              <a:t>Data Inconsistencies: </a:t>
            </a:r>
            <a:r>
              <a:rPr lang="en-US" sz="1500" dirty="0">
                <a:solidFill>
                  <a:schemeClr val="accent6"/>
                </a:solidFill>
                <a:latin typeface="Google Sans"/>
              </a:rPr>
              <a:t>Transactions or updates might be applied in the wrong order, causing data corruption.</a:t>
            </a:r>
          </a:p>
          <a:p>
            <a:r>
              <a:rPr lang="en-US" sz="1500" dirty="0">
                <a:solidFill>
                  <a:schemeClr val="accent2"/>
                </a:solidFill>
                <a:latin typeface="Google Sans"/>
              </a:rPr>
              <a:t>Security Failures: </a:t>
            </a:r>
            <a:r>
              <a:rPr lang="en-US" sz="1500" dirty="0">
                <a:solidFill>
                  <a:schemeClr val="accent6"/>
                </a:solidFill>
                <a:latin typeface="Google Sans"/>
              </a:rPr>
              <a:t>Authentication protocols like Kerberos rely on timestamps; if clocks differ by more than a few minutes, login requests fail. </a:t>
            </a:r>
          </a:p>
          <a:p>
            <a:r>
              <a:rPr lang="en-US" sz="1500" dirty="0">
                <a:solidFill>
                  <a:schemeClr val="accent2"/>
                </a:solidFill>
                <a:latin typeface="Google Sans"/>
              </a:rPr>
              <a:t>Positive vs. Negative Skew </a:t>
            </a:r>
          </a:p>
          <a:p>
            <a:r>
              <a:rPr lang="en-US" sz="1500" dirty="0">
                <a:solidFill>
                  <a:schemeClr val="accent2"/>
                </a:solidFill>
                <a:latin typeface="Google Sans"/>
              </a:rPr>
              <a:t>Positive Skew: </a:t>
            </a:r>
            <a:r>
              <a:rPr lang="en-US" sz="1500" dirty="0">
                <a:solidFill>
                  <a:schemeClr val="accent6"/>
                </a:solidFill>
                <a:latin typeface="Google Sans"/>
              </a:rPr>
              <a:t>Receiver receives the clock signal later than the sender (Clock B lags behind A).</a:t>
            </a:r>
          </a:p>
          <a:p>
            <a:r>
              <a:rPr lang="en-US" sz="1500" dirty="0">
                <a:solidFill>
                  <a:schemeClr val="accent2"/>
                </a:solidFill>
                <a:latin typeface="Google Sans"/>
              </a:rPr>
              <a:t>Negative Skew: </a:t>
            </a:r>
            <a:r>
              <a:rPr lang="en-US" sz="1500" dirty="0">
                <a:solidFill>
                  <a:schemeClr val="accent6"/>
                </a:solidFill>
                <a:latin typeface="Google Sans"/>
              </a:rPr>
              <a:t>Receiver receives the clock signal earlier than the sender (Clock B is ahead of A). </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What Happens Without Proper Ordering </a:t>
            </a:r>
          </a:p>
          <a:p>
            <a:r>
              <a:rPr lang="en-US" sz="1500" dirty="0">
                <a:solidFill>
                  <a:schemeClr val="accent2"/>
                </a:solidFill>
                <a:latin typeface="Google Sans"/>
                <a:ea typeface="+mn-ea"/>
                <a:cs typeface="+mn-cs"/>
              </a:rPr>
              <a:t>Data Divergence: </a:t>
            </a:r>
            <a:r>
              <a:rPr lang="en-US" sz="1500" dirty="0">
                <a:solidFill>
                  <a:schemeClr val="accent6"/>
                </a:solidFill>
                <a:latin typeface="Google Sans"/>
                <a:ea typeface="+mn-ea"/>
                <a:cs typeface="+mn-cs"/>
              </a:rPr>
              <a:t>Replicas end up with different values for the same data.</a:t>
            </a:r>
          </a:p>
          <a:p>
            <a:r>
              <a:rPr lang="en-US" sz="1500" dirty="0">
                <a:solidFill>
                  <a:schemeClr val="accent2"/>
                </a:solidFill>
                <a:latin typeface="Google Sans"/>
                <a:ea typeface="+mn-ea"/>
                <a:cs typeface="+mn-cs"/>
              </a:rPr>
              <a:t>Lost Updates/Race Conditions:</a:t>
            </a:r>
            <a:r>
              <a:rPr lang="en-US" sz="1500" dirty="0">
                <a:solidFill>
                  <a:schemeClr val="accent6"/>
                </a:solidFill>
                <a:latin typeface="Google Sans"/>
                <a:ea typeface="+mn-ea"/>
                <a:cs typeface="+mn-cs"/>
              </a:rPr>
              <a:t> Concurrent requests to the same resource are processed in a conflicting manner.</a:t>
            </a:r>
          </a:p>
          <a:p>
            <a:r>
              <a:rPr lang="en-US" sz="1500" dirty="0">
                <a:solidFill>
                  <a:schemeClr val="accent2"/>
                </a:solidFill>
                <a:latin typeface="Google Sans"/>
                <a:ea typeface="+mn-ea"/>
                <a:cs typeface="+mn-cs"/>
              </a:rPr>
              <a:t>Inconsistent Views:</a:t>
            </a:r>
            <a:r>
              <a:rPr lang="en-US" sz="1500" dirty="0">
                <a:solidFill>
                  <a:schemeClr val="accent6"/>
                </a:solidFill>
                <a:latin typeface="Google Sans"/>
                <a:ea typeface="+mn-ea"/>
                <a:cs typeface="+mn-cs"/>
              </a:rPr>
              <a:t> Users see events happening in different orders on different nodes. </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Strategies and Techniques for Implementation </a:t>
            </a:r>
          </a:p>
          <a:p>
            <a:r>
              <a:rPr lang="en-US" sz="1500" dirty="0">
                <a:solidFill>
                  <a:schemeClr val="accent2"/>
                </a:solidFill>
                <a:latin typeface="Google Sans"/>
                <a:ea typeface="+mn-ea"/>
                <a:cs typeface="+mn-cs"/>
              </a:rPr>
              <a:t>Physical Clock Synchronization:</a:t>
            </a:r>
            <a:r>
              <a:rPr lang="en-US" sz="1500" dirty="0">
                <a:solidFill>
                  <a:schemeClr val="accent6"/>
                </a:solidFill>
                <a:latin typeface="Google Sans"/>
                <a:ea typeface="+mn-ea"/>
                <a:cs typeface="+mn-cs"/>
              </a:rPr>
              <a:t> Uses protocols like NTP (Network Time Protocol) to align node clocks, though these still have drift.</a:t>
            </a:r>
          </a:p>
          <a:p>
            <a:r>
              <a:rPr lang="en-US" sz="1500" dirty="0">
                <a:solidFill>
                  <a:schemeClr val="accent2"/>
                </a:solidFill>
                <a:latin typeface="Google Sans"/>
                <a:ea typeface="+mn-ea"/>
                <a:cs typeface="+mn-cs"/>
              </a:rPr>
              <a:t>Lamport Timestamps: </a:t>
            </a:r>
            <a:r>
              <a:rPr lang="en-US" sz="1500" dirty="0">
                <a:solidFill>
                  <a:schemeClr val="accent6"/>
                </a:solidFill>
                <a:latin typeface="Google Sans"/>
                <a:ea typeface="+mn-ea"/>
                <a:cs typeface="+mn-cs"/>
              </a:rPr>
              <a:t>A logical clock approach ensuring that if event A-&gt; B (causality), then C(A)&lt;C(B).</a:t>
            </a:r>
          </a:p>
        </p:txBody>
      </p:sp>
    </p:spTree>
    <p:extLst>
      <p:ext uri="{BB962C8B-B14F-4D97-AF65-F5344CB8AC3E}">
        <p14:creationId xmlns:p14="http://schemas.microsoft.com/office/powerpoint/2010/main" val="13233189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FDD57-B304-255E-20D1-D95AA0E1D43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7452015-522D-0D9F-86EA-6A1022E8586E}"/>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B617FDD-873B-171C-FB87-E138936A4CC9}"/>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02EFE50-3326-FBE0-D8D1-0EA33B983510}"/>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40D97D4F-0801-DE78-B7FE-0C156C3BB7FB}"/>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B139BB56-EEB3-11CB-ECE8-F0E55FED89B5}"/>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08AD132-54EE-5281-8AB4-CCE1E3B114C0}"/>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9367896C-59ED-993A-D735-424CB1A54533}"/>
              </a:ext>
            </a:extLst>
          </p:cNvPr>
          <p:cNvSpPr txBox="1">
            <a:spLocks/>
          </p:cNvSpPr>
          <p:nvPr/>
        </p:nvSpPr>
        <p:spPr>
          <a:xfrm>
            <a:off x="55803" y="774902"/>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Strategies and Techniques for Implementation </a:t>
            </a:r>
          </a:p>
          <a:p>
            <a:r>
              <a:rPr lang="en-US" sz="1500" dirty="0">
                <a:solidFill>
                  <a:schemeClr val="accent2"/>
                </a:solidFill>
                <a:latin typeface="Google Sans"/>
                <a:ea typeface="+mn-ea"/>
                <a:cs typeface="+mn-cs"/>
              </a:rPr>
              <a:t>Vector Clocks:</a:t>
            </a:r>
            <a:r>
              <a:rPr lang="en-US" sz="1500" dirty="0">
                <a:solidFill>
                  <a:schemeClr val="accent6"/>
                </a:solidFill>
                <a:latin typeface="Google Sans"/>
                <a:ea typeface="+mn-ea"/>
                <a:cs typeface="+mn-cs"/>
              </a:rPr>
              <a:t> Extends logical clocks to detect concurrent events and precisely track causal history, used in systems like DynamoDB.</a:t>
            </a:r>
          </a:p>
          <a:p>
            <a:r>
              <a:rPr lang="en-US" sz="1500" dirty="0">
                <a:solidFill>
                  <a:schemeClr val="accent2"/>
                </a:solidFill>
                <a:latin typeface="Google Sans"/>
                <a:ea typeface="+mn-ea"/>
                <a:cs typeface="+mn-cs"/>
              </a:rPr>
              <a:t>Total Ordering/Sequencers:</a:t>
            </a:r>
            <a:r>
              <a:rPr lang="en-US" sz="1500" dirty="0">
                <a:solidFill>
                  <a:schemeClr val="accent6"/>
                </a:solidFill>
                <a:latin typeface="Google Sans"/>
                <a:ea typeface="+mn-ea"/>
                <a:cs typeface="+mn-cs"/>
              </a:rPr>
              <a:t> Uses a centralized sequencer or consensus algorithms (e.g., Paxos, Raft) to enforce a single, global order of events.</a:t>
            </a:r>
          </a:p>
          <a:p>
            <a:r>
              <a:rPr lang="en-US" sz="1500" dirty="0">
                <a:solidFill>
                  <a:schemeClr val="accent2"/>
                </a:solidFill>
                <a:latin typeface="Google Sans"/>
                <a:ea typeface="+mn-ea"/>
                <a:cs typeface="+mn-cs"/>
              </a:rPr>
              <a:t>Key Concept: </a:t>
            </a:r>
            <a:r>
              <a:rPr lang="en-US" sz="1500" dirty="0">
                <a:solidFill>
                  <a:schemeClr val="accent6"/>
                </a:solidFill>
                <a:latin typeface="Google Sans"/>
                <a:ea typeface="+mn-ea"/>
                <a:cs typeface="+mn-cs"/>
              </a:rPr>
              <a:t>Because physical time is unreliable across distributed machines, logical clocks (Lamport/Vector) are often preferred over physical time for ordering. </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 Lamport Clock (Logical Clock)</a:t>
            </a:r>
          </a:p>
          <a:p>
            <a:r>
              <a:rPr lang="en-US" sz="1500" dirty="0">
                <a:solidFill>
                  <a:schemeClr val="accent6"/>
                </a:solidFill>
                <a:latin typeface="Google Sans"/>
                <a:ea typeface="+mn-ea"/>
                <a:cs typeface="+mn-cs"/>
              </a:rPr>
              <a:t>💡 </a:t>
            </a:r>
            <a:r>
              <a:rPr lang="en-US" sz="1500" dirty="0">
                <a:solidFill>
                  <a:schemeClr val="accent2"/>
                </a:solidFill>
                <a:latin typeface="Google Sans"/>
                <a:ea typeface="+mn-ea"/>
                <a:cs typeface="+mn-cs"/>
              </a:rPr>
              <a:t>Intuition</a:t>
            </a:r>
          </a:p>
          <a:p>
            <a:r>
              <a:rPr lang="en-US" sz="1500" dirty="0">
                <a:solidFill>
                  <a:schemeClr val="accent2"/>
                </a:solidFill>
                <a:latin typeface="Google Sans"/>
                <a:ea typeface="+mn-ea"/>
                <a:cs typeface="+mn-cs"/>
              </a:rPr>
              <a:t>Lamport clock answers:</a:t>
            </a:r>
          </a:p>
          <a:p>
            <a:r>
              <a:rPr lang="en-US" sz="1500" dirty="0">
                <a:solidFill>
                  <a:schemeClr val="accent6"/>
                </a:solidFill>
                <a:latin typeface="Google Sans"/>
                <a:ea typeface="+mn-ea"/>
                <a:cs typeface="+mn-cs"/>
              </a:rPr>
              <a:t>👉 "Can I tell which event happened before another?"</a:t>
            </a:r>
          </a:p>
          <a:p>
            <a:r>
              <a:rPr lang="en-US" sz="1500" dirty="0">
                <a:solidFill>
                  <a:schemeClr val="accent6"/>
                </a:solidFill>
                <a:latin typeface="Google Sans"/>
                <a:ea typeface="+mn-ea"/>
                <a:cs typeface="+mn-cs"/>
              </a:rPr>
              <a:t>It does NOT detect concurrency precisely — only causality.</a:t>
            </a:r>
          </a:p>
          <a:p>
            <a:r>
              <a:rPr lang="en-US" sz="1500" dirty="0">
                <a:solidFill>
                  <a:schemeClr val="accent2"/>
                </a:solidFill>
                <a:latin typeface="Google Sans"/>
                <a:ea typeface="+mn-ea"/>
                <a:cs typeface="+mn-cs"/>
              </a:rPr>
              <a:t>🔥 Core Idea</a:t>
            </a:r>
          </a:p>
          <a:p>
            <a:r>
              <a:rPr lang="en-US" sz="1500" dirty="0">
                <a:solidFill>
                  <a:schemeClr val="accent6"/>
                </a:solidFill>
                <a:latin typeface="Google Sans"/>
                <a:ea typeface="+mn-ea"/>
                <a:cs typeface="+mn-cs"/>
              </a:rPr>
              <a:t>Each process keeps a counter.</a:t>
            </a:r>
          </a:p>
          <a:p>
            <a:r>
              <a:rPr lang="en-US" sz="1500" dirty="0">
                <a:solidFill>
                  <a:schemeClr val="accent6"/>
                </a:solidFill>
                <a:latin typeface="Google Sans"/>
                <a:ea typeface="+mn-ea"/>
                <a:cs typeface="+mn-cs"/>
              </a:rPr>
              <a:t>Time is just monotonically increasing numbers.</a:t>
            </a:r>
          </a:p>
          <a:p>
            <a:r>
              <a:rPr lang="en-US" sz="1500" dirty="0">
                <a:solidFill>
                  <a:schemeClr val="accent2"/>
                </a:solidFill>
                <a:latin typeface="Google Sans"/>
                <a:ea typeface="+mn-ea"/>
                <a:cs typeface="+mn-cs"/>
              </a:rPr>
              <a:t>📜 Rules</a:t>
            </a:r>
          </a:p>
          <a:p>
            <a:r>
              <a:rPr lang="en-US" sz="1500" dirty="0">
                <a:solidFill>
                  <a:schemeClr val="accent2"/>
                </a:solidFill>
                <a:latin typeface="Google Sans"/>
                <a:ea typeface="+mn-ea"/>
                <a:cs typeface="+mn-cs"/>
              </a:rPr>
              <a:t>Rule 1: Internal event</a:t>
            </a:r>
          </a:p>
          <a:p>
            <a:r>
              <a:rPr lang="en-US" sz="1500" dirty="0">
                <a:solidFill>
                  <a:schemeClr val="accent6"/>
                </a:solidFill>
                <a:latin typeface="Google Sans"/>
                <a:ea typeface="+mn-ea"/>
                <a:cs typeface="+mn-cs"/>
              </a:rPr>
              <a:t>clock = clock + 1 </a:t>
            </a:r>
          </a:p>
          <a:p>
            <a:r>
              <a:rPr lang="en-US" sz="1500" dirty="0">
                <a:solidFill>
                  <a:schemeClr val="accent2"/>
                </a:solidFill>
                <a:latin typeface="Google Sans"/>
                <a:ea typeface="+mn-ea"/>
                <a:cs typeface="+mn-cs"/>
              </a:rPr>
              <a:t>Rule 2: Sending message</a:t>
            </a:r>
          </a:p>
          <a:p>
            <a:r>
              <a:rPr lang="en-US" sz="1500" dirty="0">
                <a:solidFill>
                  <a:schemeClr val="accent6"/>
                </a:solidFill>
                <a:latin typeface="Google Sans"/>
                <a:ea typeface="+mn-ea"/>
                <a:cs typeface="+mn-cs"/>
              </a:rPr>
              <a:t>clock = clock + 1</a:t>
            </a:r>
          </a:p>
          <a:p>
            <a:r>
              <a:rPr lang="en-US" sz="1500" dirty="0">
                <a:solidFill>
                  <a:schemeClr val="accent6"/>
                </a:solidFill>
                <a:latin typeface="Google Sans"/>
                <a:ea typeface="+mn-ea"/>
                <a:cs typeface="+mn-cs"/>
              </a:rPr>
              <a:t>Send message with timestamp = clock</a:t>
            </a:r>
          </a:p>
        </p:txBody>
      </p:sp>
    </p:spTree>
    <p:extLst>
      <p:ext uri="{BB962C8B-B14F-4D97-AF65-F5344CB8AC3E}">
        <p14:creationId xmlns:p14="http://schemas.microsoft.com/office/powerpoint/2010/main" val="521102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A4555-0789-7D61-51D9-CC0D7BB1D17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3787F19-38AE-449F-842B-A162A1FEF3ED}"/>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FF3BDDD-40DE-81E9-2B88-B5617596274A}"/>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371B3F8-D5F1-042A-8F38-0671D2ED7E1E}"/>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17429D14-D9A8-6489-B456-415626BAFF5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E972FD3C-3EB8-98A5-2B12-F4A2B17E9897}"/>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167AD22C-F0F7-4985-F022-966081F78E01}"/>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932B3053-C3B0-E91E-4F74-553A64A75979}"/>
              </a:ext>
            </a:extLst>
          </p:cNvPr>
          <p:cNvSpPr txBox="1">
            <a:spLocks/>
          </p:cNvSpPr>
          <p:nvPr/>
        </p:nvSpPr>
        <p:spPr>
          <a:xfrm>
            <a:off x="55803" y="774902"/>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 Lamport Clock (Logical Clock)</a:t>
            </a:r>
          </a:p>
          <a:p>
            <a:r>
              <a:rPr lang="en-US" sz="1500" dirty="0">
                <a:solidFill>
                  <a:schemeClr val="accent2"/>
                </a:solidFill>
                <a:latin typeface="Google Sans"/>
                <a:ea typeface="+mn-ea"/>
                <a:cs typeface="+mn-cs"/>
              </a:rPr>
              <a:t>Rule 3: Receiving message</a:t>
            </a:r>
          </a:p>
          <a:p>
            <a:r>
              <a:rPr lang="en-US" sz="1500" dirty="0">
                <a:solidFill>
                  <a:schemeClr val="accent6"/>
                </a:solidFill>
                <a:latin typeface="Google Sans"/>
                <a:ea typeface="+mn-ea"/>
                <a:cs typeface="+mn-cs"/>
              </a:rPr>
              <a:t>clock = max(</a:t>
            </a:r>
            <a:r>
              <a:rPr lang="en-US" sz="1500" dirty="0" err="1">
                <a:solidFill>
                  <a:schemeClr val="accent6"/>
                </a:solidFill>
                <a:latin typeface="Google Sans"/>
                <a:ea typeface="+mn-ea"/>
                <a:cs typeface="+mn-cs"/>
              </a:rPr>
              <a:t>local_clock</a:t>
            </a:r>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received_timestamp</a:t>
            </a:r>
            <a:r>
              <a:rPr lang="en-US" sz="1500" dirty="0">
                <a:solidFill>
                  <a:schemeClr val="accent6"/>
                </a:solidFill>
                <a:latin typeface="Google Sans"/>
                <a:ea typeface="+mn-ea"/>
                <a:cs typeface="+mn-cs"/>
              </a:rPr>
              <a:t>) + 1</a:t>
            </a:r>
          </a:p>
          <a:p>
            <a:r>
              <a:rPr lang="en-US" sz="1500" dirty="0">
                <a:solidFill>
                  <a:schemeClr val="accent2"/>
                </a:solidFill>
                <a:latin typeface="Google Sans"/>
                <a:ea typeface="+mn-ea"/>
                <a:cs typeface="+mn-cs"/>
              </a:rPr>
              <a:t>🧠 Why max?</a:t>
            </a:r>
          </a:p>
          <a:p>
            <a:r>
              <a:rPr lang="en-US" sz="1500" dirty="0">
                <a:solidFill>
                  <a:schemeClr val="accent6"/>
                </a:solidFill>
                <a:latin typeface="Google Sans"/>
                <a:ea typeface="+mn-ea"/>
                <a:cs typeface="+mn-cs"/>
              </a:rPr>
              <a:t>Because receiving a message implies:</a:t>
            </a:r>
          </a:p>
          <a:p>
            <a:r>
              <a:rPr lang="en-US" sz="1500" dirty="0" err="1">
                <a:solidFill>
                  <a:schemeClr val="accent6"/>
                </a:solidFill>
                <a:latin typeface="Google Sans"/>
                <a:ea typeface="+mn-ea"/>
                <a:cs typeface="+mn-cs"/>
              </a:rPr>
              <a:t>send_event</a:t>
            </a:r>
            <a:r>
              <a:rPr lang="en-US" sz="1500" dirty="0">
                <a:solidFill>
                  <a:schemeClr val="accent6"/>
                </a:solidFill>
                <a:latin typeface="Google Sans"/>
                <a:ea typeface="+mn-ea"/>
                <a:cs typeface="+mn-cs"/>
              </a:rPr>
              <a:t> → </a:t>
            </a:r>
            <a:r>
              <a:rPr lang="en-US" sz="1500" dirty="0" err="1">
                <a:solidFill>
                  <a:schemeClr val="accent6"/>
                </a:solidFill>
                <a:latin typeface="Google Sans"/>
                <a:ea typeface="+mn-ea"/>
                <a:cs typeface="+mn-cs"/>
              </a:rPr>
              <a:t>receive_event</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So, receiver must be logically after sender.</a:t>
            </a:r>
          </a:p>
          <a:p>
            <a:r>
              <a:rPr lang="en-US" sz="1500" dirty="0">
                <a:solidFill>
                  <a:schemeClr val="accent2"/>
                </a:solidFill>
                <a:latin typeface="Google Sans"/>
                <a:ea typeface="+mn-ea"/>
                <a:cs typeface="+mn-cs"/>
              </a:rPr>
              <a:t>📦 Lamport Clock Example</a:t>
            </a:r>
          </a:p>
          <a:p>
            <a:r>
              <a:rPr lang="en-US" sz="1500" dirty="0">
                <a:solidFill>
                  <a:schemeClr val="accent6"/>
                </a:solidFill>
                <a:latin typeface="Google Sans"/>
                <a:ea typeface="+mn-ea"/>
                <a:cs typeface="+mn-cs"/>
              </a:rPr>
              <a:t>Two nodes: A and B</a:t>
            </a:r>
          </a:p>
          <a:p>
            <a:r>
              <a:rPr lang="en-US" sz="1500" dirty="0">
                <a:solidFill>
                  <a:schemeClr val="accent6"/>
                </a:solidFill>
                <a:latin typeface="Google Sans"/>
                <a:ea typeface="+mn-ea"/>
                <a:cs typeface="+mn-cs"/>
              </a:rPr>
              <a:t>A: clock=0</a:t>
            </a:r>
          </a:p>
          <a:p>
            <a:r>
              <a:rPr lang="en-US" sz="1500" dirty="0">
                <a:solidFill>
                  <a:schemeClr val="accent6"/>
                </a:solidFill>
                <a:latin typeface="Google Sans"/>
                <a:ea typeface="+mn-ea"/>
                <a:cs typeface="+mn-cs"/>
              </a:rPr>
              <a:t>B: clock=0</a:t>
            </a:r>
          </a:p>
          <a:p>
            <a:r>
              <a:rPr lang="en-US" sz="1500" dirty="0">
                <a:solidFill>
                  <a:schemeClr val="accent6"/>
                </a:solidFill>
                <a:latin typeface="Google Sans"/>
                <a:ea typeface="+mn-ea"/>
                <a:cs typeface="+mn-cs"/>
              </a:rPr>
              <a:t>Step 1: A internal event</a:t>
            </a:r>
          </a:p>
          <a:p>
            <a:r>
              <a:rPr lang="en-US" sz="1500" dirty="0">
                <a:solidFill>
                  <a:schemeClr val="accent6"/>
                </a:solidFill>
                <a:latin typeface="Google Sans"/>
                <a:ea typeface="+mn-ea"/>
                <a:cs typeface="+mn-cs"/>
              </a:rPr>
              <a:t>A: 1</a:t>
            </a:r>
          </a:p>
          <a:p>
            <a:r>
              <a:rPr lang="en-US" sz="1500" dirty="0">
                <a:solidFill>
                  <a:schemeClr val="accent6"/>
                </a:solidFill>
                <a:latin typeface="Google Sans"/>
                <a:ea typeface="+mn-ea"/>
                <a:cs typeface="+mn-cs"/>
              </a:rPr>
              <a:t>Step 2: A sends message to B</a:t>
            </a:r>
          </a:p>
          <a:p>
            <a:r>
              <a:rPr lang="en-US" sz="1500" dirty="0">
                <a:solidFill>
                  <a:schemeClr val="accent6"/>
                </a:solidFill>
                <a:latin typeface="Google Sans"/>
                <a:ea typeface="+mn-ea"/>
                <a:cs typeface="+mn-cs"/>
              </a:rPr>
              <a:t>A: 2</a:t>
            </a:r>
          </a:p>
          <a:p>
            <a:r>
              <a:rPr lang="en-US" sz="1500" dirty="0">
                <a:solidFill>
                  <a:schemeClr val="accent6"/>
                </a:solidFill>
                <a:latin typeface="Google Sans"/>
                <a:ea typeface="+mn-ea"/>
                <a:cs typeface="+mn-cs"/>
              </a:rPr>
              <a:t>Message timestamp = 2</a:t>
            </a:r>
          </a:p>
          <a:p>
            <a:r>
              <a:rPr lang="en-US" sz="1500" dirty="0">
                <a:solidFill>
                  <a:schemeClr val="accent6"/>
                </a:solidFill>
                <a:latin typeface="Google Sans"/>
                <a:ea typeface="+mn-ea"/>
                <a:cs typeface="+mn-cs"/>
              </a:rPr>
              <a:t>Step 3: B receives message</a:t>
            </a:r>
          </a:p>
          <a:p>
            <a:r>
              <a:rPr lang="en-US" sz="1500" dirty="0">
                <a:solidFill>
                  <a:schemeClr val="accent6"/>
                </a:solidFill>
                <a:latin typeface="Google Sans"/>
                <a:ea typeface="+mn-ea"/>
                <a:cs typeface="+mn-cs"/>
              </a:rPr>
              <a:t>B: max(0,2)+1 = 3</a:t>
            </a:r>
          </a:p>
          <a:p>
            <a:r>
              <a:rPr lang="en-US" sz="1500" dirty="0">
                <a:solidFill>
                  <a:schemeClr val="accent6"/>
                </a:solidFill>
                <a:latin typeface="Google Sans"/>
                <a:ea typeface="+mn-ea"/>
                <a:cs typeface="+mn-cs"/>
              </a:rPr>
              <a:t>Step 4: B internal event</a:t>
            </a:r>
          </a:p>
          <a:p>
            <a:r>
              <a:rPr lang="en-US" sz="1500" dirty="0">
                <a:solidFill>
                  <a:schemeClr val="accent6"/>
                </a:solidFill>
                <a:latin typeface="Google Sans"/>
                <a:ea typeface="+mn-ea"/>
                <a:cs typeface="+mn-cs"/>
              </a:rPr>
              <a:t>B: 4</a:t>
            </a:r>
          </a:p>
        </p:txBody>
      </p:sp>
    </p:spTree>
    <p:extLst>
      <p:ext uri="{BB962C8B-B14F-4D97-AF65-F5344CB8AC3E}">
        <p14:creationId xmlns:p14="http://schemas.microsoft.com/office/powerpoint/2010/main" val="416735439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98A939-6ADA-A775-5DDB-F04E2FE4FC9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C7A0862-83D0-EE21-58B6-23DCFB0495EA}"/>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6635EF6-D852-EF3B-2D72-F2F33366AED8}"/>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C6A2588-44E3-8396-56D7-33338B3FEC8F}"/>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38316397-114C-763E-7F94-DA80857903B3}"/>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3A10591C-2F8E-4F0E-E872-A24734A4A8C7}"/>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7B891DFC-4DF1-369F-15FF-EC054DB02AB5}"/>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3AD0A2C6-A0A1-4F43-7B74-D0A3914A31E1}"/>
              </a:ext>
            </a:extLst>
          </p:cNvPr>
          <p:cNvSpPr txBox="1">
            <a:spLocks/>
          </p:cNvSpPr>
          <p:nvPr/>
        </p:nvSpPr>
        <p:spPr>
          <a:xfrm>
            <a:off x="55803" y="774902"/>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 Lamport Clock (Logical Clock)</a:t>
            </a:r>
          </a:p>
          <a:p>
            <a:r>
              <a:rPr lang="en-US" sz="1500" dirty="0">
                <a:solidFill>
                  <a:schemeClr val="accent2"/>
                </a:solidFill>
                <a:latin typeface="Google Sans"/>
                <a:ea typeface="+mn-ea"/>
                <a:cs typeface="+mn-cs"/>
              </a:rPr>
              <a:t>📊 What Lamport Guarantees</a:t>
            </a:r>
          </a:p>
          <a:p>
            <a:r>
              <a:rPr lang="en-US" sz="1500" dirty="0">
                <a:solidFill>
                  <a:schemeClr val="accent2"/>
                </a:solidFill>
                <a:latin typeface="Google Sans"/>
                <a:ea typeface="+mn-ea"/>
                <a:cs typeface="+mn-cs"/>
              </a:rPr>
              <a:t>If:</a:t>
            </a:r>
          </a:p>
          <a:p>
            <a:r>
              <a:rPr lang="en-US" sz="1500" dirty="0">
                <a:solidFill>
                  <a:schemeClr val="accent6"/>
                </a:solidFill>
                <a:latin typeface="Google Sans"/>
                <a:ea typeface="+mn-ea"/>
                <a:cs typeface="+mn-cs"/>
              </a:rPr>
              <a:t>Event A → Event B (causal)</a:t>
            </a:r>
          </a:p>
          <a:p>
            <a:r>
              <a:rPr lang="en-US" sz="1500" dirty="0">
                <a:solidFill>
                  <a:schemeClr val="accent2"/>
                </a:solidFill>
                <a:latin typeface="Google Sans"/>
                <a:ea typeface="+mn-ea"/>
                <a:cs typeface="+mn-cs"/>
              </a:rPr>
              <a:t>Then:</a:t>
            </a:r>
          </a:p>
          <a:p>
            <a:r>
              <a:rPr lang="en-US" sz="1500" dirty="0">
                <a:solidFill>
                  <a:schemeClr val="accent6"/>
                </a:solidFill>
                <a:latin typeface="Google Sans"/>
                <a:ea typeface="+mn-ea"/>
                <a:cs typeface="+mn-cs"/>
              </a:rPr>
              <a:t>timestamp(A) &lt; timestamp(B)</a:t>
            </a:r>
          </a:p>
          <a:p>
            <a:r>
              <a:rPr lang="en-US" sz="1500" dirty="0">
                <a:solidFill>
                  <a:schemeClr val="accent2"/>
                </a:solidFill>
                <a:latin typeface="Google Sans"/>
                <a:ea typeface="+mn-ea"/>
                <a:cs typeface="+mn-cs"/>
              </a:rPr>
              <a:t>❌ Limitation</a:t>
            </a:r>
          </a:p>
          <a:p>
            <a:r>
              <a:rPr lang="en-US" sz="1500" dirty="0">
                <a:solidFill>
                  <a:schemeClr val="accent6"/>
                </a:solidFill>
                <a:latin typeface="Google Sans"/>
                <a:ea typeface="+mn-ea"/>
                <a:cs typeface="+mn-cs"/>
              </a:rPr>
              <a:t>If:</a:t>
            </a:r>
          </a:p>
          <a:p>
            <a:r>
              <a:rPr lang="en-US" sz="1500" dirty="0">
                <a:solidFill>
                  <a:schemeClr val="accent6"/>
                </a:solidFill>
                <a:latin typeface="Google Sans"/>
                <a:ea typeface="+mn-ea"/>
                <a:cs typeface="+mn-cs"/>
              </a:rPr>
              <a:t>timestamp(A) &lt; timestamp(B)</a:t>
            </a:r>
          </a:p>
          <a:p>
            <a:r>
              <a:rPr lang="en-US" sz="1500" dirty="0">
                <a:solidFill>
                  <a:schemeClr val="accent6"/>
                </a:solidFill>
                <a:latin typeface="Google Sans"/>
                <a:ea typeface="+mn-ea"/>
                <a:cs typeface="+mn-cs"/>
              </a:rPr>
              <a:t>That does NOT mean causality.</a:t>
            </a:r>
          </a:p>
          <a:p>
            <a:r>
              <a:rPr lang="en-US" sz="1500" dirty="0">
                <a:solidFill>
                  <a:schemeClr val="accent6"/>
                </a:solidFill>
                <a:latin typeface="Google Sans"/>
                <a:ea typeface="+mn-ea"/>
                <a:cs typeface="+mn-cs"/>
              </a:rPr>
              <a:t>They might be concurrent.</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 Implementation Sketch</a:t>
            </a:r>
          </a:p>
          <a:p>
            <a:r>
              <a:rPr lang="en-US" sz="1500" dirty="0">
                <a:solidFill>
                  <a:schemeClr val="accent6"/>
                </a:solidFill>
                <a:latin typeface="Google Sans"/>
                <a:ea typeface="+mn-ea"/>
                <a:cs typeface="+mn-cs"/>
              </a:rPr>
              <a:t>class </a:t>
            </a:r>
            <a:r>
              <a:rPr lang="en-US" sz="1500" dirty="0" err="1">
                <a:solidFill>
                  <a:schemeClr val="accent6"/>
                </a:solidFill>
                <a:latin typeface="Google Sans"/>
                <a:ea typeface="+mn-ea"/>
                <a:cs typeface="+mn-cs"/>
              </a:rPr>
              <a:t>LamportClock</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private int clock = 0;</a:t>
            </a:r>
          </a:p>
          <a:p>
            <a:r>
              <a:rPr lang="en-US" sz="1500" dirty="0">
                <a:solidFill>
                  <a:schemeClr val="accent6"/>
                </a:solidFill>
                <a:latin typeface="Google Sans"/>
                <a:ea typeface="+mn-ea"/>
                <a:cs typeface="+mn-cs"/>
              </a:rPr>
              <a:t>    public int Tick()</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return ++clock;</a:t>
            </a:r>
          </a:p>
          <a:p>
            <a:r>
              <a:rPr lang="en-US" sz="1500" dirty="0">
                <a:solidFill>
                  <a:schemeClr val="accent6"/>
                </a:solidFill>
                <a:latin typeface="Google Sans"/>
                <a:ea typeface="+mn-ea"/>
                <a:cs typeface="+mn-cs"/>
              </a:rPr>
              <a:t>    }</a:t>
            </a:r>
          </a:p>
        </p:txBody>
      </p:sp>
    </p:spTree>
    <p:extLst>
      <p:ext uri="{BB962C8B-B14F-4D97-AF65-F5344CB8AC3E}">
        <p14:creationId xmlns:p14="http://schemas.microsoft.com/office/powerpoint/2010/main" val="23453937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EF8B9-3C93-91EB-9D94-3CF5249B7BF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DF61701-B942-1142-460F-7308B024A9D1}"/>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AF731FA-C7C0-5207-886D-E34AF56CC0EB}"/>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D8B9E56-25F5-0EA8-1F34-81F02A7C397C}"/>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59FE945A-ECBD-70B8-6E20-0A9CB91A9F9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6AE09150-036F-3964-B847-B90FDE705AD0}"/>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C73D1CDF-6D15-B0E6-09C4-AE49BC0EF8C1}"/>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5ABC423F-10A5-A384-EA9A-23A08B6E6974}"/>
              </a:ext>
            </a:extLst>
          </p:cNvPr>
          <p:cNvSpPr txBox="1">
            <a:spLocks/>
          </p:cNvSpPr>
          <p:nvPr/>
        </p:nvSpPr>
        <p:spPr>
          <a:xfrm>
            <a:off x="55803" y="774902"/>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 Lamport Clock (Logical Clock)</a:t>
            </a:r>
          </a:p>
          <a:p>
            <a:r>
              <a:rPr lang="en-US" sz="1500" dirty="0">
                <a:solidFill>
                  <a:schemeClr val="accent2"/>
                </a:solidFill>
                <a:latin typeface="Google Sans"/>
                <a:ea typeface="+mn-ea"/>
                <a:cs typeface="+mn-cs"/>
              </a:rPr>
              <a:t>⚙️ Implementation Sketch</a:t>
            </a:r>
          </a:p>
          <a:p>
            <a:r>
              <a:rPr lang="en-US" sz="1500" dirty="0">
                <a:solidFill>
                  <a:schemeClr val="accent6"/>
                </a:solidFill>
                <a:latin typeface="Google Sans"/>
                <a:ea typeface="+mn-ea"/>
                <a:cs typeface="+mn-cs"/>
              </a:rPr>
              <a:t>class </a:t>
            </a:r>
            <a:r>
              <a:rPr lang="en-US" sz="1500" dirty="0" err="1">
                <a:solidFill>
                  <a:schemeClr val="accent6"/>
                </a:solidFill>
                <a:latin typeface="Google Sans"/>
                <a:ea typeface="+mn-ea"/>
                <a:cs typeface="+mn-cs"/>
              </a:rPr>
              <a:t>LamportClock</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//code in earlier slide</a:t>
            </a:r>
          </a:p>
          <a:p>
            <a:r>
              <a:rPr lang="en-US" sz="1500" dirty="0">
                <a:solidFill>
                  <a:schemeClr val="accent6"/>
                </a:solidFill>
                <a:latin typeface="Google Sans"/>
                <a:ea typeface="+mn-ea"/>
                <a:cs typeface="+mn-cs"/>
              </a:rPr>
              <a:t>    public int </a:t>
            </a:r>
            <a:r>
              <a:rPr lang="en-US" sz="1500" dirty="0" err="1">
                <a:solidFill>
                  <a:schemeClr val="accent6"/>
                </a:solidFill>
                <a:latin typeface="Google Sans"/>
                <a:ea typeface="+mn-ea"/>
                <a:cs typeface="+mn-cs"/>
              </a:rPr>
              <a:t>SendEvent</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return ++clock;</a:t>
            </a:r>
          </a:p>
          <a:p>
            <a:r>
              <a:rPr lang="en-US" sz="1500" dirty="0">
                <a:solidFill>
                  <a:schemeClr val="accent6"/>
                </a:solidFill>
                <a:latin typeface="Google Sans"/>
                <a:ea typeface="+mn-ea"/>
                <a:cs typeface="+mn-cs"/>
              </a:rPr>
              <a:t>    }</a:t>
            </a:r>
          </a:p>
          <a:p>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    public int </a:t>
            </a:r>
            <a:r>
              <a:rPr lang="en-US" sz="1500" dirty="0" err="1">
                <a:solidFill>
                  <a:schemeClr val="accent6"/>
                </a:solidFill>
                <a:latin typeface="Google Sans"/>
                <a:ea typeface="+mn-ea"/>
                <a:cs typeface="+mn-cs"/>
              </a:rPr>
              <a:t>ReceiveEvent</a:t>
            </a:r>
            <a:r>
              <a:rPr lang="en-US" sz="1500" dirty="0">
                <a:solidFill>
                  <a:schemeClr val="accent6"/>
                </a:solidFill>
                <a:latin typeface="Google Sans"/>
                <a:ea typeface="+mn-ea"/>
                <a:cs typeface="+mn-cs"/>
              </a:rPr>
              <a:t>(int </a:t>
            </a:r>
            <a:r>
              <a:rPr lang="en-US" sz="1500" dirty="0" err="1">
                <a:solidFill>
                  <a:schemeClr val="accent6"/>
                </a:solidFill>
                <a:latin typeface="Google Sans"/>
                <a:ea typeface="+mn-ea"/>
                <a:cs typeface="+mn-cs"/>
              </a:rPr>
              <a:t>receivedTime</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clock = </a:t>
            </a:r>
            <a:r>
              <a:rPr lang="en-US" sz="1500" dirty="0" err="1">
                <a:solidFill>
                  <a:schemeClr val="accent6"/>
                </a:solidFill>
                <a:latin typeface="Google Sans"/>
                <a:ea typeface="+mn-ea"/>
                <a:cs typeface="+mn-cs"/>
              </a:rPr>
              <a:t>Math.Max</a:t>
            </a:r>
            <a:r>
              <a:rPr lang="en-US" sz="1500" dirty="0">
                <a:solidFill>
                  <a:schemeClr val="accent6"/>
                </a:solidFill>
                <a:latin typeface="Google Sans"/>
                <a:ea typeface="+mn-ea"/>
                <a:cs typeface="+mn-cs"/>
              </a:rPr>
              <a:t>(clock, </a:t>
            </a:r>
            <a:r>
              <a:rPr lang="en-US" sz="1500" dirty="0" err="1">
                <a:solidFill>
                  <a:schemeClr val="accent6"/>
                </a:solidFill>
                <a:latin typeface="Google Sans"/>
                <a:ea typeface="+mn-ea"/>
                <a:cs typeface="+mn-cs"/>
              </a:rPr>
              <a:t>receivedTime</a:t>
            </a:r>
            <a:r>
              <a:rPr lang="en-US" sz="1500" dirty="0">
                <a:solidFill>
                  <a:schemeClr val="accent6"/>
                </a:solidFill>
                <a:latin typeface="Google Sans"/>
                <a:ea typeface="+mn-ea"/>
                <a:cs typeface="+mn-cs"/>
              </a:rPr>
              <a:t>) + 1;</a:t>
            </a:r>
          </a:p>
          <a:p>
            <a:r>
              <a:rPr lang="en-US" sz="1500" dirty="0">
                <a:solidFill>
                  <a:schemeClr val="accent6"/>
                </a:solidFill>
                <a:latin typeface="Google Sans"/>
                <a:ea typeface="+mn-ea"/>
                <a:cs typeface="+mn-cs"/>
              </a:rPr>
              <a:t>        return clock;</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a:t>
            </a:r>
          </a:p>
          <a:p>
            <a:r>
              <a:rPr lang="en-US" sz="2000" dirty="0">
                <a:solidFill>
                  <a:schemeClr val="accent2"/>
                </a:solidFill>
                <a:latin typeface="Google Sans"/>
                <a:ea typeface="+mn-ea"/>
                <a:cs typeface="+mn-cs"/>
              </a:rPr>
              <a:t>🧭 Vector Clock</a:t>
            </a:r>
          </a:p>
          <a:p>
            <a:r>
              <a:rPr lang="en-US" sz="1500" dirty="0">
                <a:solidFill>
                  <a:schemeClr val="accent6"/>
                </a:solidFill>
                <a:latin typeface="Google Sans"/>
                <a:ea typeface="+mn-ea"/>
                <a:cs typeface="+mn-cs"/>
              </a:rPr>
              <a:t>Lamport cannot detect concurrency.</a:t>
            </a:r>
          </a:p>
          <a:p>
            <a:r>
              <a:rPr lang="en-US" sz="1500" dirty="0">
                <a:solidFill>
                  <a:schemeClr val="accent6"/>
                </a:solidFill>
                <a:latin typeface="Google Sans"/>
                <a:ea typeface="+mn-ea"/>
                <a:cs typeface="+mn-cs"/>
              </a:rPr>
              <a:t>Vector clock fixes that.</a:t>
            </a:r>
          </a:p>
          <a:p>
            <a:r>
              <a:rPr lang="en-US" sz="1500" dirty="0">
                <a:solidFill>
                  <a:schemeClr val="accent6"/>
                </a:solidFill>
                <a:latin typeface="Google Sans"/>
                <a:ea typeface="+mn-ea"/>
                <a:cs typeface="+mn-cs"/>
              </a:rPr>
              <a:t>💡 Intuition</a:t>
            </a:r>
          </a:p>
          <a:p>
            <a:r>
              <a:rPr lang="en-US" sz="1500" dirty="0">
                <a:solidFill>
                  <a:schemeClr val="accent6"/>
                </a:solidFill>
                <a:latin typeface="Google Sans"/>
                <a:ea typeface="+mn-ea"/>
                <a:cs typeface="+mn-cs"/>
              </a:rPr>
              <a:t>Instead of a single number:</a:t>
            </a:r>
          </a:p>
          <a:p>
            <a:r>
              <a:rPr lang="en-US" sz="1500" dirty="0">
                <a:solidFill>
                  <a:schemeClr val="accent6"/>
                </a:solidFill>
                <a:latin typeface="Google Sans"/>
                <a:ea typeface="+mn-ea"/>
                <a:cs typeface="+mn-cs"/>
              </a:rPr>
              <a:t>👉 Track what each node knows about every other node</a:t>
            </a:r>
          </a:p>
        </p:txBody>
      </p:sp>
    </p:spTree>
    <p:extLst>
      <p:ext uri="{BB962C8B-B14F-4D97-AF65-F5344CB8AC3E}">
        <p14:creationId xmlns:p14="http://schemas.microsoft.com/office/powerpoint/2010/main" val="27730572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4802D-F371-1748-5A37-B81D190D636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6C5C6AE-C377-1EB8-FA8B-422757829D06}"/>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4D3220B-E27A-E0D4-1AE8-2919F80456DF}"/>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F5E3E80-B9D2-78AE-1CE2-9EB753FF7A83}"/>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9CE876D4-30CC-458C-B015-6CC69ECBB185}"/>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8CE47946-FEDA-E823-EA78-0FA3EFA5C3B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74BA9D6A-C245-D289-5E51-AEA23A806B1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D5A04707-2A72-A3F2-6838-EF4DBDCCEC93}"/>
              </a:ext>
            </a:extLst>
          </p:cNvPr>
          <p:cNvSpPr txBox="1">
            <a:spLocks/>
          </p:cNvSpPr>
          <p:nvPr/>
        </p:nvSpPr>
        <p:spPr>
          <a:xfrm>
            <a:off x="55803" y="774902"/>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 Vector Clock</a:t>
            </a:r>
          </a:p>
          <a:p>
            <a:r>
              <a:rPr lang="en-US" sz="1500" dirty="0">
                <a:solidFill>
                  <a:schemeClr val="accent2"/>
                </a:solidFill>
                <a:latin typeface="Google Sans"/>
                <a:ea typeface="+mn-ea"/>
                <a:cs typeface="+mn-cs"/>
              </a:rPr>
              <a:t>📦 Vector Clock Example</a:t>
            </a:r>
          </a:p>
          <a:p>
            <a:r>
              <a:rPr lang="en-US" sz="1500" dirty="0">
                <a:solidFill>
                  <a:schemeClr val="accent6"/>
                </a:solidFill>
                <a:latin typeface="Google Sans"/>
                <a:ea typeface="+mn-ea"/>
                <a:cs typeface="+mn-cs"/>
              </a:rPr>
              <a:t>Nodes A, B, C.</a:t>
            </a:r>
          </a:p>
          <a:p>
            <a:r>
              <a:rPr lang="en-US" sz="1500" dirty="0">
                <a:solidFill>
                  <a:schemeClr val="accent6"/>
                </a:solidFill>
                <a:latin typeface="Google Sans"/>
                <a:ea typeface="+mn-ea"/>
                <a:cs typeface="+mn-cs"/>
              </a:rPr>
              <a:t>Start</a:t>
            </a:r>
          </a:p>
          <a:p>
            <a:r>
              <a:rPr lang="en-US" sz="1500" dirty="0">
                <a:solidFill>
                  <a:schemeClr val="accent6"/>
                </a:solidFill>
                <a:latin typeface="Google Sans"/>
                <a:ea typeface="+mn-ea"/>
                <a:cs typeface="+mn-cs"/>
              </a:rPr>
              <a:t>A: [0,0,0]</a:t>
            </a:r>
          </a:p>
          <a:p>
            <a:r>
              <a:rPr lang="en-US" sz="1500" dirty="0">
                <a:solidFill>
                  <a:schemeClr val="accent6"/>
                </a:solidFill>
                <a:latin typeface="Google Sans"/>
                <a:ea typeface="+mn-ea"/>
                <a:cs typeface="+mn-cs"/>
              </a:rPr>
              <a:t>B: [0,0,0]</a:t>
            </a:r>
          </a:p>
          <a:p>
            <a:r>
              <a:rPr lang="en-US" sz="1500" dirty="0">
                <a:solidFill>
                  <a:schemeClr val="accent6"/>
                </a:solidFill>
                <a:latin typeface="Google Sans"/>
                <a:ea typeface="+mn-ea"/>
                <a:cs typeface="+mn-cs"/>
              </a:rPr>
              <a:t>C: [0,0,0]</a:t>
            </a:r>
          </a:p>
          <a:p>
            <a:r>
              <a:rPr lang="en-US" sz="1500" dirty="0">
                <a:solidFill>
                  <a:schemeClr val="accent6"/>
                </a:solidFill>
                <a:latin typeface="Google Sans"/>
                <a:ea typeface="+mn-ea"/>
                <a:cs typeface="+mn-cs"/>
              </a:rPr>
              <a:t>A performs event</a:t>
            </a:r>
          </a:p>
          <a:p>
            <a:r>
              <a:rPr lang="en-US" sz="1500" dirty="0">
                <a:solidFill>
                  <a:schemeClr val="accent6"/>
                </a:solidFill>
                <a:latin typeface="Google Sans"/>
                <a:ea typeface="+mn-ea"/>
                <a:cs typeface="+mn-cs"/>
              </a:rPr>
              <a:t>A: [1,0,0]</a:t>
            </a:r>
          </a:p>
          <a:p>
            <a:r>
              <a:rPr lang="en-US" sz="1500" dirty="0">
                <a:solidFill>
                  <a:schemeClr val="accent6"/>
                </a:solidFill>
                <a:latin typeface="Google Sans"/>
                <a:ea typeface="+mn-ea"/>
                <a:cs typeface="+mn-cs"/>
              </a:rPr>
              <a:t>A sends message to B</a:t>
            </a:r>
          </a:p>
          <a:p>
            <a:r>
              <a:rPr lang="en-US" sz="1500" dirty="0">
                <a:solidFill>
                  <a:schemeClr val="accent6"/>
                </a:solidFill>
                <a:latin typeface="Google Sans"/>
                <a:ea typeface="+mn-ea"/>
                <a:cs typeface="+mn-cs"/>
              </a:rPr>
              <a:t>B merges:</a:t>
            </a:r>
          </a:p>
          <a:p>
            <a:r>
              <a:rPr lang="en-US" sz="1500" dirty="0">
                <a:solidFill>
                  <a:schemeClr val="accent6"/>
                </a:solidFill>
                <a:latin typeface="Google Sans"/>
                <a:ea typeface="+mn-ea"/>
                <a:cs typeface="+mn-cs"/>
              </a:rPr>
              <a:t>B: [1,0,0]</a:t>
            </a:r>
          </a:p>
          <a:p>
            <a:r>
              <a:rPr lang="en-US" sz="1500" dirty="0">
                <a:solidFill>
                  <a:schemeClr val="accent6"/>
                </a:solidFill>
                <a:latin typeface="Google Sans"/>
                <a:ea typeface="+mn-ea"/>
                <a:cs typeface="+mn-cs"/>
              </a:rPr>
              <a:t>Then increment B index:</a:t>
            </a:r>
          </a:p>
          <a:p>
            <a:r>
              <a:rPr lang="en-US" sz="1500" dirty="0">
                <a:solidFill>
                  <a:schemeClr val="accent6"/>
                </a:solidFill>
                <a:latin typeface="Google Sans"/>
                <a:ea typeface="+mn-ea"/>
                <a:cs typeface="+mn-cs"/>
              </a:rPr>
              <a:t>B: [1,1,0]</a:t>
            </a:r>
          </a:p>
          <a:p>
            <a:r>
              <a:rPr lang="en-US" sz="1500" dirty="0">
                <a:solidFill>
                  <a:schemeClr val="accent6"/>
                </a:solidFill>
                <a:latin typeface="Google Sans"/>
                <a:ea typeface="+mn-ea"/>
                <a:cs typeface="+mn-cs"/>
              </a:rPr>
              <a:t>C performs event independently</a:t>
            </a:r>
          </a:p>
          <a:p>
            <a:r>
              <a:rPr lang="en-US" sz="1500" dirty="0">
                <a:solidFill>
                  <a:schemeClr val="accent6"/>
                </a:solidFill>
                <a:latin typeface="Google Sans"/>
                <a:ea typeface="+mn-ea"/>
                <a:cs typeface="+mn-cs"/>
              </a:rPr>
              <a:t>C: [0,0,1]</a:t>
            </a:r>
          </a:p>
          <a:p>
            <a:r>
              <a:rPr lang="en-US" sz="1500" dirty="0">
                <a:solidFill>
                  <a:schemeClr val="accent2"/>
                </a:solidFill>
                <a:latin typeface="Google Sans"/>
                <a:ea typeface="+mn-ea"/>
                <a:cs typeface="+mn-cs"/>
              </a:rPr>
              <a:t>🔥 Concurrency Detection</a:t>
            </a:r>
          </a:p>
          <a:p>
            <a:r>
              <a:rPr lang="en-US" sz="1500" dirty="0">
                <a:solidFill>
                  <a:schemeClr val="accent6"/>
                </a:solidFill>
                <a:latin typeface="Google Sans"/>
                <a:ea typeface="+mn-ea"/>
                <a:cs typeface="+mn-cs"/>
              </a:rPr>
              <a:t>Event X &lt; Event Y if:</a:t>
            </a:r>
          </a:p>
          <a:p>
            <a:r>
              <a:rPr lang="en-US" sz="1500" dirty="0">
                <a:solidFill>
                  <a:schemeClr val="accent6"/>
                </a:solidFill>
                <a:latin typeface="Google Sans"/>
                <a:ea typeface="+mn-ea"/>
                <a:cs typeface="+mn-cs"/>
              </a:rPr>
              <a:t>∀</a:t>
            </a:r>
            <a:r>
              <a:rPr lang="en-US" sz="1500" dirty="0" err="1">
                <a:solidFill>
                  <a:schemeClr val="accent6"/>
                </a:solidFill>
                <a:latin typeface="Google Sans"/>
                <a:ea typeface="+mn-ea"/>
                <a:cs typeface="+mn-cs"/>
              </a:rPr>
              <a:t>i</a:t>
            </a:r>
            <a:r>
              <a:rPr lang="en-US" sz="1500" dirty="0">
                <a:solidFill>
                  <a:schemeClr val="accent6"/>
                </a:solidFill>
                <a:latin typeface="Google Sans"/>
                <a:ea typeface="+mn-ea"/>
                <a:cs typeface="+mn-cs"/>
              </a:rPr>
              <a:t> : X[</a:t>
            </a:r>
            <a:r>
              <a:rPr lang="en-US" sz="1500" dirty="0" err="1">
                <a:solidFill>
                  <a:schemeClr val="accent6"/>
                </a:solidFill>
                <a:latin typeface="Google Sans"/>
                <a:ea typeface="+mn-ea"/>
                <a:cs typeface="+mn-cs"/>
              </a:rPr>
              <a:t>i</a:t>
            </a:r>
            <a:r>
              <a:rPr lang="en-US" sz="1500" dirty="0">
                <a:solidFill>
                  <a:schemeClr val="accent6"/>
                </a:solidFill>
                <a:latin typeface="Google Sans"/>
                <a:ea typeface="+mn-ea"/>
                <a:cs typeface="+mn-cs"/>
              </a:rPr>
              <a:t>] &lt;= Y[</a:t>
            </a:r>
            <a:r>
              <a:rPr lang="en-US" sz="1500" dirty="0" err="1">
                <a:solidFill>
                  <a:schemeClr val="accent6"/>
                </a:solidFill>
                <a:latin typeface="Google Sans"/>
                <a:ea typeface="+mn-ea"/>
                <a:cs typeface="+mn-cs"/>
              </a:rPr>
              <a:t>i</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AND</a:t>
            </a:r>
          </a:p>
          <a:p>
            <a:r>
              <a:rPr lang="en-US" sz="1500" dirty="0">
                <a:solidFill>
                  <a:schemeClr val="accent6"/>
                </a:solidFill>
                <a:latin typeface="Google Sans"/>
                <a:ea typeface="+mn-ea"/>
                <a:cs typeface="+mn-cs"/>
              </a:rPr>
              <a:t>∃j : X[j] &lt; Y[j]</a:t>
            </a:r>
          </a:p>
          <a:p>
            <a:r>
              <a:rPr lang="en-US" sz="1500" dirty="0">
                <a:solidFill>
                  <a:schemeClr val="accent6"/>
                </a:solidFill>
                <a:latin typeface="Google Sans"/>
                <a:ea typeface="+mn-ea"/>
                <a:cs typeface="+mn-cs"/>
              </a:rPr>
              <a:t>Otherwise → concurrent.</a:t>
            </a:r>
          </a:p>
        </p:txBody>
      </p:sp>
    </p:spTree>
    <p:extLst>
      <p:ext uri="{BB962C8B-B14F-4D97-AF65-F5344CB8AC3E}">
        <p14:creationId xmlns:p14="http://schemas.microsoft.com/office/powerpoint/2010/main" val="9011469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4C6E3-A57E-AEF3-CC6A-25FB1C77529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9CA1CAC-30D9-1FF5-578A-58879FE1D7B5}"/>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D8759BD-6704-4262-0C2D-A6E89E33D14B}"/>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CAD11C2-C13D-C0C6-3A6E-32D68181CDF3}"/>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EBB25E39-451E-44A8-83E1-65B272EA2154}"/>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3E2361A7-13EA-6DF4-CADF-879645AA5701}"/>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C1985CA0-62EE-FCA8-D9DB-C875E7A85FF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4C62464-B4A7-98E5-D246-394800D8D82D}"/>
              </a:ext>
            </a:extLst>
          </p:cNvPr>
          <p:cNvSpPr txBox="1">
            <a:spLocks/>
          </p:cNvSpPr>
          <p:nvPr/>
        </p:nvSpPr>
        <p:spPr>
          <a:xfrm>
            <a:off x="55803" y="774902"/>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 Vector Clock</a:t>
            </a:r>
            <a:endParaRPr lang="en-US" sz="2000" dirty="0">
              <a:solidFill>
                <a:schemeClr val="accent2"/>
              </a:solidFill>
              <a:latin typeface="Google Sans"/>
              <a:ea typeface="+mn-ea"/>
              <a:cs typeface="+mn-cs"/>
            </a:endParaRPr>
          </a:p>
          <a:p>
            <a:r>
              <a:rPr lang="en-US" sz="1500" dirty="0">
                <a:solidFill>
                  <a:schemeClr val="accent2"/>
                </a:solidFill>
                <a:latin typeface="Google Sans"/>
                <a:ea typeface="+mn-ea"/>
                <a:cs typeface="+mn-cs"/>
              </a:rPr>
              <a:t>🔥 Concurrency Detection</a:t>
            </a:r>
          </a:p>
          <a:p>
            <a:r>
              <a:rPr lang="en-US" sz="1500" dirty="0">
                <a:solidFill>
                  <a:schemeClr val="accent2"/>
                </a:solidFill>
                <a:latin typeface="Google Sans"/>
                <a:ea typeface="+mn-ea"/>
                <a:cs typeface="+mn-cs"/>
              </a:rPr>
              <a:t>Example</a:t>
            </a:r>
          </a:p>
          <a:p>
            <a:r>
              <a:rPr lang="en-US" sz="1500" dirty="0">
                <a:solidFill>
                  <a:schemeClr val="accent6"/>
                </a:solidFill>
                <a:latin typeface="Google Sans"/>
                <a:ea typeface="+mn-ea"/>
                <a:cs typeface="+mn-cs"/>
              </a:rPr>
              <a:t>A event = [2,0,0]</a:t>
            </a:r>
          </a:p>
          <a:p>
            <a:r>
              <a:rPr lang="en-US" sz="1500" dirty="0">
                <a:solidFill>
                  <a:schemeClr val="accent6"/>
                </a:solidFill>
                <a:latin typeface="Google Sans"/>
                <a:ea typeface="+mn-ea"/>
                <a:cs typeface="+mn-cs"/>
              </a:rPr>
              <a:t>C event = [0,0,2]</a:t>
            </a:r>
          </a:p>
          <a:p>
            <a:r>
              <a:rPr lang="en-US" sz="1500" dirty="0">
                <a:solidFill>
                  <a:schemeClr val="accent6"/>
                </a:solidFill>
                <a:latin typeface="Google Sans"/>
                <a:ea typeface="+mn-ea"/>
                <a:cs typeface="+mn-cs"/>
              </a:rPr>
              <a:t>Neither dominates → concurrent.</a:t>
            </a:r>
          </a:p>
          <a:p>
            <a:r>
              <a:rPr lang="en-US" sz="1500" dirty="0">
                <a:solidFill>
                  <a:schemeClr val="accent2"/>
                </a:solidFill>
                <a:latin typeface="Google Sans"/>
                <a:ea typeface="+mn-ea"/>
                <a:cs typeface="+mn-cs"/>
              </a:rPr>
              <a:t>⚙️ Implementation Sketch</a:t>
            </a:r>
          </a:p>
          <a:p>
            <a:r>
              <a:rPr lang="en-US" sz="1500" dirty="0">
                <a:solidFill>
                  <a:schemeClr val="accent6"/>
                </a:solidFill>
                <a:latin typeface="Google Sans"/>
                <a:ea typeface="+mn-ea"/>
                <a:cs typeface="+mn-cs"/>
              </a:rPr>
              <a:t>class </a:t>
            </a:r>
            <a:r>
              <a:rPr lang="en-US" sz="1500" dirty="0" err="1">
                <a:solidFill>
                  <a:schemeClr val="accent6"/>
                </a:solidFill>
                <a:latin typeface="Google Sans"/>
                <a:ea typeface="+mn-ea"/>
                <a:cs typeface="+mn-cs"/>
              </a:rPr>
              <a:t>VectorClock</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private int[] clock;</a:t>
            </a:r>
          </a:p>
          <a:p>
            <a:r>
              <a:rPr lang="en-US" sz="1500" dirty="0">
                <a:solidFill>
                  <a:schemeClr val="accent6"/>
                </a:solidFill>
                <a:latin typeface="Google Sans"/>
                <a:ea typeface="+mn-ea"/>
                <a:cs typeface="+mn-cs"/>
              </a:rPr>
              <a:t>    private int id;</a:t>
            </a:r>
          </a:p>
          <a:p>
            <a:r>
              <a:rPr lang="en-US" sz="1500" dirty="0">
                <a:solidFill>
                  <a:schemeClr val="accent6"/>
                </a:solidFill>
                <a:latin typeface="Google Sans"/>
                <a:ea typeface="+mn-ea"/>
                <a:cs typeface="+mn-cs"/>
              </a:rPr>
              <a:t>    public </a:t>
            </a:r>
            <a:r>
              <a:rPr lang="en-US" sz="1500" dirty="0" err="1">
                <a:solidFill>
                  <a:schemeClr val="accent6"/>
                </a:solidFill>
                <a:latin typeface="Google Sans"/>
                <a:ea typeface="+mn-ea"/>
                <a:cs typeface="+mn-cs"/>
              </a:rPr>
              <a:t>VectorClock</a:t>
            </a:r>
            <a:r>
              <a:rPr lang="en-US" sz="1500" dirty="0">
                <a:solidFill>
                  <a:schemeClr val="accent6"/>
                </a:solidFill>
                <a:latin typeface="Google Sans"/>
                <a:ea typeface="+mn-ea"/>
                <a:cs typeface="+mn-cs"/>
              </a:rPr>
              <a:t>(int </a:t>
            </a:r>
            <a:r>
              <a:rPr lang="en-US" sz="1500" dirty="0" err="1">
                <a:solidFill>
                  <a:schemeClr val="accent6"/>
                </a:solidFill>
                <a:latin typeface="Google Sans"/>
                <a:ea typeface="+mn-ea"/>
                <a:cs typeface="+mn-cs"/>
              </a:rPr>
              <a:t>nodeCount</a:t>
            </a:r>
            <a:r>
              <a:rPr lang="en-US" sz="1500" dirty="0">
                <a:solidFill>
                  <a:schemeClr val="accent6"/>
                </a:solidFill>
                <a:latin typeface="Google Sans"/>
                <a:ea typeface="+mn-ea"/>
                <a:cs typeface="+mn-cs"/>
              </a:rPr>
              <a:t>, int </a:t>
            </a:r>
            <a:r>
              <a:rPr lang="en-US" sz="1500" dirty="0" err="1">
                <a:solidFill>
                  <a:schemeClr val="accent6"/>
                </a:solidFill>
                <a:latin typeface="Google Sans"/>
                <a:ea typeface="+mn-ea"/>
                <a:cs typeface="+mn-cs"/>
              </a:rPr>
              <a:t>nodeId</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clock = new int[</a:t>
            </a:r>
            <a:r>
              <a:rPr lang="en-US" sz="1500" dirty="0" err="1">
                <a:solidFill>
                  <a:schemeClr val="accent6"/>
                </a:solidFill>
                <a:latin typeface="Google Sans"/>
                <a:ea typeface="+mn-ea"/>
                <a:cs typeface="+mn-cs"/>
              </a:rPr>
              <a:t>nodeCount</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id = </a:t>
            </a:r>
            <a:r>
              <a:rPr lang="en-US" sz="1500" dirty="0" err="1">
                <a:solidFill>
                  <a:schemeClr val="accent6"/>
                </a:solidFill>
                <a:latin typeface="Google Sans"/>
                <a:ea typeface="+mn-ea"/>
                <a:cs typeface="+mn-cs"/>
              </a:rPr>
              <a:t>nodeId</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public int[] Tick()</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clock[id]++;</a:t>
            </a:r>
          </a:p>
          <a:p>
            <a:r>
              <a:rPr lang="en-US" sz="1500" dirty="0">
                <a:solidFill>
                  <a:schemeClr val="accent6"/>
                </a:solidFill>
                <a:latin typeface="Google Sans"/>
                <a:ea typeface="+mn-ea"/>
                <a:cs typeface="+mn-cs"/>
              </a:rPr>
              <a:t>        return clock;</a:t>
            </a:r>
          </a:p>
          <a:p>
            <a:r>
              <a:rPr lang="en-US" sz="1500" dirty="0">
                <a:solidFill>
                  <a:schemeClr val="accent6"/>
                </a:solidFill>
                <a:latin typeface="Google Sans"/>
                <a:ea typeface="+mn-ea"/>
                <a:cs typeface="+mn-cs"/>
              </a:rPr>
              <a:t>    }</a:t>
            </a: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12207791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9D178-CBFA-87AF-2ACF-5DFFCF033FC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F2E4FC4-DD9C-B5DB-9095-9E5DBC4EE3BA}"/>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633E119-5181-FE65-8375-011413E56EAE}"/>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0C5B466-3C3B-FAF4-2AFC-8CABA20525A4}"/>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056C72D3-E69C-FFA6-9695-4D71B2C2F5BD}"/>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729A2A65-0222-2568-C8D5-1742D79418A0}"/>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C4E112D4-8BD2-6F63-7135-7DC21F89871C}"/>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152482BB-99BA-7AD4-8721-0058F432BF39}"/>
              </a:ext>
            </a:extLst>
          </p:cNvPr>
          <p:cNvSpPr txBox="1">
            <a:spLocks/>
          </p:cNvSpPr>
          <p:nvPr/>
        </p:nvSpPr>
        <p:spPr>
          <a:xfrm>
            <a:off x="55803" y="774902"/>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 Vector Clock</a:t>
            </a:r>
            <a:endParaRPr lang="en-US" sz="1500" dirty="0">
              <a:solidFill>
                <a:schemeClr val="accent2"/>
              </a:solidFill>
              <a:latin typeface="Google Sans"/>
              <a:ea typeface="+mn-ea"/>
              <a:cs typeface="+mn-cs"/>
            </a:endParaRPr>
          </a:p>
          <a:p>
            <a:r>
              <a:rPr lang="en-US" sz="1500" dirty="0">
                <a:solidFill>
                  <a:schemeClr val="accent2"/>
                </a:solidFill>
                <a:latin typeface="Google Sans"/>
                <a:ea typeface="+mn-ea"/>
                <a:cs typeface="+mn-cs"/>
              </a:rPr>
              <a:t>⚙️ Implementation Sketch</a:t>
            </a:r>
          </a:p>
          <a:p>
            <a:r>
              <a:rPr lang="en-US" sz="1500" dirty="0">
                <a:solidFill>
                  <a:schemeClr val="accent6"/>
                </a:solidFill>
                <a:latin typeface="Google Sans"/>
                <a:ea typeface="+mn-ea"/>
                <a:cs typeface="+mn-cs"/>
              </a:rPr>
              <a:t>class </a:t>
            </a:r>
            <a:r>
              <a:rPr lang="en-US" sz="1500" dirty="0" err="1">
                <a:solidFill>
                  <a:schemeClr val="accent6"/>
                </a:solidFill>
                <a:latin typeface="Google Sans"/>
                <a:ea typeface="+mn-ea"/>
                <a:cs typeface="+mn-cs"/>
              </a:rPr>
              <a:t>VectorClock</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 Code in earlier slide</a:t>
            </a:r>
          </a:p>
          <a:p>
            <a:r>
              <a:rPr lang="en-US" sz="1500" dirty="0">
                <a:solidFill>
                  <a:schemeClr val="accent6"/>
                </a:solidFill>
                <a:latin typeface="Google Sans"/>
                <a:ea typeface="+mn-ea"/>
                <a:cs typeface="+mn-cs"/>
              </a:rPr>
              <a:t>    public int[] Send()</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clock[id]++;</a:t>
            </a:r>
          </a:p>
          <a:p>
            <a:r>
              <a:rPr lang="en-US" sz="1500" dirty="0">
                <a:solidFill>
                  <a:schemeClr val="accent6"/>
                </a:solidFill>
                <a:latin typeface="Google Sans"/>
                <a:ea typeface="+mn-ea"/>
                <a:cs typeface="+mn-cs"/>
              </a:rPr>
              <a:t>        return (int[])</a:t>
            </a:r>
            <a:r>
              <a:rPr lang="en-US" sz="1500" dirty="0" err="1">
                <a:solidFill>
                  <a:schemeClr val="accent6"/>
                </a:solidFill>
                <a:latin typeface="Google Sans"/>
                <a:ea typeface="+mn-ea"/>
                <a:cs typeface="+mn-cs"/>
              </a:rPr>
              <a:t>clock.Clone</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public void Receive(int[] received)</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for(int </a:t>
            </a:r>
            <a:r>
              <a:rPr lang="en-US" sz="1500" dirty="0" err="1">
                <a:solidFill>
                  <a:schemeClr val="accent6"/>
                </a:solidFill>
                <a:latin typeface="Google Sans"/>
                <a:ea typeface="+mn-ea"/>
                <a:cs typeface="+mn-cs"/>
              </a:rPr>
              <a:t>i</a:t>
            </a:r>
            <a:r>
              <a:rPr lang="en-US" sz="1500" dirty="0">
                <a:solidFill>
                  <a:schemeClr val="accent6"/>
                </a:solidFill>
                <a:latin typeface="Google Sans"/>
                <a:ea typeface="+mn-ea"/>
                <a:cs typeface="+mn-cs"/>
              </a:rPr>
              <a:t>=0;i&lt;</a:t>
            </a:r>
            <a:r>
              <a:rPr lang="en-US" sz="1500" dirty="0" err="1">
                <a:solidFill>
                  <a:schemeClr val="accent6"/>
                </a:solidFill>
                <a:latin typeface="Google Sans"/>
                <a:ea typeface="+mn-ea"/>
                <a:cs typeface="+mn-cs"/>
              </a:rPr>
              <a:t>clock.Length;i</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clock[</a:t>
            </a:r>
            <a:r>
              <a:rPr lang="en-US" sz="1500" dirty="0" err="1">
                <a:solidFill>
                  <a:schemeClr val="accent6"/>
                </a:solidFill>
                <a:latin typeface="Google Sans"/>
                <a:ea typeface="+mn-ea"/>
                <a:cs typeface="+mn-cs"/>
              </a:rPr>
              <a:t>i</a:t>
            </a:r>
            <a:r>
              <a:rPr lang="en-US" sz="1500" dirty="0">
                <a:solidFill>
                  <a:schemeClr val="accent6"/>
                </a:solidFill>
                <a:latin typeface="Google Sans"/>
                <a:ea typeface="+mn-ea"/>
                <a:cs typeface="+mn-cs"/>
              </a:rPr>
              <a:t>] = </a:t>
            </a:r>
            <a:r>
              <a:rPr lang="en-US" sz="1500" dirty="0" err="1">
                <a:solidFill>
                  <a:schemeClr val="accent6"/>
                </a:solidFill>
                <a:latin typeface="Google Sans"/>
                <a:ea typeface="+mn-ea"/>
                <a:cs typeface="+mn-cs"/>
              </a:rPr>
              <a:t>Math.Max</a:t>
            </a:r>
            <a:r>
              <a:rPr lang="en-US" sz="1500" dirty="0">
                <a:solidFill>
                  <a:schemeClr val="accent6"/>
                </a:solidFill>
                <a:latin typeface="Google Sans"/>
                <a:ea typeface="+mn-ea"/>
                <a:cs typeface="+mn-cs"/>
              </a:rPr>
              <a:t>(clock[</a:t>
            </a:r>
            <a:r>
              <a:rPr lang="en-US" sz="1500" dirty="0" err="1">
                <a:solidFill>
                  <a:schemeClr val="accent6"/>
                </a:solidFill>
                <a:latin typeface="Google Sans"/>
                <a:ea typeface="+mn-ea"/>
                <a:cs typeface="+mn-cs"/>
              </a:rPr>
              <a:t>i</a:t>
            </a:r>
            <a:r>
              <a:rPr lang="en-US" sz="1500" dirty="0">
                <a:solidFill>
                  <a:schemeClr val="accent6"/>
                </a:solidFill>
                <a:latin typeface="Google Sans"/>
                <a:ea typeface="+mn-ea"/>
                <a:cs typeface="+mn-cs"/>
              </a:rPr>
              <a:t>], received[</a:t>
            </a:r>
            <a:r>
              <a:rPr lang="en-US" sz="1500" dirty="0" err="1">
                <a:solidFill>
                  <a:schemeClr val="accent6"/>
                </a:solidFill>
                <a:latin typeface="Google Sans"/>
                <a:ea typeface="+mn-ea"/>
                <a:cs typeface="+mn-cs"/>
              </a:rPr>
              <a:t>i</a:t>
            </a:r>
            <a:r>
              <a:rPr lang="en-US" sz="1500" dirty="0">
                <a:solidFill>
                  <a:schemeClr val="accent6"/>
                </a:solidFill>
                <a:latin typeface="Google Sans"/>
                <a:ea typeface="+mn-ea"/>
                <a:cs typeface="+mn-cs"/>
              </a:rPr>
              <a:t>]);</a:t>
            </a:r>
          </a:p>
          <a:p>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        clock[id]++;</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a:t>
            </a:r>
          </a:p>
          <a:p>
            <a:r>
              <a:rPr lang="en-US" sz="1500" dirty="0">
                <a:solidFill>
                  <a:schemeClr val="accent2"/>
                </a:solidFill>
                <a:latin typeface="Google Sans"/>
                <a:ea typeface="+mn-ea"/>
                <a:cs typeface="+mn-cs"/>
              </a:rPr>
              <a:t>❌ Vector Clock Problems</a:t>
            </a:r>
          </a:p>
          <a:p>
            <a:r>
              <a:rPr lang="en-US" sz="1500" dirty="0">
                <a:solidFill>
                  <a:schemeClr val="accent6"/>
                </a:solidFill>
                <a:latin typeface="Google Sans"/>
                <a:ea typeface="+mn-ea"/>
                <a:cs typeface="+mn-cs"/>
              </a:rPr>
              <a:t>Storage grows O(N)</a:t>
            </a:r>
          </a:p>
          <a:p>
            <a:r>
              <a:rPr lang="en-US" sz="1500" dirty="0">
                <a:solidFill>
                  <a:schemeClr val="accent6"/>
                </a:solidFill>
                <a:latin typeface="Google Sans"/>
                <a:ea typeface="+mn-ea"/>
                <a:cs typeface="+mn-cs"/>
              </a:rPr>
              <a:t>Message overhead grows O(N)</a:t>
            </a:r>
          </a:p>
          <a:p>
            <a:r>
              <a:rPr lang="en-US" sz="1500" dirty="0">
                <a:solidFill>
                  <a:schemeClr val="accent6"/>
                </a:solidFill>
                <a:latin typeface="Google Sans"/>
                <a:ea typeface="+mn-ea"/>
                <a:cs typeface="+mn-cs"/>
              </a:rPr>
              <a:t>Dynamic membership is hard</a:t>
            </a:r>
          </a:p>
        </p:txBody>
      </p:sp>
    </p:spTree>
    <p:extLst>
      <p:ext uri="{BB962C8B-B14F-4D97-AF65-F5344CB8AC3E}">
        <p14:creationId xmlns:p14="http://schemas.microsoft.com/office/powerpoint/2010/main" val="14267435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D99C4-D918-344B-06C8-9215E53F83A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EEC1252-BB45-366D-7024-5A37530A54AD}"/>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52BF294-6750-EE1F-957C-8BD82BCAD6F6}"/>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0CEE292-826A-B9EF-3B72-8942B0F7DCC9}"/>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5A533622-E733-CA4E-86E5-7E626052E1CE}"/>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ED033670-C97D-625C-594E-A0864A2CF93E}"/>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8F77DBC8-0739-9E0B-2F38-8EECFED5C212}"/>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70663B9F-2D8A-CC96-DE0F-E46ED1B01583}"/>
              </a:ext>
            </a:extLst>
          </p:cNvPr>
          <p:cNvSpPr txBox="1">
            <a:spLocks/>
          </p:cNvSpPr>
          <p:nvPr/>
        </p:nvSpPr>
        <p:spPr>
          <a:xfrm>
            <a:off x="55803" y="774902"/>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 Total Ordering / Sequencer Based Ordering</a:t>
            </a:r>
          </a:p>
          <a:p>
            <a:r>
              <a:rPr lang="en-US" sz="1500" dirty="0">
                <a:solidFill>
                  <a:schemeClr val="accent6"/>
                </a:solidFill>
                <a:latin typeface="Google Sans"/>
                <a:ea typeface="+mn-ea"/>
                <a:cs typeface="+mn-cs"/>
              </a:rPr>
              <a:t>Lamport &amp; vector clocks give partial ordering.</a:t>
            </a:r>
          </a:p>
          <a:p>
            <a:r>
              <a:rPr lang="en-US" sz="1500" dirty="0">
                <a:solidFill>
                  <a:schemeClr val="accent2"/>
                </a:solidFill>
                <a:latin typeface="Google Sans"/>
                <a:ea typeface="+mn-ea"/>
                <a:cs typeface="+mn-cs"/>
              </a:rPr>
              <a:t>Sometimes systems require:</a:t>
            </a:r>
          </a:p>
          <a:p>
            <a:r>
              <a:rPr lang="en-US" sz="1500" dirty="0">
                <a:solidFill>
                  <a:schemeClr val="accent2"/>
                </a:solidFill>
                <a:latin typeface="Google Sans"/>
                <a:ea typeface="+mn-ea"/>
                <a:cs typeface="+mn-cs"/>
              </a:rPr>
              <a:t>👉 Everyone must process events in exact same order</a:t>
            </a:r>
          </a:p>
          <a:p>
            <a:r>
              <a:rPr lang="en-US" sz="1500" dirty="0">
                <a:solidFill>
                  <a:schemeClr val="accent2"/>
                </a:solidFill>
                <a:latin typeface="Google Sans"/>
                <a:ea typeface="+mn-ea"/>
                <a:cs typeface="+mn-cs"/>
              </a:rPr>
              <a:t>Example:</a:t>
            </a:r>
          </a:p>
          <a:p>
            <a:r>
              <a:rPr lang="en-US" sz="1500" dirty="0">
                <a:solidFill>
                  <a:schemeClr val="accent6"/>
                </a:solidFill>
                <a:latin typeface="Google Sans"/>
                <a:ea typeface="+mn-ea"/>
                <a:cs typeface="+mn-cs"/>
              </a:rPr>
              <a:t>Replicated logs</a:t>
            </a:r>
          </a:p>
          <a:p>
            <a:r>
              <a:rPr lang="en-US" sz="1500" dirty="0">
                <a:solidFill>
                  <a:schemeClr val="accent6"/>
                </a:solidFill>
                <a:latin typeface="Google Sans"/>
                <a:ea typeface="+mn-ea"/>
                <a:cs typeface="+mn-cs"/>
              </a:rPr>
              <a:t>Databases</a:t>
            </a:r>
          </a:p>
          <a:p>
            <a:r>
              <a:rPr lang="en-US" sz="1500" dirty="0">
                <a:solidFill>
                  <a:schemeClr val="accent6"/>
                </a:solidFill>
                <a:latin typeface="Google Sans"/>
                <a:ea typeface="+mn-ea"/>
                <a:cs typeface="+mn-cs"/>
              </a:rPr>
              <a:t>Event sourcing</a:t>
            </a:r>
          </a:p>
          <a:p>
            <a:r>
              <a:rPr lang="en-US" sz="1500" dirty="0">
                <a:solidFill>
                  <a:schemeClr val="accent6"/>
                </a:solidFill>
                <a:latin typeface="Google Sans"/>
                <a:ea typeface="+mn-ea"/>
                <a:cs typeface="+mn-cs"/>
              </a:rPr>
              <a:t>Messaging brokers</a:t>
            </a:r>
          </a:p>
          <a:p>
            <a:r>
              <a:rPr lang="en-US" sz="1500" dirty="0">
                <a:solidFill>
                  <a:schemeClr val="accent2"/>
                </a:solidFill>
                <a:latin typeface="Google Sans"/>
                <a:ea typeface="+mn-ea"/>
                <a:cs typeface="+mn-cs"/>
              </a:rPr>
              <a:t>💡 Sequencer Model</a:t>
            </a:r>
          </a:p>
          <a:p>
            <a:r>
              <a:rPr lang="en-US" sz="1500" dirty="0">
                <a:solidFill>
                  <a:schemeClr val="accent2"/>
                </a:solidFill>
                <a:latin typeface="Google Sans"/>
                <a:ea typeface="+mn-ea"/>
                <a:cs typeface="+mn-cs"/>
              </a:rPr>
              <a:t>One node becomes:</a:t>
            </a:r>
          </a:p>
          <a:p>
            <a:r>
              <a:rPr lang="en-US" sz="1500" dirty="0">
                <a:solidFill>
                  <a:schemeClr val="accent6"/>
                </a:solidFill>
                <a:latin typeface="Google Sans"/>
                <a:ea typeface="+mn-ea"/>
                <a:cs typeface="+mn-cs"/>
              </a:rPr>
              <a:t>GLOBAL ORDER AUTHORITY</a:t>
            </a:r>
          </a:p>
          <a:p>
            <a:r>
              <a:rPr lang="en-US" sz="1500" dirty="0">
                <a:solidFill>
                  <a:schemeClr val="accent2"/>
                </a:solidFill>
                <a:latin typeface="Google Sans"/>
                <a:ea typeface="+mn-ea"/>
                <a:cs typeface="+mn-cs"/>
              </a:rPr>
              <a:t>Architecture</a:t>
            </a:r>
          </a:p>
          <a:p>
            <a:r>
              <a:rPr lang="en-US" sz="1500" dirty="0">
                <a:solidFill>
                  <a:schemeClr val="accent6"/>
                </a:solidFill>
                <a:latin typeface="Google Sans"/>
                <a:ea typeface="+mn-ea"/>
                <a:cs typeface="+mn-cs"/>
              </a:rPr>
              <a:t>Producer → Sequencer → All replicas</a:t>
            </a:r>
          </a:p>
          <a:p>
            <a:r>
              <a:rPr lang="en-US" sz="1500" dirty="0">
                <a:solidFill>
                  <a:schemeClr val="accent2"/>
                </a:solidFill>
                <a:latin typeface="Google Sans"/>
                <a:ea typeface="+mn-ea"/>
                <a:cs typeface="+mn-cs"/>
              </a:rPr>
              <a:t>📜 Implementation Steps</a:t>
            </a:r>
          </a:p>
          <a:p>
            <a:r>
              <a:rPr lang="en-US" sz="1500" dirty="0">
                <a:solidFill>
                  <a:schemeClr val="accent2"/>
                </a:solidFill>
                <a:latin typeface="Google Sans"/>
                <a:ea typeface="+mn-ea"/>
                <a:cs typeface="+mn-cs"/>
              </a:rPr>
              <a:t>Step 1: Client sends message to sequencer</a:t>
            </a:r>
          </a:p>
          <a:p>
            <a:r>
              <a:rPr lang="en-US" sz="1500" dirty="0">
                <a:solidFill>
                  <a:schemeClr val="accent6"/>
                </a:solidFill>
                <a:latin typeface="Google Sans"/>
                <a:ea typeface="+mn-ea"/>
                <a:cs typeface="+mn-cs"/>
              </a:rPr>
              <a:t>Message M</a:t>
            </a:r>
          </a:p>
          <a:p>
            <a:r>
              <a:rPr lang="en-US" sz="1500" dirty="0">
                <a:solidFill>
                  <a:schemeClr val="accent2"/>
                </a:solidFill>
                <a:latin typeface="Google Sans"/>
                <a:ea typeface="+mn-ea"/>
                <a:cs typeface="+mn-cs"/>
              </a:rPr>
              <a:t>Step 2: Sequencer assigns global sequence</a:t>
            </a:r>
          </a:p>
          <a:p>
            <a:r>
              <a:rPr lang="en-US" sz="1500" dirty="0">
                <a:solidFill>
                  <a:schemeClr val="accent6"/>
                </a:solidFill>
                <a:latin typeface="Google Sans"/>
                <a:ea typeface="+mn-ea"/>
                <a:cs typeface="+mn-cs"/>
              </a:rPr>
              <a:t>Sequence number++</a:t>
            </a:r>
          </a:p>
          <a:p>
            <a:r>
              <a:rPr lang="en-US" sz="1500" dirty="0">
                <a:solidFill>
                  <a:schemeClr val="accent6"/>
                </a:solidFill>
                <a:latin typeface="Google Sans"/>
                <a:ea typeface="+mn-ea"/>
                <a:cs typeface="+mn-cs"/>
              </a:rPr>
              <a:t>Attach seq to message</a:t>
            </a:r>
          </a:p>
          <a:p>
            <a:r>
              <a:rPr lang="en-US" sz="1500" dirty="0">
                <a:solidFill>
                  <a:schemeClr val="accent2"/>
                </a:solidFill>
                <a:latin typeface="Google Sans"/>
                <a:ea typeface="+mn-ea"/>
                <a:cs typeface="+mn-cs"/>
              </a:rPr>
              <a:t>Step 3: Broadcast message</a:t>
            </a:r>
          </a:p>
          <a:p>
            <a:r>
              <a:rPr lang="en-US" sz="1500" dirty="0">
                <a:solidFill>
                  <a:schemeClr val="accent6"/>
                </a:solidFill>
                <a:latin typeface="Google Sans"/>
                <a:ea typeface="+mn-ea"/>
                <a:cs typeface="+mn-cs"/>
              </a:rPr>
              <a:t>All nodes apply messages in increasing order.</a:t>
            </a:r>
          </a:p>
        </p:txBody>
      </p:sp>
    </p:spTree>
    <p:extLst>
      <p:ext uri="{BB962C8B-B14F-4D97-AF65-F5344CB8AC3E}">
        <p14:creationId xmlns:p14="http://schemas.microsoft.com/office/powerpoint/2010/main" val="6293825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D7287B-1866-9F01-B9AF-312CADAC04F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A801DA6-3A7F-03F6-CF2E-C645C00615C9}"/>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2A52D02-92A7-C783-664C-5DCA697BEBB2}"/>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DB12A38-4E0A-7C33-60BF-E1646D5D013B}"/>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B3CF64D7-F271-C4B6-9EC8-F3D88B16672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ADD86C57-8FBE-FAB1-24A9-6528260C9EE2}"/>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7826FB23-AA2C-AC5B-496C-1E9FF0C93C9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8E05B02E-73A4-4CB9-C953-9FDBEE44F3FC}"/>
              </a:ext>
            </a:extLst>
          </p:cNvPr>
          <p:cNvSpPr txBox="1">
            <a:spLocks/>
          </p:cNvSpPr>
          <p:nvPr/>
        </p:nvSpPr>
        <p:spPr>
          <a:xfrm>
            <a:off x="55803" y="774902"/>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 Total Ordering / Sequencer Based Ordering</a:t>
            </a:r>
          </a:p>
          <a:p>
            <a:r>
              <a:rPr lang="en-US" sz="1500" dirty="0">
                <a:solidFill>
                  <a:schemeClr val="accent2"/>
                </a:solidFill>
                <a:latin typeface="Google Sans"/>
                <a:ea typeface="+mn-ea"/>
                <a:cs typeface="+mn-cs"/>
              </a:rPr>
              <a:t>📦 Example</a:t>
            </a:r>
          </a:p>
          <a:p>
            <a:r>
              <a:rPr lang="en-US" sz="1500" dirty="0">
                <a:solidFill>
                  <a:schemeClr val="accent2"/>
                </a:solidFill>
                <a:latin typeface="Google Sans"/>
                <a:ea typeface="+mn-ea"/>
                <a:cs typeface="+mn-cs"/>
              </a:rPr>
              <a:t>Messages from clients:</a:t>
            </a:r>
          </a:p>
          <a:p>
            <a:r>
              <a:rPr lang="en-US" sz="1500" dirty="0">
                <a:solidFill>
                  <a:schemeClr val="accent6"/>
                </a:solidFill>
                <a:latin typeface="Google Sans"/>
                <a:ea typeface="+mn-ea"/>
                <a:cs typeface="+mn-cs"/>
              </a:rPr>
              <a:t>M1 arrives</a:t>
            </a:r>
          </a:p>
          <a:p>
            <a:r>
              <a:rPr lang="en-US" sz="1500" dirty="0">
                <a:solidFill>
                  <a:schemeClr val="accent6"/>
                </a:solidFill>
                <a:latin typeface="Google Sans"/>
                <a:ea typeface="+mn-ea"/>
                <a:cs typeface="+mn-cs"/>
              </a:rPr>
              <a:t>M2 arrives</a:t>
            </a:r>
          </a:p>
          <a:p>
            <a:r>
              <a:rPr lang="en-US" sz="1500" dirty="0">
                <a:solidFill>
                  <a:schemeClr val="accent6"/>
                </a:solidFill>
                <a:latin typeface="Google Sans"/>
                <a:ea typeface="+mn-ea"/>
                <a:cs typeface="+mn-cs"/>
              </a:rPr>
              <a:t>M3 arrives</a:t>
            </a:r>
          </a:p>
          <a:p>
            <a:r>
              <a:rPr lang="en-US" sz="1500" dirty="0">
                <a:solidFill>
                  <a:schemeClr val="accent2"/>
                </a:solidFill>
                <a:latin typeface="Google Sans"/>
                <a:ea typeface="+mn-ea"/>
                <a:cs typeface="+mn-cs"/>
              </a:rPr>
              <a:t>Sequencer assigns:</a:t>
            </a:r>
          </a:p>
          <a:p>
            <a:r>
              <a:rPr lang="en-US" sz="1500" dirty="0">
                <a:solidFill>
                  <a:schemeClr val="accent6"/>
                </a:solidFill>
                <a:latin typeface="Google Sans"/>
                <a:ea typeface="+mn-ea"/>
                <a:cs typeface="+mn-cs"/>
              </a:rPr>
              <a:t>M2 → seq 1</a:t>
            </a:r>
          </a:p>
          <a:p>
            <a:r>
              <a:rPr lang="en-US" sz="1500" dirty="0">
                <a:solidFill>
                  <a:schemeClr val="accent6"/>
                </a:solidFill>
                <a:latin typeface="Google Sans"/>
                <a:ea typeface="+mn-ea"/>
                <a:cs typeface="+mn-cs"/>
              </a:rPr>
              <a:t>M1 → seq 2</a:t>
            </a:r>
          </a:p>
          <a:p>
            <a:r>
              <a:rPr lang="en-US" sz="1500" dirty="0">
                <a:solidFill>
                  <a:schemeClr val="accent6"/>
                </a:solidFill>
                <a:latin typeface="Google Sans"/>
                <a:ea typeface="+mn-ea"/>
                <a:cs typeface="+mn-cs"/>
              </a:rPr>
              <a:t>M3 → seq 3</a:t>
            </a:r>
          </a:p>
          <a:p>
            <a:r>
              <a:rPr lang="en-US" sz="1500" dirty="0">
                <a:solidFill>
                  <a:schemeClr val="accent6"/>
                </a:solidFill>
                <a:latin typeface="Google Sans"/>
                <a:ea typeface="+mn-ea"/>
                <a:cs typeface="+mn-cs"/>
              </a:rPr>
              <a:t>All nodes replay exactly same order.</a:t>
            </a:r>
          </a:p>
          <a:p>
            <a:r>
              <a:rPr lang="en-US" sz="1500" dirty="0">
                <a:solidFill>
                  <a:schemeClr val="accent2"/>
                </a:solidFill>
                <a:latin typeface="Google Sans"/>
                <a:ea typeface="+mn-ea"/>
                <a:cs typeface="+mn-cs"/>
              </a:rPr>
              <a:t>⚙️ Implementation Sketch</a:t>
            </a:r>
          </a:p>
          <a:p>
            <a:r>
              <a:rPr lang="en-US" sz="1500" dirty="0">
                <a:solidFill>
                  <a:schemeClr val="accent6"/>
                </a:solidFill>
                <a:latin typeface="Google Sans"/>
                <a:ea typeface="+mn-ea"/>
                <a:cs typeface="+mn-cs"/>
              </a:rPr>
              <a:t>class Sequencer</a:t>
            </a:r>
          </a:p>
          <a:p>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private long seq = 0;</a:t>
            </a:r>
          </a:p>
          <a:p>
            <a:r>
              <a:rPr lang="en-US" sz="1500" dirty="0">
                <a:solidFill>
                  <a:schemeClr val="accent6"/>
                </a:solidFill>
                <a:latin typeface="Google Sans"/>
                <a:ea typeface="+mn-ea"/>
                <a:cs typeface="+mn-cs"/>
              </a:rPr>
              <a:t>    public </a:t>
            </a:r>
            <a:r>
              <a:rPr lang="en-US" sz="1500" dirty="0" err="1">
                <a:solidFill>
                  <a:schemeClr val="accent6"/>
                </a:solidFill>
                <a:latin typeface="Google Sans"/>
                <a:ea typeface="+mn-ea"/>
                <a:cs typeface="+mn-cs"/>
              </a:rPr>
              <a:t>SequencedMessage</a:t>
            </a:r>
            <a:r>
              <a:rPr lang="en-US" sz="1500" dirty="0">
                <a:solidFill>
                  <a:schemeClr val="accent6"/>
                </a:solidFill>
                <a:latin typeface="Google Sans"/>
                <a:ea typeface="+mn-ea"/>
                <a:cs typeface="+mn-cs"/>
              </a:rPr>
              <a:t> Assign(Message m)</a:t>
            </a: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return new </a:t>
            </a:r>
            <a:r>
              <a:rPr lang="en-US" sz="1500" dirty="0" err="1">
                <a:solidFill>
                  <a:schemeClr val="accent6"/>
                </a:solidFill>
                <a:latin typeface="Google Sans"/>
                <a:ea typeface="+mn-ea"/>
                <a:cs typeface="+mn-cs"/>
              </a:rPr>
              <a:t>SequencedMessage</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Sequence = </a:t>
            </a:r>
            <a:r>
              <a:rPr lang="en-US" sz="1500" dirty="0" err="1">
                <a:solidFill>
                  <a:schemeClr val="accent6"/>
                </a:solidFill>
                <a:latin typeface="Google Sans"/>
                <a:ea typeface="+mn-ea"/>
                <a:cs typeface="+mn-cs"/>
              </a:rPr>
              <a:t>Interlocked.Increment</a:t>
            </a:r>
            <a:r>
              <a:rPr lang="en-US" sz="1500" dirty="0">
                <a:solidFill>
                  <a:schemeClr val="accent6"/>
                </a:solidFill>
                <a:latin typeface="Google Sans"/>
                <a:ea typeface="+mn-ea"/>
                <a:cs typeface="+mn-cs"/>
              </a:rPr>
              <a:t>(ref seq),</a:t>
            </a:r>
          </a:p>
          <a:p>
            <a:r>
              <a:rPr lang="en-US" sz="1500" dirty="0">
                <a:solidFill>
                  <a:schemeClr val="accent6"/>
                </a:solidFill>
                <a:latin typeface="Google Sans"/>
                <a:ea typeface="+mn-ea"/>
                <a:cs typeface="+mn-cs"/>
              </a:rPr>
              <a:t>            Payload = m</a:t>
            </a:r>
            <a:r>
              <a:rPr lang="en-US" sz="1500" dirty="0">
                <a:solidFill>
                  <a:schemeClr val="accent6"/>
                </a:solidFill>
                <a:latin typeface="Google Sans"/>
              </a:rPr>
              <a:t> };     }</a:t>
            </a:r>
          </a:p>
          <a:p>
            <a:r>
              <a:rPr lang="en-US" sz="1500" dirty="0">
                <a:solidFill>
                  <a:schemeClr val="accent6"/>
                </a:solidFill>
                <a:latin typeface="Google Sans"/>
              </a:rPr>
              <a:t>     }</a:t>
            </a:r>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303735614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C6F1C-BC3D-9BD1-FE01-E1F354207AC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2B6A110-5555-75D1-D894-A5C5A4E1C8F7}"/>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3190D83-A921-4FCD-C7C6-D82296708E51}"/>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FFB5089-3231-D32F-28F7-25969B5D3B03}"/>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BBF7841A-0525-592C-79EF-9C2CEF16A08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CF3AD09C-4647-4F79-4447-379330103E6D}"/>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F8D51B0-B02C-22B5-ED57-FF55DC939F2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BDCA6779-7FD4-EB27-E8DE-5BEDE535C763}"/>
              </a:ext>
            </a:extLst>
          </p:cNvPr>
          <p:cNvSpPr txBox="1">
            <a:spLocks/>
          </p:cNvSpPr>
          <p:nvPr/>
        </p:nvSpPr>
        <p:spPr>
          <a:xfrm>
            <a:off x="55803" y="774902"/>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 Total Ordering / Sequencer Based Ordering</a:t>
            </a:r>
          </a:p>
          <a:p>
            <a:r>
              <a:rPr lang="en-US" sz="1500" dirty="0">
                <a:solidFill>
                  <a:schemeClr val="accent2"/>
                </a:solidFill>
                <a:latin typeface="Google Sans"/>
                <a:ea typeface="+mn-ea"/>
                <a:cs typeface="+mn-cs"/>
              </a:rPr>
              <a:t>🔥 Replica Side</a:t>
            </a:r>
          </a:p>
          <a:p>
            <a:r>
              <a:rPr lang="en-US" sz="1500" dirty="0" err="1">
                <a:solidFill>
                  <a:schemeClr val="accent6"/>
                </a:solidFill>
                <a:latin typeface="Google Sans"/>
                <a:ea typeface="+mn-ea"/>
                <a:cs typeface="+mn-cs"/>
              </a:rPr>
              <a:t>SortedDictionary</a:t>
            </a:r>
            <a:r>
              <a:rPr lang="en-US" sz="1500" dirty="0">
                <a:solidFill>
                  <a:schemeClr val="accent6"/>
                </a:solidFill>
                <a:latin typeface="Google Sans"/>
                <a:ea typeface="+mn-ea"/>
                <a:cs typeface="+mn-cs"/>
              </a:rPr>
              <a:t>&lt;long, Message&gt; buffer;</a:t>
            </a:r>
          </a:p>
          <a:p>
            <a:r>
              <a:rPr lang="en-US" sz="1500" dirty="0">
                <a:solidFill>
                  <a:schemeClr val="accent6"/>
                </a:solidFill>
                <a:latin typeface="Google Sans"/>
                <a:ea typeface="+mn-ea"/>
                <a:cs typeface="+mn-cs"/>
              </a:rPr>
              <a:t>long </a:t>
            </a:r>
            <a:r>
              <a:rPr lang="en-US" sz="1500" dirty="0" err="1">
                <a:solidFill>
                  <a:schemeClr val="accent6"/>
                </a:solidFill>
                <a:latin typeface="Google Sans"/>
                <a:ea typeface="+mn-ea"/>
                <a:cs typeface="+mn-cs"/>
              </a:rPr>
              <a:t>nextExpected</a:t>
            </a:r>
            <a:r>
              <a:rPr lang="en-US" sz="1500" dirty="0">
                <a:solidFill>
                  <a:schemeClr val="accent6"/>
                </a:solidFill>
                <a:latin typeface="Google Sans"/>
                <a:ea typeface="+mn-ea"/>
                <a:cs typeface="+mn-cs"/>
              </a:rPr>
              <a:t> = 1;</a:t>
            </a:r>
          </a:p>
          <a:p>
            <a:r>
              <a:rPr lang="en-US" sz="1500" dirty="0">
                <a:solidFill>
                  <a:schemeClr val="accent2"/>
                </a:solidFill>
                <a:latin typeface="Google Sans"/>
                <a:ea typeface="+mn-ea"/>
                <a:cs typeface="+mn-cs"/>
              </a:rPr>
              <a:t>Process only when:</a:t>
            </a:r>
          </a:p>
          <a:p>
            <a:r>
              <a:rPr lang="en-US" sz="1500" dirty="0">
                <a:solidFill>
                  <a:schemeClr val="accent6"/>
                </a:solidFill>
                <a:latin typeface="Google Sans"/>
                <a:ea typeface="+mn-ea"/>
                <a:cs typeface="+mn-cs"/>
              </a:rPr>
              <a:t>buffer contains </a:t>
            </a:r>
            <a:r>
              <a:rPr lang="en-US" sz="1500" dirty="0" err="1">
                <a:solidFill>
                  <a:schemeClr val="accent6"/>
                </a:solidFill>
                <a:latin typeface="Google Sans"/>
                <a:ea typeface="+mn-ea"/>
                <a:cs typeface="+mn-cs"/>
              </a:rPr>
              <a:t>nextExpected</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 Problems</a:t>
            </a:r>
          </a:p>
          <a:p>
            <a:r>
              <a:rPr lang="en-US" sz="1500" dirty="0">
                <a:solidFill>
                  <a:schemeClr val="accent2"/>
                </a:solidFill>
                <a:latin typeface="Google Sans"/>
                <a:ea typeface="+mn-ea"/>
                <a:cs typeface="+mn-cs"/>
              </a:rPr>
              <a:t>Single point of failure</a:t>
            </a:r>
          </a:p>
          <a:p>
            <a:r>
              <a:rPr lang="en-US" sz="1500" dirty="0">
                <a:solidFill>
                  <a:schemeClr val="accent6"/>
                </a:solidFill>
                <a:latin typeface="Google Sans"/>
                <a:ea typeface="+mn-ea"/>
                <a:cs typeface="+mn-cs"/>
              </a:rPr>
              <a:t>Bottleneck</a:t>
            </a:r>
          </a:p>
          <a:p>
            <a:r>
              <a:rPr lang="en-US" sz="1500" dirty="0">
                <a:solidFill>
                  <a:schemeClr val="accent6"/>
                </a:solidFill>
                <a:latin typeface="Google Sans"/>
                <a:ea typeface="+mn-ea"/>
                <a:cs typeface="+mn-cs"/>
              </a:rPr>
              <a:t>High latency</a:t>
            </a:r>
          </a:p>
          <a:p>
            <a:r>
              <a:rPr lang="en-US" sz="1500" dirty="0">
                <a:solidFill>
                  <a:schemeClr val="accent6"/>
                </a:solidFill>
                <a:latin typeface="Google Sans"/>
                <a:ea typeface="+mn-ea"/>
                <a:cs typeface="+mn-cs"/>
              </a:rPr>
              <a:t>👉 Paxos / Raft are essentially distributed sequencers.</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 Google </a:t>
            </a:r>
            <a:r>
              <a:rPr lang="en-US" sz="2000" dirty="0" err="1">
                <a:solidFill>
                  <a:schemeClr val="accent2"/>
                </a:solidFill>
                <a:latin typeface="Google Sans"/>
                <a:ea typeface="+mn-ea"/>
                <a:cs typeface="+mn-cs"/>
              </a:rPr>
              <a:t>TrueTime</a:t>
            </a:r>
            <a:r>
              <a:rPr lang="en-US" sz="2000" dirty="0">
                <a:solidFill>
                  <a:schemeClr val="accent2"/>
                </a:solidFill>
                <a:latin typeface="Google Sans"/>
                <a:ea typeface="+mn-ea"/>
                <a:cs typeface="+mn-cs"/>
              </a:rPr>
              <a:t> (Spanner's Secret Sauce) – A Sophisticated Physical Clock</a:t>
            </a:r>
          </a:p>
          <a:p>
            <a:r>
              <a:rPr lang="en-US" sz="1500" dirty="0">
                <a:solidFill>
                  <a:schemeClr val="accent6"/>
                </a:solidFill>
                <a:latin typeface="Google Sans"/>
                <a:ea typeface="+mn-ea"/>
                <a:cs typeface="+mn-cs"/>
              </a:rPr>
              <a:t>Now we move from logical clocks → physical time with uncertainty modeling.</a:t>
            </a:r>
          </a:p>
          <a:p>
            <a:r>
              <a:rPr lang="en-US" sz="1500" dirty="0" err="1">
                <a:solidFill>
                  <a:schemeClr val="accent6"/>
                </a:solidFill>
                <a:latin typeface="Google Sans"/>
                <a:ea typeface="+mn-ea"/>
                <a:cs typeface="+mn-cs"/>
              </a:rPr>
              <a:t>TrueTime</a:t>
            </a:r>
            <a:r>
              <a:rPr lang="en-US" sz="1500" dirty="0">
                <a:solidFill>
                  <a:schemeClr val="accent6"/>
                </a:solidFill>
                <a:latin typeface="Google Sans"/>
                <a:ea typeface="+mn-ea"/>
                <a:cs typeface="+mn-cs"/>
              </a:rPr>
              <a:t> is wildly different and extremely sophisticated.</a:t>
            </a:r>
          </a:p>
          <a:p>
            <a:r>
              <a:rPr lang="en-US" sz="1500" dirty="0">
                <a:solidFill>
                  <a:schemeClr val="accent2"/>
                </a:solidFill>
                <a:latin typeface="Google Sans"/>
                <a:ea typeface="+mn-ea"/>
                <a:cs typeface="+mn-cs"/>
              </a:rPr>
              <a:t>💡 Problem Google Solved</a:t>
            </a:r>
          </a:p>
          <a:p>
            <a:r>
              <a:rPr lang="en-US" sz="1500" dirty="0">
                <a:solidFill>
                  <a:schemeClr val="accent2"/>
                </a:solidFill>
                <a:latin typeface="Google Sans"/>
                <a:ea typeface="+mn-ea"/>
                <a:cs typeface="+mn-cs"/>
              </a:rPr>
              <a:t>They wanted:</a:t>
            </a:r>
          </a:p>
          <a:p>
            <a:r>
              <a:rPr lang="en-US" sz="1500" dirty="0">
                <a:solidFill>
                  <a:schemeClr val="accent6"/>
                </a:solidFill>
                <a:latin typeface="Google Sans"/>
                <a:ea typeface="+mn-ea"/>
                <a:cs typeface="+mn-cs"/>
              </a:rPr>
              <a:t>👉 Globally consistent transactions across data centers</a:t>
            </a:r>
          </a:p>
          <a:p>
            <a:r>
              <a:rPr lang="en-US" sz="1500" dirty="0">
                <a:solidFill>
                  <a:schemeClr val="accent6"/>
                </a:solidFill>
                <a:latin typeface="Google Sans"/>
                <a:ea typeface="+mn-ea"/>
                <a:cs typeface="+mn-cs"/>
              </a:rPr>
              <a:t>Using real time ordering.</a:t>
            </a:r>
          </a:p>
          <a:p>
            <a:r>
              <a:rPr lang="en-US" sz="1500" dirty="0">
                <a:solidFill>
                  <a:schemeClr val="accent2"/>
                </a:solidFill>
                <a:latin typeface="Google Sans"/>
                <a:ea typeface="+mn-ea"/>
                <a:cs typeface="+mn-cs"/>
              </a:rPr>
              <a:t>⚠️ Why Physical Clocks Fail</a:t>
            </a:r>
          </a:p>
          <a:p>
            <a:r>
              <a:rPr lang="en-US" sz="1500" dirty="0">
                <a:solidFill>
                  <a:schemeClr val="accent6"/>
                </a:solidFill>
                <a:latin typeface="Google Sans"/>
                <a:ea typeface="+mn-ea"/>
                <a:cs typeface="+mn-cs"/>
              </a:rPr>
              <a:t>Machines have:</a:t>
            </a:r>
          </a:p>
          <a:p>
            <a:r>
              <a:rPr lang="en-US" sz="1500" dirty="0">
                <a:solidFill>
                  <a:schemeClr val="accent6"/>
                </a:solidFill>
                <a:latin typeface="Google Sans"/>
                <a:ea typeface="+mn-ea"/>
                <a:cs typeface="+mn-cs"/>
              </a:rPr>
              <a:t>Clock drift</a:t>
            </a:r>
          </a:p>
        </p:txBody>
      </p:sp>
    </p:spTree>
    <p:extLst>
      <p:ext uri="{BB962C8B-B14F-4D97-AF65-F5344CB8AC3E}">
        <p14:creationId xmlns:p14="http://schemas.microsoft.com/office/powerpoint/2010/main" val="13329603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12834-7E00-DAB6-114D-6816A05D574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59EC6C7-BDFA-A241-06FC-8EFACDC4F978}"/>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14835DB-24B8-5234-E9CF-57871EFC1E98}"/>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92A0E86-900B-B9B7-5077-C0DE990B60E3}"/>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60854ED3-2900-9603-90A0-D12C1EB5D525}"/>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62BBA67F-48C0-3D78-C543-12B550F19B4A}"/>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6BD9AB83-E6E1-8662-88E2-0D00882EF061}"/>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1A8B1E14-A953-957F-91BB-FCC04DDB3D04}"/>
              </a:ext>
            </a:extLst>
          </p:cNvPr>
          <p:cNvSpPr txBox="1">
            <a:spLocks/>
          </p:cNvSpPr>
          <p:nvPr/>
        </p:nvSpPr>
        <p:spPr>
          <a:xfrm>
            <a:off x="55803" y="774902"/>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🧭NTP(Network Time Protocol)</a:t>
            </a:r>
          </a:p>
          <a:p>
            <a:r>
              <a:rPr lang="en-US" sz="1500" dirty="0">
                <a:solidFill>
                  <a:schemeClr val="accent6"/>
                </a:solidFill>
                <a:latin typeface="Google Sans"/>
                <a:ea typeface="+mn-ea"/>
                <a:cs typeface="+mn-cs"/>
              </a:rPr>
              <a:t>NTP is the standard protocol for synchronizing physical clocks over variable-latency networks (like the internet). </a:t>
            </a:r>
          </a:p>
          <a:p>
            <a:r>
              <a:rPr lang="en-US" sz="1500" dirty="0">
                <a:solidFill>
                  <a:schemeClr val="accent2"/>
                </a:solidFill>
                <a:latin typeface="Google Sans"/>
                <a:ea typeface="+mn-ea"/>
                <a:cs typeface="+mn-cs"/>
              </a:rPr>
              <a:t>The NTP Hierarchy (Stratum)</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NTP uses a hierarchy of time sources called stratum. </a:t>
            </a:r>
          </a:p>
          <a:p>
            <a:r>
              <a:rPr lang="en-US" sz="1500" dirty="0">
                <a:solidFill>
                  <a:schemeClr val="accent2"/>
                </a:solidFill>
                <a:latin typeface="Google Sans"/>
                <a:ea typeface="+mn-ea"/>
                <a:cs typeface="+mn-cs"/>
              </a:rPr>
              <a:t>Stratum 0: </a:t>
            </a:r>
            <a:r>
              <a:rPr lang="en-US" sz="1500" dirty="0">
                <a:solidFill>
                  <a:schemeClr val="accent6"/>
                </a:solidFill>
                <a:latin typeface="Google Sans"/>
                <a:ea typeface="+mn-ea"/>
                <a:cs typeface="+mn-cs"/>
              </a:rPr>
              <a:t>High-precision time sources like atomic clocks, GPS, or radio clocks.</a:t>
            </a:r>
          </a:p>
          <a:p>
            <a:r>
              <a:rPr lang="en-US" sz="1500" dirty="0">
                <a:solidFill>
                  <a:schemeClr val="accent2"/>
                </a:solidFill>
                <a:latin typeface="Google Sans"/>
                <a:ea typeface="+mn-ea"/>
                <a:cs typeface="+mn-cs"/>
              </a:rPr>
              <a:t>Stratum 1:</a:t>
            </a:r>
            <a:r>
              <a:rPr lang="en-US" sz="1500" dirty="0">
                <a:solidFill>
                  <a:schemeClr val="accent6"/>
                </a:solidFill>
                <a:latin typeface="Google Sans"/>
                <a:ea typeface="+mn-ea"/>
                <a:cs typeface="+mn-cs"/>
              </a:rPr>
              <a:t> Computers directly attached to Stratum 0 devices (Primary servers).</a:t>
            </a:r>
          </a:p>
          <a:p>
            <a:r>
              <a:rPr lang="en-US" sz="1500" dirty="0">
                <a:solidFill>
                  <a:schemeClr val="accent2"/>
                </a:solidFill>
                <a:latin typeface="Google Sans"/>
                <a:ea typeface="+mn-ea"/>
                <a:cs typeface="+mn-cs"/>
              </a:rPr>
              <a:t>Stratum 2, 3...: </a:t>
            </a:r>
            <a:r>
              <a:rPr lang="en-US" sz="1500" dirty="0">
                <a:solidFill>
                  <a:schemeClr val="accent6"/>
                </a:solidFill>
                <a:latin typeface="Google Sans"/>
                <a:ea typeface="+mn-ea"/>
                <a:cs typeface="+mn-cs"/>
              </a:rPr>
              <a:t>Servers that synchronize with higher-stratum </a:t>
            </a:r>
            <a:r>
              <a:rPr lang="en-US" sz="1500" dirty="0" err="1">
                <a:solidFill>
                  <a:schemeClr val="accent6"/>
                </a:solidFill>
                <a:latin typeface="Google Sans"/>
                <a:ea typeface="+mn-ea"/>
                <a:cs typeface="+mn-cs"/>
              </a:rPr>
              <a:t>servers.Maximum</a:t>
            </a:r>
            <a:r>
              <a:rPr lang="en-US" sz="1500" dirty="0">
                <a:solidFill>
                  <a:schemeClr val="accent6"/>
                </a:solidFill>
                <a:latin typeface="Google Sans"/>
                <a:ea typeface="+mn-ea"/>
                <a:cs typeface="+mn-cs"/>
              </a:rPr>
              <a:t> Levels: 15. </a:t>
            </a:r>
          </a:p>
          <a:p>
            <a:r>
              <a:rPr lang="en-US" sz="1500" dirty="0">
                <a:solidFill>
                  <a:schemeClr val="accent6"/>
                </a:solidFill>
                <a:latin typeface="Google Sans"/>
                <a:ea typeface="+mn-ea"/>
                <a:cs typeface="+mn-cs"/>
              </a:rPr>
              <a:t>A stratum 16 indicates the device is unsynchronized.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How NTP Works (The Exchange) </a:t>
            </a:r>
          </a:p>
          <a:p>
            <a:r>
              <a:rPr lang="en-US" sz="1500" dirty="0">
                <a:solidFill>
                  <a:schemeClr val="accent6"/>
                </a:solidFill>
                <a:latin typeface="Google Sans"/>
                <a:ea typeface="+mn-ea"/>
                <a:cs typeface="+mn-cs"/>
              </a:rPr>
              <a:t>NTP clients exchange packets with servers to calculate two main things: offset (time difference) and round-trip delay. Client sends request (T_{1}).Server receives (T_{2}), replies (T_{3}).Client receives reply (T_{4}). </a:t>
            </a:r>
          </a:p>
          <a:p>
            <a:r>
              <a:rPr lang="en-US" sz="1500" dirty="0">
                <a:solidFill>
                  <a:schemeClr val="accent2"/>
                </a:solidFill>
                <a:latin typeface="Google Sans"/>
                <a:ea typeface="+mn-ea"/>
                <a:cs typeface="+mn-cs"/>
              </a:rPr>
              <a:t>Calculation: </a:t>
            </a:r>
          </a:p>
          <a:p>
            <a:r>
              <a:rPr lang="en-US" sz="1500" dirty="0">
                <a:solidFill>
                  <a:schemeClr val="accent2"/>
                </a:solidFill>
                <a:latin typeface="Google Sans"/>
                <a:ea typeface="+mn-ea"/>
                <a:cs typeface="+mn-cs"/>
              </a:rPr>
              <a:t>Delay (delta): </a:t>
            </a:r>
            <a:r>
              <a:rPr lang="en-US" sz="1500" dirty="0">
                <a:solidFill>
                  <a:schemeClr val="accent6"/>
                </a:solidFill>
                <a:latin typeface="Google Sans"/>
                <a:ea typeface="+mn-ea"/>
                <a:cs typeface="+mn-cs"/>
              </a:rPr>
              <a:t>(T_{4}-T_{1})-(T_{3}-T_{2})</a:t>
            </a:r>
          </a:p>
          <a:p>
            <a:r>
              <a:rPr lang="en-US" sz="1500" dirty="0">
                <a:solidFill>
                  <a:schemeClr val="accent2"/>
                </a:solidFill>
                <a:latin typeface="Google Sans"/>
                <a:ea typeface="+mn-ea"/>
                <a:cs typeface="+mn-cs"/>
              </a:rPr>
              <a:t>Offset (theta):</a:t>
            </a:r>
            <a:r>
              <a:rPr lang="en-US" sz="1500" dirty="0">
                <a:solidFill>
                  <a:schemeClr val="accent6"/>
                </a:solidFill>
                <a:latin typeface="Google Sans"/>
                <a:ea typeface="+mn-ea"/>
                <a:cs typeface="+mn-cs"/>
              </a:rPr>
              <a:t> frac{(T_{2}-T_{1})+(T_{3}-T_{4})}</a:t>
            </a:r>
          </a:p>
          <a:p>
            <a:r>
              <a:rPr lang="en-US" sz="1500" dirty="0">
                <a:solidFill>
                  <a:schemeClr val="accent2"/>
                </a:solidFill>
                <a:latin typeface="Google Sans"/>
                <a:ea typeface="+mn-ea"/>
                <a:cs typeface="+mn-cs"/>
              </a:rPr>
              <a:t>Limitations of NTP Accuracy: </a:t>
            </a:r>
            <a:r>
              <a:rPr lang="en-US" sz="1500" dirty="0">
                <a:solidFill>
                  <a:schemeClr val="accent6"/>
                </a:solidFill>
                <a:latin typeface="Google Sans"/>
                <a:ea typeface="+mn-ea"/>
                <a:cs typeface="+mn-cs"/>
              </a:rPr>
              <a:t>On the internet, accuracy is usually within tens of milliseconds, which is too slow for high-performance databases.</a:t>
            </a:r>
          </a:p>
          <a:p>
            <a:r>
              <a:rPr lang="en-US" sz="1500" dirty="0">
                <a:solidFill>
                  <a:schemeClr val="accent2"/>
                </a:solidFill>
                <a:latin typeface="Google Sans"/>
                <a:ea typeface="+mn-ea"/>
                <a:cs typeface="+mn-cs"/>
              </a:rPr>
              <a:t>Non-Monotonicity:</a:t>
            </a:r>
            <a:r>
              <a:rPr lang="en-US" sz="1500" dirty="0">
                <a:solidFill>
                  <a:schemeClr val="accent6"/>
                </a:solidFill>
                <a:latin typeface="Google Sans"/>
                <a:ea typeface="+mn-ea"/>
                <a:cs typeface="+mn-cs"/>
              </a:rPr>
              <a:t> NTP can make time "jump" backward or forward suddenly to correct large drifts, breaking the assumption that time only moves forward.</a:t>
            </a: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39697374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EAA07-3788-D43A-E884-83CAC60F7CD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9879F87-91C1-9FE9-9F25-38DFBDBCE98C}"/>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67F8086-190D-4B87-7BA6-CA785BDCBC29}"/>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429E294-EA02-3D64-F76E-8DDC9D7887F3}"/>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3A7A341C-0A9C-4DC7-B105-15E6785CACBD}"/>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30AC28BC-CDBF-68FF-4F01-3093DC85DB4B}"/>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E0159E5-3AE9-84B5-080F-F27400464E5D}"/>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F070F759-D782-E320-1AAB-443A2F914A0A}"/>
              </a:ext>
            </a:extLst>
          </p:cNvPr>
          <p:cNvSpPr txBox="1">
            <a:spLocks/>
          </p:cNvSpPr>
          <p:nvPr/>
        </p:nvSpPr>
        <p:spPr>
          <a:xfrm>
            <a:off x="55803" y="774902"/>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 Google </a:t>
            </a:r>
            <a:r>
              <a:rPr lang="en-US" sz="2000">
                <a:solidFill>
                  <a:schemeClr val="accent2"/>
                </a:solidFill>
                <a:latin typeface="Google Sans"/>
              </a:rPr>
              <a:t>TrueTime </a:t>
            </a:r>
            <a:r>
              <a:rPr lang="en-US" sz="2000" dirty="0">
                <a:solidFill>
                  <a:schemeClr val="accent2"/>
                </a:solidFill>
                <a:latin typeface="Google Sans"/>
              </a:rPr>
              <a:t>– A Sophisticated Physical Clock</a:t>
            </a:r>
          </a:p>
          <a:p>
            <a:r>
              <a:rPr lang="en-US" sz="1500" dirty="0">
                <a:solidFill>
                  <a:schemeClr val="accent2"/>
                </a:solidFill>
                <a:latin typeface="Google Sans"/>
                <a:ea typeface="+mn-ea"/>
                <a:cs typeface="+mn-cs"/>
              </a:rPr>
              <a:t>⚠️ Why Physical Clocks Fail</a:t>
            </a:r>
          </a:p>
          <a:p>
            <a:r>
              <a:rPr lang="en-US" sz="1500" dirty="0">
                <a:solidFill>
                  <a:schemeClr val="accent6"/>
                </a:solidFill>
                <a:latin typeface="Google Sans"/>
                <a:ea typeface="+mn-ea"/>
                <a:cs typeface="+mn-cs"/>
              </a:rPr>
              <a:t>NTP inaccuracies</a:t>
            </a:r>
          </a:p>
          <a:p>
            <a:r>
              <a:rPr lang="en-US" sz="1500" dirty="0">
                <a:solidFill>
                  <a:schemeClr val="accent6"/>
                </a:solidFill>
                <a:latin typeface="Google Sans"/>
                <a:ea typeface="+mn-ea"/>
                <a:cs typeface="+mn-cs"/>
              </a:rPr>
              <a:t>Network latency</a:t>
            </a:r>
          </a:p>
          <a:p>
            <a:r>
              <a:rPr lang="en-US" sz="1500" dirty="0">
                <a:solidFill>
                  <a:schemeClr val="accent6"/>
                </a:solidFill>
                <a:latin typeface="Google Sans"/>
                <a:ea typeface="+mn-ea"/>
                <a:cs typeface="+mn-cs"/>
              </a:rPr>
              <a:t>So physical time is unreliable.</a:t>
            </a:r>
          </a:p>
          <a:p>
            <a:r>
              <a:rPr lang="en-US" sz="1500" dirty="0">
                <a:solidFill>
                  <a:schemeClr val="accent2"/>
                </a:solidFill>
                <a:latin typeface="Google Sans"/>
                <a:ea typeface="+mn-ea"/>
                <a:cs typeface="+mn-cs"/>
              </a:rPr>
              <a:t>💥 </a:t>
            </a:r>
            <a:r>
              <a:rPr lang="en-US" sz="1500" dirty="0" err="1">
                <a:solidFill>
                  <a:schemeClr val="accent2"/>
                </a:solidFill>
                <a:latin typeface="Google Sans"/>
                <a:ea typeface="+mn-ea"/>
                <a:cs typeface="+mn-cs"/>
              </a:rPr>
              <a:t>TrueTime</a:t>
            </a:r>
            <a:r>
              <a:rPr lang="en-US" sz="1500" dirty="0">
                <a:solidFill>
                  <a:schemeClr val="accent2"/>
                </a:solidFill>
                <a:latin typeface="Google Sans"/>
                <a:ea typeface="+mn-ea"/>
                <a:cs typeface="+mn-cs"/>
              </a:rPr>
              <a:t> Idea</a:t>
            </a:r>
          </a:p>
          <a:p>
            <a:r>
              <a:rPr lang="en-US" sz="1500" dirty="0">
                <a:solidFill>
                  <a:schemeClr val="accent6"/>
                </a:solidFill>
                <a:latin typeface="Google Sans"/>
                <a:ea typeface="+mn-ea"/>
                <a:cs typeface="+mn-cs"/>
              </a:rPr>
              <a:t>Instead of returning one timestamp:</a:t>
            </a:r>
          </a:p>
          <a:p>
            <a:r>
              <a:rPr lang="en-US" sz="1500" dirty="0">
                <a:solidFill>
                  <a:schemeClr val="accent6"/>
                </a:solidFill>
                <a:latin typeface="Google Sans"/>
                <a:ea typeface="+mn-ea"/>
                <a:cs typeface="+mn-cs"/>
              </a:rPr>
              <a:t>It returns time interval</a:t>
            </a:r>
          </a:p>
          <a:p>
            <a:r>
              <a:rPr lang="en-US" sz="1500" dirty="0">
                <a:solidFill>
                  <a:schemeClr val="accent6"/>
                </a:solidFill>
                <a:latin typeface="Google Sans"/>
                <a:ea typeface="+mn-ea"/>
                <a:cs typeface="+mn-cs"/>
              </a:rPr>
              <a:t>[earliest, latest]</a:t>
            </a:r>
          </a:p>
          <a:p>
            <a:r>
              <a:rPr lang="en-US" sz="1500" dirty="0">
                <a:solidFill>
                  <a:schemeClr val="accent6"/>
                </a:solidFill>
                <a:latin typeface="Google Sans"/>
                <a:ea typeface="+mn-ea"/>
                <a:cs typeface="+mn-cs"/>
              </a:rPr>
              <a:t>API</a:t>
            </a:r>
          </a:p>
          <a:p>
            <a:r>
              <a:rPr lang="en-US" sz="1500" dirty="0" err="1">
                <a:solidFill>
                  <a:schemeClr val="accent6"/>
                </a:solidFill>
                <a:latin typeface="Google Sans"/>
                <a:ea typeface="+mn-ea"/>
                <a:cs typeface="+mn-cs"/>
              </a:rPr>
              <a:t>TT.now</a:t>
            </a:r>
            <a:r>
              <a:rPr lang="en-US" sz="1500" dirty="0">
                <a:solidFill>
                  <a:schemeClr val="accent6"/>
                </a:solidFill>
                <a:latin typeface="Google Sans"/>
                <a:ea typeface="+mn-ea"/>
                <a:cs typeface="+mn-cs"/>
              </a:rPr>
              <a:t>() → [earliest, latest]</a:t>
            </a:r>
          </a:p>
          <a:p>
            <a:r>
              <a:rPr lang="en-US" sz="1500" dirty="0">
                <a:solidFill>
                  <a:schemeClr val="accent2"/>
                </a:solidFill>
                <a:latin typeface="Google Sans"/>
                <a:ea typeface="+mn-ea"/>
                <a:cs typeface="+mn-cs"/>
              </a:rPr>
              <a:t>📜 Guarantee</a:t>
            </a:r>
          </a:p>
          <a:p>
            <a:r>
              <a:rPr lang="en-US" sz="1500" dirty="0">
                <a:solidFill>
                  <a:schemeClr val="accent6"/>
                </a:solidFill>
                <a:latin typeface="Google Sans"/>
                <a:ea typeface="+mn-ea"/>
                <a:cs typeface="+mn-cs"/>
              </a:rPr>
              <a:t>Actual real time is somewhere inside interval.</a:t>
            </a:r>
          </a:p>
          <a:p>
            <a:r>
              <a:rPr lang="en-US" sz="1500" dirty="0">
                <a:solidFill>
                  <a:schemeClr val="accent2"/>
                </a:solidFill>
                <a:latin typeface="Google Sans"/>
                <a:ea typeface="+mn-ea"/>
                <a:cs typeface="+mn-cs"/>
              </a:rPr>
              <a:t>🧠 How </a:t>
            </a:r>
            <a:r>
              <a:rPr lang="en-US" sz="1500" dirty="0" err="1">
                <a:solidFill>
                  <a:schemeClr val="accent2"/>
                </a:solidFill>
                <a:latin typeface="Google Sans"/>
                <a:ea typeface="+mn-ea"/>
                <a:cs typeface="+mn-cs"/>
              </a:rPr>
              <a:t>TrueTime</a:t>
            </a:r>
            <a:r>
              <a:rPr lang="en-US" sz="1500" dirty="0">
                <a:solidFill>
                  <a:schemeClr val="accent2"/>
                </a:solidFill>
                <a:latin typeface="Google Sans"/>
                <a:ea typeface="+mn-ea"/>
                <a:cs typeface="+mn-cs"/>
              </a:rPr>
              <a:t> Works Internally</a:t>
            </a:r>
          </a:p>
          <a:p>
            <a:r>
              <a:rPr lang="en-US" sz="1500" dirty="0">
                <a:solidFill>
                  <a:schemeClr val="accent2"/>
                </a:solidFill>
                <a:latin typeface="Google Sans"/>
                <a:ea typeface="+mn-ea"/>
                <a:cs typeface="+mn-cs"/>
              </a:rPr>
              <a:t>Google uses:</a:t>
            </a:r>
          </a:p>
          <a:p>
            <a:r>
              <a:rPr lang="en-US" sz="1500" dirty="0">
                <a:solidFill>
                  <a:schemeClr val="accent6"/>
                </a:solidFill>
                <a:latin typeface="Google Sans"/>
                <a:ea typeface="+mn-ea"/>
                <a:cs typeface="+mn-cs"/>
              </a:rPr>
              <a:t>GPS clocks</a:t>
            </a:r>
          </a:p>
          <a:p>
            <a:r>
              <a:rPr lang="en-US" sz="1500" dirty="0">
                <a:solidFill>
                  <a:schemeClr val="accent6"/>
                </a:solidFill>
                <a:latin typeface="Google Sans"/>
                <a:ea typeface="+mn-ea"/>
                <a:cs typeface="+mn-cs"/>
              </a:rPr>
              <a:t>Atomic clocks</a:t>
            </a:r>
          </a:p>
          <a:p>
            <a:r>
              <a:rPr lang="en-US" sz="1500" dirty="0">
                <a:solidFill>
                  <a:schemeClr val="accent6"/>
                </a:solidFill>
                <a:latin typeface="Google Sans"/>
                <a:ea typeface="+mn-ea"/>
                <a:cs typeface="+mn-cs"/>
              </a:rPr>
              <a:t>Specialized hardware</a:t>
            </a:r>
          </a:p>
          <a:p>
            <a:r>
              <a:rPr lang="en-US" sz="1500" dirty="0">
                <a:solidFill>
                  <a:schemeClr val="accent6"/>
                </a:solidFill>
                <a:latin typeface="Google Sans"/>
                <a:ea typeface="+mn-ea"/>
                <a:cs typeface="+mn-cs"/>
              </a:rPr>
              <a:t>Continuous synchronization</a:t>
            </a:r>
          </a:p>
          <a:p>
            <a:endParaRPr lang="en-US" sz="1500" dirty="0">
              <a:solidFill>
                <a:schemeClr val="accent6"/>
              </a:solidFill>
              <a:latin typeface="Google Sans"/>
              <a:ea typeface="+mn-ea"/>
              <a:cs typeface="+mn-cs"/>
            </a:endParaRP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39511524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F3799-60CE-C370-1128-F6084ACC6A8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E7E9627-9389-B418-6A82-CD3108CA6D07}"/>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20022AA-8033-5DA9-2BE8-6B370FDBE904}"/>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992890C-F498-CE1B-A372-1B91074B5CAC}"/>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B4410022-A2D7-558C-1480-9BAC75D1398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A2E6109D-ECDA-3358-D9C5-AA7511B64113}"/>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AA9F1C9F-65D1-ACC0-D984-273FC3AB1DD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D9A3418E-8469-A758-30FB-8D7761963A09}"/>
              </a:ext>
            </a:extLst>
          </p:cNvPr>
          <p:cNvSpPr txBox="1">
            <a:spLocks/>
          </p:cNvSpPr>
          <p:nvPr/>
        </p:nvSpPr>
        <p:spPr>
          <a:xfrm>
            <a:off x="55803" y="774902"/>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 Google </a:t>
            </a:r>
            <a:r>
              <a:rPr lang="en-US" sz="2000" dirty="0" err="1">
                <a:solidFill>
                  <a:schemeClr val="accent2"/>
                </a:solidFill>
                <a:latin typeface="Google Sans"/>
              </a:rPr>
              <a:t>TrueTime</a:t>
            </a:r>
            <a:r>
              <a:rPr lang="en-US" sz="2000" dirty="0">
                <a:solidFill>
                  <a:schemeClr val="accent2"/>
                </a:solidFill>
                <a:latin typeface="Google Sans"/>
              </a:rPr>
              <a:t> – A Sophisticated Physical Clock</a:t>
            </a:r>
          </a:p>
          <a:p>
            <a:r>
              <a:rPr lang="en-US" sz="1500" dirty="0">
                <a:solidFill>
                  <a:schemeClr val="accent2"/>
                </a:solidFill>
                <a:latin typeface="Google Sans"/>
                <a:ea typeface="+mn-ea"/>
                <a:cs typeface="+mn-cs"/>
              </a:rPr>
              <a:t>📦 Example</a:t>
            </a:r>
          </a:p>
          <a:p>
            <a:r>
              <a:rPr lang="en-US" sz="1500" dirty="0" err="1">
                <a:solidFill>
                  <a:schemeClr val="accent6"/>
                </a:solidFill>
                <a:latin typeface="Google Sans"/>
                <a:ea typeface="+mn-ea"/>
                <a:cs typeface="+mn-cs"/>
              </a:rPr>
              <a:t>TT.now</a:t>
            </a:r>
            <a:r>
              <a:rPr lang="en-US" sz="1500" dirty="0">
                <a:solidFill>
                  <a:schemeClr val="accent6"/>
                </a:solidFill>
                <a:latin typeface="Google Sans"/>
                <a:ea typeface="+mn-ea"/>
                <a:cs typeface="+mn-cs"/>
              </a:rPr>
              <a:t>() = [10:00:00.000 , 10:00:00.007]</a:t>
            </a:r>
          </a:p>
          <a:p>
            <a:r>
              <a:rPr lang="en-US" sz="1500" dirty="0">
                <a:solidFill>
                  <a:schemeClr val="accent2"/>
                </a:solidFill>
                <a:latin typeface="Google Sans"/>
                <a:ea typeface="+mn-ea"/>
                <a:cs typeface="+mn-cs"/>
              </a:rPr>
              <a:t>Meaning:</a:t>
            </a:r>
          </a:p>
          <a:p>
            <a:r>
              <a:rPr lang="en-US" sz="1500" dirty="0">
                <a:solidFill>
                  <a:schemeClr val="accent6"/>
                </a:solidFill>
                <a:latin typeface="Google Sans"/>
                <a:ea typeface="+mn-ea"/>
                <a:cs typeface="+mn-cs"/>
              </a:rPr>
              <a:t>Actual time ∈ interval</a:t>
            </a:r>
          </a:p>
          <a:p>
            <a:r>
              <a:rPr lang="en-US" sz="1500" dirty="0">
                <a:solidFill>
                  <a:schemeClr val="accent6"/>
                </a:solidFill>
                <a:latin typeface="Google Sans"/>
                <a:ea typeface="+mn-ea"/>
                <a:cs typeface="+mn-cs"/>
              </a:rPr>
              <a:t>Uncertainty = 7ms</a:t>
            </a:r>
          </a:p>
          <a:p>
            <a:r>
              <a:rPr lang="en-US" sz="1500" dirty="0">
                <a:solidFill>
                  <a:schemeClr val="accent6"/>
                </a:solidFill>
                <a:latin typeface="Google Sans"/>
                <a:ea typeface="+mn-ea"/>
                <a:cs typeface="+mn-cs"/>
              </a:rPr>
              <a:t>🔥 Spanner Transaction Ordering</a:t>
            </a:r>
          </a:p>
          <a:p>
            <a:r>
              <a:rPr lang="en-US" sz="1500" dirty="0">
                <a:solidFill>
                  <a:schemeClr val="accent6"/>
                </a:solidFill>
                <a:latin typeface="Google Sans"/>
                <a:ea typeface="+mn-ea"/>
                <a:cs typeface="+mn-cs"/>
              </a:rPr>
              <a:t>To ensure global serializability:</a:t>
            </a:r>
          </a:p>
          <a:p>
            <a:r>
              <a:rPr lang="en-US" sz="1500" dirty="0">
                <a:solidFill>
                  <a:schemeClr val="accent2"/>
                </a:solidFill>
                <a:latin typeface="Google Sans"/>
                <a:ea typeface="+mn-ea"/>
                <a:cs typeface="+mn-cs"/>
              </a:rPr>
              <a:t>Spanner uses:</a:t>
            </a:r>
          </a:p>
          <a:p>
            <a:r>
              <a:rPr lang="en-US" sz="1500" dirty="0">
                <a:solidFill>
                  <a:schemeClr val="accent6"/>
                </a:solidFill>
                <a:latin typeface="Google Sans"/>
                <a:ea typeface="+mn-ea"/>
                <a:cs typeface="+mn-cs"/>
              </a:rPr>
              <a:t>👉 Commit wait</a:t>
            </a:r>
          </a:p>
          <a:p>
            <a:r>
              <a:rPr lang="en-US" sz="1500" dirty="0">
                <a:solidFill>
                  <a:schemeClr val="accent2"/>
                </a:solidFill>
                <a:latin typeface="Google Sans"/>
                <a:ea typeface="+mn-ea"/>
                <a:cs typeface="+mn-cs"/>
              </a:rPr>
              <a:t>Commit Algorithm</a:t>
            </a:r>
          </a:p>
          <a:p>
            <a:r>
              <a:rPr lang="en-US" sz="1500" dirty="0">
                <a:solidFill>
                  <a:schemeClr val="accent2"/>
                </a:solidFill>
                <a:latin typeface="Google Sans"/>
                <a:ea typeface="+mn-ea"/>
                <a:cs typeface="+mn-cs"/>
              </a:rPr>
              <a:t>Step 1: Transaction gets timestamp T</a:t>
            </a:r>
          </a:p>
          <a:p>
            <a:r>
              <a:rPr lang="en-US" sz="1500" dirty="0">
                <a:solidFill>
                  <a:schemeClr val="accent2"/>
                </a:solidFill>
                <a:latin typeface="Google Sans"/>
                <a:ea typeface="+mn-ea"/>
                <a:cs typeface="+mn-cs"/>
              </a:rPr>
              <a:t>Step 2: Wait until</a:t>
            </a:r>
          </a:p>
          <a:p>
            <a:r>
              <a:rPr lang="en-US" sz="1500" dirty="0" err="1">
                <a:solidFill>
                  <a:schemeClr val="accent6"/>
                </a:solidFill>
                <a:latin typeface="Google Sans"/>
                <a:ea typeface="+mn-ea"/>
                <a:cs typeface="+mn-cs"/>
              </a:rPr>
              <a:t>TT.after</a:t>
            </a:r>
            <a:r>
              <a:rPr lang="en-US" sz="1500" dirty="0">
                <a:solidFill>
                  <a:schemeClr val="accent6"/>
                </a:solidFill>
                <a:latin typeface="Google Sans"/>
                <a:ea typeface="+mn-ea"/>
                <a:cs typeface="+mn-cs"/>
              </a:rPr>
              <a:t>(T)</a:t>
            </a:r>
          </a:p>
          <a:p>
            <a:r>
              <a:rPr lang="en-US" sz="1500" dirty="0">
                <a:solidFill>
                  <a:schemeClr val="accent6"/>
                </a:solidFill>
                <a:latin typeface="Google Sans"/>
                <a:ea typeface="+mn-ea"/>
                <a:cs typeface="+mn-cs"/>
              </a:rPr>
              <a:t>Meaning:</a:t>
            </a:r>
          </a:p>
          <a:p>
            <a:r>
              <a:rPr lang="en-US" sz="1500" dirty="0" err="1">
                <a:solidFill>
                  <a:schemeClr val="accent6"/>
                </a:solidFill>
                <a:latin typeface="Google Sans"/>
                <a:ea typeface="+mn-ea"/>
                <a:cs typeface="+mn-cs"/>
              </a:rPr>
              <a:t>TT.now</a:t>
            </a:r>
            <a:r>
              <a:rPr lang="en-US" sz="1500" dirty="0">
                <a:solidFill>
                  <a:schemeClr val="accent6"/>
                </a:solidFill>
                <a:latin typeface="Google Sans"/>
                <a:ea typeface="+mn-ea"/>
                <a:cs typeface="+mn-cs"/>
              </a:rPr>
              <a:t>().earliest &gt; T</a:t>
            </a:r>
          </a:p>
          <a:p>
            <a:r>
              <a:rPr lang="en-US" sz="1500" dirty="0">
                <a:solidFill>
                  <a:schemeClr val="accent2"/>
                </a:solidFill>
                <a:latin typeface="Google Sans"/>
                <a:ea typeface="+mn-ea"/>
                <a:cs typeface="+mn-cs"/>
              </a:rPr>
              <a:t>Step 3: Commit becomes visible</a:t>
            </a:r>
          </a:p>
          <a:p>
            <a:r>
              <a:rPr lang="en-US" sz="1500" dirty="0">
                <a:solidFill>
                  <a:schemeClr val="accent6"/>
                </a:solidFill>
                <a:latin typeface="Google Sans"/>
                <a:ea typeface="+mn-ea"/>
                <a:cs typeface="+mn-cs"/>
              </a:rPr>
              <a:t>This guarantees:</a:t>
            </a:r>
          </a:p>
          <a:p>
            <a:r>
              <a:rPr lang="en-US" sz="1500" dirty="0">
                <a:solidFill>
                  <a:schemeClr val="accent6"/>
                </a:solidFill>
                <a:latin typeface="Google Sans"/>
                <a:ea typeface="+mn-ea"/>
                <a:cs typeface="+mn-cs"/>
              </a:rPr>
              <a:t>If T1 committed before T2 started</a:t>
            </a:r>
          </a:p>
          <a:p>
            <a:r>
              <a:rPr lang="en-US" sz="1500" dirty="0">
                <a:solidFill>
                  <a:schemeClr val="accent6"/>
                </a:solidFill>
                <a:latin typeface="Google Sans"/>
                <a:ea typeface="+mn-ea"/>
                <a:cs typeface="+mn-cs"/>
              </a:rPr>
              <a:t>→ T1 timestamp &lt; T2 timestamp</a:t>
            </a: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6330175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59000-4B11-F177-BAB5-6573BA85AD3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17AF763-B228-232B-756B-B2F31D07FEE2}"/>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537D871-8BD2-BA17-3EF0-6C36B1237EE2}"/>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D6A029D-3785-FA5D-891C-EE7341294E32}"/>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6AFDC046-FD64-03E0-6353-55BEEF34F490}"/>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305063A0-DC12-C3EB-747C-827C6218F6A5}"/>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D3C0501-C6FF-1BB3-4C72-1CB27CF7EE46}"/>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130149A1-A1B3-9C37-0410-D550F1E9142F}"/>
              </a:ext>
            </a:extLst>
          </p:cNvPr>
          <p:cNvSpPr txBox="1">
            <a:spLocks/>
          </p:cNvSpPr>
          <p:nvPr/>
        </p:nvSpPr>
        <p:spPr>
          <a:xfrm>
            <a:off x="55803" y="774902"/>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 Google </a:t>
            </a:r>
            <a:r>
              <a:rPr lang="en-US" sz="2000" dirty="0" err="1">
                <a:solidFill>
                  <a:schemeClr val="accent2"/>
                </a:solidFill>
                <a:latin typeface="Google Sans"/>
              </a:rPr>
              <a:t>TrueTime</a:t>
            </a:r>
            <a:r>
              <a:rPr lang="en-US" sz="2000" dirty="0">
                <a:solidFill>
                  <a:schemeClr val="accent2"/>
                </a:solidFill>
                <a:latin typeface="Google Sans"/>
              </a:rPr>
              <a:t> – A Sophisticated Physical Clock</a:t>
            </a:r>
          </a:p>
          <a:p>
            <a:r>
              <a:rPr lang="en-US" sz="1500" dirty="0">
                <a:solidFill>
                  <a:schemeClr val="accent2"/>
                </a:solidFill>
                <a:latin typeface="Google Sans"/>
                <a:ea typeface="+mn-ea"/>
                <a:cs typeface="+mn-cs"/>
              </a:rPr>
              <a:t>📦 Example</a:t>
            </a:r>
          </a:p>
          <a:p>
            <a:r>
              <a:rPr lang="en-US" sz="1500" dirty="0">
                <a:solidFill>
                  <a:schemeClr val="accent6"/>
                </a:solidFill>
                <a:latin typeface="Google Sans"/>
              </a:rPr>
              <a:t>Transaction A:</a:t>
            </a:r>
          </a:p>
          <a:p>
            <a:r>
              <a:rPr lang="en-US" sz="1500" dirty="0">
                <a:solidFill>
                  <a:schemeClr val="accent6"/>
                </a:solidFill>
                <a:latin typeface="Google Sans"/>
              </a:rPr>
              <a:t>Assigned timestamp = 100</a:t>
            </a:r>
          </a:p>
          <a:p>
            <a:r>
              <a:rPr lang="en-US" sz="1500" dirty="0" err="1">
                <a:solidFill>
                  <a:schemeClr val="accent6"/>
                </a:solidFill>
                <a:latin typeface="Google Sans"/>
                <a:ea typeface="+mn-ea"/>
                <a:cs typeface="+mn-cs"/>
              </a:rPr>
              <a:t>TrueTime</a:t>
            </a:r>
            <a:r>
              <a:rPr lang="en-US" sz="1500" dirty="0">
                <a:solidFill>
                  <a:schemeClr val="accent6"/>
                </a:solidFill>
                <a:latin typeface="Google Sans"/>
                <a:ea typeface="+mn-ea"/>
                <a:cs typeface="+mn-cs"/>
              </a:rPr>
              <a:t>:</a:t>
            </a:r>
          </a:p>
          <a:p>
            <a:r>
              <a:rPr lang="en-US" sz="1500" dirty="0" err="1">
                <a:solidFill>
                  <a:schemeClr val="accent6"/>
                </a:solidFill>
                <a:latin typeface="Google Sans"/>
                <a:ea typeface="+mn-ea"/>
                <a:cs typeface="+mn-cs"/>
              </a:rPr>
              <a:t>TT.now</a:t>
            </a:r>
            <a:r>
              <a:rPr lang="en-US" sz="1500" dirty="0">
                <a:solidFill>
                  <a:schemeClr val="accent6"/>
                </a:solidFill>
                <a:latin typeface="Google Sans"/>
                <a:ea typeface="+mn-ea"/>
                <a:cs typeface="+mn-cs"/>
              </a:rPr>
              <a:t> = [95,105]</a:t>
            </a:r>
          </a:p>
          <a:p>
            <a:r>
              <a:rPr lang="en-US" sz="1500" dirty="0">
                <a:solidFill>
                  <a:schemeClr val="accent2"/>
                </a:solidFill>
                <a:latin typeface="Google Sans"/>
                <a:ea typeface="+mn-ea"/>
                <a:cs typeface="+mn-cs"/>
              </a:rPr>
              <a:t>System waits until:</a:t>
            </a:r>
          </a:p>
          <a:p>
            <a:r>
              <a:rPr lang="en-US" sz="1500" dirty="0" err="1">
                <a:solidFill>
                  <a:schemeClr val="accent6"/>
                </a:solidFill>
                <a:latin typeface="Google Sans"/>
                <a:ea typeface="+mn-ea"/>
                <a:cs typeface="+mn-cs"/>
              </a:rPr>
              <a:t>TT.now</a:t>
            </a:r>
            <a:r>
              <a:rPr lang="en-US" sz="1500" dirty="0">
                <a:solidFill>
                  <a:schemeClr val="accent6"/>
                </a:solidFill>
                <a:latin typeface="Google Sans"/>
                <a:ea typeface="+mn-ea"/>
                <a:cs typeface="+mn-cs"/>
              </a:rPr>
              <a:t>().earliest &gt; 100</a:t>
            </a:r>
          </a:p>
          <a:p>
            <a:r>
              <a:rPr lang="en-US" sz="1500" dirty="0">
                <a:solidFill>
                  <a:schemeClr val="accent6"/>
                </a:solidFill>
                <a:latin typeface="Google Sans"/>
                <a:ea typeface="+mn-ea"/>
                <a:cs typeface="+mn-cs"/>
              </a:rPr>
              <a:t>Then commit.</a:t>
            </a:r>
          </a:p>
          <a:p>
            <a:r>
              <a:rPr lang="en-US" sz="1500" dirty="0">
                <a:solidFill>
                  <a:schemeClr val="accent2"/>
                </a:solidFill>
                <a:latin typeface="Google Sans"/>
                <a:ea typeface="+mn-ea"/>
                <a:cs typeface="+mn-cs"/>
              </a:rPr>
              <a:t>🔥 Why This Is Revolutionary</a:t>
            </a:r>
          </a:p>
          <a:p>
            <a:r>
              <a:rPr lang="en-US" sz="1500" dirty="0">
                <a:solidFill>
                  <a:schemeClr val="accent2"/>
                </a:solidFill>
                <a:latin typeface="Google Sans"/>
                <a:ea typeface="+mn-ea"/>
                <a:cs typeface="+mn-cs"/>
              </a:rPr>
              <a:t>It gives:</a:t>
            </a:r>
          </a:p>
          <a:p>
            <a:r>
              <a:rPr lang="en-US" sz="1500" dirty="0">
                <a:solidFill>
                  <a:schemeClr val="accent6"/>
                </a:solidFill>
                <a:latin typeface="Google Sans"/>
                <a:ea typeface="+mn-ea"/>
                <a:cs typeface="+mn-cs"/>
              </a:rPr>
              <a:t>External consistency</a:t>
            </a:r>
          </a:p>
          <a:p>
            <a:r>
              <a:rPr lang="en-US" sz="1500" dirty="0">
                <a:solidFill>
                  <a:schemeClr val="accent6"/>
                </a:solidFill>
                <a:latin typeface="Google Sans"/>
                <a:ea typeface="+mn-ea"/>
                <a:cs typeface="+mn-cs"/>
              </a:rPr>
              <a:t>Globally serializable transactions</a:t>
            </a:r>
          </a:p>
          <a:p>
            <a:r>
              <a:rPr lang="en-US" sz="1500" dirty="0">
                <a:solidFill>
                  <a:schemeClr val="accent6"/>
                </a:solidFill>
                <a:latin typeface="Google Sans"/>
                <a:ea typeface="+mn-ea"/>
                <a:cs typeface="+mn-cs"/>
              </a:rPr>
              <a:t>Real-time ordering across datacenters</a:t>
            </a:r>
          </a:p>
          <a:p>
            <a:r>
              <a:rPr lang="en-US" sz="1500" dirty="0">
                <a:solidFill>
                  <a:schemeClr val="accent2"/>
                </a:solidFill>
                <a:latin typeface="Google Sans"/>
                <a:ea typeface="+mn-ea"/>
                <a:cs typeface="+mn-cs"/>
              </a:rPr>
              <a:t>⚙️ Simplified </a:t>
            </a:r>
            <a:r>
              <a:rPr lang="en-US" sz="1500" dirty="0" err="1">
                <a:solidFill>
                  <a:schemeClr val="accent2"/>
                </a:solidFill>
                <a:latin typeface="Google Sans"/>
                <a:ea typeface="+mn-ea"/>
                <a:cs typeface="+mn-cs"/>
              </a:rPr>
              <a:t>TrueTime</a:t>
            </a:r>
            <a:r>
              <a:rPr lang="en-US" sz="1500" dirty="0">
                <a:solidFill>
                  <a:schemeClr val="accent2"/>
                </a:solidFill>
                <a:latin typeface="Google Sans"/>
                <a:ea typeface="+mn-ea"/>
                <a:cs typeface="+mn-cs"/>
              </a:rPr>
              <a:t> Implementation Model</a:t>
            </a:r>
          </a:p>
          <a:p>
            <a:r>
              <a:rPr lang="en-US" sz="1500" dirty="0">
                <a:solidFill>
                  <a:schemeClr val="accent6"/>
                </a:solidFill>
                <a:latin typeface="Google Sans"/>
                <a:ea typeface="+mn-ea"/>
                <a:cs typeface="+mn-cs"/>
              </a:rPr>
              <a:t>struct </a:t>
            </a:r>
            <a:r>
              <a:rPr lang="en-US" sz="1500" dirty="0" err="1">
                <a:solidFill>
                  <a:schemeClr val="accent6"/>
                </a:solidFill>
                <a:latin typeface="Google Sans"/>
                <a:ea typeface="+mn-ea"/>
                <a:cs typeface="+mn-cs"/>
              </a:rPr>
              <a:t>TimeInterval</a:t>
            </a:r>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public </a:t>
            </a:r>
            <a:r>
              <a:rPr lang="en-US" sz="1500" dirty="0" err="1">
                <a:solidFill>
                  <a:schemeClr val="accent6"/>
                </a:solidFill>
                <a:latin typeface="Google Sans"/>
                <a:ea typeface="+mn-ea"/>
                <a:cs typeface="+mn-cs"/>
              </a:rPr>
              <a:t>DateTime</a:t>
            </a:r>
            <a:r>
              <a:rPr lang="en-US" sz="1500" dirty="0">
                <a:solidFill>
                  <a:schemeClr val="accent6"/>
                </a:solidFill>
                <a:latin typeface="Google Sans"/>
                <a:ea typeface="+mn-ea"/>
                <a:cs typeface="+mn-cs"/>
              </a:rPr>
              <a:t> Earliest;</a:t>
            </a:r>
          </a:p>
          <a:p>
            <a:r>
              <a:rPr lang="en-US" sz="1500" dirty="0">
                <a:solidFill>
                  <a:schemeClr val="accent6"/>
                </a:solidFill>
                <a:latin typeface="Google Sans"/>
                <a:ea typeface="+mn-ea"/>
                <a:cs typeface="+mn-cs"/>
              </a:rPr>
              <a:t>    public </a:t>
            </a:r>
            <a:r>
              <a:rPr lang="en-US" sz="1500" dirty="0" err="1">
                <a:solidFill>
                  <a:schemeClr val="accent6"/>
                </a:solidFill>
                <a:latin typeface="Google Sans"/>
                <a:ea typeface="+mn-ea"/>
                <a:cs typeface="+mn-cs"/>
              </a:rPr>
              <a:t>DateTime</a:t>
            </a:r>
            <a:r>
              <a:rPr lang="en-US" sz="1500" dirty="0">
                <a:solidFill>
                  <a:schemeClr val="accent6"/>
                </a:solidFill>
                <a:latin typeface="Google Sans"/>
                <a:ea typeface="+mn-ea"/>
                <a:cs typeface="+mn-cs"/>
              </a:rPr>
              <a:t> Latest;</a:t>
            </a:r>
          </a:p>
          <a:p>
            <a:r>
              <a:rPr lang="en-US" sz="1500" dirty="0">
                <a:solidFill>
                  <a:schemeClr val="accent6"/>
                </a:solidFill>
                <a:latin typeface="Google Sans"/>
                <a:ea typeface="+mn-ea"/>
                <a:cs typeface="+mn-cs"/>
              </a:rPr>
              <a:t>}</a:t>
            </a:r>
          </a:p>
        </p:txBody>
      </p:sp>
    </p:spTree>
    <p:extLst>
      <p:ext uri="{BB962C8B-B14F-4D97-AF65-F5344CB8AC3E}">
        <p14:creationId xmlns:p14="http://schemas.microsoft.com/office/powerpoint/2010/main" val="15887255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45B30-30CB-3B05-5D4E-1757671DFC2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27F1552-C4BA-41F0-1C0D-95015AF62276}"/>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430FFF3-162E-28A8-548C-78E8A13FEFEE}"/>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76A9319-BD19-0026-AA49-2608FF808C61}"/>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B916E03A-8F78-64C5-C895-A40D0A898FC4}"/>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6CC9C94C-D11D-F915-A4EA-7CA5A40E8FA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D4787F43-3D1D-0E87-D31A-B2E7582CC37A}"/>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ED34F6EE-3ECF-4736-8780-555777041B2F}"/>
              </a:ext>
            </a:extLst>
          </p:cNvPr>
          <p:cNvSpPr txBox="1">
            <a:spLocks/>
          </p:cNvSpPr>
          <p:nvPr/>
        </p:nvSpPr>
        <p:spPr>
          <a:xfrm>
            <a:off x="55803" y="774902"/>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 Google </a:t>
            </a:r>
            <a:r>
              <a:rPr lang="en-US" sz="2000" dirty="0" err="1">
                <a:solidFill>
                  <a:schemeClr val="accent2"/>
                </a:solidFill>
                <a:latin typeface="Google Sans"/>
              </a:rPr>
              <a:t>TrueTime</a:t>
            </a:r>
            <a:r>
              <a:rPr lang="en-US" sz="2000" dirty="0">
                <a:solidFill>
                  <a:schemeClr val="accent2"/>
                </a:solidFill>
                <a:latin typeface="Google Sans"/>
              </a:rPr>
              <a:t> – A Sophisticated Physical Clock</a:t>
            </a:r>
          </a:p>
          <a:p>
            <a:r>
              <a:rPr lang="en-US" sz="1500" dirty="0">
                <a:solidFill>
                  <a:schemeClr val="accent2"/>
                </a:solidFill>
                <a:latin typeface="Google Sans"/>
              </a:rPr>
              <a:t>🔥 Why This Is Revolutionary</a:t>
            </a:r>
          </a:p>
          <a:p>
            <a:r>
              <a:rPr lang="en-US" sz="1500" dirty="0">
                <a:solidFill>
                  <a:schemeClr val="accent2"/>
                </a:solidFill>
                <a:latin typeface="Google Sans"/>
              </a:rPr>
              <a:t>⚙️ Simplified </a:t>
            </a:r>
            <a:r>
              <a:rPr lang="en-US" sz="1500" dirty="0" err="1">
                <a:solidFill>
                  <a:schemeClr val="accent2"/>
                </a:solidFill>
                <a:latin typeface="Google Sans"/>
              </a:rPr>
              <a:t>TrueTime</a:t>
            </a:r>
            <a:r>
              <a:rPr lang="en-US" sz="1500" dirty="0">
                <a:solidFill>
                  <a:schemeClr val="accent2"/>
                </a:solidFill>
                <a:latin typeface="Google Sans"/>
              </a:rPr>
              <a:t> Implementation Model</a:t>
            </a:r>
          </a:p>
          <a:p>
            <a:r>
              <a:rPr lang="en-US" sz="1500" dirty="0">
                <a:solidFill>
                  <a:schemeClr val="accent6"/>
                </a:solidFill>
                <a:latin typeface="Google Sans"/>
              </a:rPr>
              <a:t>class </a:t>
            </a:r>
            <a:r>
              <a:rPr lang="en-US" sz="1500" dirty="0" err="1">
                <a:solidFill>
                  <a:schemeClr val="accent6"/>
                </a:solidFill>
                <a:latin typeface="Google Sans"/>
              </a:rPr>
              <a:t>TrueTime</a:t>
            </a:r>
            <a:endParaRPr lang="en-US" sz="1500" dirty="0">
              <a:solidFill>
                <a:schemeClr val="accent6"/>
              </a:solidFill>
              <a:latin typeface="Google Sans"/>
            </a:endParaRPr>
          </a:p>
          <a:p>
            <a:r>
              <a:rPr lang="en-US" sz="1500" dirty="0">
                <a:solidFill>
                  <a:schemeClr val="accent6"/>
                </a:solidFill>
                <a:latin typeface="Google Sans"/>
              </a:rPr>
              <a:t>{</a:t>
            </a:r>
          </a:p>
          <a:p>
            <a:r>
              <a:rPr lang="en-US" sz="1500" dirty="0">
                <a:solidFill>
                  <a:schemeClr val="accent6"/>
                </a:solidFill>
                <a:latin typeface="Google Sans"/>
              </a:rPr>
              <a:t>    public </a:t>
            </a:r>
            <a:r>
              <a:rPr lang="en-US" sz="1500" dirty="0" err="1">
                <a:solidFill>
                  <a:schemeClr val="accent6"/>
                </a:solidFill>
                <a:latin typeface="Google Sans"/>
              </a:rPr>
              <a:t>TimeInterval</a:t>
            </a:r>
            <a:r>
              <a:rPr lang="en-US" sz="1500" dirty="0">
                <a:solidFill>
                  <a:schemeClr val="accent6"/>
                </a:solidFill>
                <a:latin typeface="Google Sans"/>
              </a:rPr>
              <a:t> Now()</a:t>
            </a:r>
          </a:p>
          <a:p>
            <a:r>
              <a:rPr lang="en-US" sz="1500" dirty="0">
                <a:solidFill>
                  <a:schemeClr val="accent6"/>
                </a:solidFill>
                <a:latin typeface="Google Sans"/>
              </a:rPr>
              <a:t>    {</a:t>
            </a:r>
          </a:p>
          <a:p>
            <a:r>
              <a:rPr lang="en-US" sz="1500" dirty="0">
                <a:solidFill>
                  <a:schemeClr val="accent6"/>
                </a:solidFill>
                <a:latin typeface="Google Sans"/>
              </a:rPr>
              <a:t>        var physical = </a:t>
            </a:r>
            <a:r>
              <a:rPr lang="en-US" sz="1500" dirty="0" err="1">
                <a:solidFill>
                  <a:schemeClr val="accent6"/>
                </a:solidFill>
                <a:latin typeface="Google Sans"/>
              </a:rPr>
              <a:t>ReadHardwareClock</a:t>
            </a:r>
            <a:r>
              <a:rPr lang="en-US" sz="1500" dirty="0">
                <a:solidFill>
                  <a:schemeClr val="accent6"/>
                </a:solidFill>
                <a:latin typeface="Google Sans"/>
              </a:rPr>
              <a:t>();</a:t>
            </a:r>
          </a:p>
          <a:p>
            <a:r>
              <a:rPr lang="en-US" sz="1500" dirty="0">
                <a:solidFill>
                  <a:schemeClr val="accent6"/>
                </a:solidFill>
                <a:latin typeface="Google Sans"/>
              </a:rPr>
              <a:t>        var epsilon = </a:t>
            </a:r>
            <a:r>
              <a:rPr lang="en-US" sz="1500" dirty="0" err="1">
                <a:solidFill>
                  <a:schemeClr val="accent6"/>
                </a:solidFill>
                <a:latin typeface="Google Sans"/>
              </a:rPr>
              <a:t>EstimateUncertainty</a:t>
            </a:r>
            <a:r>
              <a:rPr lang="en-US" sz="1500" dirty="0">
                <a:solidFill>
                  <a:schemeClr val="accent6"/>
                </a:solidFill>
                <a:latin typeface="Google Sans"/>
              </a:rPr>
              <a:t>();</a:t>
            </a:r>
          </a:p>
          <a:p>
            <a:r>
              <a:rPr lang="en-US" sz="1500" dirty="0">
                <a:solidFill>
                  <a:schemeClr val="accent6"/>
                </a:solidFill>
                <a:latin typeface="Google Sans"/>
              </a:rPr>
              <a:t>         return new </a:t>
            </a:r>
            <a:r>
              <a:rPr lang="en-US" sz="1500" dirty="0" err="1">
                <a:solidFill>
                  <a:schemeClr val="accent6"/>
                </a:solidFill>
                <a:latin typeface="Google Sans"/>
              </a:rPr>
              <a:t>TimeInterval</a:t>
            </a:r>
            <a:endParaRPr lang="en-US" sz="1500" dirty="0">
              <a:solidFill>
                <a:schemeClr val="accent6"/>
              </a:solidFill>
              <a:latin typeface="Google Sans"/>
            </a:endParaRPr>
          </a:p>
          <a:p>
            <a:r>
              <a:rPr lang="en-US" sz="1500" dirty="0">
                <a:solidFill>
                  <a:schemeClr val="accent6"/>
                </a:solidFill>
                <a:latin typeface="Google Sans"/>
              </a:rPr>
              <a:t>        {</a:t>
            </a:r>
          </a:p>
          <a:p>
            <a:r>
              <a:rPr lang="en-US" sz="1500" dirty="0">
                <a:solidFill>
                  <a:schemeClr val="accent6"/>
                </a:solidFill>
                <a:latin typeface="Google Sans"/>
              </a:rPr>
              <a:t>            Earliest = physical - epsilon,</a:t>
            </a:r>
          </a:p>
          <a:p>
            <a:r>
              <a:rPr lang="en-US" sz="1500" dirty="0">
                <a:solidFill>
                  <a:schemeClr val="accent6"/>
                </a:solidFill>
                <a:latin typeface="Google Sans"/>
              </a:rPr>
              <a:t>            Latest = physical + epsilon</a:t>
            </a:r>
          </a:p>
          <a:p>
            <a:r>
              <a:rPr lang="en-US" sz="1500" dirty="0">
                <a:solidFill>
                  <a:schemeClr val="accent6"/>
                </a:solidFill>
                <a:latin typeface="Google Sans"/>
              </a:rPr>
              <a:t>        };</a:t>
            </a:r>
          </a:p>
          <a:p>
            <a:r>
              <a:rPr lang="en-US" sz="1500" dirty="0">
                <a:solidFill>
                  <a:schemeClr val="accent6"/>
                </a:solidFill>
                <a:latin typeface="Google Sans"/>
              </a:rPr>
              <a:t>    }</a:t>
            </a:r>
          </a:p>
          <a:p>
            <a:r>
              <a:rPr lang="en-US" sz="1500" dirty="0">
                <a:solidFill>
                  <a:schemeClr val="accent6"/>
                </a:solidFill>
                <a:latin typeface="Google Sans"/>
              </a:rPr>
              <a:t>}</a:t>
            </a:r>
          </a:p>
          <a:p>
            <a:r>
              <a:rPr lang="en-US" sz="1500" dirty="0">
                <a:solidFill>
                  <a:schemeClr val="accent2"/>
                </a:solidFill>
                <a:latin typeface="Google Sans"/>
              </a:rPr>
              <a:t>🔥 Commit Wait</a:t>
            </a:r>
          </a:p>
          <a:p>
            <a:r>
              <a:rPr lang="en-US" sz="1500" dirty="0">
                <a:solidFill>
                  <a:schemeClr val="accent6"/>
                </a:solidFill>
                <a:latin typeface="Google Sans"/>
              </a:rPr>
              <a:t>void Commit(long </a:t>
            </a:r>
            <a:r>
              <a:rPr lang="en-US" sz="1500" dirty="0" err="1">
                <a:solidFill>
                  <a:schemeClr val="accent6"/>
                </a:solidFill>
                <a:latin typeface="Google Sans"/>
              </a:rPr>
              <a:t>ts</a:t>
            </a:r>
            <a:r>
              <a:rPr lang="en-US" sz="1500" dirty="0">
                <a:solidFill>
                  <a:schemeClr val="accent6"/>
                </a:solidFill>
                <a:latin typeface="Google Sans"/>
              </a:rPr>
              <a:t>)</a:t>
            </a:r>
          </a:p>
          <a:p>
            <a:r>
              <a:rPr lang="en-US" sz="1500" dirty="0">
                <a:solidFill>
                  <a:schemeClr val="accent6"/>
                </a:solidFill>
                <a:latin typeface="Google Sans"/>
              </a:rPr>
              <a:t>{</a:t>
            </a:r>
          </a:p>
          <a:p>
            <a:r>
              <a:rPr lang="en-US" sz="1500" dirty="0">
                <a:solidFill>
                  <a:schemeClr val="accent6"/>
                </a:solidFill>
                <a:latin typeface="Google Sans"/>
              </a:rPr>
              <a:t>    while(</a:t>
            </a:r>
            <a:r>
              <a:rPr lang="en-US" sz="1500" dirty="0" err="1">
                <a:solidFill>
                  <a:schemeClr val="accent6"/>
                </a:solidFill>
                <a:latin typeface="Google Sans"/>
              </a:rPr>
              <a:t>TrueTime.Now</a:t>
            </a:r>
            <a:r>
              <a:rPr lang="en-US" sz="1500" dirty="0">
                <a:solidFill>
                  <a:schemeClr val="accent6"/>
                </a:solidFill>
                <a:latin typeface="Google Sans"/>
              </a:rPr>
              <a:t>().Earliest &lt;= </a:t>
            </a:r>
            <a:r>
              <a:rPr lang="en-US" sz="1500" dirty="0" err="1">
                <a:solidFill>
                  <a:schemeClr val="accent6"/>
                </a:solidFill>
                <a:latin typeface="Google Sans"/>
              </a:rPr>
              <a:t>ts</a:t>
            </a:r>
            <a:r>
              <a:rPr lang="en-US" sz="1500" dirty="0">
                <a:solidFill>
                  <a:schemeClr val="accent6"/>
                </a:solidFill>
                <a:latin typeface="Google Sans"/>
              </a:rPr>
              <a:t>)</a:t>
            </a:r>
          </a:p>
          <a:p>
            <a:r>
              <a:rPr lang="en-US" sz="1500" dirty="0">
                <a:solidFill>
                  <a:schemeClr val="accent6"/>
                </a:solidFill>
                <a:latin typeface="Google Sans"/>
              </a:rPr>
              <a:t>        </a:t>
            </a:r>
            <a:r>
              <a:rPr lang="en-US" sz="1500" dirty="0" err="1">
                <a:solidFill>
                  <a:schemeClr val="accent6"/>
                </a:solidFill>
                <a:latin typeface="Google Sans"/>
              </a:rPr>
              <a:t>Thread.Sleep</a:t>
            </a:r>
            <a:r>
              <a:rPr lang="en-US" sz="1500" dirty="0">
                <a:solidFill>
                  <a:schemeClr val="accent6"/>
                </a:solidFill>
                <a:latin typeface="Google Sans"/>
              </a:rPr>
              <a:t>(1);</a:t>
            </a:r>
          </a:p>
          <a:p>
            <a:r>
              <a:rPr lang="en-US" sz="1500" dirty="0">
                <a:solidFill>
                  <a:schemeClr val="accent6"/>
                </a:solidFill>
                <a:latin typeface="Google Sans"/>
              </a:rPr>
              <a:t>}</a:t>
            </a:r>
          </a:p>
          <a:p>
            <a:endParaRPr lang="en-US" sz="1500" dirty="0">
              <a:solidFill>
                <a:schemeClr val="accent6"/>
              </a:solidFill>
              <a:latin typeface="Google Sans"/>
            </a:endParaRPr>
          </a:p>
        </p:txBody>
      </p:sp>
    </p:spTree>
    <p:extLst>
      <p:ext uri="{BB962C8B-B14F-4D97-AF65-F5344CB8AC3E}">
        <p14:creationId xmlns:p14="http://schemas.microsoft.com/office/powerpoint/2010/main" val="15598822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E466B-D761-ADEA-5E5F-C988265DEB5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0933C79-3263-30E8-EF16-5AD299BA2467}"/>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8B922A0-333A-34C7-212F-25431182D66B}"/>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6C2A91C-7F5E-0679-99F7-2128534B00E9}"/>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619F3735-3B8F-3992-1740-3CD5D2B3910F}"/>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89048D82-ED5D-0BDE-CE18-189A353834B9}"/>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D0573052-A87F-9E5E-41AE-319FEB2884B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7535A26B-AFB4-F4E8-D221-1881C80A3D0E}"/>
              </a:ext>
            </a:extLst>
          </p:cNvPr>
          <p:cNvSpPr txBox="1">
            <a:spLocks/>
          </p:cNvSpPr>
          <p:nvPr/>
        </p:nvSpPr>
        <p:spPr>
          <a:xfrm>
            <a:off x="55803" y="774902"/>
            <a:ext cx="8624937" cy="56938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 Google </a:t>
            </a:r>
            <a:r>
              <a:rPr lang="en-US" sz="2000" dirty="0" err="1">
                <a:solidFill>
                  <a:schemeClr val="accent2"/>
                </a:solidFill>
                <a:latin typeface="Google Sans"/>
              </a:rPr>
              <a:t>TrueTime</a:t>
            </a:r>
            <a:r>
              <a:rPr lang="en-US" sz="2000" dirty="0">
                <a:solidFill>
                  <a:schemeClr val="accent2"/>
                </a:solidFill>
                <a:latin typeface="Google Sans"/>
              </a:rPr>
              <a:t> – A Sophisticated Physical Clock</a:t>
            </a:r>
          </a:p>
          <a:p>
            <a:r>
              <a:rPr lang="en-US" sz="1500" dirty="0">
                <a:solidFill>
                  <a:schemeClr val="accent2"/>
                </a:solidFill>
                <a:latin typeface="Google Sans"/>
              </a:rPr>
              <a:t>🧠 Comparing All Techniques</a:t>
            </a:r>
          </a:p>
          <a:p>
            <a:r>
              <a:rPr lang="en-US" sz="1500" dirty="0">
                <a:solidFill>
                  <a:schemeClr val="accent2"/>
                </a:solidFill>
                <a:latin typeface="Google Sans"/>
              </a:rPr>
              <a:t>Technique	     Tracks Causality	Detects Concurrency	Gives Total Order	Uses Physical Time</a:t>
            </a:r>
          </a:p>
          <a:p>
            <a:r>
              <a:rPr lang="en-US" sz="1500" dirty="0">
                <a:solidFill>
                  <a:schemeClr val="accent6"/>
                </a:solidFill>
                <a:latin typeface="Google Sans"/>
              </a:rPr>
              <a:t>Lamport	     ✅	                     ❌	                     ❌	                     ❌</a:t>
            </a:r>
          </a:p>
          <a:p>
            <a:r>
              <a:rPr lang="en-US" sz="1500" dirty="0">
                <a:solidFill>
                  <a:schemeClr val="accent6"/>
                </a:solidFill>
                <a:latin typeface="Google Sans"/>
              </a:rPr>
              <a:t>Vector	     ✅	                     ✅	                     ❌	                     ❌</a:t>
            </a:r>
          </a:p>
          <a:p>
            <a:r>
              <a:rPr lang="en-US" sz="1500" dirty="0">
                <a:solidFill>
                  <a:schemeClr val="accent6"/>
                </a:solidFill>
                <a:latin typeface="Google Sans"/>
              </a:rPr>
              <a:t>Sequencer	     ❌	                     ❌	                     ✅	                     ❌</a:t>
            </a:r>
          </a:p>
          <a:p>
            <a:r>
              <a:rPr lang="en-US" sz="1500" dirty="0" err="1">
                <a:solidFill>
                  <a:schemeClr val="accent6"/>
                </a:solidFill>
                <a:latin typeface="Google Sans"/>
              </a:rPr>
              <a:t>TrueTime</a:t>
            </a:r>
            <a:r>
              <a:rPr lang="en-US" sz="1500" dirty="0">
                <a:solidFill>
                  <a:schemeClr val="accent6"/>
                </a:solidFill>
                <a:latin typeface="Google Sans"/>
              </a:rPr>
              <a:t>	     ✅	                     ✅	                     ✅	                     ✅</a:t>
            </a:r>
          </a:p>
          <a:p>
            <a:r>
              <a:rPr lang="en-US" sz="2000" dirty="0">
                <a:solidFill>
                  <a:schemeClr val="accent2"/>
                </a:solidFill>
                <a:latin typeface="Google Sans"/>
                <a:ea typeface="+mn-ea"/>
                <a:cs typeface="+mn-cs"/>
              </a:rPr>
              <a:t>🧠 When Each Is Used</a:t>
            </a:r>
          </a:p>
          <a:p>
            <a:r>
              <a:rPr lang="en-US" sz="1500" dirty="0">
                <a:solidFill>
                  <a:schemeClr val="accent2"/>
                </a:solidFill>
                <a:latin typeface="Google Sans"/>
                <a:ea typeface="+mn-ea"/>
                <a:cs typeface="+mn-cs"/>
              </a:rPr>
              <a:t>Lamport</a:t>
            </a:r>
          </a:p>
          <a:p>
            <a:r>
              <a:rPr lang="en-US" sz="1500" dirty="0">
                <a:solidFill>
                  <a:schemeClr val="accent6"/>
                </a:solidFill>
                <a:latin typeface="Google Sans"/>
                <a:ea typeface="+mn-ea"/>
                <a:cs typeface="+mn-cs"/>
              </a:rPr>
              <a:t>Distributed logs</a:t>
            </a:r>
          </a:p>
          <a:p>
            <a:r>
              <a:rPr lang="en-US" sz="1500" dirty="0">
                <a:solidFill>
                  <a:schemeClr val="accent6"/>
                </a:solidFill>
                <a:latin typeface="Google Sans"/>
                <a:ea typeface="+mn-ea"/>
                <a:cs typeface="+mn-cs"/>
              </a:rPr>
              <a:t>Causal ordering</a:t>
            </a:r>
          </a:p>
          <a:p>
            <a:r>
              <a:rPr lang="en-US" sz="1500" dirty="0">
                <a:solidFill>
                  <a:schemeClr val="accent2"/>
                </a:solidFill>
                <a:latin typeface="Google Sans"/>
                <a:ea typeface="+mn-ea"/>
                <a:cs typeface="+mn-cs"/>
              </a:rPr>
              <a:t>Vector Clock</a:t>
            </a:r>
          </a:p>
          <a:p>
            <a:r>
              <a:rPr lang="en-US" sz="1500" dirty="0">
                <a:solidFill>
                  <a:schemeClr val="accent6"/>
                </a:solidFill>
                <a:latin typeface="Google Sans"/>
                <a:ea typeface="+mn-ea"/>
                <a:cs typeface="+mn-cs"/>
              </a:rPr>
              <a:t>Conflict detection</a:t>
            </a:r>
          </a:p>
          <a:p>
            <a:r>
              <a:rPr lang="en-US" sz="1500" dirty="0">
                <a:solidFill>
                  <a:schemeClr val="accent6"/>
                </a:solidFill>
                <a:latin typeface="Google Sans"/>
                <a:ea typeface="+mn-ea"/>
                <a:cs typeface="+mn-cs"/>
              </a:rPr>
              <a:t>CRDT systems</a:t>
            </a:r>
          </a:p>
          <a:p>
            <a:r>
              <a:rPr lang="en-US" sz="1500" dirty="0">
                <a:solidFill>
                  <a:schemeClr val="accent6"/>
                </a:solidFill>
                <a:latin typeface="Google Sans"/>
                <a:ea typeface="+mn-ea"/>
                <a:cs typeface="+mn-cs"/>
              </a:rPr>
              <a:t>Dynamo / Cassandra versions</a:t>
            </a:r>
          </a:p>
          <a:p>
            <a:r>
              <a:rPr lang="en-US" sz="1500" dirty="0">
                <a:solidFill>
                  <a:schemeClr val="accent2"/>
                </a:solidFill>
                <a:latin typeface="Google Sans"/>
              </a:rPr>
              <a:t>Sequencer</a:t>
            </a:r>
          </a:p>
          <a:p>
            <a:r>
              <a:rPr lang="en-US" sz="1500" dirty="0">
                <a:solidFill>
                  <a:schemeClr val="accent6"/>
                </a:solidFill>
                <a:latin typeface="Google Sans"/>
              </a:rPr>
              <a:t>Kafka partitions</a:t>
            </a:r>
          </a:p>
          <a:p>
            <a:r>
              <a:rPr lang="en-US" sz="1500" dirty="0">
                <a:solidFill>
                  <a:schemeClr val="accent6"/>
                </a:solidFill>
                <a:latin typeface="Google Sans"/>
              </a:rPr>
              <a:t>Raft leaders</a:t>
            </a:r>
          </a:p>
          <a:p>
            <a:r>
              <a:rPr lang="en-US" sz="1500" dirty="0">
                <a:solidFill>
                  <a:schemeClr val="accent2"/>
                </a:solidFill>
                <a:latin typeface="Google Sans"/>
              </a:rPr>
              <a:t>Totally ordered multicast</a:t>
            </a:r>
          </a:p>
          <a:p>
            <a:r>
              <a:rPr lang="en-US" sz="1500" dirty="0" err="1">
                <a:solidFill>
                  <a:schemeClr val="accent6"/>
                </a:solidFill>
                <a:latin typeface="Google Sans"/>
              </a:rPr>
              <a:t>TrueTime</a:t>
            </a:r>
            <a:endParaRPr lang="en-US" sz="1500" dirty="0">
              <a:solidFill>
                <a:schemeClr val="accent6"/>
              </a:solidFill>
              <a:latin typeface="Google Sans"/>
            </a:endParaRPr>
          </a:p>
          <a:p>
            <a:r>
              <a:rPr lang="en-US" sz="1500" dirty="0">
                <a:solidFill>
                  <a:schemeClr val="accent6"/>
                </a:solidFill>
                <a:latin typeface="Google Sans"/>
              </a:rPr>
              <a:t>Spanner</a:t>
            </a:r>
          </a:p>
          <a:p>
            <a:r>
              <a:rPr lang="en-US" sz="1500" dirty="0">
                <a:solidFill>
                  <a:schemeClr val="accent6"/>
                </a:solidFill>
                <a:latin typeface="Google Sans"/>
              </a:rPr>
              <a:t>Globally consistent databases</a:t>
            </a:r>
          </a:p>
          <a:p>
            <a:endParaRPr lang="en-US" sz="1500" dirty="0">
              <a:solidFill>
                <a:schemeClr val="accent6"/>
              </a:solidFill>
              <a:latin typeface="Google Sans"/>
            </a:endParaRP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9893700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8E782-924B-6042-47BC-06B3499A8C4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6937F35-F046-B8E3-CB2E-5F6B6BE7F454}"/>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17ED13F-0392-D041-5901-ED28BF3BFE38}"/>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793858D-1D8A-F74B-EF40-7C829544B508}"/>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893CEB39-C977-95EC-5B39-9F74E162272E}"/>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59308034-5BC6-3EBD-009C-C3B6C7D918E7}"/>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69A82299-4F66-A864-628D-75948040F83C}"/>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2BA26D06-D383-A823-16BE-AD4C1E989057}"/>
              </a:ext>
            </a:extLst>
          </p:cNvPr>
          <p:cNvSpPr txBox="1">
            <a:spLocks/>
          </p:cNvSpPr>
          <p:nvPr/>
        </p:nvSpPr>
        <p:spPr>
          <a:xfrm>
            <a:off x="55803" y="774902"/>
            <a:ext cx="8624937" cy="50013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🌌Insight </a:t>
            </a:r>
          </a:p>
          <a:p>
            <a:r>
              <a:rPr lang="en-US" sz="1500" dirty="0">
                <a:solidFill>
                  <a:schemeClr val="accent6"/>
                </a:solidFill>
                <a:latin typeface="Google Sans"/>
                <a:ea typeface="+mn-ea"/>
                <a:cs typeface="+mn-cs"/>
              </a:rPr>
              <a:t>These mechanisms represent three different philosophies of time:</a:t>
            </a:r>
          </a:p>
          <a:p>
            <a:r>
              <a:rPr lang="en-US" sz="1500" dirty="0">
                <a:solidFill>
                  <a:schemeClr val="accent2"/>
                </a:solidFill>
                <a:latin typeface="Google Sans"/>
                <a:ea typeface="+mn-ea"/>
                <a:cs typeface="+mn-cs"/>
              </a:rPr>
              <a:t>Logical Time</a:t>
            </a:r>
          </a:p>
          <a:p>
            <a:r>
              <a:rPr lang="en-US" sz="1500" dirty="0">
                <a:solidFill>
                  <a:schemeClr val="accent6"/>
                </a:solidFill>
                <a:latin typeface="Google Sans"/>
                <a:ea typeface="+mn-ea"/>
                <a:cs typeface="+mn-cs"/>
              </a:rPr>
              <a:t>(Lamport, Vector)</a:t>
            </a:r>
          </a:p>
          <a:p>
            <a:r>
              <a:rPr lang="en-US" sz="1500" dirty="0">
                <a:solidFill>
                  <a:schemeClr val="accent6"/>
                </a:solidFill>
                <a:latin typeface="Google Sans"/>
                <a:ea typeface="+mn-ea"/>
                <a:cs typeface="+mn-cs"/>
              </a:rPr>
              <a:t>👉 Time derived from causality</a:t>
            </a:r>
          </a:p>
          <a:p>
            <a:r>
              <a:rPr lang="en-US" sz="1500" dirty="0">
                <a:solidFill>
                  <a:schemeClr val="accent2"/>
                </a:solidFill>
                <a:latin typeface="Google Sans"/>
                <a:ea typeface="+mn-ea"/>
                <a:cs typeface="+mn-cs"/>
              </a:rPr>
              <a:t>Authority Time</a:t>
            </a:r>
          </a:p>
          <a:p>
            <a:r>
              <a:rPr lang="en-US" sz="1500" dirty="0">
                <a:solidFill>
                  <a:schemeClr val="accent6"/>
                </a:solidFill>
                <a:latin typeface="Google Sans"/>
                <a:ea typeface="+mn-ea"/>
                <a:cs typeface="+mn-cs"/>
              </a:rPr>
              <a:t>(Sequencer)</a:t>
            </a:r>
          </a:p>
          <a:p>
            <a:r>
              <a:rPr lang="en-US" sz="1500" dirty="0">
                <a:solidFill>
                  <a:schemeClr val="accent6"/>
                </a:solidFill>
                <a:latin typeface="Google Sans"/>
                <a:ea typeface="+mn-ea"/>
                <a:cs typeface="+mn-cs"/>
              </a:rPr>
              <a:t>👉 Time derived from leadership</a:t>
            </a:r>
          </a:p>
          <a:p>
            <a:r>
              <a:rPr lang="en-US" sz="1500" dirty="0">
                <a:solidFill>
                  <a:schemeClr val="accent2"/>
                </a:solidFill>
                <a:latin typeface="Google Sans"/>
                <a:ea typeface="+mn-ea"/>
                <a:cs typeface="+mn-cs"/>
              </a:rPr>
              <a:t>Physical Time with Uncertainty</a:t>
            </a:r>
          </a:p>
          <a:p>
            <a:r>
              <a:rPr lang="en-US" sz="1500" dirty="0">
                <a:solidFill>
                  <a:schemeClr val="accent6"/>
                </a:solidFill>
                <a:latin typeface="Google Sans"/>
                <a:ea typeface="+mn-ea"/>
                <a:cs typeface="+mn-cs"/>
              </a:rPr>
              <a:t>(</a:t>
            </a:r>
            <a:r>
              <a:rPr lang="en-US" sz="1500" dirty="0" err="1">
                <a:solidFill>
                  <a:schemeClr val="accent6"/>
                </a:solidFill>
                <a:latin typeface="Google Sans"/>
                <a:ea typeface="+mn-ea"/>
                <a:cs typeface="+mn-cs"/>
              </a:rPr>
              <a:t>TrueTime</a:t>
            </a:r>
            <a:r>
              <a:rPr lang="en-US" sz="1500" dirty="0">
                <a:solidFill>
                  <a:schemeClr val="accent6"/>
                </a:solidFill>
                <a:latin typeface="Google Sans"/>
                <a:ea typeface="+mn-ea"/>
                <a:cs typeface="+mn-cs"/>
              </a:rPr>
              <a:t>)</a:t>
            </a:r>
          </a:p>
          <a:p>
            <a:r>
              <a:rPr lang="en-US" sz="1500" dirty="0">
                <a:solidFill>
                  <a:schemeClr val="accent6"/>
                </a:solidFill>
                <a:latin typeface="Google Sans"/>
                <a:ea typeface="+mn-ea"/>
                <a:cs typeface="+mn-cs"/>
              </a:rPr>
              <a:t>👉 Time derived from physics + error bounds</a:t>
            </a:r>
          </a:p>
          <a:p>
            <a:endParaRPr lang="en-US" sz="1500" dirty="0">
              <a:solidFill>
                <a:schemeClr val="accent6"/>
              </a:solidFill>
              <a:latin typeface="Google Sans"/>
              <a:ea typeface="+mn-ea"/>
              <a:cs typeface="+mn-cs"/>
            </a:endParaRPr>
          </a:p>
          <a:p>
            <a:r>
              <a:rPr lang="en-US" sz="2000" dirty="0">
                <a:solidFill>
                  <a:schemeClr val="accent2"/>
                </a:solidFill>
                <a:latin typeface="Google Sans"/>
              </a:rPr>
              <a:t>🌌 Another Insight</a:t>
            </a:r>
          </a:p>
          <a:p>
            <a:r>
              <a:rPr lang="en-US" sz="1500" dirty="0">
                <a:solidFill>
                  <a:schemeClr val="accent2"/>
                </a:solidFill>
                <a:latin typeface="Google Sans"/>
              </a:rPr>
              <a:t>You cannot have simultaneously:</a:t>
            </a:r>
          </a:p>
          <a:p>
            <a:r>
              <a:rPr lang="en-US" sz="1500" dirty="0">
                <a:solidFill>
                  <a:schemeClr val="accent6"/>
                </a:solidFill>
                <a:latin typeface="Google Sans"/>
              </a:rPr>
              <a:t>Perfect ordering</a:t>
            </a:r>
          </a:p>
          <a:p>
            <a:r>
              <a:rPr lang="en-US" sz="1500" dirty="0">
                <a:solidFill>
                  <a:schemeClr val="accent6"/>
                </a:solidFill>
                <a:latin typeface="Google Sans"/>
              </a:rPr>
              <a:t>Low latency</a:t>
            </a:r>
          </a:p>
          <a:p>
            <a:r>
              <a:rPr lang="en-US" sz="1500" dirty="0">
                <a:solidFill>
                  <a:schemeClr val="accent6"/>
                </a:solidFill>
                <a:latin typeface="Google Sans"/>
              </a:rPr>
              <a:t>High scalability</a:t>
            </a:r>
          </a:p>
          <a:p>
            <a:r>
              <a:rPr lang="en-US" sz="1500" dirty="0">
                <a:solidFill>
                  <a:schemeClr val="accent6"/>
                </a:solidFill>
                <a:latin typeface="Google Sans"/>
              </a:rPr>
              <a:t>No central authority</a:t>
            </a:r>
          </a:p>
          <a:p>
            <a:r>
              <a:rPr lang="en-US" sz="1500" dirty="0">
                <a:solidFill>
                  <a:schemeClr val="accent6"/>
                </a:solidFill>
                <a:latin typeface="Google Sans"/>
              </a:rPr>
              <a:t>Each technique sacrifices something.</a:t>
            </a:r>
          </a:p>
          <a:p>
            <a:endParaRPr lang="en-US" sz="1500" dirty="0">
              <a:solidFill>
                <a:schemeClr val="accent6"/>
              </a:solidFill>
              <a:latin typeface="Google Sans"/>
              <a:ea typeface="+mn-ea"/>
              <a:cs typeface="+mn-cs"/>
            </a:endParaRP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34280594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885F45-76A8-A9D4-768F-A276171B8AE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AABF50E-4ACA-00E4-A80C-3A37EC2E9451}"/>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1249CC7-29D2-1D68-4BB9-5AE12D5C49BF}"/>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5C8E2A6-4774-FB50-BF08-908D555CEF83}"/>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19708BFF-1F66-6FB0-414E-E7102DF44E05}"/>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B2F56E9-2C97-278A-3FBC-BA61EDB2CCFF}"/>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7AA5D50C-DED5-E583-891D-AC2A44F222D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22C2AE38-A72C-439E-A729-ED8CBF248F47}"/>
              </a:ext>
            </a:extLst>
          </p:cNvPr>
          <p:cNvSpPr txBox="1">
            <a:spLocks/>
          </p:cNvSpPr>
          <p:nvPr/>
        </p:nvSpPr>
        <p:spPr>
          <a:xfrm>
            <a:off x="55803" y="774902"/>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Hybrid Logical Clocks </a:t>
            </a:r>
          </a:p>
          <a:p>
            <a:r>
              <a:rPr lang="en-US" sz="1500" dirty="0">
                <a:solidFill>
                  <a:schemeClr val="accent6"/>
                </a:solidFill>
                <a:latin typeface="Google Sans"/>
                <a:ea typeface="+mn-ea"/>
                <a:cs typeface="+mn-cs"/>
              </a:rPr>
              <a:t>Hybrid Logical Clocks (HLC) combine the best of physical clocks (real-time, human-readable) and logical clocks (causality-preserving). They are widely used in modern distributed databases like </a:t>
            </a:r>
            <a:r>
              <a:rPr lang="en-US" sz="1500" dirty="0" err="1">
                <a:solidFill>
                  <a:schemeClr val="accent6"/>
                </a:solidFill>
                <a:latin typeface="Google Sans"/>
                <a:ea typeface="+mn-ea"/>
                <a:cs typeface="+mn-cs"/>
              </a:rPr>
              <a:t>CockroachDB</a:t>
            </a:r>
            <a:r>
              <a:rPr lang="en-US" sz="1500" dirty="0">
                <a:solidFill>
                  <a:schemeClr val="accent6"/>
                </a:solidFill>
                <a:latin typeface="Google Sans"/>
                <a:ea typeface="+mn-ea"/>
                <a:cs typeface="+mn-cs"/>
              </a:rPr>
              <a:t> and </a:t>
            </a:r>
            <a:r>
              <a:rPr lang="en-US" sz="1500" dirty="0" err="1">
                <a:solidFill>
                  <a:schemeClr val="accent6"/>
                </a:solidFill>
                <a:latin typeface="Google Sans"/>
                <a:ea typeface="+mn-ea"/>
                <a:cs typeface="+mn-cs"/>
              </a:rPr>
              <a:t>YugabyteDB</a:t>
            </a:r>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Components of HLC </a:t>
            </a:r>
          </a:p>
          <a:p>
            <a:r>
              <a:rPr lang="en-US" sz="1500" dirty="0">
                <a:solidFill>
                  <a:schemeClr val="accent6"/>
                </a:solidFill>
                <a:latin typeface="Google Sans"/>
                <a:ea typeface="+mn-ea"/>
                <a:cs typeface="+mn-cs"/>
              </a:rPr>
              <a:t>An HLC timestamp is a 64-bit value represented as a tuple: $\</a:t>
            </a:r>
            <a:r>
              <a:rPr lang="en-US" sz="1500" dirty="0" err="1">
                <a:solidFill>
                  <a:schemeClr val="accent6"/>
                </a:solidFill>
                <a:latin typeface="Google Sans"/>
                <a:ea typeface="+mn-ea"/>
                <a:cs typeface="+mn-cs"/>
              </a:rPr>
              <a:t>langle$Physical</a:t>
            </a:r>
            <a:r>
              <a:rPr lang="en-US" sz="1500" dirty="0">
                <a:solidFill>
                  <a:schemeClr val="accent6"/>
                </a:solidFill>
                <a:latin typeface="Google Sans"/>
                <a:ea typeface="+mn-ea"/>
                <a:cs typeface="+mn-cs"/>
              </a:rPr>
              <a:t> Component, Logical Counter(</a:t>
            </a:r>
            <a:r>
              <a:rPr lang="en-US" sz="1500" dirty="0" err="1">
                <a:solidFill>
                  <a:schemeClr val="accent6"/>
                </a:solidFill>
                <a:latin typeface="Google Sans"/>
                <a:ea typeface="+mn-ea"/>
                <a:cs typeface="+mn-cs"/>
              </a:rPr>
              <a:t>rangle</a:t>
            </a:r>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Physical Component (l):</a:t>
            </a:r>
            <a:r>
              <a:rPr lang="en-US" sz="1500" dirty="0">
                <a:solidFill>
                  <a:schemeClr val="accent6"/>
                </a:solidFill>
                <a:latin typeface="Google Sans"/>
                <a:ea typeface="+mn-ea"/>
                <a:cs typeface="+mn-cs"/>
              </a:rPr>
              <a:t> Tracks physical time (max of local physical time or latest seen time), usually with microsecond precision.</a:t>
            </a:r>
          </a:p>
          <a:p>
            <a:r>
              <a:rPr lang="en-US" sz="1500" dirty="0">
                <a:solidFill>
                  <a:schemeClr val="accent2"/>
                </a:solidFill>
                <a:latin typeface="Google Sans"/>
                <a:ea typeface="+mn-ea"/>
                <a:cs typeface="+mn-cs"/>
              </a:rPr>
              <a:t>Logical Counter (c):</a:t>
            </a:r>
            <a:r>
              <a:rPr lang="en-US" sz="1500" dirty="0">
                <a:solidFill>
                  <a:schemeClr val="accent6"/>
                </a:solidFill>
                <a:latin typeface="Google Sans"/>
                <a:ea typeface="+mn-ea"/>
                <a:cs typeface="+mn-cs"/>
              </a:rPr>
              <a:t> A counter that increments to track causal dependencies when the physical component stays the same (e.g., during rapid events or when local time is slower than another node). </a:t>
            </a:r>
          </a:p>
          <a:p>
            <a:r>
              <a:rPr lang="en-US" sz="1500" dirty="0">
                <a:solidFill>
                  <a:schemeClr val="accent2"/>
                </a:solidFill>
                <a:latin typeface="Google Sans"/>
                <a:ea typeface="+mn-ea"/>
                <a:cs typeface="+mn-cs"/>
              </a:rPr>
              <a:t>HLC Properties </a:t>
            </a:r>
          </a:p>
          <a:p>
            <a:r>
              <a:rPr lang="en-US" sz="1500" dirty="0">
                <a:solidFill>
                  <a:schemeClr val="accent2"/>
                </a:solidFill>
                <a:latin typeface="Google Sans"/>
                <a:ea typeface="+mn-ea"/>
                <a:cs typeface="+mn-cs"/>
              </a:rPr>
              <a:t>Monotonicity: </a:t>
            </a:r>
            <a:r>
              <a:rPr lang="en-US" sz="1500" dirty="0">
                <a:solidFill>
                  <a:schemeClr val="accent6"/>
                </a:solidFill>
                <a:latin typeface="Google Sans"/>
                <a:ea typeface="+mn-ea"/>
                <a:cs typeface="+mn-cs"/>
              </a:rPr>
              <a:t>HLC is guaranteed to increase, even if the underlying NTP clock jumps backward.</a:t>
            </a:r>
          </a:p>
          <a:p>
            <a:r>
              <a:rPr lang="en-US" sz="1500" dirty="0">
                <a:solidFill>
                  <a:schemeClr val="accent6"/>
                </a:solidFill>
                <a:latin typeface="Google Sans"/>
                <a:ea typeface="+mn-ea"/>
                <a:cs typeface="+mn-cs"/>
              </a:rPr>
              <a:t>Causality Tracking: If event A happens-before event B (\(A\</a:t>
            </a:r>
            <a:r>
              <a:rPr lang="en-US" sz="1500" dirty="0" err="1">
                <a:solidFill>
                  <a:schemeClr val="accent6"/>
                </a:solidFill>
                <a:latin typeface="Google Sans"/>
                <a:ea typeface="+mn-ea"/>
                <a:cs typeface="+mn-cs"/>
              </a:rPr>
              <a:t>rightarrow</a:t>
            </a:r>
            <a:r>
              <a:rPr lang="en-US" sz="1500" dirty="0">
                <a:solidFill>
                  <a:schemeClr val="accent6"/>
                </a:solidFill>
                <a:latin typeface="Google Sans"/>
                <a:ea typeface="+mn-ea"/>
                <a:cs typeface="+mn-cs"/>
              </a:rPr>
              <a:t> B\)), then \(HLC(A)&lt;HLC(B)\).Closeness </a:t>
            </a:r>
            <a:r>
              <a:rPr lang="en-US" sz="1500" dirty="0">
                <a:solidFill>
                  <a:schemeClr val="accent2"/>
                </a:solidFill>
                <a:latin typeface="Google Sans"/>
                <a:ea typeface="+mn-ea"/>
                <a:cs typeface="+mn-cs"/>
              </a:rPr>
              <a:t>to Physical Time:</a:t>
            </a:r>
            <a:r>
              <a:rPr lang="en-US" sz="1500" dirty="0">
                <a:solidFill>
                  <a:schemeClr val="accent6"/>
                </a:solidFill>
                <a:latin typeface="Google Sans"/>
                <a:ea typeface="+mn-ea"/>
                <a:cs typeface="+mn-cs"/>
              </a:rPr>
              <a:t> Unlike pure logical clocks (Lamport clocks), HLCs stay close to NTP time, making them useful for debugging. </a:t>
            </a:r>
          </a:p>
          <a:p>
            <a:r>
              <a:rPr lang="en-US" sz="1500" dirty="0">
                <a:solidFill>
                  <a:schemeClr val="accent2"/>
                </a:solidFill>
                <a:latin typeface="Google Sans"/>
                <a:ea typeface="+mn-ea"/>
                <a:cs typeface="+mn-cs"/>
              </a:rPr>
              <a:t>HLC Algorithm (Intuitive Breakdown) - </a:t>
            </a:r>
            <a:r>
              <a:rPr lang="en-US" sz="1500" dirty="0">
                <a:solidFill>
                  <a:schemeClr val="accent6"/>
                </a:solidFill>
                <a:latin typeface="Google Sans"/>
                <a:ea typeface="+mn-ea"/>
                <a:cs typeface="+mn-cs"/>
              </a:rPr>
              <a:t>Each node maintains its HLC (l_{local},c_{local}). </a:t>
            </a:r>
          </a:p>
          <a:p>
            <a:r>
              <a:rPr lang="en-US" sz="1500" dirty="0">
                <a:solidFill>
                  <a:schemeClr val="accent2"/>
                </a:solidFill>
                <a:latin typeface="Google Sans"/>
                <a:ea typeface="+mn-ea"/>
                <a:cs typeface="+mn-cs"/>
              </a:rPr>
              <a:t>1. On a Local Event:</a:t>
            </a:r>
            <a:r>
              <a:rPr lang="en-US" sz="1500" dirty="0">
                <a:solidFill>
                  <a:schemeClr val="accent6"/>
                </a:solidFill>
                <a:latin typeface="Google Sans"/>
                <a:ea typeface="+mn-ea"/>
                <a:cs typeface="+mn-cs"/>
              </a:rPr>
              <a:t> Update l_{local} to (max (l_{local},</a:t>
            </a:r>
            <a:r>
              <a:rPr lang="en-US" sz="1500" dirty="0" err="1">
                <a:solidFill>
                  <a:schemeClr val="accent6"/>
                </a:solidFill>
                <a:latin typeface="Google Sans"/>
                <a:ea typeface="+mn-ea"/>
                <a:cs typeface="+mn-cs"/>
              </a:rPr>
              <a:t>PhysicalTime</a:t>
            </a:r>
            <a:r>
              <a:rPr lang="en-US" sz="1500" dirty="0">
                <a:solidFill>
                  <a:schemeClr val="accent6"/>
                </a:solidFill>
                <a:latin typeface="Google Sans"/>
                <a:ea typeface="+mn-ea"/>
                <a:cs typeface="+mn-cs"/>
              </a:rPr>
              <a:t>)).If (l_{local}) increases, (c_{local}) resets to 0.If (l_{local}) stays same, (c_{local}) increments. </a:t>
            </a:r>
          </a:p>
          <a:p>
            <a:r>
              <a:rPr lang="en-US" sz="1500" dirty="0">
                <a:solidFill>
                  <a:schemeClr val="accent2"/>
                </a:solidFill>
                <a:latin typeface="Google Sans"/>
                <a:ea typeface="+mn-ea"/>
                <a:cs typeface="+mn-cs"/>
              </a:rPr>
              <a:t>2. On Sending a Message:</a:t>
            </a:r>
            <a:r>
              <a:rPr lang="en-US" sz="1500" dirty="0">
                <a:solidFill>
                  <a:schemeClr val="accent6"/>
                </a:solidFill>
                <a:latin typeface="Google Sans"/>
                <a:ea typeface="+mn-ea"/>
                <a:cs typeface="+mn-cs"/>
              </a:rPr>
              <a:t> Send current HLC \(\</a:t>
            </a:r>
            <a:r>
              <a:rPr lang="en-US" sz="1500" dirty="0" err="1">
                <a:solidFill>
                  <a:schemeClr val="accent6"/>
                </a:solidFill>
                <a:latin typeface="Google Sans"/>
                <a:ea typeface="+mn-ea"/>
                <a:cs typeface="+mn-cs"/>
              </a:rPr>
              <a:t>langle</a:t>
            </a:r>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l,c</a:t>
            </a:r>
            <a:r>
              <a:rPr lang="en-US" sz="1500" dirty="0">
                <a:solidFill>
                  <a:schemeClr val="accent6"/>
                </a:solidFill>
                <a:latin typeface="Google Sans"/>
                <a:ea typeface="+mn-ea"/>
                <a:cs typeface="+mn-cs"/>
              </a:rPr>
              <a:t>\</a:t>
            </a:r>
            <a:r>
              <a:rPr lang="en-US" sz="1500" dirty="0" err="1">
                <a:solidFill>
                  <a:schemeClr val="accent6"/>
                </a:solidFill>
                <a:latin typeface="Google Sans"/>
                <a:ea typeface="+mn-ea"/>
                <a:cs typeface="+mn-cs"/>
              </a:rPr>
              <a:t>rangle</a:t>
            </a:r>
            <a:r>
              <a:rPr lang="en-US" sz="1500" dirty="0">
                <a:solidFill>
                  <a:schemeClr val="accent6"/>
                </a:solidFill>
                <a:latin typeface="Google Sans"/>
                <a:ea typeface="+mn-ea"/>
                <a:cs typeface="+mn-cs"/>
              </a:rPr>
              <a:t> \). Increment local counter before sending. </a:t>
            </a:r>
          </a:p>
          <a:p>
            <a:r>
              <a:rPr lang="en-US" sz="1500" dirty="0">
                <a:solidFill>
                  <a:schemeClr val="accent2"/>
                </a:solidFill>
                <a:latin typeface="Google Sans"/>
                <a:ea typeface="+mn-ea"/>
                <a:cs typeface="+mn-cs"/>
              </a:rPr>
              <a:t>3. On Receiving a Message</a:t>
            </a:r>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langle</a:t>
            </a:r>
            <a:r>
              <a:rPr lang="en-US" sz="1500" dirty="0">
                <a:solidFill>
                  <a:schemeClr val="accent6"/>
                </a:solidFill>
                <a:latin typeface="Google Sans"/>
                <a:ea typeface="+mn-ea"/>
                <a:cs typeface="+mn-cs"/>
              </a:rPr>
              <a:t> l_{msg},c_{msg}\</a:t>
            </a:r>
            <a:r>
              <a:rPr lang="en-US" sz="1500" dirty="0" err="1">
                <a:solidFill>
                  <a:schemeClr val="accent6"/>
                </a:solidFill>
                <a:latin typeface="Google Sans"/>
                <a:ea typeface="+mn-ea"/>
                <a:cs typeface="+mn-cs"/>
              </a:rPr>
              <a:t>rangle</a:t>
            </a:r>
            <a:r>
              <a:rPr lang="en-US" sz="1500" dirty="0">
                <a:solidFill>
                  <a:schemeClr val="accent6"/>
                </a:solidFill>
                <a:latin typeface="Google Sans"/>
                <a:ea typeface="+mn-ea"/>
                <a:cs typeface="+mn-cs"/>
              </a:rPr>
              <a:t> ): Update (l_{local}): (max (l_{local},l_{msg},</a:t>
            </a:r>
            <a:r>
              <a:rPr lang="en-US" sz="1500" dirty="0" err="1">
                <a:solidFill>
                  <a:schemeClr val="accent6"/>
                </a:solidFill>
                <a:latin typeface="Google Sans"/>
                <a:ea typeface="+mn-ea"/>
                <a:cs typeface="+mn-cs"/>
              </a:rPr>
              <a:t>PhysicalTime</a:t>
            </a:r>
            <a:r>
              <a:rPr lang="en-US" sz="1500" dirty="0">
                <a:solidFill>
                  <a:schemeClr val="accent6"/>
                </a:solidFill>
                <a:latin typeface="Google Sans"/>
                <a:ea typeface="+mn-ea"/>
                <a:cs typeface="+mn-cs"/>
              </a:rPr>
              <a:t>)).</a:t>
            </a:r>
          </a:p>
        </p:txBody>
      </p:sp>
    </p:spTree>
    <p:extLst>
      <p:ext uri="{BB962C8B-B14F-4D97-AF65-F5344CB8AC3E}">
        <p14:creationId xmlns:p14="http://schemas.microsoft.com/office/powerpoint/2010/main" val="15456397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81BCF-42EE-4F1B-2614-31B087C91A8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5154982-32D9-A6A8-15BA-073A2BDC0EF0}"/>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AE9CD84-DA1B-E686-4158-3A943800A00D}"/>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79582F2-477C-459D-8551-D95E61AF2210}"/>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A8EE2C81-863B-F77A-0707-E37407B436B4}"/>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DF78C587-D73B-DDD9-E570-EF025BAB49E1}"/>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7D7E36D-EEE2-F18A-4282-FB54538F6A3D}"/>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747D5390-5699-2B51-7E2A-D607A0A3755D}"/>
              </a:ext>
            </a:extLst>
          </p:cNvPr>
          <p:cNvSpPr txBox="1">
            <a:spLocks/>
          </p:cNvSpPr>
          <p:nvPr/>
        </p:nvSpPr>
        <p:spPr>
          <a:xfrm>
            <a:off x="55803" y="774902"/>
            <a:ext cx="8624937" cy="22313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Hybrid Logical Clocks </a:t>
            </a:r>
          </a:p>
          <a:p>
            <a:r>
              <a:rPr lang="en-US" sz="1500" dirty="0">
                <a:solidFill>
                  <a:schemeClr val="accent6"/>
                </a:solidFill>
                <a:latin typeface="Google Sans"/>
                <a:ea typeface="+mn-ea"/>
                <a:cs typeface="+mn-cs"/>
              </a:rPr>
              <a:t>Update (c_{local}):If (l_{local}) is updated to a new max (greater than both previous (l_{local}) and (l_{msg})), (c_{local}) resets to 0.</a:t>
            </a:r>
          </a:p>
          <a:p>
            <a:r>
              <a:rPr lang="en-US" sz="1500" dirty="0">
                <a:solidFill>
                  <a:schemeClr val="accent6"/>
                </a:solidFill>
                <a:latin typeface="Google Sans"/>
                <a:ea typeface="+mn-ea"/>
                <a:cs typeface="+mn-cs"/>
              </a:rPr>
              <a:t>If (l_{local}) equals (l_{msg}) and (l_{local}) equals previous local (l), (c_{local}) becomes (max (c_{local},c_{msg})+1).</a:t>
            </a:r>
          </a:p>
          <a:p>
            <a:r>
              <a:rPr lang="en-US" sz="1500" dirty="0">
                <a:solidFill>
                  <a:schemeClr val="accent6"/>
                </a:solidFill>
                <a:latin typeface="Google Sans"/>
                <a:ea typeface="+mn-ea"/>
                <a:cs typeface="+mn-cs"/>
              </a:rPr>
              <a:t>Otherwise, (c_{local}) is updated based on which timestamp was greater, ensuring (HLC_{new}&gt;HLC_{old}) and (HLC_{new}&gt;HLC_{msg}). </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Comparing Clocks</a:t>
            </a:r>
          </a:p>
        </p:txBody>
      </p:sp>
      <p:pic>
        <p:nvPicPr>
          <p:cNvPr id="11" name="Picture 10">
            <a:extLst>
              <a:ext uri="{FF2B5EF4-FFF2-40B4-BE49-F238E27FC236}">
                <a16:creationId xmlns:a16="http://schemas.microsoft.com/office/drawing/2014/main" id="{7334393A-CAE9-EF9B-CAFA-A454BFB3E2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5802" y="2971801"/>
            <a:ext cx="8951037" cy="2971800"/>
          </a:xfrm>
          <a:prstGeom prst="rect">
            <a:avLst/>
          </a:prstGeom>
        </p:spPr>
      </p:pic>
    </p:spTree>
    <p:extLst>
      <p:ext uri="{BB962C8B-B14F-4D97-AF65-F5344CB8AC3E}">
        <p14:creationId xmlns:p14="http://schemas.microsoft.com/office/powerpoint/2010/main" val="256135141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53A96-4B1E-1D3B-C7C5-7B2039CEA5C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B0B7505-E837-F774-0419-923F76F32A31}"/>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335B98D-7874-37DE-2512-089C33432155}"/>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99CF4B5-68E5-F5AA-C324-9CF3AFB02D0E}"/>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9D9A438D-3905-55AF-F0C7-D8DBD2F5316A}"/>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3E6C29A-ECEB-23B1-33EA-9A783EAAA557}"/>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4BC9CB5A-A8F0-4CC0-B859-BF5E1995366B}"/>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A3E1F837-97E0-C6E6-4799-D9D973218ED5}"/>
              </a:ext>
            </a:extLst>
          </p:cNvPr>
          <p:cNvSpPr txBox="1">
            <a:spLocks/>
          </p:cNvSpPr>
          <p:nvPr/>
        </p:nvSpPr>
        <p:spPr>
          <a:xfrm>
            <a:off x="91363" y="682386"/>
            <a:ext cx="8624937" cy="547842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In Practice</a:t>
            </a:r>
          </a:p>
          <a:p>
            <a:r>
              <a:rPr lang="en-US" sz="1500" dirty="0">
                <a:solidFill>
                  <a:schemeClr val="accent2"/>
                </a:solidFill>
                <a:latin typeface="Google Sans"/>
                <a:ea typeface="+mn-ea"/>
                <a:cs typeface="+mn-cs"/>
              </a:rPr>
              <a:t>In a modern distributed database:</a:t>
            </a:r>
          </a:p>
          <a:p>
            <a:r>
              <a:rPr lang="en-US" sz="1500" dirty="0">
                <a:solidFill>
                  <a:schemeClr val="accent6"/>
                </a:solidFill>
                <a:latin typeface="Google Sans"/>
                <a:ea typeface="+mn-ea"/>
                <a:cs typeface="+mn-cs"/>
              </a:rPr>
              <a:t>1) NTP runs in the background to keep the node's physical clock roughly aligned with the real world (within milliseconds).</a:t>
            </a:r>
          </a:p>
          <a:p>
            <a:r>
              <a:rPr lang="en-US" sz="1500" dirty="0">
                <a:solidFill>
                  <a:schemeClr val="accent6"/>
                </a:solidFill>
                <a:latin typeface="Google Sans"/>
                <a:ea typeface="+mn-ea"/>
                <a:cs typeface="+mn-cs"/>
              </a:rPr>
              <a:t>2) When a transaction occurs, the system uses an HLC.</a:t>
            </a:r>
          </a:p>
          <a:p>
            <a:r>
              <a:rPr lang="en-US" sz="1500" dirty="0">
                <a:solidFill>
                  <a:schemeClr val="accent6"/>
                </a:solidFill>
                <a:latin typeface="Google Sans"/>
                <a:ea typeface="+mn-ea"/>
                <a:cs typeface="+mn-cs"/>
              </a:rPr>
              <a:t>3) If a node's NTP clock is slightly behind, the HLC uses the logical counter to ensure that the event is still ordered after events it causally depends on.</a:t>
            </a:r>
          </a:p>
          <a:p>
            <a:r>
              <a:rPr lang="en-US" sz="1500" dirty="0">
                <a:solidFill>
                  <a:schemeClr val="accent6"/>
                </a:solidFill>
                <a:latin typeface="Google Sans"/>
                <a:ea typeface="+mn-ea"/>
                <a:cs typeface="+mn-cs"/>
              </a:rPr>
              <a:t>4) If a node's NTP clock is ahead, the HLC uses the physical component to ensure the timestamp is still close to real-time. </a:t>
            </a:r>
          </a:p>
          <a:p>
            <a:r>
              <a:rPr lang="en-US" sz="1500" dirty="0">
                <a:solidFill>
                  <a:schemeClr val="accent6"/>
                </a:solidFill>
                <a:latin typeface="Google Sans"/>
                <a:ea typeface="+mn-ea"/>
                <a:cs typeface="+mn-cs"/>
              </a:rPr>
              <a:t>This ensures consistency (causal ordering) and correctness (monotonically increasing time) without requiring prohibitively expensive hardware like GPS/atomic clocks on every server (as needed by Google's </a:t>
            </a:r>
            <a:r>
              <a:rPr lang="en-US" sz="1500" dirty="0" err="1">
                <a:solidFill>
                  <a:schemeClr val="accent6"/>
                </a:solidFill>
                <a:latin typeface="Google Sans"/>
                <a:ea typeface="+mn-ea"/>
                <a:cs typeface="+mn-cs"/>
              </a:rPr>
              <a:t>TrueTime</a:t>
            </a:r>
            <a:r>
              <a:rPr lang="en-US" sz="1500" dirty="0">
                <a:solidFill>
                  <a:schemeClr val="accent6"/>
                </a:solidFill>
                <a:latin typeface="Google Sans"/>
                <a:ea typeface="+mn-ea"/>
                <a:cs typeface="+mn-cs"/>
              </a:rPr>
              <a:t>). </a:t>
            </a:r>
          </a:p>
          <a:p>
            <a:r>
              <a:rPr lang="en-US" sz="1700" dirty="0">
                <a:solidFill>
                  <a:schemeClr val="accent2"/>
                </a:solidFill>
                <a:latin typeface="Google Sans"/>
              </a:rPr>
              <a:t>For Further Exploration</a:t>
            </a:r>
          </a:p>
          <a:p>
            <a:pPr marL="12700" marR="5080"/>
            <a:r>
              <a:rPr lang="en-US" sz="1200" dirty="0">
                <a:hlinkClick r:id="rId7"/>
              </a:rPr>
              <a:t>Distributed Systems: Physical, Logical, and Vector Clocks</a:t>
            </a:r>
            <a:endParaRPr lang="en-US" sz="1200" dirty="0"/>
          </a:p>
          <a:p>
            <a:pPr marL="12700" marR="5080"/>
            <a:r>
              <a:rPr lang="en-IN" sz="1200" dirty="0">
                <a:hlinkClick r:id="rId8"/>
              </a:rPr>
              <a:t>Distributed Systems Clocks | LinkedIn</a:t>
            </a:r>
            <a:endParaRPr lang="en-IN" sz="1200" dirty="0"/>
          </a:p>
          <a:p>
            <a:r>
              <a:rPr lang="en-US" sz="1200" dirty="0">
                <a:hlinkClick r:id="rId9"/>
              </a:rPr>
              <a:t>Distributed Systems &amp; Networking: Time, Order, and Coordination</a:t>
            </a:r>
            <a:endParaRPr lang="en-US" sz="1200" dirty="0"/>
          </a:p>
          <a:p>
            <a:r>
              <a:rPr lang="en-US" sz="1200" dirty="0">
                <a:hlinkClick r:id="rId10"/>
              </a:rPr>
              <a:t>All Things Clock, Time and Order in Distributed Systems</a:t>
            </a:r>
            <a:endParaRPr lang="en-US" sz="1200" dirty="0">
              <a:solidFill>
                <a:schemeClr val="accent2"/>
              </a:solidFill>
              <a:latin typeface="Google Sans"/>
            </a:endParaRPr>
          </a:p>
          <a:p>
            <a:r>
              <a:rPr lang="en-IN" sz="1200" dirty="0">
                <a:hlinkClick r:id="rId11"/>
              </a:rPr>
              <a:t>Lamport's logical clock</a:t>
            </a:r>
            <a:endParaRPr lang="en-IN" sz="1200" dirty="0"/>
          </a:p>
          <a:p>
            <a:r>
              <a:rPr lang="en-US" sz="1200" dirty="0">
                <a:hlinkClick r:id="rId12"/>
              </a:rPr>
              <a:t>Vector Clocks in Distributed Systems</a:t>
            </a:r>
            <a:endParaRPr lang="en-US" sz="1200" dirty="0"/>
          </a:p>
          <a:p>
            <a:r>
              <a:rPr lang="en-IN" sz="1200" dirty="0">
                <a:hlinkClick r:id="rId13"/>
              </a:rPr>
              <a:t>Total Ordering Architectures – Documentation</a:t>
            </a:r>
            <a:endParaRPr lang="en-IN" sz="1200" dirty="0"/>
          </a:p>
          <a:p>
            <a:r>
              <a:rPr lang="en-IN" sz="1200" dirty="0">
                <a:hlinkClick r:id="rId14"/>
              </a:rPr>
              <a:t>Google’s True Time</a:t>
            </a:r>
            <a:endParaRPr lang="en-IN" sz="1200" dirty="0"/>
          </a:p>
          <a:p>
            <a:r>
              <a:rPr lang="en-US" sz="1200" dirty="0">
                <a:hlinkClick r:id="rId15"/>
              </a:rPr>
              <a:t>Notes on Google's "</a:t>
            </a:r>
            <a:r>
              <a:rPr lang="en-US" sz="1200" dirty="0" err="1">
                <a:hlinkClick r:id="rId15"/>
              </a:rPr>
              <a:t>TrueTime</a:t>
            </a:r>
            <a:r>
              <a:rPr lang="en-US" sz="1200" dirty="0">
                <a:hlinkClick r:id="rId16"/>
              </a:rPr>
              <a:t>“</a:t>
            </a:r>
            <a:endParaRPr lang="en-US" sz="1200" dirty="0"/>
          </a:p>
          <a:p>
            <a:r>
              <a:rPr lang="en-US" sz="1200" dirty="0">
                <a:hlinkClick r:id="rId16"/>
              </a:rPr>
              <a:t>Why Your Computer Can’t Tell Time (And How Atomic Clocks Are Quietly Saving the World)</a:t>
            </a:r>
            <a:endParaRPr lang="en-US" sz="1200" dirty="0"/>
          </a:p>
          <a:p>
            <a:r>
              <a:rPr lang="en-US" sz="1200" dirty="0">
                <a:hlinkClick r:id="rId17"/>
              </a:rPr>
              <a:t>Syncing Clocks with Satellites: How NTP Actually Works - YouTube</a:t>
            </a:r>
            <a:endParaRPr lang="en-US" sz="1200" dirty="0"/>
          </a:p>
          <a:p>
            <a:r>
              <a:rPr lang="en-IN" sz="1200" dirty="0">
                <a:hlinkClick r:id="rId18"/>
              </a:rPr>
              <a:t>Hybrid Logical Clocks</a:t>
            </a:r>
            <a:endParaRPr lang="en-IN" sz="1200" dirty="0"/>
          </a:p>
          <a:p>
            <a:r>
              <a:rPr lang="en-IN" sz="1200" dirty="0">
                <a:hlinkClick r:id="rId19"/>
              </a:rPr>
              <a:t>Hybrid Logical Clocks</a:t>
            </a:r>
            <a:endParaRPr lang="en-US" sz="1200" dirty="0">
              <a:solidFill>
                <a:schemeClr val="accent6"/>
              </a:solidFill>
              <a:latin typeface="Google Sans"/>
            </a:endParaRPr>
          </a:p>
          <a:p>
            <a:endParaRPr lang="en-US" sz="1300" dirty="0">
              <a:solidFill>
                <a:schemeClr val="accent6"/>
              </a:solidFill>
              <a:latin typeface="Google Sans"/>
              <a:ea typeface="+mn-ea"/>
              <a:cs typeface="+mn-cs"/>
            </a:endParaRPr>
          </a:p>
        </p:txBody>
      </p:sp>
    </p:spTree>
    <p:extLst>
      <p:ext uri="{BB962C8B-B14F-4D97-AF65-F5344CB8AC3E}">
        <p14:creationId xmlns:p14="http://schemas.microsoft.com/office/powerpoint/2010/main" val="29437693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1CEA0-2747-FBE3-8CF5-0F5155141AE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084EAB8-05EE-F911-54F3-C35BD0549E85}"/>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20F76A6-C21D-4D96-5F78-A9B769A1F057}"/>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06A4D8D-374D-0ACA-1AC2-CC54A81F4C73}"/>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22FC4EFF-7237-9231-CA4E-96EA586A90BA}"/>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B18C659F-FF8B-E9DF-27E3-0DD46C4665DA}"/>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E6A4938-B068-7943-727C-50DCA2807E0B}"/>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B87F8F69-86F0-CE0F-118D-8D5AEB60EB8F}"/>
              </a:ext>
            </a:extLst>
          </p:cNvPr>
          <p:cNvSpPr txBox="1">
            <a:spLocks/>
          </p:cNvSpPr>
          <p:nvPr/>
        </p:nvSpPr>
        <p:spPr>
          <a:xfrm>
            <a:off x="91363" y="788343"/>
            <a:ext cx="8624937" cy="20005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Logs &amp; Profiling Tools – </a:t>
            </a:r>
          </a:p>
          <a:p>
            <a:r>
              <a:rPr lang="en-US" sz="1500" dirty="0">
                <a:solidFill>
                  <a:schemeClr val="accent2"/>
                </a:solidFill>
                <a:latin typeface="Google Sans"/>
                <a:ea typeface="+mn-ea"/>
                <a:cs typeface="+mn-cs"/>
              </a:rPr>
              <a:t>1) Logs -  </a:t>
            </a:r>
            <a:r>
              <a:rPr lang="en-US" sz="1500" dirty="0">
                <a:solidFill>
                  <a:schemeClr val="accent6"/>
                </a:solidFill>
                <a:latin typeface="Google Sans"/>
                <a:ea typeface="+mn-ea"/>
                <a:cs typeface="+mn-cs"/>
              </a:rPr>
              <a:t>Always 1st check logs to find the root cause of the performance issue. Also, to increase the overall performance of the application, may-be you can opt for asynchronous logging.</a:t>
            </a:r>
          </a:p>
          <a:p>
            <a:r>
              <a:rPr lang="en-US" sz="1500" dirty="0">
                <a:solidFill>
                  <a:schemeClr val="accent2"/>
                </a:solidFill>
                <a:latin typeface="Google Sans"/>
                <a:ea typeface="+mn-ea"/>
                <a:cs typeface="+mn-cs"/>
              </a:rPr>
              <a:t>2) Profiling Tools</a:t>
            </a:r>
            <a:r>
              <a:rPr lang="en-US" sz="1500" dirty="0">
                <a:solidFill>
                  <a:schemeClr val="accent6"/>
                </a:solidFill>
                <a:latin typeface="Google Sans"/>
                <a:ea typeface="+mn-ea"/>
                <a:cs typeface="+mn-cs"/>
              </a:rPr>
              <a:t> – If via step 1 above, not able to find the root cause, run some profiling tools (e.g. ANTS Profiler[$$$]) &amp; find where is the issue &amp; what’s the cause of the issue. SQL Server has inbuilt profiler. Similar profilers(or profiling add-ons) are available in other DBs(including NoSQL DBs).</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API Performance Improvement Techniques in General</a:t>
            </a:r>
          </a:p>
        </p:txBody>
      </p:sp>
      <p:pic>
        <p:nvPicPr>
          <p:cNvPr id="3" name="Picture 2">
            <a:extLst>
              <a:ext uri="{FF2B5EF4-FFF2-40B4-BE49-F238E27FC236}">
                <a16:creationId xmlns:a16="http://schemas.microsoft.com/office/drawing/2014/main" id="{FD3A2C4A-8CB8-88BB-C3AF-C1AF4A00096B}"/>
              </a:ext>
            </a:extLst>
          </p:cNvPr>
          <p:cNvPicPr>
            <a:picLocks noChangeAspect="1"/>
          </p:cNvPicPr>
          <p:nvPr/>
        </p:nvPicPr>
        <p:blipFill>
          <a:blip r:embed="rId7"/>
          <a:stretch>
            <a:fillRect/>
          </a:stretch>
        </p:blipFill>
        <p:spPr>
          <a:xfrm>
            <a:off x="23978" y="2711947"/>
            <a:ext cx="8915858" cy="3155452"/>
          </a:xfrm>
          <a:prstGeom prst="rect">
            <a:avLst/>
          </a:prstGeom>
        </p:spPr>
      </p:pic>
    </p:spTree>
    <p:extLst>
      <p:ext uri="{BB962C8B-B14F-4D97-AF65-F5344CB8AC3E}">
        <p14:creationId xmlns:p14="http://schemas.microsoft.com/office/powerpoint/2010/main" val="34650666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ECA5F-CC1C-1E06-CA46-DF08FCC66EB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419E594-8200-3AB1-D666-F100F9020869}"/>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1A3F734-1D63-8BC1-60EB-06BF5BB3BA15}"/>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D385A08-DB4F-7F0D-D1A7-3772C635D7B9}"/>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010D1CE1-D16E-BE23-6761-C93CDFDD673B}"/>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60A387D2-D34D-1DEC-BA65-2B065980D122}"/>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6C04213D-2F8E-3A5E-EE29-2EE876BCFE5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AA8E9432-0E56-C7C3-9A8F-0F30AA44D77E}"/>
              </a:ext>
            </a:extLst>
          </p:cNvPr>
          <p:cNvSpPr txBox="1">
            <a:spLocks/>
          </p:cNvSpPr>
          <p:nvPr/>
        </p:nvSpPr>
        <p:spPr>
          <a:xfrm>
            <a:off x="91363" y="788343"/>
            <a:ext cx="8624937" cy="48320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Response Time Improvement</a:t>
            </a:r>
          </a:p>
          <a:p>
            <a:r>
              <a:rPr lang="en-US" sz="1500" dirty="0">
                <a:solidFill>
                  <a:schemeClr val="accent6"/>
                </a:solidFill>
                <a:latin typeface="Google Sans"/>
                <a:ea typeface="+mn-ea"/>
                <a:cs typeface="+mn-cs"/>
              </a:rPr>
              <a:t>Time required to get the response from server since the request has been sent from the client.</a:t>
            </a:r>
          </a:p>
          <a:p>
            <a:r>
              <a:rPr lang="en-US" sz="1500" dirty="0">
                <a:solidFill>
                  <a:schemeClr val="accent2"/>
                </a:solidFill>
                <a:latin typeface="Google Sans"/>
                <a:ea typeface="+mn-ea"/>
                <a:cs typeface="+mn-cs"/>
              </a:rPr>
              <a:t>Ways to improve Response Time</a:t>
            </a:r>
          </a:p>
          <a:p>
            <a:r>
              <a:rPr lang="en-US" sz="1500" dirty="0">
                <a:solidFill>
                  <a:schemeClr val="accent2"/>
                </a:solidFill>
                <a:latin typeface="Google Sans"/>
                <a:ea typeface="+mn-ea"/>
                <a:cs typeface="+mn-cs"/>
              </a:rPr>
              <a:t>1) SQL Tuning</a:t>
            </a:r>
          </a:p>
          <a:p>
            <a:r>
              <a:rPr lang="en-US" sz="1500" dirty="0">
                <a:solidFill>
                  <a:schemeClr val="accent6"/>
                </a:solidFill>
                <a:latin typeface="Google Sans"/>
                <a:ea typeface="+mn-ea"/>
                <a:cs typeface="+mn-cs"/>
              </a:rPr>
              <a:t>Always return specific columns in Select rather than using *</a:t>
            </a:r>
          </a:p>
          <a:p>
            <a:r>
              <a:rPr lang="en-US" sz="1500" dirty="0">
                <a:solidFill>
                  <a:schemeClr val="accent6"/>
                </a:solidFill>
                <a:latin typeface="Google Sans"/>
                <a:ea typeface="+mn-ea"/>
                <a:cs typeface="+mn-cs"/>
              </a:rPr>
              <a:t>Try to get all relevant results in single shot using proper where clause(if needed use paging)</a:t>
            </a:r>
          </a:p>
          <a:p>
            <a:r>
              <a:rPr lang="en-US" sz="1500" dirty="0">
                <a:solidFill>
                  <a:schemeClr val="accent6"/>
                </a:solidFill>
                <a:latin typeface="Google Sans"/>
                <a:ea typeface="+mn-ea"/>
                <a:cs typeface="+mn-cs"/>
              </a:rPr>
              <a:t>Check that proper indexes are applied in where clause and join clause columns.</a:t>
            </a:r>
          </a:p>
          <a:p>
            <a:r>
              <a:rPr lang="en-US" sz="1500" dirty="0">
                <a:solidFill>
                  <a:schemeClr val="accent6"/>
                </a:solidFill>
                <a:latin typeface="Google Sans"/>
                <a:ea typeface="+mn-ea"/>
                <a:cs typeface="+mn-cs"/>
              </a:rPr>
              <a:t>Other </a:t>
            </a:r>
            <a:r>
              <a:rPr lang="en-US" sz="1500" dirty="0" err="1">
                <a:solidFill>
                  <a:schemeClr val="accent6"/>
                </a:solidFill>
                <a:latin typeface="Google Sans"/>
                <a:ea typeface="+mn-ea"/>
                <a:cs typeface="+mn-cs"/>
              </a:rPr>
              <a:t>Sql</a:t>
            </a:r>
            <a:r>
              <a:rPr lang="en-US" sz="1500" dirty="0">
                <a:solidFill>
                  <a:schemeClr val="accent6"/>
                </a:solidFill>
                <a:latin typeface="Google Sans"/>
                <a:ea typeface="+mn-ea"/>
                <a:cs typeface="+mn-cs"/>
              </a:rPr>
              <a:t> Tuning Techniques – </a:t>
            </a:r>
            <a:r>
              <a:rPr lang="en-IN" sz="1300" dirty="0">
                <a:hlinkClick r:id="rId7"/>
              </a:rPr>
              <a:t>SQL Performance Tuning – </a:t>
            </a:r>
            <a:r>
              <a:rPr lang="en-IN" sz="1300" dirty="0" err="1">
                <a:hlinkClick r:id="rId7"/>
              </a:rPr>
              <a:t>GeeksforGeeks</a:t>
            </a:r>
            <a:endParaRPr lang="en-IN" sz="1300" dirty="0"/>
          </a:p>
          <a:p>
            <a:endParaRPr lang="en-US" sz="1300" dirty="0">
              <a:solidFill>
                <a:schemeClr val="accent6"/>
              </a:solidFill>
              <a:latin typeface="Google Sans"/>
              <a:ea typeface="+mn-ea"/>
              <a:cs typeface="+mn-cs"/>
            </a:endParaRPr>
          </a:p>
          <a:p>
            <a:r>
              <a:rPr lang="en-US" sz="1500" dirty="0">
                <a:solidFill>
                  <a:schemeClr val="accent2"/>
                </a:solidFill>
                <a:latin typeface="Google Sans"/>
                <a:ea typeface="+mn-ea"/>
                <a:cs typeface="+mn-cs"/>
              </a:rPr>
              <a:t>2) Data Access Layer Tuning </a:t>
            </a:r>
          </a:p>
          <a:p>
            <a:r>
              <a:rPr lang="en-US" sz="1500" dirty="0">
                <a:solidFill>
                  <a:schemeClr val="accent2"/>
                </a:solidFill>
                <a:latin typeface="Google Sans"/>
                <a:ea typeface="+mn-ea"/>
                <a:cs typeface="+mn-cs"/>
              </a:rPr>
              <a:t>a) ORMs(Dapper &amp; EF) Tuning </a:t>
            </a:r>
          </a:p>
          <a:p>
            <a:r>
              <a:rPr lang="en-US" sz="1500" dirty="0">
                <a:solidFill>
                  <a:schemeClr val="accent6"/>
                </a:solidFill>
                <a:latin typeface="Google Sans"/>
                <a:ea typeface="+mn-ea"/>
                <a:cs typeface="+mn-cs"/>
              </a:rPr>
              <a:t>Dapper being a micro-</a:t>
            </a:r>
            <a:r>
              <a:rPr lang="en-US" sz="1500" dirty="0" err="1">
                <a:solidFill>
                  <a:schemeClr val="accent6"/>
                </a:solidFill>
                <a:latin typeface="Google Sans"/>
                <a:ea typeface="+mn-ea"/>
                <a:cs typeface="+mn-cs"/>
              </a:rPr>
              <a:t>orm</a:t>
            </a:r>
            <a:r>
              <a:rPr lang="en-US" sz="1500" dirty="0">
                <a:solidFill>
                  <a:schemeClr val="accent6"/>
                </a:solidFill>
                <a:latin typeface="Google Sans"/>
                <a:ea typeface="+mn-ea"/>
                <a:cs typeface="+mn-cs"/>
              </a:rPr>
              <a:t> &amp; uses mainly raw </a:t>
            </a:r>
            <a:r>
              <a:rPr lang="en-US" sz="1500" dirty="0" err="1">
                <a:solidFill>
                  <a:schemeClr val="accent6"/>
                </a:solidFill>
                <a:latin typeface="Google Sans"/>
                <a:ea typeface="+mn-ea"/>
                <a:cs typeface="+mn-cs"/>
              </a:rPr>
              <a:t>sql</a:t>
            </a:r>
            <a:r>
              <a:rPr lang="en-US" sz="1500" dirty="0">
                <a:solidFill>
                  <a:schemeClr val="accent6"/>
                </a:solidFill>
                <a:latin typeface="Google Sans"/>
                <a:ea typeface="+mn-ea"/>
                <a:cs typeface="+mn-cs"/>
              </a:rPr>
              <a:t>, nothing much is there to tune within Dapper itself &amp; most of the </a:t>
            </a:r>
            <a:r>
              <a:rPr lang="en-US" sz="1500" dirty="0" err="1">
                <a:solidFill>
                  <a:schemeClr val="accent6"/>
                </a:solidFill>
                <a:latin typeface="Google Sans"/>
                <a:ea typeface="+mn-ea"/>
                <a:cs typeface="+mn-cs"/>
              </a:rPr>
              <a:t>Sql</a:t>
            </a:r>
            <a:r>
              <a:rPr lang="en-US" sz="1500" dirty="0">
                <a:solidFill>
                  <a:schemeClr val="accent6"/>
                </a:solidFill>
                <a:latin typeface="Google Sans"/>
                <a:ea typeface="+mn-ea"/>
                <a:cs typeface="+mn-cs"/>
              </a:rPr>
              <a:t> Tuning techniques should do the trick.</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b) For EF Tuning, refer </a:t>
            </a:r>
          </a:p>
          <a:p>
            <a:r>
              <a:rPr lang="en-IN" sz="1300" dirty="0">
                <a:hlinkClick r:id="rId8"/>
              </a:rPr>
              <a:t>15+ Steps to improve EF Core Performance</a:t>
            </a:r>
            <a:endParaRPr lang="en-IN" sz="1300" dirty="0"/>
          </a:p>
          <a:p>
            <a:endParaRPr lang="en-IN" sz="1500" dirty="0"/>
          </a:p>
          <a:p>
            <a:r>
              <a:rPr lang="en-US" sz="1500" dirty="0">
                <a:solidFill>
                  <a:schemeClr val="accent2"/>
                </a:solidFill>
                <a:latin typeface="Google Sans"/>
                <a:ea typeface="+mn-ea"/>
                <a:cs typeface="+mn-cs"/>
              </a:rPr>
              <a:t>c) For ADO.NET, refer </a:t>
            </a:r>
            <a:r>
              <a:rPr lang="en-US" sz="1500" dirty="0">
                <a:solidFill>
                  <a:schemeClr val="accent6"/>
                </a:solidFill>
                <a:latin typeface="Google Sans"/>
                <a:ea typeface="+mn-ea"/>
                <a:cs typeface="+mn-cs"/>
              </a:rPr>
              <a:t> </a:t>
            </a:r>
          </a:p>
          <a:p>
            <a:r>
              <a:rPr lang="en-US" sz="1300" dirty="0" err="1">
                <a:hlinkClick r:id="rId9"/>
              </a:rPr>
              <a:t>.net</a:t>
            </a:r>
            <a:r>
              <a:rPr lang="en-US" sz="1300" dirty="0">
                <a:hlinkClick r:id="rId9"/>
              </a:rPr>
              <a:t> - C# - What are Some High Performance Best Practices/Tips for ADO.NET - Stack Overflow</a:t>
            </a:r>
            <a:endParaRPr lang="en-US" sz="1300" dirty="0">
              <a:solidFill>
                <a:schemeClr val="accent6"/>
              </a:solidFill>
              <a:latin typeface="Google Sans"/>
              <a:ea typeface="+mn-ea"/>
              <a:cs typeface="+mn-cs"/>
            </a:endParaRPr>
          </a:p>
          <a:p>
            <a:endParaRPr lang="en-US" sz="1500" dirty="0">
              <a:solidFill>
                <a:schemeClr val="accent6"/>
              </a:solidFill>
              <a:latin typeface="Google Sans"/>
              <a:ea typeface="+mn-ea"/>
              <a:cs typeface="+mn-cs"/>
            </a:endParaRPr>
          </a:p>
          <a:p>
            <a:endParaRPr lang="en-US" sz="1300" dirty="0">
              <a:solidFill>
                <a:schemeClr val="accent6"/>
              </a:solidFill>
              <a:latin typeface="Google Sans"/>
              <a:ea typeface="+mn-ea"/>
              <a:cs typeface="+mn-cs"/>
            </a:endParaRPr>
          </a:p>
        </p:txBody>
      </p:sp>
    </p:spTree>
    <p:extLst>
      <p:ext uri="{BB962C8B-B14F-4D97-AF65-F5344CB8AC3E}">
        <p14:creationId xmlns:p14="http://schemas.microsoft.com/office/powerpoint/2010/main" val="68349495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9202A-A67F-75C6-697F-67097DB56BF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7563305-03BA-57A8-F0BF-397762901A91}"/>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A2582A7-2B43-1140-3B42-15610CA9575F}"/>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DD66D94-7E54-60E5-D311-4179F55E52DA}"/>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0A7901D3-29CB-483C-2675-866606415610}"/>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4A4E64E-BC3C-E8C7-FD59-47C1AB0BD05B}"/>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1C17DE10-A7DE-F3A2-1508-9C7F9C35A263}"/>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5A5947AB-AE29-9BFC-D3A9-DD0C7CB55DEF}"/>
              </a:ext>
            </a:extLst>
          </p:cNvPr>
          <p:cNvSpPr txBox="1">
            <a:spLocks/>
          </p:cNvSpPr>
          <p:nvPr/>
        </p:nvSpPr>
        <p:spPr>
          <a:xfrm>
            <a:off x="91363" y="788343"/>
            <a:ext cx="8624937" cy="58785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Response Time Improvement</a:t>
            </a:r>
          </a:p>
          <a:p>
            <a:r>
              <a:rPr lang="en-US" sz="1500" dirty="0">
                <a:solidFill>
                  <a:schemeClr val="accent2"/>
                </a:solidFill>
                <a:latin typeface="Google Sans"/>
                <a:ea typeface="+mn-ea"/>
                <a:cs typeface="+mn-cs"/>
              </a:rPr>
              <a:t>Ways to improve Response Time</a:t>
            </a:r>
          </a:p>
          <a:p>
            <a:r>
              <a:rPr lang="en-US" sz="1600" dirty="0">
                <a:solidFill>
                  <a:schemeClr val="accent2"/>
                </a:solidFill>
                <a:latin typeface="Google Sans"/>
                <a:ea typeface="+mn-ea"/>
                <a:cs typeface="+mn-cs"/>
              </a:rPr>
              <a:t>3) Caching</a:t>
            </a:r>
          </a:p>
          <a:p>
            <a:pPr marL="12700" marR="5080"/>
            <a:r>
              <a:rPr lang="en-US" sz="1500" dirty="0">
                <a:solidFill>
                  <a:schemeClr val="accent6"/>
                </a:solidFill>
                <a:latin typeface="Google Sans"/>
                <a:ea typeface="+mn-ea"/>
                <a:cs typeface="+mn-cs"/>
              </a:rPr>
              <a:t>Small one time write &amp; multiple read based application data can be cached in-memory but validate that it doesn’t throw OOM Exception.</a:t>
            </a:r>
          </a:p>
          <a:p>
            <a:pPr marL="12700" marR="5080"/>
            <a:r>
              <a:rPr lang="en-US" sz="1500" dirty="0">
                <a:solidFill>
                  <a:schemeClr val="accent6"/>
                </a:solidFill>
                <a:latin typeface="Google Sans"/>
                <a:ea typeface="+mn-ea"/>
                <a:cs typeface="+mn-cs"/>
              </a:rPr>
              <a:t>Large Application data, Session data &amp; rarely-changing data can be cached using some Distributed Cache </a:t>
            </a:r>
            <a:r>
              <a:rPr lang="en-US" sz="1200" dirty="0">
                <a:solidFill>
                  <a:schemeClr val="accent6"/>
                </a:solidFill>
                <a:latin typeface="Google Sans"/>
                <a:ea typeface="+mn-ea"/>
                <a:cs typeface="+mn-cs"/>
              </a:rPr>
              <a:t>(Refer - </a:t>
            </a:r>
            <a:r>
              <a:rPr lang="en-US" sz="1200" dirty="0">
                <a:hlinkClick r:id="rId7"/>
              </a:rPr>
              <a:t>Redis OSS vs. Memcached - Difference Between Caches - AWS</a:t>
            </a:r>
            <a:r>
              <a:rPr lang="en-US" sz="1200" dirty="0">
                <a:solidFill>
                  <a:schemeClr val="accent6"/>
                </a:solidFill>
                <a:latin typeface="Google Sans"/>
                <a:ea typeface="+mn-ea"/>
                <a:cs typeface="+mn-cs"/>
              </a:rPr>
              <a:t> for further exploration)</a:t>
            </a:r>
          </a:p>
          <a:p>
            <a:pPr marL="12700" marR="5080"/>
            <a:r>
              <a:rPr lang="en-US" sz="1300" dirty="0">
                <a:solidFill>
                  <a:schemeClr val="accent2"/>
                </a:solidFill>
                <a:latin typeface="Google Sans"/>
                <a:ea typeface="+mn-ea"/>
                <a:cs typeface="+mn-cs"/>
              </a:rPr>
              <a:t>Caching Types –</a:t>
            </a:r>
            <a:r>
              <a:rPr lang="en-IN" sz="1200" dirty="0">
                <a:hlinkClick r:id="rId8"/>
              </a:rPr>
              <a:t>Types of Cache - </a:t>
            </a:r>
            <a:r>
              <a:rPr lang="en-IN" sz="1200" dirty="0" err="1">
                <a:hlinkClick r:id="rId8"/>
              </a:rPr>
              <a:t>GeeksforGeeks</a:t>
            </a:r>
            <a:endParaRPr lang="en-US" sz="1200" dirty="0">
              <a:solidFill>
                <a:schemeClr val="accent2"/>
              </a:solidFill>
              <a:latin typeface="Google Sans"/>
              <a:ea typeface="+mn-ea"/>
              <a:cs typeface="+mn-cs"/>
            </a:endParaRPr>
          </a:p>
          <a:p>
            <a:pPr marL="12700" marR="5080"/>
            <a:r>
              <a:rPr lang="en-US" sz="1300" dirty="0">
                <a:solidFill>
                  <a:schemeClr val="accent2"/>
                </a:solidFill>
                <a:latin typeface="Google Sans"/>
                <a:ea typeface="+mn-ea"/>
                <a:cs typeface="+mn-cs"/>
              </a:rPr>
              <a:t>Caching Strategies –</a:t>
            </a:r>
            <a:r>
              <a:rPr lang="en-US" sz="1300" dirty="0">
                <a:solidFill>
                  <a:schemeClr val="accent6"/>
                </a:solidFill>
                <a:latin typeface="Google Sans"/>
                <a:ea typeface="+mn-ea"/>
                <a:cs typeface="+mn-cs"/>
              </a:rPr>
              <a:t> </a:t>
            </a:r>
            <a:r>
              <a:rPr lang="en-US" sz="1200" dirty="0">
                <a:solidFill>
                  <a:schemeClr val="accent6"/>
                </a:solidFill>
                <a:latin typeface="Google Sans"/>
                <a:ea typeface="+mn-ea"/>
                <a:cs typeface="+mn-cs"/>
              </a:rPr>
              <a:t>  </a:t>
            </a:r>
            <a:r>
              <a:rPr lang="en-US" sz="1200" dirty="0">
                <a:hlinkClick r:id="rId9"/>
              </a:rPr>
              <a:t>Top caching strategies - by Alex Xu - </a:t>
            </a:r>
            <a:r>
              <a:rPr lang="en-US" sz="1200" dirty="0" err="1">
                <a:hlinkClick r:id="rId9"/>
              </a:rPr>
              <a:t>ByteByteGo</a:t>
            </a:r>
            <a:r>
              <a:rPr lang="en-US" sz="1200" dirty="0">
                <a:hlinkClick r:id="rId9"/>
              </a:rPr>
              <a:t> Newsletter</a:t>
            </a:r>
            <a:endParaRPr lang="en-US" sz="1200" dirty="0"/>
          </a:p>
          <a:p>
            <a:pPr marL="12700" marR="5080"/>
            <a:r>
              <a:rPr lang="en-US" sz="1300" dirty="0">
                <a:solidFill>
                  <a:schemeClr val="accent2"/>
                </a:solidFill>
                <a:latin typeface="Google Sans"/>
                <a:ea typeface="+mn-ea"/>
                <a:cs typeface="+mn-cs"/>
              </a:rPr>
              <a:t>Caching Eviction Strategies –</a:t>
            </a:r>
            <a:r>
              <a:rPr lang="en-US" sz="1200" dirty="0">
                <a:solidFill>
                  <a:schemeClr val="accent6"/>
                </a:solidFill>
                <a:latin typeface="Google Sans"/>
                <a:ea typeface="+mn-ea"/>
                <a:cs typeface="+mn-cs"/>
              </a:rPr>
              <a:t>  </a:t>
            </a:r>
            <a:r>
              <a:rPr lang="en-IN" sz="1200" dirty="0">
                <a:hlinkClick r:id="rId10"/>
              </a:rPr>
              <a:t>Cache replacement policies – Wikipedia</a:t>
            </a:r>
            <a:endParaRPr lang="en-IN" sz="1200" dirty="0"/>
          </a:p>
          <a:p>
            <a:pPr marL="12700" marR="5080"/>
            <a:r>
              <a:rPr lang="en-IN" sz="1300" dirty="0">
                <a:solidFill>
                  <a:schemeClr val="accent2"/>
                </a:solidFill>
                <a:latin typeface="Google Sans"/>
                <a:ea typeface="+mn-ea"/>
                <a:cs typeface="+mn-cs"/>
              </a:rPr>
              <a:t>Cache Stampede - </a:t>
            </a:r>
            <a:r>
              <a:rPr lang="en-US" sz="1200" dirty="0">
                <a:hlinkClick r:id="rId11"/>
              </a:rPr>
              <a:t>The Coordinated Omission Problem in the Benchmark Tools</a:t>
            </a:r>
            <a:endParaRPr lang="en-US" sz="1200" dirty="0"/>
          </a:p>
          <a:p>
            <a:pPr marL="12700" marR="5080"/>
            <a:r>
              <a:rPr lang="en-US" sz="1300" dirty="0">
                <a:solidFill>
                  <a:schemeClr val="accent2"/>
                </a:solidFill>
                <a:latin typeface="Google Sans"/>
                <a:ea typeface="+mn-ea"/>
                <a:cs typeface="+mn-cs"/>
              </a:rPr>
              <a:t>Cache Versioning/Busting -</a:t>
            </a:r>
            <a:r>
              <a:rPr lang="en-US" sz="1200" dirty="0">
                <a:solidFill>
                  <a:schemeClr val="accent2"/>
                </a:solidFill>
                <a:latin typeface="Google Sans"/>
                <a:ea typeface="+mn-ea"/>
                <a:cs typeface="+mn-cs"/>
              </a:rPr>
              <a:t> </a:t>
            </a:r>
            <a:r>
              <a:rPr lang="en-US" sz="1200" dirty="0">
                <a:hlinkClick r:id="rId12"/>
              </a:rPr>
              <a:t>The ultimate guide to cache-busting for React production applications | by Max </a:t>
            </a:r>
            <a:r>
              <a:rPr lang="en-US" sz="1200" dirty="0" err="1">
                <a:hlinkClick r:id="rId12"/>
              </a:rPr>
              <a:t>Shahdoost</a:t>
            </a:r>
            <a:r>
              <a:rPr lang="en-US" sz="1200" dirty="0">
                <a:hlinkClick r:id="rId12"/>
              </a:rPr>
              <a:t> | Medium</a:t>
            </a:r>
            <a:r>
              <a:rPr lang="en-US" sz="1200" dirty="0"/>
              <a:t> &amp; </a:t>
            </a:r>
            <a:r>
              <a:rPr lang="en-US" sz="1200" dirty="0">
                <a:hlinkClick r:id="rId13"/>
              </a:rPr>
              <a:t>Strategies for Cache-Busting CSS | CSS-Tricks</a:t>
            </a:r>
            <a:endParaRPr lang="en-IN" sz="1200" dirty="0">
              <a:solidFill>
                <a:schemeClr val="accent2"/>
              </a:solidFill>
              <a:latin typeface="Google Sans"/>
              <a:ea typeface="+mn-ea"/>
              <a:cs typeface="+mn-cs"/>
            </a:endParaRPr>
          </a:p>
          <a:p>
            <a:pPr marL="12700" marR="5080"/>
            <a:r>
              <a:rPr lang="en-US" sz="1500" dirty="0">
                <a:solidFill>
                  <a:schemeClr val="accent2"/>
                </a:solidFill>
                <a:latin typeface="Google Sans"/>
                <a:ea typeface="+mn-ea"/>
                <a:cs typeface="+mn-cs"/>
              </a:rPr>
              <a:t>For Further Exploration-</a:t>
            </a:r>
          </a:p>
          <a:p>
            <a:pPr marL="12700" marR="5080"/>
            <a:r>
              <a:rPr lang="en-US" sz="1000" dirty="0">
                <a:hlinkClick r:id="rId14"/>
              </a:rPr>
              <a:t>Optimizing Distributed Cache for Read-Heavy vs. Write-Heavy Workloads with Docker</a:t>
            </a:r>
            <a:endParaRPr lang="en-US" sz="1000" dirty="0"/>
          </a:p>
          <a:p>
            <a:pPr marL="12700" marR="5080"/>
            <a:r>
              <a:rPr lang="en-US" sz="1000" dirty="0" err="1">
                <a:hlinkClick r:id="rId15"/>
              </a:rPr>
              <a:t>HybridCache</a:t>
            </a:r>
            <a:r>
              <a:rPr lang="en-US" sz="1000" dirty="0">
                <a:hlinkClick r:id="rId15"/>
              </a:rPr>
              <a:t> in ASP.NET Core - New Caching Library</a:t>
            </a:r>
            <a:endParaRPr lang="en-US" sz="1000" dirty="0"/>
          </a:p>
          <a:p>
            <a:pPr marL="12700" marR="5080"/>
            <a:r>
              <a:rPr lang="en-US" sz="1500" dirty="0">
                <a:solidFill>
                  <a:schemeClr val="accent2"/>
                </a:solidFill>
                <a:latin typeface="Google Sans"/>
                <a:ea typeface="+mn-ea"/>
                <a:cs typeface="+mn-cs"/>
              </a:rPr>
              <a:t>4) Web UI Tuning – </a:t>
            </a:r>
          </a:p>
          <a:p>
            <a:pPr marL="12700" marR="5080"/>
            <a:r>
              <a:rPr lang="en-US" sz="1500" dirty="0">
                <a:solidFill>
                  <a:schemeClr val="accent6"/>
                </a:solidFill>
                <a:latin typeface="Google Sans"/>
                <a:ea typeface="+mn-ea"/>
                <a:cs typeface="+mn-cs"/>
              </a:rPr>
              <a:t>Bundling &amp; Minification</a:t>
            </a:r>
          </a:p>
          <a:p>
            <a:pPr marL="12700" marR="5080"/>
            <a:r>
              <a:rPr lang="en-US" sz="1500" dirty="0">
                <a:solidFill>
                  <a:schemeClr val="accent6"/>
                </a:solidFill>
                <a:latin typeface="Google Sans"/>
                <a:ea typeface="+mn-ea"/>
                <a:cs typeface="+mn-cs"/>
              </a:rPr>
              <a:t>Compression</a:t>
            </a:r>
          </a:p>
          <a:p>
            <a:pPr marL="12700" marR="5080"/>
            <a:r>
              <a:rPr lang="en-US" sz="1500" dirty="0">
                <a:solidFill>
                  <a:schemeClr val="accent6"/>
                </a:solidFill>
                <a:latin typeface="Google Sans"/>
                <a:ea typeface="+mn-ea"/>
                <a:cs typeface="+mn-cs"/>
              </a:rPr>
              <a:t>Pre-Fetching</a:t>
            </a:r>
          </a:p>
          <a:p>
            <a:pPr marL="12700" marR="5080"/>
            <a:r>
              <a:rPr lang="en-US" sz="1500" dirty="0">
                <a:solidFill>
                  <a:schemeClr val="accent6"/>
                </a:solidFill>
                <a:latin typeface="Google Sans"/>
                <a:ea typeface="+mn-ea"/>
                <a:cs typeface="+mn-cs"/>
              </a:rPr>
              <a:t>CDN</a:t>
            </a:r>
          </a:p>
          <a:p>
            <a:pPr marL="12700" marR="5080"/>
            <a:r>
              <a:rPr lang="en-US" sz="1500" dirty="0">
                <a:solidFill>
                  <a:schemeClr val="accent6"/>
                </a:solidFill>
                <a:latin typeface="Google Sans"/>
                <a:ea typeface="+mn-ea"/>
                <a:cs typeface="+mn-cs"/>
              </a:rPr>
              <a:t>Http/Web Caching</a:t>
            </a:r>
          </a:p>
          <a:p>
            <a:pPr marL="12700" marR="5080"/>
            <a:r>
              <a:rPr lang="en-US" sz="1500" dirty="0">
                <a:solidFill>
                  <a:schemeClr val="accent6"/>
                </a:solidFill>
                <a:latin typeface="Google Sans"/>
                <a:ea typeface="+mn-ea"/>
                <a:cs typeface="+mn-cs"/>
              </a:rPr>
              <a:t>Cache Control &amp; Expires</a:t>
            </a:r>
          </a:p>
          <a:p>
            <a:pPr marL="12700" marR="5080"/>
            <a:r>
              <a:rPr lang="en-US" sz="1500" dirty="0" err="1">
                <a:solidFill>
                  <a:schemeClr val="accent6"/>
                </a:solidFill>
                <a:latin typeface="Google Sans"/>
                <a:ea typeface="+mn-ea"/>
                <a:cs typeface="+mn-cs"/>
              </a:rPr>
              <a:t>Etag</a:t>
            </a:r>
            <a:r>
              <a:rPr lang="en-US" sz="1500" dirty="0">
                <a:solidFill>
                  <a:schemeClr val="accent6"/>
                </a:solidFill>
                <a:latin typeface="Google Sans"/>
                <a:ea typeface="+mn-ea"/>
                <a:cs typeface="+mn-cs"/>
              </a:rPr>
              <a:t>/Last Modified - </a:t>
            </a:r>
            <a:r>
              <a:rPr lang="en-US" sz="1300" dirty="0">
                <a:hlinkClick r:id="rId16"/>
              </a:rPr>
              <a:t>Which one to use : Expire Header, Last Modified Header or ETags - Stack Overflow</a:t>
            </a:r>
            <a:endParaRPr lang="en-US" sz="1300" dirty="0">
              <a:solidFill>
                <a:schemeClr val="accent6"/>
              </a:solidFill>
              <a:latin typeface="Google Sans"/>
              <a:ea typeface="+mn-ea"/>
              <a:cs typeface="+mn-cs"/>
            </a:endParaRPr>
          </a:p>
          <a:p>
            <a:endParaRPr lang="en-US" sz="1500" dirty="0">
              <a:solidFill>
                <a:schemeClr val="accent6"/>
              </a:solidFill>
              <a:latin typeface="Google Sans"/>
              <a:ea typeface="+mn-ea"/>
              <a:cs typeface="+mn-cs"/>
            </a:endParaRPr>
          </a:p>
          <a:p>
            <a:endParaRPr lang="en-US" sz="1500" dirty="0">
              <a:solidFill>
                <a:schemeClr val="accent6"/>
              </a:solidFill>
              <a:latin typeface="Google Sans"/>
              <a:ea typeface="+mn-ea"/>
              <a:cs typeface="+mn-cs"/>
            </a:endParaRPr>
          </a:p>
          <a:p>
            <a:endParaRPr lang="en-US" sz="1300" dirty="0">
              <a:solidFill>
                <a:schemeClr val="accent6"/>
              </a:solidFill>
              <a:latin typeface="Google Sans"/>
              <a:ea typeface="+mn-ea"/>
              <a:cs typeface="+mn-cs"/>
            </a:endParaRPr>
          </a:p>
        </p:txBody>
      </p:sp>
    </p:spTree>
    <p:extLst>
      <p:ext uri="{BB962C8B-B14F-4D97-AF65-F5344CB8AC3E}">
        <p14:creationId xmlns:p14="http://schemas.microsoft.com/office/powerpoint/2010/main" val="13773687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225D6-1BAA-7D53-2E3F-D3302A0C4F7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A593846-F157-3336-DA3C-4D205CF7A9A8}"/>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3E2214B-8404-5CC0-C5B5-BD9476359CA0}"/>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5F00A81-A61B-7C84-6382-1852873CCE06}"/>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3996A0F1-D348-48D5-DD7F-A5977C1ED94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5B6A1148-9846-0F75-32D2-55AB092F84E8}"/>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B900B41F-AE40-9169-8FFF-7130E79D5EC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175D696A-E938-BDBC-BCB8-8D7CEF4B9C7E}"/>
              </a:ext>
            </a:extLst>
          </p:cNvPr>
          <p:cNvSpPr txBox="1">
            <a:spLocks/>
          </p:cNvSpPr>
          <p:nvPr/>
        </p:nvSpPr>
        <p:spPr>
          <a:xfrm>
            <a:off x="91363" y="788343"/>
            <a:ext cx="8624937" cy="266226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Response Time Improvement</a:t>
            </a:r>
          </a:p>
          <a:p>
            <a:pPr marL="12700" marR="5080"/>
            <a:r>
              <a:rPr lang="en-US" sz="2000" kern="0" spc="-80" dirty="0">
                <a:solidFill>
                  <a:schemeClr val="accent2"/>
                </a:solidFill>
                <a:latin typeface="Google Sans"/>
              </a:rPr>
              <a:t>For Further Exploration - </a:t>
            </a:r>
          </a:p>
          <a:p>
            <a:pPr marL="12700" marR="5080"/>
            <a:r>
              <a:rPr lang="en-US" sz="1500" dirty="0">
                <a:hlinkClick r:id="rId7"/>
              </a:rPr>
              <a:t>Frontend Optimization - 9 Tips to Improve Web Performance – </a:t>
            </a:r>
            <a:r>
              <a:rPr lang="en-US" sz="1500" dirty="0" err="1">
                <a:hlinkClick r:id="rId7"/>
              </a:rPr>
              <a:t>KeyCDN</a:t>
            </a:r>
            <a:endParaRPr lang="en-US" sz="1500" dirty="0"/>
          </a:p>
          <a:p>
            <a:pPr marL="12700" marR="5080"/>
            <a:r>
              <a:rPr lang="en-US" sz="1500" dirty="0">
                <a:hlinkClick r:id="rId8"/>
              </a:rPr>
              <a:t>Data Fetching Patterns in Single-Page Applications</a:t>
            </a:r>
            <a:endParaRPr lang="en-US" sz="1500" dirty="0"/>
          </a:p>
          <a:p>
            <a:pPr marL="12700" marR="5080"/>
            <a:r>
              <a:rPr lang="en-IN" sz="1500" dirty="0">
                <a:hlinkClick r:id="rId9"/>
              </a:rPr>
              <a:t>API Pagination | Feed | LinkedIn</a:t>
            </a:r>
            <a:endParaRPr lang="en-IN" sz="1500" dirty="0"/>
          </a:p>
          <a:p>
            <a:pPr marL="12700" marR="5080"/>
            <a:r>
              <a:rPr lang="en-IN" sz="1500" dirty="0">
                <a:hlinkClick r:id="rId10"/>
              </a:rPr>
              <a:t>Others saying slow but it’s fast for me| LinkedIn</a:t>
            </a:r>
            <a:endParaRPr lang="en-IN" sz="1500" dirty="0"/>
          </a:p>
          <a:p>
            <a:pPr marL="12700" marR="5080"/>
            <a:r>
              <a:rPr lang="en-US" sz="1500" dirty="0">
                <a:hlinkClick r:id="rId11"/>
              </a:rPr>
              <a:t>ASP.NET-Core-1.0-High-Performance: ASP.NET Core 1.0 High Performance</a:t>
            </a:r>
            <a:endParaRPr lang="en-US" sz="1500" dirty="0"/>
          </a:p>
          <a:p>
            <a:pPr marL="12700" marR="5080"/>
            <a:r>
              <a:rPr lang="en-US" sz="1500" dirty="0">
                <a:hlinkClick r:id="rId12"/>
              </a:rPr>
              <a:t>Best practices for improving performance using Azure Service Busz</a:t>
            </a:r>
            <a:endParaRPr lang="en-US" sz="1500" kern="0" spc="-80" dirty="0">
              <a:solidFill>
                <a:schemeClr val="accent6"/>
              </a:solidFill>
            </a:endParaRPr>
          </a:p>
          <a:p>
            <a:endParaRPr lang="en-US" sz="1500" dirty="0">
              <a:solidFill>
                <a:schemeClr val="accent6"/>
              </a:solidFill>
              <a:latin typeface="Google Sans"/>
              <a:ea typeface="+mn-ea"/>
              <a:cs typeface="+mn-cs"/>
            </a:endParaRPr>
          </a:p>
          <a:p>
            <a:endParaRPr lang="en-US" sz="1500" dirty="0">
              <a:solidFill>
                <a:schemeClr val="accent6"/>
              </a:solidFill>
              <a:latin typeface="Google Sans"/>
              <a:ea typeface="+mn-ea"/>
              <a:cs typeface="+mn-cs"/>
            </a:endParaRPr>
          </a:p>
          <a:p>
            <a:endParaRPr lang="en-US" sz="1300" dirty="0">
              <a:solidFill>
                <a:schemeClr val="accent6"/>
              </a:solidFill>
              <a:latin typeface="Google Sans"/>
              <a:ea typeface="+mn-ea"/>
              <a:cs typeface="+mn-cs"/>
            </a:endParaRPr>
          </a:p>
        </p:txBody>
      </p:sp>
    </p:spTree>
    <p:extLst>
      <p:ext uri="{BB962C8B-B14F-4D97-AF65-F5344CB8AC3E}">
        <p14:creationId xmlns:p14="http://schemas.microsoft.com/office/powerpoint/2010/main" val="998173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01BC0-1C41-8687-6315-A0137E72DCB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188CF42-E0EC-F6C8-7E1C-0C6A4C7F0495}"/>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8EA3205-1AF5-E21C-18D1-9677A132FF26}"/>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1ABCA27-0205-932E-3A06-E57802170C0A}"/>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64345A9C-DA8D-E915-1289-DB5593953CAA}"/>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9FD18CF8-6CEE-C13C-ECB6-6FF0BF4BF7C7}"/>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7EE3A93A-64DF-9826-71E7-196F9B8C548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451C5E17-BE5E-1F00-B95C-2D565DCA976D}"/>
              </a:ext>
            </a:extLst>
          </p:cNvPr>
          <p:cNvSpPr txBox="1">
            <a:spLocks/>
          </p:cNvSpPr>
          <p:nvPr/>
        </p:nvSpPr>
        <p:spPr>
          <a:xfrm>
            <a:off x="91363" y="788343"/>
            <a:ext cx="8624937" cy="561692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Resource Utilization &amp; ways to improve it – </a:t>
            </a:r>
          </a:p>
          <a:p>
            <a:r>
              <a:rPr lang="en-US" sz="1500" dirty="0" err="1">
                <a:solidFill>
                  <a:schemeClr val="accent6"/>
                </a:solidFill>
                <a:latin typeface="Google Sans"/>
                <a:ea typeface="+mn-ea"/>
                <a:cs typeface="+mn-cs"/>
              </a:rPr>
              <a:t>Ckecking</a:t>
            </a:r>
            <a:r>
              <a:rPr lang="en-US" sz="1500" dirty="0">
                <a:solidFill>
                  <a:schemeClr val="accent6"/>
                </a:solidFill>
                <a:latin typeface="Google Sans"/>
                <a:ea typeface="+mn-ea"/>
                <a:cs typeface="+mn-cs"/>
              </a:rPr>
              <a:t> if some resource(RAM, </a:t>
            </a:r>
            <a:r>
              <a:rPr lang="en-US" sz="1500" dirty="0" err="1">
                <a:solidFill>
                  <a:schemeClr val="accent6"/>
                </a:solidFill>
                <a:latin typeface="Google Sans"/>
                <a:ea typeface="+mn-ea"/>
                <a:cs typeface="+mn-cs"/>
              </a:rPr>
              <a:t>HardDisk</a:t>
            </a:r>
            <a:r>
              <a:rPr lang="en-US" sz="1500" dirty="0">
                <a:solidFill>
                  <a:schemeClr val="accent6"/>
                </a:solidFill>
                <a:latin typeface="Google Sans"/>
                <a:ea typeface="+mn-ea"/>
                <a:cs typeface="+mn-cs"/>
              </a:rPr>
              <a:t>, CPU or Network) is getting overutilized </a:t>
            </a:r>
            <a:r>
              <a:rPr lang="en-US" sz="1500" dirty="0" err="1">
                <a:solidFill>
                  <a:schemeClr val="accent6"/>
                </a:solidFill>
                <a:latin typeface="Google Sans"/>
                <a:ea typeface="+mn-ea"/>
                <a:cs typeface="+mn-cs"/>
              </a:rPr>
              <a:t>w.r.t.</a:t>
            </a:r>
            <a:r>
              <a:rPr lang="en-US" sz="1500" dirty="0">
                <a:solidFill>
                  <a:schemeClr val="accent6"/>
                </a:solidFill>
                <a:latin typeface="Google Sans"/>
                <a:ea typeface="+mn-ea"/>
                <a:cs typeface="+mn-cs"/>
              </a:rPr>
              <a:t> some metric beyond the threshold limit.</a:t>
            </a:r>
          </a:p>
          <a:p>
            <a:r>
              <a:rPr lang="en-US" sz="1500" dirty="0">
                <a:solidFill>
                  <a:schemeClr val="accent2"/>
                </a:solidFill>
                <a:latin typeface="Google Sans"/>
                <a:ea typeface="+mn-ea"/>
                <a:cs typeface="+mn-cs"/>
              </a:rPr>
              <a:t>RAM Optimization - </a:t>
            </a:r>
          </a:p>
          <a:p>
            <a:r>
              <a:rPr lang="en-US" sz="1500" dirty="0">
                <a:solidFill>
                  <a:schemeClr val="accent2"/>
                </a:solidFill>
                <a:latin typeface="Google Sans"/>
                <a:ea typeface="+mn-ea"/>
                <a:cs typeface="+mn-cs"/>
              </a:rPr>
              <a:t>1) Garbage Collection Optimization </a:t>
            </a:r>
            <a:r>
              <a:rPr lang="en-US" sz="1500" dirty="0">
                <a:solidFill>
                  <a:schemeClr val="accent6"/>
                </a:solidFill>
                <a:latin typeface="Google Sans"/>
                <a:ea typeface="+mn-ea"/>
                <a:cs typeface="+mn-cs"/>
              </a:rPr>
              <a:t>– Refer Garbage Collection slide(s) of Programming For HTLL Systems deck(mainly for memory leaks issues)</a:t>
            </a:r>
          </a:p>
          <a:p>
            <a:pPr marL="342900" indent="-342900">
              <a:buAutoNum type="arabicParenR"/>
            </a:pPr>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2) Use Chunking &amp; Streaming Techniques if needed(e.g. you face OOM[Out of Memory] Exception)</a:t>
            </a:r>
          </a:p>
          <a:p>
            <a:r>
              <a:rPr lang="en-US" sz="1500" dirty="0">
                <a:solidFill>
                  <a:schemeClr val="accent6"/>
                </a:solidFill>
                <a:latin typeface="Google Sans"/>
                <a:ea typeface="+mn-ea"/>
                <a:cs typeface="+mn-cs"/>
              </a:rPr>
              <a:t>Let’s say you are given below requirements – </a:t>
            </a:r>
          </a:p>
          <a:p>
            <a:r>
              <a:rPr lang="en-US" sz="1500" dirty="0">
                <a:solidFill>
                  <a:schemeClr val="accent6"/>
                </a:solidFill>
                <a:latin typeface="Google Sans"/>
                <a:ea typeface="+mn-ea"/>
                <a:cs typeface="+mn-cs"/>
              </a:rPr>
              <a:t>Server “A” needing a 1TB file to be processed but having only 1GB RAM</a:t>
            </a:r>
          </a:p>
          <a:p>
            <a:r>
              <a:rPr lang="en-US" sz="1500" dirty="0">
                <a:solidFill>
                  <a:schemeClr val="accent6"/>
                </a:solidFill>
                <a:latin typeface="Google Sans"/>
                <a:ea typeface="+mn-ea"/>
                <a:cs typeface="+mn-cs"/>
              </a:rPr>
              <a:t>Another server “B” is there with &gt; 1TB </a:t>
            </a:r>
            <a:r>
              <a:rPr lang="en-US" sz="1500" dirty="0" err="1">
                <a:solidFill>
                  <a:schemeClr val="accent6"/>
                </a:solidFill>
                <a:latin typeface="Google Sans"/>
                <a:ea typeface="+mn-ea"/>
                <a:cs typeface="+mn-cs"/>
              </a:rPr>
              <a:t>HardDisk</a:t>
            </a:r>
            <a:r>
              <a:rPr lang="en-US" sz="1500" dirty="0">
                <a:solidFill>
                  <a:schemeClr val="accent6"/>
                </a:solidFill>
                <a:latin typeface="Google Sans"/>
                <a:ea typeface="+mn-ea"/>
                <a:cs typeface="+mn-cs"/>
              </a:rPr>
              <a:t> size</a:t>
            </a:r>
          </a:p>
          <a:p>
            <a:r>
              <a:rPr lang="en-US" sz="1500" dirty="0">
                <a:solidFill>
                  <a:schemeClr val="accent6"/>
                </a:solidFill>
                <a:latin typeface="Google Sans"/>
                <a:ea typeface="+mn-ea"/>
                <a:cs typeface="+mn-cs"/>
              </a:rPr>
              <a:t>How do you split the 1TB file in Server A into 1K 1GB files &amp; put them in server B using server A as the </a:t>
            </a:r>
          </a:p>
          <a:p>
            <a:r>
              <a:rPr lang="en-US" sz="1500" dirty="0">
                <a:solidFill>
                  <a:schemeClr val="accent6"/>
                </a:solidFill>
                <a:latin typeface="Google Sans"/>
                <a:ea typeface="+mn-ea"/>
                <a:cs typeface="+mn-cs"/>
              </a:rPr>
              <a:t>processing server?</a:t>
            </a:r>
          </a:p>
          <a:p>
            <a:r>
              <a:rPr lang="en-US" sz="1500" dirty="0">
                <a:solidFill>
                  <a:schemeClr val="accent6"/>
                </a:solidFill>
                <a:latin typeface="Google Sans"/>
                <a:ea typeface="+mn-ea"/>
                <a:cs typeface="+mn-cs"/>
              </a:rPr>
              <a:t>Hint - </a:t>
            </a:r>
            <a:r>
              <a:rPr lang="en-US" sz="1500" dirty="0" err="1">
                <a:hlinkClick r:id="rId7"/>
              </a:rPr>
              <a:t>c#</a:t>
            </a:r>
            <a:r>
              <a:rPr lang="en-US" sz="1500" dirty="0">
                <a:hlinkClick r:id="rId7"/>
              </a:rPr>
              <a:t> - How to load large files with </a:t>
            </a:r>
            <a:r>
              <a:rPr lang="en-US" sz="1500" dirty="0" err="1">
                <a:hlinkClick r:id="rId7"/>
              </a:rPr>
              <a:t>StreamReader</a:t>
            </a:r>
            <a:r>
              <a:rPr lang="en-US" sz="1500" dirty="0">
                <a:hlinkClick r:id="rId7"/>
              </a:rPr>
              <a:t> in chunks? - Stack Overflow</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CPU Optimization - </a:t>
            </a:r>
          </a:p>
          <a:p>
            <a:r>
              <a:rPr lang="en-US" sz="1500" dirty="0">
                <a:solidFill>
                  <a:schemeClr val="accent6"/>
                </a:solidFill>
                <a:latin typeface="Google Sans"/>
                <a:ea typeface="+mn-ea"/>
                <a:cs typeface="+mn-cs"/>
              </a:rPr>
              <a:t>May get </a:t>
            </a:r>
            <a:r>
              <a:rPr lang="en-US" sz="1500" dirty="0" err="1">
                <a:solidFill>
                  <a:schemeClr val="accent6"/>
                </a:solidFill>
                <a:latin typeface="Google Sans"/>
                <a:ea typeface="+mn-ea"/>
                <a:cs typeface="+mn-cs"/>
              </a:rPr>
              <a:t>StackOverFlow</a:t>
            </a:r>
            <a:r>
              <a:rPr lang="en-US" sz="1500" dirty="0">
                <a:solidFill>
                  <a:schemeClr val="accent6"/>
                </a:solidFill>
                <a:latin typeface="Google Sans"/>
                <a:ea typeface="+mn-ea"/>
                <a:cs typeface="+mn-cs"/>
              </a:rPr>
              <a:t> Exception(sometime some irrelevant exception also shows up) if the CPU gets utilized too much. Mainly happens(in continuously running schedulers) due to tight loop issue wherein the CPU continuously runs the loop &amp; at some point reaches 100% utilization. To fix the issue, introduce a </a:t>
            </a:r>
            <a:r>
              <a:rPr lang="en-US" sz="1500" dirty="0" err="1">
                <a:solidFill>
                  <a:schemeClr val="accent6"/>
                </a:solidFill>
                <a:latin typeface="Google Sans"/>
                <a:ea typeface="+mn-ea"/>
                <a:cs typeface="+mn-cs"/>
              </a:rPr>
              <a:t>Thread.Sleep</a:t>
            </a:r>
            <a:r>
              <a:rPr lang="en-US" sz="1500" dirty="0">
                <a:solidFill>
                  <a:schemeClr val="accent6"/>
                </a:solidFill>
                <a:latin typeface="Google Sans"/>
                <a:ea typeface="+mn-ea"/>
                <a:cs typeface="+mn-cs"/>
              </a:rPr>
              <a:t>(1) within the loop at the end, to make the CPU relax for sometime. And </a:t>
            </a:r>
            <a:r>
              <a:rPr lang="en-US" sz="1500" dirty="0" err="1">
                <a:solidFill>
                  <a:schemeClr val="accent6"/>
                </a:solidFill>
                <a:latin typeface="Google Sans"/>
                <a:ea typeface="+mn-ea"/>
                <a:cs typeface="+mn-cs"/>
              </a:rPr>
              <a:t>ofcourse</a:t>
            </a:r>
            <a:r>
              <a:rPr lang="en-US" sz="1500" dirty="0">
                <a:solidFill>
                  <a:schemeClr val="accent6"/>
                </a:solidFill>
                <a:latin typeface="Google Sans"/>
                <a:ea typeface="+mn-ea"/>
                <a:cs typeface="+mn-cs"/>
              </a:rPr>
              <a:t> Multi-Core Parallelism can be used to make computations fasters. Also, Concurrent Programming/Multi-Threading techniques can be used to boost CPU Performance.</a:t>
            </a:r>
          </a:p>
          <a:p>
            <a:endParaRPr lang="en-US" sz="1500" dirty="0">
              <a:solidFill>
                <a:schemeClr val="accent6"/>
              </a:solidFill>
              <a:latin typeface="Google Sans"/>
              <a:ea typeface="+mn-ea"/>
              <a:cs typeface="+mn-cs"/>
            </a:endParaRP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36825004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0AE02-44AD-373D-9779-6081366157C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968DB6B-7661-9EC9-083E-6C6825DD83DA}"/>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EFC4770-5754-2288-A260-758AF621FD81}"/>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973170F-ED99-94B5-303E-238AE28A35AB}"/>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C8399B74-0F24-7DF6-0C53-E890843F607A}"/>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72A1DB4B-9371-7D57-C6AF-9CAB1723ED33}"/>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4F91F83-753B-42F4-5E19-33D9774A93B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45E3FBF3-90CA-6BA8-01E4-7AC8098D04B0}"/>
              </a:ext>
            </a:extLst>
          </p:cNvPr>
          <p:cNvSpPr txBox="1">
            <a:spLocks/>
          </p:cNvSpPr>
          <p:nvPr/>
        </p:nvSpPr>
        <p:spPr>
          <a:xfrm>
            <a:off x="91363" y="788343"/>
            <a:ext cx="8624937" cy="324704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Resource Utilization &amp; ways to improve it – </a:t>
            </a:r>
          </a:p>
          <a:p>
            <a:r>
              <a:rPr lang="en-US" sz="1500" dirty="0">
                <a:solidFill>
                  <a:schemeClr val="accent2"/>
                </a:solidFill>
                <a:latin typeface="Google Sans"/>
                <a:ea typeface="+mn-ea"/>
                <a:cs typeface="+mn-cs"/>
              </a:rPr>
              <a:t>Network &amp; </a:t>
            </a:r>
            <a:r>
              <a:rPr lang="en-US" sz="1500" dirty="0" err="1">
                <a:solidFill>
                  <a:schemeClr val="accent2"/>
                </a:solidFill>
                <a:latin typeface="Google Sans"/>
                <a:ea typeface="+mn-ea"/>
                <a:cs typeface="+mn-cs"/>
              </a:rPr>
              <a:t>HardDisk</a:t>
            </a:r>
            <a:r>
              <a:rPr lang="en-US" sz="1500" dirty="0">
                <a:solidFill>
                  <a:schemeClr val="accent2"/>
                </a:solidFill>
                <a:latin typeface="Google Sans"/>
                <a:ea typeface="+mn-ea"/>
                <a:cs typeface="+mn-cs"/>
              </a:rPr>
              <a:t> (&amp; DB) IO Optimization- </a:t>
            </a:r>
          </a:p>
          <a:p>
            <a:r>
              <a:rPr lang="en-US" sz="1500" dirty="0">
                <a:solidFill>
                  <a:schemeClr val="accent6"/>
                </a:solidFill>
                <a:latin typeface="Google Sans"/>
                <a:ea typeface="+mn-ea"/>
                <a:cs typeface="+mn-cs"/>
              </a:rPr>
              <a:t>Use async/await(refer Async/Await slides of Programming Paradigms training)</a:t>
            </a:r>
          </a:p>
          <a:p>
            <a:r>
              <a:rPr lang="en-US" sz="1500" dirty="0">
                <a:solidFill>
                  <a:schemeClr val="accent6"/>
                </a:solidFill>
                <a:latin typeface="Google Sans"/>
                <a:ea typeface="+mn-ea"/>
                <a:cs typeface="+mn-cs"/>
              </a:rPr>
              <a:t>Use Bulk Operations/Batch Processing wherever possible</a:t>
            </a:r>
          </a:p>
          <a:p>
            <a:r>
              <a:rPr lang="en-US" sz="1500" dirty="0">
                <a:solidFill>
                  <a:schemeClr val="accent6"/>
                </a:solidFill>
                <a:latin typeface="Google Sans"/>
                <a:ea typeface="+mn-ea"/>
                <a:cs typeface="+mn-cs"/>
              </a:rPr>
              <a:t>If possible, use Parallel Async IO</a:t>
            </a:r>
          </a:p>
          <a:p>
            <a:r>
              <a:rPr lang="en-US" sz="1500" dirty="0">
                <a:solidFill>
                  <a:schemeClr val="accent2"/>
                </a:solidFill>
                <a:latin typeface="Google Sans"/>
                <a:ea typeface="+mn-ea"/>
                <a:cs typeface="+mn-cs"/>
              </a:rPr>
              <a:t>Other Network &amp; </a:t>
            </a:r>
            <a:r>
              <a:rPr lang="en-US" sz="1500" dirty="0" err="1">
                <a:solidFill>
                  <a:schemeClr val="accent2"/>
                </a:solidFill>
                <a:latin typeface="Google Sans"/>
                <a:ea typeface="+mn-ea"/>
                <a:cs typeface="+mn-cs"/>
              </a:rPr>
              <a:t>HardDisk</a:t>
            </a:r>
            <a:r>
              <a:rPr lang="en-US" sz="1500" dirty="0">
                <a:solidFill>
                  <a:schemeClr val="accent2"/>
                </a:solidFill>
                <a:latin typeface="Google Sans"/>
                <a:ea typeface="+mn-ea"/>
                <a:cs typeface="+mn-cs"/>
              </a:rPr>
              <a:t>(&amp; DB) Optimization – </a:t>
            </a:r>
          </a:p>
          <a:p>
            <a:r>
              <a:rPr lang="en-US" sz="1500" dirty="0">
                <a:solidFill>
                  <a:schemeClr val="accent6"/>
                </a:solidFill>
                <a:latin typeface="Google Sans"/>
                <a:ea typeface="+mn-ea"/>
                <a:cs typeface="+mn-cs"/>
              </a:rPr>
              <a:t>Other Network &amp; </a:t>
            </a:r>
            <a:r>
              <a:rPr lang="en-US" sz="1500" dirty="0" err="1">
                <a:solidFill>
                  <a:schemeClr val="accent6"/>
                </a:solidFill>
                <a:latin typeface="Google Sans"/>
                <a:ea typeface="+mn-ea"/>
                <a:cs typeface="+mn-cs"/>
              </a:rPr>
              <a:t>HardDisk</a:t>
            </a:r>
            <a:r>
              <a:rPr lang="en-US" sz="1500" dirty="0">
                <a:solidFill>
                  <a:schemeClr val="accent6"/>
                </a:solidFill>
                <a:latin typeface="Google Sans"/>
                <a:ea typeface="+mn-ea"/>
                <a:cs typeface="+mn-cs"/>
              </a:rPr>
              <a:t> performance issues(e.g. fragmentation </a:t>
            </a:r>
            <a:r>
              <a:rPr lang="en-US" sz="1500" dirty="0" err="1">
                <a:solidFill>
                  <a:schemeClr val="accent6"/>
                </a:solidFill>
                <a:latin typeface="Google Sans"/>
                <a:ea typeface="+mn-ea"/>
                <a:cs typeface="+mn-cs"/>
              </a:rPr>
              <a:t>etc</a:t>
            </a:r>
            <a:r>
              <a:rPr lang="en-US" sz="1500" dirty="0">
                <a:solidFill>
                  <a:schemeClr val="accent6"/>
                </a:solidFill>
                <a:latin typeface="Google Sans"/>
                <a:ea typeface="+mn-ea"/>
                <a:cs typeface="+mn-cs"/>
              </a:rPr>
              <a:t>) needs to be checked separately. Most of these other issues are concerns of Infra, DBA etc. teams though.</a:t>
            </a:r>
          </a:p>
          <a:p>
            <a:endParaRPr lang="en-US" sz="1500" dirty="0">
              <a:solidFill>
                <a:schemeClr val="accent6"/>
              </a:solidFill>
              <a:latin typeface="Google Sans"/>
              <a:ea typeface="+mn-ea"/>
              <a:cs typeface="+mn-cs"/>
            </a:endParaRPr>
          </a:p>
          <a:p>
            <a:r>
              <a:rPr lang="en-US" sz="1700" dirty="0">
                <a:solidFill>
                  <a:schemeClr val="accent2"/>
                </a:solidFill>
                <a:latin typeface="Google Sans"/>
              </a:rPr>
              <a:t>For Further Exploration – </a:t>
            </a:r>
          </a:p>
          <a:p>
            <a:r>
              <a:rPr lang="en-US" sz="1300" dirty="0">
                <a:hlinkClick r:id="rId7"/>
              </a:rPr>
              <a:t>What is http multipart request? - Stack Overflow</a:t>
            </a:r>
            <a:endParaRPr lang="en-US" sz="1300" dirty="0"/>
          </a:p>
          <a:p>
            <a:r>
              <a:rPr lang="en-US" sz="1300" dirty="0" err="1">
                <a:hlinkClick r:id="rId8"/>
              </a:rPr>
              <a:t>c#</a:t>
            </a:r>
            <a:r>
              <a:rPr lang="en-US" sz="1300" dirty="0">
                <a:hlinkClick r:id="rId8"/>
              </a:rPr>
              <a:t> - How do I download a large file (via HTTP) in .NET? - Stack Overflow</a:t>
            </a:r>
            <a:endParaRPr lang="en-US" sz="1300" dirty="0"/>
          </a:p>
          <a:p>
            <a:endParaRPr lang="en-US" sz="1500" dirty="0">
              <a:solidFill>
                <a:schemeClr val="accent6"/>
              </a:solidFill>
              <a:latin typeface="Google Sans"/>
              <a:ea typeface="+mn-ea"/>
              <a:cs typeface="+mn-cs"/>
            </a:endParaRPr>
          </a:p>
          <a:p>
            <a:endParaRPr lang="en-US" sz="1300" dirty="0">
              <a:solidFill>
                <a:schemeClr val="accent6"/>
              </a:solidFill>
              <a:latin typeface="Google Sans"/>
              <a:ea typeface="+mn-ea"/>
              <a:cs typeface="+mn-cs"/>
            </a:endParaRPr>
          </a:p>
        </p:txBody>
      </p:sp>
    </p:spTree>
    <p:extLst>
      <p:ext uri="{BB962C8B-B14F-4D97-AF65-F5344CB8AC3E}">
        <p14:creationId xmlns:p14="http://schemas.microsoft.com/office/powerpoint/2010/main" val="406498854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5FF5A-8F25-25DC-210B-7EB5FC425D6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0EE9EE3-63A2-CB3A-5188-93C777FDE5FD}"/>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16D65D0-BBDB-E820-6A0A-CE8A34491FDA}"/>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484858B-57DD-3E4B-4A14-B783DB2F0973}"/>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955E0C26-EB80-1183-2C06-0E8F20024555}"/>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336EF975-AD07-3019-1E79-3698098C7CF5}"/>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4B84CCB-DD48-7692-CD24-8850FAA01D58}"/>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0A04B20E-8B48-4291-1F30-066D4061D99E}"/>
              </a:ext>
            </a:extLst>
          </p:cNvPr>
          <p:cNvSpPr txBox="1">
            <a:spLocks/>
          </p:cNvSpPr>
          <p:nvPr/>
        </p:nvSpPr>
        <p:spPr>
          <a:xfrm>
            <a:off x="91363" y="788343"/>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Throughput &amp; Latency</a:t>
            </a:r>
          </a:p>
        </p:txBody>
      </p:sp>
      <p:pic>
        <p:nvPicPr>
          <p:cNvPr id="9" name="Picture 8">
            <a:extLst>
              <a:ext uri="{FF2B5EF4-FFF2-40B4-BE49-F238E27FC236}">
                <a16:creationId xmlns:a16="http://schemas.microsoft.com/office/drawing/2014/main" id="{06C90E01-978C-708B-36F8-9337DB0B53D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1363" y="1170862"/>
            <a:ext cx="8808874" cy="4204015"/>
          </a:xfrm>
          <a:prstGeom prst="rect">
            <a:avLst/>
          </a:prstGeom>
        </p:spPr>
      </p:pic>
      <p:pic>
        <p:nvPicPr>
          <p:cNvPr id="12" name="Picture 11">
            <a:extLst>
              <a:ext uri="{FF2B5EF4-FFF2-40B4-BE49-F238E27FC236}">
                <a16:creationId xmlns:a16="http://schemas.microsoft.com/office/drawing/2014/main" id="{FB42250D-BE41-F12B-FD05-F4D060F150C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2900" y="5367534"/>
            <a:ext cx="8487700" cy="524371"/>
          </a:xfrm>
          <a:prstGeom prst="rect">
            <a:avLst/>
          </a:prstGeom>
        </p:spPr>
      </p:pic>
    </p:spTree>
    <p:extLst>
      <p:ext uri="{BB962C8B-B14F-4D97-AF65-F5344CB8AC3E}">
        <p14:creationId xmlns:p14="http://schemas.microsoft.com/office/powerpoint/2010/main" val="412920402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3A1EA-BAC4-E1C5-90A8-0CE1B53A4A1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C326699-855D-9516-907F-331EDFB48F8E}"/>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15B53A7-ED8C-662D-08F5-AE1E5F10A6D9}"/>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76FB9EF-FF53-6F37-BE47-6023084D4E56}"/>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FB18B8E9-A5B9-A6CE-F142-782F082B309A}"/>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743A3CA7-EF3E-E82F-442E-EF9D3B2E8EC2}"/>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9005B27F-46E3-CE56-85FE-A9E6D6A6BC7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70F43307-4FFC-6668-3C03-856EC7A45789}"/>
              </a:ext>
            </a:extLst>
          </p:cNvPr>
          <p:cNvSpPr txBox="1">
            <a:spLocks/>
          </p:cNvSpPr>
          <p:nvPr/>
        </p:nvSpPr>
        <p:spPr>
          <a:xfrm>
            <a:off x="91363" y="788343"/>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Throughput &amp; Latency</a:t>
            </a:r>
          </a:p>
          <a:p>
            <a:r>
              <a:rPr lang="en-US" sz="1500" dirty="0">
                <a:solidFill>
                  <a:schemeClr val="accent2"/>
                </a:solidFill>
                <a:latin typeface="Google Sans"/>
                <a:ea typeface="+mn-ea"/>
                <a:cs typeface="+mn-cs"/>
              </a:rPr>
              <a:t>Trade-offs in System Design</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The relationship between these two metrics is rarely linear and is often governed by Queuing Theory (Little's Law: (L= . W).</a:t>
            </a:r>
          </a:p>
          <a:p>
            <a:r>
              <a:rPr lang="en-US" sz="1500" dirty="0">
                <a:solidFill>
                  <a:schemeClr val="accent2"/>
                </a:solidFill>
                <a:latin typeface="Google Sans"/>
                <a:ea typeface="+mn-ea"/>
                <a:cs typeface="+mn-cs"/>
              </a:rPr>
              <a:t>Batching Improves Throughput, Increases Latency:</a:t>
            </a:r>
            <a:r>
              <a:rPr lang="en-US" sz="1500" dirty="0">
                <a:solidFill>
                  <a:schemeClr val="accent6"/>
                </a:solidFill>
                <a:latin typeface="Google Sans"/>
                <a:ea typeface="+mn-ea"/>
                <a:cs typeface="+mn-cs"/>
              </a:rPr>
              <a:t> To increase throughput, systems often wait to collect multiple requests before processing them together. This maximizes efficiency but forces early requests to wait for later ones, increasing latency.</a:t>
            </a:r>
          </a:p>
          <a:p>
            <a:r>
              <a:rPr lang="en-US" sz="1500" dirty="0">
                <a:solidFill>
                  <a:schemeClr val="accent2"/>
                </a:solidFill>
                <a:latin typeface="Google Sans"/>
                <a:ea typeface="+mn-ea"/>
                <a:cs typeface="+mn-cs"/>
              </a:rPr>
              <a:t>Parallelism Improves Throughput, May Affect Latency: </a:t>
            </a:r>
            <a:r>
              <a:rPr lang="en-US" sz="1500" dirty="0">
                <a:solidFill>
                  <a:schemeClr val="accent6"/>
                </a:solidFill>
                <a:latin typeface="Google Sans"/>
                <a:ea typeface="+mn-ea"/>
                <a:cs typeface="+mn-cs"/>
              </a:rPr>
              <a:t>Adding more nodes or threads allows more tasks to be processed simultaneously (higher throughput), but the coordination, synchronization, and communication between these nodes can introduce latency.</a:t>
            </a:r>
          </a:p>
          <a:p>
            <a:r>
              <a:rPr lang="en-US" sz="1500" dirty="0">
                <a:solidFill>
                  <a:schemeClr val="accent2"/>
                </a:solidFill>
                <a:latin typeface="Google Sans"/>
                <a:ea typeface="+mn-ea"/>
                <a:cs typeface="+mn-cs"/>
              </a:rPr>
              <a:t>Queueing Adds Latency to Gain Throughput:</a:t>
            </a:r>
            <a:r>
              <a:rPr lang="en-US" sz="1500" dirty="0">
                <a:solidFill>
                  <a:schemeClr val="accent6"/>
                </a:solidFill>
                <a:latin typeface="Google Sans"/>
                <a:ea typeface="+mn-ea"/>
                <a:cs typeface="+mn-cs"/>
              </a:rPr>
              <a:t> High-throughput systems (like message brokers) use queues to buffer data. While this ensures that no data is lost during spikes, it adds waiting time (queuing latency) for the requests.</a:t>
            </a:r>
          </a:p>
          <a:p>
            <a:r>
              <a:rPr lang="en-US" sz="1500" dirty="0">
                <a:solidFill>
                  <a:schemeClr val="accent2"/>
                </a:solidFill>
                <a:latin typeface="Google Sans"/>
                <a:ea typeface="+mn-ea"/>
                <a:cs typeface="+mn-cs"/>
              </a:rPr>
              <a:t>Caching Lowers Latency, May Improve Throughput: </a:t>
            </a:r>
            <a:r>
              <a:rPr lang="en-US" sz="1500" dirty="0">
                <a:solidFill>
                  <a:schemeClr val="accent6"/>
                </a:solidFill>
                <a:latin typeface="Google Sans"/>
                <a:ea typeface="+mn-ea"/>
                <a:cs typeface="+mn-cs"/>
              </a:rPr>
              <a:t>Serving data from a cache (e.g., Redis) gives immediate responses (low latency) and reduces the load on backend databases, allowing them to handle higher volume (higher throughput).</a:t>
            </a:r>
          </a:p>
          <a:p>
            <a:r>
              <a:rPr lang="en-US" sz="1500" dirty="0">
                <a:solidFill>
                  <a:schemeClr val="accent2"/>
                </a:solidFill>
                <a:latin typeface="Google Sans"/>
                <a:ea typeface="+mn-ea"/>
                <a:cs typeface="+mn-cs"/>
              </a:rPr>
              <a:t>Consistency vs. Performance: </a:t>
            </a:r>
            <a:r>
              <a:rPr lang="en-US" sz="1500" dirty="0">
                <a:solidFill>
                  <a:schemeClr val="accent6"/>
                </a:solidFill>
                <a:latin typeface="Google Sans"/>
                <a:ea typeface="+mn-ea"/>
                <a:cs typeface="+mn-cs"/>
              </a:rPr>
              <a:t>Strong consistency (e.g., ACID database transactions) often requires locking mechanisms, which lowers throughput. Eventual consistency allows higher throughput by allowing parallel, uncoordinated writes, but might not be suitable for all applications. </a:t>
            </a:r>
          </a:p>
        </p:txBody>
      </p:sp>
      <p:pic>
        <p:nvPicPr>
          <p:cNvPr id="11" name="Picture 10">
            <a:extLst>
              <a:ext uri="{FF2B5EF4-FFF2-40B4-BE49-F238E27FC236}">
                <a16:creationId xmlns:a16="http://schemas.microsoft.com/office/drawing/2014/main" id="{E2EF30C0-09EB-44C9-34DB-39887507DE3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0" y="1590363"/>
            <a:ext cx="107956" cy="190510"/>
          </a:xfrm>
          <a:prstGeom prst="rect">
            <a:avLst/>
          </a:prstGeom>
        </p:spPr>
      </p:pic>
    </p:spTree>
    <p:extLst>
      <p:ext uri="{BB962C8B-B14F-4D97-AF65-F5344CB8AC3E}">
        <p14:creationId xmlns:p14="http://schemas.microsoft.com/office/powerpoint/2010/main" val="270364655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7DB55-F30A-AC97-8868-71C46DB573E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6467954-ED84-5C38-BFC6-1AAF39A1BDB9}"/>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3BEF6D3-E0F6-C53D-F76B-7B21B6935763}"/>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907EF36-AC27-F621-7A41-E61A3844D0E7}"/>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781427E0-8D4C-FACD-9FFD-6C6EA76A2362}"/>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54B03A09-C174-59BE-6166-6E66D11E446A}"/>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CD04FB3C-3CC3-3251-4B5A-67198671CDD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B3E4D3F6-345E-9449-8CCA-036C12FFE7BE}"/>
              </a:ext>
            </a:extLst>
          </p:cNvPr>
          <p:cNvSpPr txBox="1">
            <a:spLocks/>
          </p:cNvSpPr>
          <p:nvPr/>
        </p:nvSpPr>
        <p:spPr>
          <a:xfrm>
            <a:off x="91363" y="788343"/>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Throughput &amp; Latency</a:t>
            </a:r>
          </a:p>
        </p:txBody>
      </p:sp>
      <p:pic>
        <p:nvPicPr>
          <p:cNvPr id="11" name="Picture 10">
            <a:extLst>
              <a:ext uri="{FF2B5EF4-FFF2-40B4-BE49-F238E27FC236}">
                <a16:creationId xmlns:a16="http://schemas.microsoft.com/office/drawing/2014/main" id="{886A9057-AFEC-8926-A2E5-F2F7C55CC52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62000" y="1590363"/>
            <a:ext cx="107956" cy="190510"/>
          </a:xfrm>
          <a:prstGeom prst="rect">
            <a:avLst/>
          </a:prstGeom>
        </p:spPr>
      </p:pic>
      <p:pic>
        <p:nvPicPr>
          <p:cNvPr id="15" name="Picture 14">
            <a:extLst>
              <a:ext uri="{FF2B5EF4-FFF2-40B4-BE49-F238E27FC236}">
                <a16:creationId xmlns:a16="http://schemas.microsoft.com/office/drawing/2014/main" id="{BB8E4C32-C719-A705-938D-E695CF0813D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1363" y="1123816"/>
            <a:ext cx="8961274" cy="3295784"/>
          </a:xfrm>
          <a:prstGeom prst="rect">
            <a:avLst/>
          </a:prstGeom>
        </p:spPr>
      </p:pic>
    </p:spTree>
    <p:extLst>
      <p:ext uri="{BB962C8B-B14F-4D97-AF65-F5344CB8AC3E}">
        <p14:creationId xmlns:p14="http://schemas.microsoft.com/office/powerpoint/2010/main" val="40662840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64395-47C3-D93F-E945-4AE49035F01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B08A65C-EA49-603F-42E7-970DB5139607}"/>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4862E38-1687-9666-E9AA-35F255535C67}"/>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FC73B99-A57E-0C48-4117-977E2936E03E}"/>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7B0C86CC-A2E7-666E-4AD4-940BDAD88302}"/>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13DE521A-9C44-CFDE-BA2D-4DEA6ED2822A}"/>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8270D4D6-0A71-B8A6-9214-6997D45021B1}"/>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947C8321-09B9-A27D-4860-3F18F0CC506D}"/>
              </a:ext>
            </a:extLst>
          </p:cNvPr>
          <p:cNvSpPr txBox="1">
            <a:spLocks/>
          </p:cNvSpPr>
          <p:nvPr/>
        </p:nvSpPr>
        <p:spPr>
          <a:xfrm>
            <a:off x="91363" y="788343"/>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Little’s Law                                   </a:t>
            </a:r>
          </a:p>
          <a:p>
            <a:r>
              <a:rPr lang="en-US" sz="1500" dirty="0">
                <a:solidFill>
                  <a:schemeClr val="accent2"/>
                </a:solidFill>
                <a:latin typeface="Google Sans"/>
                <a:ea typeface="+mn-ea"/>
                <a:cs typeface="+mn-cs"/>
              </a:rPr>
              <a:t>Little’s Law — The Universal Performance Equation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Statement         </a:t>
            </a:r>
          </a:p>
          <a:p>
            <a:r>
              <a:rPr lang="en-US" sz="1500" dirty="0">
                <a:solidFill>
                  <a:schemeClr val="accent6"/>
                </a:solidFill>
                <a:latin typeface="Google Sans"/>
                <a:ea typeface="+mn-ea"/>
                <a:cs typeface="+mn-cs"/>
              </a:rPr>
              <a:t>𝐿 =𝜆𝑊	      </a:t>
            </a:r>
          </a:p>
          <a:p>
            <a:r>
              <a:rPr lang="en-US" sz="1500" dirty="0">
                <a:solidFill>
                  <a:schemeClr val="accent6"/>
                </a:solidFill>
                <a:latin typeface="Google Sans"/>
                <a:ea typeface="+mn-ea"/>
                <a:cs typeface="+mn-cs"/>
              </a:rPr>
              <a:t>Where:       </a:t>
            </a:r>
          </a:p>
          <a:p>
            <a:r>
              <a:rPr lang="en-US" sz="1500" dirty="0">
                <a:solidFill>
                  <a:schemeClr val="accent6"/>
                </a:solidFill>
                <a:latin typeface="Google Sans"/>
                <a:ea typeface="+mn-ea"/>
                <a:cs typeface="+mn-cs"/>
              </a:rPr>
              <a:t>L = average number of items in system        </a:t>
            </a:r>
          </a:p>
          <a:p>
            <a:r>
              <a:rPr lang="el-GR" sz="1500" dirty="0">
                <a:solidFill>
                  <a:schemeClr val="accent6"/>
                </a:solidFill>
                <a:latin typeface="Google Sans"/>
                <a:ea typeface="+mn-ea"/>
                <a:cs typeface="+mn-cs"/>
              </a:rPr>
              <a:t>λ = </a:t>
            </a:r>
            <a:r>
              <a:rPr lang="en-US" sz="1500" dirty="0">
                <a:solidFill>
                  <a:schemeClr val="accent6"/>
                </a:solidFill>
                <a:latin typeface="Google Sans"/>
                <a:ea typeface="+mn-ea"/>
                <a:cs typeface="+mn-cs"/>
              </a:rPr>
              <a:t>arrival rate (items/sec)        </a:t>
            </a:r>
          </a:p>
          <a:p>
            <a:r>
              <a:rPr lang="en-US" sz="1500" dirty="0">
                <a:solidFill>
                  <a:schemeClr val="accent6"/>
                </a:solidFill>
                <a:latin typeface="Google Sans"/>
                <a:ea typeface="+mn-ea"/>
                <a:cs typeface="+mn-cs"/>
              </a:rPr>
              <a:t>W = average time in system        </a:t>
            </a:r>
          </a:p>
          <a:p>
            <a:r>
              <a:rPr lang="en-US" sz="1500" dirty="0">
                <a:solidFill>
                  <a:schemeClr val="accent2"/>
                </a:solidFill>
                <a:latin typeface="Google Sans"/>
                <a:ea typeface="+mn-ea"/>
                <a:cs typeface="+mn-cs"/>
              </a:rPr>
              <a:t>🔑 Why it’s powerful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Makes no assumptions about arrival/service distributions                   </a:t>
            </a:r>
          </a:p>
          <a:p>
            <a:r>
              <a:rPr lang="en-US" sz="1500" dirty="0">
                <a:solidFill>
                  <a:schemeClr val="accent6"/>
                </a:solidFill>
                <a:latin typeface="Google Sans"/>
                <a:ea typeface="+mn-ea"/>
                <a:cs typeface="+mn-cs"/>
              </a:rPr>
              <a:t>Applies to networks, TCP, CPUs, disks, routers          </a:t>
            </a:r>
          </a:p>
          <a:p>
            <a:r>
              <a:rPr lang="en-US" sz="1500" dirty="0">
                <a:solidFill>
                  <a:schemeClr val="accent2"/>
                </a:solidFill>
                <a:latin typeface="Google Sans"/>
                <a:ea typeface="+mn-ea"/>
                <a:cs typeface="+mn-cs"/>
              </a:rPr>
              <a:t>1.1 Intuition (Burn it into memory)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What’s inside = How fast things come in × How long they stay         </a:t>
            </a:r>
          </a:p>
          <a:p>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Little’s Law Applications</a:t>
            </a:r>
          </a:p>
          <a:p>
            <a:r>
              <a:rPr lang="en-US" sz="1500" dirty="0">
                <a:solidFill>
                  <a:schemeClr val="accent2"/>
                </a:solidFill>
                <a:latin typeface="Google Sans"/>
                <a:ea typeface="+mn-ea"/>
                <a:cs typeface="+mn-cs"/>
              </a:rPr>
              <a:t>2.1 Bandwidth–Delay Product (BDP)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Let:        </a:t>
            </a:r>
          </a:p>
          <a:p>
            <a:r>
              <a:rPr lang="en-US" sz="1500" dirty="0">
                <a:solidFill>
                  <a:schemeClr val="accent6"/>
                </a:solidFill>
                <a:latin typeface="Google Sans"/>
                <a:ea typeface="+mn-ea"/>
                <a:cs typeface="+mn-cs"/>
              </a:rPr>
              <a:t>L = in-flight packets        </a:t>
            </a:r>
          </a:p>
          <a:p>
            <a:r>
              <a:rPr lang="el-GR" sz="1500" dirty="0">
                <a:solidFill>
                  <a:schemeClr val="accent6"/>
                </a:solidFill>
                <a:latin typeface="Google Sans"/>
                <a:ea typeface="+mn-ea"/>
                <a:cs typeface="+mn-cs"/>
              </a:rPr>
              <a:t>λ = </a:t>
            </a:r>
            <a:r>
              <a:rPr lang="en-US" sz="1500" dirty="0">
                <a:solidFill>
                  <a:schemeClr val="accent6"/>
                </a:solidFill>
                <a:latin typeface="Google Sans"/>
                <a:ea typeface="+mn-ea"/>
                <a:cs typeface="+mn-cs"/>
              </a:rPr>
              <a:t>throughput       </a:t>
            </a:r>
          </a:p>
          <a:p>
            <a:r>
              <a:rPr lang="en-US" sz="1500" dirty="0">
                <a:solidFill>
                  <a:schemeClr val="accent6"/>
                </a:solidFill>
                <a:latin typeface="Google Sans"/>
                <a:ea typeface="+mn-ea"/>
                <a:cs typeface="+mn-cs"/>
              </a:rPr>
              <a:t>W = RTT       </a:t>
            </a:r>
          </a:p>
          <a:p>
            <a:r>
              <a:rPr lang="en-US" sz="1500" dirty="0">
                <a:solidFill>
                  <a:schemeClr val="accent6"/>
                </a:solidFill>
                <a:latin typeface="Google Sans"/>
                <a:ea typeface="+mn-ea"/>
                <a:cs typeface="+mn-cs"/>
              </a:rPr>
              <a:t>In-flight data=</a:t>
            </a:r>
            <a:r>
              <a:rPr lang="en-US" sz="1500" dirty="0" err="1">
                <a:solidFill>
                  <a:schemeClr val="accent6"/>
                </a:solidFill>
                <a:latin typeface="Google Sans"/>
                <a:ea typeface="+mn-ea"/>
                <a:cs typeface="+mn-cs"/>
              </a:rPr>
              <a:t>Bandwidth×RTT</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 BDP is Little’s Law     </a:t>
            </a:r>
          </a:p>
        </p:txBody>
      </p:sp>
    </p:spTree>
    <p:extLst>
      <p:ext uri="{BB962C8B-B14F-4D97-AF65-F5344CB8AC3E}">
        <p14:creationId xmlns:p14="http://schemas.microsoft.com/office/powerpoint/2010/main" val="350357976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91765-2D07-E63A-68C0-9C26CE5128C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0F13210-8698-89C9-4299-9F1876D4FBB7}"/>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E2FB8A3-A3F3-6D5D-F184-E123663EF7EC}"/>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5E74CA8-3896-1141-51A2-0AF18B2EBE89}"/>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27A1AC1B-22AE-B52C-89A6-1BDF22BA096E}"/>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93FDCEC-FDDD-FEFD-8E33-C8BC3A7E054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598FC305-A66A-CF33-ABAC-810557177E51}"/>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3F481A07-87EC-73D0-44F4-757F400C75AE}"/>
              </a:ext>
            </a:extLst>
          </p:cNvPr>
          <p:cNvSpPr txBox="1">
            <a:spLocks/>
          </p:cNvSpPr>
          <p:nvPr/>
        </p:nvSpPr>
        <p:spPr>
          <a:xfrm>
            <a:off x="91363" y="864543"/>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Little’s Law Applications</a:t>
            </a:r>
          </a:p>
          <a:p>
            <a:r>
              <a:rPr lang="en-US" sz="1500" dirty="0">
                <a:solidFill>
                  <a:schemeClr val="accent2"/>
                </a:solidFill>
                <a:latin typeface="Google Sans"/>
                <a:ea typeface="+mn-ea"/>
                <a:cs typeface="+mn-cs"/>
              </a:rPr>
              <a:t>2.2 TCP Congestion Window          </a:t>
            </a:r>
          </a:p>
          <a:p>
            <a:r>
              <a:rPr lang="en-US" sz="1500" dirty="0">
                <a:solidFill>
                  <a:schemeClr val="accent6"/>
                </a:solidFill>
                <a:latin typeface="Google Sans"/>
                <a:ea typeface="+mn-ea"/>
                <a:cs typeface="+mn-cs"/>
              </a:rPr>
              <a:t>𝑐𝑤𝑛𝑑=𝜆×𝑅𝑇𝑇         </a:t>
            </a:r>
          </a:p>
          <a:p>
            <a:r>
              <a:rPr lang="en-US" sz="1500" dirty="0">
                <a:solidFill>
                  <a:schemeClr val="accent6"/>
                </a:solidFill>
                <a:latin typeface="Google Sans"/>
                <a:ea typeface="+mn-ea"/>
                <a:cs typeface="+mn-cs"/>
              </a:rPr>
              <a:t>If </a:t>
            </a:r>
            <a:r>
              <a:rPr lang="en-US" sz="1500" dirty="0" err="1">
                <a:solidFill>
                  <a:schemeClr val="accent6"/>
                </a:solidFill>
                <a:latin typeface="Google Sans"/>
                <a:ea typeface="+mn-ea"/>
                <a:cs typeface="+mn-cs"/>
              </a:rPr>
              <a:t>cwnd</a:t>
            </a:r>
            <a:r>
              <a:rPr lang="en-US" sz="1500" dirty="0">
                <a:solidFill>
                  <a:schemeClr val="accent6"/>
                </a:solidFill>
                <a:latin typeface="Google Sans"/>
                <a:ea typeface="+mn-ea"/>
                <a:cs typeface="+mn-cs"/>
              </a:rPr>
              <a:t> &lt; BDP ⇒ underutilized                 </a:t>
            </a:r>
          </a:p>
          <a:p>
            <a:r>
              <a:rPr lang="en-US" sz="1500" dirty="0">
                <a:solidFill>
                  <a:schemeClr val="accent6"/>
                </a:solidFill>
                <a:latin typeface="Google Sans"/>
                <a:ea typeface="+mn-ea"/>
                <a:cs typeface="+mn-cs"/>
              </a:rPr>
              <a:t>If </a:t>
            </a:r>
            <a:r>
              <a:rPr lang="en-US" sz="1500" dirty="0" err="1">
                <a:solidFill>
                  <a:schemeClr val="accent6"/>
                </a:solidFill>
                <a:latin typeface="Google Sans"/>
                <a:ea typeface="+mn-ea"/>
                <a:cs typeface="+mn-cs"/>
              </a:rPr>
              <a:t>cwnd</a:t>
            </a:r>
            <a:r>
              <a:rPr lang="en-US" sz="1500" dirty="0">
                <a:solidFill>
                  <a:schemeClr val="accent6"/>
                </a:solidFill>
                <a:latin typeface="Google Sans"/>
                <a:ea typeface="+mn-ea"/>
                <a:cs typeface="+mn-cs"/>
              </a:rPr>
              <a:t> &gt; BDP ⇒ queues build ⇒ delay/loss                      </a:t>
            </a:r>
          </a:p>
          <a:p>
            <a:r>
              <a:rPr lang="en-US" sz="1500" dirty="0">
                <a:solidFill>
                  <a:schemeClr val="accent2"/>
                </a:solidFill>
                <a:latin typeface="Google Sans"/>
                <a:ea typeface="+mn-ea"/>
                <a:cs typeface="+mn-cs"/>
              </a:rPr>
              <a:t>2.3 Router Queue Length → RTT Inflation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𝑅𝑇𝑇𝑞𝑢𝑒𝑢𝑒=𝐿𝑞𝜆       </a:t>
            </a:r>
          </a:p>
          <a:p>
            <a:r>
              <a:rPr lang="en-US" sz="1500" dirty="0">
                <a:solidFill>
                  <a:schemeClr val="accent6"/>
                </a:solidFill>
                <a:latin typeface="Google Sans"/>
                <a:ea typeface="+mn-ea"/>
                <a:cs typeface="+mn-cs"/>
              </a:rPr>
              <a:t>➡ Growing queue ⇒ growing RTT        </a:t>
            </a:r>
          </a:p>
          <a:p>
            <a:r>
              <a:rPr lang="en-US" sz="1500" dirty="0">
                <a:solidFill>
                  <a:schemeClr val="accent6"/>
                </a:solidFill>
                <a:latin typeface="Google Sans"/>
                <a:ea typeface="+mn-ea"/>
                <a:cs typeface="+mn-cs"/>
              </a:rPr>
              <a:t>➡ TCP delay-based congestion detection          </a:t>
            </a:r>
          </a:p>
          <a:p>
            <a:r>
              <a:rPr lang="en-US" sz="1500" dirty="0">
                <a:solidFill>
                  <a:schemeClr val="accent2"/>
                </a:solidFill>
                <a:latin typeface="Google Sans"/>
                <a:ea typeface="+mn-ea"/>
                <a:cs typeface="+mn-cs"/>
              </a:rPr>
              <a:t>2.4 Buffer Sizing </a:t>
            </a:r>
          </a:p>
          <a:p>
            <a:r>
              <a:rPr lang="en-US" sz="1500" dirty="0">
                <a:solidFill>
                  <a:schemeClr val="accent6"/>
                </a:solidFill>
                <a:latin typeface="Google Sans"/>
                <a:ea typeface="+mn-ea"/>
                <a:cs typeface="+mn-cs"/>
              </a:rPr>
              <a:t>From Little’s Law:          </a:t>
            </a:r>
          </a:p>
          <a:p>
            <a:r>
              <a:rPr lang="en-US" sz="1500" dirty="0">
                <a:solidFill>
                  <a:schemeClr val="accent6"/>
                </a:solidFill>
                <a:latin typeface="Google Sans"/>
                <a:ea typeface="+mn-ea"/>
                <a:cs typeface="+mn-cs"/>
              </a:rPr>
              <a:t>𝐵≈𝑅𝑇𝑇×𝐶        </a:t>
            </a:r>
          </a:p>
          <a:p>
            <a:r>
              <a:rPr lang="en-US" sz="1500" dirty="0">
                <a:solidFill>
                  <a:schemeClr val="accent2"/>
                </a:solidFill>
                <a:latin typeface="Google Sans"/>
                <a:ea typeface="+mn-ea"/>
                <a:cs typeface="+mn-cs"/>
              </a:rPr>
              <a:t>Where: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B = buffer size        </a:t>
            </a:r>
          </a:p>
          <a:p>
            <a:r>
              <a:rPr lang="en-US" sz="1500" dirty="0">
                <a:solidFill>
                  <a:schemeClr val="accent6"/>
                </a:solidFill>
                <a:latin typeface="Google Sans"/>
                <a:ea typeface="+mn-ea"/>
                <a:cs typeface="+mn-cs"/>
              </a:rPr>
              <a:t>C = link capacity        </a:t>
            </a:r>
          </a:p>
          <a:p>
            <a:r>
              <a:rPr lang="en-US" sz="1500" dirty="0">
                <a:solidFill>
                  <a:schemeClr val="accent2"/>
                </a:solidFill>
                <a:latin typeface="Google Sans"/>
                <a:ea typeface="+mn-ea"/>
                <a:cs typeface="+mn-cs"/>
              </a:rPr>
              <a:t>2.5 Throughput from Observables    </a:t>
            </a:r>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If you can measure:          </a:t>
            </a:r>
          </a:p>
          <a:p>
            <a:r>
              <a:rPr lang="en-US" sz="1500" dirty="0">
                <a:solidFill>
                  <a:schemeClr val="accent6"/>
                </a:solidFill>
                <a:latin typeface="Google Sans"/>
                <a:ea typeface="+mn-ea"/>
                <a:cs typeface="+mn-cs"/>
              </a:rPr>
              <a:t>Average queue length        </a:t>
            </a:r>
          </a:p>
          <a:p>
            <a:r>
              <a:rPr lang="en-US" sz="1500" dirty="0">
                <a:solidFill>
                  <a:schemeClr val="accent6"/>
                </a:solidFill>
                <a:latin typeface="Google Sans"/>
                <a:ea typeface="+mn-ea"/>
                <a:cs typeface="+mn-cs"/>
              </a:rPr>
              <a:t>Average delay        </a:t>
            </a:r>
          </a:p>
          <a:p>
            <a:r>
              <a:rPr lang="en-US" sz="1500" dirty="0">
                <a:solidFill>
                  <a:schemeClr val="accent6"/>
                </a:solidFill>
                <a:latin typeface="Google Sans"/>
                <a:ea typeface="+mn-ea"/>
                <a:cs typeface="+mn-cs"/>
              </a:rPr>
              <a:t>𝜆=𝐿𝑊        </a:t>
            </a:r>
          </a:p>
          <a:p>
            <a:r>
              <a:rPr lang="en-US" sz="1500" dirty="0">
                <a:solidFill>
                  <a:schemeClr val="accent6"/>
                </a:solidFill>
                <a:latin typeface="Google Sans"/>
                <a:ea typeface="+mn-ea"/>
                <a:cs typeface="+mn-cs"/>
              </a:rPr>
              <a:t>Used in passive network monitoring.          </a:t>
            </a:r>
          </a:p>
          <a:p>
            <a:r>
              <a:rPr lang="en-US" sz="1500" dirty="0">
                <a:solidFill>
                  <a:schemeClr val="accent6"/>
                </a:solidFill>
                <a:latin typeface="Google Sans"/>
                <a:ea typeface="+mn-ea"/>
                <a:cs typeface="+mn-cs"/>
              </a:rPr>
              <a:t>  </a:t>
            </a:r>
          </a:p>
        </p:txBody>
      </p:sp>
    </p:spTree>
    <p:extLst>
      <p:ext uri="{BB962C8B-B14F-4D97-AF65-F5344CB8AC3E}">
        <p14:creationId xmlns:p14="http://schemas.microsoft.com/office/powerpoint/2010/main" val="137121860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BB379-E0B8-2186-1D51-215DFEF629B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9CC5B1E-A5DC-DDAD-AF12-1CFA41EC5179}"/>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5483201-992C-F52C-0F65-97FD080C28A2}"/>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E67514F-5F1F-DB69-941A-7AE66BEFEB32}"/>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22EF1343-9283-5B60-AF79-9B11A1FD8CC6}"/>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46BFE59B-54C5-23FD-57D0-987E0A44D6E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D4A0A70A-6E45-38AC-64BA-C94195A34F38}"/>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0CC0D643-9D9F-B05B-8A7D-1C8D999EDC58}"/>
              </a:ext>
            </a:extLst>
          </p:cNvPr>
          <p:cNvSpPr txBox="1">
            <a:spLocks/>
          </p:cNvSpPr>
          <p:nvPr/>
        </p:nvSpPr>
        <p:spPr>
          <a:xfrm>
            <a:off x="91363" y="682386"/>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endParaRPr lang="en-US" sz="1500" dirty="0">
              <a:solidFill>
                <a:schemeClr val="accent2"/>
              </a:solidFill>
              <a:latin typeface="Google Sans"/>
              <a:ea typeface="+mn-ea"/>
              <a:cs typeface="+mn-cs"/>
            </a:endParaRPr>
          </a:p>
          <a:p>
            <a:r>
              <a:rPr lang="en-US" sz="2000" dirty="0">
                <a:solidFill>
                  <a:schemeClr val="accent2"/>
                </a:solidFill>
                <a:latin typeface="Google Sans"/>
                <a:ea typeface="+mn-ea"/>
                <a:cs typeface="+mn-cs"/>
              </a:rPr>
              <a:t>Little's Law for Latency</a:t>
            </a:r>
          </a:p>
          <a:p>
            <a:r>
              <a:rPr lang="en-US" sz="1500" dirty="0">
                <a:solidFill>
                  <a:schemeClr val="accent2"/>
                </a:solidFill>
                <a:latin typeface="Google Sans"/>
                <a:ea typeface="+mn-ea"/>
                <a:cs typeface="+mn-cs"/>
              </a:rPr>
              <a:t>Latency = Queue Length / Throughput           </a:t>
            </a:r>
          </a:p>
          <a:p>
            <a:r>
              <a:rPr lang="en-US" sz="1500" dirty="0">
                <a:solidFill>
                  <a:schemeClr val="accent2"/>
                </a:solidFill>
                <a:latin typeface="Google Sans"/>
                <a:ea typeface="+mn-ea"/>
                <a:cs typeface="+mn-cs"/>
              </a:rPr>
              <a:t>Insight -</a:t>
            </a:r>
            <a:r>
              <a:rPr lang="en-US" sz="1500" dirty="0">
                <a:solidFill>
                  <a:schemeClr val="accent6"/>
                </a:solidFill>
                <a:latin typeface="Google Sans"/>
                <a:ea typeface="+mn-ea"/>
                <a:cs typeface="+mn-cs"/>
              </a:rPr>
              <a:t> Concurrency increases average throughput but increases tail latency (p95/p99) unless resources are isolated and back-pressure is applied in each isolation(if not each then most isolations).            </a:t>
            </a:r>
          </a:p>
          <a:p>
            <a:r>
              <a:rPr lang="en-US" sz="1500" dirty="0">
                <a:solidFill>
                  <a:schemeClr val="accent6"/>
                </a:solidFill>
                <a:latin typeface="Google Sans"/>
                <a:ea typeface="+mn-ea"/>
                <a:cs typeface="+mn-cs"/>
              </a:rPr>
              <a:t>           </a:t>
            </a:r>
          </a:p>
          <a:p>
            <a:r>
              <a:rPr lang="en-US" sz="1500" dirty="0">
                <a:solidFill>
                  <a:schemeClr val="accent2"/>
                </a:solidFill>
                <a:latin typeface="Google Sans"/>
                <a:ea typeface="+mn-ea"/>
                <a:cs typeface="+mn-cs"/>
              </a:rPr>
              <a:t>RTT vs Latency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Latency: one-way delay (Sender → Receiver)         </a:t>
            </a:r>
          </a:p>
          <a:p>
            <a:r>
              <a:rPr lang="en-US" sz="1500" dirty="0">
                <a:solidFill>
                  <a:schemeClr val="accent6"/>
                </a:solidFill>
                <a:latin typeface="Google Sans"/>
                <a:ea typeface="+mn-ea"/>
                <a:cs typeface="+mn-cs"/>
              </a:rPr>
              <a:t>RTT: two-way delay (Sender → Receiver → Sender)          </a:t>
            </a:r>
          </a:p>
          <a:p>
            <a:r>
              <a:rPr lang="en-US" sz="1500" dirty="0">
                <a:solidFill>
                  <a:schemeClr val="accent6"/>
                </a:solidFill>
                <a:latin typeface="Google Sans"/>
                <a:ea typeface="+mn-ea"/>
                <a:cs typeface="+mn-cs"/>
              </a:rPr>
              <a:t>📌 Roughly:         </a:t>
            </a:r>
          </a:p>
          <a:p>
            <a:r>
              <a:rPr lang="en-US" sz="1500" dirty="0">
                <a:solidFill>
                  <a:schemeClr val="accent6"/>
                </a:solidFill>
                <a:latin typeface="Google Sans"/>
                <a:ea typeface="+mn-ea"/>
                <a:cs typeface="+mn-cs"/>
              </a:rPr>
              <a:t>RTT ≈ 2 × latency (but not always exactly)              </a:t>
            </a:r>
          </a:p>
          <a:p>
            <a:r>
              <a:rPr lang="en-US" sz="1500" dirty="0">
                <a:solidFill>
                  <a:schemeClr val="accent6"/>
                </a:solidFill>
                <a:latin typeface="Google Sans"/>
                <a:ea typeface="+mn-ea"/>
                <a:cs typeface="+mn-cs"/>
              </a:rPr>
              <a:t>             </a:t>
            </a:r>
          </a:p>
          <a:p>
            <a:r>
              <a:rPr lang="en-US" sz="2000" dirty="0">
                <a:solidFill>
                  <a:schemeClr val="accent2"/>
                </a:solidFill>
                <a:latin typeface="Google Sans"/>
                <a:ea typeface="+mn-ea"/>
                <a:cs typeface="+mn-cs"/>
              </a:rPr>
              <a:t>Measuring API Latency (p95, p99) 📊</a:t>
            </a:r>
          </a:p>
          <a:p>
            <a:r>
              <a:rPr lang="en-US" sz="1500" dirty="0">
                <a:solidFill>
                  <a:schemeClr val="accent2"/>
                </a:solidFill>
                <a:latin typeface="Google Sans"/>
                <a:ea typeface="+mn-ea"/>
                <a:cs typeface="+mn-cs"/>
              </a:rPr>
              <a:t>A. Why averages are useless         </a:t>
            </a:r>
          </a:p>
          <a:p>
            <a:r>
              <a:rPr lang="en-US" sz="1500" dirty="0">
                <a:solidFill>
                  <a:schemeClr val="accent2"/>
                </a:solidFill>
                <a:latin typeface="Google Sans"/>
                <a:ea typeface="+mn-ea"/>
                <a:cs typeface="+mn-cs"/>
              </a:rPr>
              <a:t>Example:        </a:t>
            </a:r>
          </a:p>
          <a:p>
            <a:r>
              <a:rPr lang="en-US" sz="1500" dirty="0">
                <a:solidFill>
                  <a:schemeClr val="accent6"/>
                </a:solidFill>
                <a:latin typeface="Google Sans"/>
                <a:ea typeface="+mn-ea"/>
                <a:cs typeface="+mn-cs"/>
              </a:rPr>
              <a:t>90 requests → 50 </a:t>
            </a:r>
            <a:r>
              <a:rPr lang="en-US" sz="1500" dirty="0" err="1">
                <a:solidFill>
                  <a:schemeClr val="accent6"/>
                </a:solidFill>
                <a:latin typeface="Google Sans"/>
                <a:ea typeface="+mn-ea"/>
                <a:cs typeface="+mn-cs"/>
              </a:rPr>
              <a:t>ms</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10 requests → 1000 </a:t>
            </a:r>
            <a:r>
              <a:rPr lang="en-US" sz="1500" dirty="0" err="1">
                <a:solidFill>
                  <a:schemeClr val="accent6"/>
                </a:solidFill>
                <a:latin typeface="Google Sans"/>
                <a:ea typeface="+mn-ea"/>
                <a:cs typeface="+mn-cs"/>
              </a:rPr>
              <a:t>ms</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Average = 145 </a:t>
            </a:r>
            <a:r>
              <a:rPr lang="en-US" sz="1500" dirty="0" err="1">
                <a:solidFill>
                  <a:schemeClr val="accent6"/>
                </a:solidFill>
                <a:latin typeface="Google Sans"/>
                <a:ea typeface="+mn-ea"/>
                <a:cs typeface="+mn-cs"/>
              </a:rPr>
              <a:t>ms</a:t>
            </a:r>
            <a:r>
              <a:rPr lang="en-US" sz="1500" dirty="0">
                <a:solidFill>
                  <a:schemeClr val="accent6"/>
                </a:solidFill>
                <a:latin typeface="Google Sans"/>
                <a:ea typeface="+mn-ea"/>
                <a:cs typeface="+mn-cs"/>
              </a:rPr>
              <a:t> ❌ (misleading)           </a:t>
            </a:r>
          </a:p>
          <a:p>
            <a:r>
              <a:rPr lang="en-US" sz="1500" dirty="0">
                <a:solidFill>
                  <a:schemeClr val="accent6"/>
                </a:solidFill>
                <a:latin typeface="Google Sans"/>
                <a:ea typeface="+mn-ea"/>
                <a:cs typeface="+mn-cs"/>
              </a:rPr>
              <a:t>p95 = ~1000 </a:t>
            </a:r>
            <a:r>
              <a:rPr lang="en-US" sz="1500" dirty="0" err="1">
                <a:solidFill>
                  <a:schemeClr val="accent6"/>
                </a:solidFill>
                <a:latin typeface="Google Sans"/>
                <a:ea typeface="+mn-ea"/>
                <a:cs typeface="+mn-cs"/>
              </a:rPr>
              <a:t>ms</a:t>
            </a:r>
            <a:r>
              <a:rPr lang="en-US" sz="1500" dirty="0">
                <a:solidFill>
                  <a:schemeClr val="accent6"/>
                </a:solidFill>
                <a:latin typeface="Google Sans"/>
                <a:ea typeface="+mn-ea"/>
                <a:cs typeface="+mn-cs"/>
              </a:rPr>
              <a:t> ✅         </a:t>
            </a:r>
          </a:p>
          <a:p>
            <a:r>
              <a:rPr lang="en-US" sz="1500" dirty="0">
                <a:solidFill>
                  <a:schemeClr val="accent6"/>
                </a:solidFill>
                <a:latin typeface="Google Sans"/>
                <a:ea typeface="+mn-ea"/>
                <a:cs typeface="+mn-cs"/>
              </a:rPr>
              <a:t>p99 = ~1000 </a:t>
            </a:r>
            <a:r>
              <a:rPr lang="en-US" sz="1500" dirty="0" err="1">
                <a:solidFill>
                  <a:schemeClr val="accent6"/>
                </a:solidFill>
                <a:latin typeface="Google Sans"/>
                <a:ea typeface="+mn-ea"/>
                <a:cs typeface="+mn-cs"/>
              </a:rPr>
              <a:t>ms</a:t>
            </a:r>
            <a:r>
              <a:rPr lang="en-US" sz="1500" dirty="0">
                <a:solidFill>
                  <a:schemeClr val="accent6"/>
                </a:solidFill>
                <a:latin typeface="Google Sans"/>
                <a:ea typeface="+mn-ea"/>
                <a:cs typeface="+mn-cs"/>
              </a:rPr>
              <a:t> 🚨         </a:t>
            </a:r>
          </a:p>
          <a:p>
            <a:endParaRPr lang="en-US" sz="1500" dirty="0">
              <a:solidFill>
                <a:schemeClr val="accent6"/>
              </a:solidFill>
              <a:latin typeface="Google Sans"/>
              <a:ea typeface="+mn-ea"/>
              <a:cs typeface="+mn-cs"/>
            </a:endParaRP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6792996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2A9FD-FE87-7B84-0E56-CD11D948982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4C04C5A-631D-AEDD-486C-43FD7553086F}"/>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89E2344-CD1A-038A-B8B1-C17C28E64D62}"/>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5A30A99-7A1A-4898-0EC0-CFFEFF9BC475}"/>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4CB04EB1-D6CF-4B32-276D-D2562248057F}"/>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EEA5CDA-4A35-F39A-E987-A2C5ECFE6739}"/>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597C6C5-7C0A-AF0B-60CB-902F3A55B4AA}"/>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6B5C1152-BF14-E737-45B5-C66FDF8DE33E}"/>
              </a:ext>
            </a:extLst>
          </p:cNvPr>
          <p:cNvSpPr txBox="1">
            <a:spLocks/>
          </p:cNvSpPr>
          <p:nvPr/>
        </p:nvSpPr>
        <p:spPr>
          <a:xfrm>
            <a:off x="91363" y="857607"/>
            <a:ext cx="8624937" cy="537070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Measuring API Latency (p95, p99) 📊</a:t>
            </a:r>
          </a:p>
          <a:p>
            <a:r>
              <a:rPr lang="en-US" sz="1500" dirty="0">
                <a:solidFill>
                  <a:schemeClr val="accent2"/>
                </a:solidFill>
                <a:latin typeface="Google Sans"/>
                <a:ea typeface="+mn-ea"/>
                <a:cs typeface="+mn-cs"/>
              </a:rPr>
              <a:t>B. Percentiles explained         </a:t>
            </a:r>
          </a:p>
          <a:p>
            <a:r>
              <a:rPr lang="en-US" sz="1500" dirty="0">
                <a:solidFill>
                  <a:schemeClr val="accent2"/>
                </a:solidFill>
                <a:latin typeface="Google Sans"/>
                <a:ea typeface="+mn-ea"/>
                <a:cs typeface="+mn-cs"/>
              </a:rPr>
              <a:t>Metric	Meaning       </a:t>
            </a:r>
          </a:p>
          <a:p>
            <a:r>
              <a:rPr lang="en-US" sz="1500" dirty="0">
                <a:solidFill>
                  <a:schemeClr val="accent6"/>
                </a:solidFill>
                <a:latin typeface="Google Sans"/>
                <a:ea typeface="+mn-ea"/>
                <a:cs typeface="+mn-cs"/>
              </a:rPr>
              <a:t>p50	Median</a:t>
            </a:r>
          </a:p>
          <a:p>
            <a:r>
              <a:rPr lang="en-US" sz="1500" dirty="0">
                <a:solidFill>
                  <a:schemeClr val="accent6"/>
                </a:solidFill>
                <a:latin typeface="Google Sans"/>
                <a:ea typeface="+mn-ea"/>
                <a:cs typeface="+mn-cs"/>
              </a:rPr>
              <a:t>p90	90% faster than this</a:t>
            </a:r>
          </a:p>
          <a:p>
            <a:r>
              <a:rPr lang="en-US" sz="1500" dirty="0">
                <a:solidFill>
                  <a:schemeClr val="accent6"/>
                </a:solidFill>
                <a:latin typeface="Google Sans"/>
                <a:ea typeface="+mn-ea"/>
                <a:cs typeface="+mn-cs"/>
              </a:rPr>
              <a:t>p95	User pain threshold</a:t>
            </a:r>
          </a:p>
          <a:p>
            <a:r>
              <a:rPr lang="en-US" sz="1500" dirty="0">
                <a:solidFill>
                  <a:schemeClr val="accent6"/>
                </a:solidFill>
                <a:latin typeface="Google Sans"/>
                <a:ea typeface="+mn-ea"/>
                <a:cs typeface="+mn-cs"/>
              </a:rPr>
              <a:t>p99	Worst-case experience</a:t>
            </a:r>
          </a:p>
          <a:p>
            <a:r>
              <a:rPr lang="en-US" sz="1500" dirty="0">
                <a:solidFill>
                  <a:schemeClr val="accent6"/>
                </a:solidFill>
                <a:latin typeface="Google Sans"/>
                <a:ea typeface="+mn-ea"/>
                <a:cs typeface="+mn-cs"/>
              </a:rPr>
              <a:t>p99.9	System health</a:t>
            </a:r>
          </a:p>
          <a:p>
            <a:r>
              <a:rPr lang="en-US" sz="1500" dirty="0">
                <a:solidFill>
                  <a:schemeClr val="accent2"/>
                </a:solidFill>
                <a:latin typeface="Google Sans"/>
                <a:ea typeface="+mn-ea"/>
                <a:cs typeface="+mn-cs"/>
              </a:rPr>
              <a:t>C. How to calculate p95 / p99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Collect latency samples            </a:t>
            </a:r>
          </a:p>
          <a:p>
            <a:r>
              <a:rPr lang="en-US" sz="1500" dirty="0">
                <a:solidFill>
                  <a:schemeClr val="accent6"/>
                </a:solidFill>
                <a:latin typeface="Google Sans"/>
                <a:ea typeface="+mn-ea"/>
                <a:cs typeface="+mn-cs"/>
              </a:rPr>
              <a:t>Sort ascending         </a:t>
            </a:r>
          </a:p>
          <a:p>
            <a:r>
              <a:rPr lang="en-US" sz="1500" dirty="0">
                <a:solidFill>
                  <a:schemeClr val="accent6"/>
                </a:solidFill>
                <a:latin typeface="Google Sans"/>
                <a:ea typeface="+mn-ea"/>
                <a:cs typeface="+mn-cs"/>
              </a:rPr>
              <a:t>p95 = value at 0.95 × N         </a:t>
            </a:r>
          </a:p>
          <a:p>
            <a:r>
              <a:rPr lang="en-US" sz="1500" dirty="0">
                <a:solidFill>
                  <a:schemeClr val="accent2"/>
                </a:solidFill>
                <a:latin typeface="Google Sans"/>
                <a:ea typeface="+mn-ea"/>
                <a:cs typeface="+mn-cs"/>
              </a:rPr>
              <a:t>Example: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1000 requests       </a:t>
            </a:r>
          </a:p>
          <a:p>
            <a:r>
              <a:rPr lang="en-US" sz="1500" dirty="0">
                <a:solidFill>
                  <a:schemeClr val="accent6"/>
                </a:solidFill>
                <a:latin typeface="Google Sans"/>
                <a:ea typeface="+mn-ea"/>
                <a:cs typeface="+mn-cs"/>
              </a:rPr>
              <a:t>p95 → 950th value        </a:t>
            </a:r>
          </a:p>
          <a:p>
            <a:r>
              <a:rPr lang="en-US" sz="1500" dirty="0">
                <a:solidFill>
                  <a:schemeClr val="accent6"/>
                </a:solidFill>
                <a:latin typeface="Google Sans"/>
                <a:ea typeface="+mn-ea"/>
                <a:cs typeface="+mn-cs"/>
              </a:rPr>
              <a:t>p99 → 990th value         </a:t>
            </a:r>
          </a:p>
          <a:p>
            <a:r>
              <a:rPr lang="en-US" sz="1300" dirty="0">
                <a:solidFill>
                  <a:schemeClr val="accent2"/>
                </a:solidFill>
                <a:latin typeface="Google Sans"/>
                <a:ea typeface="+mn-ea"/>
                <a:cs typeface="+mn-cs"/>
              </a:rPr>
              <a:t>D. Tools used in practice</a:t>
            </a:r>
          </a:p>
          <a:p>
            <a:r>
              <a:rPr lang="en-US" sz="1300" dirty="0">
                <a:solidFill>
                  <a:schemeClr val="accent2"/>
                </a:solidFill>
                <a:latin typeface="Google Sans"/>
                <a:ea typeface="+mn-ea"/>
                <a:cs typeface="+mn-cs"/>
              </a:rPr>
              <a:t>Tool	                                 Purpose</a:t>
            </a:r>
          </a:p>
          <a:p>
            <a:r>
              <a:rPr lang="en-US" sz="1300" dirty="0">
                <a:solidFill>
                  <a:schemeClr val="accent6"/>
                </a:solidFill>
                <a:latin typeface="Google Sans"/>
                <a:ea typeface="+mn-ea"/>
                <a:cs typeface="+mn-cs"/>
              </a:rPr>
              <a:t>Prometheus	                                 Metrics</a:t>
            </a:r>
          </a:p>
          <a:p>
            <a:r>
              <a:rPr lang="en-US" sz="1300" dirty="0">
                <a:solidFill>
                  <a:schemeClr val="accent6"/>
                </a:solidFill>
                <a:latin typeface="Google Sans"/>
                <a:ea typeface="+mn-ea"/>
                <a:cs typeface="+mn-cs"/>
              </a:rPr>
              <a:t>Grafana	                                 Visualization</a:t>
            </a:r>
          </a:p>
          <a:p>
            <a:r>
              <a:rPr lang="en-US" sz="1300" dirty="0" err="1">
                <a:solidFill>
                  <a:schemeClr val="accent6"/>
                </a:solidFill>
                <a:latin typeface="Google Sans"/>
                <a:ea typeface="+mn-ea"/>
                <a:cs typeface="+mn-cs"/>
              </a:rPr>
              <a:t>OpenTelemetry</a:t>
            </a:r>
            <a:r>
              <a:rPr lang="en-US" sz="1300" dirty="0">
                <a:solidFill>
                  <a:schemeClr val="accent6"/>
                </a:solidFill>
                <a:latin typeface="Google Sans"/>
                <a:ea typeface="+mn-ea"/>
                <a:cs typeface="+mn-cs"/>
              </a:rPr>
              <a:t>	         Tracing</a:t>
            </a:r>
          </a:p>
          <a:p>
            <a:r>
              <a:rPr lang="en-US" sz="1300" dirty="0">
                <a:solidFill>
                  <a:schemeClr val="accent6"/>
                </a:solidFill>
                <a:latin typeface="Google Sans"/>
                <a:ea typeface="+mn-ea"/>
                <a:cs typeface="+mn-cs"/>
              </a:rPr>
              <a:t>Jaeger / Zipkin	         Distributed tracing</a:t>
            </a:r>
          </a:p>
          <a:p>
            <a:r>
              <a:rPr lang="en-US" sz="1300" dirty="0">
                <a:solidFill>
                  <a:schemeClr val="accent6"/>
                </a:solidFill>
                <a:latin typeface="Google Sans"/>
                <a:ea typeface="+mn-ea"/>
                <a:cs typeface="+mn-cs"/>
              </a:rPr>
              <a:t>Locust / JMeter	         Load testing    </a:t>
            </a:r>
          </a:p>
        </p:txBody>
      </p:sp>
    </p:spTree>
    <p:extLst>
      <p:ext uri="{BB962C8B-B14F-4D97-AF65-F5344CB8AC3E}">
        <p14:creationId xmlns:p14="http://schemas.microsoft.com/office/powerpoint/2010/main" val="382844878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304AC-4C1C-5F7C-568F-9348A91D548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DAB8F2C-1FE6-ED1F-407D-D15D87CD633B}"/>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FC073D6-50ED-A953-B234-3D213CAEBBAA}"/>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8FA7F24-F6E7-5745-23F6-F0A17F241AA0}"/>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7D4F2FE5-DF23-F350-9937-574C60D2A512}"/>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B2CCFAE-149B-CAC1-885F-30BEEF89CDF4}"/>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3E07986B-590B-0066-0644-699D95E8656B}"/>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BD1C77B6-109C-1AA0-D763-30C578EB6002}"/>
              </a:ext>
            </a:extLst>
          </p:cNvPr>
          <p:cNvSpPr txBox="1">
            <a:spLocks/>
          </p:cNvSpPr>
          <p:nvPr/>
        </p:nvSpPr>
        <p:spPr>
          <a:xfrm>
            <a:off x="91363" y="807690"/>
            <a:ext cx="8624937" cy="31547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Measuring API Latency (p95, p99) 📊</a:t>
            </a:r>
          </a:p>
          <a:p>
            <a:r>
              <a:rPr lang="en-US" sz="1500" dirty="0">
                <a:solidFill>
                  <a:schemeClr val="accent2"/>
                </a:solidFill>
                <a:latin typeface="Google Sans"/>
                <a:ea typeface="+mn-ea"/>
                <a:cs typeface="+mn-cs"/>
              </a:rPr>
              <a:t>E. Golden Signals (Google SRE)                </a:t>
            </a:r>
          </a:p>
          <a:p>
            <a:r>
              <a:rPr lang="en-US" sz="1500" dirty="0">
                <a:solidFill>
                  <a:schemeClr val="accent6"/>
                </a:solidFill>
                <a:latin typeface="Google Sans"/>
                <a:ea typeface="+mn-ea"/>
                <a:cs typeface="+mn-cs"/>
              </a:rPr>
              <a:t>Latency (p95/p99)           </a:t>
            </a:r>
          </a:p>
          <a:p>
            <a:r>
              <a:rPr lang="en-US" sz="1500" dirty="0">
                <a:solidFill>
                  <a:schemeClr val="accent6"/>
                </a:solidFill>
                <a:latin typeface="Google Sans"/>
                <a:ea typeface="+mn-ea"/>
                <a:cs typeface="+mn-cs"/>
              </a:rPr>
              <a:t>Traffic        </a:t>
            </a:r>
          </a:p>
          <a:p>
            <a:r>
              <a:rPr lang="en-US" sz="1500" dirty="0">
                <a:solidFill>
                  <a:schemeClr val="accent6"/>
                </a:solidFill>
                <a:latin typeface="Google Sans"/>
                <a:ea typeface="+mn-ea"/>
                <a:cs typeface="+mn-cs"/>
              </a:rPr>
              <a:t>Errors         </a:t>
            </a:r>
          </a:p>
          <a:p>
            <a:r>
              <a:rPr lang="en-US" sz="1500" dirty="0">
                <a:solidFill>
                  <a:schemeClr val="accent6"/>
                </a:solidFill>
                <a:latin typeface="Google Sans"/>
                <a:ea typeface="+mn-ea"/>
                <a:cs typeface="+mn-cs"/>
              </a:rPr>
              <a:t>Saturation             </a:t>
            </a:r>
          </a:p>
          <a:p>
            <a:r>
              <a:rPr lang="en-US" sz="1500" dirty="0">
                <a:solidFill>
                  <a:schemeClr val="accent2"/>
                </a:solidFill>
                <a:latin typeface="Google Sans"/>
                <a:ea typeface="+mn-ea"/>
                <a:cs typeface="+mn-cs"/>
              </a:rPr>
              <a:t>🔑 Key takeaway     </a:t>
            </a:r>
            <a:r>
              <a:rPr lang="en-US" sz="1500" dirty="0">
                <a:solidFill>
                  <a:schemeClr val="accent6"/>
                </a:solidFill>
                <a:latin typeface="Google Sans"/>
                <a:ea typeface="+mn-ea"/>
                <a:cs typeface="+mn-cs"/>
              </a:rPr>
              <a:t>      </a:t>
            </a:r>
          </a:p>
          <a:p>
            <a:r>
              <a:rPr lang="en-US" sz="1500" dirty="0">
                <a:solidFill>
                  <a:schemeClr val="accent6"/>
                </a:solidFill>
                <a:latin typeface="Google Sans"/>
                <a:ea typeface="+mn-ea"/>
                <a:cs typeface="+mn-cs"/>
              </a:rPr>
              <a:t>**p95 tells you how most users feel; p99 tells you how your system behaves under </a:t>
            </a:r>
            <a:r>
              <a:rPr lang="en-US" sz="1500" dirty="0" err="1">
                <a:solidFill>
                  <a:schemeClr val="accent6"/>
                </a:solidFill>
                <a:latin typeface="Google Sans"/>
                <a:ea typeface="+mn-ea"/>
                <a:cs typeface="+mn-cs"/>
              </a:rPr>
              <a:t>stress.Stateless</a:t>
            </a:r>
            <a:r>
              <a:rPr lang="en-US" sz="1500" dirty="0">
                <a:solidFill>
                  <a:schemeClr val="accent6"/>
                </a:solidFill>
                <a:latin typeface="Google Sans"/>
                <a:ea typeface="+mn-ea"/>
                <a:cs typeface="+mn-cs"/>
              </a:rPr>
              <a:t> systems provide predictable p99 latency and scale reliably under concurrency.** </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For Further Exploration</a:t>
            </a:r>
          </a:p>
          <a:p>
            <a:r>
              <a:rPr lang="en-US" sz="1500" dirty="0">
                <a:hlinkClick r:id="rId7"/>
              </a:rPr>
              <a:t>Little's law: calculate response time vs. number of CPUs</a:t>
            </a:r>
            <a:endParaRPr lang="en-US" sz="1500" dirty="0">
              <a:solidFill>
                <a:schemeClr val="accent2"/>
              </a:solidFill>
              <a:latin typeface="Google Sans"/>
              <a:ea typeface="+mn-ea"/>
              <a:cs typeface="+mn-cs"/>
            </a:endParaRPr>
          </a:p>
          <a:p>
            <a:r>
              <a:rPr lang="en-IN" sz="1500" dirty="0">
                <a:hlinkClick r:id="rId8"/>
              </a:rPr>
              <a:t>The Tail at Scale</a:t>
            </a:r>
            <a:endParaRPr lang="en-US" sz="1500" dirty="0">
              <a:solidFill>
                <a:schemeClr val="accent2"/>
              </a:solidFill>
              <a:latin typeface="Google Sans"/>
              <a:ea typeface="+mn-ea"/>
              <a:cs typeface="+mn-cs"/>
            </a:endParaRPr>
          </a:p>
        </p:txBody>
      </p:sp>
    </p:spTree>
    <p:extLst>
      <p:ext uri="{BB962C8B-B14F-4D97-AF65-F5344CB8AC3E}">
        <p14:creationId xmlns:p14="http://schemas.microsoft.com/office/powerpoint/2010/main" val="19648997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16DC9-C57D-B35A-C540-50FC0618D88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5C9214F-EA27-FC8C-B0CB-E9012433CFAA}"/>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3149F8E-DD56-6A81-84F5-E38C6792C8A3}"/>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6144748-4CD0-8568-7FC2-3A58C5E14DEB}"/>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259B6BC0-7CAF-BFEE-5623-2A35C70E6E7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1B697D41-743A-3D75-1672-D9F19A81BD18}"/>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2470EFB-9C8B-B983-A0B5-C0F1D89BB3D9}"/>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D1F5DCCC-B59B-D976-4016-6FFB6C306AE7}"/>
              </a:ext>
            </a:extLst>
          </p:cNvPr>
          <p:cNvSpPr txBox="1">
            <a:spLocks/>
          </p:cNvSpPr>
          <p:nvPr/>
        </p:nvSpPr>
        <p:spPr>
          <a:xfrm>
            <a:off x="91363" y="788343"/>
            <a:ext cx="8624937" cy="41088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Some Important Statistics</a:t>
            </a:r>
          </a:p>
          <a:p>
            <a:pPr marL="12700" marR="5080"/>
            <a:r>
              <a:rPr lang="en-US" sz="1600" kern="0" spc="-80" dirty="0">
                <a:solidFill>
                  <a:schemeClr val="accent2"/>
                </a:solidFill>
              </a:rPr>
              <a:t> </a:t>
            </a:r>
            <a:r>
              <a:rPr lang="en-IN" sz="1500" kern="0" spc="-80" dirty="0">
                <a:solidFill>
                  <a:schemeClr val="accent2"/>
                </a:solidFill>
              </a:rPr>
              <a:t>Current &amp; Target loads – </a:t>
            </a:r>
          </a:p>
          <a:p>
            <a:pPr marL="12700" marR="5080"/>
            <a:r>
              <a:rPr lang="en-IN" sz="1500" kern="0" spc="-80" dirty="0">
                <a:solidFill>
                  <a:schemeClr val="accent6"/>
                </a:solidFill>
              </a:rPr>
              <a:t>   </a:t>
            </a:r>
            <a:r>
              <a:rPr lang="en-IN" sz="1500" kern="0" spc="-80" dirty="0" err="1">
                <a:solidFill>
                  <a:schemeClr val="accent6"/>
                </a:solidFill>
              </a:rPr>
              <a:t>Avg</a:t>
            </a:r>
            <a:r>
              <a:rPr lang="en-IN" sz="1500" kern="0" spc="-80" dirty="0">
                <a:solidFill>
                  <a:schemeClr val="accent6"/>
                </a:solidFill>
              </a:rPr>
              <a:t> transactions/day</a:t>
            </a:r>
          </a:p>
          <a:p>
            <a:pPr marL="12700" marR="5080"/>
            <a:r>
              <a:rPr lang="en-IN" sz="1500" kern="0" spc="-80" dirty="0">
                <a:solidFill>
                  <a:schemeClr val="accent6"/>
                </a:solidFill>
              </a:rPr>
              <a:t>   Typical hours transactions</a:t>
            </a:r>
          </a:p>
          <a:p>
            <a:pPr marL="12700" marR="5080"/>
            <a:r>
              <a:rPr lang="en-IN" sz="1500" kern="0" spc="-80" dirty="0">
                <a:solidFill>
                  <a:schemeClr val="accent6"/>
                </a:solidFill>
              </a:rPr>
              <a:t>   Peak hours transactions</a:t>
            </a:r>
          </a:p>
          <a:p>
            <a:pPr marL="12700" marR="5080"/>
            <a:r>
              <a:rPr lang="en-IN" sz="1500" kern="0" spc="-80" dirty="0">
                <a:solidFill>
                  <a:schemeClr val="accent6"/>
                </a:solidFill>
              </a:rPr>
              <a:t>   </a:t>
            </a:r>
            <a:r>
              <a:rPr lang="en-IN" sz="1500" kern="0" spc="-80" dirty="0" err="1">
                <a:solidFill>
                  <a:schemeClr val="accent6"/>
                </a:solidFill>
              </a:rPr>
              <a:t>Avg</a:t>
            </a:r>
            <a:r>
              <a:rPr lang="en-IN" sz="1500" kern="0" spc="-80" dirty="0">
                <a:solidFill>
                  <a:schemeClr val="accent6"/>
                </a:solidFill>
              </a:rPr>
              <a:t> Response time </a:t>
            </a:r>
          </a:p>
          <a:p>
            <a:pPr marL="12700" marR="5080"/>
            <a:r>
              <a:rPr lang="en-IN" sz="1500" kern="0" spc="-80" dirty="0">
                <a:solidFill>
                  <a:schemeClr val="accent6"/>
                </a:solidFill>
              </a:rPr>
              <a:t>   90 percentile response time</a:t>
            </a:r>
          </a:p>
          <a:p>
            <a:pPr marL="12700" marR="5080"/>
            <a:endParaRPr lang="en-IN" sz="1500" kern="0" spc="-80" dirty="0">
              <a:solidFill>
                <a:schemeClr val="accent6"/>
              </a:solidFill>
            </a:endParaRPr>
          </a:p>
          <a:p>
            <a:pPr marL="12700" marR="5080"/>
            <a:r>
              <a:rPr lang="en-IN" sz="1500" kern="0" spc="-80" dirty="0">
                <a:solidFill>
                  <a:schemeClr val="accent6"/>
                </a:solidFill>
              </a:rPr>
              <a:t>  </a:t>
            </a:r>
            <a:r>
              <a:rPr lang="en-IN" sz="1500" kern="0" spc="-80" dirty="0">
                <a:solidFill>
                  <a:schemeClr val="accent2"/>
                </a:solidFill>
              </a:rPr>
              <a:t>Inbound &amp; Outbound Batch Jobs</a:t>
            </a:r>
          </a:p>
          <a:p>
            <a:pPr marL="12700" marR="5080"/>
            <a:r>
              <a:rPr lang="en-IN" sz="1500" dirty="0">
                <a:latin typeface="UICTFontTextStyleBody"/>
                <a:ea typeface="Calibri" panose="020F0502020204030204" pitchFamily="34" charset="0"/>
                <a:cs typeface="Calibri" panose="020F0502020204030204" pitchFamily="34" charset="0"/>
              </a:rPr>
              <a:t>     </a:t>
            </a:r>
            <a:r>
              <a:rPr lang="en-IN" sz="1500" kern="0" spc="-80" dirty="0">
                <a:solidFill>
                  <a:schemeClr val="accent6"/>
                </a:solidFill>
                <a:latin typeface="UICTFontTextStyleBody"/>
                <a:ea typeface="Calibri" panose="020F0502020204030204" pitchFamily="34" charset="0"/>
                <a:cs typeface="Calibri" panose="020F0502020204030204" pitchFamily="34" charset="0"/>
              </a:rPr>
              <a:t>V</a:t>
            </a:r>
            <a:r>
              <a:rPr lang="en-IN" sz="1500" kern="0" spc="-80" dirty="0">
                <a:solidFill>
                  <a:schemeClr val="accent6"/>
                </a:solidFill>
              </a:rPr>
              <a:t>olume </a:t>
            </a:r>
          </a:p>
          <a:p>
            <a:pPr marL="12700" marR="5080"/>
            <a:r>
              <a:rPr lang="en-IN" sz="1500" kern="0" spc="-80" dirty="0">
                <a:solidFill>
                  <a:schemeClr val="accent6"/>
                </a:solidFill>
              </a:rPr>
              <a:t>    Duration</a:t>
            </a:r>
          </a:p>
          <a:p>
            <a:pPr marL="12700" marR="5080"/>
            <a:r>
              <a:rPr lang="en-IN" sz="1500" kern="0" spc="-80" dirty="0">
                <a:solidFill>
                  <a:schemeClr val="accent6"/>
                </a:solidFill>
              </a:rPr>
              <a:t>    Transactions/sec</a:t>
            </a:r>
          </a:p>
          <a:p>
            <a:pPr marL="12700" marR="5080"/>
            <a:endParaRPr lang="en-IN" sz="1500" kern="0" spc="-80" dirty="0">
              <a:solidFill>
                <a:schemeClr val="accent6"/>
              </a:solidFill>
            </a:endParaRPr>
          </a:p>
          <a:p>
            <a:pPr marL="12700" marR="5080"/>
            <a:endParaRPr lang="en-IN" sz="1500" kern="0" spc="-80" dirty="0">
              <a:solidFill>
                <a:schemeClr val="accent6"/>
              </a:solidFill>
            </a:endParaRPr>
          </a:p>
          <a:p>
            <a:pPr marL="12700" marR="5080"/>
            <a:endParaRPr lang="en-IN" sz="1500" kern="0" spc="-80" dirty="0">
              <a:solidFill>
                <a:schemeClr val="accent6"/>
              </a:solidFill>
            </a:endParaRPr>
          </a:p>
          <a:p>
            <a:pPr marL="12700" marR="5080"/>
            <a:r>
              <a:rPr lang="en-IN" sz="1600" kern="0" spc="-80" dirty="0">
                <a:solidFill>
                  <a:schemeClr val="accent2"/>
                </a:solidFill>
              </a:rPr>
              <a:t> For Further Exploration</a:t>
            </a:r>
            <a:endParaRPr lang="en-US" sz="1600" kern="0" spc="-80" dirty="0">
              <a:solidFill>
                <a:schemeClr val="accent2"/>
              </a:solidFill>
            </a:endParaRPr>
          </a:p>
          <a:p>
            <a:pPr marL="12700" marR="5080"/>
            <a:r>
              <a:rPr lang="en-US" sz="2000" dirty="0">
                <a:hlinkClick r:id="rId7"/>
              </a:rPr>
              <a:t>Benchmarking Message Queue Latency – Brave New Geek</a:t>
            </a:r>
            <a:r>
              <a:rPr lang="en-US" sz="2000" kern="0" spc="-80" dirty="0">
                <a:solidFill>
                  <a:schemeClr val="accent2"/>
                </a:solidFill>
              </a:rPr>
              <a:t> </a:t>
            </a:r>
            <a:endParaRPr lang="en-US" sz="1300" dirty="0">
              <a:solidFill>
                <a:schemeClr val="accent6"/>
              </a:solidFill>
              <a:latin typeface="Google Sans"/>
              <a:ea typeface="+mn-ea"/>
              <a:cs typeface="+mn-cs"/>
            </a:endParaRPr>
          </a:p>
        </p:txBody>
      </p:sp>
    </p:spTree>
    <p:extLst>
      <p:ext uri="{BB962C8B-B14F-4D97-AF65-F5344CB8AC3E}">
        <p14:creationId xmlns:p14="http://schemas.microsoft.com/office/powerpoint/2010/main" val="23615212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A71F5-B3B1-80C0-71E0-D67D92DC6F7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3138853-E273-92D4-096C-B94DF501A46C}"/>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327FC5F-508B-C1D8-0823-5B2F8A9FA3C1}"/>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B07EC9D-F2EC-3784-03AA-AC40813DAF34}"/>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D0889C69-00F7-4316-7D39-7BA6ED42AFD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7A881C59-C19A-DF62-FFE9-1B19B1E64ADA}"/>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04829D83-B95D-4A9B-F3A1-08D229D34DC3}"/>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A4AE7659-1A0A-392A-A170-6498DC06E589}"/>
              </a:ext>
            </a:extLst>
          </p:cNvPr>
          <p:cNvSpPr txBox="1">
            <a:spLocks/>
          </p:cNvSpPr>
          <p:nvPr/>
        </p:nvSpPr>
        <p:spPr>
          <a:xfrm>
            <a:off x="91363" y="788343"/>
            <a:ext cx="8624937" cy="50321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Co-ordinated Omission</a:t>
            </a:r>
          </a:p>
          <a:p>
            <a:r>
              <a:rPr lang="en-US" sz="1500" dirty="0">
                <a:solidFill>
                  <a:schemeClr val="accent6"/>
                </a:solidFill>
                <a:latin typeface="Google Sans"/>
                <a:ea typeface="+mn-ea"/>
                <a:cs typeface="+mn-cs"/>
              </a:rPr>
              <a:t>Coordinated omission is a performance measurement error occurring in load testing where the testing tool pauses during system slowdowns, failing to record high-latency data points. This causes the system to appear faster than it is, because the tool only records "service time" (processing) rather than the total "response time" (wait + processing). </a:t>
            </a:r>
          </a:p>
          <a:p>
            <a:r>
              <a:rPr lang="en-US" sz="1500" dirty="0">
                <a:solidFill>
                  <a:schemeClr val="accent2"/>
                </a:solidFill>
                <a:latin typeface="Google Sans"/>
                <a:ea typeface="+mn-ea"/>
                <a:cs typeface="+mn-cs"/>
              </a:rPr>
              <a:t>Key Details About Coordinated Omission</a:t>
            </a:r>
          </a:p>
          <a:p>
            <a:r>
              <a:rPr lang="en-US" sz="1500" dirty="0">
                <a:solidFill>
                  <a:schemeClr val="accent2"/>
                </a:solidFill>
                <a:latin typeface="Google Sans"/>
                <a:ea typeface="+mn-ea"/>
                <a:cs typeface="+mn-cs"/>
              </a:rPr>
              <a:t>How it Happens: </a:t>
            </a:r>
            <a:r>
              <a:rPr lang="en-US" sz="1500" dirty="0">
                <a:solidFill>
                  <a:schemeClr val="accent6"/>
                </a:solidFill>
                <a:latin typeface="Google Sans"/>
                <a:ea typeface="+mn-ea"/>
                <a:cs typeface="+mn-cs"/>
              </a:rPr>
              <a:t>When the System Under Test (SUT) slows down, the load generator waits for the slow response, missing the scheduled timing for subsequent requests.</a:t>
            </a:r>
          </a:p>
          <a:p>
            <a:r>
              <a:rPr lang="en-US" sz="1500" dirty="0">
                <a:solidFill>
                  <a:schemeClr val="accent2"/>
                </a:solidFill>
                <a:latin typeface="Google Sans"/>
                <a:ea typeface="+mn-ea"/>
                <a:cs typeface="+mn-cs"/>
              </a:rPr>
              <a:t>Impact on Data: </a:t>
            </a:r>
            <a:r>
              <a:rPr lang="en-US" sz="1500" dirty="0">
                <a:solidFill>
                  <a:schemeClr val="accent6"/>
                </a:solidFill>
                <a:latin typeface="Google Sans"/>
                <a:ea typeface="+mn-ea"/>
                <a:cs typeface="+mn-cs"/>
              </a:rPr>
              <a:t>It hides latency spikes and creates optimistic, misleading, or incorrect performance reports.</a:t>
            </a:r>
          </a:p>
          <a:p>
            <a:r>
              <a:rPr lang="en-US" sz="1500" dirty="0">
                <a:solidFill>
                  <a:schemeClr val="accent2"/>
                </a:solidFill>
                <a:latin typeface="Google Sans"/>
                <a:ea typeface="+mn-ea"/>
                <a:cs typeface="+mn-cs"/>
              </a:rPr>
              <a:t>Example Scenario: </a:t>
            </a:r>
            <a:r>
              <a:rPr lang="en-US" sz="1500" dirty="0">
                <a:solidFill>
                  <a:schemeClr val="accent6"/>
                </a:solidFill>
                <a:latin typeface="Google Sans"/>
                <a:ea typeface="+mn-ea"/>
                <a:cs typeface="+mn-cs"/>
              </a:rPr>
              <a:t>A server hangs for 500ms, causing the load generator to skip 500 requests during that time. The tool reports only the single long, 500ms request rather than 500 individual failed requests.</a:t>
            </a:r>
          </a:p>
          <a:p>
            <a:r>
              <a:rPr lang="en-US" sz="1500" dirty="0">
                <a:solidFill>
                  <a:schemeClr val="accent2"/>
                </a:solidFill>
                <a:latin typeface="Google Sans"/>
                <a:ea typeface="+mn-ea"/>
                <a:cs typeface="+mn-cs"/>
              </a:rPr>
              <a:t>Mitigation Techniques: </a:t>
            </a:r>
            <a:r>
              <a:rPr lang="en-US" sz="1500" dirty="0">
                <a:solidFill>
                  <a:schemeClr val="accent6"/>
                </a:solidFill>
                <a:latin typeface="Google Sans"/>
                <a:ea typeface="+mn-ea"/>
                <a:cs typeface="+mn-cs"/>
              </a:rPr>
              <a:t>To fix this, testers should use tools that record the intended schedule regardless of the response (e.g., </a:t>
            </a:r>
            <a:r>
              <a:rPr lang="en-US" sz="1500" dirty="0" err="1">
                <a:solidFill>
                  <a:schemeClr val="accent6"/>
                </a:solidFill>
                <a:latin typeface="Google Sans"/>
                <a:ea typeface="+mn-ea"/>
                <a:cs typeface="+mn-cs"/>
              </a:rPr>
              <a:t>Hyperfoil</a:t>
            </a:r>
            <a:r>
              <a:rPr lang="en-US" sz="1500" dirty="0">
                <a:solidFill>
                  <a:schemeClr val="accent6"/>
                </a:solidFill>
                <a:latin typeface="Google Sans"/>
                <a:ea typeface="+mn-ea"/>
                <a:cs typeface="+mn-cs"/>
              </a:rPr>
              <a:t> or Goose), use tools that support asynchronous, open-model traffic generation, or use </a:t>
            </a:r>
            <a:r>
              <a:rPr lang="en-US" sz="1500" dirty="0" err="1">
                <a:solidFill>
                  <a:schemeClr val="accent6"/>
                </a:solidFill>
                <a:latin typeface="Google Sans"/>
                <a:ea typeface="+mn-ea"/>
                <a:cs typeface="+mn-cs"/>
              </a:rPr>
              <a:t>HdrHistogram</a:t>
            </a:r>
            <a:r>
              <a:rPr lang="en-US" sz="1500" dirty="0">
                <a:solidFill>
                  <a:schemeClr val="accent6"/>
                </a:solidFill>
                <a:latin typeface="Google Sans"/>
                <a:ea typeface="+mn-ea"/>
                <a:cs typeface="+mn-cs"/>
              </a:rPr>
              <a:t> for accurate recording. </a:t>
            </a:r>
          </a:p>
          <a:p>
            <a:r>
              <a:rPr lang="en-US" sz="1500" dirty="0">
                <a:solidFill>
                  <a:schemeClr val="accent6"/>
                </a:solidFill>
                <a:latin typeface="Google Sans"/>
                <a:ea typeface="+mn-ea"/>
                <a:cs typeface="+mn-cs"/>
              </a:rPr>
              <a:t>Coordinated omission was popularized by Gil Tene, who highlighted the distinction between measuring service time versus true user-experienced response time. </a:t>
            </a:r>
          </a:p>
          <a:p>
            <a:endParaRPr lang="en-US" sz="1500" dirty="0">
              <a:solidFill>
                <a:schemeClr val="accent6"/>
              </a:solidFill>
              <a:latin typeface="Google Sans"/>
              <a:ea typeface="+mn-ea"/>
              <a:cs typeface="+mn-cs"/>
            </a:endParaRPr>
          </a:p>
          <a:p>
            <a:r>
              <a:rPr lang="en-US" sz="1800" dirty="0">
                <a:solidFill>
                  <a:schemeClr val="accent2"/>
                </a:solidFill>
                <a:latin typeface="Google Sans"/>
                <a:ea typeface="+mn-ea"/>
                <a:cs typeface="+mn-cs"/>
              </a:rPr>
              <a:t>For Further Exploration</a:t>
            </a:r>
          </a:p>
          <a:p>
            <a:r>
              <a:rPr lang="en-US" sz="1600" dirty="0">
                <a:hlinkClick r:id="rId7"/>
              </a:rPr>
              <a:t>The Coordinated Omission Problem in the Benchmark Tools | by </a:t>
            </a:r>
            <a:r>
              <a:rPr lang="en-US" sz="1600" dirty="0" err="1">
                <a:hlinkClick r:id="rId7"/>
              </a:rPr>
              <a:t>siddontang</a:t>
            </a:r>
            <a:r>
              <a:rPr lang="en-US" sz="1600" dirty="0">
                <a:hlinkClick r:id="rId7"/>
              </a:rPr>
              <a:t> | Medium</a:t>
            </a:r>
            <a:endParaRPr lang="en-US" sz="1500" dirty="0">
              <a:solidFill>
                <a:schemeClr val="accent2"/>
              </a:solidFill>
              <a:latin typeface="Google Sans"/>
              <a:ea typeface="+mn-ea"/>
              <a:cs typeface="+mn-cs"/>
            </a:endParaRPr>
          </a:p>
          <a:p>
            <a:endParaRPr lang="en-US" sz="2000" dirty="0">
              <a:solidFill>
                <a:schemeClr val="accent2"/>
              </a:solidFill>
              <a:latin typeface="Google Sans"/>
              <a:ea typeface="+mn-ea"/>
              <a:cs typeface="+mn-cs"/>
            </a:endParaRPr>
          </a:p>
        </p:txBody>
      </p:sp>
    </p:spTree>
    <p:extLst>
      <p:ext uri="{BB962C8B-B14F-4D97-AF65-F5344CB8AC3E}">
        <p14:creationId xmlns:p14="http://schemas.microsoft.com/office/powerpoint/2010/main" val="189998083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3564502306"/>
              </p:ext>
            </p:extLst>
          </p:nvPr>
        </p:nvGraphicFramePr>
        <p:xfrm>
          <a:off x="0" y="34425"/>
          <a:ext cx="9067800" cy="422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Layer vs Tier – </a:t>
            </a:r>
          </a:p>
        </p:txBody>
      </p:sp>
      <p:pic>
        <p:nvPicPr>
          <p:cNvPr id="8" name="Picture 7">
            <a:extLst>
              <a:ext uri="{FF2B5EF4-FFF2-40B4-BE49-F238E27FC236}">
                <a16:creationId xmlns:a16="http://schemas.microsoft.com/office/drawing/2014/main" id="{6DEF562A-9398-1616-D5D9-E265B77BD155}"/>
              </a:ext>
            </a:extLst>
          </p:cNvPr>
          <p:cNvPicPr>
            <a:picLocks noChangeAspect="1"/>
          </p:cNvPicPr>
          <p:nvPr/>
        </p:nvPicPr>
        <p:blipFill>
          <a:blip r:embed="rId7"/>
          <a:stretch>
            <a:fillRect/>
          </a:stretch>
        </p:blipFill>
        <p:spPr>
          <a:xfrm>
            <a:off x="76200" y="1131332"/>
            <a:ext cx="8867999" cy="4777843"/>
          </a:xfrm>
          <a:prstGeom prst="rect">
            <a:avLst/>
          </a:prstGeom>
        </p:spPr>
      </p:pic>
    </p:spTree>
    <p:extLst>
      <p:ext uri="{BB962C8B-B14F-4D97-AF65-F5344CB8AC3E}">
        <p14:creationId xmlns:p14="http://schemas.microsoft.com/office/powerpoint/2010/main" val="385629160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61863"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Vertical vs Horizontal Scaling – </a:t>
            </a:r>
          </a:p>
        </p:txBody>
      </p:sp>
      <p:pic>
        <p:nvPicPr>
          <p:cNvPr id="9" name="Picture 8">
            <a:extLst>
              <a:ext uri="{FF2B5EF4-FFF2-40B4-BE49-F238E27FC236}">
                <a16:creationId xmlns:a16="http://schemas.microsoft.com/office/drawing/2014/main" id="{54AF0341-0816-07FD-42B5-F52CFF26FB0E}"/>
              </a:ext>
            </a:extLst>
          </p:cNvPr>
          <p:cNvPicPr>
            <a:picLocks noChangeAspect="1"/>
          </p:cNvPicPr>
          <p:nvPr/>
        </p:nvPicPr>
        <p:blipFill>
          <a:blip r:embed="rId2"/>
          <a:stretch>
            <a:fillRect/>
          </a:stretch>
        </p:blipFill>
        <p:spPr>
          <a:xfrm>
            <a:off x="152400" y="1131333"/>
            <a:ext cx="8763000" cy="4659868"/>
          </a:xfrm>
          <a:prstGeom prst="rect">
            <a:avLst/>
          </a:prstGeom>
        </p:spPr>
      </p:pic>
      <p:grpSp>
        <p:nvGrpSpPr>
          <p:cNvPr id="7" name="Group 6">
            <a:extLst>
              <a:ext uri="{FF2B5EF4-FFF2-40B4-BE49-F238E27FC236}">
                <a16:creationId xmlns:a16="http://schemas.microsoft.com/office/drawing/2014/main" id="{1BA4657E-C3BE-DAE6-D1A0-C7693B99169D}"/>
              </a:ext>
            </a:extLst>
          </p:cNvPr>
          <p:cNvGrpSpPr/>
          <p:nvPr/>
        </p:nvGrpSpPr>
        <p:grpSpPr>
          <a:xfrm>
            <a:off x="7168" y="32345"/>
            <a:ext cx="9067800" cy="422725"/>
            <a:chOff x="0" y="0"/>
            <a:chExt cx="9067800" cy="422725"/>
          </a:xfrm>
        </p:grpSpPr>
        <p:sp>
          <p:nvSpPr>
            <p:cNvPr id="8" name="Rectangle: Rounded Corners 7">
              <a:extLst>
                <a:ext uri="{FF2B5EF4-FFF2-40B4-BE49-F238E27FC236}">
                  <a16:creationId xmlns:a16="http://schemas.microsoft.com/office/drawing/2014/main" id="{503AFBE2-C5B0-FEA6-E379-5D9CB9F43BBC}"/>
                </a:ext>
              </a:extLst>
            </p:cNvPr>
            <p:cNvSpPr/>
            <p:nvPr/>
          </p:nvSpPr>
          <p:spPr>
            <a:xfrm>
              <a:off x="0" y="0"/>
              <a:ext cx="9067800" cy="422725"/>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0F950994-776F-7F30-5E34-46B475E389DB}"/>
                </a:ext>
              </a:extLst>
            </p:cNvPr>
            <p:cNvSpPr txBox="1"/>
            <p:nvPr/>
          </p:nvSpPr>
          <p:spPr>
            <a:xfrm>
              <a:off x="20636" y="20636"/>
              <a:ext cx="9026528" cy="38145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Scalability</a:t>
              </a:r>
              <a:endParaRPr lang="en-US" sz="2800" kern="1200" dirty="0">
                <a:solidFill>
                  <a:prstClr val="white"/>
                </a:solidFill>
                <a:latin typeface="Calibri"/>
                <a:ea typeface="+mn-ea"/>
                <a:cs typeface="+mn-cs"/>
              </a:endParaRPr>
            </a:p>
          </p:txBody>
        </p:sp>
      </p:grpSp>
    </p:spTree>
    <p:extLst>
      <p:ext uri="{BB962C8B-B14F-4D97-AF65-F5344CB8AC3E}">
        <p14:creationId xmlns:p14="http://schemas.microsoft.com/office/powerpoint/2010/main" val="380930129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762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Scale Cube – </a:t>
            </a:r>
          </a:p>
        </p:txBody>
      </p:sp>
      <p:pic>
        <p:nvPicPr>
          <p:cNvPr id="15364" name="Picture 4" descr="The Scale Cube – Nandun Thilina Bandara">
            <a:extLst>
              <a:ext uri="{FF2B5EF4-FFF2-40B4-BE49-F238E27FC236}">
                <a16:creationId xmlns:a16="http://schemas.microsoft.com/office/drawing/2014/main" id="{71B4C2E3-F2E5-2FDA-309C-FD2013E24F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170068"/>
            <a:ext cx="8763000" cy="4468732"/>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9D019173-B50A-64C7-A917-89612C2EEE14}"/>
              </a:ext>
            </a:extLst>
          </p:cNvPr>
          <p:cNvGrpSpPr/>
          <p:nvPr/>
        </p:nvGrpSpPr>
        <p:grpSpPr>
          <a:xfrm>
            <a:off x="7168" y="-4261"/>
            <a:ext cx="9067800" cy="422725"/>
            <a:chOff x="0" y="0"/>
            <a:chExt cx="9067800" cy="422725"/>
          </a:xfrm>
        </p:grpSpPr>
        <p:sp>
          <p:nvSpPr>
            <p:cNvPr id="8" name="Rectangle: Rounded Corners 7">
              <a:extLst>
                <a:ext uri="{FF2B5EF4-FFF2-40B4-BE49-F238E27FC236}">
                  <a16:creationId xmlns:a16="http://schemas.microsoft.com/office/drawing/2014/main" id="{654E254E-82F0-C0A7-BCDE-8F862B47CEA1}"/>
                </a:ext>
              </a:extLst>
            </p:cNvPr>
            <p:cNvSpPr/>
            <p:nvPr/>
          </p:nvSpPr>
          <p:spPr>
            <a:xfrm>
              <a:off x="0" y="0"/>
              <a:ext cx="9067800" cy="422725"/>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CFE25995-CF58-F06C-6133-29AE09BEA18F}"/>
                </a:ext>
              </a:extLst>
            </p:cNvPr>
            <p:cNvSpPr txBox="1"/>
            <p:nvPr/>
          </p:nvSpPr>
          <p:spPr>
            <a:xfrm>
              <a:off x="20636" y="20636"/>
              <a:ext cx="9026528" cy="38145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Scalability</a:t>
              </a:r>
              <a:endParaRPr lang="en-US" sz="2800" kern="1200" dirty="0">
                <a:solidFill>
                  <a:prstClr val="white"/>
                </a:solidFill>
                <a:latin typeface="Calibri"/>
                <a:ea typeface="+mn-ea"/>
                <a:cs typeface="+mn-cs"/>
              </a:endParaRPr>
            </a:p>
          </p:txBody>
        </p:sp>
      </p:grpSp>
    </p:spTree>
    <p:extLst>
      <p:ext uri="{BB962C8B-B14F-4D97-AF65-F5344CB8AC3E}">
        <p14:creationId xmlns:p14="http://schemas.microsoft.com/office/powerpoint/2010/main" val="313735128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76200" y="762000"/>
            <a:ext cx="8624937" cy="303159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Layer vs Tier – </a:t>
            </a:r>
          </a:p>
          <a:p>
            <a:pPr marL="12700" marR="5080"/>
            <a:r>
              <a:rPr lang="en-US" sz="1500" kern="0" spc="-80" dirty="0">
                <a:solidFill>
                  <a:schemeClr val="accent2"/>
                </a:solidFill>
              </a:rPr>
              <a:t> </a:t>
            </a:r>
            <a:r>
              <a:rPr lang="en-US" sz="1500" dirty="0">
                <a:hlinkClick r:id="rId2"/>
              </a:rPr>
              <a:t>What's the difference between a cake tier and a layer of cake? – My Baker</a:t>
            </a:r>
            <a:endParaRPr lang="en-US" sz="1500" kern="0" spc="-80" dirty="0">
              <a:solidFill>
                <a:schemeClr val="accent2"/>
              </a:solidFill>
            </a:endParaRPr>
          </a:p>
          <a:p>
            <a:pPr marL="12700" marR="5080"/>
            <a:endParaRPr lang="en-US" sz="2000" kern="0" spc="-80" dirty="0">
              <a:solidFill>
                <a:schemeClr val="accent2"/>
              </a:solidFill>
            </a:endParaRPr>
          </a:p>
          <a:p>
            <a:pPr marL="12700" marR="5080"/>
            <a:endParaRPr lang="en-US" sz="2000" kern="0" spc="-80" dirty="0">
              <a:solidFill>
                <a:schemeClr val="accent2"/>
              </a:solidFill>
            </a:endParaRPr>
          </a:p>
          <a:p>
            <a:pPr marL="12700" marR="5080"/>
            <a:r>
              <a:rPr lang="en-US" sz="2400" kern="0" spc="-80" dirty="0">
                <a:solidFill>
                  <a:schemeClr val="accent2"/>
                </a:solidFill>
              </a:rPr>
              <a:t>Horizontal vs Vertical Scaling – </a:t>
            </a:r>
          </a:p>
          <a:p>
            <a:pPr marL="12700" marR="5080"/>
            <a:r>
              <a:rPr lang="en-IN" sz="1500" dirty="0">
                <a:hlinkClick r:id="rId3"/>
              </a:rPr>
              <a:t>Horizontal vs. Vertical Scaling: HPA, VPA &amp; Beyond | </a:t>
            </a:r>
            <a:r>
              <a:rPr lang="en-IN" sz="1500" dirty="0" err="1">
                <a:hlinkClick r:id="rId3"/>
              </a:rPr>
              <a:t>nOps</a:t>
            </a:r>
            <a:endParaRPr lang="en-US" sz="1500" kern="0" spc="-80" dirty="0">
              <a:solidFill>
                <a:schemeClr val="accent2"/>
              </a:solidFill>
            </a:endParaRPr>
          </a:p>
          <a:p>
            <a:pPr marL="12700" marR="5080"/>
            <a:endParaRPr lang="en-US" sz="2000" kern="0" spc="-80" dirty="0">
              <a:solidFill>
                <a:schemeClr val="accent2"/>
              </a:solidFill>
            </a:endParaRPr>
          </a:p>
          <a:p>
            <a:pPr marL="12700" marR="5080"/>
            <a:endParaRPr lang="en-US" sz="2000" kern="0" spc="-80" dirty="0">
              <a:solidFill>
                <a:schemeClr val="accent2"/>
              </a:solidFill>
            </a:endParaRPr>
          </a:p>
          <a:p>
            <a:pPr marL="12700" marR="5080"/>
            <a:r>
              <a:rPr lang="en-US" sz="2400" kern="0" spc="-80" dirty="0">
                <a:solidFill>
                  <a:schemeClr val="accent2"/>
                </a:solidFill>
              </a:rPr>
              <a:t>Scale Cube – </a:t>
            </a:r>
          </a:p>
          <a:p>
            <a:pPr marL="12700" marR="5080"/>
            <a:r>
              <a:rPr lang="en-IN" sz="1500" dirty="0">
                <a:hlinkClick r:id="rId4"/>
              </a:rPr>
              <a:t>The Scale Cube</a:t>
            </a:r>
            <a:endParaRPr lang="en-US" sz="1500" kern="0" spc="-80" dirty="0">
              <a:solidFill>
                <a:schemeClr val="accent2"/>
              </a:solidFill>
            </a:endParaRPr>
          </a:p>
        </p:txBody>
      </p:sp>
      <p:grpSp>
        <p:nvGrpSpPr>
          <p:cNvPr id="7" name="Group 6">
            <a:extLst>
              <a:ext uri="{FF2B5EF4-FFF2-40B4-BE49-F238E27FC236}">
                <a16:creationId xmlns:a16="http://schemas.microsoft.com/office/drawing/2014/main" id="{532A77FF-8062-4C16-AEB9-6E752FA2EA12}"/>
              </a:ext>
            </a:extLst>
          </p:cNvPr>
          <p:cNvGrpSpPr/>
          <p:nvPr/>
        </p:nvGrpSpPr>
        <p:grpSpPr>
          <a:xfrm>
            <a:off x="0" y="-4261"/>
            <a:ext cx="9067800" cy="422725"/>
            <a:chOff x="0" y="0"/>
            <a:chExt cx="9067800" cy="422725"/>
          </a:xfrm>
        </p:grpSpPr>
        <p:sp>
          <p:nvSpPr>
            <p:cNvPr id="8" name="Rectangle: Rounded Corners 7">
              <a:extLst>
                <a:ext uri="{FF2B5EF4-FFF2-40B4-BE49-F238E27FC236}">
                  <a16:creationId xmlns:a16="http://schemas.microsoft.com/office/drawing/2014/main" id="{E69282F1-F05C-A1D8-4272-7C1EEE0B1896}"/>
                </a:ext>
              </a:extLst>
            </p:cNvPr>
            <p:cNvSpPr/>
            <p:nvPr/>
          </p:nvSpPr>
          <p:spPr>
            <a:xfrm>
              <a:off x="0" y="0"/>
              <a:ext cx="9067800" cy="422725"/>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D0F6E17-CD94-2D4E-8316-53C3DD13FA6B}"/>
                </a:ext>
              </a:extLst>
            </p:cNvPr>
            <p:cNvSpPr txBox="1"/>
            <p:nvPr/>
          </p:nvSpPr>
          <p:spPr>
            <a:xfrm>
              <a:off x="20636" y="20636"/>
              <a:ext cx="9026528" cy="38145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i="0" kern="1200" dirty="0"/>
                <a:t>Scalability</a:t>
              </a:r>
              <a:endParaRPr lang="en-US" sz="2800" kern="1200" dirty="0">
                <a:solidFill>
                  <a:prstClr val="white"/>
                </a:solidFill>
                <a:latin typeface="Calibri"/>
                <a:ea typeface="+mn-ea"/>
                <a:cs typeface="+mn-cs"/>
              </a:endParaRPr>
            </a:p>
          </p:txBody>
        </p:sp>
      </p:grpSp>
    </p:spTree>
    <p:extLst>
      <p:ext uri="{BB962C8B-B14F-4D97-AF65-F5344CB8AC3E}">
        <p14:creationId xmlns:p14="http://schemas.microsoft.com/office/powerpoint/2010/main" val="338987920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3" name="object 2">
            <a:extLst>
              <a:ext uri="{FF2B5EF4-FFF2-40B4-BE49-F238E27FC236}">
                <a16:creationId xmlns:a16="http://schemas.microsoft.com/office/drawing/2014/main" id="{797D0467-E07D-4F69-F84C-E1A6743611F5}"/>
              </a:ext>
            </a:extLst>
          </p:cNvPr>
          <p:cNvSpPr txBox="1">
            <a:spLocks/>
          </p:cNvSpPr>
          <p:nvPr/>
        </p:nvSpPr>
        <p:spPr>
          <a:xfrm>
            <a:off x="76200" y="937736"/>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Load Balancer–</a:t>
            </a:r>
          </a:p>
        </p:txBody>
      </p:sp>
      <p:pic>
        <p:nvPicPr>
          <p:cNvPr id="3074" name="Picture 2" descr="What is a Load Balancer? Definition &amp; FAQs | Avi Networks">
            <a:extLst>
              <a:ext uri="{FF2B5EF4-FFF2-40B4-BE49-F238E27FC236}">
                <a16:creationId xmlns:a16="http://schemas.microsoft.com/office/drawing/2014/main" id="{11A559D1-60C2-2A39-B896-69F0DDAA5F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307068"/>
            <a:ext cx="8839200" cy="452223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Diagram 1">
            <a:extLst>
              <a:ext uri="{FF2B5EF4-FFF2-40B4-BE49-F238E27FC236}">
                <a16:creationId xmlns:a16="http://schemas.microsoft.com/office/drawing/2014/main" id="{C362F092-4FD3-ADC1-3C30-AFA53107BBB1}"/>
              </a:ext>
            </a:extLst>
          </p:cNvPr>
          <p:cNvGraphicFramePr/>
          <p:nvPr>
            <p:extLst>
              <p:ext uri="{D42A27DB-BD31-4B8C-83A1-F6EECF244321}">
                <p14:modId xmlns:p14="http://schemas.microsoft.com/office/powerpoint/2010/main" val="2628993735"/>
              </p:ext>
            </p:extLst>
          </p:nvPr>
        </p:nvGraphicFramePr>
        <p:xfrm>
          <a:off x="0" y="0"/>
          <a:ext cx="9067800" cy="6470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885866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3" name="object 2">
            <a:extLst>
              <a:ext uri="{FF2B5EF4-FFF2-40B4-BE49-F238E27FC236}">
                <a16:creationId xmlns:a16="http://schemas.microsoft.com/office/drawing/2014/main" id="{797D0467-E07D-4F69-F84C-E1A6743611F5}"/>
              </a:ext>
            </a:extLst>
          </p:cNvPr>
          <p:cNvSpPr txBox="1">
            <a:spLocks/>
          </p:cNvSpPr>
          <p:nvPr/>
        </p:nvSpPr>
        <p:spPr>
          <a:xfrm>
            <a:off x="76200" y="914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Load Balancer (Types)– </a:t>
            </a:r>
          </a:p>
        </p:txBody>
      </p:sp>
      <p:graphicFrame>
        <p:nvGraphicFramePr>
          <p:cNvPr id="9" name="Table 8">
            <a:extLst>
              <a:ext uri="{FF2B5EF4-FFF2-40B4-BE49-F238E27FC236}">
                <a16:creationId xmlns:a16="http://schemas.microsoft.com/office/drawing/2014/main" id="{42E7B208-F977-C274-11E9-221C8927D82D}"/>
              </a:ext>
            </a:extLst>
          </p:cNvPr>
          <p:cNvGraphicFramePr>
            <a:graphicFrameLocks noGrp="1"/>
          </p:cNvGraphicFramePr>
          <p:nvPr>
            <p:extLst>
              <p:ext uri="{D42A27DB-BD31-4B8C-83A1-F6EECF244321}">
                <p14:modId xmlns:p14="http://schemas.microsoft.com/office/powerpoint/2010/main" val="3934963602"/>
              </p:ext>
            </p:extLst>
          </p:nvPr>
        </p:nvGraphicFramePr>
        <p:xfrm>
          <a:off x="76200" y="1295400"/>
          <a:ext cx="8853536" cy="4572000"/>
        </p:xfrm>
        <a:graphic>
          <a:graphicData uri="http://schemas.openxmlformats.org/drawingml/2006/table">
            <a:tbl>
              <a:tblPr firstRow="1" bandRow="1">
                <a:tableStyleId>{5C22544A-7EE6-4342-B048-85BDC9FD1C3A}</a:tableStyleId>
              </a:tblPr>
              <a:tblGrid>
                <a:gridCol w="2213384">
                  <a:extLst>
                    <a:ext uri="{9D8B030D-6E8A-4147-A177-3AD203B41FA5}">
                      <a16:colId xmlns:a16="http://schemas.microsoft.com/office/drawing/2014/main" val="3996933972"/>
                    </a:ext>
                  </a:extLst>
                </a:gridCol>
                <a:gridCol w="2213384">
                  <a:extLst>
                    <a:ext uri="{9D8B030D-6E8A-4147-A177-3AD203B41FA5}">
                      <a16:colId xmlns:a16="http://schemas.microsoft.com/office/drawing/2014/main" val="2345343663"/>
                    </a:ext>
                  </a:extLst>
                </a:gridCol>
                <a:gridCol w="2213384">
                  <a:extLst>
                    <a:ext uri="{9D8B030D-6E8A-4147-A177-3AD203B41FA5}">
                      <a16:colId xmlns:a16="http://schemas.microsoft.com/office/drawing/2014/main" val="1360033690"/>
                    </a:ext>
                  </a:extLst>
                </a:gridCol>
                <a:gridCol w="2213384">
                  <a:extLst>
                    <a:ext uri="{9D8B030D-6E8A-4147-A177-3AD203B41FA5}">
                      <a16:colId xmlns:a16="http://schemas.microsoft.com/office/drawing/2014/main" val="3188013751"/>
                    </a:ext>
                  </a:extLst>
                </a:gridCol>
              </a:tblGrid>
              <a:tr h="388540">
                <a:tc>
                  <a:txBody>
                    <a:bodyPr/>
                    <a:lstStyle/>
                    <a:p>
                      <a:r>
                        <a:rPr lang="en-US" dirty="0"/>
                        <a:t>LB Type</a:t>
                      </a:r>
                      <a:endParaRPr lang="en-IN" dirty="0"/>
                    </a:p>
                  </a:txBody>
                  <a:tcPr/>
                </a:tc>
                <a:tc>
                  <a:txBody>
                    <a:bodyPr/>
                    <a:lstStyle/>
                    <a:p>
                      <a:r>
                        <a:rPr lang="en-US" dirty="0"/>
                        <a:t>Layer(s)</a:t>
                      </a:r>
                      <a:endParaRPr lang="en-IN" dirty="0"/>
                    </a:p>
                  </a:txBody>
                  <a:tcPr/>
                </a:tc>
                <a:tc>
                  <a:txBody>
                    <a:bodyPr/>
                    <a:lstStyle/>
                    <a:p>
                      <a:pPr marL="0"/>
                      <a:r>
                        <a:rPr lang="en-US" b="1" dirty="0">
                          <a:solidFill>
                            <a:schemeClr val="lt1"/>
                          </a:solidFill>
                          <a:latin typeface="+mn-lt"/>
                          <a:ea typeface="+mn-ea"/>
                          <a:cs typeface="+mn-cs"/>
                        </a:rPr>
                        <a:t>Feature(s)</a:t>
                      </a:r>
                      <a:endParaRPr lang="en-IN" b="1" dirty="0">
                        <a:solidFill>
                          <a:schemeClr val="lt1"/>
                        </a:solidFill>
                        <a:latin typeface="+mn-lt"/>
                        <a:ea typeface="+mn-ea"/>
                        <a:cs typeface="+mn-cs"/>
                      </a:endParaRPr>
                    </a:p>
                  </a:txBody>
                  <a:tcPr/>
                </a:tc>
                <a:tc>
                  <a:txBody>
                    <a:bodyPr/>
                    <a:lstStyle/>
                    <a:p>
                      <a:r>
                        <a:rPr lang="en-US" dirty="0"/>
                        <a:t>Use Case(s)</a:t>
                      </a:r>
                      <a:endParaRPr lang="en-IN" dirty="0"/>
                    </a:p>
                  </a:txBody>
                  <a:tcPr/>
                </a:tc>
                <a:extLst>
                  <a:ext uri="{0D108BD9-81ED-4DB2-BD59-A6C34878D82A}">
                    <a16:rowId xmlns:a16="http://schemas.microsoft.com/office/drawing/2014/main" val="3051410204"/>
                  </a:ext>
                </a:extLst>
              </a:tr>
              <a:tr h="2011893">
                <a:tc>
                  <a:txBody>
                    <a:bodyPr/>
                    <a:lstStyle/>
                    <a:p>
                      <a:r>
                        <a:rPr lang="en-US" sz="1200" dirty="0"/>
                        <a:t>GLB(Global Load Balancer)</a:t>
                      </a:r>
                      <a:endParaRPr lang="en-IN" sz="1200" dirty="0"/>
                    </a:p>
                  </a:txBody>
                  <a:tcPr/>
                </a:tc>
                <a:tc>
                  <a:txBody>
                    <a:bodyPr/>
                    <a:lstStyle/>
                    <a:p>
                      <a:r>
                        <a:rPr lang="en-US" sz="1200" dirty="0"/>
                        <a:t>Layer 3</a:t>
                      </a:r>
                      <a:endParaRPr lang="en-IN" sz="1200" dirty="0"/>
                    </a:p>
                  </a:txBody>
                  <a:tcPr/>
                </a:tc>
                <a:tc>
                  <a:txBody>
                    <a:bodyPr/>
                    <a:lstStyle/>
                    <a:p>
                      <a:r>
                        <a:rPr lang="en-US" sz="1200" b="1" dirty="0"/>
                        <a:t>Multi-Region</a:t>
                      </a:r>
                      <a:r>
                        <a:rPr lang="en-US" sz="1200" dirty="0"/>
                        <a:t>: Allows for global load balancing across multiple Cloud Regions.</a:t>
                      </a:r>
                    </a:p>
                    <a:p>
                      <a:r>
                        <a:rPr lang="en-US" sz="1200" b="1" dirty="0"/>
                        <a:t>DNS-Based:</a:t>
                      </a:r>
                      <a:r>
                        <a:rPr lang="en-US" sz="1200" dirty="0"/>
                        <a:t> GLB primarily relies on DNS for routing decisions. </a:t>
                      </a:r>
                    </a:p>
                    <a:p>
                      <a:r>
                        <a:rPr lang="en-US" sz="1200" dirty="0"/>
                        <a:t>Failover and Latency-Based </a:t>
                      </a:r>
                      <a:r>
                        <a:rPr lang="en-US" sz="1200" b="1" dirty="0"/>
                        <a:t>Routing:</a:t>
                      </a:r>
                      <a:r>
                        <a:rPr lang="en-US" sz="1200" dirty="0"/>
                        <a:t> GLB solutions often use these techniques for resilience and performance optimization.</a:t>
                      </a:r>
                      <a:endParaRPr lang="en-IN" sz="1200" dirty="0"/>
                    </a:p>
                  </a:txBody>
                  <a:tcPr/>
                </a:tc>
                <a:tc>
                  <a:txBody>
                    <a:bodyPr/>
                    <a:lstStyle/>
                    <a:p>
                      <a:r>
                        <a:rPr lang="en-US" sz="1200" dirty="0"/>
                        <a:t>— GLB is used to distribute traffic across multiple Cloud Regions or data centers to achieve global redundancy and disaster recovery.</a:t>
                      </a:r>
                    </a:p>
                    <a:p>
                      <a:r>
                        <a:rPr lang="en-US" sz="1200" dirty="0"/>
                        <a:t>— It involves configuring DNS-based solutions with failover policies and latency-based routing to direct traffic to the nearest healthy endpoint.</a:t>
                      </a:r>
                      <a:endParaRPr lang="en-IN" sz="1200" dirty="0"/>
                    </a:p>
                  </a:txBody>
                  <a:tcPr/>
                </a:tc>
                <a:extLst>
                  <a:ext uri="{0D108BD9-81ED-4DB2-BD59-A6C34878D82A}">
                    <a16:rowId xmlns:a16="http://schemas.microsoft.com/office/drawing/2014/main" val="3613485041"/>
                  </a:ext>
                </a:extLst>
              </a:tr>
              <a:tr h="2171567">
                <a:tc>
                  <a:txBody>
                    <a:bodyPr/>
                    <a:lstStyle/>
                    <a:p>
                      <a:r>
                        <a:rPr lang="en-US" sz="1200" dirty="0"/>
                        <a:t>ALB(Application Load Balancer)</a:t>
                      </a:r>
                      <a:endParaRPr lang="en-IN" sz="1200" dirty="0"/>
                    </a:p>
                  </a:txBody>
                  <a:tcPr/>
                </a:tc>
                <a:tc>
                  <a:txBody>
                    <a:bodyPr/>
                    <a:lstStyle/>
                    <a:p>
                      <a:r>
                        <a:rPr lang="en-US" sz="1200" dirty="0"/>
                        <a:t>Layer 7</a:t>
                      </a:r>
                      <a:endParaRPr lang="en-IN" sz="1200" dirty="0"/>
                    </a:p>
                  </a:txBody>
                  <a:tcPr/>
                </a:tc>
                <a:tc>
                  <a:txBody>
                    <a:bodyPr/>
                    <a:lstStyle/>
                    <a:p>
                      <a:r>
                        <a:rPr lang="en-IN" sz="1000" b="1" dirty="0"/>
                        <a:t>SSL Termination:</a:t>
                      </a:r>
                      <a:r>
                        <a:rPr lang="en-IN" sz="1000" dirty="0"/>
                        <a:t> ALB can terminate SSL/TLS connections from clients, offloading SSL processing from backend servers.</a:t>
                      </a:r>
                    </a:p>
                    <a:p>
                      <a:r>
                        <a:rPr lang="en-IN" sz="1000" b="1" dirty="0"/>
                        <a:t>Health Checks:</a:t>
                      </a:r>
                      <a:r>
                        <a:rPr lang="en-IN" sz="1000" dirty="0"/>
                        <a:t> Supports health checks at the application layer.</a:t>
                      </a:r>
                    </a:p>
                    <a:p>
                      <a:r>
                        <a:rPr lang="en-IN" sz="1000" dirty="0"/>
                        <a:t>Sticky Sessions: Provides support for sticky sessions.</a:t>
                      </a:r>
                    </a:p>
                    <a:p>
                      <a:r>
                        <a:rPr lang="en-IN" sz="1000" b="1" dirty="0" err="1"/>
                        <a:t>WebSockets</a:t>
                      </a:r>
                      <a:r>
                        <a:rPr lang="en-IN" sz="1000" b="1" dirty="0"/>
                        <a:t>:</a:t>
                      </a:r>
                      <a:r>
                        <a:rPr lang="en-IN" sz="1000" dirty="0"/>
                        <a:t> Supports WebSocket traffic.</a:t>
                      </a:r>
                    </a:p>
                    <a:p>
                      <a:r>
                        <a:rPr lang="en-IN" sz="1000" b="1" dirty="0"/>
                        <a:t>HTTP/2: </a:t>
                      </a:r>
                      <a:r>
                        <a:rPr lang="en-IN" sz="1000" dirty="0"/>
                        <a:t>Supports HTTP/2, providing better performance for modern web applications.</a:t>
                      </a:r>
                    </a:p>
                  </a:txBody>
                  <a:tcPr/>
                </a:tc>
                <a:tc>
                  <a:txBody>
                    <a:bodyPr/>
                    <a:lstStyle/>
                    <a:p>
                      <a:r>
                        <a:rPr lang="en-US" sz="1000" dirty="0"/>
                        <a:t>— Best suited for routing HTTP and HTTPS traffic.</a:t>
                      </a:r>
                    </a:p>
                    <a:p>
                      <a:r>
                        <a:rPr lang="en-US" sz="1000" dirty="0"/>
                        <a:t>— Ideal for load balancing multiple applications or microservices on a single port, as it supports content-based routing and can route requests to different target groups based on URL paths or hostnames.</a:t>
                      </a:r>
                    </a:p>
                    <a:p>
                      <a:r>
                        <a:rPr lang="en-US" sz="1000" dirty="0"/>
                        <a:t>— Provides advanced features like host-based routing, path-based routing, and support for container-based applications.</a:t>
                      </a:r>
                      <a:endParaRPr lang="en-IN" sz="1000" dirty="0"/>
                    </a:p>
                  </a:txBody>
                  <a:tcPr/>
                </a:tc>
                <a:extLst>
                  <a:ext uri="{0D108BD9-81ED-4DB2-BD59-A6C34878D82A}">
                    <a16:rowId xmlns:a16="http://schemas.microsoft.com/office/drawing/2014/main" val="2780609936"/>
                  </a:ext>
                </a:extLst>
              </a:tr>
            </a:tbl>
          </a:graphicData>
        </a:graphic>
      </p:graphicFrame>
      <p:graphicFrame>
        <p:nvGraphicFramePr>
          <p:cNvPr id="2" name="Diagram 1">
            <a:extLst>
              <a:ext uri="{FF2B5EF4-FFF2-40B4-BE49-F238E27FC236}">
                <a16:creationId xmlns:a16="http://schemas.microsoft.com/office/drawing/2014/main" id="{9C51A927-3864-7548-85B6-5A0D9038F169}"/>
              </a:ext>
            </a:extLst>
          </p:cNvPr>
          <p:cNvGraphicFramePr/>
          <p:nvPr>
            <p:extLst>
              <p:ext uri="{D42A27DB-BD31-4B8C-83A1-F6EECF244321}">
                <p14:modId xmlns:p14="http://schemas.microsoft.com/office/powerpoint/2010/main" val="4289348548"/>
              </p:ext>
            </p:extLst>
          </p:nvPr>
        </p:nvGraphicFramePr>
        <p:xfrm>
          <a:off x="0" y="0"/>
          <a:ext cx="9067800" cy="6470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430935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3" name="object 2">
            <a:extLst>
              <a:ext uri="{FF2B5EF4-FFF2-40B4-BE49-F238E27FC236}">
                <a16:creationId xmlns:a16="http://schemas.microsoft.com/office/drawing/2014/main" id="{797D0467-E07D-4F69-F84C-E1A6743611F5}"/>
              </a:ext>
            </a:extLst>
          </p:cNvPr>
          <p:cNvSpPr txBox="1">
            <a:spLocks/>
          </p:cNvSpPr>
          <p:nvPr/>
        </p:nvSpPr>
        <p:spPr>
          <a:xfrm>
            <a:off x="61863" y="9906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Load Balancer (Types) </a:t>
            </a:r>
            <a:r>
              <a:rPr lang="en-US" sz="2400" kern="0" spc="-80" dirty="0" err="1">
                <a:solidFill>
                  <a:schemeClr val="accent2"/>
                </a:solidFill>
              </a:rPr>
              <a:t>contd</a:t>
            </a:r>
            <a:r>
              <a:rPr lang="en-US" sz="2400" kern="0" spc="-80" dirty="0">
                <a:solidFill>
                  <a:schemeClr val="accent2"/>
                </a:solidFill>
              </a:rPr>
              <a:t> …– </a:t>
            </a:r>
          </a:p>
        </p:txBody>
      </p:sp>
      <p:graphicFrame>
        <p:nvGraphicFramePr>
          <p:cNvPr id="2" name="Table 1">
            <a:extLst>
              <a:ext uri="{FF2B5EF4-FFF2-40B4-BE49-F238E27FC236}">
                <a16:creationId xmlns:a16="http://schemas.microsoft.com/office/drawing/2014/main" id="{2646A98A-9158-845D-0A06-7A8B40E2AC6A}"/>
              </a:ext>
            </a:extLst>
          </p:cNvPr>
          <p:cNvGraphicFramePr>
            <a:graphicFrameLocks noGrp="1"/>
          </p:cNvGraphicFramePr>
          <p:nvPr>
            <p:extLst>
              <p:ext uri="{D42A27DB-BD31-4B8C-83A1-F6EECF244321}">
                <p14:modId xmlns:p14="http://schemas.microsoft.com/office/powerpoint/2010/main" val="1635467758"/>
              </p:ext>
            </p:extLst>
          </p:nvPr>
        </p:nvGraphicFramePr>
        <p:xfrm>
          <a:off x="61863" y="1447800"/>
          <a:ext cx="8777336" cy="2529840"/>
        </p:xfrm>
        <a:graphic>
          <a:graphicData uri="http://schemas.openxmlformats.org/drawingml/2006/table">
            <a:tbl>
              <a:tblPr firstRow="1" bandRow="1">
                <a:tableStyleId>{5C22544A-7EE6-4342-B048-85BDC9FD1C3A}</a:tableStyleId>
              </a:tblPr>
              <a:tblGrid>
                <a:gridCol w="2194334">
                  <a:extLst>
                    <a:ext uri="{9D8B030D-6E8A-4147-A177-3AD203B41FA5}">
                      <a16:colId xmlns:a16="http://schemas.microsoft.com/office/drawing/2014/main" val="621674751"/>
                    </a:ext>
                  </a:extLst>
                </a:gridCol>
                <a:gridCol w="2194334">
                  <a:extLst>
                    <a:ext uri="{9D8B030D-6E8A-4147-A177-3AD203B41FA5}">
                      <a16:colId xmlns:a16="http://schemas.microsoft.com/office/drawing/2014/main" val="1059645299"/>
                    </a:ext>
                  </a:extLst>
                </a:gridCol>
                <a:gridCol w="2194334">
                  <a:extLst>
                    <a:ext uri="{9D8B030D-6E8A-4147-A177-3AD203B41FA5}">
                      <a16:colId xmlns:a16="http://schemas.microsoft.com/office/drawing/2014/main" val="3490039623"/>
                    </a:ext>
                  </a:extLst>
                </a:gridCol>
                <a:gridCol w="2194334">
                  <a:extLst>
                    <a:ext uri="{9D8B030D-6E8A-4147-A177-3AD203B41FA5}">
                      <a16:colId xmlns:a16="http://schemas.microsoft.com/office/drawing/2014/main" val="128006741"/>
                    </a:ext>
                  </a:extLst>
                </a:gridCol>
              </a:tblGrid>
              <a:tr h="370840">
                <a:tc>
                  <a:txBody>
                    <a:bodyPr/>
                    <a:lstStyle/>
                    <a:p>
                      <a:r>
                        <a:rPr lang="en-US" dirty="0"/>
                        <a:t>LB Type</a:t>
                      </a:r>
                      <a:endParaRPr lang="en-IN" dirty="0"/>
                    </a:p>
                  </a:txBody>
                  <a:tcPr/>
                </a:tc>
                <a:tc>
                  <a:txBody>
                    <a:bodyPr/>
                    <a:lstStyle/>
                    <a:p>
                      <a:r>
                        <a:rPr lang="en-US" dirty="0"/>
                        <a:t>Layer(s)</a:t>
                      </a:r>
                      <a:endParaRPr lang="en-IN" dirty="0"/>
                    </a:p>
                  </a:txBody>
                  <a:tcPr/>
                </a:tc>
                <a:tc>
                  <a:txBody>
                    <a:bodyPr/>
                    <a:lstStyle/>
                    <a:p>
                      <a:r>
                        <a:rPr lang="en-US" b="1" dirty="0">
                          <a:solidFill>
                            <a:schemeClr val="lt1"/>
                          </a:solidFill>
                          <a:latin typeface="+mn-lt"/>
                          <a:ea typeface="+mn-ea"/>
                          <a:cs typeface="+mn-cs"/>
                        </a:rPr>
                        <a:t>Feature(s)</a:t>
                      </a:r>
                      <a:endParaRPr lang="en-IN" dirty="0"/>
                    </a:p>
                  </a:txBody>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dirty="0"/>
                        <a:t>Use Case(s)</a:t>
                      </a:r>
                      <a:endParaRPr lang="en-IN" dirty="0"/>
                    </a:p>
                    <a:p>
                      <a:endParaRPr lang="en-IN" dirty="0"/>
                    </a:p>
                  </a:txBody>
                  <a:tcPr/>
                </a:tc>
                <a:extLst>
                  <a:ext uri="{0D108BD9-81ED-4DB2-BD59-A6C34878D82A}">
                    <a16:rowId xmlns:a16="http://schemas.microsoft.com/office/drawing/2014/main" val="1526464570"/>
                  </a:ext>
                </a:extLst>
              </a:tr>
              <a:tr h="370840">
                <a:tc>
                  <a:txBody>
                    <a:bodyPr/>
                    <a:lstStyle/>
                    <a:p>
                      <a:r>
                        <a:rPr lang="en-US" sz="1000" dirty="0"/>
                        <a:t>NLB(Network Load Balancer)</a:t>
                      </a:r>
                      <a:endParaRPr lang="en-IN" sz="1000" dirty="0"/>
                    </a:p>
                  </a:txBody>
                  <a:tcPr/>
                </a:tc>
                <a:tc>
                  <a:txBody>
                    <a:bodyPr/>
                    <a:lstStyle/>
                    <a:p>
                      <a:r>
                        <a:rPr lang="en-US" sz="1000" dirty="0"/>
                        <a:t>Layer 4</a:t>
                      </a:r>
                      <a:endParaRPr lang="en-IN" sz="1000" dirty="0"/>
                    </a:p>
                  </a:txBody>
                  <a:tcPr/>
                </a:tc>
                <a:tc>
                  <a:txBody>
                    <a:bodyPr/>
                    <a:lstStyle/>
                    <a:p>
                      <a:r>
                        <a:rPr lang="en-US" sz="1200" b="1" dirty="0"/>
                        <a:t>High Throughput:</a:t>
                      </a:r>
                      <a:r>
                        <a:rPr lang="en-US" sz="1200" dirty="0"/>
                        <a:t> NLB is designed for high throughput and low-latency use cases.</a:t>
                      </a:r>
                    </a:p>
                    <a:p>
                      <a:r>
                        <a:rPr lang="en-US" sz="1200" b="1" dirty="0"/>
                        <a:t>TLS Termination:</a:t>
                      </a:r>
                      <a:r>
                        <a:rPr lang="en-US" sz="1200" dirty="0"/>
                        <a:t> NLB supports TLS termination, but it’s not as feature-rich as ALB in handling HTTPS traffic.</a:t>
                      </a:r>
                    </a:p>
                    <a:p>
                      <a:r>
                        <a:rPr lang="en-US" sz="1200" b="1" dirty="0"/>
                        <a:t>Health Checks:</a:t>
                      </a:r>
                      <a:r>
                        <a:rPr lang="en-US" sz="1200" dirty="0"/>
                        <a:t> Supports health checks at the transport layer.</a:t>
                      </a:r>
                      <a:endParaRPr lang="en-IN" sz="1200" dirty="0"/>
                    </a:p>
                  </a:txBody>
                  <a:tcPr/>
                </a:tc>
                <a:tc>
                  <a:txBody>
                    <a:bodyPr/>
                    <a:lstStyle/>
                    <a:p>
                      <a:r>
                        <a:rPr lang="en-US" sz="1000" b="0" dirty="0"/>
                        <a:t>— Ideal for handling TCP/UDP traffic, including custom protocols, non-HTTP protocols, and high-performance workloads.</a:t>
                      </a:r>
                    </a:p>
                    <a:p>
                      <a:r>
                        <a:rPr lang="en-US" sz="1000" b="0" dirty="0"/>
                        <a:t>— Commonly used for load balancing databases, gaming applications, and other services that rely on raw transport layer connections.</a:t>
                      </a:r>
                    </a:p>
                    <a:p>
                      <a:r>
                        <a:rPr lang="en-US" sz="1000" b="0" dirty="0"/>
                        <a:t>— Works well for scenarios where source IP preservation is important.</a:t>
                      </a:r>
                    </a:p>
                    <a:p>
                      <a:endParaRPr lang="en-IN" b="1" dirty="0"/>
                    </a:p>
                  </a:txBody>
                  <a:tcPr/>
                </a:tc>
                <a:extLst>
                  <a:ext uri="{0D108BD9-81ED-4DB2-BD59-A6C34878D82A}">
                    <a16:rowId xmlns:a16="http://schemas.microsoft.com/office/drawing/2014/main" val="1022102368"/>
                  </a:ext>
                </a:extLst>
              </a:tr>
            </a:tbl>
          </a:graphicData>
        </a:graphic>
      </p:graphicFrame>
      <p:graphicFrame>
        <p:nvGraphicFramePr>
          <p:cNvPr id="7" name="Diagram 6">
            <a:extLst>
              <a:ext uri="{FF2B5EF4-FFF2-40B4-BE49-F238E27FC236}">
                <a16:creationId xmlns:a16="http://schemas.microsoft.com/office/drawing/2014/main" id="{D406BF3B-EB9D-5C28-0D94-DE40B2D5A027}"/>
              </a:ext>
            </a:extLst>
          </p:cNvPr>
          <p:cNvGraphicFramePr/>
          <p:nvPr>
            <p:extLst>
              <p:ext uri="{D42A27DB-BD31-4B8C-83A1-F6EECF244321}">
                <p14:modId xmlns:p14="http://schemas.microsoft.com/office/powerpoint/2010/main" val="652372042"/>
              </p:ext>
            </p:extLst>
          </p:nvPr>
        </p:nvGraphicFramePr>
        <p:xfrm>
          <a:off x="0" y="0"/>
          <a:ext cx="9067800" cy="6470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0401276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3" name="object 2">
            <a:extLst>
              <a:ext uri="{FF2B5EF4-FFF2-40B4-BE49-F238E27FC236}">
                <a16:creationId xmlns:a16="http://schemas.microsoft.com/office/drawing/2014/main" id="{797D0467-E07D-4F69-F84C-E1A6743611F5}"/>
              </a:ext>
            </a:extLst>
          </p:cNvPr>
          <p:cNvSpPr txBox="1">
            <a:spLocks/>
          </p:cNvSpPr>
          <p:nvPr/>
        </p:nvSpPr>
        <p:spPr>
          <a:xfrm>
            <a:off x="76201" y="990600"/>
            <a:ext cx="8853536"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Forward Proxy vs Reverse Proxy (vs Load Balancer vs API Gateway)– </a:t>
            </a:r>
          </a:p>
        </p:txBody>
      </p:sp>
      <p:pic>
        <p:nvPicPr>
          <p:cNvPr id="8" name="Picture 7">
            <a:extLst>
              <a:ext uri="{FF2B5EF4-FFF2-40B4-BE49-F238E27FC236}">
                <a16:creationId xmlns:a16="http://schemas.microsoft.com/office/drawing/2014/main" id="{2FA8A402-25FC-4DD8-51B6-949B2F970C73}"/>
              </a:ext>
            </a:extLst>
          </p:cNvPr>
          <p:cNvPicPr>
            <a:picLocks noChangeAspect="1"/>
          </p:cNvPicPr>
          <p:nvPr/>
        </p:nvPicPr>
        <p:blipFill>
          <a:blip r:embed="rId2"/>
          <a:stretch>
            <a:fillRect/>
          </a:stretch>
        </p:blipFill>
        <p:spPr>
          <a:xfrm>
            <a:off x="131718" y="3860708"/>
            <a:ext cx="8853536" cy="981257"/>
          </a:xfrm>
          <a:prstGeom prst="rect">
            <a:avLst/>
          </a:prstGeom>
        </p:spPr>
      </p:pic>
      <p:pic>
        <p:nvPicPr>
          <p:cNvPr id="10" name="Picture 9">
            <a:extLst>
              <a:ext uri="{FF2B5EF4-FFF2-40B4-BE49-F238E27FC236}">
                <a16:creationId xmlns:a16="http://schemas.microsoft.com/office/drawing/2014/main" id="{FE752332-BFA8-C9FB-33D1-9ED0D629DEFE}"/>
              </a:ext>
            </a:extLst>
          </p:cNvPr>
          <p:cNvPicPr>
            <a:picLocks noChangeAspect="1"/>
          </p:cNvPicPr>
          <p:nvPr/>
        </p:nvPicPr>
        <p:blipFill>
          <a:blip r:embed="rId3"/>
          <a:stretch>
            <a:fillRect/>
          </a:stretch>
        </p:blipFill>
        <p:spPr>
          <a:xfrm>
            <a:off x="76200" y="1676401"/>
            <a:ext cx="8853537" cy="1143000"/>
          </a:xfrm>
          <a:prstGeom prst="rect">
            <a:avLst/>
          </a:prstGeom>
        </p:spPr>
      </p:pic>
      <p:pic>
        <p:nvPicPr>
          <p:cNvPr id="12" name="Picture 11">
            <a:extLst>
              <a:ext uri="{FF2B5EF4-FFF2-40B4-BE49-F238E27FC236}">
                <a16:creationId xmlns:a16="http://schemas.microsoft.com/office/drawing/2014/main" id="{936C052F-0713-B38F-C5AC-0C6682932A83}"/>
              </a:ext>
            </a:extLst>
          </p:cNvPr>
          <p:cNvPicPr>
            <a:picLocks noChangeAspect="1"/>
          </p:cNvPicPr>
          <p:nvPr/>
        </p:nvPicPr>
        <p:blipFill>
          <a:blip r:embed="rId4"/>
          <a:stretch>
            <a:fillRect/>
          </a:stretch>
        </p:blipFill>
        <p:spPr>
          <a:xfrm>
            <a:off x="131718" y="4886144"/>
            <a:ext cx="8859882" cy="981256"/>
          </a:xfrm>
          <a:prstGeom prst="rect">
            <a:avLst/>
          </a:prstGeom>
        </p:spPr>
      </p:pic>
      <p:pic>
        <p:nvPicPr>
          <p:cNvPr id="14" name="Picture 13">
            <a:extLst>
              <a:ext uri="{FF2B5EF4-FFF2-40B4-BE49-F238E27FC236}">
                <a16:creationId xmlns:a16="http://schemas.microsoft.com/office/drawing/2014/main" id="{8B5ED736-77CC-B170-F8E9-296131BC5BD8}"/>
              </a:ext>
            </a:extLst>
          </p:cNvPr>
          <p:cNvPicPr>
            <a:picLocks noChangeAspect="1"/>
          </p:cNvPicPr>
          <p:nvPr/>
        </p:nvPicPr>
        <p:blipFill>
          <a:blip r:embed="rId5"/>
          <a:stretch>
            <a:fillRect/>
          </a:stretch>
        </p:blipFill>
        <p:spPr>
          <a:xfrm>
            <a:off x="76200" y="2777491"/>
            <a:ext cx="8853535" cy="1083217"/>
          </a:xfrm>
          <a:prstGeom prst="rect">
            <a:avLst/>
          </a:prstGeom>
        </p:spPr>
      </p:pic>
      <p:graphicFrame>
        <p:nvGraphicFramePr>
          <p:cNvPr id="2" name="Diagram 1">
            <a:extLst>
              <a:ext uri="{FF2B5EF4-FFF2-40B4-BE49-F238E27FC236}">
                <a16:creationId xmlns:a16="http://schemas.microsoft.com/office/drawing/2014/main" id="{C2E7100D-F176-0995-34B7-CFB44307D66D}"/>
              </a:ext>
            </a:extLst>
          </p:cNvPr>
          <p:cNvGraphicFramePr/>
          <p:nvPr>
            <p:extLst>
              <p:ext uri="{D42A27DB-BD31-4B8C-83A1-F6EECF244321}">
                <p14:modId xmlns:p14="http://schemas.microsoft.com/office/powerpoint/2010/main" val="3761546908"/>
              </p:ext>
            </p:extLst>
          </p:nvPr>
        </p:nvGraphicFramePr>
        <p:xfrm>
          <a:off x="0" y="0"/>
          <a:ext cx="9067800" cy="64706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81589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3" name="object 2">
            <a:extLst>
              <a:ext uri="{FF2B5EF4-FFF2-40B4-BE49-F238E27FC236}">
                <a16:creationId xmlns:a16="http://schemas.microsoft.com/office/drawing/2014/main" id="{797D0467-E07D-4F69-F84C-E1A6743611F5}"/>
              </a:ext>
            </a:extLst>
          </p:cNvPr>
          <p:cNvSpPr txBox="1">
            <a:spLocks/>
          </p:cNvSpPr>
          <p:nvPr/>
        </p:nvSpPr>
        <p:spPr>
          <a:xfrm>
            <a:off x="0" y="914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Load Balancing Techniques – </a:t>
            </a:r>
          </a:p>
        </p:txBody>
      </p:sp>
      <p:sp>
        <p:nvSpPr>
          <p:cNvPr id="2" name="object 2">
            <a:extLst>
              <a:ext uri="{FF2B5EF4-FFF2-40B4-BE49-F238E27FC236}">
                <a16:creationId xmlns:a16="http://schemas.microsoft.com/office/drawing/2014/main" id="{31434F92-5814-A27B-56A1-560DF180DB59}"/>
              </a:ext>
            </a:extLst>
          </p:cNvPr>
          <p:cNvSpPr txBox="1">
            <a:spLocks/>
          </p:cNvSpPr>
          <p:nvPr/>
        </p:nvSpPr>
        <p:spPr>
          <a:xfrm>
            <a:off x="137369" y="5366388"/>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IN" sz="1500" dirty="0">
                <a:hlinkClick r:id="rId2"/>
              </a:rPr>
              <a:t>Top 12 Load Balancing Techniques to keep on your Radar | LinkedIn</a:t>
            </a:r>
            <a:endParaRPr lang="en-US" sz="1500" kern="0" spc="-80" dirty="0">
              <a:solidFill>
                <a:schemeClr val="accent2"/>
              </a:solidFill>
            </a:endParaRPr>
          </a:p>
        </p:txBody>
      </p:sp>
      <p:pic>
        <p:nvPicPr>
          <p:cNvPr id="8" name="Picture 7">
            <a:extLst>
              <a:ext uri="{FF2B5EF4-FFF2-40B4-BE49-F238E27FC236}">
                <a16:creationId xmlns:a16="http://schemas.microsoft.com/office/drawing/2014/main" id="{535E5E22-8B50-F3B3-483E-29797AB2AC8D}"/>
              </a:ext>
            </a:extLst>
          </p:cNvPr>
          <p:cNvPicPr>
            <a:picLocks noChangeAspect="1"/>
          </p:cNvPicPr>
          <p:nvPr/>
        </p:nvPicPr>
        <p:blipFill>
          <a:blip r:embed="rId3"/>
          <a:stretch>
            <a:fillRect/>
          </a:stretch>
        </p:blipFill>
        <p:spPr>
          <a:xfrm>
            <a:off x="137369" y="1301557"/>
            <a:ext cx="8930431" cy="4102295"/>
          </a:xfrm>
          <a:prstGeom prst="rect">
            <a:avLst/>
          </a:prstGeom>
        </p:spPr>
      </p:pic>
      <p:graphicFrame>
        <p:nvGraphicFramePr>
          <p:cNvPr id="7" name="Diagram 6">
            <a:extLst>
              <a:ext uri="{FF2B5EF4-FFF2-40B4-BE49-F238E27FC236}">
                <a16:creationId xmlns:a16="http://schemas.microsoft.com/office/drawing/2014/main" id="{AC354AE5-C241-E970-6DF7-3F96856BA779}"/>
              </a:ext>
            </a:extLst>
          </p:cNvPr>
          <p:cNvGraphicFramePr/>
          <p:nvPr>
            <p:extLst>
              <p:ext uri="{D42A27DB-BD31-4B8C-83A1-F6EECF244321}">
                <p14:modId xmlns:p14="http://schemas.microsoft.com/office/powerpoint/2010/main" val="5001441"/>
              </p:ext>
            </p:extLst>
          </p:nvPr>
        </p:nvGraphicFramePr>
        <p:xfrm>
          <a:off x="0" y="0"/>
          <a:ext cx="9067800" cy="64706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72541150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838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6858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3" name="object 2">
            <a:extLst>
              <a:ext uri="{FF2B5EF4-FFF2-40B4-BE49-F238E27FC236}">
                <a16:creationId xmlns:a16="http://schemas.microsoft.com/office/drawing/2014/main" id="{797D0467-E07D-4F69-F84C-E1A6743611F5}"/>
              </a:ext>
            </a:extLst>
          </p:cNvPr>
          <p:cNvSpPr txBox="1">
            <a:spLocks/>
          </p:cNvSpPr>
          <p:nvPr/>
        </p:nvSpPr>
        <p:spPr>
          <a:xfrm>
            <a:off x="76200" y="937736"/>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For Further Exploration – </a:t>
            </a:r>
          </a:p>
          <a:p>
            <a:pPr marL="12700" marR="5080"/>
            <a:r>
              <a:rPr lang="en-US" sz="2000" kern="0" spc="-80" dirty="0">
                <a:solidFill>
                  <a:schemeClr val="accent2"/>
                </a:solidFill>
              </a:rPr>
              <a:t>Load Balancers –</a:t>
            </a:r>
          </a:p>
          <a:p>
            <a:pPr marL="12700" marR="5080"/>
            <a:r>
              <a:rPr lang="en-IN" sz="1500" dirty="0">
                <a:hlinkClick r:id="rId2"/>
              </a:rPr>
              <a:t>Introduction to Load Balancers</a:t>
            </a:r>
            <a:endParaRPr lang="en-IN" sz="1500" dirty="0"/>
          </a:p>
          <a:p>
            <a:pPr marL="12700" marR="5080"/>
            <a:endParaRPr lang="en-US" sz="2400" kern="0" spc="-80" dirty="0">
              <a:solidFill>
                <a:schemeClr val="accent2"/>
              </a:solidFill>
            </a:endParaRPr>
          </a:p>
          <a:p>
            <a:pPr marL="12700" marR="5080"/>
            <a:r>
              <a:rPr lang="en-US" sz="2000" kern="0" spc="-80" dirty="0">
                <a:solidFill>
                  <a:schemeClr val="accent2"/>
                </a:solidFill>
              </a:rPr>
              <a:t>Load Balancer Types – </a:t>
            </a:r>
          </a:p>
          <a:p>
            <a:pPr marL="12700" marR="5080"/>
            <a:r>
              <a:rPr lang="en-US" sz="1500" dirty="0">
                <a:hlinkClick r:id="rId3"/>
              </a:rPr>
              <a:t>Load Balancer Choices | SystemsArchitect.io</a:t>
            </a:r>
            <a:endParaRPr lang="en-US" sz="1500" dirty="0"/>
          </a:p>
          <a:p>
            <a:pPr marL="12700" marR="5080"/>
            <a:r>
              <a:rPr lang="en-US" sz="2000" kern="0" spc="-80" dirty="0">
                <a:solidFill>
                  <a:schemeClr val="accent2"/>
                </a:solidFill>
              </a:rPr>
              <a:t> </a:t>
            </a:r>
          </a:p>
          <a:p>
            <a:pPr marL="12700" marR="5080"/>
            <a:r>
              <a:rPr lang="en-US" sz="2000" kern="0" spc="-80" dirty="0">
                <a:solidFill>
                  <a:schemeClr val="accent2"/>
                </a:solidFill>
              </a:rPr>
              <a:t>Load Balancer Sticky Session(/Session Affinity) – </a:t>
            </a:r>
          </a:p>
          <a:p>
            <a:pPr marL="12700" marR="5080"/>
            <a:r>
              <a:rPr lang="en-US" sz="1500" dirty="0">
                <a:hlinkClick r:id="rId4"/>
              </a:rPr>
              <a:t>What is Session Stickiness | Pros and Cons of Using Session Cookies | Imperva</a:t>
            </a:r>
            <a:endParaRPr lang="en-US" sz="1500" dirty="0"/>
          </a:p>
          <a:p>
            <a:pPr marL="12700" marR="5080"/>
            <a:endParaRPr lang="en-US" sz="2000" kern="0" spc="-80" dirty="0">
              <a:solidFill>
                <a:schemeClr val="accent2"/>
              </a:solidFill>
            </a:endParaRPr>
          </a:p>
          <a:p>
            <a:pPr marL="12700" marR="5080"/>
            <a:endParaRPr lang="en-US" sz="2000" kern="0" spc="-80" dirty="0">
              <a:solidFill>
                <a:schemeClr val="accent2"/>
              </a:solidFill>
            </a:endParaRPr>
          </a:p>
          <a:p>
            <a:pPr marL="12700" marR="5080"/>
            <a:r>
              <a:rPr lang="en-US" sz="2000" kern="0" spc="-80" dirty="0">
                <a:solidFill>
                  <a:schemeClr val="accent2"/>
                </a:solidFill>
              </a:rPr>
              <a:t>Forward Proxy &amp; Reverse Proxy –</a:t>
            </a:r>
            <a:r>
              <a:rPr lang="en-US" sz="2400" kern="0" spc="-80" dirty="0">
                <a:solidFill>
                  <a:schemeClr val="accent2"/>
                </a:solidFill>
              </a:rPr>
              <a:t> </a:t>
            </a:r>
          </a:p>
          <a:p>
            <a:pPr marL="12700" marR="5080"/>
            <a:r>
              <a:rPr lang="en-US" sz="1500" dirty="0">
                <a:hlinkClick r:id="rId5"/>
              </a:rPr>
              <a:t>Forward and Reverse Proxy in System Design </a:t>
            </a:r>
            <a:endParaRPr lang="en-US" sz="1500" dirty="0"/>
          </a:p>
          <a:p>
            <a:pPr marL="12700" marR="5080"/>
            <a:r>
              <a:rPr lang="en-US" sz="1500" dirty="0">
                <a:hlinkClick r:id="rId6"/>
              </a:rPr>
              <a:t>A Deep Dive into YARP and Ocelot: Your Gateway to API Gateways </a:t>
            </a:r>
            <a:r>
              <a:rPr lang="en-US" sz="1600" kern="0" spc="-80" dirty="0">
                <a:solidFill>
                  <a:schemeClr val="accent2"/>
                </a:solidFill>
              </a:rPr>
              <a:t>(e.g. can be used to build a Payment Gateway[PCI-DSS Compliant PCI Proxy])  </a:t>
            </a:r>
          </a:p>
          <a:p>
            <a:pPr marL="12700" marR="5080"/>
            <a:r>
              <a:rPr lang="en-US" sz="1600" dirty="0">
                <a:hlinkClick r:id="rId7"/>
              </a:rPr>
              <a:t>Service-Fabric-</a:t>
            </a:r>
            <a:r>
              <a:rPr lang="en-US" sz="1600" dirty="0" err="1">
                <a:hlinkClick r:id="rId7"/>
              </a:rPr>
              <a:t>Yarp</a:t>
            </a:r>
            <a:endParaRPr lang="en-US" sz="1600" dirty="0"/>
          </a:p>
          <a:p>
            <a:pPr marL="12700" marR="5080"/>
            <a:r>
              <a:rPr lang="en-US" sz="1500" dirty="0" err="1">
                <a:hlinkClick r:id="rId8"/>
              </a:rPr>
              <a:t>Zuul</a:t>
            </a:r>
            <a:endParaRPr lang="en-US" sz="1500" kern="0" spc="-80" dirty="0">
              <a:solidFill>
                <a:schemeClr val="accent2"/>
              </a:solidFill>
            </a:endParaRPr>
          </a:p>
        </p:txBody>
      </p:sp>
      <p:graphicFrame>
        <p:nvGraphicFramePr>
          <p:cNvPr id="2" name="Diagram 1">
            <a:extLst>
              <a:ext uri="{FF2B5EF4-FFF2-40B4-BE49-F238E27FC236}">
                <a16:creationId xmlns:a16="http://schemas.microsoft.com/office/drawing/2014/main" id="{04EC7107-CC94-AB1B-AD59-203E3A64DA56}"/>
              </a:ext>
            </a:extLst>
          </p:cNvPr>
          <p:cNvGraphicFramePr/>
          <p:nvPr>
            <p:extLst>
              <p:ext uri="{D42A27DB-BD31-4B8C-83A1-F6EECF244321}">
                <p14:modId xmlns:p14="http://schemas.microsoft.com/office/powerpoint/2010/main" val="2683036303"/>
              </p:ext>
            </p:extLst>
          </p:nvPr>
        </p:nvGraphicFramePr>
        <p:xfrm>
          <a:off x="0" y="0"/>
          <a:ext cx="9067800" cy="64706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414279370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B2E69-CAF6-1D1D-FCAD-CC641CDBE61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6F2D13E-F0B0-EB2F-B950-1F328ADA9D3E}"/>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5943938-F156-7A5D-C8E2-F53080B3B68E}"/>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3A1C4E9-F8E1-300E-8BC7-EB044C90F070}"/>
              </a:ext>
            </a:extLst>
          </p:cNvPr>
          <p:cNvGraphicFramePr/>
          <p:nvPr>
            <p:extLst>
              <p:ext uri="{D42A27DB-BD31-4B8C-83A1-F6EECF244321}">
                <p14:modId xmlns:p14="http://schemas.microsoft.com/office/powerpoint/2010/main" val="2170727595"/>
              </p:ext>
            </p:extLst>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CE8A17FE-4DC5-4677-2673-98EE9F5B013D}"/>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89DB8115-027B-3894-C42D-ABAC97F6F214}"/>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A40E3C48-B105-7188-B1DE-178D7926FE6A}"/>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pic>
        <p:nvPicPr>
          <p:cNvPr id="9" name="Picture 8">
            <a:extLst>
              <a:ext uri="{FF2B5EF4-FFF2-40B4-BE49-F238E27FC236}">
                <a16:creationId xmlns:a16="http://schemas.microsoft.com/office/drawing/2014/main" id="{77B5A4E0-13E9-6645-FF4A-EE9199E7483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858480"/>
            <a:ext cx="9006840" cy="5033425"/>
          </a:xfrm>
          <a:prstGeom prst="rect">
            <a:avLst/>
          </a:prstGeom>
        </p:spPr>
      </p:pic>
    </p:spTree>
    <p:extLst>
      <p:ext uri="{BB962C8B-B14F-4D97-AF65-F5344CB8AC3E}">
        <p14:creationId xmlns:p14="http://schemas.microsoft.com/office/powerpoint/2010/main" val="28292688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F4C9F-2D4A-4A66-33B3-C16DB86CE1F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ED57A24-EB22-C32A-9D2A-07C294BE2609}"/>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F64BFFB-D3D0-DC22-183A-75CC6522620B}"/>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6F0F7C5-ED09-F6CF-85F9-F0DFADA16982}"/>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25A4263F-32C2-7E79-D039-8FA3F2AE49E7}"/>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DDE06C35-99C5-1115-890E-F4DEFD4868B5}"/>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E4707DF5-5D58-223A-C03D-515CBA8DCE3D}"/>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pic>
        <p:nvPicPr>
          <p:cNvPr id="7" name="Picture 6">
            <a:extLst>
              <a:ext uri="{FF2B5EF4-FFF2-40B4-BE49-F238E27FC236}">
                <a16:creationId xmlns:a16="http://schemas.microsoft.com/office/drawing/2014/main" id="{2348FA32-16E3-C75E-EA9F-FC1E03EC364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247671"/>
            <a:ext cx="9144000" cy="4644233"/>
          </a:xfrm>
          <a:prstGeom prst="rect">
            <a:avLst/>
          </a:prstGeom>
        </p:spPr>
      </p:pic>
      <p:sp>
        <p:nvSpPr>
          <p:cNvPr id="3" name="object 2">
            <a:extLst>
              <a:ext uri="{FF2B5EF4-FFF2-40B4-BE49-F238E27FC236}">
                <a16:creationId xmlns:a16="http://schemas.microsoft.com/office/drawing/2014/main" id="{674D939F-44A5-947B-E93F-B529A81F5341}"/>
              </a:ext>
            </a:extLst>
          </p:cNvPr>
          <p:cNvSpPr txBox="1">
            <a:spLocks/>
          </p:cNvSpPr>
          <p:nvPr/>
        </p:nvSpPr>
        <p:spPr>
          <a:xfrm>
            <a:off x="45681" y="858043"/>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Scaling Techniques</a:t>
            </a:r>
          </a:p>
        </p:txBody>
      </p:sp>
    </p:spTree>
    <p:extLst>
      <p:ext uri="{BB962C8B-B14F-4D97-AF65-F5344CB8AC3E}">
        <p14:creationId xmlns:p14="http://schemas.microsoft.com/office/powerpoint/2010/main" val="103139921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EA923-9E0D-B9FC-DB9D-FF368C475BD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66688BE-B4A4-B323-D4F5-92780D5477DB}"/>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3111A11-903A-F8BF-C91C-A9653D779ADF}"/>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C0C3295-B555-9BED-FDAE-0CDB3DBC4E09}"/>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46E3EE82-A993-376F-4889-A120446F43EF}"/>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5F981488-ABD9-ACF0-3109-391376BF4526}"/>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C0299B5F-16E1-18BD-719B-B969C44B4CA3}"/>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pic>
        <p:nvPicPr>
          <p:cNvPr id="9" name="Picture 8">
            <a:extLst>
              <a:ext uri="{FF2B5EF4-FFF2-40B4-BE49-F238E27FC236}">
                <a16:creationId xmlns:a16="http://schemas.microsoft.com/office/drawing/2014/main" id="{C0D74FCC-CBEF-D10F-C0CB-D85991F31E1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243563"/>
            <a:ext cx="8900237" cy="4648341"/>
          </a:xfrm>
          <a:prstGeom prst="rect">
            <a:avLst/>
          </a:prstGeom>
        </p:spPr>
      </p:pic>
      <p:sp>
        <p:nvSpPr>
          <p:cNvPr id="3" name="object 2">
            <a:extLst>
              <a:ext uri="{FF2B5EF4-FFF2-40B4-BE49-F238E27FC236}">
                <a16:creationId xmlns:a16="http://schemas.microsoft.com/office/drawing/2014/main" id="{4CC92743-E22A-0003-AE1E-457845FE253A}"/>
              </a:ext>
            </a:extLst>
          </p:cNvPr>
          <p:cNvSpPr txBox="1">
            <a:spLocks/>
          </p:cNvSpPr>
          <p:nvPr/>
        </p:nvSpPr>
        <p:spPr>
          <a:xfrm>
            <a:off x="45681" y="858043"/>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Scaling Techniques</a:t>
            </a:r>
          </a:p>
        </p:txBody>
      </p:sp>
    </p:spTree>
    <p:extLst>
      <p:ext uri="{BB962C8B-B14F-4D97-AF65-F5344CB8AC3E}">
        <p14:creationId xmlns:p14="http://schemas.microsoft.com/office/powerpoint/2010/main" val="339439242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A9AA3-B3D5-A605-5808-D579AF3EF06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ED7B707-FEE0-1BF0-B176-BA856BDA2B96}"/>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86BCBC0-7ADB-B404-81B9-4E26FD14D9DF}"/>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108ACB6-8BCF-8E32-ACC8-63C9C00E65D6}"/>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5FD8BC03-1F38-78DD-168F-553E9A257B58}"/>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B278692A-7B84-9746-201F-FF7CBF66FD40}"/>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D0323A21-2D3E-3DBD-171A-BA86C74CCF44}"/>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pic>
        <p:nvPicPr>
          <p:cNvPr id="7" name="Picture 6">
            <a:extLst>
              <a:ext uri="{FF2B5EF4-FFF2-40B4-BE49-F238E27FC236}">
                <a16:creationId xmlns:a16="http://schemas.microsoft.com/office/drawing/2014/main" id="{B291E440-5037-74AE-B8D1-F4645739F63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 y="914400"/>
            <a:ext cx="8900237" cy="4876800"/>
          </a:xfrm>
          <a:prstGeom prst="rect">
            <a:avLst/>
          </a:prstGeom>
        </p:spPr>
      </p:pic>
    </p:spTree>
    <p:extLst>
      <p:ext uri="{BB962C8B-B14F-4D97-AF65-F5344CB8AC3E}">
        <p14:creationId xmlns:p14="http://schemas.microsoft.com/office/powerpoint/2010/main" val="37066249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12A06E-E9ED-15F9-8AE5-8342A4EE5AD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1CE7051-1E7B-87EF-1D92-DF1C042A518C}"/>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C151835-13F3-D0B6-E9B1-B1E136D82141}"/>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39CE217-0DE7-CFE5-3D08-B1A60B4F8E62}"/>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07A392B8-8D9B-9F0F-721F-E09ECDE2C2D9}"/>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46A06E8A-7163-4EF2-617D-D85EE6A7701D}"/>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8E585B0A-F6C3-9307-677A-5577316B962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3" name="object 2">
            <a:extLst>
              <a:ext uri="{FF2B5EF4-FFF2-40B4-BE49-F238E27FC236}">
                <a16:creationId xmlns:a16="http://schemas.microsoft.com/office/drawing/2014/main" id="{99910033-E78F-9EB4-6C4A-70E1AA53F730}"/>
              </a:ext>
            </a:extLst>
          </p:cNvPr>
          <p:cNvSpPr txBox="1">
            <a:spLocks/>
          </p:cNvSpPr>
          <p:nvPr/>
        </p:nvSpPr>
        <p:spPr>
          <a:xfrm>
            <a:off x="10160" y="858480"/>
            <a:ext cx="8624937" cy="146193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Summary Checklist for Scalability w.r.t When to use What</a:t>
            </a:r>
          </a:p>
          <a:p>
            <a:r>
              <a:rPr lang="en-US" sz="1500" dirty="0">
                <a:solidFill>
                  <a:schemeClr val="accent2"/>
                </a:solidFill>
                <a:latin typeface="Google Sans"/>
                <a:ea typeface="+mn-ea"/>
                <a:cs typeface="+mn-cs"/>
              </a:rPr>
              <a:t>Eliminate Local State:</a:t>
            </a:r>
            <a:r>
              <a:rPr lang="en-US" sz="1500" dirty="0">
                <a:solidFill>
                  <a:schemeClr val="accent6"/>
                </a:solidFill>
                <a:latin typeface="Google Sans"/>
                <a:ea typeface="+mn-ea"/>
                <a:cs typeface="+mn-cs"/>
              </a:rPr>
              <a:t> Remove all </a:t>
            </a:r>
            <a:r>
              <a:rPr lang="en-US" sz="1500" dirty="0" err="1">
                <a:solidFill>
                  <a:schemeClr val="accent6"/>
                </a:solidFill>
                <a:latin typeface="Google Sans"/>
                <a:ea typeface="+mn-ea"/>
                <a:cs typeface="+mn-cs"/>
              </a:rPr>
              <a:t>session.setAttribute</a:t>
            </a:r>
            <a:r>
              <a:rPr lang="en-US" sz="1500" dirty="0">
                <a:solidFill>
                  <a:schemeClr val="accent6"/>
                </a:solidFill>
                <a:latin typeface="Google Sans"/>
                <a:ea typeface="+mn-ea"/>
                <a:cs typeface="+mn-cs"/>
              </a:rPr>
              <a:t> and local file writes.</a:t>
            </a:r>
          </a:p>
          <a:p>
            <a:r>
              <a:rPr lang="en-US" sz="1500" dirty="0">
                <a:solidFill>
                  <a:schemeClr val="accent2"/>
                </a:solidFill>
                <a:latin typeface="Google Sans"/>
                <a:ea typeface="+mn-ea"/>
                <a:cs typeface="+mn-cs"/>
              </a:rPr>
              <a:t>Externalize Session:</a:t>
            </a:r>
            <a:r>
              <a:rPr lang="en-US" sz="1500" dirty="0">
                <a:solidFill>
                  <a:schemeClr val="accent6"/>
                </a:solidFill>
                <a:latin typeface="Google Sans"/>
                <a:ea typeface="+mn-ea"/>
                <a:cs typeface="+mn-cs"/>
              </a:rPr>
              <a:t> Use Redis for storing user state.</a:t>
            </a:r>
          </a:p>
          <a:p>
            <a:r>
              <a:rPr lang="en-US" sz="1500" dirty="0">
                <a:solidFill>
                  <a:schemeClr val="accent2"/>
                </a:solidFill>
                <a:latin typeface="Google Sans"/>
                <a:ea typeface="+mn-ea"/>
                <a:cs typeface="+mn-cs"/>
              </a:rPr>
              <a:t>Implement JWT: </a:t>
            </a:r>
            <a:r>
              <a:rPr lang="en-US" sz="1500" dirty="0">
                <a:solidFill>
                  <a:schemeClr val="accent6"/>
                </a:solidFill>
                <a:latin typeface="Google Sans"/>
                <a:ea typeface="+mn-ea"/>
                <a:cs typeface="+mn-cs"/>
              </a:rPr>
              <a:t>For stateless authentication.</a:t>
            </a:r>
          </a:p>
          <a:p>
            <a:r>
              <a:rPr lang="en-US" sz="1500" dirty="0">
                <a:solidFill>
                  <a:schemeClr val="accent2"/>
                </a:solidFill>
                <a:latin typeface="Google Sans"/>
                <a:ea typeface="+mn-ea"/>
                <a:cs typeface="+mn-cs"/>
              </a:rPr>
              <a:t>Use Sharding: </a:t>
            </a:r>
            <a:r>
              <a:rPr lang="en-US" sz="1500" dirty="0">
                <a:solidFill>
                  <a:schemeClr val="accent6"/>
                </a:solidFill>
                <a:latin typeface="Google Sans"/>
                <a:ea typeface="+mn-ea"/>
                <a:cs typeface="+mn-cs"/>
              </a:rPr>
              <a:t>If using databases, plan for partitioning early.</a:t>
            </a:r>
          </a:p>
          <a:p>
            <a:r>
              <a:rPr lang="en-US" sz="1500" dirty="0">
                <a:solidFill>
                  <a:schemeClr val="accent2"/>
                </a:solidFill>
                <a:latin typeface="Google Sans"/>
                <a:ea typeface="+mn-ea"/>
                <a:cs typeface="+mn-cs"/>
              </a:rPr>
              <a:t>Use Load Balancer:</a:t>
            </a:r>
            <a:r>
              <a:rPr lang="en-US" sz="1500" dirty="0">
                <a:solidFill>
                  <a:schemeClr val="accent6"/>
                </a:solidFill>
                <a:latin typeface="Google Sans"/>
                <a:ea typeface="+mn-ea"/>
                <a:cs typeface="+mn-cs"/>
              </a:rPr>
              <a:t> Implement Round Robin or Least Connections for routing. </a:t>
            </a:r>
          </a:p>
        </p:txBody>
      </p:sp>
    </p:spTree>
    <p:extLst>
      <p:ext uri="{BB962C8B-B14F-4D97-AF65-F5344CB8AC3E}">
        <p14:creationId xmlns:p14="http://schemas.microsoft.com/office/powerpoint/2010/main" val="25133511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0A5D7-B713-037D-45B9-D09311EADDF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21D9DBB-8C69-0E42-7FC5-D9478E9B9489}"/>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4AE411E-BC0B-723A-CDB6-BCE0DC0078C0}"/>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6498D17-F344-65BE-C720-DE5353693CB1}"/>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89ADEE80-338D-C5AB-CC17-4EB036AE8C72}"/>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72804A2B-9D23-3F81-9720-121A705296E8}"/>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677D890A-08B6-E555-A776-97157DACD0FE}"/>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3" name="object 2">
            <a:extLst>
              <a:ext uri="{FF2B5EF4-FFF2-40B4-BE49-F238E27FC236}">
                <a16:creationId xmlns:a16="http://schemas.microsoft.com/office/drawing/2014/main" id="{1504E563-20C8-925D-233E-79A6635F04F9}"/>
              </a:ext>
            </a:extLst>
          </p:cNvPr>
          <p:cNvSpPr txBox="1">
            <a:spLocks/>
          </p:cNvSpPr>
          <p:nvPr/>
        </p:nvSpPr>
        <p:spPr>
          <a:xfrm>
            <a:off x="10160" y="858480"/>
            <a:ext cx="8624937" cy="8463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Sharding vs Partitioning</a:t>
            </a:r>
            <a:r>
              <a:rPr lang="en-US" sz="2000" kern="0" spc="-80" dirty="0">
                <a:solidFill>
                  <a:schemeClr val="accent2"/>
                </a:solidFill>
              </a:rPr>
              <a:t>(needed for Distributed Stateful components[DBs/MQs/Caches </a:t>
            </a:r>
            <a:r>
              <a:rPr lang="en-US" sz="2000" kern="0" spc="-80" dirty="0" err="1">
                <a:solidFill>
                  <a:schemeClr val="accent2"/>
                </a:solidFill>
              </a:rPr>
              <a:t>etc</a:t>
            </a:r>
            <a:r>
              <a:rPr lang="en-US" sz="2000" kern="0" spc="-80" dirty="0">
                <a:solidFill>
                  <a:schemeClr val="accent2"/>
                </a:solidFill>
              </a:rPr>
              <a:t>]) –</a:t>
            </a:r>
            <a:r>
              <a:rPr lang="en-US" sz="1700" kern="0" spc="-80" dirty="0">
                <a:solidFill>
                  <a:schemeClr val="accent2"/>
                </a:solidFill>
              </a:rPr>
              <a:t> </a:t>
            </a:r>
          </a:p>
          <a:p>
            <a:endParaRPr lang="en-US" sz="1500" dirty="0">
              <a:solidFill>
                <a:schemeClr val="accent6"/>
              </a:solidFill>
              <a:latin typeface="Google Sans"/>
              <a:ea typeface="+mn-ea"/>
              <a:cs typeface="+mn-cs"/>
            </a:endParaRPr>
          </a:p>
        </p:txBody>
      </p:sp>
      <p:pic>
        <p:nvPicPr>
          <p:cNvPr id="9" name="Picture 8">
            <a:extLst>
              <a:ext uri="{FF2B5EF4-FFF2-40B4-BE49-F238E27FC236}">
                <a16:creationId xmlns:a16="http://schemas.microsoft.com/office/drawing/2014/main" id="{51D926C9-67BA-CEFE-9EB2-23D4D940A97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60" y="1524000"/>
            <a:ext cx="8996680" cy="1981200"/>
          </a:xfrm>
          <a:prstGeom prst="rect">
            <a:avLst/>
          </a:prstGeom>
        </p:spPr>
      </p:pic>
      <p:pic>
        <p:nvPicPr>
          <p:cNvPr id="12" name="Picture 11">
            <a:extLst>
              <a:ext uri="{FF2B5EF4-FFF2-40B4-BE49-F238E27FC236}">
                <a16:creationId xmlns:a16="http://schemas.microsoft.com/office/drawing/2014/main" id="{E70C8148-FFCC-ED31-7297-D2FE546C0F6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200" y="3505200"/>
            <a:ext cx="8996679" cy="2438400"/>
          </a:xfrm>
          <a:prstGeom prst="rect">
            <a:avLst/>
          </a:prstGeom>
        </p:spPr>
      </p:pic>
    </p:spTree>
    <p:extLst>
      <p:ext uri="{BB962C8B-B14F-4D97-AF65-F5344CB8AC3E}">
        <p14:creationId xmlns:p14="http://schemas.microsoft.com/office/powerpoint/2010/main" val="254013580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F816B-41BF-638E-4B26-DF65CDB081C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7A46580-8B60-B901-4B54-858DC6740E97}"/>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4DE0514-2A3E-3773-654E-9D48E89E5249}"/>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980C600-1D09-5AB7-2B7D-970904482D2B}"/>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317BC711-FD9B-7DCD-8A78-B1DBA6B8FD53}"/>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0B6E2710-C41D-A56F-E418-3313BE6AFC1D}"/>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0455FBA9-1EE6-02A8-0E7B-AB1737080327}"/>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3" name="object 2">
            <a:extLst>
              <a:ext uri="{FF2B5EF4-FFF2-40B4-BE49-F238E27FC236}">
                <a16:creationId xmlns:a16="http://schemas.microsoft.com/office/drawing/2014/main" id="{A7B4441D-F91F-E8BE-7DEA-EACA1D7F33BA}"/>
              </a:ext>
            </a:extLst>
          </p:cNvPr>
          <p:cNvSpPr txBox="1">
            <a:spLocks/>
          </p:cNvSpPr>
          <p:nvPr/>
        </p:nvSpPr>
        <p:spPr>
          <a:xfrm>
            <a:off x="10160" y="858480"/>
            <a:ext cx="8624937" cy="8463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Sharding vs Partitioning</a:t>
            </a:r>
            <a:r>
              <a:rPr lang="en-US" sz="2000" kern="0" spc="-80" dirty="0">
                <a:solidFill>
                  <a:schemeClr val="accent2"/>
                </a:solidFill>
              </a:rPr>
              <a:t>(needed for Distributed Stateful components[DBs/MQs/Caches </a:t>
            </a:r>
            <a:r>
              <a:rPr lang="en-US" sz="2000" kern="0" spc="-80" dirty="0" err="1">
                <a:solidFill>
                  <a:schemeClr val="accent2"/>
                </a:solidFill>
              </a:rPr>
              <a:t>etc</a:t>
            </a:r>
            <a:r>
              <a:rPr lang="en-US" sz="2000" kern="0" spc="-80" dirty="0">
                <a:solidFill>
                  <a:schemeClr val="accent2"/>
                </a:solidFill>
              </a:rPr>
              <a:t>]) – </a:t>
            </a:r>
          </a:p>
          <a:p>
            <a:endParaRPr lang="en-US" sz="1500" dirty="0">
              <a:solidFill>
                <a:schemeClr val="accent6"/>
              </a:solidFill>
              <a:latin typeface="Google Sans"/>
              <a:ea typeface="+mn-ea"/>
              <a:cs typeface="+mn-cs"/>
            </a:endParaRPr>
          </a:p>
        </p:txBody>
      </p:sp>
      <p:pic>
        <p:nvPicPr>
          <p:cNvPr id="11" name="Picture 10">
            <a:extLst>
              <a:ext uri="{FF2B5EF4-FFF2-40B4-BE49-F238E27FC236}">
                <a16:creationId xmlns:a16="http://schemas.microsoft.com/office/drawing/2014/main" id="{917949F8-11C8-1746-6141-5213EF2298E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160" y="1518906"/>
            <a:ext cx="8858540" cy="1986294"/>
          </a:xfrm>
          <a:prstGeom prst="rect">
            <a:avLst/>
          </a:prstGeom>
        </p:spPr>
      </p:pic>
    </p:spTree>
    <p:extLst>
      <p:ext uri="{BB962C8B-B14F-4D97-AF65-F5344CB8AC3E}">
        <p14:creationId xmlns:p14="http://schemas.microsoft.com/office/powerpoint/2010/main" val="144334633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6994F-83A4-70FF-DD06-921A343070A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E534554-D39A-BFF2-4A4B-745B54B84050}"/>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0CC1E5B-336E-66D6-2912-BA22AB7E08AB}"/>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E27A3A0-AB3E-F118-B001-FFA7A9E32320}"/>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3CDC8E53-57DE-89C4-1485-053173BBBCA1}"/>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36C37F94-CB9A-8727-47B2-6A822E4425F1}"/>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21EC70EE-AC37-A01F-0B41-B0B11D8DDCD4}"/>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3" name="object 2">
            <a:extLst>
              <a:ext uri="{FF2B5EF4-FFF2-40B4-BE49-F238E27FC236}">
                <a16:creationId xmlns:a16="http://schemas.microsoft.com/office/drawing/2014/main" id="{75A2CE93-E294-BAB0-9C1E-E6A07BD33A41}"/>
              </a:ext>
            </a:extLst>
          </p:cNvPr>
          <p:cNvSpPr txBox="1">
            <a:spLocks/>
          </p:cNvSpPr>
          <p:nvPr/>
        </p:nvSpPr>
        <p:spPr>
          <a:xfrm>
            <a:off x="10160" y="858480"/>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Considerations for Stateful Components w.r.t Partitioning and Sharding</a:t>
            </a:r>
          </a:p>
          <a:p>
            <a:r>
              <a:rPr lang="en-US" sz="1500" dirty="0">
                <a:solidFill>
                  <a:schemeClr val="accent6"/>
                </a:solidFill>
                <a:latin typeface="Google Sans"/>
                <a:ea typeface="+mn-ea"/>
                <a:cs typeface="+mn-cs"/>
              </a:rPr>
              <a:t>When choosing between partitioning and sharding for stateful components (like databases or caches), several factors need careful consideration:</a:t>
            </a:r>
          </a:p>
          <a:p>
            <a:r>
              <a:rPr lang="en-US" sz="1500" dirty="0">
                <a:solidFill>
                  <a:schemeClr val="accent2"/>
                </a:solidFill>
                <a:latin typeface="Google Sans"/>
                <a:ea typeface="+mn-ea"/>
                <a:cs typeface="+mn-cs"/>
              </a:rPr>
              <a:t>1. Choice of Shard/Partitioning Key</a:t>
            </a:r>
          </a:p>
          <a:p>
            <a:r>
              <a:rPr lang="en-US" sz="1500" dirty="0">
                <a:solidFill>
                  <a:schemeClr val="accent6"/>
                </a:solidFill>
                <a:latin typeface="Google Sans"/>
                <a:ea typeface="+mn-ea"/>
                <a:cs typeface="+mn-cs"/>
              </a:rPr>
              <a:t>The "key" determines how data is distributed. A good key ensures an even distribution of data and query load. </a:t>
            </a:r>
          </a:p>
          <a:p>
            <a:r>
              <a:rPr lang="en-US" sz="1500" dirty="0">
                <a:solidFill>
                  <a:schemeClr val="accent2"/>
                </a:solidFill>
                <a:latin typeface="Google Sans"/>
                <a:ea typeface="+mn-ea"/>
                <a:cs typeface="+mn-cs"/>
              </a:rPr>
              <a:t>Common strategies include: </a:t>
            </a:r>
          </a:p>
          <a:p>
            <a:r>
              <a:rPr lang="en-US" sz="1500" dirty="0">
                <a:solidFill>
                  <a:schemeClr val="accent2"/>
                </a:solidFill>
                <a:latin typeface="Google Sans"/>
                <a:ea typeface="+mn-ea"/>
                <a:cs typeface="+mn-cs"/>
              </a:rPr>
              <a:t>Range-based: </a:t>
            </a:r>
            <a:r>
              <a:rPr lang="en-US" sz="1500" dirty="0">
                <a:solidFill>
                  <a:schemeClr val="accent6"/>
                </a:solidFill>
                <a:latin typeface="Google Sans"/>
                <a:ea typeface="+mn-ea"/>
                <a:cs typeface="+mn-cs"/>
              </a:rPr>
              <a:t>Data sorted by key values (e.g., all users with IDs 1-1000 on one server). Can lead to "hot spots" if data growth isn't uniform.</a:t>
            </a:r>
          </a:p>
          <a:p>
            <a:r>
              <a:rPr lang="en-US" sz="1500" dirty="0">
                <a:solidFill>
                  <a:schemeClr val="accent2"/>
                </a:solidFill>
                <a:latin typeface="Google Sans"/>
                <a:ea typeface="+mn-ea"/>
                <a:cs typeface="+mn-cs"/>
              </a:rPr>
              <a:t>Hash-based: </a:t>
            </a:r>
            <a:r>
              <a:rPr lang="en-US" sz="1500" dirty="0">
                <a:solidFill>
                  <a:schemeClr val="accent6"/>
                </a:solidFill>
                <a:latin typeface="Google Sans"/>
                <a:ea typeface="+mn-ea"/>
                <a:cs typeface="+mn-cs"/>
              </a:rPr>
              <a:t>Uses a hash function on the key to randomly distribute data. Excellent for load balancing but makes range queries inefficient.</a:t>
            </a:r>
          </a:p>
          <a:p>
            <a:r>
              <a:rPr lang="en-US" sz="1500" dirty="0">
                <a:solidFill>
                  <a:schemeClr val="accent2"/>
                </a:solidFill>
                <a:latin typeface="Google Sans"/>
                <a:ea typeface="+mn-ea"/>
                <a:cs typeface="+mn-cs"/>
              </a:rPr>
              <a:t>Directory-based: </a:t>
            </a:r>
            <a:r>
              <a:rPr lang="en-US" sz="1500" dirty="0">
                <a:solidFill>
                  <a:schemeClr val="accent6"/>
                </a:solidFill>
                <a:latin typeface="Google Sans"/>
                <a:ea typeface="+mn-ea"/>
                <a:cs typeface="+mn-cs"/>
              </a:rPr>
              <a:t>A lookup service (a "shard manager") maps keys to their physical location. Offers flexibility but adds a potential single point of failure.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2. Operational Complexity and Management</a:t>
            </a:r>
          </a:p>
          <a:p>
            <a:r>
              <a:rPr lang="en-US" sz="1500" dirty="0">
                <a:solidFill>
                  <a:schemeClr val="accent6"/>
                </a:solidFill>
                <a:latin typeface="Google Sans"/>
                <a:ea typeface="+mn-ea"/>
                <a:cs typeface="+mn-cs"/>
              </a:rPr>
              <a:t>Sharding fundamentally introduces the complexities of distributed systems. </a:t>
            </a:r>
          </a:p>
          <a:p>
            <a:r>
              <a:rPr lang="en-US" sz="1500" dirty="0">
                <a:solidFill>
                  <a:schemeClr val="accent2"/>
                </a:solidFill>
                <a:latin typeface="Google Sans"/>
                <a:ea typeface="+mn-ea"/>
                <a:cs typeface="+mn-cs"/>
              </a:rPr>
              <a:t>Rebalancing:</a:t>
            </a:r>
            <a:r>
              <a:rPr lang="en-US" sz="1500" dirty="0">
                <a:solidFill>
                  <a:schemeClr val="accent6"/>
                </a:solidFill>
                <a:latin typeface="Google Sans"/>
                <a:ea typeface="+mn-ea"/>
                <a:cs typeface="+mn-cs"/>
              </a:rPr>
              <a:t> As data grows or servers are added/removed, data often needs to be moved between shards (rebalanced) to maintain an even load. This is a complex operational task in sharded systems.</a:t>
            </a:r>
          </a:p>
          <a:p>
            <a:r>
              <a:rPr lang="en-US" sz="1500" dirty="0">
                <a:solidFill>
                  <a:schemeClr val="accent2"/>
                </a:solidFill>
                <a:latin typeface="Google Sans"/>
                <a:ea typeface="+mn-ea"/>
                <a:cs typeface="+mn-cs"/>
              </a:rPr>
              <a:t>Failure Modes: </a:t>
            </a:r>
            <a:r>
              <a:rPr lang="en-US" sz="1500" dirty="0">
                <a:solidFill>
                  <a:schemeClr val="accent6"/>
                </a:solidFill>
                <a:latin typeface="Google Sans"/>
                <a:ea typeface="+mn-ea"/>
                <a:cs typeface="+mn-cs"/>
              </a:rPr>
              <a:t>Sharding introduces new failure modes. If one partition fails in a non-sharded system, the whole system might be down. In a sharded system, only a fraction might be unavailable, but managing partial outages and data replication becomes crucial. </a:t>
            </a:r>
          </a:p>
        </p:txBody>
      </p:sp>
    </p:spTree>
    <p:extLst>
      <p:ext uri="{BB962C8B-B14F-4D97-AF65-F5344CB8AC3E}">
        <p14:creationId xmlns:p14="http://schemas.microsoft.com/office/powerpoint/2010/main" val="301895055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04B1B-D8E0-D466-D8F7-B8E8D69B64C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F188C2D-E3B6-6037-2894-3FB3974A4995}"/>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D0E5B10-B23D-878C-E46B-ECEB30E7BC5F}"/>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5BB8F4C-1250-3C7E-051F-9A34728FB78E}"/>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EFE045F8-64FE-6D90-7EFD-1AA5CD31211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6B69CE3A-9ACF-DFDE-41C2-AEE2669B8C4C}"/>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833F68C6-7CB5-9EED-30C7-BC736C8720BA}"/>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3" name="object 2">
            <a:extLst>
              <a:ext uri="{FF2B5EF4-FFF2-40B4-BE49-F238E27FC236}">
                <a16:creationId xmlns:a16="http://schemas.microsoft.com/office/drawing/2014/main" id="{690B7EB0-6FFE-9FF9-A0A3-3276514576AE}"/>
              </a:ext>
            </a:extLst>
          </p:cNvPr>
          <p:cNvSpPr txBox="1">
            <a:spLocks/>
          </p:cNvSpPr>
          <p:nvPr/>
        </p:nvSpPr>
        <p:spPr>
          <a:xfrm>
            <a:off x="10160" y="858480"/>
            <a:ext cx="8624937" cy="19236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Considerations for Stateful Components w.r.t Partitioning and Sharding</a:t>
            </a:r>
          </a:p>
          <a:p>
            <a:r>
              <a:rPr lang="en-US" sz="1500" dirty="0">
                <a:solidFill>
                  <a:schemeClr val="accent2"/>
                </a:solidFill>
                <a:latin typeface="Google Sans"/>
                <a:ea typeface="+mn-ea"/>
                <a:cs typeface="+mn-cs"/>
              </a:rPr>
              <a:t>3. Application Architecture Changes</a:t>
            </a:r>
          </a:p>
          <a:p>
            <a:r>
              <a:rPr lang="en-US" sz="1500" dirty="0">
                <a:solidFill>
                  <a:schemeClr val="accent6"/>
                </a:solidFill>
                <a:latin typeface="Google Sans"/>
                <a:ea typeface="+mn-ea"/>
                <a:cs typeface="+mn-cs"/>
              </a:rPr>
              <a:t>Partitioning is largely transparent to the application code, but sharding almost always requires the application to be aware of the data distribution logic or integrate with a middleware that handles it. The application must know where to read from and write to. </a:t>
            </a:r>
          </a:p>
          <a:p>
            <a:r>
              <a:rPr lang="en-US" sz="1500" dirty="0">
                <a:solidFill>
                  <a:schemeClr val="accent6"/>
                </a:solidFill>
                <a:latin typeface="Google Sans"/>
                <a:ea typeface="+mn-ea"/>
                <a:cs typeface="+mn-cs"/>
              </a:rPr>
              <a:t>In summary, use partitioning for optimizing performance and manageability within existing hardware limits, and use sharding when you have exhausted the capacity of a single machine and require horizontal scalability to handle massive data volumes or traffic. </a:t>
            </a:r>
          </a:p>
        </p:txBody>
      </p:sp>
    </p:spTree>
    <p:extLst>
      <p:ext uri="{BB962C8B-B14F-4D97-AF65-F5344CB8AC3E}">
        <p14:creationId xmlns:p14="http://schemas.microsoft.com/office/powerpoint/2010/main" val="112181170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BF19F-3B0F-32ED-4A1F-539080431D2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961D980-BB3F-44DB-ECDA-C56FC5A7845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F94385C-AA68-155A-4825-423CD9D218F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FF73E1EC-4F25-DE41-8B85-8DD2823DF2B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CEC61DF6-E6A4-C389-B4CF-2A910B2B8576}"/>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08C648C4-DBEE-D7B2-97A0-C0F9569296C4}"/>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EC966C46-B11A-47C7-D981-8433BAC997E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p:txBody>
        </p:sp>
      </p:grpSp>
      <p:sp>
        <p:nvSpPr>
          <p:cNvPr id="6" name="object 2">
            <a:extLst>
              <a:ext uri="{FF2B5EF4-FFF2-40B4-BE49-F238E27FC236}">
                <a16:creationId xmlns:a16="http://schemas.microsoft.com/office/drawing/2014/main" id="{C07A3657-4BC6-0FFC-EFD0-B066EA6F4F08}"/>
              </a:ext>
            </a:extLst>
          </p:cNvPr>
          <p:cNvSpPr txBox="1">
            <a:spLocks/>
          </p:cNvSpPr>
          <p:nvPr/>
        </p:nvSpPr>
        <p:spPr>
          <a:xfrm>
            <a:off x="137369" y="723264"/>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Data Locality</a:t>
            </a:r>
          </a:p>
          <a:p>
            <a:r>
              <a:rPr lang="en-US" sz="1500" dirty="0">
                <a:solidFill>
                  <a:schemeClr val="accent6"/>
                </a:solidFill>
                <a:latin typeface="Google Sans"/>
                <a:ea typeface="+mn-ea"/>
                <a:cs typeface="+mn-cs"/>
              </a:rPr>
              <a:t>Data locality in stateful partitioning/sharding refers to the design principle of placing data on the same physical node or in the same geographic region where it is processed,, reducing network latency and improving performance. It is crucial for high-performance, large-scale systems where fetching data from a remote source is too slow. </a:t>
            </a:r>
          </a:p>
          <a:p>
            <a:r>
              <a:rPr lang="en-US" sz="1500" dirty="0">
                <a:solidFill>
                  <a:schemeClr val="accent2"/>
                </a:solidFill>
                <a:latin typeface="Google Sans"/>
                <a:ea typeface="+mn-ea"/>
                <a:cs typeface="+mn-cs"/>
              </a:rPr>
              <a:t>Core Concepts of Data Locality in Sharding</a:t>
            </a:r>
          </a:p>
          <a:p>
            <a:r>
              <a:rPr lang="en-US" sz="1500" dirty="0">
                <a:solidFill>
                  <a:schemeClr val="accent2"/>
                </a:solidFill>
                <a:latin typeface="Google Sans"/>
                <a:ea typeface="+mn-ea"/>
                <a:cs typeface="+mn-cs"/>
              </a:rPr>
              <a:t>Locality Principle:</a:t>
            </a:r>
            <a:r>
              <a:rPr lang="en-US" sz="1500" dirty="0">
                <a:solidFill>
                  <a:schemeClr val="accent6"/>
                </a:solidFill>
                <a:latin typeface="Google Sans"/>
                <a:ea typeface="+mn-ea"/>
                <a:cs typeface="+mn-cs"/>
              </a:rPr>
              <a:t> By partitioning data into smaller, independent shards based on a specific shard key (e.g., user ID, region), you can ensure all relevant data for a request resides on a single machine.</a:t>
            </a:r>
          </a:p>
          <a:p>
            <a:r>
              <a:rPr lang="en-US" sz="1500" dirty="0">
                <a:solidFill>
                  <a:schemeClr val="accent2"/>
                </a:solidFill>
                <a:latin typeface="Google Sans"/>
                <a:ea typeface="+mn-ea"/>
                <a:cs typeface="+mn-cs"/>
              </a:rPr>
              <a:t>Geographic Proximity (Geo-Sharding):</a:t>
            </a:r>
            <a:r>
              <a:rPr lang="en-US" sz="1500" dirty="0">
                <a:solidFill>
                  <a:schemeClr val="accent6"/>
                </a:solidFill>
                <a:latin typeface="Google Sans"/>
                <a:ea typeface="+mn-ea"/>
                <a:cs typeface="+mn-cs"/>
              </a:rPr>
              <a:t> Data is placed close to the users who access it, reducing round-trip time for applications with global users.</a:t>
            </a:r>
          </a:p>
          <a:p>
            <a:r>
              <a:rPr lang="en-US" sz="1500" dirty="0">
                <a:solidFill>
                  <a:schemeClr val="accent2"/>
                </a:solidFill>
                <a:latin typeface="Google Sans"/>
                <a:ea typeface="+mn-ea"/>
                <a:cs typeface="+mn-cs"/>
              </a:rPr>
              <a:t>Memory-First Access: </a:t>
            </a:r>
            <a:r>
              <a:rPr lang="en-US" sz="1500" dirty="0">
                <a:solidFill>
                  <a:schemeClr val="accent6"/>
                </a:solidFill>
                <a:latin typeface="Google Sans"/>
                <a:ea typeface="+mn-ea"/>
                <a:cs typeface="+mn-cs"/>
              </a:rPr>
              <a:t>When data is local, it can be cached or processed directly from memory, avoiding slow disk I/O. </a:t>
            </a:r>
          </a:p>
          <a:p>
            <a:r>
              <a:rPr lang="en-US" sz="1500" dirty="0">
                <a:solidFill>
                  <a:schemeClr val="accent2"/>
                </a:solidFill>
                <a:latin typeface="Google Sans"/>
                <a:ea typeface="+mn-ea"/>
                <a:cs typeface="+mn-cs"/>
              </a:rPr>
              <a:t>Benefits of Data Locality</a:t>
            </a:r>
          </a:p>
          <a:p>
            <a:r>
              <a:rPr lang="en-US" sz="1500" dirty="0">
                <a:solidFill>
                  <a:schemeClr val="accent2"/>
                </a:solidFill>
                <a:latin typeface="Google Sans"/>
                <a:ea typeface="+mn-ea"/>
                <a:cs typeface="+mn-cs"/>
              </a:rPr>
              <a:t>Significantly Lower Latency: </a:t>
            </a:r>
            <a:r>
              <a:rPr lang="en-US" sz="1500" dirty="0">
                <a:solidFill>
                  <a:schemeClr val="accent6"/>
                </a:solidFill>
                <a:latin typeface="Google Sans"/>
                <a:ea typeface="+mn-ea"/>
                <a:cs typeface="+mn-cs"/>
              </a:rPr>
              <a:t>Requests do not require multiple network hops to retrieve data.</a:t>
            </a:r>
          </a:p>
          <a:p>
            <a:r>
              <a:rPr lang="en-US" sz="1500" dirty="0">
                <a:solidFill>
                  <a:schemeClr val="accent2"/>
                </a:solidFill>
                <a:latin typeface="Google Sans"/>
                <a:ea typeface="+mn-ea"/>
                <a:cs typeface="+mn-cs"/>
              </a:rPr>
              <a:t>Reduced Network Congestion: </a:t>
            </a:r>
            <a:r>
              <a:rPr lang="en-US" sz="1500" dirty="0">
                <a:solidFill>
                  <a:schemeClr val="accent6"/>
                </a:solidFill>
                <a:latin typeface="Google Sans"/>
                <a:ea typeface="+mn-ea"/>
                <a:cs typeface="+mn-cs"/>
              </a:rPr>
              <a:t>Since data doesn't move across the network to the application, bandwidth usage is lowered.</a:t>
            </a:r>
          </a:p>
          <a:p>
            <a:r>
              <a:rPr lang="en-US" sz="1500" dirty="0">
                <a:solidFill>
                  <a:schemeClr val="accent2"/>
                </a:solidFill>
                <a:latin typeface="Google Sans"/>
                <a:ea typeface="+mn-ea"/>
                <a:cs typeface="+mn-cs"/>
              </a:rPr>
              <a:t>Improved Throughput: </a:t>
            </a:r>
            <a:r>
              <a:rPr lang="en-US" sz="1500" dirty="0">
                <a:solidFill>
                  <a:schemeClr val="accent6"/>
                </a:solidFill>
                <a:latin typeface="Google Sans"/>
                <a:ea typeface="+mn-ea"/>
                <a:cs typeface="+mn-cs"/>
              </a:rPr>
              <a:t>Parallel processing of shards allows for higher volume processing.</a:t>
            </a:r>
          </a:p>
          <a:p>
            <a:r>
              <a:rPr lang="en-US" sz="1500" dirty="0">
                <a:solidFill>
                  <a:schemeClr val="accent2"/>
                </a:solidFill>
                <a:latin typeface="Google Sans"/>
                <a:ea typeface="+mn-ea"/>
                <a:cs typeface="+mn-cs"/>
              </a:rPr>
              <a:t>Simplified Consistency: </a:t>
            </a:r>
            <a:r>
              <a:rPr lang="en-US" sz="1500" dirty="0">
                <a:solidFill>
                  <a:schemeClr val="accent6"/>
                </a:solidFill>
                <a:latin typeface="Google Sans"/>
                <a:ea typeface="+mn-ea"/>
                <a:cs typeface="+mn-cs"/>
              </a:rPr>
              <a:t>Transactions operating on data within a single shard (local) are easier to manage than cross-shard transactions. </a:t>
            </a:r>
          </a:p>
          <a:p>
            <a:r>
              <a:rPr lang="en-US" sz="1500" dirty="0">
                <a:solidFill>
                  <a:schemeClr val="accent2"/>
                </a:solidFill>
                <a:latin typeface="Google Sans"/>
                <a:ea typeface="+mn-ea"/>
                <a:cs typeface="+mn-cs"/>
              </a:rPr>
              <a:t>Common Implementation Strategies</a:t>
            </a:r>
          </a:p>
          <a:p>
            <a:r>
              <a:rPr lang="en-US" sz="1500" dirty="0">
                <a:solidFill>
                  <a:schemeClr val="accent2"/>
                </a:solidFill>
                <a:latin typeface="Google Sans"/>
                <a:ea typeface="+mn-ea"/>
                <a:cs typeface="+mn-cs"/>
              </a:rPr>
              <a:t>Geo-based Sharding: </a:t>
            </a:r>
            <a:r>
              <a:rPr lang="en-US" sz="1500" dirty="0">
                <a:solidFill>
                  <a:schemeClr val="accent6"/>
                </a:solidFill>
                <a:latin typeface="Google Sans"/>
                <a:ea typeface="+mn-ea"/>
                <a:cs typeface="+mn-cs"/>
              </a:rPr>
              <a:t>Segregating data by geographical location (e.g., European customers on </a:t>
            </a:r>
            <a:r>
              <a:rPr lang="en-US" sz="1500" dirty="0" err="1">
                <a:solidFill>
                  <a:schemeClr val="accent6"/>
                </a:solidFill>
                <a:latin typeface="Google Sans"/>
                <a:ea typeface="+mn-ea"/>
                <a:cs typeface="+mn-cs"/>
              </a:rPr>
              <a:t>eur_customers</a:t>
            </a:r>
            <a:r>
              <a:rPr lang="en-US" sz="1500" dirty="0">
                <a:solidFill>
                  <a:schemeClr val="accent6"/>
                </a:solidFill>
                <a:latin typeface="Google Sans"/>
                <a:ea typeface="+mn-ea"/>
                <a:cs typeface="+mn-cs"/>
              </a:rPr>
              <a:t> shard).</a:t>
            </a:r>
          </a:p>
        </p:txBody>
      </p:sp>
    </p:spTree>
    <p:extLst>
      <p:ext uri="{BB962C8B-B14F-4D97-AF65-F5344CB8AC3E}">
        <p14:creationId xmlns:p14="http://schemas.microsoft.com/office/powerpoint/2010/main" val="428531735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2299E-9E8C-9D2C-4E13-4EF62CEC48F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356EB55-DEB8-D53A-6A35-D3D60528ABB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45F9048-D365-C194-47D5-C82D03AB9EF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20303BA-610E-FD30-34C7-A317462F8DF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D901AE49-33E7-549F-F73A-1D55944BB567}"/>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630279E2-A591-E4C4-AA9C-A3925493B01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71193214-DE63-0377-8A22-BE7E5C6D644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p:txBody>
        </p:sp>
      </p:grpSp>
      <p:sp>
        <p:nvSpPr>
          <p:cNvPr id="6" name="object 2">
            <a:extLst>
              <a:ext uri="{FF2B5EF4-FFF2-40B4-BE49-F238E27FC236}">
                <a16:creationId xmlns:a16="http://schemas.microsoft.com/office/drawing/2014/main" id="{11388386-6DF4-5715-B913-85E1084A07E1}"/>
              </a:ext>
            </a:extLst>
          </p:cNvPr>
          <p:cNvSpPr txBox="1">
            <a:spLocks/>
          </p:cNvSpPr>
          <p:nvPr/>
        </p:nvSpPr>
        <p:spPr>
          <a:xfrm>
            <a:off x="137369" y="723264"/>
            <a:ext cx="8624937" cy="377026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Data Locality</a:t>
            </a:r>
          </a:p>
          <a:p>
            <a:r>
              <a:rPr lang="en-US" sz="1500" dirty="0">
                <a:solidFill>
                  <a:schemeClr val="accent2"/>
                </a:solidFill>
                <a:latin typeface="Google Sans"/>
                <a:ea typeface="+mn-ea"/>
                <a:cs typeface="+mn-cs"/>
              </a:rPr>
              <a:t>Common Implementation Strategies</a:t>
            </a:r>
          </a:p>
          <a:p>
            <a:r>
              <a:rPr lang="en-US" sz="1500" dirty="0">
                <a:solidFill>
                  <a:schemeClr val="accent2"/>
                </a:solidFill>
                <a:latin typeface="Google Sans"/>
                <a:ea typeface="+mn-ea"/>
                <a:cs typeface="+mn-cs"/>
              </a:rPr>
              <a:t>Hash-Based Sharding: </a:t>
            </a:r>
            <a:r>
              <a:rPr lang="en-US" sz="1500" dirty="0">
                <a:solidFill>
                  <a:schemeClr val="accent6"/>
                </a:solidFill>
                <a:latin typeface="Google Sans"/>
                <a:ea typeface="+mn-ea"/>
                <a:cs typeface="+mn-cs"/>
              </a:rPr>
              <a:t>Distributing data uniformly using a hash function to prevent hotspots, while still ensuring the hash-mapped machine contains all necessary data for that user.</a:t>
            </a:r>
          </a:p>
          <a:p>
            <a:r>
              <a:rPr lang="en-US" sz="1500" dirty="0">
                <a:solidFill>
                  <a:schemeClr val="accent2"/>
                </a:solidFill>
                <a:latin typeface="Google Sans"/>
                <a:ea typeface="+mn-ea"/>
                <a:cs typeface="+mn-cs"/>
              </a:rPr>
              <a:t>Range-Based Sharding:</a:t>
            </a:r>
            <a:r>
              <a:rPr lang="en-US" sz="1500" dirty="0">
                <a:solidFill>
                  <a:schemeClr val="accent6"/>
                </a:solidFill>
                <a:latin typeface="Google Sans"/>
                <a:ea typeface="+mn-ea"/>
                <a:cs typeface="+mn-cs"/>
              </a:rPr>
              <a:t> Dividing data by specific, ordered ranges (e.g., date ranges) to keep temporal data together.</a:t>
            </a:r>
          </a:p>
          <a:p>
            <a:r>
              <a:rPr lang="en-US" sz="1500" dirty="0">
                <a:solidFill>
                  <a:schemeClr val="accent2"/>
                </a:solidFill>
                <a:latin typeface="Google Sans"/>
                <a:ea typeface="+mn-ea"/>
                <a:cs typeface="+mn-cs"/>
              </a:rPr>
              <a:t>Directory-Based Sharding:</a:t>
            </a:r>
            <a:r>
              <a:rPr lang="en-US" sz="1500" dirty="0">
                <a:solidFill>
                  <a:schemeClr val="accent6"/>
                </a:solidFill>
                <a:latin typeface="Google Sans"/>
                <a:ea typeface="+mn-ea"/>
                <a:cs typeface="+mn-cs"/>
              </a:rPr>
              <a:t> Using a separate service to map keys to specific shards, allowing for dynamic rebalancing. </a:t>
            </a:r>
          </a:p>
          <a:p>
            <a:r>
              <a:rPr lang="en-US" sz="1500" dirty="0">
                <a:solidFill>
                  <a:schemeClr val="accent2"/>
                </a:solidFill>
                <a:latin typeface="Google Sans"/>
                <a:ea typeface="+mn-ea"/>
                <a:cs typeface="+mn-cs"/>
              </a:rPr>
              <a:t>Challenges and Considerations</a:t>
            </a:r>
          </a:p>
          <a:p>
            <a:r>
              <a:rPr lang="en-US" sz="1500" dirty="0">
                <a:solidFill>
                  <a:schemeClr val="accent2"/>
                </a:solidFill>
                <a:latin typeface="Google Sans"/>
                <a:ea typeface="+mn-ea"/>
                <a:cs typeface="+mn-cs"/>
              </a:rPr>
              <a:t>Cross-Shard Operations: </a:t>
            </a:r>
            <a:r>
              <a:rPr lang="en-US" sz="1500" dirty="0">
                <a:solidFill>
                  <a:schemeClr val="accent6"/>
                </a:solidFill>
                <a:latin typeface="Google Sans"/>
                <a:ea typeface="+mn-ea"/>
                <a:cs typeface="+mn-cs"/>
              </a:rPr>
              <a:t>If a query needs data from multiple shards, performance drops because of the network overhead to combine the data.</a:t>
            </a:r>
          </a:p>
          <a:p>
            <a:r>
              <a:rPr lang="en-US" sz="1500" dirty="0">
                <a:solidFill>
                  <a:schemeClr val="accent2"/>
                </a:solidFill>
                <a:latin typeface="Google Sans"/>
                <a:ea typeface="+mn-ea"/>
                <a:cs typeface="+mn-cs"/>
              </a:rPr>
              <a:t>Data Hotspots:</a:t>
            </a:r>
            <a:r>
              <a:rPr lang="en-US" sz="1500" dirty="0">
                <a:solidFill>
                  <a:schemeClr val="accent6"/>
                </a:solidFill>
                <a:latin typeface="Google Sans"/>
                <a:ea typeface="+mn-ea"/>
                <a:cs typeface="+mn-cs"/>
              </a:rPr>
              <a:t> Improper shard key selection can lead to one shard handling too much traffic, reducing the benefits of distributed locality.</a:t>
            </a:r>
          </a:p>
          <a:p>
            <a:r>
              <a:rPr lang="en-US" sz="1500" dirty="0">
                <a:solidFill>
                  <a:schemeClr val="accent2"/>
                </a:solidFill>
                <a:latin typeface="Google Sans"/>
                <a:ea typeface="+mn-ea"/>
                <a:cs typeface="+mn-cs"/>
              </a:rPr>
              <a:t>Rebalancing: </a:t>
            </a:r>
            <a:r>
              <a:rPr lang="en-US" sz="1500" dirty="0">
                <a:solidFill>
                  <a:schemeClr val="accent6"/>
                </a:solidFill>
                <a:latin typeface="Google Sans"/>
                <a:ea typeface="+mn-ea"/>
                <a:cs typeface="+mn-cs"/>
              </a:rPr>
              <a:t>As data grows, moving data across nodes while maintaining locality is complex.</a:t>
            </a:r>
          </a:p>
          <a:p>
            <a:r>
              <a:rPr lang="en-US" sz="1500" dirty="0">
                <a:solidFill>
                  <a:schemeClr val="accent2"/>
                </a:solidFill>
                <a:latin typeface="Google Sans"/>
                <a:ea typeface="+mn-ea"/>
                <a:cs typeface="+mn-cs"/>
              </a:rPr>
              <a:t>Reference Data: </a:t>
            </a:r>
            <a:r>
              <a:rPr lang="en-US" sz="1500" dirty="0">
                <a:solidFill>
                  <a:schemeClr val="accent6"/>
                </a:solidFill>
                <a:latin typeface="Google Sans"/>
                <a:ea typeface="+mn-ea"/>
                <a:cs typeface="+mn-cs"/>
              </a:rPr>
              <a:t>Frequently accessed, non-partitioned data may need to be replicated on every node to maintain full locality. </a:t>
            </a:r>
          </a:p>
        </p:txBody>
      </p:sp>
    </p:spTree>
    <p:extLst>
      <p:ext uri="{BB962C8B-B14F-4D97-AF65-F5344CB8AC3E}">
        <p14:creationId xmlns:p14="http://schemas.microsoft.com/office/powerpoint/2010/main" val="354099688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5CB58-D0EA-672D-6274-1473F69CFC9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788AF7F-D32E-8534-0CA0-0D47025F66E2}"/>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7801AA0-D7DF-40F3-64B9-08ACFF2B3CE3}"/>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EA26F36-B71D-DC1F-926A-84204B573ECC}"/>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4DC72468-7282-FD9D-20EF-FAF137E40814}"/>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8D5D04A3-10EC-2CB4-1D54-B3CE1736408D}"/>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13FD29A7-819A-6089-4967-F061CCEB92C3}"/>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3" name="object 2">
            <a:extLst>
              <a:ext uri="{FF2B5EF4-FFF2-40B4-BE49-F238E27FC236}">
                <a16:creationId xmlns:a16="http://schemas.microsoft.com/office/drawing/2014/main" id="{0EC74B84-7C4F-21C6-D4AF-2A2A43409A46}"/>
              </a:ext>
            </a:extLst>
          </p:cNvPr>
          <p:cNvSpPr txBox="1">
            <a:spLocks/>
          </p:cNvSpPr>
          <p:nvPr/>
        </p:nvSpPr>
        <p:spPr>
          <a:xfrm>
            <a:off x="10160" y="85848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Shard/Partitioning Key Strategies comparison</a:t>
            </a:r>
          </a:p>
        </p:txBody>
      </p:sp>
      <p:pic>
        <p:nvPicPr>
          <p:cNvPr id="11" name="Picture 10">
            <a:extLst>
              <a:ext uri="{FF2B5EF4-FFF2-40B4-BE49-F238E27FC236}">
                <a16:creationId xmlns:a16="http://schemas.microsoft.com/office/drawing/2014/main" id="{24B4133D-65F1-79D4-DFD8-16EFDAD5B46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640" y="1135777"/>
            <a:ext cx="8966200" cy="464423"/>
          </a:xfrm>
          <a:prstGeom prst="rect">
            <a:avLst/>
          </a:prstGeom>
        </p:spPr>
      </p:pic>
      <p:pic>
        <p:nvPicPr>
          <p:cNvPr id="13" name="Picture 12">
            <a:extLst>
              <a:ext uri="{FF2B5EF4-FFF2-40B4-BE49-F238E27FC236}">
                <a16:creationId xmlns:a16="http://schemas.microsoft.com/office/drawing/2014/main" id="{96E9F2D7-0437-C071-19E0-8DD443347E7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200" y="1491337"/>
            <a:ext cx="8966199" cy="2699663"/>
          </a:xfrm>
          <a:prstGeom prst="rect">
            <a:avLst/>
          </a:prstGeom>
        </p:spPr>
      </p:pic>
      <p:pic>
        <p:nvPicPr>
          <p:cNvPr id="15" name="Picture 14">
            <a:extLst>
              <a:ext uri="{FF2B5EF4-FFF2-40B4-BE49-F238E27FC236}">
                <a16:creationId xmlns:a16="http://schemas.microsoft.com/office/drawing/2014/main" id="{CE785B75-BC6F-A15C-D511-1730B723983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1601" y="4187881"/>
            <a:ext cx="8798636" cy="1755719"/>
          </a:xfrm>
          <a:prstGeom prst="rect">
            <a:avLst/>
          </a:prstGeom>
        </p:spPr>
      </p:pic>
    </p:spTree>
    <p:extLst>
      <p:ext uri="{BB962C8B-B14F-4D97-AF65-F5344CB8AC3E}">
        <p14:creationId xmlns:p14="http://schemas.microsoft.com/office/powerpoint/2010/main" val="403832342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538F4-2072-AE26-EF57-F8C6B8F1D78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AE7044-A264-8C5B-AB9E-F8D0503A3E92}"/>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2A3170F-0151-6D10-D14B-71C5636A207B}"/>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1D01200-367C-11AF-F2AE-C26C6A17B96B}"/>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1E3680DA-BDE8-DA58-070A-3CCD26906C1C}"/>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AB9590D6-F843-D815-EEC5-BED36E099FF1}"/>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5AFB848C-5499-4962-89BA-810C2DA860F1}"/>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3" name="object 2">
            <a:extLst>
              <a:ext uri="{FF2B5EF4-FFF2-40B4-BE49-F238E27FC236}">
                <a16:creationId xmlns:a16="http://schemas.microsoft.com/office/drawing/2014/main" id="{D26CF73E-1E10-2115-31E5-0B35B690A7CE}"/>
              </a:ext>
            </a:extLst>
          </p:cNvPr>
          <p:cNvSpPr txBox="1">
            <a:spLocks/>
          </p:cNvSpPr>
          <p:nvPr/>
        </p:nvSpPr>
        <p:spPr>
          <a:xfrm>
            <a:off x="10160" y="85848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Shard/Partitioning Key Strategies comparison</a:t>
            </a:r>
          </a:p>
        </p:txBody>
      </p:sp>
      <p:pic>
        <p:nvPicPr>
          <p:cNvPr id="11" name="Picture 10">
            <a:extLst>
              <a:ext uri="{FF2B5EF4-FFF2-40B4-BE49-F238E27FC236}">
                <a16:creationId xmlns:a16="http://schemas.microsoft.com/office/drawing/2014/main" id="{CD4D65A9-4DE7-7C8B-6A16-4640CB8FA2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640" y="1135777"/>
            <a:ext cx="8966200" cy="464423"/>
          </a:xfrm>
          <a:prstGeom prst="rect">
            <a:avLst/>
          </a:prstGeom>
        </p:spPr>
      </p:pic>
      <p:pic>
        <p:nvPicPr>
          <p:cNvPr id="9" name="Picture 8">
            <a:extLst>
              <a:ext uri="{FF2B5EF4-FFF2-40B4-BE49-F238E27FC236}">
                <a16:creationId xmlns:a16="http://schemas.microsoft.com/office/drawing/2014/main" id="{6D87706A-BC9F-BE61-2D83-458D73279D9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200" y="1676272"/>
            <a:ext cx="8731540" cy="1295528"/>
          </a:xfrm>
          <a:prstGeom prst="rect">
            <a:avLst/>
          </a:prstGeom>
        </p:spPr>
      </p:pic>
      <p:pic>
        <p:nvPicPr>
          <p:cNvPr id="14" name="Picture 13">
            <a:extLst>
              <a:ext uri="{FF2B5EF4-FFF2-40B4-BE49-F238E27FC236}">
                <a16:creationId xmlns:a16="http://schemas.microsoft.com/office/drawing/2014/main" id="{1501C974-D1F4-09F3-A4DB-B993F1AA0ED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38063" y="2988754"/>
            <a:ext cx="8624937" cy="1554623"/>
          </a:xfrm>
          <a:prstGeom prst="rect">
            <a:avLst/>
          </a:prstGeom>
        </p:spPr>
      </p:pic>
      <p:pic>
        <p:nvPicPr>
          <p:cNvPr id="17" name="Picture 16">
            <a:extLst>
              <a:ext uri="{FF2B5EF4-FFF2-40B4-BE49-F238E27FC236}">
                <a16:creationId xmlns:a16="http://schemas.microsoft.com/office/drawing/2014/main" id="{F92CC194-A3B0-6A7C-E692-077DFECF7562}"/>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52401" y="4543377"/>
            <a:ext cx="8747836" cy="1400223"/>
          </a:xfrm>
          <a:prstGeom prst="rect">
            <a:avLst/>
          </a:prstGeom>
        </p:spPr>
      </p:pic>
    </p:spTree>
    <p:extLst>
      <p:ext uri="{BB962C8B-B14F-4D97-AF65-F5344CB8AC3E}">
        <p14:creationId xmlns:p14="http://schemas.microsoft.com/office/powerpoint/2010/main" val="34666919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9DD13-9E23-E98C-DE09-5D030154801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DA55F4C-9B10-2288-A3E4-8711F76F0BE0}"/>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0CC8FBC-5051-33AF-166E-9A1EFFABB630}"/>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76C703D-AB69-1091-E480-2E575A7679C0}"/>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B2732877-4D1A-8E82-B8CC-E5E8191AB7D2}"/>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CBBFC296-F035-A5E7-106F-2BCD5B139D64}"/>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605814AA-96B3-7B47-5AFF-72B36215C95C}"/>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3" name="object 2">
            <a:extLst>
              <a:ext uri="{FF2B5EF4-FFF2-40B4-BE49-F238E27FC236}">
                <a16:creationId xmlns:a16="http://schemas.microsoft.com/office/drawing/2014/main" id="{D60D5ABA-412A-0868-194B-12125DF3CE4A}"/>
              </a:ext>
            </a:extLst>
          </p:cNvPr>
          <p:cNvSpPr txBox="1">
            <a:spLocks/>
          </p:cNvSpPr>
          <p:nvPr/>
        </p:nvSpPr>
        <p:spPr>
          <a:xfrm>
            <a:off x="10160" y="858480"/>
            <a:ext cx="8624937" cy="35394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Shard/Partitioning Key Strategies Considerations</a:t>
            </a:r>
          </a:p>
          <a:p>
            <a:r>
              <a:rPr lang="en-US" sz="1500" dirty="0">
                <a:solidFill>
                  <a:schemeClr val="accent6"/>
                </a:solidFill>
                <a:latin typeface="Google Sans"/>
                <a:ea typeface="+mn-ea"/>
                <a:cs typeface="+mn-cs"/>
              </a:rPr>
              <a:t>When sharding stateful components (like a database or a stateful service in Kubernetes), choosing the right strategy is critical as the wrong key can negatively impact performance. </a:t>
            </a:r>
          </a:p>
          <a:p>
            <a:r>
              <a:rPr lang="en-US" sz="1500" dirty="0">
                <a:solidFill>
                  <a:schemeClr val="accent2"/>
                </a:solidFill>
                <a:latin typeface="Google Sans"/>
                <a:ea typeface="+mn-ea"/>
                <a:cs typeface="+mn-cs"/>
              </a:rPr>
              <a:t>Shard Key Selection: </a:t>
            </a:r>
            <a:r>
              <a:rPr lang="en-US" sz="1500" dirty="0">
                <a:solidFill>
                  <a:schemeClr val="accent6"/>
                </a:solidFill>
                <a:latin typeface="Google Sans"/>
                <a:ea typeface="+mn-ea"/>
                <a:cs typeface="+mn-cs"/>
              </a:rPr>
              <a:t>The choice of the shard key is paramount. A bad shard key can lead to data skew and performance bottlenecks, regardless of the method used.</a:t>
            </a:r>
          </a:p>
          <a:p>
            <a:r>
              <a:rPr lang="en-US" sz="1500" dirty="0">
                <a:solidFill>
                  <a:schemeClr val="accent2"/>
                </a:solidFill>
                <a:latin typeface="Google Sans"/>
                <a:ea typeface="+mn-ea"/>
                <a:cs typeface="+mn-cs"/>
              </a:rPr>
              <a:t>Application Logic: </a:t>
            </a:r>
            <a:r>
              <a:rPr lang="en-US" sz="1500" dirty="0">
                <a:solidFill>
                  <a:schemeClr val="accent6"/>
                </a:solidFill>
                <a:latin typeface="Google Sans"/>
                <a:ea typeface="+mn-ea"/>
                <a:cs typeface="+mn-cs"/>
              </a:rPr>
              <a:t>Sharding adds complexity to the application or introduces a middleware layer to route queries correctly. This overhead must be managed.</a:t>
            </a:r>
          </a:p>
          <a:p>
            <a:r>
              <a:rPr lang="en-US" sz="1500" dirty="0">
                <a:solidFill>
                  <a:schemeClr val="accent2"/>
                </a:solidFill>
                <a:latin typeface="Google Sans"/>
                <a:ea typeface="+mn-ea"/>
                <a:cs typeface="+mn-cs"/>
              </a:rPr>
              <a:t>Data Consistency: </a:t>
            </a:r>
            <a:r>
              <a:rPr lang="en-US" sz="1500" dirty="0">
                <a:solidFill>
                  <a:schemeClr val="accent6"/>
                </a:solidFill>
                <a:latin typeface="Google Sans"/>
                <a:ea typeface="+mn-ea"/>
                <a:cs typeface="+mn-cs"/>
              </a:rPr>
              <a:t>Performing joins and transactions across shards is significantly more challenging and requires careful design to maintain data consistency.</a:t>
            </a:r>
          </a:p>
          <a:p>
            <a:r>
              <a:rPr lang="en-US" sz="1500" dirty="0">
                <a:solidFill>
                  <a:schemeClr val="accent2"/>
                </a:solidFill>
                <a:latin typeface="Google Sans"/>
                <a:ea typeface="+mn-ea"/>
                <a:cs typeface="+mn-cs"/>
              </a:rPr>
              <a:t>Flexibility: </a:t>
            </a:r>
            <a:r>
              <a:rPr lang="en-US" sz="1500" dirty="0">
                <a:solidFill>
                  <a:schemeClr val="accent6"/>
                </a:solidFill>
                <a:latin typeface="Google Sans"/>
                <a:ea typeface="+mn-ea"/>
                <a:cs typeface="+mn-cs"/>
              </a:rPr>
              <a:t>Directory-based sharding provides the most flexibility for rebalancing and managing hotspots but introduces a dependency on the directory service. Hash-based sharding offers inherent balance, while range-based sharding optimizes specific query patterns. </a:t>
            </a:r>
          </a:p>
          <a:p>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N.B, - </a:t>
            </a:r>
            <a:r>
              <a:rPr lang="en-US" sz="1500" dirty="0">
                <a:solidFill>
                  <a:schemeClr val="accent1"/>
                </a:solidFill>
                <a:latin typeface="Google Sans"/>
                <a:ea typeface="+mn-ea"/>
                <a:cs typeface="+mn-cs"/>
              </a:rPr>
              <a:t>Apart from Partitioning and Sharding, Retention Based Archival/Removal of data also can indirectly be helpful in scaling stateful components.</a:t>
            </a:r>
          </a:p>
        </p:txBody>
      </p:sp>
    </p:spTree>
    <p:extLst>
      <p:ext uri="{BB962C8B-B14F-4D97-AF65-F5344CB8AC3E}">
        <p14:creationId xmlns:p14="http://schemas.microsoft.com/office/powerpoint/2010/main" val="299687134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9CBE7DB4-DB4E-91B6-1B11-11C81EAF5402}"/>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0B1AB9A1-CA74-D716-5D01-F6406CF7FEE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61558EBB-F17C-6769-23D6-CAF8B121E27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p:txBody>
        </p:sp>
      </p:grpSp>
      <p:sp>
        <p:nvSpPr>
          <p:cNvPr id="6" name="object 2">
            <a:extLst>
              <a:ext uri="{FF2B5EF4-FFF2-40B4-BE49-F238E27FC236}">
                <a16:creationId xmlns:a16="http://schemas.microsoft.com/office/drawing/2014/main" id="{F19BB8D8-576D-685A-FD7D-902929BE86D1}"/>
              </a:ext>
            </a:extLst>
          </p:cNvPr>
          <p:cNvSpPr txBox="1">
            <a:spLocks/>
          </p:cNvSpPr>
          <p:nvPr/>
        </p:nvSpPr>
        <p:spPr>
          <a:xfrm>
            <a:off x="0" y="708024"/>
            <a:ext cx="8624937" cy="17697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Rebalancing</a:t>
            </a:r>
          </a:p>
          <a:p>
            <a:r>
              <a:rPr lang="en-US" sz="1500" dirty="0">
                <a:solidFill>
                  <a:schemeClr val="accent6"/>
                </a:solidFill>
                <a:latin typeface="Google Sans"/>
                <a:ea typeface="+mn-ea"/>
                <a:cs typeface="+mn-cs"/>
              </a:rPr>
              <a:t>Rebalancing is the process of redistributing data or tasks across nodes in a distributed system to ensure no single node becomes a bottleneck (hotspot) when scaling stateful components. It is essential for ensuring high availability, performance, and scalability in distributed databases, streaming platforms (e.g., Kafka), and stateful applications (e.g., Kubernetes </a:t>
            </a:r>
            <a:r>
              <a:rPr lang="en-US" sz="1500" dirty="0" err="1">
                <a:solidFill>
                  <a:schemeClr val="accent6"/>
                </a:solidFill>
                <a:latin typeface="Google Sans"/>
                <a:ea typeface="+mn-ea"/>
                <a:cs typeface="+mn-cs"/>
              </a:rPr>
              <a:t>StatefulSets</a:t>
            </a:r>
            <a:r>
              <a:rPr lang="en-US" sz="1500" dirty="0">
                <a:solidFill>
                  <a:schemeClr val="accent6"/>
                </a:solidFill>
                <a:latin typeface="Google Sans"/>
                <a:ea typeface="+mn-ea"/>
                <a:cs typeface="+mn-cs"/>
              </a:rPr>
              <a:t>). </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Rebalancing Strategies</a:t>
            </a:r>
          </a:p>
        </p:txBody>
      </p:sp>
      <p:pic>
        <p:nvPicPr>
          <p:cNvPr id="13" name="Picture 12">
            <a:extLst>
              <a:ext uri="{FF2B5EF4-FFF2-40B4-BE49-F238E27FC236}">
                <a16:creationId xmlns:a16="http://schemas.microsoft.com/office/drawing/2014/main" id="{9D46843B-F097-BF40-0474-7900261722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477738"/>
            <a:ext cx="9119409" cy="3389661"/>
          </a:xfrm>
          <a:prstGeom prst="rect">
            <a:avLst/>
          </a:prstGeom>
        </p:spPr>
      </p:pic>
    </p:spTree>
    <p:extLst>
      <p:ext uri="{BB962C8B-B14F-4D97-AF65-F5344CB8AC3E}">
        <p14:creationId xmlns:p14="http://schemas.microsoft.com/office/powerpoint/2010/main" val="107581623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75FA6-3071-8390-7A4C-A45F42CB79C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4175D79-1EE0-6B6B-39CE-E397F8D3473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39EE3E6-7A00-6174-54F9-27450DB8FBC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933C31C-706C-12C6-F273-2A114D717A5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F16A5D31-A816-36E1-276F-7784C3D5B746}"/>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D0582B65-978B-A390-1795-278E8CDC00E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BBD88015-5D12-EFA9-BD67-B0A22A68E18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p:txBody>
        </p:sp>
      </p:grpSp>
      <p:sp>
        <p:nvSpPr>
          <p:cNvPr id="6" name="object 2">
            <a:extLst>
              <a:ext uri="{FF2B5EF4-FFF2-40B4-BE49-F238E27FC236}">
                <a16:creationId xmlns:a16="http://schemas.microsoft.com/office/drawing/2014/main" id="{6C266004-32E5-AB18-3475-460034B65897}"/>
              </a:ext>
            </a:extLst>
          </p:cNvPr>
          <p:cNvSpPr txBox="1">
            <a:spLocks/>
          </p:cNvSpPr>
          <p:nvPr/>
        </p:nvSpPr>
        <p:spPr>
          <a:xfrm>
            <a:off x="0" y="708024"/>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Rebalancing Strategies</a:t>
            </a:r>
          </a:p>
        </p:txBody>
      </p:sp>
      <p:pic>
        <p:nvPicPr>
          <p:cNvPr id="7" name="Picture 6">
            <a:extLst>
              <a:ext uri="{FF2B5EF4-FFF2-40B4-BE49-F238E27FC236}">
                <a16:creationId xmlns:a16="http://schemas.microsoft.com/office/drawing/2014/main" id="{81F3C437-EB6D-B654-9CFD-6FD792F6AD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11" y="983898"/>
            <a:ext cx="9119409" cy="342697"/>
          </a:xfrm>
          <a:prstGeom prst="rect">
            <a:avLst/>
          </a:prstGeom>
        </p:spPr>
      </p:pic>
      <p:pic>
        <p:nvPicPr>
          <p:cNvPr id="12" name="Picture 11">
            <a:extLst>
              <a:ext uri="{FF2B5EF4-FFF2-40B4-BE49-F238E27FC236}">
                <a16:creationId xmlns:a16="http://schemas.microsoft.com/office/drawing/2014/main" id="{F7879062-CA60-1FF3-BF19-1437BD41C3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11" y="1326595"/>
            <a:ext cx="9074497" cy="2331005"/>
          </a:xfrm>
          <a:prstGeom prst="rect">
            <a:avLst/>
          </a:prstGeom>
        </p:spPr>
      </p:pic>
      <p:pic>
        <p:nvPicPr>
          <p:cNvPr id="15" name="Picture 14">
            <a:extLst>
              <a:ext uri="{FF2B5EF4-FFF2-40B4-BE49-F238E27FC236}">
                <a16:creationId xmlns:a16="http://schemas.microsoft.com/office/drawing/2014/main" id="{452309AA-37D5-E62D-2547-DDF54FEFB5D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11" y="3657600"/>
            <a:ext cx="9099089" cy="2286000"/>
          </a:xfrm>
          <a:prstGeom prst="rect">
            <a:avLst/>
          </a:prstGeom>
        </p:spPr>
      </p:pic>
    </p:spTree>
    <p:extLst>
      <p:ext uri="{BB962C8B-B14F-4D97-AF65-F5344CB8AC3E}">
        <p14:creationId xmlns:p14="http://schemas.microsoft.com/office/powerpoint/2010/main" val="4112555718"/>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A5BCF-2E89-BC90-B0D3-9615007834F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E705EAC-C507-4C94-FF15-9C2523BA38E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1E25BDD-40F6-5E5E-1769-46F162C4B03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A7DB72B-BEC1-B27C-E972-60B5DA5DBBE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87AA7DB4-31BB-3F8F-D3B5-ED8F816A7BD6}"/>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5B078D2B-F753-AEC5-59DC-ED5CBF45AB2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F4186E09-67D8-6BE8-7B77-1F9A4592C40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p:txBody>
        </p:sp>
      </p:grpSp>
      <p:sp>
        <p:nvSpPr>
          <p:cNvPr id="6" name="object 2">
            <a:extLst>
              <a:ext uri="{FF2B5EF4-FFF2-40B4-BE49-F238E27FC236}">
                <a16:creationId xmlns:a16="http://schemas.microsoft.com/office/drawing/2014/main" id="{D059F898-7412-FA4A-2EE2-DAB18C69EC83}"/>
              </a:ext>
            </a:extLst>
          </p:cNvPr>
          <p:cNvSpPr txBox="1">
            <a:spLocks/>
          </p:cNvSpPr>
          <p:nvPr/>
        </p:nvSpPr>
        <p:spPr>
          <a:xfrm>
            <a:off x="0" y="708024"/>
            <a:ext cx="8624937" cy="561692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Specific System Rebalancing Techniques</a:t>
            </a:r>
          </a:p>
          <a:p>
            <a:r>
              <a:rPr lang="en-US" sz="1500" dirty="0">
                <a:solidFill>
                  <a:schemeClr val="accent2"/>
                </a:solidFill>
                <a:latin typeface="Google Sans"/>
                <a:ea typeface="+mn-ea"/>
                <a:cs typeface="+mn-cs"/>
              </a:rPr>
              <a:t>1. Apache Kafka Rebalancing (Streaming/Consumer Groups)</a:t>
            </a:r>
          </a:p>
          <a:p>
            <a:r>
              <a:rPr lang="en-US" sz="1500" dirty="0">
                <a:solidFill>
                  <a:schemeClr val="accent6"/>
                </a:solidFill>
                <a:latin typeface="Google Sans"/>
                <a:ea typeface="+mn-ea"/>
                <a:cs typeface="+mn-cs"/>
              </a:rPr>
              <a:t>Kafka rebalances to maintain consumer group stability when members join/leave or partition counts change. </a:t>
            </a:r>
          </a:p>
          <a:p>
            <a:r>
              <a:rPr lang="en-US" sz="1500" dirty="0">
                <a:solidFill>
                  <a:schemeClr val="accent2"/>
                </a:solidFill>
                <a:latin typeface="Google Sans"/>
                <a:ea typeface="+mn-ea"/>
                <a:cs typeface="+mn-cs"/>
              </a:rPr>
              <a:t>Eager Rebalancing (Old):</a:t>
            </a:r>
            <a:r>
              <a:rPr lang="en-US" sz="1500" dirty="0">
                <a:solidFill>
                  <a:schemeClr val="accent6"/>
                </a:solidFill>
                <a:latin typeface="Google Sans"/>
                <a:ea typeface="+mn-ea"/>
                <a:cs typeface="+mn-cs"/>
              </a:rPr>
              <a:t> All consumers stop, release all partitions, and wait for new assignments ("stop-the-world").</a:t>
            </a:r>
          </a:p>
          <a:p>
            <a:r>
              <a:rPr lang="en-US" sz="1500" dirty="0">
                <a:solidFill>
                  <a:schemeClr val="accent2"/>
                </a:solidFill>
                <a:latin typeface="Google Sans"/>
                <a:ea typeface="+mn-ea"/>
                <a:cs typeface="+mn-cs"/>
              </a:rPr>
              <a:t>Cooperative/</a:t>
            </a:r>
            <a:r>
              <a:rPr lang="en-US" sz="1500" dirty="0" err="1">
                <a:solidFill>
                  <a:schemeClr val="accent2"/>
                </a:solidFill>
                <a:latin typeface="Google Sans"/>
                <a:ea typeface="+mn-ea"/>
                <a:cs typeface="+mn-cs"/>
              </a:rPr>
              <a:t>StickyAssignor</a:t>
            </a:r>
            <a:r>
              <a:rPr lang="en-US" sz="1500" dirty="0">
                <a:solidFill>
                  <a:schemeClr val="accent2"/>
                </a:solidFill>
                <a:latin typeface="Google Sans"/>
                <a:ea typeface="+mn-ea"/>
                <a:cs typeface="+mn-cs"/>
              </a:rPr>
              <a:t> (Modern):</a:t>
            </a:r>
            <a:r>
              <a:rPr lang="en-US" sz="1500" dirty="0">
                <a:solidFill>
                  <a:schemeClr val="accent6"/>
                </a:solidFill>
                <a:latin typeface="Google Sans"/>
                <a:ea typeface="+mn-ea"/>
                <a:cs typeface="+mn-cs"/>
              </a:rPr>
              <a:t> Partitions are only moved if necessary. The </a:t>
            </a:r>
            <a:r>
              <a:rPr lang="en-US" sz="1500" dirty="0" err="1">
                <a:solidFill>
                  <a:schemeClr val="accent6"/>
                </a:solidFill>
                <a:latin typeface="Google Sans"/>
                <a:ea typeface="+mn-ea"/>
                <a:cs typeface="+mn-cs"/>
              </a:rPr>
              <a:t>CooperativeStickyAssignor</a:t>
            </a:r>
            <a:r>
              <a:rPr lang="en-US" sz="1500" dirty="0">
                <a:solidFill>
                  <a:schemeClr val="accent6"/>
                </a:solidFill>
                <a:latin typeface="Google Sans"/>
                <a:ea typeface="+mn-ea"/>
                <a:cs typeface="+mn-cs"/>
              </a:rPr>
              <a:t> allows consumers to keep processing un-migrated partitions.</a:t>
            </a:r>
          </a:p>
          <a:p>
            <a:r>
              <a:rPr lang="en-US" sz="1500" dirty="0">
                <a:solidFill>
                  <a:schemeClr val="accent2"/>
                </a:solidFill>
                <a:latin typeface="Google Sans"/>
                <a:ea typeface="+mn-ea"/>
                <a:cs typeface="+mn-cs"/>
              </a:rPr>
              <a:t>Static Membership: </a:t>
            </a:r>
            <a:r>
              <a:rPr lang="en-US" sz="1500" dirty="0">
                <a:solidFill>
                  <a:schemeClr val="accent6"/>
                </a:solidFill>
                <a:latin typeface="Google Sans"/>
                <a:ea typeface="+mn-ea"/>
                <a:cs typeface="+mn-cs"/>
              </a:rPr>
              <a:t>Using group.instance.id allows a pod to crash and rejoin, resuming its old partitions without forcing a rebalance of the entire group.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2. Apache Cassandra Rebalancing (Distributed Database) </a:t>
            </a:r>
          </a:p>
          <a:p>
            <a:r>
              <a:rPr lang="en-US" sz="1500" dirty="0">
                <a:solidFill>
                  <a:schemeClr val="accent6"/>
                </a:solidFill>
                <a:latin typeface="Google Sans"/>
                <a:ea typeface="+mn-ea"/>
                <a:cs typeface="+mn-cs"/>
              </a:rPr>
              <a:t>Cassandra uses a peer-to-peer approach where each node is responsible for a range of data, typically defined by tokens. </a:t>
            </a:r>
          </a:p>
          <a:p>
            <a:r>
              <a:rPr lang="en-US" sz="1500" dirty="0" err="1">
                <a:solidFill>
                  <a:schemeClr val="accent2"/>
                </a:solidFill>
                <a:latin typeface="Google Sans"/>
                <a:ea typeface="+mn-ea"/>
                <a:cs typeface="+mn-cs"/>
              </a:rPr>
              <a:t>VNode</a:t>
            </a:r>
            <a:r>
              <a:rPr lang="en-US" sz="1500" dirty="0">
                <a:solidFill>
                  <a:schemeClr val="accent2"/>
                </a:solidFill>
                <a:latin typeface="Google Sans"/>
                <a:ea typeface="+mn-ea"/>
                <a:cs typeface="+mn-cs"/>
              </a:rPr>
              <a:t> (Virtual Node) Rebalancing: </a:t>
            </a:r>
            <a:r>
              <a:rPr lang="en-US" sz="1500" dirty="0">
                <a:solidFill>
                  <a:schemeClr val="accent6"/>
                </a:solidFill>
                <a:latin typeface="Google Sans"/>
                <a:ea typeface="+mn-ea"/>
                <a:cs typeface="+mn-cs"/>
              </a:rPr>
              <a:t>When a new node joins, it takes over a small amount of data from many existing nodes to avoid overwhelming one node.</a:t>
            </a:r>
          </a:p>
          <a:p>
            <a:r>
              <a:rPr lang="en-US" sz="1500" dirty="0" err="1">
                <a:solidFill>
                  <a:schemeClr val="accent2"/>
                </a:solidFill>
                <a:latin typeface="Google Sans"/>
                <a:ea typeface="+mn-ea"/>
                <a:cs typeface="+mn-cs"/>
              </a:rPr>
              <a:t>nodetool</a:t>
            </a:r>
            <a:r>
              <a:rPr lang="en-US" sz="1500" dirty="0">
                <a:solidFill>
                  <a:schemeClr val="accent2"/>
                </a:solidFill>
                <a:latin typeface="Google Sans"/>
                <a:ea typeface="+mn-ea"/>
                <a:cs typeface="+mn-cs"/>
              </a:rPr>
              <a:t> move:</a:t>
            </a:r>
            <a:r>
              <a:rPr lang="en-US" sz="1500" dirty="0">
                <a:solidFill>
                  <a:schemeClr val="accent6"/>
                </a:solidFill>
                <a:latin typeface="Google Sans"/>
                <a:ea typeface="+mn-ea"/>
                <a:cs typeface="+mn-cs"/>
              </a:rPr>
              <a:t> Used to change a node's token range to rebalance the ring.</a:t>
            </a:r>
          </a:p>
          <a:p>
            <a:r>
              <a:rPr lang="en-US" sz="1500" dirty="0" err="1">
                <a:solidFill>
                  <a:schemeClr val="accent2"/>
                </a:solidFill>
                <a:latin typeface="Google Sans"/>
                <a:ea typeface="+mn-ea"/>
                <a:cs typeface="+mn-cs"/>
              </a:rPr>
              <a:t>nodetool</a:t>
            </a:r>
            <a:r>
              <a:rPr lang="en-US" sz="1500" dirty="0">
                <a:solidFill>
                  <a:schemeClr val="accent2"/>
                </a:solidFill>
                <a:latin typeface="Google Sans"/>
                <a:ea typeface="+mn-ea"/>
                <a:cs typeface="+mn-cs"/>
              </a:rPr>
              <a:t> drain: </a:t>
            </a:r>
            <a:r>
              <a:rPr lang="en-US" sz="1500" dirty="0">
                <a:solidFill>
                  <a:schemeClr val="accent6"/>
                </a:solidFill>
                <a:latin typeface="Google Sans"/>
                <a:ea typeface="+mn-ea"/>
                <a:cs typeface="+mn-cs"/>
              </a:rPr>
              <a:t>Used to gracefully shut down a node, pushing its data to replicas before removing it.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3. Kubernetes </a:t>
            </a:r>
            <a:r>
              <a:rPr lang="en-US" sz="1500" dirty="0" err="1">
                <a:solidFill>
                  <a:schemeClr val="accent2"/>
                </a:solidFill>
                <a:latin typeface="Google Sans"/>
                <a:ea typeface="+mn-ea"/>
                <a:cs typeface="+mn-cs"/>
              </a:rPr>
              <a:t>StatefulSets</a:t>
            </a:r>
            <a:r>
              <a:rPr lang="en-US" sz="1500" dirty="0">
                <a:solidFill>
                  <a:schemeClr val="accent2"/>
                </a:solidFill>
                <a:latin typeface="Google Sans"/>
                <a:ea typeface="+mn-ea"/>
                <a:cs typeface="+mn-cs"/>
              </a:rPr>
              <a:t> (Stateful Apps)</a:t>
            </a:r>
          </a:p>
          <a:p>
            <a:r>
              <a:rPr lang="en-US" sz="1500" dirty="0">
                <a:solidFill>
                  <a:schemeClr val="accent6"/>
                </a:solidFill>
                <a:latin typeface="Google Sans"/>
                <a:ea typeface="+mn-ea"/>
                <a:cs typeface="+mn-cs"/>
              </a:rPr>
              <a:t>Ordered Scaling: Kubernetes maintains ordinal indices (0, 1, 2) for pods. Scaling up adds pods one by one, enabling state initialization.</a:t>
            </a:r>
          </a:p>
          <a:p>
            <a:r>
              <a:rPr lang="en-US" sz="1500" dirty="0">
                <a:solidFill>
                  <a:schemeClr val="accent2"/>
                </a:solidFill>
                <a:latin typeface="Google Sans"/>
                <a:ea typeface="+mn-ea"/>
                <a:cs typeface="+mn-cs"/>
              </a:rPr>
              <a:t>Persistent Volume Claims (PVCs): </a:t>
            </a:r>
            <a:r>
              <a:rPr lang="en-US" sz="1500" dirty="0">
                <a:solidFill>
                  <a:schemeClr val="accent6"/>
                </a:solidFill>
                <a:latin typeface="Google Sans"/>
                <a:ea typeface="+mn-ea"/>
                <a:cs typeface="+mn-cs"/>
              </a:rPr>
              <a:t>When a pod is rescheduled, it retains its persistent storage, allowing the stateful component to resume immediately without re-synchronizing entire data sets. </a:t>
            </a: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251764637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16E41-CEFE-11D5-8272-6D56C53BDB0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AA37A7F-21B2-5E10-1A6C-4ADFA555342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0EF7D83-CCA6-C4FB-850C-46B8258AD6F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A180869-D495-26DE-2D86-30D221F9A05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4076B2E2-41D2-02FE-B868-7D759BF7423B}"/>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2686AD57-C824-BE95-3373-3063E211831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A43487C1-7DA2-D55A-D2EB-B1F7A139738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p:txBody>
        </p:sp>
      </p:grpSp>
      <p:sp>
        <p:nvSpPr>
          <p:cNvPr id="6" name="object 2">
            <a:extLst>
              <a:ext uri="{FF2B5EF4-FFF2-40B4-BE49-F238E27FC236}">
                <a16:creationId xmlns:a16="http://schemas.microsoft.com/office/drawing/2014/main" id="{1ED121F3-6940-785E-EA58-DB049A75C5D5}"/>
              </a:ext>
            </a:extLst>
          </p:cNvPr>
          <p:cNvSpPr txBox="1">
            <a:spLocks/>
          </p:cNvSpPr>
          <p:nvPr/>
        </p:nvSpPr>
        <p:spPr>
          <a:xfrm>
            <a:off x="0" y="708024"/>
            <a:ext cx="8624937" cy="33085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Key Requirements for Effective Rebalancing</a:t>
            </a:r>
          </a:p>
          <a:p>
            <a:r>
              <a:rPr lang="en-US" sz="1500" dirty="0">
                <a:solidFill>
                  <a:schemeClr val="accent2"/>
                </a:solidFill>
                <a:latin typeface="Google Sans"/>
                <a:ea typeface="+mn-ea"/>
                <a:cs typeface="+mn-cs"/>
              </a:rPr>
              <a:t>Minimum Data Movement:</a:t>
            </a:r>
            <a:r>
              <a:rPr lang="en-US" sz="1500" dirty="0">
                <a:solidFill>
                  <a:schemeClr val="accent6"/>
                </a:solidFill>
                <a:latin typeface="Google Sans"/>
                <a:ea typeface="+mn-ea"/>
                <a:cs typeface="+mn-cs"/>
              </a:rPr>
              <a:t> The algorithm should move the smallest amount of data necessary to restore balance, minimizing network and I/O load.</a:t>
            </a:r>
          </a:p>
          <a:p>
            <a:r>
              <a:rPr lang="en-US" sz="1500" dirty="0">
                <a:solidFill>
                  <a:schemeClr val="accent2"/>
                </a:solidFill>
                <a:latin typeface="Google Sans"/>
                <a:ea typeface="+mn-ea"/>
                <a:cs typeface="+mn-cs"/>
              </a:rPr>
              <a:t>Availability During Rebalancing: </a:t>
            </a:r>
            <a:r>
              <a:rPr lang="en-US" sz="1500" dirty="0">
                <a:solidFill>
                  <a:schemeClr val="accent6"/>
                </a:solidFill>
                <a:latin typeface="Google Sans"/>
                <a:ea typeface="+mn-ea"/>
                <a:cs typeface="+mn-cs"/>
              </a:rPr>
              <a:t>The system must continue to accept reads/writes during data migration.</a:t>
            </a:r>
          </a:p>
          <a:p>
            <a:r>
              <a:rPr lang="en-US" sz="1500" dirty="0">
                <a:solidFill>
                  <a:schemeClr val="accent2"/>
                </a:solidFill>
                <a:latin typeface="Google Sans"/>
                <a:ea typeface="+mn-ea"/>
                <a:cs typeface="+mn-cs"/>
              </a:rPr>
              <a:t>Graceful Shutdowns: </a:t>
            </a:r>
            <a:r>
              <a:rPr lang="en-US" sz="1500" dirty="0">
                <a:solidFill>
                  <a:schemeClr val="accent6"/>
                </a:solidFill>
                <a:latin typeface="Google Sans"/>
                <a:ea typeface="+mn-ea"/>
                <a:cs typeface="+mn-cs"/>
              </a:rPr>
              <a:t>Ensuring consumers close connections properly (e.g., </a:t>
            </a:r>
            <a:r>
              <a:rPr lang="en-US" sz="1500" dirty="0" err="1">
                <a:solidFill>
                  <a:schemeClr val="accent6"/>
                </a:solidFill>
                <a:latin typeface="Google Sans"/>
                <a:ea typeface="+mn-ea"/>
                <a:cs typeface="+mn-cs"/>
              </a:rPr>
              <a:t>consumer.close</a:t>
            </a:r>
            <a:r>
              <a:rPr lang="en-US" sz="1500" dirty="0">
                <a:solidFill>
                  <a:schemeClr val="accent6"/>
                </a:solidFill>
                <a:latin typeface="Google Sans"/>
                <a:ea typeface="+mn-ea"/>
                <a:cs typeface="+mn-cs"/>
              </a:rPr>
              <a:t>()) to avoid premature rebalance triggers.</a:t>
            </a:r>
          </a:p>
          <a:p>
            <a:r>
              <a:rPr lang="en-US" sz="1500" dirty="0">
                <a:solidFill>
                  <a:schemeClr val="accent2"/>
                </a:solidFill>
                <a:latin typeface="Google Sans"/>
                <a:ea typeface="+mn-ea"/>
                <a:cs typeface="+mn-cs"/>
              </a:rPr>
              <a:t>Monitoring Key Metrics: </a:t>
            </a:r>
            <a:r>
              <a:rPr lang="en-US" sz="1500" dirty="0">
                <a:solidFill>
                  <a:schemeClr val="accent6"/>
                </a:solidFill>
                <a:latin typeface="Google Sans"/>
                <a:ea typeface="+mn-ea"/>
                <a:cs typeface="+mn-cs"/>
              </a:rPr>
              <a:t>Track rebalance frequency, time-to-steady-state, and lag to anticipate issues. </a:t>
            </a:r>
          </a:p>
          <a:p>
            <a:endParaRPr lang="en-US" sz="1500" dirty="0">
              <a:solidFill>
                <a:schemeClr val="accent6"/>
              </a:solidFill>
              <a:latin typeface="Google Sans"/>
              <a:ea typeface="+mn-ea"/>
              <a:cs typeface="+mn-cs"/>
            </a:endParaRPr>
          </a:p>
          <a:p>
            <a:pPr marL="12700" marR="5080"/>
            <a:r>
              <a:rPr lang="en-US" sz="1500" dirty="0">
                <a:solidFill>
                  <a:schemeClr val="accent2"/>
                </a:solidFill>
                <a:latin typeface="Google Sans"/>
                <a:ea typeface="+mn-ea"/>
                <a:cs typeface="+mn-cs"/>
              </a:rPr>
              <a:t>Throughput(a concept related to Scalability) –</a:t>
            </a:r>
            <a:r>
              <a:rPr lang="en-US" sz="1500" dirty="0">
                <a:solidFill>
                  <a:schemeClr val="accent6"/>
                </a:solidFill>
                <a:latin typeface="Google Sans"/>
                <a:ea typeface="+mn-ea"/>
                <a:cs typeface="+mn-cs"/>
              </a:rPr>
              <a:t> Number of requests(/transactions) served by a (Web/App/DB) server.</a:t>
            </a:r>
          </a:p>
          <a:p>
            <a:pPr marL="12700" marR="5080"/>
            <a:r>
              <a:rPr lang="en-US" sz="1500" dirty="0">
                <a:solidFill>
                  <a:schemeClr val="accent2"/>
                </a:solidFill>
                <a:latin typeface="Google Sans"/>
                <a:ea typeface="+mn-ea"/>
                <a:cs typeface="+mn-cs"/>
              </a:rPr>
              <a:t>Ways to Improve Throughput – </a:t>
            </a:r>
          </a:p>
          <a:p>
            <a:pPr marL="12700" marR="5080"/>
            <a:r>
              <a:rPr lang="en-US" sz="1500" dirty="0">
                <a:solidFill>
                  <a:schemeClr val="accent6"/>
                </a:solidFill>
                <a:latin typeface="Google Sans"/>
                <a:ea typeface="+mn-ea"/>
                <a:cs typeface="+mn-cs"/>
              </a:rPr>
              <a:t>1) Load Balancers &amp; Horizontal Scaling</a:t>
            </a:r>
          </a:p>
          <a:p>
            <a:pPr marL="12700" marR="5080"/>
            <a:r>
              <a:rPr lang="en-US" sz="1500" dirty="0">
                <a:solidFill>
                  <a:schemeClr val="accent6"/>
                </a:solidFill>
                <a:latin typeface="Google Sans"/>
                <a:ea typeface="+mn-ea"/>
                <a:cs typeface="+mn-cs"/>
              </a:rPr>
              <a:t>2) Asynchronous Processing (mainly to increase write throughput)</a:t>
            </a:r>
          </a:p>
          <a:p>
            <a:pPr marL="12700" marR="5080"/>
            <a:r>
              <a:rPr lang="en-US" sz="1500" dirty="0">
                <a:solidFill>
                  <a:schemeClr val="accent6"/>
                </a:solidFill>
                <a:latin typeface="Google Sans"/>
                <a:ea typeface="+mn-ea"/>
                <a:cs typeface="+mn-cs"/>
              </a:rPr>
              <a:t>3) Use Partitioning to increase Write Throughput while use Replication to increase Read Throughput</a:t>
            </a:r>
          </a:p>
        </p:txBody>
      </p:sp>
    </p:spTree>
    <p:extLst>
      <p:ext uri="{BB962C8B-B14F-4D97-AF65-F5344CB8AC3E}">
        <p14:creationId xmlns:p14="http://schemas.microsoft.com/office/powerpoint/2010/main" val="346772441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679CD-1CB0-5032-50D5-86995F574C3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F8E0E2A-BFC4-7EC8-DF1D-70CD6764F35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77E1315-1859-20F5-0082-9AC1ADC49AF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4AAB91C-C932-CDA7-7F65-96D47DCF224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E213BDDD-D29A-BA9E-850E-578DDAF29257}"/>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DA182D1B-5901-BF95-082F-BD9E094D73F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64DF17AD-525E-900F-FFBD-448071E612D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p:txBody>
        </p:sp>
      </p:grpSp>
      <p:sp>
        <p:nvSpPr>
          <p:cNvPr id="6" name="object 2">
            <a:extLst>
              <a:ext uri="{FF2B5EF4-FFF2-40B4-BE49-F238E27FC236}">
                <a16:creationId xmlns:a16="http://schemas.microsoft.com/office/drawing/2014/main" id="{8F385E56-F605-63DB-FF7E-9E9EF26CAAF1}"/>
              </a:ext>
            </a:extLst>
          </p:cNvPr>
          <p:cNvSpPr txBox="1">
            <a:spLocks/>
          </p:cNvSpPr>
          <p:nvPr/>
        </p:nvSpPr>
        <p:spPr>
          <a:xfrm>
            <a:off x="0" y="708024"/>
            <a:ext cx="8624937" cy="51860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Schema Changes During Rebalancing</a:t>
            </a:r>
            <a:endParaRPr lang="en-US" sz="2000" dirty="0">
              <a:solidFill>
                <a:schemeClr val="accent6"/>
              </a:solidFill>
              <a:latin typeface="Google Sans"/>
              <a:ea typeface="+mn-ea"/>
              <a:cs typeface="+mn-cs"/>
            </a:endParaRPr>
          </a:p>
          <a:p>
            <a:r>
              <a:rPr lang="en-US" sz="1500" dirty="0">
                <a:solidFill>
                  <a:schemeClr val="accent6"/>
                </a:solidFill>
                <a:latin typeface="Google Sans"/>
                <a:ea typeface="+mn-ea"/>
                <a:cs typeface="+mn-cs"/>
              </a:rPr>
              <a:t>Schema changes during data rebalancing involve modifying the structure of databases or distributed systems while data is being redistributed across nodes, partitions, or shards. In modern, distributed systems, this is often handled online (without downtime) to avoid blocking read/write operations, though it can result in temporary performance impacts. </a:t>
            </a:r>
          </a:p>
          <a:p>
            <a:r>
              <a:rPr lang="en-US" sz="1700" dirty="0">
                <a:solidFill>
                  <a:schemeClr val="accent2"/>
                </a:solidFill>
                <a:latin typeface="Google Sans"/>
                <a:ea typeface="+mn-ea"/>
                <a:cs typeface="+mn-cs"/>
              </a:rPr>
              <a:t>Common Schema Changes During Rebalancing</a:t>
            </a:r>
          </a:p>
          <a:p>
            <a:r>
              <a:rPr lang="en-US" sz="1500" dirty="0">
                <a:solidFill>
                  <a:schemeClr val="accent2"/>
                </a:solidFill>
                <a:latin typeface="Google Sans"/>
                <a:ea typeface="+mn-ea"/>
                <a:cs typeface="+mn-cs"/>
              </a:rPr>
              <a:t>Column Modifications: </a:t>
            </a:r>
            <a:r>
              <a:rPr lang="en-US" sz="1500" dirty="0">
                <a:solidFill>
                  <a:schemeClr val="accent6"/>
                </a:solidFill>
                <a:latin typeface="Google Sans"/>
                <a:ea typeface="+mn-ea"/>
                <a:cs typeface="+mn-cs"/>
              </a:rPr>
              <a:t>Adding or removing columns from existing tables.</a:t>
            </a:r>
          </a:p>
          <a:p>
            <a:r>
              <a:rPr lang="en-US" sz="1500" dirty="0">
                <a:solidFill>
                  <a:schemeClr val="accent2"/>
                </a:solidFill>
                <a:latin typeface="Google Sans"/>
                <a:ea typeface="+mn-ea"/>
                <a:cs typeface="+mn-cs"/>
              </a:rPr>
              <a:t>Projection/Index Changes: </a:t>
            </a:r>
            <a:r>
              <a:rPr lang="en-US" sz="1500" dirty="0">
                <a:solidFill>
                  <a:schemeClr val="accent6"/>
                </a:solidFill>
                <a:latin typeface="Google Sans"/>
                <a:ea typeface="+mn-ea"/>
                <a:cs typeface="+mn-cs"/>
              </a:rPr>
              <a:t>Adding or removing projections or indexes to optimize queries on the new, rebalanced structure.</a:t>
            </a:r>
          </a:p>
          <a:p>
            <a:r>
              <a:rPr lang="en-US" sz="1500" dirty="0">
                <a:solidFill>
                  <a:schemeClr val="accent2"/>
                </a:solidFill>
                <a:latin typeface="Google Sans"/>
                <a:ea typeface="+mn-ea"/>
                <a:cs typeface="+mn-cs"/>
              </a:rPr>
              <a:t>Partition Manipulation: </a:t>
            </a:r>
            <a:r>
              <a:rPr lang="en-US" sz="1500" dirty="0">
                <a:solidFill>
                  <a:schemeClr val="accent6"/>
                </a:solidFill>
                <a:latin typeface="Google Sans"/>
                <a:ea typeface="+mn-ea"/>
                <a:cs typeface="+mn-cs"/>
              </a:rPr>
              <a:t>Splitting, merging, or moving partitions between nodes.</a:t>
            </a:r>
          </a:p>
          <a:p>
            <a:r>
              <a:rPr lang="en-US" sz="1500" dirty="0">
                <a:solidFill>
                  <a:schemeClr val="accent2"/>
                </a:solidFill>
                <a:latin typeface="Google Sans"/>
                <a:ea typeface="+mn-ea"/>
                <a:cs typeface="+mn-cs"/>
              </a:rPr>
              <a:t>Data Type Adjustments: </a:t>
            </a:r>
            <a:r>
              <a:rPr lang="en-US" sz="1500" dirty="0">
                <a:solidFill>
                  <a:schemeClr val="accent6"/>
                </a:solidFill>
                <a:latin typeface="Google Sans"/>
                <a:ea typeface="+mn-ea"/>
                <a:cs typeface="+mn-cs"/>
              </a:rPr>
              <a:t>Changing column types, which may require data re-encoding, as seen in complex migration scenarios. </a:t>
            </a:r>
          </a:p>
          <a:p>
            <a:r>
              <a:rPr lang="en-US" sz="1500" dirty="0">
                <a:solidFill>
                  <a:schemeClr val="accent2"/>
                </a:solidFill>
                <a:latin typeface="Google Sans"/>
                <a:ea typeface="+mn-ea"/>
                <a:cs typeface="+mn-cs"/>
              </a:rPr>
              <a:t>How Schema Changes Work During Rebalancing</a:t>
            </a:r>
          </a:p>
          <a:p>
            <a:r>
              <a:rPr lang="en-US" sz="1500" dirty="0">
                <a:solidFill>
                  <a:schemeClr val="accent2"/>
                </a:solidFill>
                <a:latin typeface="Google Sans"/>
                <a:ea typeface="+mn-ea"/>
                <a:cs typeface="+mn-cs"/>
              </a:rPr>
              <a:t>Online/Non-blocking Changes: </a:t>
            </a:r>
            <a:r>
              <a:rPr lang="en-US" sz="1500" dirty="0">
                <a:solidFill>
                  <a:schemeClr val="accent6"/>
                </a:solidFill>
                <a:latin typeface="Google Sans"/>
                <a:ea typeface="+mn-ea"/>
                <a:cs typeface="+mn-cs"/>
              </a:rPr>
              <a:t>Databases like </a:t>
            </a:r>
            <a:r>
              <a:rPr lang="en-US" sz="1500" dirty="0" err="1">
                <a:solidFill>
                  <a:schemeClr val="accent6"/>
                </a:solidFill>
                <a:latin typeface="Google Sans"/>
                <a:ea typeface="+mn-ea"/>
                <a:cs typeface="+mn-cs"/>
              </a:rPr>
              <a:t>CockroachDB</a:t>
            </a:r>
            <a:r>
              <a:rPr lang="en-US" sz="1500" dirty="0">
                <a:solidFill>
                  <a:schemeClr val="accent6"/>
                </a:solidFill>
                <a:latin typeface="Google Sans"/>
                <a:ea typeface="+mn-ea"/>
                <a:cs typeface="+mn-cs"/>
              </a:rPr>
              <a:t> use online schema changes, allowing table structures to be updated without stopping the application.</a:t>
            </a:r>
          </a:p>
          <a:p>
            <a:r>
              <a:rPr lang="en-US" sz="1500" dirty="0">
                <a:solidFill>
                  <a:schemeClr val="accent2"/>
                </a:solidFill>
                <a:latin typeface="Google Sans"/>
                <a:ea typeface="+mn-ea"/>
                <a:cs typeface="+mn-cs"/>
              </a:rPr>
              <a:t>"Expand and Contract" Model: </a:t>
            </a:r>
            <a:r>
              <a:rPr lang="en-US" sz="1500" dirty="0">
                <a:solidFill>
                  <a:schemeClr val="accent6"/>
                </a:solidFill>
                <a:latin typeface="Google Sans"/>
                <a:ea typeface="+mn-ea"/>
                <a:cs typeface="+mn-cs"/>
              </a:rPr>
              <a:t>A common approach where the schema is first expanded (new columns added), application code is updated to support both old/new, data is migrated, and finally, the old schema is removed (contracted).</a:t>
            </a:r>
          </a:p>
          <a:p>
            <a:r>
              <a:rPr lang="en-US" sz="1500" dirty="0">
                <a:solidFill>
                  <a:schemeClr val="accent2"/>
                </a:solidFill>
                <a:latin typeface="Google Sans"/>
                <a:ea typeface="+mn-ea"/>
                <a:cs typeface="+mn-cs"/>
              </a:rPr>
              <a:t>Background Jobs: </a:t>
            </a:r>
            <a:r>
              <a:rPr lang="en-US" sz="1500" dirty="0">
                <a:solidFill>
                  <a:schemeClr val="accent6"/>
                </a:solidFill>
                <a:latin typeface="Google Sans"/>
                <a:ea typeface="+mn-ea"/>
                <a:cs typeface="+mn-cs"/>
              </a:rPr>
              <a:t>Many systems, such as Vertica and </a:t>
            </a:r>
            <a:r>
              <a:rPr lang="en-US" sz="1500" dirty="0" err="1">
                <a:solidFill>
                  <a:schemeClr val="accent6"/>
                </a:solidFill>
                <a:latin typeface="Google Sans"/>
                <a:ea typeface="+mn-ea"/>
                <a:cs typeface="+mn-cs"/>
              </a:rPr>
              <a:t>CockroachDB</a:t>
            </a:r>
            <a:r>
              <a:rPr lang="en-US" sz="1500" dirty="0">
                <a:solidFill>
                  <a:schemeClr val="accent6"/>
                </a:solidFill>
                <a:latin typeface="Google Sans"/>
                <a:ea typeface="+mn-ea"/>
                <a:cs typeface="+mn-cs"/>
              </a:rPr>
              <a:t>, execute schema changes as background jobs that can be paused or resumed.</a:t>
            </a:r>
          </a:p>
          <a:p>
            <a:r>
              <a:rPr lang="en-US" sz="1500" dirty="0">
                <a:solidFill>
                  <a:schemeClr val="accent2"/>
                </a:solidFill>
                <a:latin typeface="Google Sans"/>
                <a:ea typeface="+mn-ea"/>
                <a:cs typeface="+mn-cs"/>
              </a:rPr>
              <a:t>Atomic Updates: </a:t>
            </a:r>
            <a:r>
              <a:rPr lang="en-US" sz="1500" dirty="0">
                <a:solidFill>
                  <a:schemeClr val="accent6"/>
                </a:solidFill>
                <a:latin typeface="Google Sans"/>
                <a:ea typeface="+mn-ea"/>
                <a:cs typeface="+mn-cs"/>
              </a:rPr>
              <a:t>Using distributed timestamps or Raft consensus algorithms ensures that all nodes agree on the new schema version, preventing inconsistencies. </a:t>
            </a:r>
          </a:p>
        </p:txBody>
      </p:sp>
    </p:spTree>
    <p:extLst>
      <p:ext uri="{BB962C8B-B14F-4D97-AF65-F5344CB8AC3E}">
        <p14:creationId xmlns:p14="http://schemas.microsoft.com/office/powerpoint/2010/main" val="24986121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B67C4-1E2A-C850-CC88-82C4CAC045D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5AF85E9-CA6F-88E5-9A68-053DBF9FCCE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A6059D2-BF0F-29AB-4C5E-5CD6FFF7ACB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29D9B16-32B1-1FA5-9E60-E01F72E9673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243FF317-02A9-9607-15E8-9137FA313CCD}"/>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9DB1B1B1-4098-B289-86C5-E364FB2A5C9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73FCE16E-718E-3920-858D-BB8371F4C2B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p:txBody>
        </p:sp>
      </p:grpSp>
      <p:sp>
        <p:nvSpPr>
          <p:cNvPr id="6" name="object 2">
            <a:extLst>
              <a:ext uri="{FF2B5EF4-FFF2-40B4-BE49-F238E27FC236}">
                <a16:creationId xmlns:a16="http://schemas.microsoft.com/office/drawing/2014/main" id="{01C2DB5B-920D-0D6D-D988-6804C7E4E9D8}"/>
              </a:ext>
            </a:extLst>
          </p:cNvPr>
          <p:cNvSpPr txBox="1">
            <a:spLocks/>
          </p:cNvSpPr>
          <p:nvPr/>
        </p:nvSpPr>
        <p:spPr>
          <a:xfrm>
            <a:off x="0" y="708024"/>
            <a:ext cx="8624937" cy="415498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Schema Changes During Rebalancing</a:t>
            </a:r>
            <a:endParaRPr lang="en-US" sz="2000" dirty="0">
              <a:solidFill>
                <a:schemeClr val="accent6"/>
              </a:solidFill>
              <a:latin typeface="Google Sans"/>
            </a:endParaRPr>
          </a:p>
          <a:p>
            <a:r>
              <a:rPr lang="en-US" sz="1700" dirty="0">
                <a:solidFill>
                  <a:schemeClr val="accent2"/>
                </a:solidFill>
                <a:latin typeface="Google Sans"/>
                <a:ea typeface="+mn-ea"/>
                <a:cs typeface="+mn-cs"/>
              </a:rPr>
              <a:t>Challenges and Risks</a:t>
            </a:r>
          </a:p>
          <a:p>
            <a:r>
              <a:rPr lang="en-US" sz="1500" dirty="0">
                <a:solidFill>
                  <a:schemeClr val="accent2"/>
                </a:solidFill>
                <a:latin typeface="Google Sans"/>
                <a:ea typeface="+mn-ea"/>
                <a:cs typeface="+mn-cs"/>
              </a:rPr>
              <a:t>Resource Consumption: </a:t>
            </a:r>
            <a:r>
              <a:rPr lang="en-US" sz="1500" dirty="0">
                <a:solidFill>
                  <a:schemeClr val="accent6"/>
                </a:solidFill>
                <a:latin typeface="Google Sans"/>
                <a:ea typeface="+mn-ea"/>
                <a:cs typeface="+mn-cs"/>
              </a:rPr>
              <a:t>Schema changes (like adding an index) during rebalancing can consume high CPU, memory, and I/O, potentially leading to latency spikes if run during peak hours.</a:t>
            </a:r>
          </a:p>
          <a:p>
            <a:r>
              <a:rPr lang="en-US" sz="1500" dirty="0">
                <a:solidFill>
                  <a:schemeClr val="accent2"/>
                </a:solidFill>
                <a:latin typeface="Google Sans"/>
                <a:ea typeface="+mn-ea"/>
                <a:cs typeface="+mn-cs"/>
              </a:rPr>
              <a:t>Replication Lag: </a:t>
            </a:r>
            <a:r>
              <a:rPr lang="en-US" sz="1500" dirty="0">
                <a:solidFill>
                  <a:schemeClr val="accent6"/>
                </a:solidFill>
                <a:latin typeface="Google Sans"/>
                <a:ea typeface="+mn-ea"/>
                <a:cs typeface="+mn-cs"/>
              </a:rPr>
              <a:t>In distributed systems, changes must propagate to all replicas, which can cause temporary inconsistencies.</a:t>
            </a:r>
          </a:p>
          <a:p>
            <a:r>
              <a:rPr lang="en-US" sz="1500" dirty="0">
                <a:solidFill>
                  <a:schemeClr val="accent2"/>
                </a:solidFill>
                <a:latin typeface="Google Sans"/>
                <a:ea typeface="+mn-ea"/>
                <a:cs typeface="+mn-cs"/>
              </a:rPr>
              <a:t>Table Locking: </a:t>
            </a:r>
            <a:r>
              <a:rPr lang="en-US" sz="1500" dirty="0">
                <a:solidFill>
                  <a:schemeClr val="accent6"/>
                </a:solidFill>
                <a:latin typeface="Google Sans"/>
                <a:ea typeface="+mn-ea"/>
                <a:cs typeface="+mn-cs"/>
              </a:rPr>
              <a:t>Some operations, such as adding columns or modifying constraints, might briefly lock tables.</a:t>
            </a:r>
          </a:p>
          <a:p>
            <a:r>
              <a:rPr lang="en-US" sz="1500" dirty="0">
                <a:solidFill>
                  <a:schemeClr val="accent2"/>
                </a:solidFill>
                <a:latin typeface="Google Sans"/>
                <a:ea typeface="+mn-ea"/>
                <a:cs typeface="+mn-cs"/>
              </a:rPr>
              <a:t>Partial Failures: </a:t>
            </a:r>
            <a:r>
              <a:rPr lang="en-US" sz="1500" dirty="0">
                <a:solidFill>
                  <a:schemeClr val="accent6"/>
                </a:solidFill>
                <a:latin typeface="Google Sans"/>
                <a:ea typeface="+mn-ea"/>
                <a:cs typeface="+mn-cs"/>
              </a:rPr>
              <a:t>If a node fails during a schema update, the system must be capable of detecting this and retrying the operation. </a:t>
            </a:r>
          </a:p>
          <a:p>
            <a:endParaRPr lang="en-US" sz="1500" dirty="0">
              <a:solidFill>
                <a:schemeClr val="accent6"/>
              </a:solidFill>
              <a:latin typeface="Google Sans"/>
              <a:ea typeface="+mn-ea"/>
              <a:cs typeface="+mn-cs"/>
            </a:endParaRPr>
          </a:p>
          <a:p>
            <a:r>
              <a:rPr lang="en-US" sz="1700" dirty="0">
                <a:solidFill>
                  <a:schemeClr val="accent2"/>
                </a:solidFill>
                <a:latin typeface="Google Sans"/>
                <a:ea typeface="+mn-ea"/>
                <a:cs typeface="+mn-cs"/>
              </a:rPr>
              <a:t>Best Practices</a:t>
            </a:r>
          </a:p>
          <a:p>
            <a:r>
              <a:rPr lang="en-US" sz="1500" dirty="0">
                <a:solidFill>
                  <a:schemeClr val="accent2"/>
                </a:solidFill>
                <a:latin typeface="Google Sans"/>
                <a:ea typeface="+mn-ea"/>
                <a:cs typeface="+mn-cs"/>
              </a:rPr>
              <a:t>Maintain Backward Compatibility: </a:t>
            </a:r>
            <a:r>
              <a:rPr lang="en-US" sz="1500" dirty="0">
                <a:solidFill>
                  <a:schemeClr val="accent6"/>
                </a:solidFill>
                <a:latin typeface="Google Sans"/>
                <a:ea typeface="+mn-ea"/>
                <a:cs typeface="+mn-cs"/>
              </a:rPr>
              <a:t>Ensure applications can function with both the old and new schema versions during the transition.</a:t>
            </a:r>
          </a:p>
          <a:p>
            <a:r>
              <a:rPr lang="en-US" sz="1500" dirty="0">
                <a:solidFill>
                  <a:schemeClr val="accent2"/>
                </a:solidFill>
                <a:latin typeface="Google Sans"/>
                <a:ea typeface="+mn-ea"/>
                <a:cs typeface="+mn-cs"/>
              </a:rPr>
              <a:t>Use Staging Environments:</a:t>
            </a:r>
            <a:r>
              <a:rPr lang="en-US" sz="1500" dirty="0">
                <a:solidFill>
                  <a:schemeClr val="accent6"/>
                </a:solidFill>
                <a:latin typeface="Google Sans"/>
                <a:ea typeface="+mn-ea"/>
                <a:cs typeface="+mn-cs"/>
              </a:rPr>
              <a:t> Test changes in an environment that mimics production traffic and data volume.</a:t>
            </a:r>
          </a:p>
          <a:p>
            <a:r>
              <a:rPr lang="en-US" sz="1500" dirty="0">
                <a:solidFill>
                  <a:schemeClr val="accent2"/>
                </a:solidFill>
                <a:latin typeface="Google Sans"/>
                <a:ea typeface="+mn-ea"/>
                <a:cs typeface="+mn-cs"/>
              </a:rPr>
              <a:t>Avoid Concurrent Changes: </a:t>
            </a:r>
            <a:r>
              <a:rPr lang="en-US" sz="1500" dirty="0">
                <a:solidFill>
                  <a:schemeClr val="accent6"/>
                </a:solidFill>
                <a:latin typeface="Google Sans"/>
                <a:ea typeface="+mn-ea"/>
                <a:cs typeface="+mn-cs"/>
              </a:rPr>
              <a:t>It is recommended not to perform multiple schema changes at the same time in production.</a:t>
            </a:r>
          </a:p>
          <a:p>
            <a:r>
              <a:rPr lang="en-US" sz="1500" dirty="0">
                <a:solidFill>
                  <a:schemeClr val="accent2"/>
                </a:solidFill>
                <a:latin typeface="Google Sans"/>
                <a:ea typeface="+mn-ea"/>
                <a:cs typeface="+mn-cs"/>
              </a:rPr>
              <a:t>Monitor Performance: </a:t>
            </a:r>
            <a:r>
              <a:rPr lang="en-US" sz="1500" dirty="0">
                <a:solidFill>
                  <a:schemeClr val="accent6"/>
                </a:solidFill>
                <a:latin typeface="Google Sans"/>
                <a:ea typeface="+mn-ea"/>
                <a:cs typeface="+mn-cs"/>
              </a:rPr>
              <a:t>Track metrics before, during, and after to quickly spot degradation. </a:t>
            </a:r>
          </a:p>
        </p:txBody>
      </p:sp>
    </p:spTree>
    <p:extLst>
      <p:ext uri="{BB962C8B-B14F-4D97-AF65-F5344CB8AC3E}">
        <p14:creationId xmlns:p14="http://schemas.microsoft.com/office/powerpoint/2010/main" val="429375389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556316-A5E7-5372-ED10-9C7BE5A1E0D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56954FF-AC45-1A29-1AFF-35904C25DEE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DB64F0A-1B16-70E4-A620-12EE6B29123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1D74D8E-9AF5-1330-11A8-2E05A4A7279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7FBC1897-7BD4-0EA6-80D8-7D1CDEDB3D93}"/>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ABA619E3-D4C0-D587-DCC0-75DA11C7EE4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C07FAB06-6ADC-6851-270E-39C9C9A10B8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p:txBody>
        </p:sp>
      </p:grpSp>
      <p:sp>
        <p:nvSpPr>
          <p:cNvPr id="6" name="object 2">
            <a:extLst>
              <a:ext uri="{FF2B5EF4-FFF2-40B4-BE49-F238E27FC236}">
                <a16:creationId xmlns:a16="http://schemas.microsoft.com/office/drawing/2014/main" id="{D75D8E0D-85A8-038C-0724-8E974D387960}"/>
              </a:ext>
            </a:extLst>
          </p:cNvPr>
          <p:cNvSpPr txBox="1">
            <a:spLocks/>
          </p:cNvSpPr>
          <p:nvPr/>
        </p:nvSpPr>
        <p:spPr>
          <a:xfrm>
            <a:off x="0" y="708024"/>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Scaling Approach in General</a:t>
            </a:r>
          </a:p>
          <a:p>
            <a:r>
              <a:rPr lang="en-US" sz="1500" dirty="0">
                <a:solidFill>
                  <a:schemeClr val="accent6"/>
                </a:solidFill>
                <a:latin typeface="Google Sans"/>
                <a:ea typeface="+mn-ea"/>
                <a:cs typeface="+mn-cs"/>
              </a:rPr>
              <a:t>Scaling stateful components (databases, cache, session managers) involves managing data consistency while increasing capacity. The progression typically moves from simplifying early growth, to distributing load for high availability, and finally combining approaches for optimal performance and cost. Follow the below order in general to scale a system - </a:t>
            </a:r>
          </a:p>
          <a:p>
            <a:r>
              <a:rPr lang="en-US" sz="1500" dirty="0">
                <a:solidFill>
                  <a:schemeClr val="accent2"/>
                </a:solidFill>
                <a:latin typeface="Google Sans"/>
                <a:ea typeface="+mn-ea"/>
                <a:cs typeface="+mn-cs"/>
              </a:rPr>
              <a:t>Phase 1: Vertical Scaling (Scale Up)</a:t>
            </a:r>
          </a:p>
          <a:p>
            <a:r>
              <a:rPr lang="en-US" sz="1500" dirty="0">
                <a:solidFill>
                  <a:schemeClr val="accent6"/>
                </a:solidFill>
                <a:latin typeface="Google Sans"/>
                <a:ea typeface="+mn-ea"/>
                <a:cs typeface="+mn-cs"/>
              </a:rPr>
              <a:t>Objective: Increase capacity with minimal architectural changes. </a:t>
            </a:r>
          </a:p>
          <a:p>
            <a:r>
              <a:rPr lang="en-US" sz="1500" dirty="0">
                <a:solidFill>
                  <a:schemeClr val="accent2"/>
                </a:solidFill>
                <a:latin typeface="Google Sans"/>
                <a:ea typeface="+mn-ea"/>
                <a:cs typeface="+mn-cs"/>
              </a:rPr>
              <a:t>Monitor Bottlenecks:</a:t>
            </a:r>
            <a:r>
              <a:rPr lang="en-US" sz="1500" dirty="0">
                <a:solidFill>
                  <a:schemeClr val="accent6"/>
                </a:solidFill>
                <a:latin typeface="Google Sans"/>
                <a:ea typeface="+mn-ea"/>
                <a:cs typeface="+mn-cs"/>
              </a:rPr>
              <a:t> Use observability tools (Prometheus/Grafana) to identify CPU, memory, or I/O bottlenecks.</a:t>
            </a:r>
          </a:p>
          <a:p>
            <a:r>
              <a:rPr lang="en-US" sz="1500" dirty="0">
                <a:solidFill>
                  <a:schemeClr val="accent2"/>
                </a:solidFill>
                <a:latin typeface="Google Sans"/>
                <a:ea typeface="+mn-ea"/>
                <a:cs typeface="+mn-cs"/>
              </a:rPr>
              <a:t>Upgrade Hardware:</a:t>
            </a:r>
            <a:r>
              <a:rPr lang="en-US" sz="1500" dirty="0">
                <a:solidFill>
                  <a:schemeClr val="accent6"/>
                </a:solidFill>
                <a:latin typeface="Google Sans"/>
                <a:ea typeface="+mn-ea"/>
                <a:cs typeface="+mn-cs"/>
              </a:rPr>
              <a:t> Increase CPU, RAM, or storage size on the existing machine.</a:t>
            </a:r>
          </a:p>
          <a:p>
            <a:r>
              <a:rPr lang="en-US" sz="1500" dirty="0">
                <a:solidFill>
                  <a:schemeClr val="accent2"/>
                </a:solidFill>
                <a:latin typeface="Google Sans"/>
                <a:ea typeface="+mn-ea"/>
                <a:cs typeface="+mn-cs"/>
              </a:rPr>
              <a:t>Optimize Database Config:</a:t>
            </a:r>
            <a:r>
              <a:rPr lang="en-US" sz="1500" dirty="0">
                <a:solidFill>
                  <a:schemeClr val="accent6"/>
                </a:solidFill>
                <a:latin typeface="Google Sans"/>
                <a:ea typeface="+mn-ea"/>
                <a:cs typeface="+mn-cs"/>
              </a:rPr>
              <a:t> Adjust configuration parameters (e.g., buffer pools, cache sizes) to leverage new resources.</a:t>
            </a:r>
          </a:p>
          <a:p>
            <a:r>
              <a:rPr lang="en-US" sz="1500" dirty="0">
                <a:solidFill>
                  <a:schemeClr val="accent2"/>
                </a:solidFill>
                <a:latin typeface="Google Sans"/>
                <a:ea typeface="+mn-ea"/>
                <a:cs typeface="+mn-cs"/>
              </a:rPr>
              <a:t>Implement Temporary Solutions: </a:t>
            </a:r>
            <a:r>
              <a:rPr lang="en-US" sz="1500" dirty="0">
                <a:solidFill>
                  <a:schemeClr val="accent6"/>
                </a:solidFill>
                <a:latin typeface="Google Sans"/>
                <a:ea typeface="+mn-ea"/>
                <a:cs typeface="+mn-cs"/>
              </a:rPr>
              <a:t>Use sticky sessions on the load balancer to keep user state on the server, avoiding complex data synchronization.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Phase 2: Horizontal Scaling (Scale Out)</a:t>
            </a:r>
          </a:p>
          <a:p>
            <a:r>
              <a:rPr lang="en-US" sz="1500" dirty="0">
                <a:solidFill>
                  <a:schemeClr val="accent2"/>
                </a:solidFill>
                <a:latin typeface="Google Sans"/>
                <a:ea typeface="+mn-ea"/>
                <a:cs typeface="+mn-cs"/>
              </a:rPr>
              <a:t>Objective: </a:t>
            </a:r>
            <a:r>
              <a:rPr lang="en-US" sz="1500" dirty="0">
                <a:solidFill>
                  <a:schemeClr val="accent6"/>
                </a:solidFill>
                <a:latin typeface="Google Sans"/>
                <a:ea typeface="+mn-ea"/>
                <a:cs typeface="+mn-cs"/>
              </a:rPr>
              <a:t>Distribute load across multiple nodes, breaking the single-node limitation.</a:t>
            </a:r>
          </a:p>
          <a:p>
            <a:r>
              <a:rPr lang="en-US" sz="1500" dirty="0">
                <a:solidFill>
                  <a:schemeClr val="accent2"/>
                </a:solidFill>
                <a:latin typeface="Google Sans"/>
                <a:ea typeface="+mn-ea"/>
                <a:cs typeface="+mn-cs"/>
              </a:rPr>
              <a:t>Externalize State:</a:t>
            </a:r>
            <a:r>
              <a:rPr lang="en-US" sz="1500" dirty="0">
                <a:solidFill>
                  <a:schemeClr val="accent6"/>
                </a:solidFill>
                <a:latin typeface="Google Sans"/>
                <a:ea typeface="+mn-ea"/>
                <a:cs typeface="+mn-cs"/>
              </a:rPr>
              <a:t> Move session data out of the application memory into a distributed store like Redis, Memcached, or a SQL/NoSQL database.</a:t>
            </a:r>
          </a:p>
          <a:p>
            <a:r>
              <a:rPr lang="en-US" sz="1500" dirty="0">
                <a:solidFill>
                  <a:schemeClr val="accent2"/>
                </a:solidFill>
                <a:latin typeface="Google Sans"/>
                <a:ea typeface="+mn-ea"/>
                <a:cs typeface="+mn-cs"/>
              </a:rPr>
              <a:t>Implement Database Replication: </a:t>
            </a:r>
            <a:r>
              <a:rPr lang="en-US" sz="1500" dirty="0">
                <a:solidFill>
                  <a:schemeClr val="accent6"/>
                </a:solidFill>
                <a:latin typeface="Google Sans"/>
                <a:ea typeface="+mn-ea"/>
                <a:cs typeface="+mn-cs"/>
              </a:rPr>
              <a:t>Setup primary-replica (master-slave) architectures to handle read-heavy workloads.</a:t>
            </a:r>
          </a:p>
          <a:p>
            <a:r>
              <a:rPr lang="en-US" sz="1500" dirty="0">
                <a:solidFill>
                  <a:schemeClr val="accent2"/>
                </a:solidFill>
                <a:latin typeface="Google Sans"/>
                <a:ea typeface="+mn-ea"/>
                <a:cs typeface="+mn-cs"/>
              </a:rPr>
              <a:t>Implement Database Sharding: </a:t>
            </a:r>
            <a:r>
              <a:rPr lang="en-US" sz="1500" dirty="0">
                <a:solidFill>
                  <a:schemeClr val="accent6"/>
                </a:solidFill>
                <a:latin typeface="Google Sans"/>
                <a:ea typeface="+mn-ea"/>
                <a:cs typeface="+mn-cs"/>
              </a:rPr>
              <a:t>Partition data across multiple database instances to distribute write loads (e.g., splitting by user ID).</a:t>
            </a:r>
          </a:p>
        </p:txBody>
      </p:sp>
    </p:spTree>
    <p:extLst>
      <p:ext uri="{BB962C8B-B14F-4D97-AF65-F5344CB8AC3E}">
        <p14:creationId xmlns:p14="http://schemas.microsoft.com/office/powerpoint/2010/main" val="25483754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FF226-1B26-2FBB-5999-7B8A64CBB35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10DABB2-5256-2160-B023-69F7E95A19F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7696E69-BFA7-196A-2B6A-52584C36E5C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00FEEED-70B8-E05A-5648-2B936813D41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E73FC5C1-8EDF-DE96-4545-E6E6F35B4054}"/>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E916F98D-1BEB-AA2D-5805-2B1DEFC455E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2102833C-8CC1-A3F1-716E-70AF1B8371B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p:txBody>
        </p:sp>
      </p:grpSp>
      <p:sp>
        <p:nvSpPr>
          <p:cNvPr id="6" name="object 2">
            <a:extLst>
              <a:ext uri="{FF2B5EF4-FFF2-40B4-BE49-F238E27FC236}">
                <a16:creationId xmlns:a16="http://schemas.microsoft.com/office/drawing/2014/main" id="{4FF2E66F-B4B0-075D-AE45-B907C19F2607}"/>
              </a:ext>
            </a:extLst>
          </p:cNvPr>
          <p:cNvSpPr txBox="1">
            <a:spLocks/>
          </p:cNvSpPr>
          <p:nvPr/>
        </p:nvSpPr>
        <p:spPr>
          <a:xfrm>
            <a:off x="0" y="708024"/>
            <a:ext cx="8624937" cy="52660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Scaling Approach in General</a:t>
            </a:r>
          </a:p>
          <a:p>
            <a:r>
              <a:rPr lang="en-US" sz="1420" dirty="0">
                <a:solidFill>
                  <a:schemeClr val="accent2"/>
                </a:solidFill>
                <a:latin typeface="Google Sans"/>
                <a:ea typeface="+mn-ea"/>
                <a:cs typeface="+mn-cs"/>
              </a:rPr>
              <a:t>Phase 2: Horizontal Scaling (Scale Out)</a:t>
            </a:r>
          </a:p>
          <a:p>
            <a:r>
              <a:rPr lang="en-US" sz="1420" dirty="0">
                <a:solidFill>
                  <a:schemeClr val="accent2"/>
                </a:solidFill>
                <a:latin typeface="Google Sans"/>
                <a:ea typeface="+mn-ea"/>
                <a:cs typeface="+mn-cs"/>
              </a:rPr>
              <a:t>Use </a:t>
            </a:r>
            <a:r>
              <a:rPr lang="en-US" sz="1420" dirty="0" err="1">
                <a:solidFill>
                  <a:schemeClr val="accent2"/>
                </a:solidFill>
                <a:latin typeface="Google Sans"/>
                <a:ea typeface="+mn-ea"/>
                <a:cs typeface="+mn-cs"/>
              </a:rPr>
              <a:t>StatefulSets</a:t>
            </a:r>
            <a:r>
              <a:rPr lang="en-US" sz="1420" dirty="0">
                <a:solidFill>
                  <a:schemeClr val="accent2"/>
                </a:solidFill>
                <a:latin typeface="Google Sans"/>
                <a:ea typeface="+mn-ea"/>
                <a:cs typeface="+mn-cs"/>
              </a:rPr>
              <a:t> (Kubernetes): </a:t>
            </a:r>
            <a:r>
              <a:rPr lang="en-US" sz="1420" dirty="0">
                <a:solidFill>
                  <a:schemeClr val="accent6"/>
                </a:solidFill>
                <a:latin typeface="Google Sans"/>
                <a:ea typeface="+mn-ea"/>
                <a:cs typeface="+mn-cs"/>
              </a:rPr>
              <a:t>Use </a:t>
            </a:r>
            <a:r>
              <a:rPr lang="en-US" sz="1420" dirty="0" err="1">
                <a:solidFill>
                  <a:schemeClr val="accent6"/>
                </a:solidFill>
                <a:latin typeface="Google Sans"/>
                <a:ea typeface="+mn-ea"/>
                <a:cs typeface="+mn-cs"/>
              </a:rPr>
              <a:t>StatefulSets</a:t>
            </a:r>
            <a:r>
              <a:rPr lang="en-US" sz="1420" dirty="0">
                <a:solidFill>
                  <a:schemeClr val="accent6"/>
                </a:solidFill>
                <a:latin typeface="Google Sans"/>
                <a:ea typeface="+mn-ea"/>
                <a:cs typeface="+mn-cs"/>
              </a:rPr>
              <a:t> to manage pods, ensuring each has a stable identity, persistent storage (PVC), and network ID.</a:t>
            </a:r>
          </a:p>
          <a:p>
            <a:r>
              <a:rPr lang="en-US" sz="1420" dirty="0">
                <a:solidFill>
                  <a:schemeClr val="accent2"/>
                </a:solidFill>
                <a:latin typeface="Google Sans"/>
                <a:ea typeface="+mn-ea"/>
                <a:cs typeface="+mn-cs"/>
              </a:rPr>
              <a:t>Set Up Load Balancing: </a:t>
            </a:r>
            <a:r>
              <a:rPr lang="en-US" sz="1420" dirty="0">
                <a:solidFill>
                  <a:schemeClr val="accent6"/>
                </a:solidFill>
                <a:latin typeface="Google Sans"/>
                <a:ea typeface="+mn-ea"/>
                <a:cs typeface="+mn-cs"/>
              </a:rPr>
              <a:t>Use a load balancer to distribute traffic across the new instances. </a:t>
            </a:r>
          </a:p>
          <a:p>
            <a:r>
              <a:rPr lang="en-US" sz="1420" dirty="0">
                <a:solidFill>
                  <a:schemeClr val="accent2"/>
                </a:solidFill>
                <a:latin typeface="Google Sans"/>
                <a:ea typeface="+mn-ea"/>
                <a:cs typeface="+mn-cs"/>
              </a:rPr>
              <a:t>Phase 3: Hybrid/Diagonal Scaling (Combination) </a:t>
            </a:r>
          </a:p>
          <a:p>
            <a:r>
              <a:rPr lang="en-US" sz="1420" dirty="0">
                <a:solidFill>
                  <a:schemeClr val="accent2"/>
                </a:solidFill>
                <a:latin typeface="Google Sans"/>
                <a:ea typeface="+mn-ea"/>
                <a:cs typeface="+mn-cs"/>
              </a:rPr>
              <a:t>Objective:</a:t>
            </a:r>
            <a:r>
              <a:rPr lang="en-US" sz="1420" dirty="0">
                <a:solidFill>
                  <a:schemeClr val="accent6"/>
                </a:solidFill>
                <a:latin typeface="Google Sans"/>
                <a:ea typeface="+mn-ea"/>
                <a:cs typeface="+mn-cs"/>
              </a:rPr>
              <a:t> Balance performance and cost by using vertical scaling for primary nodes and horizontal for read-replicas. </a:t>
            </a:r>
          </a:p>
          <a:p>
            <a:r>
              <a:rPr lang="en-US" sz="1420" dirty="0">
                <a:solidFill>
                  <a:schemeClr val="accent2"/>
                </a:solidFill>
                <a:latin typeface="Google Sans"/>
                <a:ea typeface="+mn-ea"/>
                <a:cs typeface="+mn-cs"/>
              </a:rPr>
              <a:t>Combine VPA and HPA:</a:t>
            </a:r>
            <a:r>
              <a:rPr lang="en-US" sz="1420" dirty="0">
                <a:solidFill>
                  <a:schemeClr val="accent6"/>
                </a:solidFill>
                <a:latin typeface="Google Sans"/>
                <a:ea typeface="+mn-ea"/>
                <a:cs typeface="+mn-cs"/>
              </a:rPr>
              <a:t> Use Kubernetes Vertical Pod </a:t>
            </a:r>
            <a:r>
              <a:rPr lang="en-US" sz="1420" dirty="0" err="1">
                <a:solidFill>
                  <a:schemeClr val="accent6"/>
                </a:solidFill>
                <a:latin typeface="Google Sans"/>
                <a:ea typeface="+mn-ea"/>
                <a:cs typeface="+mn-cs"/>
              </a:rPr>
              <a:t>Autoscaler</a:t>
            </a:r>
            <a:r>
              <a:rPr lang="en-US" sz="1420" dirty="0">
                <a:solidFill>
                  <a:schemeClr val="accent6"/>
                </a:solidFill>
                <a:latin typeface="Google Sans"/>
                <a:ea typeface="+mn-ea"/>
                <a:cs typeface="+mn-cs"/>
              </a:rPr>
              <a:t> (VPA) to optimize the size of individual pods, and Horizontal Pod </a:t>
            </a:r>
            <a:r>
              <a:rPr lang="en-US" sz="1420" dirty="0" err="1">
                <a:solidFill>
                  <a:schemeClr val="accent6"/>
                </a:solidFill>
                <a:latin typeface="Google Sans"/>
                <a:ea typeface="+mn-ea"/>
                <a:cs typeface="+mn-cs"/>
              </a:rPr>
              <a:t>Autoscaler</a:t>
            </a:r>
            <a:r>
              <a:rPr lang="en-US" sz="1420" dirty="0">
                <a:solidFill>
                  <a:schemeClr val="accent6"/>
                </a:solidFill>
                <a:latin typeface="Google Sans"/>
                <a:ea typeface="+mn-ea"/>
                <a:cs typeface="+mn-cs"/>
              </a:rPr>
              <a:t> (HPA) to scale the number of pods.</a:t>
            </a:r>
          </a:p>
          <a:p>
            <a:r>
              <a:rPr lang="en-US" sz="1420" dirty="0">
                <a:solidFill>
                  <a:schemeClr val="accent2"/>
                </a:solidFill>
                <a:latin typeface="Google Sans"/>
                <a:ea typeface="+mn-ea"/>
                <a:cs typeface="+mn-cs"/>
              </a:rPr>
              <a:t>Use Tiered Storage: </a:t>
            </a:r>
            <a:r>
              <a:rPr lang="en-US" sz="1420" dirty="0">
                <a:solidFill>
                  <a:schemeClr val="accent6"/>
                </a:solidFill>
                <a:latin typeface="Google Sans"/>
                <a:ea typeface="+mn-ea"/>
                <a:cs typeface="+mn-cs"/>
              </a:rPr>
              <a:t>Keep hot, critical data on high-performance vertical instances (e.g., </a:t>
            </a:r>
            <a:r>
              <a:rPr lang="en-US" sz="1420" dirty="0" err="1">
                <a:solidFill>
                  <a:schemeClr val="accent6"/>
                </a:solidFill>
                <a:latin typeface="Google Sans"/>
                <a:ea typeface="+mn-ea"/>
                <a:cs typeface="+mn-cs"/>
              </a:rPr>
              <a:t>NVMe</a:t>
            </a:r>
            <a:r>
              <a:rPr lang="en-US" sz="1420" dirty="0">
                <a:solidFill>
                  <a:schemeClr val="accent6"/>
                </a:solidFill>
                <a:latin typeface="Google Sans"/>
                <a:ea typeface="+mn-ea"/>
                <a:cs typeface="+mn-cs"/>
              </a:rPr>
              <a:t> SSDs) and cold data on cheaper, distributed storage.</a:t>
            </a:r>
          </a:p>
          <a:p>
            <a:r>
              <a:rPr lang="en-US" sz="1420" dirty="0">
                <a:solidFill>
                  <a:schemeClr val="accent2"/>
                </a:solidFill>
                <a:latin typeface="Google Sans"/>
                <a:ea typeface="+mn-ea"/>
                <a:cs typeface="+mn-cs"/>
              </a:rPr>
              <a:t>Database Proxy/Middleware: </a:t>
            </a:r>
            <a:r>
              <a:rPr lang="en-US" sz="1420" dirty="0">
                <a:solidFill>
                  <a:schemeClr val="accent6"/>
                </a:solidFill>
                <a:latin typeface="Google Sans"/>
                <a:ea typeface="+mn-ea"/>
                <a:cs typeface="+mn-cs"/>
              </a:rPr>
              <a:t>Implement a middleware (e.g., </a:t>
            </a:r>
            <a:r>
              <a:rPr lang="en-US" sz="1420" dirty="0" err="1">
                <a:solidFill>
                  <a:schemeClr val="accent6"/>
                </a:solidFill>
                <a:latin typeface="Google Sans"/>
                <a:ea typeface="+mn-ea"/>
                <a:cs typeface="+mn-cs"/>
              </a:rPr>
              <a:t>ProxySQL</a:t>
            </a:r>
            <a:r>
              <a:rPr lang="en-US" sz="1420" dirty="0">
                <a:solidFill>
                  <a:schemeClr val="accent6"/>
                </a:solidFill>
                <a:latin typeface="Google Sans"/>
                <a:ea typeface="+mn-ea"/>
                <a:cs typeface="+mn-cs"/>
              </a:rPr>
              <a:t>, </a:t>
            </a:r>
            <a:r>
              <a:rPr lang="en-US" sz="1420" dirty="0" err="1">
                <a:solidFill>
                  <a:schemeClr val="accent6"/>
                </a:solidFill>
                <a:latin typeface="Google Sans"/>
                <a:ea typeface="+mn-ea"/>
                <a:cs typeface="+mn-cs"/>
              </a:rPr>
              <a:t>Vitess</a:t>
            </a:r>
            <a:r>
              <a:rPr lang="en-US" sz="1420" dirty="0">
                <a:solidFill>
                  <a:schemeClr val="accent6"/>
                </a:solidFill>
                <a:latin typeface="Google Sans"/>
                <a:ea typeface="+mn-ea"/>
                <a:cs typeface="+mn-cs"/>
              </a:rPr>
              <a:t>) to route queries intelligently between a large vertical primary and multiple horizontal replicas.</a:t>
            </a:r>
          </a:p>
          <a:p>
            <a:r>
              <a:rPr lang="en-US" sz="1420" dirty="0">
                <a:solidFill>
                  <a:schemeClr val="accent2"/>
                </a:solidFill>
                <a:latin typeface="Google Sans"/>
                <a:ea typeface="+mn-ea"/>
                <a:cs typeface="+mn-cs"/>
              </a:rPr>
              <a:t>Event Sourcing/CQRS:</a:t>
            </a:r>
            <a:r>
              <a:rPr lang="en-US" sz="1420" dirty="0">
                <a:solidFill>
                  <a:schemeClr val="accent6"/>
                </a:solidFill>
                <a:latin typeface="Google Sans"/>
                <a:ea typeface="+mn-ea"/>
                <a:cs typeface="+mn-cs"/>
              </a:rPr>
              <a:t> Implement Command Query Responsibility Segregation (CQRS), where the write-model is scaled vertically for consistency, and read-models are scaled horizontally for speed. </a:t>
            </a:r>
          </a:p>
          <a:p>
            <a:endParaRPr lang="en-US" sz="1420" dirty="0">
              <a:solidFill>
                <a:schemeClr val="accent6"/>
              </a:solidFill>
              <a:latin typeface="Google Sans"/>
              <a:ea typeface="+mn-ea"/>
              <a:cs typeface="+mn-cs"/>
            </a:endParaRPr>
          </a:p>
          <a:p>
            <a:r>
              <a:rPr lang="en-US" sz="1700" dirty="0">
                <a:solidFill>
                  <a:schemeClr val="accent2"/>
                </a:solidFill>
                <a:latin typeface="Google Sans"/>
                <a:ea typeface="+mn-ea"/>
                <a:cs typeface="+mn-cs"/>
              </a:rPr>
              <a:t>Key Considerations and Best Practices</a:t>
            </a:r>
          </a:p>
          <a:p>
            <a:r>
              <a:rPr lang="en-US" sz="1300" dirty="0">
                <a:solidFill>
                  <a:schemeClr val="accent2"/>
                </a:solidFill>
                <a:latin typeface="Google Sans"/>
                <a:ea typeface="+mn-ea"/>
                <a:cs typeface="+mn-cs"/>
              </a:rPr>
              <a:t>Consistency vs. Availability:</a:t>
            </a:r>
            <a:r>
              <a:rPr lang="en-US" sz="1300" dirty="0">
                <a:solidFill>
                  <a:schemeClr val="accent6"/>
                </a:solidFill>
                <a:latin typeface="Google Sans"/>
                <a:ea typeface="+mn-ea"/>
                <a:cs typeface="+mn-cs"/>
              </a:rPr>
              <a:t> Stateful systems must address the CAP theorem. Use synchronous replication for strict consistency (banking) and asynchronous for speed (social media).</a:t>
            </a:r>
          </a:p>
          <a:p>
            <a:r>
              <a:rPr lang="en-US" sz="1300" dirty="0">
                <a:solidFill>
                  <a:schemeClr val="accent2"/>
                </a:solidFill>
                <a:latin typeface="Google Sans"/>
                <a:ea typeface="+mn-ea"/>
                <a:cs typeface="+mn-cs"/>
              </a:rPr>
              <a:t>Data Synchronization:</a:t>
            </a:r>
            <a:r>
              <a:rPr lang="en-US" sz="1300" dirty="0">
                <a:solidFill>
                  <a:schemeClr val="accent6"/>
                </a:solidFill>
                <a:latin typeface="Google Sans"/>
                <a:ea typeface="+mn-ea"/>
                <a:cs typeface="+mn-cs"/>
              </a:rPr>
              <a:t> When scaling horizontally, use automated tools for data partitioning and synchronization to prevent data loss.</a:t>
            </a:r>
          </a:p>
          <a:p>
            <a:r>
              <a:rPr lang="en-US" sz="1300" dirty="0">
                <a:solidFill>
                  <a:schemeClr val="accent2"/>
                </a:solidFill>
                <a:latin typeface="Google Sans"/>
                <a:ea typeface="+mn-ea"/>
                <a:cs typeface="+mn-cs"/>
              </a:rPr>
              <a:t>Testing: </a:t>
            </a:r>
            <a:r>
              <a:rPr lang="en-US" sz="1300" dirty="0">
                <a:solidFill>
                  <a:schemeClr val="accent6"/>
                </a:solidFill>
                <a:latin typeface="Google Sans"/>
                <a:ea typeface="+mn-ea"/>
                <a:cs typeface="+mn-cs"/>
              </a:rPr>
              <a:t>Perform load testing to simulate traffic spikes and measure latency before fully committing to a hybrid approach.</a:t>
            </a:r>
          </a:p>
          <a:p>
            <a:r>
              <a:rPr lang="en-US" sz="1300" dirty="0">
                <a:solidFill>
                  <a:schemeClr val="accent2"/>
                </a:solidFill>
                <a:latin typeface="Google Sans"/>
                <a:ea typeface="+mn-ea"/>
                <a:cs typeface="+mn-cs"/>
              </a:rPr>
              <a:t>Automation:</a:t>
            </a:r>
            <a:r>
              <a:rPr lang="en-US" sz="1300" dirty="0">
                <a:solidFill>
                  <a:schemeClr val="accent6"/>
                </a:solidFill>
                <a:latin typeface="Google Sans"/>
                <a:ea typeface="+mn-ea"/>
                <a:cs typeface="+mn-cs"/>
              </a:rPr>
              <a:t> Use operators to automate the scaling of stateful applications based on resource usage. </a:t>
            </a:r>
          </a:p>
        </p:txBody>
      </p:sp>
    </p:spTree>
    <p:extLst>
      <p:ext uri="{BB962C8B-B14F-4D97-AF65-F5344CB8AC3E}">
        <p14:creationId xmlns:p14="http://schemas.microsoft.com/office/powerpoint/2010/main" val="351765109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2CDE8-E6AE-86C1-F04E-58FD7F2A58B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8C9EE87-A3A5-D045-D50C-7134352A126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BC3CE33-7989-55B7-062D-8152F85E8DE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A817ADA-EE7F-EAE2-EC94-345AFC6E74A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CE663F5D-9714-1C53-0740-935E3D540D67}"/>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33788751-ADF0-DF85-B977-A4341144869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DA27484C-98EF-8BD2-A9DE-D89ED16A6E3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p:txBody>
        </p:sp>
      </p:grpSp>
      <p:sp>
        <p:nvSpPr>
          <p:cNvPr id="6" name="object 2">
            <a:extLst>
              <a:ext uri="{FF2B5EF4-FFF2-40B4-BE49-F238E27FC236}">
                <a16:creationId xmlns:a16="http://schemas.microsoft.com/office/drawing/2014/main" id="{40CD0F1A-CCE3-D98A-9B83-2205D0AF7491}"/>
              </a:ext>
            </a:extLst>
          </p:cNvPr>
          <p:cNvSpPr txBox="1">
            <a:spLocks/>
          </p:cNvSpPr>
          <p:nvPr/>
        </p:nvSpPr>
        <p:spPr>
          <a:xfrm>
            <a:off x="0" y="708024"/>
            <a:ext cx="8624937" cy="49829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Distributed Indexing</a:t>
            </a:r>
          </a:p>
          <a:p>
            <a:r>
              <a:rPr lang="en-US" sz="1420" dirty="0">
                <a:solidFill>
                  <a:schemeClr val="accent6"/>
                </a:solidFill>
                <a:latin typeface="Google Sans"/>
                <a:ea typeface="+mn-ea"/>
                <a:cs typeface="+mn-cs"/>
              </a:rPr>
              <a:t>Distributed indexes speed up data retrieval in partitioned databases by splitting the index across multiple nodes, allowing parallel searches rather than scanning the entire system. They work by either partitioning index data by key (global) or anchoring them to specific nodes (local), ensuring efficient queries, high availability through replication, and reduced network latency. </a:t>
            </a:r>
          </a:p>
          <a:p>
            <a:endParaRPr lang="en-US" sz="1420" dirty="0">
              <a:solidFill>
                <a:schemeClr val="accent6"/>
              </a:solidFill>
              <a:latin typeface="Google Sans"/>
              <a:ea typeface="+mn-ea"/>
              <a:cs typeface="+mn-cs"/>
            </a:endParaRPr>
          </a:p>
          <a:p>
            <a:r>
              <a:rPr lang="en-US" sz="1700" dirty="0">
                <a:solidFill>
                  <a:schemeClr val="accent2"/>
                </a:solidFill>
                <a:latin typeface="Google Sans"/>
                <a:ea typeface="+mn-ea"/>
                <a:cs typeface="+mn-cs"/>
              </a:rPr>
              <a:t>Key concepts in how distributed indexes work:</a:t>
            </a:r>
          </a:p>
          <a:p>
            <a:r>
              <a:rPr lang="en-US" sz="1420" dirty="0">
                <a:solidFill>
                  <a:schemeClr val="accent2"/>
                </a:solidFill>
                <a:latin typeface="Google Sans"/>
                <a:ea typeface="+mn-ea"/>
                <a:cs typeface="+mn-cs"/>
              </a:rPr>
              <a:t>Partitioned Indexing (Sharding): </a:t>
            </a:r>
            <a:r>
              <a:rPr lang="en-US" sz="1420" dirty="0">
                <a:solidFill>
                  <a:schemeClr val="accent6"/>
                </a:solidFill>
                <a:latin typeface="Google Sans"/>
                <a:ea typeface="+mn-ea"/>
                <a:cs typeface="+mn-cs"/>
              </a:rPr>
              <a:t>Since data is too large for one machine, the index is split (e.g., using hash or range partitioning) and distributed across nodes.</a:t>
            </a:r>
          </a:p>
          <a:p>
            <a:r>
              <a:rPr lang="en-US" sz="1420" dirty="0">
                <a:solidFill>
                  <a:schemeClr val="accent2"/>
                </a:solidFill>
                <a:latin typeface="Google Sans"/>
                <a:ea typeface="+mn-ea"/>
                <a:cs typeface="+mn-cs"/>
              </a:rPr>
              <a:t>Global Secondary Index:</a:t>
            </a:r>
            <a:r>
              <a:rPr lang="en-US" sz="1420" dirty="0">
                <a:solidFill>
                  <a:schemeClr val="accent6"/>
                </a:solidFill>
                <a:latin typeface="Google Sans"/>
                <a:ea typeface="+mn-ea"/>
                <a:cs typeface="+mn-cs"/>
              </a:rPr>
              <a:t> The index spans all nodes, allowing quick searches without knowing the exact data location, often used in systems like Apache Cassandra.</a:t>
            </a:r>
          </a:p>
          <a:p>
            <a:r>
              <a:rPr lang="en-US" sz="1420" dirty="0">
                <a:solidFill>
                  <a:schemeClr val="accent2"/>
                </a:solidFill>
                <a:latin typeface="Google Sans"/>
                <a:ea typeface="+mn-ea"/>
                <a:cs typeface="+mn-cs"/>
              </a:rPr>
              <a:t>Local Secondary Index: </a:t>
            </a:r>
            <a:r>
              <a:rPr lang="en-US" sz="1420" dirty="0">
                <a:solidFill>
                  <a:schemeClr val="accent6"/>
                </a:solidFill>
                <a:latin typeface="Google Sans"/>
                <a:ea typeface="+mn-ea"/>
                <a:cs typeface="+mn-cs"/>
              </a:rPr>
              <a:t>The index is tied to a specific node, which is faster for writes and avoids cross-node network lookups, as seen in DynamoDB.</a:t>
            </a:r>
          </a:p>
          <a:p>
            <a:r>
              <a:rPr lang="en-US" sz="1420" dirty="0">
                <a:solidFill>
                  <a:schemeClr val="accent2"/>
                </a:solidFill>
                <a:latin typeface="Google Sans"/>
                <a:ea typeface="+mn-ea"/>
                <a:cs typeface="+mn-cs"/>
              </a:rPr>
              <a:t>Query Process (Scatter-Gather):</a:t>
            </a:r>
            <a:r>
              <a:rPr lang="en-US" sz="1420" dirty="0">
                <a:solidFill>
                  <a:schemeClr val="accent6"/>
                </a:solidFill>
                <a:latin typeface="Google Sans"/>
                <a:ea typeface="+mn-ea"/>
                <a:cs typeface="+mn-cs"/>
              </a:rPr>
              <a:t> A query is sent to multiple nodes (scatter), and the results are combined (gather) to provide the final answer, which is crucial for scalability.</a:t>
            </a:r>
          </a:p>
          <a:p>
            <a:r>
              <a:rPr lang="en-US" sz="1420" dirty="0">
                <a:solidFill>
                  <a:schemeClr val="accent2"/>
                </a:solidFill>
                <a:latin typeface="Google Sans"/>
                <a:ea typeface="+mn-ea"/>
                <a:cs typeface="+mn-cs"/>
              </a:rPr>
              <a:t>Replication for High Availability:</a:t>
            </a:r>
            <a:r>
              <a:rPr lang="en-US" sz="1420" dirty="0">
                <a:solidFill>
                  <a:schemeClr val="accent6"/>
                </a:solidFill>
                <a:latin typeface="Google Sans"/>
                <a:ea typeface="+mn-ea"/>
                <a:cs typeface="+mn-cs"/>
              </a:rPr>
              <a:t> To prevent downtime, multiple copies (replicas) of index partitions are maintained across different nodes. </a:t>
            </a:r>
          </a:p>
          <a:p>
            <a:r>
              <a:rPr lang="en-US" sz="1420" dirty="0">
                <a:solidFill>
                  <a:schemeClr val="accent6"/>
                </a:solidFill>
                <a:latin typeface="Google Sans"/>
                <a:ea typeface="+mn-ea"/>
                <a:cs typeface="+mn-cs"/>
              </a:rPr>
              <a:t>Commonly used with data structures like B-trees, these distributed structures ensure that even as data grows, search performance remains high. </a:t>
            </a:r>
          </a:p>
          <a:p>
            <a:endParaRPr lang="en-US" sz="1420" dirty="0">
              <a:solidFill>
                <a:schemeClr val="accent6"/>
              </a:solidFill>
              <a:latin typeface="Google Sans"/>
              <a:ea typeface="+mn-ea"/>
              <a:cs typeface="+mn-cs"/>
            </a:endParaRPr>
          </a:p>
          <a:p>
            <a:r>
              <a:rPr lang="en-US" sz="1800" dirty="0">
                <a:solidFill>
                  <a:schemeClr val="accent2"/>
                </a:solidFill>
                <a:latin typeface="Google Sans"/>
                <a:ea typeface="+mn-ea"/>
                <a:cs typeface="+mn-cs"/>
              </a:rPr>
              <a:t>For Further Exploration</a:t>
            </a:r>
          </a:p>
          <a:p>
            <a:r>
              <a:rPr lang="en-US" sz="1600" dirty="0">
                <a:hlinkClick r:id="rId2"/>
              </a:rPr>
              <a:t>How indexes work in Distributed Databases, their trade-offs, and challenges</a:t>
            </a:r>
            <a:endParaRPr lang="en-US" sz="1420" dirty="0">
              <a:solidFill>
                <a:schemeClr val="accent2"/>
              </a:solidFill>
              <a:latin typeface="Google Sans"/>
              <a:ea typeface="+mn-ea"/>
              <a:cs typeface="+mn-cs"/>
            </a:endParaRPr>
          </a:p>
        </p:txBody>
      </p:sp>
    </p:spTree>
    <p:extLst>
      <p:ext uri="{BB962C8B-B14F-4D97-AF65-F5344CB8AC3E}">
        <p14:creationId xmlns:p14="http://schemas.microsoft.com/office/powerpoint/2010/main" val="165115212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44911" y="774064"/>
            <a:ext cx="8624937" cy="58323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For Further Exploration – </a:t>
            </a:r>
          </a:p>
          <a:p>
            <a:pPr marL="12700" marR="5080"/>
            <a:r>
              <a:rPr lang="en-IN" sz="1500" dirty="0">
                <a:hlinkClick r:id="rId2"/>
              </a:rPr>
              <a:t>8 Must Strategies for System Scaling | Feed | LinkedIn</a:t>
            </a:r>
            <a:endParaRPr lang="en-IN" sz="1500" dirty="0"/>
          </a:p>
          <a:p>
            <a:pPr marL="12700" marR="5080"/>
            <a:r>
              <a:rPr lang="en-IN" sz="1500" dirty="0">
                <a:hlinkClick r:id="rId3"/>
              </a:rPr>
              <a:t>7 Must Strategies for DB Scaling | LinkedIn</a:t>
            </a:r>
            <a:endParaRPr lang="en-IN" sz="1500" dirty="0"/>
          </a:p>
          <a:p>
            <a:pPr marL="12700" marR="5080"/>
            <a:r>
              <a:rPr lang="en-US" sz="1500" dirty="0">
                <a:hlinkClick r:id="rId4"/>
              </a:rPr>
              <a:t>Art of Scalability</a:t>
            </a:r>
            <a:endParaRPr lang="en-US" sz="1500" dirty="0"/>
          </a:p>
          <a:p>
            <a:pPr marL="12700" marR="5080"/>
            <a:r>
              <a:rPr lang="en-US" sz="1500" dirty="0">
                <a:hlinkClick r:id="rId5"/>
              </a:rPr>
              <a:t>The Art of Capacity Planning, 2nd Edition [Book]</a:t>
            </a:r>
            <a:endParaRPr lang="en-US" sz="1500" dirty="0"/>
          </a:p>
          <a:p>
            <a:pPr marL="12700" marR="5080"/>
            <a:r>
              <a:rPr lang="en-IN" sz="1500" dirty="0">
                <a:hlinkClick r:id="rId6"/>
              </a:rPr>
              <a:t>Scalability Rules: 50 Principles for Scaling Web Sites eBook</a:t>
            </a:r>
            <a:endParaRPr lang="en-IN" sz="1500" dirty="0"/>
          </a:p>
          <a:p>
            <a:pPr marL="12700" marR="5080"/>
            <a:r>
              <a:rPr lang="en-US" sz="1500" dirty="0">
                <a:hlinkClick r:id="rId7"/>
              </a:rPr>
              <a:t>Web Operations: Keeping the Data On Time</a:t>
            </a:r>
            <a:endParaRPr lang="en-US" sz="1500" dirty="0"/>
          </a:p>
          <a:p>
            <a:pPr marL="12700" marR="5080"/>
            <a:r>
              <a:rPr lang="en-US" sz="1500" dirty="0">
                <a:hlinkClick r:id="rId8"/>
              </a:rPr>
              <a:t>Scaling Pods and Nodes in K8s | Build Intelligent Apps On Azure</a:t>
            </a:r>
            <a:endParaRPr lang="en-US" sz="1500" dirty="0"/>
          </a:p>
          <a:p>
            <a:pPr marL="12700" marR="5080"/>
            <a:r>
              <a:rPr lang="en-IN" sz="1500" dirty="0">
                <a:hlinkClick r:id="rId9"/>
              </a:rPr>
              <a:t>Scale applications in Azure Kubernetes Services (AKS) - Azure Kubernetes Service</a:t>
            </a:r>
            <a:endParaRPr lang="en-IN" sz="1500" dirty="0"/>
          </a:p>
          <a:p>
            <a:pPr marL="12700" marR="5080"/>
            <a:r>
              <a:rPr lang="en-US" sz="1500" dirty="0">
                <a:hlinkClick r:id="rId10"/>
              </a:rPr>
              <a:t>Performance and scaling best practices for small to medium workloads in AKS</a:t>
            </a:r>
            <a:endParaRPr lang="en-US" sz="1500" dirty="0"/>
          </a:p>
          <a:p>
            <a:pPr marL="12700" marR="5080"/>
            <a:r>
              <a:rPr lang="en-US" sz="1500" dirty="0">
                <a:hlinkClick r:id="rId11"/>
              </a:rPr>
              <a:t>Azure Service Bus - Automatically update messaging units - Azure Service Bus</a:t>
            </a:r>
            <a:endParaRPr lang="en-US" sz="1500" dirty="0"/>
          </a:p>
          <a:p>
            <a:pPr marL="12700" marR="5080"/>
            <a:r>
              <a:rPr lang="en-US" sz="1500" dirty="0">
                <a:hlinkClick r:id="rId12"/>
              </a:rPr>
              <a:t>Microsoft Azure Service Bus quotas and limits - Azure Service Bus </a:t>
            </a:r>
            <a:r>
              <a:rPr lang="en-US" sz="1500" dirty="0">
                <a:solidFill>
                  <a:schemeClr val="accent6"/>
                </a:solidFill>
                <a:latin typeface="Google Sans"/>
                <a:ea typeface="+mn-ea"/>
                <a:cs typeface="+mn-cs"/>
              </a:rPr>
              <a:t>(an Azure SB topic/queue/subscription doesn’t allow more than 5K concurrent requests and so  topics/queues/subscriptions might have to be [auto]scaled if &gt; 5K concurrent requests needed to be supported or some sort of chunking/batching needs to be there from the publisher end[</a:t>
            </a:r>
            <a:r>
              <a:rPr lang="en-US" sz="1500" dirty="0">
                <a:hlinkClick r:id="rId13"/>
              </a:rPr>
              <a:t>Sending Large Batches to Azure Service Bus | Mikhail </a:t>
            </a:r>
            <a:r>
              <a:rPr lang="en-US" sz="1500" dirty="0" err="1">
                <a:hlinkClick r:id="rId13"/>
              </a:rPr>
              <a:t>Shilkov</a:t>
            </a:r>
            <a:r>
              <a:rPr lang="en-US" sz="1500" dirty="0"/>
              <a:t> </a:t>
            </a:r>
            <a:r>
              <a:rPr lang="en-US" sz="1500" dirty="0">
                <a:solidFill>
                  <a:schemeClr val="accent6"/>
                </a:solidFill>
                <a:latin typeface="Google Sans"/>
                <a:ea typeface="+mn-ea"/>
                <a:cs typeface="+mn-cs"/>
              </a:rPr>
              <a:t>– seems even a batch request is considered as a single request but need to test this]).Sometimes Batching can solve timeout issues as well.</a:t>
            </a:r>
          </a:p>
          <a:p>
            <a:pPr marL="12700" marR="5080"/>
            <a:r>
              <a:rPr lang="en-IN" sz="1500" dirty="0">
                <a:hlinkClick r:id="rId14"/>
              </a:rPr>
              <a:t>Kubernetes Event-driven Autoscaling (KEDA) - Azure Kubernetes Service</a:t>
            </a:r>
            <a:endParaRPr lang="en-US" sz="1500" kern="0" spc="-80" dirty="0">
              <a:solidFill>
                <a:schemeClr val="accent2"/>
              </a:solidFill>
            </a:endParaRPr>
          </a:p>
          <a:p>
            <a:pPr marL="12700" marR="5080"/>
            <a:r>
              <a:rPr lang="en-US" sz="1500" dirty="0" err="1">
                <a:hlinkClick r:id="rId15"/>
              </a:rPr>
              <a:t>KEDA_Related_Query_Answered_By_ChatGPT</a:t>
            </a:r>
            <a:r>
              <a:rPr lang="en-US" sz="1500" dirty="0">
                <a:hlinkClick r:id="rId15"/>
              </a:rPr>
              <a:t> · GitHub</a:t>
            </a:r>
            <a:endParaRPr lang="en-US" sz="1500" dirty="0"/>
          </a:p>
          <a:p>
            <a:pPr marL="12700" marR="5080"/>
            <a:r>
              <a:rPr lang="en-IN" sz="1500" dirty="0">
                <a:hlinkClick r:id="rId16"/>
              </a:rPr>
              <a:t>Autoscaling Survey</a:t>
            </a:r>
            <a:r>
              <a:rPr lang="en-IN" sz="1500" dirty="0">
                <a:solidFill>
                  <a:schemeClr val="accent6"/>
                </a:solidFill>
                <a:latin typeface="Google Sans"/>
                <a:ea typeface="+mn-ea"/>
                <a:cs typeface="+mn-cs"/>
              </a:rPr>
              <a:t>(</a:t>
            </a:r>
            <a:r>
              <a:rPr lang="en-US" sz="1500" dirty="0">
                <a:solidFill>
                  <a:schemeClr val="accent6"/>
                </a:solidFill>
                <a:latin typeface="Google Sans"/>
                <a:ea typeface="+mn-ea"/>
                <a:cs typeface="+mn-cs"/>
              </a:rPr>
              <a:t>Auto-Elastic Scalability Techniques(Reactive Techniques are Rule Based &amp; State of the Art Proactive Techniques are ML based) </a:t>
            </a:r>
            <a:r>
              <a:rPr lang="en-IN" sz="1500" dirty="0">
                <a:solidFill>
                  <a:schemeClr val="accent6"/>
                </a:solidFill>
                <a:latin typeface="Google Sans"/>
                <a:ea typeface="+mn-ea"/>
                <a:cs typeface="+mn-cs"/>
              </a:rPr>
              <a:t>)</a:t>
            </a:r>
          </a:p>
          <a:p>
            <a:pPr marL="12700" marR="5080"/>
            <a:r>
              <a:rPr lang="en-US" sz="1400" dirty="0">
                <a:hlinkClick r:id="rId17"/>
              </a:rPr>
              <a:t>Sharding vs Partitioning: Understanding Database Distribution Methods | </a:t>
            </a:r>
            <a:r>
              <a:rPr lang="en-US" sz="1400" dirty="0" err="1">
                <a:hlinkClick r:id="rId17"/>
              </a:rPr>
              <a:t>DataCamp</a:t>
            </a:r>
            <a:endParaRPr lang="en-US" sz="1400" kern="0" spc="-80" dirty="0">
              <a:solidFill>
                <a:schemeClr val="accent2"/>
              </a:solidFill>
            </a:endParaRPr>
          </a:p>
          <a:p>
            <a:pPr marL="12700" marR="5080"/>
            <a:endParaRPr lang="en-IN" sz="1500" dirty="0">
              <a:solidFill>
                <a:schemeClr val="accent6"/>
              </a:solidFill>
              <a:latin typeface="Google Sans"/>
              <a:ea typeface="+mn-ea"/>
              <a:cs typeface="+mn-cs"/>
            </a:endParaRPr>
          </a:p>
          <a:p>
            <a:pPr marL="12700" marR="5080"/>
            <a:endParaRPr lang="en-US" sz="1200" kern="0" spc="-80" dirty="0">
              <a:solidFill>
                <a:schemeClr val="accent2"/>
              </a:solidFill>
            </a:endParaRPr>
          </a:p>
          <a:p>
            <a:pPr marL="12700" marR="5080"/>
            <a:r>
              <a:rPr lang="en-US" sz="900" kern="0" spc="-80" dirty="0">
                <a:solidFill>
                  <a:schemeClr val="accent2"/>
                </a:solidFill>
              </a:rPr>
              <a:t>  </a:t>
            </a:r>
          </a:p>
          <a:p>
            <a:pPr marL="12700" marR="5080"/>
            <a:r>
              <a:rPr lang="en-US" sz="900" kern="0" spc="-80" dirty="0">
                <a:solidFill>
                  <a:schemeClr val="accent2"/>
                </a:solidFill>
              </a:rPr>
              <a:t>    </a:t>
            </a:r>
          </a:p>
        </p:txBody>
      </p:sp>
      <p:grpSp>
        <p:nvGrpSpPr>
          <p:cNvPr id="7" name="Group 6">
            <a:extLst>
              <a:ext uri="{FF2B5EF4-FFF2-40B4-BE49-F238E27FC236}">
                <a16:creationId xmlns:a16="http://schemas.microsoft.com/office/drawing/2014/main" id="{397FEA15-DC11-2E41-8443-54DD614950A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62FEE06-F81B-129F-3380-BB5DDFEB373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B1C55E5-2230-092F-7B68-955686988B4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Scalability</a:t>
              </a:r>
              <a:endParaRPr lang="en-US" sz="2500" kern="1200" dirty="0">
                <a:solidFill>
                  <a:schemeClr val="bg1"/>
                </a:solidFill>
              </a:endParaRPr>
            </a:p>
          </p:txBody>
        </p:sp>
      </p:grpSp>
    </p:spTree>
    <p:extLst>
      <p:ext uri="{BB962C8B-B14F-4D97-AF65-F5344CB8AC3E}">
        <p14:creationId xmlns:p14="http://schemas.microsoft.com/office/powerpoint/2010/main" val="81482505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7A94D-0A47-F79A-CBC5-D61FE8EF61B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530E9A2-5E16-A565-6AB0-2CF8357866E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FF27FD5-484F-3145-4079-0C85940F6E1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0959C1A-1BCD-342B-6308-0E8A9B312DF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B615C296-989D-E345-0A9D-7796BA661165}"/>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6F7219C2-CC31-D21C-070C-403853CB9EB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9EED8C4A-AB08-FDF5-1B13-6E763B524A2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Network Partition</a:t>
              </a:r>
              <a:endParaRPr lang="en-US" sz="2500" kern="1200" dirty="0">
                <a:solidFill>
                  <a:schemeClr val="bg1"/>
                </a:solidFill>
              </a:endParaRPr>
            </a:p>
          </p:txBody>
        </p:sp>
      </p:grpSp>
      <p:sp>
        <p:nvSpPr>
          <p:cNvPr id="6" name="object 2">
            <a:extLst>
              <a:ext uri="{FF2B5EF4-FFF2-40B4-BE49-F238E27FC236}">
                <a16:creationId xmlns:a16="http://schemas.microsoft.com/office/drawing/2014/main" id="{ED0C3B08-FEB5-8BF5-2D54-192A83F7066F}"/>
              </a:ext>
            </a:extLst>
          </p:cNvPr>
          <p:cNvSpPr txBox="1">
            <a:spLocks/>
          </p:cNvSpPr>
          <p:nvPr/>
        </p:nvSpPr>
        <p:spPr>
          <a:xfrm>
            <a:off x="0" y="708024"/>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6"/>
                </a:solidFill>
                <a:latin typeface="Google Sans"/>
                <a:ea typeface="+mn-ea"/>
                <a:cs typeface="+mn-cs"/>
              </a:rPr>
              <a:t>A network partition is a failure scenario in distributed systems where connected nodes split into isolated "islands" due to network, hardware, or software failures. Although nodes remain operational, they cannot communicate with others outside their segment, leading to issues like split-brain syndrome (independent, conflicting operations) or data inconsistency. </a:t>
            </a:r>
          </a:p>
          <a:p>
            <a:r>
              <a:rPr lang="en-US" sz="1500" dirty="0">
                <a:solidFill>
                  <a:schemeClr val="accent2"/>
                </a:solidFill>
                <a:latin typeface="Google Sans"/>
                <a:ea typeface="+mn-ea"/>
                <a:cs typeface="+mn-cs"/>
              </a:rPr>
              <a:t>Key Aspects of Network Partition:</a:t>
            </a:r>
          </a:p>
          <a:p>
            <a:r>
              <a:rPr lang="en-US" sz="1500" dirty="0">
                <a:solidFill>
                  <a:schemeClr val="accent2"/>
                </a:solidFill>
                <a:latin typeface="Google Sans"/>
                <a:ea typeface="+mn-ea"/>
                <a:cs typeface="+mn-cs"/>
              </a:rPr>
              <a:t>Cause: </a:t>
            </a:r>
            <a:r>
              <a:rPr lang="en-US" sz="1500" dirty="0">
                <a:solidFill>
                  <a:schemeClr val="accent6"/>
                </a:solidFill>
                <a:latin typeface="Google Sans"/>
                <a:ea typeface="+mn-ea"/>
                <a:cs typeface="+mn-cs"/>
              </a:rPr>
              <a:t>Often triggered by broken links, congested networks, or malfunctioning switches.</a:t>
            </a:r>
          </a:p>
          <a:p>
            <a:r>
              <a:rPr lang="en-US" sz="1500" dirty="0">
                <a:solidFill>
                  <a:schemeClr val="accent2"/>
                </a:solidFill>
                <a:latin typeface="Google Sans"/>
                <a:ea typeface="+mn-ea"/>
                <a:cs typeface="+mn-cs"/>
              </a:rPr>
              <a:t>Behavior:</a:t>
            </a:r>
            <a:r>
              <a:rPr lang="en-US" sz="1500" dirty="0">
                <a:solidFill>
                  <a:schemeClr val="accent6"/>
                </a:solidFill>
                <a:latin typeface="Google Sans"/>
                <a:ea typeface="+mn-ea"/>
                <a:cs typeface="+mn-cs"/>
              </a:rPr>
              <a:t> Nodes on one side cannot communicate with nodes on another, but might still serve requests within their own group, often resulting in inconsistent data.</a:t>
            </a:r>
          </a:p>
          <a:p>
            <a:r>
              <a:rPr lang="en-US" sz="1500" dirty="0">
                <a:solidFill>
                  <a:schemeClr val="accent2"/>
                </a:solidFill>
                <a:latin typeface="Google Sans"/>
                <a:ea typeface="+mn-ea"/>
                <a:cs typeface="+mn-cs"/>
              </a:rPr>
              <a:t>CAP Theorem:</a:t>
            </a:r>
            <a:r>
              <a:rPr lang="en-US" sz="1500" dirty="0">
                <a:solidFill>
                  <a:schemeClr val="accent6"/>
                </a:solidFill>
                <a:latin typeface="Google Sans"/>
                <a:ea typeface="+mn-ea"/>
                <a:cs typeface="+mn-cs"/>
              </a:rPr>
              <a:t> Under the CAP theorem (Consistency, Availability, Partition Tolerance), systems must choose between consistency and availability during a partition.</a:t>
            </a:r>
          </a:p>
          <a:p>
            <a:r>
              <a:rPr lang="en-US" sz="1500" dirty="0">
                <a:solidFill>
                  <a:schemeClr val="accent2"/>
                </a:solidFill>
                <a:latin typeface="Google Sans"/>
                <a:ea typeface="+mn-ea"/>
                <a:cs typeface="+mn-cs"/>
              </a:rPr>
              <a:t>Detection: </a:t>
            </a:r>
            <a:r>
              <a:rPr lang="en-US" sz="1500" dirty="0">
                <a:solidFill>
                  <a:schemeClr val="accent6"/>
                </a:solidFill>
                <a:latin typeface="Google Sans"/>
                <a:ea typeface="+mn-ea"/>
                <a:cs typeface="+mn-cs"/>
              </a:rPr>
              <a:t>Typically identified via heartbeat messages; if a node stops receiving messages within a timeout, it is declared isolated. </a:t>
            </a:r>
          </a:p>
          <a:p>
            <a:r>
              <a:rPr lang="en-US" sz="1500" dirty="0">
                <a:solidFill>
                  <a:schemeClr val="accent2"/>
                </a:solidFill>
                <a:latin typeface="Google Sans"/>
                <a:ea typeface="+mn-ea"/>
                <a:cs typeface="+mn-cs"/>
              </a:rPr>
              <a:t>Examples and Impact:</a:t>
            </a:r>
          </a:p>
          <a:p>
            <a:r>
              <a:rPr lang="en-US" sz="1500" dirty="0">
                <a:solidFill>
                  <a:schemeClr val="accent2"/>
                </a:solidFill>
                <a:latin typeface="Google Sans"/>
                <a:ea typeface="+mn-ea"/>
                <a:cs typeface="+mn-cs"/>
              </a:rPr>
              <a:t>Split-Brain:</a:t>
            </a:r>
            <a:r>
              <a:rPr lang="en-US" sz="1500" dirty="0">
                <a:solidFill>
                  <a:schemeClr val="accent6"/>
                </a:solidFill>
                <a:latin typeface="Google Sans"/>
                <a:ea typeface="+mn-ea"/>
                <a:cs typeface="+mn-cs"/>
              </a:rPr>
              <a:t> Two separate parts of a database cluster both accept writes for the same data, leading to conflicting records.</a:t>
            </a:r>
          </a:p>
          <a:p>
            <a:r>
              <a:rPr lang="en-US" sz="1500" dirty="0">
                <a:solidFill>
                  <a:schemeClr val="accent2"/>
                </a:solidFill>
                <a:latin typeface="Google Sans"/>
                <a:ea typeface="+mn-ea"/>
                <a:cs typeface="+mn-cs"/>
              </a:rPr>
              <a:t>System Impact: </a:t>
            </a:r>
            <a:r>
              <a:rPr lang="en-US" sz="1500" dirty="0">
                <a:solidFill>
                  <a:schemeClr val="accent6"/>
                </a:solidFill>
                <a:latin typeface="Google Sans"/>
                <a:ea typeface="+mn-ea"/>
                <a:cs typeface="+mn-cs"/>
              </a:rPr>
              <a:t>Services might become unavailable, or data may become outdated on one side of the partition. </a:t>
            </a:r>
          </a:p>
          <a:p>
            <a:r>
              <a:rPr lang="en-US" sz="1500" dirty="0">
                <a:solidFill>
                  <a:schemeClr val="accent2"/>
                </a:solidFill>
                <a:latin typeface="Google Sans"/>
                <a:ea typeface="+mn-ea"/>
                <a:cs typeface="+mn-cs"/>
              </a:rPr>
              <a:t>Management Strategies:</a:t>
            </a:r>
          </a:p>
          <a:p>
            <a:r>
              <a:rPr lang="en-US" sz="1500" dirty="0">
                <a:solidFill>
                  <a:schemeClr val="accent2"/>
                </a:solidFill>
                <a:latin typeface="Google Sans"/>
                <a:ea typeface="+mn-ea"/>
                <a:cs typeface="+mn-cs"/>
              </a:rPr>
              <a:t>Quorum-based approaches:</a:t>
            </a:r>
            <a:r>
              <a:rPr lang="en-US" sz="1500" dirty="0">
                <a:solidFill>
                  <a:schemeClr val="accent6"/>
                </a:solidFill>
                <a:latin typeface="Google Sans"/>
                <a:ea typeface="+mn-ea"/>
                <a:cs typeface="+mn-cs"/>
              </a:rPr>
              <a:t> Ensuring only a majority partition can perform writes.</a:t>
            </a:r>
          </a:p>
          <a:p>
            <a:r>
              <a:rPr lang="en-US" sz="1500" dirty="0">
                <a:solidFill>
                  <a:schemeClr val="accent2"/>
                </a:solidFill>
                <a:latin typeface="Google Sans"/>
                <a:ea typeface="+mn-ea"/>
                <a:cs typeface="+mn-cs"/>
              </a:rPr>
              <a:t>Reconciliation:</a:t>
            </a:r>
            <a:r>
              <a:rPr lang="en-US" sz="1500" dirty="0">
                <a:solidFill>
                  <a:schemeClr val="accent6"/>
                </a:solidFill>
                <a:latin typeface="Google Sans"/>
                <a:ea typeface="+mn-ea"/>
                <a:cs typeface="+mn-cs"/>
              </a:rPr>
              <a:t> Reconciling data after connectivity is restored.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N.B. - </a:t>
            </a:r>
            <a:r>
              <a:rPr lang="en-US" sz="1500" dirty="0">
                <a:solidFill>
                  <a:schemeClr val="accent6"/>
                </a:solidFill>
                <a:latin typeface="Google Sans"/>
                <a:ea typeface="+mn-ea"/>
                <a:cs typeface="+mn-cs"/>
              </a:rPr>
              <a:t>In Distributed Systems, since we use separate nodes, so practically network partition is unavoidable.</a:t>
            </a:r>
          </a:p>
        </p:txBody>
      </p:sp>
    </p:spTree>
    <p:extLst>
      <p:ext uri="{BB962C8B-B14F-4D97-AF65-F5344CB8AC3E}">
        <p14:creationId xmlns:p14="http://schemas.microsoft.com/office/powerpoint/2010/main" val="287915885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46643" y="74416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172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1596852397"/>
              </p:ext>
            </p:extLst>
          </p:nvPr>
        </p:nvGraphicFramePr>
        <p:xfrm>
          <a:off x="0" y="1"/>
          <a:ext cx="9144000" cy="6470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10">
            <a:extLst>
              <a:ext uri="{FF2B5EF4-FFF2-40B4-BE49-F238E27FC236}">
                <a16:creationId xmlns:a16="http://schemas.microsoft.com/office/drawing/2014/main" id="{D38D18C5-C3A4-652D-0367-EF2C061907E8}"/>
              </a:ext>
            </a:extLst>
          </p:cNvPr>
          <p:cNvPicPr>
            <a:picLocks noChangeAspect="1"/>
          </p:cNvPicPr>
          <p:nvPr/>
        </p:nvPicPr>
        <p:blipFill>
          <a:blip r:embed="rId7"/>
          <a:stretch>
            <a:fillRect/>
          </a:stretch>
        </p:blipFill>
        <p:spPr>
          <a:xfrm>
            <a:off x="0" y="993673"/>
            <a:ext cx="8991600" cy="4949926"/>
          </a:xfrm>
          <a:prstGeom prst="rect">
            <a:avLst/>
          </a:prstGeom>
        </p:spPr>
      </p:pic>
    </p:spTree>
    <p:extLst>
      <p:ext uri="{BB962C8B-B14F-4D97-AF65-F5344CB8AC3E}">
        <p14:creationId xmlns:p14="http://schemas.microsoft.com/office/powerpoint/2010/main" val="423636152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6948E-EE7A-D8D6-C8FC-BE979C6F03A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3024570-0E66-2067-6846-16352E48C5A9}"/>
              </a:ext>
            </a:extLst>
          </p:cNvPr>
          <p:cNvSpPr/>
          <p:nvPr/>
        </p:nvSpPr>
        <p:spPr>
          <a:xfrm>
            <a:off x="1751722" y="72421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5B1D0C0-5002-D042-AF2E-7F95B062BA6E}"/>
              </a:ext>
            </a:extLst>
          </p:cNvPr>
          <p:cNvSpPr/>
          <p:nvPr/>
        </p:nvSpPr>
        <p:spPr>
          <a:xfrm>
            <a:off x="1751723" y="59023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F575964-43ED-C4D9-9C14-8F5494B7AD40}"/>
              </a:ext>
            </a:extLst>
          </p:cNvPr>
          <p:cNvGraphicFramePr/>
          <p:nvPr>
            <p:extLst>
              <p:ext uri="{D42A27DB-BD31-4B8C-83A1-F6EECF244321}">
                <p14:modId xmlns:p14="http://schemas.microsoft.com/office/powerpoint/2010/main" val="262408211"/>
              </p:ext>
            </p:extLst>
          </p:nvPr>
        </p:nvGraphicFramePr>
        <p:xfrm>
          <a:off x="0" y="1"/>
          <a:ext cx="9144000" cy="6470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28A71BA-0463-321A-0D59-483C6EF6BCB7}"/>
              </a:ext>
            </a:extLst>
          </p:cNvPr>
          <p:cNvSpPr txBox="1">
            <a:spLocks/>
          </p:cNvSpPr>
          <p:nvPr/>
        </p:nvSpPr>
        <p:spPr>
          <a:xfrm>
            <a:off x="25400" y="798295"/>
            <a:ext cx="8624937" cy="39241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6"/>
                </a:solidFill>
                <a:latin typeface="Google Sans"/>
                <a:ea typeface="+mn-ea"/>
                <a:cs typeface="+mn-cs"/>
              </a:rPr>
              <a:t>CAP theorem states distributed systems must choose between Consistency (C) and Availability (A) during a network Partition (P), while PACELC extends this to show that even without partitions (E), systems must trade off Latency (L) for Consistency (C). Systems are generally either CP (Strong consistency) or AP (Eventual consistency) since Network Partition is unavoidable in Distributed Systems. </a:t>
            </a:r>
          </a:p>
          <a:p>
            <a:r>
              <a:rPr lang="en-US" sz="1500" dirty="0">
                <a:solidFill>
                  <a:schemeClr val="accent2"/>
                </a:solidFill>
                <a:latin typeface="Google Sans"/>
                <a:ea typeface="+mn-ea"/>
                <a:cs typeface="+mn-cs"/>
              </a:rPr>
              <a:t>CAP &amp; PACELC Explained</a:t>
            </a:r>
          </a:p>
          <a:p>
            <a:r>
              <a:rPr lang="en-US" sz="1500" dirty="0">
                <a:solidFill>
                  <a:schemeClr val="accent2"/>
                </a:solidFill>
                <a:latin typeface="Google Sans"/>
                <a:ea typeface="+mn-ea"/>
                <a:cs typeface="+mn-cs"/>
              </a:rPr>
              <a:t>CAP Theorem (P, A, C):</a:t>
            </a:r>
            <a:r>
              <a:rPr lang="en-US" sz="1500" dirty="0">
                <a:solidFill>
                  <a:schemeClr val="accent6"/>
                </a:solidFill>
                <a:latin typeface="Google Sans"/>
                <a:ea typeface="+mn-ea"/>
                <a:cs typeface="+mn-cs"/>
              </a:rPr>
              <a:t> If a network partition occurs (P), you must choose between Consistency (all nodes see the same data) or Availability (all nodes return data).</a:t>
            </a:r>
          </a:p>
          <a:p>
            <a:r>
              <a:rPr lang="en-US" sz="1500" dirty="0">
                <a:solidFill>
                  <a:schemeClr val="accent2"/>
                </a:solidFill>
                <a:latin typeface="Google Sans"/>
                <a:ea typeface="+mn-ea"/>
                <a:cs typeface="+mn-cs"/>
              </a:rPr>
              <a:t>CP (Consistency + Partition Tolerance): </a:t>
            </a:r>
            <a:r>
              <a:rPr lang="en-US" sz="1500" dirty="0">
                <a:solidFill>
                  <a:schemeClr val="accent6"/>
                </a:solidFill>
                <a:latin typeface="Google Sans"/>
                <a:ea typeface="+mn-ea"/>
                <a:cs typeface="+mn-cs"/>
              </a:rPr>
              <a:t>Prioritizes data integrity; rejects requests if nodes cannot sync (e.g., MongoDB, Redis).</a:t>
            </a:r>
          </a:p>
          <a:p>
            <a:r>
              <a:rPr lang="en-US" sz="1500" dirty="0">
                <a:solidFill>
                  <a:schemeClr val="accent2"/>
                </a:solidFill>
                <a:latin typeface="Google Sans"/>
                <a:ea typeface="+mn-ea"/>
                <a:cs typeface="+mn-cs"/>
              </a:rPr>
              <a:t>AP (Availability + Partition Tolerance): </a:t>
            </a:r>
            <a:r>
              <a:rPr lang="en-US" sz="1500" dirty="0">
                <a:solidFill>
                  <a:schemeClr val="accent6"/>
                </a:solidFill>
                <a:latin typeface="Google Sans"/>
                <a:ea typeface="+mn-ea"/>
                <a:cs typeface="+mn-cs"/>
              </a:rPr>
              <a:t>Prioritizes uptime; returns the best available data, allowing temporary inconsistency (e.g., Cassandra, DynamoDB).</a:t>
            </a:r>
          </a:p>
          <a:p>
            <a:r>
              <a:rPr lang="en-US" sz="1500" dirty="0">
                <a:solidFill>
                  <a:schemeClr val="accent2"/>
                </a:solidFill>
                <a:latin typeface="Google Sans"/>
                <a:ea typeface="+mn-ea"/>
                <a:cs typeface="+mn-cs"/>
              </a:rPr>
              <a:t>PACELC Theorem (P-A-C-E-L-C):</a:t>
            </a:r>
            <a:r>
              <a:rPr lang="en-US" sz="1500" dirty="0">
                <a:solidFill>
                  <a:schemeClr val="accent6"/>
                </a:solidFill>
                <a:latin typeface="Google Sans"/>
                <a:ea typeface="+mn-ea"/>
                <a:cs typeface="+mn-cs"/>
              </a:rPr>
              <a:t> If P, choose A or C. Else (E), when the system is running normally, you must choose between Latency (L) and Consistency (C).</a:t>
            </a:r>
          </a:p>
          <a:p>
            <a:r>
              <a:rPr lang="en-US" sz="1500" dirty="0">
                <a:solidFill>
                  <a:schemeClr val="accent2"/>
                </a:solidFill>
                <a:latin typeface="Google Sans"/>
                <a:ea typeface="+mn-ea"/>
                <a:cs typeface="+mn-cs"/>
              </a:rPr>
              <a:t>PC/EL:</a:t>
            </a:r>
            <a:r>
              <a:rPr lang="en-US" sz="1500" dirty="0">
                <a:solidFill>
                  <a:schemeClr val="accent6"/>
                </a:solidFill>
                <a:latin typeface="Google Sans"/>
                <a:ea typeface="+mn-ea"/>
                <a:cs typeface="+mn-cs"/>
              </a:rPr>
              <a:t> During failure, prioritize consistency; else, optimize for low latency (e.g., PNUTS).</a:t>
            </a:r>
          </a:p>
          <a:p>
            <a:r>
              <a:rPr lang="en-US" sz="1500" dirty="0">
                <a:solidFill>
                  <a:schemeClr val="accent2"/>
                </a:solidFill>
                <a:latin typeface="Google Sans"/>
                <a:ea typeface="+mn-ea"/>
                <a:cs typeface="+mn-cs"/>
              </a:rPr>
              <a:t>PA/EL:</a:t>
            </a:r>
            <a:r>
              <a:rPr lang="en-US" sz="1500" dirty="0">
                <a:solidFill>
                  <a:schemeClr val="accent6"/>
                </a:solidFill>
                <a:latin typeface="Google Sans"/>
                <a:ea typeface="+mn-ea"/>
                <a:cs typeface="+mn-cs"/>
              </a:rPr>
              <a:t> During failure, prioritize availability; else, optimize for low latency (e.g., DynamoDB). </a:t>
            </a:r>
          </a:p>
          <a:p>
            <a:r>
              <a:rPr lang="en-US" sz="1500" dirty="0">
                <a:solidFill>
                  <a:schemeClr val="accent2"/>
                </a:solidFill>
                <a:latin typeface="Google Sans"/>
                <a:ea typeface="+mn-ea"/>
                <a:cs typeface="+mn-cs"/>
              </a:rPr>
              <a:t>Best Practice – </a:t>
            </a:r>
            <a:r>
              <a:rPr lang="en-US" sz="1500" dirty="0">
                <a:solidFill>
                  <a:schemeClr val="accent6"/>
                </a:solidFill>
                <a:latin typeface="Google Sans"/>
                <a:ea typeface="+mn-ea"/>
                <a:cs typeface="+mn-cs"/>
              </a:rPr>
              <a:t>For Complex Systems, make the Reads available and writes consistent in general but there can be sometimes exception(s) to this rule</a:t>
            </a:r>
          </a:p>
        </p:txBody>
      </p:sp>
      <p:pic>
        <p:nvPicPr>
          <p:cNvPr id="8" name="Picture 7">
            <a:extLst>
              <a:ext uri="{FF2B5EF4-FFF2-40B4-BE49-F238E27FC236}">
                <a16:creationId xmlns:a16="http://schemas.microsoft.com/office/drawing/2014/main" id="{3F16DFAA-188A-61CF-9D83-18B02931E2D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400" y="4800600"/>
            <a:ext cx="8966200" cy="1143000"/>
          </a:xfrm>
          <a:prstGeom prst="rect">
            <a:avLst/>
          </a:prstGeom>
        </p:spPr>
      </p:pic>
    </p:spTree>
    <p:extLst>
      <p:ext uri="{BB962C8B-B14F-4D97-AF65-F5344CB8AC3E}">
        <p14:creationId xmlns:p14="http://schemas.microsoft.com/office/powerpoint/2010/main" val="24815780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292A7-04AD-B67A-70DE-D8470BC2B2D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F62EDF8-54B9-F420-F70F-36CB17EC29E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07448B1-17D2-9F9C-0AA4-8975A5F3522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0884485-3D2D-6191-8D58-26EC33086E4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644FC1FA-142B-9930-2111-85AA42DD74A5}"/>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00CD7F71-C2A6-F5B4-33FA-695FDDC155C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6C3C9CB6-B568-81C7-3AEE-D8B5E520E15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Dynamic PACELC Configuration</a:t>
              </a:r>
              <a:endParaRPr lang="en-US" sz="2500" kern="1200" dirty="0">
                <a:solidFill>
                  <a:schemeClr val="bg1"/>
                </a:solidFill>
              </a:endParaRPr>
            </a:p>
          </p:txBody>
        </p:sp>
      </p:grpSp>
      <p:sp>
        <p:nvSpPr>
          <p:cNvPr id="6" name="object 2">
            <a:extLst>
              <a:ext uri="{FF2B5EF4-FFF2-40B4-BE49-F238E27FC236}">
                <a16:creationId xmlns:a16="http://schemas.microsoft.com/office/drawing/2014/main" id="{1C15F0D8-5322-69A2-FEFC-3AB1D6257168}"/>
              </a:ext>
            </a:extLst>
          </p:cNvPr>
          <p:cNvSpPr txBox="1">
            <a:spLocks/>
          </p:cNvSpPr>
          <p:nvPr/>
        </p:nvSpPr>
        <p:spPr>
          <a:xfrm>
            <a:off x="0" y="708024"/>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6"/>
                </a:solidFill>
                <a:latin typeface="Google Sans"/>
                <a:ea typeface="+mn-ea"/>
                <a:cs typeface="+mn-cs"/>
              </a:rPr>
              <a:t>The PACELC theorem extends the CAP theorem by defining trade-offs during network partitions (P) between Availability (A) and Consistency (C), and Else (E) when running normally, between Latency (L) and Consistency (C). Dynamic PACELC configuration refers to the ability of a distributed system to adapt these trade-offs at runtime based on network conditions, workload, or business requirements. </a:t>
            </a:r>
          </a:p>
        </p:txBody>
      </p:sp>
      <p:pic>
        <p:nvPicPr>
          <p:cNvPr id="7" name="Picture 6">
            <a:extLst>
              <a:ext uri="{FF2B5EF4-FFF2-40B4-BE49-F238E27FC236}">
                <a16:creationId xmlns:a16="http://schemas.microsoft.com/office/drawing/2014/main" id="{33B4DAEF-C051-70DF-C0D0-449B5BA9DB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12" y="1631354"/>
            <a:ext cx="8946688" cy="2102446"/>
          </a:xfrm>
          <a:prstGeom prst="rect">
            <a:avLst/>
          </a:prstGeom>
        </p:spPr>
      </p:pic>
      <p:pic>
        <p:nvPicPr>
          <p:cNvPr id="12" name="Picture 11">
            <a:extLst>
              <a:ext uri="{FF2B5EF4-FFF2-40B4-BE49-F238E27FC236}">
                <a16:creationId xmlns:a16="http://schemas.microsoft.com/office/drawing/2014/main" id="{5199277A-9557-9C32-E6E2-291D6DD23C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11" y="3733800"/>
            <a:ext cx="8718089" cy="2209800"/>
          </a:xfrm>
          <a:prstGeom prst="rect">
            <a:avLst/>
          </a:prstGeom>
        </p:spPr>
      </p:pic>
    </p:spTree>
    <p:extLst>
      <p:ext uri="{BB962C8B-B14F-4D97-AF65-F5344CB8AC3E}">
        <p14:creationId xmlns:p14="http://schemas.microsoft.com/office/powerpoint/2010/main" val="246109815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085FD-434B-87CD-0D55-AADA8C071DB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DD9E7A6-43A2-F8C6-D879-2BDB607E35A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09D85CD-B18E-32D1-F635-AF9EDF5304E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C6930E5-5F81-18EF-8F5B-2BF06617DAD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E4EE5AE7-FF95-D1E7-263D-BF71F36AFF36}"/>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99017CE3-2A23-5755-CD79-A8026188918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8F872D3B-FC0D-D65E-4FB5-A2C9F550F12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Dynamic PACELC Configuration</a:t>
              </a:r>
              <a:endParaRPr lang="en-US" sz="2500" kern="1200" dirty="0">
                <a:solidFill>
                  <a:schemeClr val="bg1"/>
                </a:solidFill>
              </a:endParaRPr>
            </a:p>
          </p:txBody>
        </p:sp>
      </p:grpSp>
      <p:sp>
        <p:nvSpPr>
          <p:cNvPr id="6" name="object 2">
            <a:extLst>
              <a:ext uri="{FF2B5EF4-FFF2-40B4-BE49-F238E27FC236}">
                <a16:creationId xmlns:a16="http://schemas.microsoft.com/office/drawing/2014/main" id="{261E8B1F-101D-60B9-9A19-678DE7866F72}"/>
              </a:ext>
            </a:extLst>
          </p:cNvPr>
          <p:cNvSpPr txBox="1">
            <a:spLocks/>
          </p:cNvSpPr>
          <p:nvPr/>
        </p:nvSpPr>
        <p:spPr>
          <a:xfrm>
            <a:off x="0" y="708024"/>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Breakdown of Dynamic Techniques </a:t>
            </a:r>
          </a:p>
          <a:p>
            <a:r>
              <a:rPr lang="en-US" sz="1500" dirty="0">
                <a:solidFill>
                  <a:schemeClr val="accent2"/>
                </a:solidFill>
                <a:latin typeface="Google Sans"/>
                <a:ea typeface="+mn-ea"/>
                <a:cs typeface="+mn-cs"/>
              </a:rPr>
              <a:t>Quorum Tuning (Cassandra/DynamoDB): </a:t>
            </a:r>
            <a:r>
              <a:rPr lang="en-US" sz="1500" dirty="0">
                <a:solidFill>
                  <a:schemeClr val="accent6"/>
                </a:solidFill>
                <a:latin typeface="Google Sans"/>
                <a:ea typeface="+mn-ea"/>
                <a:cs typeface="+mn-cs"/>
              </a:rPr>
              <a:t>In a PA/EL system, you can dynamically choose to require that all replicas acknowledge a write (making it (PC/EC) temporarily) to ensure strict consistency for financial transactions, then revert to (ANY) or (ONE) for high availability.</a:t>
            </a:r>
          </a:p>
          <a:p>
            <a:r>
              <a:rPr lang="en-US" sz="1500" dirty="0">
                <a:solidFill>
                  <a:schemeClr val="accent2"/>
                </a:solidFill>
                <a:latin typeface="Google Sans"/>
                <a:ea typeface="+mn-ea"/>
                <a:cs typeface="+mn-cs"/>
              </a:rPr>
              <a:t>Heartbeat-Based Switching (Cosmos DB): </a:t>
            </a:r>
            <a:r>
              <a:rPr lang="en-US" sz="1500" dirty="0">
                <a:solidFill>
                  <a:schemeClr val="accent6"/>
                </a:solidFill>
                <a:latin typeface="Google Sans"/>
                <a:ea typeface="+mn-ea"/>
                <a:cs typeface="+mn-cs"/>
              </a:rPr>
              <a:t>Systems can monitor network health. If the network is healthy, they operate in an (EL) mode (low latency). If a partition is detected, they dynamically switch to (PC) mode (aborting writes that would cause inconsistency).</a:t>
            </a:r>
          </a:p>
          <a:p>
            <a:r>
              <a:rPr lang="en-US" sz="1500" dirty="0">
                <a:solidFill>
                  <a:schemeClr val="accent2"/>
                </a:solidFill>
                <a:latin typeface="Google Sans"/>
                <a:ea typeface="+mn-ea"/>
                <a:cs typeface="+mn-cs"/>
              </a:rPr>
              <a:t>Conflict-Free Replicated Data Types (CRDTs): </a:t>
            </a:r>
            <a:r>
              <a:rPr lang="en-US" sz="1500" dirty="0">
                <a:solidFill>
                  <a:schemeClr val="accent6"/>
                </a:solidFill>
                <a:latin typeface="Google Sans"/>
                <a:ea typeface="+mn-ea"/>
                <a:cs typeface="+mn-cs"/>
              </a:rPr>
              <a:t>Used to achieve (PA/EL).The system remains highly available and accepts all writes, using CRDTs to automatically merge data in the background without needing coordination.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Summary of PACELC Configurations </a:t>
            </a:r>
          </a:p>
          <a:p>
            <a:r>
              <a:rPr lang="en-US" sz="1500" dirty="0">
                <a:solidFill>
                  <a:schemeClr val="accent2"/>
                </a:solidFill>
                <a:latin typeface="Google Sans"/>
                <a:ea typeface="+mn-ea"/>
                <a:cs typeface="+mn-cs"/>
              </a:rPr>
              <a:t>PA/EL:</a:t>
            </a:r>
            <a:r>
              <a:rPr lang="en-US" sz="1500" dirty="0">
                <a:solidFill>
                  <a:schemeClr val="accent6"/>
                </a:solidFill>
                <a:latin typeface="Google Sans"/>
                <a:ea typeface="+mn-ea"/>
                <a:cs typeface="+mn-cs"/>
              </a:rPr>
              <a:t> Availability &gt; Consistency (P) &amp; Latency &gt; Consistency (E)</a:t>
            </a:r>
          </a:p>
          <a:p>
            <a:r>
              <a:rPr lang="en-US" sz="1500" dirty="0">
                <a:solidFill>
                  <a:schemeClr val="accent2"/>
                </a:solidFill>
                <a:latin typeface="Google Sans"/>
                <a:ea typeface="+mn-ea"/>
                <a:cs typeface="+mn-cs"/>
              </a:rPr>
              <a:t>PA/EC: </a:t>
            </a:r>
            <a:r>
              <a:rPr lang="en-US" sz="1500" dirty="0">
                <a:solidFill>
                  <a:schemeClr val="accent6"/>
                </a:solidFill>
                <a:latin typeface="Google Sans"/>
                <a:ea typeface="+mn-ea"/>
                <a:cs typeface="+mn-cs"/>
              </a:rPr>
              <a:t>Availability &gt; Consistency (P) &amp; Consistency &gt; Latency (E)</a:t>
            </a:r>
          </a:p>
          <a:p>
            <a:r>
              <a:rPr lang="en-US" sz="1500" dirty="0">
                <a:solidFill>
                  <a:schemeClr val="accent2"/>
                </a:solidFill>
                <a:latin typeface="Google Sans"/>
                <a:ea typeface="+mn-ea"/>
                <a:cs typeface="+mn-cs"/>
              </a:rPr>
              <a:t>PC/EL:</a:t>
            </a:r>
            <a:r>
              <a:rPr lang="en-US" sz="1500" dirty="0">
                <a:solidFill>
                  <a:schemeClr val="accent6"/>
                </a:solidFill>
                <a:latin typeface="Google Sans"/>
                <a:ea typeface="+mn-ea"/>
                <a:cs typeface="+mn-cs"/>
              </a:rPr>
              <a:t> Consistency &gt; Availability (P) &amp; Latency &gt; Consistency (E)</a:t>
            </a:r>
          </a:p>
          <a:p>
            <a:r>
              <a:rPr lang="en-US" sz="1500" dirty="0">
                <a:solidFill>
                  <a:schemeClr val="accent2"/>
                </a:solidFill>
                <a:latin typeface="Google Sans"/>
                <a:ea typeface="+mn-ea"/>
                <a:cs typeface="+mn-cs"/>
              </a:rPr>
              <a:t>PC/EC:</a:t>
            </a:r>
            <a:r>
              <a:rPr lang="en-US" sz="1500" dirty="0">
                <a:solidFill>
                  <a:schemeClr val="accent6"/>
                </a:solidFill>
                <a:latin typeface="Google Sans"/>
                <a:ea typeface="+mn-ea"/>
                <a:cs typeface="+mn-cs"/>
              </a:rPr>
              <a:t> Consistency &gt; Availability (P) &amp; Consistency &gt; Latency (E)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Key Considerations for Implementation Detection Latency: </a:t>
            </a:r>
          </a:p>
          <a:p>
            <a:r>
              <a:rPr lang="en-US" sz="1500" dirty="0">
                <a:solidFill>
                  <a:schemeClr val="accent6"/>
                </a:solidFill>
                <a:latin typeface="Google Sans"/>
                <a:ea typeface="+mn-ea"/>
                <a:cs typeface="+mn-cs"/>
              </a:rPr>
              <a:t>How quickly the system detects a network partition (P) determines how effectively it can switch to a (PC) mode.</a:t>
            </a:r>
          </a:p>
          <a:p>
            <a:r>
              <a:rPr lang="en-US" sz="1500" dirty="0">
                <a:solidFill>
                  <a:schemeClr val="accent2"/>
                </a:solidFill>
                <a:latin typeface="Google Sans"/>
                <a:ea typeface="+mn-ea"/>
                <a:cs typeface="+mn-cs"/>
              </a:rPr>
              <a:t>State Transfer Cost: </a:t>
            </a:r>
            <a:r>
              <a:rPr lang="en-US" sz="1500" dirty="0">
                <a:solidFill>
                  <a:schemeClr val="accent6"/>
                </a:solidFill>
                <a:latin typeface="Google Sans"/>
                <a:ea typeface="+mn-ea"/>
                <a:cs typeface="+mn-cs"/>
              </a:rPr>
              <a:t>Switching between (EC) and (EL) modes may require heavy data synchronization.</a:t>
            </a:r>
          </a:p>
          <a:p>
            <a:r>
              <a:rPr lang="en-US" sz="1500" dirty="0">
                <a:solidFill>
                  <a:schemeClr val="accent2"/>
                </a:solidFill>
                <a:latin typeface="Google Sans"/>
                <a:ea typeface="+mn-ea"/>
                <a:cs typeface="+mn-cs"/>
              </a:rPr>
              <a:t>Application Logic: </a:t>
            </a:r>
            <a:r>
              <a:rPr lang="en-US" sz="1500" dirty="0">
                <a:solidFill>
                  <a:schemeClr val="accent6"/>
                </a:solidFill>
                <a:latin typeface="Google Sans"/>
                <a:ea typeface="+mn-ea"/>
                <a:cs typeface="+mn-cs"/>
              </a:rPr>
              <a:t>The application must be able to handle temporary inconsistency if the system switches to a lower consistency mode to improve latency. </a:t>
            </a:r>
          </a:p>
        </p:txBody>
      </p:sp>
    </p:spTree>
    <p:extLst>
      <p:ext uri="{BB962C8B-B14F-4D97-AF65-F5344CB8AC3E}">
        <p14:creationId xmlns:p14="http://schemas.microsoft.com/office/powerpoint/2010/main" val="20630604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5184C-B142-C003-17D7-2B1C35E4788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12520F2-C8DB-DFBF-AC2A-0D385F1AA747}"/>
              </a:ext>
            </a:extLst>
          </p:cNvPr>
          <p:cNvSpPr/>
          <p:nvPr/>
        </p:nvSpPr>
        <p:spPr>
          <a:xfrm>
            <a:off x="1751722" y="72421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D2B2FB8-A6D9-9ED5-79DD-8E4C377D943A}"/>
              </a:ext>
            </a:extLst>
          </p:cNvPr>
          <p:cNvSpPr/>
          <p:nvPr/>
        </p:nvSpPr>
        <p:spPr>
          <a:xfrm>
            <a:off x="1751723" y="59023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A48D746-5235-F1B0-8BFC-AB64FE2CF2DB}"/>
              </a:ext>
            </a:extLst>
          </p:cNvPr>
          <p:cNvGraphicFramePr/>
          <p:nvPr>
            <p:extLst>
              <p:ext uri="{D42A27DB-BD31-4B8C-83A1-F6EECF244321}">
                <p14:modId xmlns:p14="http://schemas.microsoft.com/office/powerpoint/2010/main" val="2453248910"/>
              </p:ext>
            </p:extLst>
          </p:nvPr>
        </p:nvGraphicFramePr>
        <p:xfrm>
          <a:off x="0" y="1"/>
          <a:ext cx="9144000" cy="6470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827CE190-E63D-8DB1-0694-0994F8E3B164}"/>
              </a:ext>
            </a:extLst>
          </p:cNvPr>
          <p:cNvSpPr txBox="1">
            <a:spLocks/>
          </p:cNvSpPr>
          <p:nvPr/>
        </p:nvSpPr>
        <p:spPr>
          <a:xfrm>
            <a:off x="25400" y="865287"/>
            <a:ext cx="8624937" cy="161582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6"/>
                </a:solidFill>
                <a:latin typeface="Google Sans"/>
                <a:ea typeface="+mn-ea"/>
                <a:cs typeface="+mn-cs"/>
              </a:rPr>
              <a:t>Consistency models define the guarantees a distributed system offers regarding data visibility and order across multiple nodes. Data-centric models provide system-wide guarantees across all clients, while client-centric models offer guarantees only for a single client's session, which is crucial for systems that prioritize availability and low latency with many replicas.</a:t>
            </a:r>
          </a:p>
          <a:p>
            <a:r>
              <a:rPr lang="en-US" sz="1500" dirty="0">
                <a:solidFill>
                  <a:schemeClr val="accent2"/>
                </a:solidFill>
                <a:latin typeface="Google Sans"/>
                <a:ea typeface="+mn-ea"/>
                <a:cs typeface="+mn-cs"/>
              </a:rPr>
              <a:t>Data-Centric Consistency Models</a:t>
            </a:r>
          </a:p>
          <a:p>
            <a:r>
              <a:rPr lang="en-US" sz="1500" dirty="0">
                <a:solidFill>
                  <a:schemeClr val="accent6"/>
                </a:solidFill>
                <a:latin typeface="Google Sans"/>
                <a:ea typeface="+mn-ea"/>
                <a:cs typeface="+mn-cs"/>
              </a:rPr>
              <a:t>These models focus on the internal state of the database and how updates flow between nodes. They provide guarantees about the global order of operations</a:t>
            </a:r>
          </a:p>
        </p:txBody>
      </p:sp>
      <p:pic>
        <p:nvPicPr>
          <p:cNvPr id="17" name="Picture 16">
            <a:extLst>
              <a:ext uri="{FF2B5EF4-FFF2-40B4-BE49-F238E27FC236}">
                <a16:creationId xmlns:a16="http://schemas.microsoft.com/office/drawing/2014/main" id="{751D4B54-2A5F-3924-4BD4-A5F74FF071E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400" y="2508521"/>
            <a:ext cx="9118599" cy="1615827"/>
          </a:xfrm>
          <a:prstGeom prst="rect">
            <a:avLst/>
          </a:prstGeom>
        </p:spPr>
      </p:pic>
      <p:pic>
        <p:nvPicPr>
          <p:cNvPr id="19" name="Picture 18">
            <a:extLst>
              <a:ext uri="{FF2B5EF4-FFF2-40B4-BE49-F238E27FC236}">
                <a16:creationId xmlns:a16="http://schemas.microsoft.com/office/drawing/2014/main" id="{BD3CF2FB-B4A9-E4D3-07DB-64719B14DFF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401" y="4151755"/>
            <a:ext cx="8991598" cy="1791845"/>
          </a:xfrm>
          <a:prstGeom prst="rect">
            <a:avLst/>
          </a:prstGeom>
        </p:spPr>
      </p:pic>
    </p:spTree>
    <p:extLst>
      <p:ext uri="{BB962C8B-B14F-4D97-AF65-F5344CB8AC3E}">
        <p14:creationId xmlns:p14="http://schemas.microsoft.com/office/powerpoint/2010/main" val="186431973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AB923D-FB3B-E084-3849-C27D125B05D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118EA8C-9C91-EFFD-9927-6E70422FE74F}"/>
              </a:ext>
            </a:extLst>
          </p:cNvPr>
          <p:cNvSpPr/>
          <p:nvPr/>
        </p:nvSpPr>
        <p:spPr>
          <a:xfrm>
            <a:off x="1751722" y="72421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6267F44-2C79-0B69-5805-99983A684797}"/>
              </a:ext>
            </a:extLst>
          </p:cNvPr>
          <p:cNvSpPr/>
          <p:nvPr/>
        </p:nvSpPr>
        <p:spPr>
          <a:xfrm>
            <a:off x="1751723" y="59023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875B90C-F55C-ED26-84C9-0AD1CC18D480}"/>
              </a:ext>
            </a:extLst>
          </p:cNvPr>
          <p:cNvGraphicFramePr/>
          <p:nvPr>
            <p:extLst>
              <p:ext uri="{D42A27DB-BD31-4B8C-83A1-F6EECF244321}">
                <p14:modId xmlns:p14="http://schemas.microsoft.com/office/powerpoint/2010/main" val="2319417244"/>
              </p:ext>
            </p:extLst>
          </p:nvPr>
        </p:nvGraphicFramePr>
        <p:xfrm>
          <a:off x="0" y="1"/>
          <a:ext cx="9144000" cy="6470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CF3C73EE-3B5F-A4F6-F1F7-17033DC29B78}"/>
              </a:ext>
            </a:extLst>
          </p:cNvPr>
          <p:cNvSpPr txBox="1">
            <a:spLocks/>
          </p:cNvSpPr>
          <p:nvPr/>
        </p:nvSpPr>
        <p:spPr>
          <a:xfrm>
            <a:off x="25400" y="865287"/>
            <a:ext cx="8624937" cy="6924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Client-Centric Consistency Models</a:t>
            </a:r>
          </a:p>
          <a:p>
            <a:r>
              <a:rPr lang="en-US" sz="1500" dirty="0">
                <a:solidFill>
                  <a:schemeClr val="accent6"/>
                </a:solidFill>
                <a:latin typeface="Google Sans"/>
                <a:ea typeface="+mn-ea"/>
                <a:cs typeface="+mn-cs"/>
              </a:rPr>
              <a:t>These focus on the perceived consistency from the perspective of a single client/session, even if the underlying data-centric model is weak (like Eventual Consistency)</a:t>
            </a:r>
          </a:p>
        </p:txBody>
      </p:sp>
      <p:pic>
        <p:nvPicPr>
          <p:cNvPr id="7" name="Picture 6">
            <a:extLst>
              <a:ext uri="{FF2B5EF4-FFF2-40B4-BE49-F238E27FC236}">
                <a16:creationId xmlns:a16="http://schemas.microsoft.com/office/drawing/2014/main" id="{B7EE995C-66A7-EE4F-6E48-7EC81B94463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400" y="1555591"/>
            <a:ext cx="8966199" cy="3435825"/>
          </a:xfrm>
          <a:prstGeom prst="rect">
            <a:avLst/>
          </a:prstGeom>
        </p:spPr>
      </p:pic>
      <p:pic>
        <p:nvPicPr>
          <p:cNvPr id="9" name="Picture 8">
            <a:extLst>
              <a:ext uri="{FF2B5EF4-FFF2-40B4-BE49-F238E27FC236}">
                <a16:creationId xmlns:a16="http://schemas.microsoft.com/office/drawing/2014/main" id="{E47B901A-96D8-2DC8-C56E-BDB35DA96D5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199" y="4800601"/>
            <a:ext cx="8966199" cy="1143000"/>
          </a:xfrm>
          <a:prstGeom prst="rect">
            <a:avLst/>
          </a:prstGeom>
        </p:spPr>
      </p:pic>
    </p:spTree>
    <p:extLst>
      <p:ext uri="{BB962C8B-B14F-4D97-AF65-F5344CB8AC3E}">
        <p14:creationId xmlns:p14="http://schemas.microsoft.com/office/powerpoint/2010/main" val="37689798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A99FA-E83F-79E7-9128-5FF07827A4D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CC78622-3276-FD69-6347-B669E9163C4A}"/>
              </a:ext>
            </a:extLst>
          </p:cNvPr>
          <p:cNvSpPr/>
          <p:nvPr/>
        </p:nvSpPr>
        <p:spPr>
          <a:xfrm>
            <a:off x="1751722" y="72421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3324072-8067-8EBE-4B36-895335A08E56}"/>
              </a:ext>
            </a:extLst>
          </p:cNvPr>
          <p:cNvSpPr/>
          <p:nvPr/>
        </p:nvSpPr>
        <p:spPr>
          <a:xfrm>
            <a:off x="1751723" y="59023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760F65B-08FE-F71E-D085-C7AAFA0BC990}"/>
              </a:ext>
            </a:extLst>
          </p:cNvPr>
          <p:cNvGraphicFramePr/>
          <p:nvPr>
            <p:extLst>
              <p:ext uri="{D42A27DB-BD31-4B8C-83A1-F6EECF244321}">
                <p14:modId xmlns:p14="http://schemas.microsoft.com/office/powerpoint/2010/main" val="2071252999"/>
              </p:ext>
            </p:extLst>
          </p:nvPr>
        </p:nvGraphicFramePr>
        <p:xfrm>
          <a:off x="0" y="1"/>
          <a:ext cx="9144000" cy="6470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4DF325F5-0405-13B6-14B3-C4C6FB58E69A}"/>
              </a:ext>
            </a:extLst>
          </p:cNvPr>
          <p:cNvSpPr txBox="1">
            <a:spLocks/>
          </p:cNvSpPr>
          <p:nvPr/>
        </p:nvSpPr>
        <p:spPr>
          <a:xfrm>
            <a:off x="25400" y="865287"/>
            <a:ext cx="8624937" cy="377026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How to Choose a Consistency Model</a:t>
            </a:r>
          </a:p>
          <a:p>
            <a:r>
              <a:rPr lang="en-US" sz="1500" dirty="0">
                <a:solidFill>
                  <a:schemeClr val="accent2"/>
                </a:solidFill>
                <a:latin typeface="Google Sans"/>
              </a:rPr>
              <a:t>Choose Strong/Strict Consistency (CP) if: </a:t>
            </a:r>
            <a:r>
              <a:rPr lang="en-US" sz="1500" dirty="0">
                <a:solidFill>
                  <a:schemeClr val="accent6"/>
                </a:solidFill>
                <a:latin typeface="Google Sans"/>
              </a:rPr>
              <a:t>Data accuracy is paramount, such as financial transactions (banking, stock trading) or the cost of an "out of order" operation is high (e.g., double-spending money) or you are managing distributed locks or leader election or your users are sensitive to "stale" data and are willing to wait an extra 50–100ms for a response </a:t>
            </a:r>
            <a:r>
              <a:rPr lang="en-US" sz="1500" dirty="0" err="1">
                <a:solidFill>
                  <a:schemeClr val="accent6"/>
                </a:solidFill>
                <a:latin typeface="Google Sans"/>
              </a:rPr>
              <a:t>etc</a:t>
            </a:r>
            <a:endParaRPr lang="en-US" sz="1500" dirty="0">
              <a:solidFill>
                <a:schemeClr val="accent6"/>
              </a:solidFill>
              <a:latin typeface="Google Sans"/>
            </a:endParaRPr>
          </a:p>
          <a:p>
            <a:r>
              <a:rPr lang="en-US" sz="1500" dirty="0">
                <a:solidFill>
                  <a:schemeClr val="accent2"/>
                </a:solidFill>
                <a:latin typeface="Google Sans"/>
              </a:rPr>
              <a:t>Choose Eventual/Weak Consistency (AP) if:</a:t>
            </a:r>
            <a:r>
              <a:rPr lang="en-US" sz="1500" dirty="0">
                <a:solidFill>
                  <a:schemeClr val="accent6"/>
                </a:solidFill>
                <a:latin typeface="Google Sans"/>
              </a:rPr>
              <a:t> Availability and performance are prioritized over immediate accuracy, such as social media feeds, likes, or analytics or high availability is non-negotiable (e.g., an e-commerce checkout button) or low latency is a competitive advantage (e.g., a fast-scrolling social feed) or </a:t>
            </a:r>
          </a:p>
          <a:p>
            <a:r>
              <a:rPr lang="en-US" sz="1500" dirty="0">
                <a:solidFill>
                  <a:schemeClr val="accent6"/>
                </a:solidFill>
                <a:latin typeface="Google Sans"/>
              </a:rPr>
              <a:t>you can resolve conflicts later (e.g., using CRDTs or "Last Write Wins") etc. </a:t>
            </a:r>
          </a:p>
          <a:p>
            <a:r>
              <a:rPr lang="en-US" sz="1500" dirty="0">
                <a:solidFill>
                  <a:schemeClr val="accent2"/>
                </a:solidFill>
                <a:latin typeface="Google Sans"/>
              </a:rPr>
              <a:t>Choose Tunable Consistency (PACELC) if:</a:t>
            </a:r>
            <a:r>
              <a:rPr lang="en-US" sz="1500" dirty="0">
                <a:solidFill>
                  <a:schemeClr val="accent6"/>
                </a:solidFill>
                <a:latin typeface="Google Sans"/>
              </a:rPr>
              <a:t> You need a flexible system that can be tuned based on the specific query or operation (e.g., Cassandra or Cosmos DB allows tuning on a per-query basis)</a:t>
            </a:r>
          </a:p>
          <a:p>
            <a:r>
              <a:rPr lang="en-US" sz="1500" dirty="0">
                <a:solidFill>
                  <a:schemeClr val="accent2"/>
                </a:solidFill>
                <a:latin typeface="Google Sans"/>
              </a:rPr>
              <a:t>Choose Causal/Session Consistency if: </a:t>
            </a:r>
            <a:r>
              <a:rPr lang="en-US" sz="1500" dirty="0">
                <a:solidFill>
                  <a:schemeClr val="accent6"/>
                </a:solidFill>
                <a:latin typeface="Google Sans"/>
              </a:rPr>
              <a:t>You need a balance between performance and user experience (e.g., content management systems). </a:t>
            </a:r>
          </a:p>
          <a:p>
            <a:r>
              <a:rPr lang="en-US" sz="1500" dirty="0">
                <a:solidFill>
                  <a:schemeClr val="accent2"/>
                </a:solidFill>
                <a:latin typeface="Google Sans"/>
              </a:rPr>
              <a:t>Key Insight:</a:t>
            </a:r>
            <a:r>
              <a:rPr lang="en-US" sz="1500" dirty="0">
                <a:solidFill>
                  <a:schemeClr val="accent6"/>
                </a:solidFill>
                <a:latin typeface="Google Sans"/>
              </a:rPr>
              <a:t> You can often "fake" a high-consistency experience on an eventual-consistency backend by using Read Your Writes. By pinning a user's session to a specific node or using local caching, the user feels the system is "Strong," even if the rest of the world sees "Eventual."</a:t>
            </a:r>
          </a:p>
        </p:txBody>
      </p:sp>
      <p:pic>
        <p:nvPicPr>
          <p:cNvPr id="8" name="Picture 7">
            <a:extLst>
              <a:ext uri="{FF2B5EF4-FFF2-40B4-BE49-F238E27FC236}">
                <a16:creationId xmlns:a16="http://schemas.microsoft.com/office/drawing/2014/main" id="{CCF5819D-21CB-7E42-9A46-9D4455E4EBE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400" y="4635550"/>
            <a:ext cx="9093200" cy="1308050"/>
          </a:xfrm>
          <a:prstGeom prst="rect">
            <a:avLst/>
          </a:prstGeom>
        </p:spPr>
      </p:pic>
    </p:spTree>
    <p:extLst>
      <p:ext uri="{BB962C8B-B14F-4D97-AF65-F5344CB8AC3E}">
        <p14:creationId xmlns:p14="http://schemas.microsoft.com/office/powerpoint/2010/main" val="3941584465"/>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5F1D1-53F1-0591-5F42-B4F499D414D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002C77B-A17A-E12F-6EA6-0BDFBE6FACA5}"/>
              </a:ext>
            </a:extLst>
          </p:cNvPr>
          <p:cNvSpPr/>
          <p:nvPr/>
        </p:nvSpPr>
        <p:spPr>
          <a:xfrm>
            <a:off x="1751722" y="72421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37650C9-EA0E-A809-26C8-B9A7A77EE045}"/>
              </a:ext>
            </a:extLst>
          </p:cNvPr>
          <p:cNvSpPr/>
          <p:nvPr/>
        </p:nvSpPr>
        <p:spPr>
          <a:xfrm>
            <a:off x="1751723" y="59023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88983C4-1107-6E82-DD5B-D8E36AD6483F}"/>
              </a:ext>
            </a:extLst>
          </p:cNvPr>
          <p:cNvGraphicFramePr/>
          <p:nvPr>
            <p:extLst>
              <p:ext uri="{D42A27DB-BD31-4B8C-83A1-F6EECF244321}">
                <p14:modId xmlns:p14="http://schemas.microsoft.com/office/powerpoint/2010/main" val="929546547"/>
              </p:ext>
            </p:extLst>
          </p:nvPr>
        </p:nvGraphicFramePr>
        <p:xfrm>
          <a:off x="0" y="1"/>
          <a:ext cx="9144000" cy="6470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2A190C42-03BD-1ACD-9793-2A6C62A43E52}"/>
              </a:ext>
            </a:extLst>
          </p:cNvPr>
          <p:cNvSpPr txBox="1">
            <a:spLocks/>
          </p:cNvSpPr>
          <p:nvPr/>
        </p:nvSpPr>
        <p:spPr>
          <a:xfrm>
            <a:off x="0" y="842640"/>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Implementation Techniques</a:t>
            </a:r>
          </a:p>
          <a:p>
            <a:r>
              <a:rPr lang="en-US" sz="2000" dirty="0">
                <a:solidFill>
                  <a:schemeClr val="accent2"/>
                </a:solidFill>
                <a:latin typeface="Google Sans"/>
              </a:rPr>
              <a:t>Data Centric Models</a:t>
            </a:r>
          </a:p>
        </p:txBody>
      </p:sp>
      <p:pic>
        <p:nvPicPr>
          <p:cNvPr id="7" name="Picture 6">
            <a:extLst>
              <a:ext uri="{FF2B5EF4-FFF2-40B4-BE49-F238E27FC236}">
                <a16:creationId xmlns:a16="http://schemas.microsoft.com/office/drawing/2014/main" id="{74255732-AB6E-7834-16DA-188CDF3E6DB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458193"/>
            <a:ext cx="9144000" cy="2358048"/>
          </a:xfrm>
          <a:prstGeom prst="rect">
            <a:avLst/>
          </a:prstGeom>
        </p:spPr>
      </p:pic>
      <p:pic>
        <p:nvPicPr>
          <p:cNvPr id="10" name="Picture 9">
            <a:extLst>
              <a:ext uri="{FF2B5EF4-FFF2-40B4-BE49-F238E27FC236}">
                <a16:creationId xmlns:a16="http://schemas.microsoft.com/office/drawing/2014/main" id="{AE0BCF69-EC5D-C1D3-7EEE-B98D101C948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3816241"/>
            <a:ext cx="9144000" cy="2127359"/>
          </a:xfrm>
          <a:prstGeom prst="rect">
            <a:avLst/>
          </a:prstGeom>
        </p:spPr>
      </p:pic>
    </p:spTree>
    <p:extLst>
      <p:ext uri="{BB962C8B-B14F-4D97-AF65-F5344CB8AC3E}">
        <p14:creationId xmlns:p14="http://schemas.microsoft.com/office/powerpoint/2010/main" val="405073449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B46A7-E482-92CA-9637-D0AC9ED4985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6CDD6DA-EFE0-8240-CBAD-EFECC439A1FE}"/>
              </a:ext>
            </a:extLst>
          </p:cNvPr>
          <p:cNvSpPr/>
          <p:nvPr/>
        </p:nvSpPr>
        <p:spPr>
          <a:xfrm>
            <a:off x="1751722" y="72421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F10DC89-2A5A-BC77-874B-85D499D0640A}"/>
              </a:ext>
            </a:extLst>
          </p:cNvPr>
          <p:cNvSpPr/>
          <p:nvPr/>
        </p:nvSpPr>
        <p:spPr>
          <a:xfrm>
            <a:off x="1751723" y="59023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CE6DAF1-1A0A-5A6B-F67B-6DB6F6E3AE70}"/>
              </a:ext>
            </a:extLst>
          </p:cNvPr>
          <p:cNvGraphicFramePr/>
          <p:nvPr>
            <p:extLst>
              <p:ext uri="{D42A27DB-BD31-4B8C-83A1-F6EECF244321}">
                <p14:modId xmlns:p14="http://schemas.microsoft.com/office/powerpoint/2010/main" val="1145106132"/>
              </p:ext>
            </p:extLst>
          </p:nvPr>
        </p:nvGraphicFramePr>
        <p:xfrm>
          <a:off x="0" y="1"/>
          <a:ext cx="9144000" cy="6470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object 2">
            <a:extLst>
              <a:ext uri="{FF2B5EF4-FFF2-40B4-BE49-F238E27FC236}">
                <a16:creationId xmlns:a16="http://schemas.microsoft.com/office/drawing/2014/main" id="{D39928F3-CD4D-9435-0B86-09A70B55CFE0}"/>
              </a:ext>
            </a:extLst>
          </p:cNvPr>
          <p:cNvSpPr txBox="1">
            <a:spLocks/>
          </p:cNvSpPr>
          <p:nvPr/>
        </p:nvSpPr>
        <p:spPr>
          <a:xfrm>
            <a:off x="0" y="842640"/>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Implementation Techniques</a:t>
            </a:r>
          </a:p>
          <a:p>
            <a:r>
              <a:rPr lang="en-US" sz="2000" dirty="0">
                <a:solidFill>
                  <a:schemeClr val="accent2"/>
                </a:solidFill>
                <a:latin typeface="Google Sans"/>
              </a:rPr>
              <a:t>Client Centric Models</a:t>
            </a:r>
          </a:p>
        </p:txBody>
      </p:sp>
      <p:pic>
        <p:nvPicPr>
          <p:cNvPr id="8" name="Picture 7">
            <a:extLst>
              <a:ext uri="{FF2B5EF4-FFF2-40B4-BE49-F238E27FC236}">
                <a16:creationId xmlns:a16="http://schemas.microsoft.com/office/drawing/2014/main" id="{6A05117C-1326-9241-5774-8F57F8B69B8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442953"/>
            <a:ext cx="8991600" cy="1617293"/>
          </a:xfrm>
          <a:prstGeom prst="rect">
            <a:avLst/>
          </a:prstGeom>
        </p:spPr>
      </p:pic>
      <p:pic>
        <p:nvPicPr>
          <p:cNvPr id="11" name="Picture 10">
            <a:extLst>
              <a:ext uri="{FF2B5EF4-FFF2-40B4-BE49-F238E27FC236}">
                <a16:creationId xmlns:a16="http://schemas.microsoft.com/office/drawing/2014/main" id="{680621CA-F29E-EFFD-63A2-92FA1DEDEB6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200" y="3060247"/>
            <a:ext cx="8610600" cy="1740353"/>
          </a:xfrm>
          <a:prstGeom prst="rect">
            <a:avLst/>
          </a:prstGeom>
        </p:spPr>
      </p:pic>
      <p:sp>
        <p:nvSpPr>
          <p:cNvPr id="12" name="object 2">
            <a:extLst>
              <a:ext uri="{FF2B5EF4-FFF2-40B4-BE49-F238E27FC236}">
                <a16:creationId xmlns:a16="http://schemas.microsoft.com/office/drawing/2014/main" id="{680D373B-6976-1C7F-9F9C-0F5792F28C8F}"/>
              </a:ext>
            </a:extLst>
          </p:cNvPr>
          <p:cNvSpPr txBox="1">
            <a:spLocks/>
          </p:cNvSpPr>
          <p:nvPr/>
        </p:nvSpPr>
        <p:spPr>
          <a:xfrm>
            <a:off x="0" y="4737815"/>
            <a:ext cx="8624937" cy="123110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Comparison Summary</a:t>
            </a:r>
          </a:p>
          <a:p>
            <a:r>
              <a:rPr lang="en-US" sz="1500" dirty="0">
                <a:solidFill>
                  <a:schemeClr val="accent2"/>
                </a:solidFill>
                <a:latin typeface="Google Sans"/>
              </a:rPr>
              <a:t>Data-centric models </a:t>
            </a:r>
            <a:r>
              <a:rPr lang="en-US" sz="1500" dirty="0">
                <a:solidFill>
                  <a:schemeClr val="accent6"/>
                </a:solidFill>
                <a:latin typeface="Google Sans"/>
              </a:rPr>
              <a:t>are generally harder to implement and scale because they require global coordination (e.g., Paxos or Raft).</a:t>
            </a:r>
          </a:p>
          <a:p>
            <a:r>
              <a:rPr lang="en-US" sz="1500" dirty="0">
                <a:solidFill>
                  <a:schemeClr val="accent2"/>
                </a:solidFill>
                <a:latin typeface="Google Sans"/>
              </a:rPr>
              <a:t>Client-centric models</a:t>
            </a:r>
            <a:r>
              <a:rPr lang="en-US" sz="1500" dirty="0">
                <a:solidFill>
                  <a:schemeClr val="accent6"/>
                </a:solidFill>
                <a:latin typeface="Google Sans"/>
              </a:rPr>
              <a:t> are often implemented using Sessions to manage read/write sets, reducing overhead by only enforcing consistency for a single user's history.</a:t>
            </a:r>
          </a:p>
        </p:txBody>
      </p:sp>
    </p:spTree>
    <p:extLst>
      <p:ext uri="{BB962C8B-B14F-4D97-AF65-F5344CB8AC3E}">
        <p14:creationId xmlns:p14="http://schemas.microsoft.com/office/powerpoint/2010/main" val="215529357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940937-AE62-4F92-58FB-D5A5B713A98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92E5B19-BAF1-5A3C-DE38-67D386F0DF3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137BC38-DC4B-7220-EC0D-BA211004BA6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FFA438A0-91D1-DABC-3D41-E1E169A8668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CAC9ED90-C2BA-4BF4-5903-86EFE5C0F621}"/>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751C5ECE-D153-18E5-C7F2-E07AD545099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D53DB5C9-5164-73F4-1289-40FB6DA4E27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sp>
        <p:nvSpPr>
          <p:cNvPr id="6" name="object 2">
            <a:extLst>
              <a:ext uri="{FF2B5EF4-FFF2-40B4-BE49-F238E27FC236}">
                <a16:creationId xmlns:a16="http://schemas.microsoft.com/office/drawing/2014/main" id="{B58DBB97-BC69-2F5A-538A-63B01F02E055}"/>
              </a:ext>
            </a:extLst>
          </p:cNvPr>
          <p:cNvSpPr txBox="1">
            <a:spLocks/>
          </p:cNvSpPr>
          <p:nvPr/>
        </p:nvSpPr>
        <p:spPr>
          <a:xfrm>
            <a:off x="0" y="708024"/>
            <a:ext cx="8624937" cy="39241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6"/>
                </a:solidFill>
                <a:latin typeface="Google Sans"/>
                <a:ea typeface="+mn-ea"/>
                <a:cs typeface="+mn-cs"/>
              </a:rPr>
              <a:t>Replication in distributed systems is the process of storing copies of the same data across multiple, independent nodes (computers or servers). It is essential for enhancing system availability (ensuring access even during node failures), increasing performance (reducing latency and boosting read throughput), and providing fault tolerance.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Why We Need Replication:</a:t>
            </a:r>
          </a:p>
          <a:p>
            <a:r>
              <a:rPr lang="en-US" sz="1500" dirty="0">
                <a:solidFill>
                  <a:schemeClr val="accent2"/>
                </a:solidFill>
                <a:latin typeface="Google Sans"/>
                <a:ea typeface="+mn-ea"/>
                <a:cs typeface="+mn-cs"/>
              </a:rPr>
              <a:t>High Availability:</a:t>
            </a:r>
            <a:r>
              <a:rPr lang="en-US" sz="1500" dirty="0">
                <a:solidFill>
                  <a:schemeClr val="accent6"/>
                </a:solidFill>
                <a:latin typeface="Google Sans"/>
                <a:ea typeface="+mn-ea"/>
                <a:cs typeface="+mn-cs"/>
              </a:rPr>
              <a:t> If one server crashes, the system remains operational by directing traffic to another replica, avoiding downtime.</a:t>
            </a:r>
          </a:p>
          <a:p>
            <a:r>
              <a:rPr lang="en-US" sz="1500" dirty="0">
                <a:solidFill>
                  <a:schemeClr val="accent2"/>
                </a:solidFill>
                <a:latin typeface="Google Sans"/>
                <a:ea typeface="+mn-ea"/>
                <a:cs typeface="+mn-cs"/>
              </a:rPr>
              <a:t>Low Latency: </a:t>
            </a:r>
            <a:r>
              <a:rPr lang="en-US" sz="1500" dirty="0">
                <a:solidFill>
                  <a:schemeClr val="accent6"/>
                </a:solidFill>
                <a:latin typeface="Google Sans"/>
                <a:ea typeface="+mn-ea"/>
                <a:cs typeface="+mn-cs"/>
              </a:rPr>
              <a:t>Data can be placed geographically closer to users, reducing the time required to retrieve information.</a:t>
            </a:r>
          </a:p>
          <a:p>
            <a:r>
              <a:rPr lang="en-US" sz="1500" dirty="0">
                <a:solidFill>
                  <a:schemeClr val="accent2"/>
                </a:solidFill>
                <a:latin typeface="Google Sans"/>
                <a:ea typeface="+mn-ea"/>
                <a:cs typeface="+mn-cs"/>
              </a:rPr>
              <a:t>Improved Scalability &amp; Read Performance: </a:t>
            </a:r>
            <a:r>
              <a:rPr lang="en-US" sz="1500" dirty="0">
                <a:solidFill>
                  <a:schemeClr val="accent6"/>
                </a:solidFill>
                <a:latin typeface="Google Sans"/>
                <a:ea typeface="+mn-ea"/>
                <a:cs typeface="+mn-cs"/>
              </a:rPr>
              <a:t>Heavy read loads can be distributed across multiple replicas, increasing overall read throughput.</a:t>
            </a:r>
          </a:p>
          <a:p>
            <a:r>
              <a:rPr lang="en-US" sz="1500" dirty="0">
                <a:solidFill>
                  <a:schemeClr val="accent2"/>
                </a:solidFill>
                <a:latin typeface="Google Sans"/>
                <a:ea typeface="+mn-ea"/>
                <a:cs typeface="+mn-cs"/>
              </a:rPr>
              <a:t>Durability: </a:t>
            </a:r>
            <a:r>
              <a:rPr lang="en-US" sz="1500" dirty="0">
                <a:solidFill>
                  <a:schemeClr val="accent6"/>
                </a:solidFill>
                <a:latin typeface="Google Sans"/>
                <a:ea typeface="+mn-ea"/>
                <a:cs typeface="+mn-cs"/>
              </a:rPr>
              <a:t>Maintaining multiple copies prevents data loss, as data is not relying on a single, faulty hardware node.</a:t>
            </a:r>
          </a:p>
          <a:p>
            <a:r>
              <a:rPr lang="en-US" sz="1500" dirty="0">
                <a:solidFill>
                  <a:schemeClr val="accent2"/>
                </a:solidFill>
                <a:latin typeface="Google Sans"/>
                <a:ea typeface="+mn-ea"/>
                <a:cs typeface="+mn-cs"/>
              </a:rPr>
              <a:t>Disaster Recovery: </a:t>
            </a:r>
            <a:r>
              <a:rPr lang="en-US" sz="1500" dirty="0">
                <a:solidFill>
                  <a:schemeClr val="accent6"/>
                </a:solidFill>
                <a:latin typeface="Google Sans"/>
                <a:ea typeface="+mn-ea"/>
                <a:cs typeface="+mn-cs"/>
              </a:rPr>
              <a:t>Keeping replicas in different, physically separated locations protects against complete data center failures. </a:t>
            </a:r>
          </a:p>
          <a:p>
            <a:r>
              <a:rPr lang="en-US" sz="1500" dirty="0">
                <a:solidFill>
                  <a:schemeClr val="accent6"/>
                </a:solidFill>
                <a:latin typeface="Google Sans"/>
                <a:ea typeface="+mn-ea"/>
                <a:cs typeface="+mn-cs"/>
              </a:rPr>
              <a:t>Common replication strategies include single-leader, multi-leader, and leaderless (peer-to-peer) replication. </a:t>
            </a:r>
          </a:p>
        </p:txBody>
      </p:sp>
    </p:spTree>
    <p:extLst>
      <p:ext uri="{BB962C8B-B14F-4D97-AF65-F5344CB8AC3E}">
        <p14:creationId xmlns:p14="http://schemas.microsoft.com/office/powerpoint/2010/main" val="98725601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pic>
        <p:nvPicPr>
          <p:cNvPr id="17" name="Picture 16">
            <a:extLst>
              <a:ext uri="{FF2B5EF4-FFF2-40B4-BE49-F238E27FC236}">
                <a16:creationId xmlns:a16="http://schemas.microsoft.com/office/drawing/2014/main" id="{529E88E4-741C-576C-E09B-AFD84056C824}"/>
              </a:ext>
            </a:extLst>
          </p:cNvPr>
          <p:cNvPicPr>
            <a:picLocks noChangeAspect="1"/>
          </p:cNvPicPr>
          <p:nvPr/>
        </p:nvPicPr>
        <p:blipFill>
          <a:blip r:embed="rId2"/>
          <a:stretch>
            <a:fillRect/>
          </a:stretch>
        </p:blipFill>
        <p:spPr>
          <a:xfrm>
            <a:off x="20320" y="800736"/>
            <a:ext cx="9099089" cy="4914264"/>
          </a:xfrm>
          <a:prstGeom prst="rect">
            <a:avLst/>
          </a:prstGeom>
        </p:spPr>
      </p:pic>
      <p:grpSp>
        <p:nvGrpSpPr>
          <p:cNvPr id="7" name="Group 6">
            <a:extLst>
              <a:ext uri="{FF2B5EF4-FFF2-40B4-BE49-F238E27FC236}">
                <a16:creationId xmlns:a16="http://schemas.microsoft.com/office/drawing/2014/main" id="{51A15625-84B6-E018-4F07-C6BA06E5F32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6665CEE-5CB5-4E10-071D-1109BAC36324}"/>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A35F2F7-DD62-E260-23EF-37C527B00D1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Replication(As Scaling Strategy)</a:t>
              </a:r>
              <a:endParaRPr lang="en-US" sz="2500" kern="1200" dirty="0">
                <a:solidFill>
                  <a:schemeClr val="bg1"/>
                </a:solidFill>
              </a:endParaRPr>
            </a:p>
          </p:txBody>
        </p:sp>
      </p:grpSp>
    </p:spTree>
    <p:extLst>
      <p:ext uri="{BB962C8B-B14F-4D97-AF65-F5344CB8AC3E}">
        <p14:creationId xmlns:p14="http://schemas.microsoft.com/office/powerpoint/2010/main" val="156694365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Web Stateful Replication – </a:t>
            </a:r>
          </a:p>
        </p:txBody>
      </p:sp>
      <p:pic>
        <p:nvPicPr>
          <p:cNvPr id="10" name="Picture 9">
            <a:extLst>
              <a:ext uri="{FF2B5EF4-FFF2-40B4-BE49-F238E27FC236}">
                <a16:creationId xmlns:a16="http://schemas.microsoft.com/office/drawing/2014/main" id="{1CF82766-372A-3F29-EF08-5EACB64306D7}"/>
              </a:ext>
            </a:extLst>
          </p:cNvPr>
          <p:cNvPicPr>
            <a:picLocks noChangeAspect="1"/>
          </p:cNvPicPr>
          <p:nvPr/>
        </p:nvPicPr>
        <p:blipFill>
          <a:blip r:embed="rId2"/>
          <a:stretch>
            <a:fillRect/>
          </a:stretch>
        </p:blipFill>
        <p:spPr>
          <a:xfrm>
            <a:off x="152400" y="1170068"/>
            <a:ext cx="8534399" cy="4544932"/>
          </a:xfrm>
          <a:prstGeom prst="rect">
            <a:avLst/>
          </a:prstGeom>
        </p:spPr>
      </p:pic>
      <p:grpSp>
        <p:nvGrpSpPr>
          <p:cNvPr id="11" name="Group 10">
            <a:extLst>
              <a:ext uri="{FF2B5EF4-FFF2-40B4-BE49-F238E27FC236}">
                <a16:creationId xmlns:a16="http://schemas.microsoft.com/office/drawing/2014/main" id="{FD66F677-06BB-7B23-ED51-657957569713}"/>
              </a:ext>
            </a:extLst>
          </p:cNvPr>
          <p:cNvGrpSpPr/>
          <p:nvPr/>
        </p:nvGrpSpPr>
        <p:grpSpPr>
          <a:xfrm>
            <a:off x="20320" y="-30047"/>
            <a:ext cx="9123680" cy="481253"/>
            <a:chOff x="0" y="0"/>
            <a:chExt cx="8716300" cy="481253"/>
          </a:xfrm>
        </p:grpSpPr>
        <p:sp>
          <p:nvSpPr>
            <p:cNvPr id="12" name="Rectangle: Rounded Corners 11">
              <a:extLst>
                <a:ext uri="{FF2B5EF4-FFF2-40B4-BE49-F238E27FC236}">
                  <a16:creationId xmlns:a16="http://schemas.microsoft.com/office/drawing/2014/main" id="{EA39258B-30D6-BCF8-58CC-E934D2871C8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3" name="Rectangle: Rounded Corners 4">
              <a:extLst>
                <a:ext uri="{FF2B5EF4-FFF2-40B4-BE49-F238E27FC236}">
                  <a16:creationId xmlns:a16="http://schemas.microsoft.com/office/drawing/2014/main" id="{EAFB39AD-0C8B-644E-41A9-76EDDEB6598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lvl="0" defTabSz="1111250">
                <a:lnSpc>
                  <a:spcPct val="90000"/>
                </a:lnSpc>
                <a:spcBef>
                  <a:spcPct val="0"/>
                </a:spcBef>
                <a:spcAft>
                  <a:spcPct val="35000"/>
                </a:spcAft>
              </a:pPr>
              <a:r>
                <a:rPr lang="en-US" sz="2500" b="1" dirty="0"/>
                <a:t>Replication(As Scaling Strategy)</a:t>
              </a:r>
              <a:endParaRPr lang="en-US" sz="2500" dirty="0">
                <a:solidFill>
                  <a:schemeClr val="bg1"/>
                </a:solidFill>
              </a:endParaRPr>
            </a:p>
          </p:txBody>
        </p:sp>
      </p:grpSp>
    </p:spTree>
    <p:extLst>
      <p:ext uri="{BB962C8B-B14F-4D97-AF65-F5344CB8AC3E}">
        <p14:creationId xmlns:p14="http://schemas.microsoft.com/office/powerpoint/2010/main" val="4032050672"/>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762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Web/Service Stateless Replication – </a:t>
            </a:r>
          </a:p>
        </p:txBody>
      </p:sp>
      <p:pic>
        <p:nvPicPr>
          <p:cNvPr id="11" name="Picture 10">
            <a:extLst>
              <a:ext uri="{FF2B5EF4-FFF2-40B4-BE49-F238E27FC236}">
                <a16:creationId xmlns:a16="http://schemas.microsoft.com/office/drawing/2014/main" id="{711826C6-3270-3BDE-DC5D-76050EB66535}"/>
              </a:ext>
            </a:extLst>
          </p:cNvPr>
          <p:cNvPicPr>
            <a:picLocks noChangeAspect="1"/>
          </p:cNvPicPr>
          <p:nvPr/>
        </p:nvPicPr>
        <p:blipFill>
          <a:blip r:embed="rId2"/>
          <a:stretch>
            <a:fillRect/>
          </a:stretch>
        </p:blipFill>
        <p:spPr>
          <a:xfrm>
            <a:off x="76200" y="1131332"/>
            <a:ext cx="8839200" cy="4659868"/>
          </a:xfrm>
          <a:prstGeom prst="rect">
            <a:avLst/>
          </a:prstGeom>
        </p:spPr>
      </p:pic>
      <p:grpSp>
        <p:nvGrpSpPr>
          <p:cNvPr id="10" name="Group 9">
            <a:extLst>
              <a:ext uri="{FF2B5EF4-FFF2-40B4-BE49-F238E27FC236}">
                <a16:creationId xmlns:a16="http://schemas.microsoft.com/office/drawing/2014/main" id="{624485D7-BF17-FE61-A218-47B29EC5261D}"/>
              </a:ext>
            </a:extLst>
          </p:cNvPr>
          <p:cNvGrpSpPr/>
          <p:nvPr/>
        </p:nvGrpSpPr>
        <p:grpSpPr>
          <a:xfrm>
            <a:off x="20320" y="-30047"/>
            <a:ext cx="9123680" cy="481253"/>
            <a:chOff x="0" y="0"/>
            <a:chExt cx="8716300" cy="481253"/>
          </a:xfrm>
        </p:grpSpPr>
        <p:sp>
          <p:nvSpPr>
            <p:cNvPr id="12" name="Rectangle: Rounded Corners 11">
              <a:extLst>
                <a:ext uri="{FF2B5EF4-FFF2-40B4-BE49-F238E27FC236}">
                  <a16:creationId xmlns:a16="http://schemas.microsoft.com/office/drawing/2014/main" id="{4B3B7F2F-46F8-F328-E9A0-FFF34BFBF84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3" name="Rectangle: Rounded Corners 4">
              <a:extLst>
                <a:ext uri="{FF2B5EF4-FFF2-40B4-BE49-F238E27FC236}">
                  <a16:creationId xmlns:a16="http://schemas.microsoft.com/office/drawing/2014/main" id="{69B4EC8B-1D79-B7C5-537C-69A5FF8C190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lvl="0" defTabSz="1111250">
                <a:lnSpc>
                  <a:spcPct val="90000"/>
                </a:lnSpc>
                <a:spcBef>
                  <a:spcPct val="0"/>
                </a:spcBef>
                <a:spcAft>
                  <a:spcPct val="35000"/>
                </a:spcAft>
              </a:pPr>
              <a:r>
                <a:rPr lang="en-US" sz="2500" b="1" dirty="0"/>
                <a:t>Replication(As Scaling Strategy)</a:t>
              </a:r>
              <a:endParaRPr lang="en-US" sz="2500" dirty="0">
                <a:solidFill>
                  <a:schemeClr val="bg1"/>
                </a:solidFill>
              </a:endParaRPr>
            </a:p>
          </p:txBody>
        </p:sp>
      </p:grpSp>
    </p:spTree>
    <p:extLst>
      <p:ext uri="{BB962C8B-B14F-4D97-AF65-F5344CB8AC3E}">
        <p14:creationId xmlns:p14="http://schemas.microsoft.com/office/powerpoint/2010/main" val="152940502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7620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DB Replication – </a:t>
            </a:r>
          </a:p>
        </p:txBody>
      </p:sp>
      <p:pic>
        <p:nvPicPr>
          <p:cNvPr id="11" name="Picture 10">
            <a:extLst>
              <a:ext uri="{FF2B5EF4-FFF2-40B4-BE49-F238E27FC236}">
                <a16:creationId xmlns:a16="http://schemas.microsoft.com/office/drawing/2014/main" id="{435311F0-0EC9-DE29-971B-4049E74B01E7}"/>
              </a:ext>
            </a:extLst>
          </p:cNvPr>
          <p:cNvPicPr>
            <a:picLocks noChangeAspect="1"/>
          </p:cNvPicPr>
          <p:nvPr/>
        </p:nvPicPr>
        <p:blipFill>
          <a:blip r:embed="rId2"/>
          <a:stretch>
            <a:fillRect/>
          </a:stretch>
        </p:blipFill>
        <p:spPr>
          <a:xfrm>
            <a:off x="152400" y="1131332"/>
            <a:ext cx="8701137" cy="4583668"/>
          </a:xfrm>
          <a:prstGeom prst="rect">
            <a:avLst/>
          </a:prstGeom>
        </p:spPr>
      </p:pic>
      <p:grpSp>
        <p:nvGrpSpPr>
          <p:cNvPr id="10" name="Group 9">
            <a:extLst>
              <a:ext uri="{FF2B5EF4-FFF2-40B4-BE49-F238E27FC236}">
                <a16:creationId xmlns:a16="http://schemas.microsoft.com/office/drawing/2014/main" id="{BE443F15-96C4-2BC3-1142-E4C0931D1B8A}"/>
              </a:ext>
            </a:extLst>
          </p:cNvPr>
          <p:cNvGrpSpPr/>
          <p:nvPr/>
        </p:nvGrpSpPr>
        <p:grpSpPr>
          <a:xfrm>
            <a:off x="20320" y="-30047"/>
            <a:ext cx="9123680" cy="481253"/>
            <a:chOff x="0" y="0"/>
            <a:chExt cx="8716300" cy="481253"/>
          </a:xfrm>
        </p:grpSpPr>
        <p:sp>
          <p:nvSpPr>
            <p:cNvPr id="12" name="Rectangle: Rounded Corners 11">
              <a:extLst>
                <a:ext uri="{FF2B5EF4-FFF2-40B4-BE49-F238E27FC236}">
                  <a16:creationId xmlns:a16="http://schemas.microsoft.com/office/drawing/2014/main" id="{E642D56F-83D4-75B0-CBCF-86CD8482A83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3" name="Rectangle: Rounded Corners 4">
              <a:extLst>
                <a:ext uri="{FF2B5EF4-FFF2-40B4-BE49-F238E27FC236}">
                  <a16:creationId xmlns:a16="http://schemas.microsoft.com/office/drawing/2014/main" id="{398653B6-34F8-8BDB-D546-38299F88B19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lvl="0" defTabSz="1111250">
                <a:lnSpc>
                  <a:spcPct val="90000"/>
                </a:lnSpc>
                <a:spcBef>
                  <a:spcPct val="0"/>
                </a:spcBef>
                <a:spcAft>
                  <a:spcPct val="35000"/>
                </a:spcAft>
              </a:pPr>
              <a:r>
                <a:rPr lang="en-US" sz="2500" b="1" dirty="0"/>
                <a:t>Replication(As Scaling Strategy)</a:t>
              </a:r>
              <a:endParaRPr lang="en-US" sz="2500" dirty="0">
                <a:solidFill>
                  <a:schemeClr val="bg1"/>
                </a:solidFill>
              </a:endParaRPr>
            </a:p>
          </p:txBody>
        </p:sp>
      </p:grpSp>
    </p:spTree>
    <p:extLst>
      <p:ext uri="{BB962C8B-B14F-4D97-AF65-F5344CB8AC3E}">
        <p14:creationId xmlns:p14="http://schemas.microsoft.com/office/powerpoint/2010/main" val="202073066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0" y="7620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DB Replication </a:t>
            </a:r>
            <a:r>
              <a:rPr lang="en-US" sz="2400" kern="0" spc="-80" dirty="0" err="1">
                <a:solidFill>
                  <a:schemeClr val="accent2"/>
                </a:solidFill>
              </a:rPr>
              <a:t>contd</a:t>
            </a:r>
            <a:r>
              <a:rPr lang="en-US" sz="2400" kern="0" spc="-80" dirty="0">
                <a:solidFill>
                  <a:schemeClr val="accent2"/>
                </a:solidFill>
              </a:rPr>
              <a:t> … – </a:t>
            </a:r>
          </a:p>
        </p:txBody>
      </p:sp>
      <p:pic>
        <p:nvPicPr>
          <p:cNvPr id="8" name="Picture 7">
            <a:extLst>
              <a:ext uri="{FF2B5EF4-FFF2-40B4-BE49-F238E27FC236}">
                <a16:creationId xmlns:a16="http://schemas.microsoft.com/office/drawing/2014/main" id="{AA74FD71-1BA4-EB23-3CD6-5E213AA3DA5B}"/>
              </a:ext>
            </a:extLst>
          </p:cNvPr>
          <p:cNvPicPr>
            <a:picLocks noChangeAspect="1"/>
          </p:cNvPicPr>
          <p:nvPr/>
        </p:nvPicPr>
        <p:blipFill>
          <a:blip r:embed="rId2"/>
          <a:stretch>
            <a:fillRect/>
          </a:stretch>
        </p:blipFill>
        <p:spPr>
          <a:xfrm>
            <a:off x="138063" y="1170068"/>
            <a:ext cx="8777337" cy="4621132"/>
          </a:xfrm>
          <a:prstGeom prst="rect">
            <a:avLst/>
          </a:prstGeom>
        </p:spPr>
      </p:pic>
      <p:grpSp>
        <p:nvGrpSpPr>
          <p:cNvPr id="7" name="Group 6">
            <a:extLst>
              <a:ext uri="{FF2B5EF4-FFF2-40B4-BE49-F238E27FC236}">
                <a16:creationId xmlns:a16="http://schemas.microsoft.com/office/drawing/2014/main" id="{40F1AA45-6E04-F42A-0FC8-60D2A5079B13}"/>
              </a:ext>
            </a:extLst>
          </p:cNvPr>
          <p:cNvGrpSpPr/>
          <p:nvPr/>
        </p:nvGrpSpPr>
        <p:grpSpPr>
          <a:xfrm>
            <a:off x="20320" y="-30047"/>
            <a:ext cx="9123680" cy="481253"/>
            <a:chOff x="0" y="0"/>
            <a:chExt cx="8716300" cy="481253"/>
          </a:xfrm>
        </p:grpSpPr>
        <p:sp>
          <p:nvSpPr>
            <p:cNvPr id="9" name="Rectangle: Rounded Corners 8">
              <a:extLst>
                <a:ext uri="{FF2B5EF4-FFF2-40B4-BE49-F238E27FC236}">
                  <a16:creationId xmlns:a16="http://schemas.microsoft.com/office/drawing/2014/main" id="{48858234-524F-06DF-5D8B-3A44E0FE0C3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C600A4BB-2733-ACEB-DD25-2157EB8A714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lvl="0" defTabSz="1111250">
                <a:lnSpc>
                  <a:spcPct val="90000"/>
                </a:lnSpc>
                <a:spcBef>
                  <a:spcPct val="0"/>
                </a:spcBef>
                <a:spcAft>
                  <a:spcPct val="35000"/>
                </a:spcAft>
              </a:pPr>
              <a:r>
                <a:rPr lang="en-US" sz="2500" b="1" dirty="0"/>
                <a:t>Replication(As Scaling Strategy)</a:t>
              </a:r>
              <a:endParaRPr lang="en-US" sz="2500" dirty="0">
                <a:solidFill>
                  <a:schemeClr val="bg1"/>
                </a:solidFill>
              </a:endParaRPr>
            </a:p>
          </p:txBody>
        </p:sp>
      </p:grpSp>
    </p:spTree>
    <p:extLst>
      <p:ext uri="{BB962C8B-B14F-4D97-AF65-F5344CB8AC3E}">
        <p14:creationId xmlns:p14="http://schemas.microsoft.com/office/powerpoint/2010/main" val="367607747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07184-29E5-6C01-53B4-475DB934FCC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B840F6E-47F1-9C3B-E400-564D0BD4782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F8AE1EF-615F-8B06-485E-FB867485A36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ADA0727-3BA0-A629-5698-A2EF2487FD2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B5177743-3833-764F-5989-EB0DAFCFF148}"/>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E4EACB67-D8EB-A567-D156-3A911ACFB7B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1DDAD68A-F97E-41DA-FB2D-459F72B0A69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sp>
        <p:nvSpPr>
          <p:cNvPr id="6" name="object 2">
            <a:extLst>
              <a:ext uri="{FF2B5EF4-FFF2-40B4-BE49-F238E27FC236}">
                <a16:creationId xmlns:a16="http://schemas.microsoft.com/office/drawing/2014/main" id="{54DAA044-4154-DD84-D661-1F760E9817F1}"/>
              </a:ext>
            </a:extLst>
          </p:cNvPr>
          <p:cNvSpPr txBox="1">
            <a:spLocks/>
          </p:cNvSpPr>
          <p:nvPr/>
        </p:nvSpPr>
        <p:spPr>
          <a:xfrm>
            <a:off x="0" y="708024"/>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Replication Strategies</a:t>
            </a:r>
          </a:p>
          <a:p>
            <a:r>
              <a:rPr lang="en-US" sz="2000" dirty="0">
                <a:solidFill>
                  <a:schemeClr val="accent2"/>
                </a:solidFill>
                <a:latin typeface="Google Sans"/>
                <a:ea typeface="+mn-ea"/>
                <a:cs typeface="+mn-cs"/>
              </a:rPr>
              <a:t>Architectural Replication Strategies</a:t>
            </a:r>
          </a:p>
        </p:txBody>
      </p:sp>
      <p:pic>
        <p:nvPicPr>
          <p:cNvPr id="7" name="Picture 6">
            <a:extLst>
              <a:ext uri="{FF2B5EF4-FFF2-40B4-BE49-F238E27FC236}">
                <a16:creationId xmlns:a16="http://schemas.microsoft.com/office/drawing/2014/main" id="{6F73D8FB-3A90-2A74-6B82-C312041467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10" y="1323577"/>
            <a:ext cx="8870489" cy="4467623"/>
          </a:xfrm>
          <a:prstGeom prst="rect">
            <a:avLst/>
          </a:prstGeom>
        </p:spPr>
      </p:pic>
    </p:spTree>
    <p:extLst>
      <p:ext uri="{BB962C8B-B14F-4D97-AF65-F5344CB8AC3E}">
        <p14:creationId xmlns:p14="http://schemas.microsoft.com/office/powerpoint/2010/main" val="218260528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2379B-337F-6B7D-E79B-1F610D34D8C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C92257D-5F5A-F9D7-37B9-18A93BE4390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C659D0F-A4B9-51EF-36A3-189DBBA5F0A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4410CE8-B027-A1AC-9FC1-FDDD0237293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B93B475B-3C06-3B87-9562-47376248BB0D}"/>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132AF5EF-FC68-F2EB-C441-05E3243C6A0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FFF7F87E-9EB3-6683-D677-28D41E3B714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sp>
        <p:nvSpPr>
          <p:cNvPr id="6" name="object 2">
            <a:extLst>
              <a:ext uri="{FF2B5EF4-FFF2-40B4-BE49-F238E27FC236}">
                <a16:creationId xmlns:a16="http://schemas.microsoft.com/office/drawing/2014/main" id="{75D2F5A4-EE18-1821-6236-D83D2DB56593}"/>
              </a:ext>
            </a:extLst>
          </p:cNvPr>
          <p:cNvSpPr txBox="1">
            <a:spLocks/>
          </p:cNvSpPr>
          <p:nvPr/>
        </p:nvSpPr>
        <p:spPr>
          <a:xfrm>
            <a:off x="0" y="708024"/>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Replication Strategies</a:t>
            </a:r>
          </a:p>
          <a:p>
            <a:r>
              <a:rPr lang="en-US" sz="2000" dirty="0">
                <a:solidFill>
                  <a:schemeClr val="accent2"/>
                </a:solidFill>
                <a:latin typeface="Google Sans"/>
                <a:ea typeface="+mn-ea"/>
                <a:cs typeface="+mn-cs"/>
              </a:rPr>
              <a:t>Synchronization Replication Strategies</a:t>
            </a:r>
          </a:p>
        </p:txBody>
      </p:sp>
      <p:pic>
        <p:nvPicPr>
          <p:cNvPr id="9" name="Picture 8">
            <a:extLst>
              <a:ext uri="{FF2B5EF4-FFF2-40B4-BE49-F238E27FC236}">
                <a16:creationId xmlns:a16="http://schemas.microsoft.com/office/drawing/2014/main" id="{98672061-FE30-6BF4-ADC9-698A548F49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00" y="1298177"/>
            <a:ext cx="8940800" cy="2603634"/>
          </a:xfrm>
          <a:prstGeom prst="rect">
            <a:avLst/>
          </a:prstGeom>
        </p:spPr>
      </p:pic>
    </p:spTree>
    <p:extLst>
      <p:ext uri="{BB962C8B-B14F-4D97-AF65-F5344CB8AC3E}">
        <p14:creationId xmlns:p14="http://schemas.microsoft.com/office/powerpoint/2010/main" val="337249059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CE94F-0336-4F1C-D6F2-AEFAC9B1BA8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DEF6B7D-359D-C959-6B98-2115CE0AFC5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F3E005E-DE27-B1C6-EE92-EFABE20E6E9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A38449B-F87A-88DC-40DA-3CB2D9246D8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8C757A43-830C-B444-3FB8-93921FD25C85}"/>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E41D6CA1-9473-685E-6174-9C1204DD432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8A079BD1-E3F3-7522-02BC-CF95855E7EA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sp>
        <p:nvSpPr>
          <p:cNvPr id="6" name="object 2">
            <a:extLst>
              <a:ext uri="{FF2B5EF4-FFF2-40B4-BE49-F238E27FC236}">
                <a16:creationId xmlns:a16="http://schemas.microsoft.com/office/drawing/2014/main" id="{28EACB30-8393-2192-09C3-E358AE09076D}"/>
              </a:ext>
            </a:extLst>
          </p:cNvPr>
          <p:cNvSpPr txBox="1">
            <a:spLocks/>
          </p:cNvSpPr>
          <p:nvPr/>
        </p:nvSpPr>
        <p:spPr>
          <a:xfrm>
            <a:off x="0" y="708024"/>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Replication Strategies</a:t>
            </a:r>
          </a:p>
          <a:p>
            <a:r>
              <a:rPr lang="en-US" sz="2000" dirty="0">
                <a:solidFill>
                  <a:schemeClr val="accent2"/>
                </a:solidFill>
                <a:latin typeface="Google Sans"/>
                <a:ea typeface="+mn-ea"/>
                <a:cs typeface="+mn-cs"/>
              </a:rPr>
              <a:t>Data Transfer &amp; Update Strategies</a:t>
            </a:r>
          </a:p>
        </p:txBody>
      </p:sp>
      <p:pic>
        <p:nvPicPr>
          <p:cNvPr id="7" name="Picture 6">
            <a:extLst>
              <a:ext uri="{FF2B5EF4-FFF2-40B4-BE49-F238E27FC236}">
                <a16:creationId xmlns:a16="http://schemas.microsoft.com/office/drawing/2014/main" id="{AAE16D48-2486-FC5F-D91F-EE90318A81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11" y="1377553"/>
            <a:ext cx="9074497" cy="4566047"/>
          </a:xfrm>
          <a:prstGeom prst="rect">
            <a:avLst/>
          </a:prstGeom>
        </p:spPr>
      </p:pic>
    </p:spTree>
    <p:extLst>
      <p:ext uri="{BB962C8B-B14F-4D97-AF65-F5344CB8AC3E}">
        <p14:creationId xmlns:p14="http://schemas.microsoft.com/office/powerpoint/2010/main" val="33163230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E9828-7592-0040-622B-63A3CF8F348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AE1C560-EAF0-0FA0-86E3-0987C64A4AF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E159BD4-0E76-75DA-7B75-500AF88EF59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7BA273B-26A1-E828-6C29-8717C40B703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897FAC39-D704-4E2A-10DA-0D1067A46D29}"/>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A38F8BEB-19D6-31C6-680D-7666088BA5E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D71953F0-2DBF-3088-F707-D8A5A62C8C2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sp>
        <p:nvSpPr>
          <p:cNvPr id="6" name="object 2">
            <a:extLst>
              <a:ext uri="{FF2B5EF4-FFF2-40B4-BE49-F238E27FC236}">
                <a16:creationId xmlns:a16="http://schemas.microsoft.com/office/drawing/2014/main" id="{890A1CEA-7CEF-A843-8BF4-B24FA5F09F9C}"/>
              </a:ext>
            </a:extLst>
          </p:cNvPr>
          <p:cNvSpPr txBox="1">
            <a:spLocks/>
          </p:cNvSpPr>
          <p:nvPr/>
        </p:nvSpPr>
        <p:spPr>
          <a:xfrm>
            <a:off x="0" y="708024"/>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Replication Strategies</a:t>
            </a:r>
          </a:p>
          <a:p>
            <a:r>
              <a:rPr lang="en-US" sz="2000" dirty="0">
                <a:solidFill>
                  <a:schemeClr val="accent2"/>
                </a:solidFill>
                <a:latin typeface="Google Sans"/>
                <a:ea typeface="+mn-ea"/>
                <a:cs typeface="+mn-cs"/>
              </a:rPr>
              <a:t>Advanced &amp; Operational Strategies</a:t>
            </a:r>
          </a:p>
        </p:txBody>
      </p:sp>
      <p:pic>
        <p:nvPicPr>
          <p:cNvPr id="9" name="Picture 8">
            <a:extLst>
              <a:ext uri="{FF2B5EF4-FFF2-40B4-BE49-F238E27FC236}">
                <a16:creationId xmlns:a16="http://schemas.microsoft.com/office/drawing/2014/main" id="{A19FDC28-F7A6-5D4D-1CA6-C8EBEE4693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11" y="1358723"/>
            <a:ext cx="9074498" cy="4432477"/>
          </a:xfrm>
          <a:prstGeom prst="rect">
            <a:avLst/>
          </a:prstGeom>
        </p:spPr>
      </p:pic>
    </p:spTree>
    <p:extLst>
      <p:ext uri="{BB962C8B-B14F-4D97-AF65-F5344CB8AC3E}">
        <p14:creationId xmlns:p14="http://schemas.microsoft.com/office/powerpoint/2010/main" val="220771857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DED36-5063-C100-1296-F9FD683BE8B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F566B58-4C12-74B1-09A2-ADEE4C6DD2E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B5509A6-5A20-EB4A-B7F1-EDB274D3D71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DE036D0-2711-36A6-D0FE-9D670112F17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FBAC1E0E-058C-B850-33FD-ABFACFC55C2B}"/>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239C170C-1AA6-6710-EF1A-79EE6ED18D7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42807409-DC50-C033-FF33-F69243BD8D9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sp>
        <p:nvSpPr>
          <p:cNvPr id="6" name="object 2">
            <a:extLst>
              <a:ext uri="{FF2B5EF4-FFF2-40B4-BE49-F238E27FC236}">
                <a16:creationId xmlns:a16="http://schemas.microsoft.com/office/drawing/2014/main" id="{2B06EE1E-58FD-97F6-3538-2E6FD30E7A1D}"/>
              </a:ext>
            </a:extLst>
          </p:cNvPr>
          <p:cNvSpPr txBox="1">
            <a:spLocks/>
          </p:cNvSpPr>
          <p:nvPr/>
        </p:nvSpPr>
        <p:spPr>
          <a:xfrm>
            <a:off x="0" y="708024"/>
            <a:ext cx="8624937" cy="40010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Replication Strategies</a:t>
            </a:r>
          </a:p>
          <a:p>
            <a:r>
              <a:rPr lang="en-US" sz="2000" dirty="0">
                <a:solidFill>
                  <a:schemeClr val="accent2"/>
                </a:solidFill>
                <a:latin typeface="Google Sans"/>
                <a:ea typeface="+mn-ea"/>
                <a:cs typeface="+mn-cs"/>
              </a:rPr>
              <a:t>Summary of Key Trade-offs (CAP Theorem Framework)</a:t>
            </a:r>
          </a:p>
          <a:p>
            <a:r>
              <a:rPr lang="en-US" sz="1500" dirty="0">
                <a:solidFill>
                  <a:schemeClr val="accent2"/>
                </a:solidFill>
                <a:latin typeface="Google Sans"/>
                <a:ea typeface="+mn-ea"/>
                <a:cs typeface="+mn-cs"/>
              </a:rPr>
              <a:t>For Strong Consistency: </a:t>
            </a:r>
            <a:r>
              <a:rPr lang="en-US" sz="1500" dirty="0">
                <a:solidFill>
                  <a:schemeClr val="accent6"/>
                </a:solidFill>
                <a:latin typeface="Google Sans"/>
                <a:ea typeface="+mn-ea"/>
                <a:cs typeface="+mn-cs"/>
              </a:rPr>
              <a:t>Use Single-Leader + Synchronous Replication.</a:t>
            </a:r>
          </a:p>
          <a:p>
            <a:r>
              <a:rPr lang="en-US" sz="1500" dirty="0">
                <a:solidFill>
                  <a:schemeClr val="accent2"/>
                </a:solidFill>
                <a:latin typeface="Google Sans"/>
                <a:ea typeface="+mn-ea"/>
                <a:cs typeface="+mn-cs"/>
              </a:rPr>
              <a:t>For High Availability: </a:t>
            </a:r>
            <a:r>
              <a:rPr lang="en-US" sz="1500" dirty="0">
                <a:solidFill>
                  <a:schemeClr val="accent6"/>
                </a:solidFill>
                <a:latin typeface="Google Sans"/>
                <a:ea typeface="+mn-ea"/>
                <a:cs typeface="+mn-cs"/>
              </a:rPr>
              <a:t>Use Leaderless + Asynchronous Replication (with Quorums).</a:t>
            </a:r>
          </a:p>
          <a:p>
            <a:r>
              <a:rPr lang="en-US" sz="1500" dirty="0">
                <a:solidFill>
                  <a:schemeClr val="accent2"/>
                </a:solidFill>
                <a:latin typeface="Google Sans"/>
                <a:ea typeface="+mn-ea"/>
                <a:cs typeface="+mn-cs"/>
              </a:rPr>
              <a:t>For Multi-Region Writes:</a:t>
            </a:r>
            <a:r>
              <a:rPr lang="en-US" sz="1500" dirty="0">
                <a:solidFill>
                  <a:schemeClr val="accent6"/>
                </a:solidFill>
                <a:latin typeface="Google Sans"/>
                <a:ea typeface="+mn-ea"/>
                <a:cs typeface="+mn-cs"/>
              </a:rPr>
              <a:t> Use Multi-Leader Replication.</a:t>
            </a:r>
          </a:p>
          <a:p>
            <a:r>
              <a:rPr lang="en-US" sz="1500" dirty="0">
                <a:solidFill>
                  <a:schemeClr val="accent2"/>
                </a:solidFill>
                <a:latin typeface="Google Sans"/>
                <a:ea typeface="+mn-ea"/>
                <a:cs typeface="+mn-cs"/>
              </a:rPr>
              <a:t>For Low Latency Reads: </a:t>
            </a:r>
            <a:r>
              <a:rPr lang="en-US" sz="1500" dirty="0">
                <a:solidFill>
                  <a:schemeClr val="accent6"/>
                </a:solidFill>
                <a:latin typeface="Google Sans"/>
                <a:ea typeface="+mn-ea"/>
                <a:cs typeface="+mn-cs"/>
              </a:rPr>
              <a:t>Use Full Replication with Many Followers. </a:t>
            </a:r>
          </a:p>
          <a:p>
            <a:endParaRPr lang="en-US" sz="1500" dirty="0">
              <a:solidFill>
                <a:schemeClr val="accent6"/>
              </a:solidFill>
              <a:latin typeface="Google Sans"/>
              <a:ea typeface="+mn-ea"/>
              <a:cs typeface="+mn-cs"/>
            </a:endParaRPr>
          </a:p>
          <a:p>
            <a:endParaRPr lang="en-US" sz="2000" dirty="0">
              <a:solidFill>
                <a:schemeClr val="accent2"/>
              </a:solidFill>
              <a:latin typeface="Google Sans"/>
              <a:ea typeface="+mn-ea"/>
              <a:cs typeface="+mn-cs"/>
            </a:endParaRPr>
          </a:p>
          <a:p>
            <a:r>
              <a:rPr lang="en-US" sz="2000" dirty="0">
                <a:solidFill>
                  <a:schemeClr val="accent2"/>
                </a:solidFill>
                <a:latin typeface="Google Sans"/>
                <a:ea typeface="+mn-ea"/>
                <a:cs typeface="+mn-cs"/>
              </a:rPr>
              <a:t>Leaderless Replication – A bit more in Depth</a:t>
            </a:r>
          </a:p>
          <a:p>
            <a:r>
              <a:rPr lang="en-US" sz="1500" dirty="0">
                <a:solidFill>
                  <a:schemeClr val="accent6"/>
                </a:solidFill>
                <a:latin typeface="Google Sans"/>
                <a:ea typeface="+mn-ea"/>
                <a:cs typeface="+mn-cs"/>
              </a:rPr>
              <a:t>In distributed systems (particularly Dynamo-style leaderless architectures like Cassandra or DynamoDB), ensuring all replicas of data are consistent requires multiple mechanisms working together. </a:t>
            </a:r>
          </a:p>
          <a:p>
            <a:r>
              <a:rPr lang="en-US" sz="1500" dirty="0">
                <a:solidFill>
                  <a:schemeClr val="accent2"/>
                </a:solidFill>
                <a:latin typeface="Google Sans"/>
                <a:ea typeface="+mn-ea"/>
                <a:cs typeface="+mn-cs"/>
              </a:rPr>
              <a:t>Quorum-based replication</a:t>
            </a:r>
            <a:r>
              <a:rPr lang="en-US" sz="1500" dirty="0">
                <a:solidFill>
                  <a:schemeClr val="accent6"/>
                </a:solidFill>
                <a:latin typeface="Google Sans"/>
                <a:ea typeface="+mn-ea"/>
                <a:cs typeface="+mn-cs"/>
              </a:rPr>
              <a:t> handles the consistency during the read/write request.</a:t>
            </a:r>
          </a:p>
          <a:p>
            <a:r>
              <a:rPr lang="en-US" sz="1500" dirty="0">
                <a:solidFill>
                  <a:schemeClr val="accent2"/>
                </a:solidFill>
                <a:latin typeface="Google Sans"/>
                <a:ea typeface="+mn-ea"/>
                <a:cs typeface="+mn-cs"/>
              </a:rPr>
              <a:t>Read Repair</a:t>
            </a:r>
            <a:r>
              <a:rPr lang="en-US" sz="1500" dirty="0">
                <a:solidFill>
                  <a:schemeClr val="accent6"/>
                </a:solidFill>
                <a:latin typeface="Google Sans"/>
                <a:ea typeface="+mn-ea"/>
                <a:cs typeface="+mn-cs"/>
              </a:rPr>
              <a:t> fixes inconsistencies during a read operation.</a:t>
            </a:r>
          </a:p>
          <a:p>
            <a:r>
              <a:rPr lang="en-US" sz="1500" dirty="0">
                <a:solidFill>
                  <a:schemeClr val="accent2"/>
                </a:solidFill>
                <a:latin typeface="Google Sans"/>
                <a:ea typeface="+mn-ea"/>
                <a:cs typeface="+mn-cs"/>
              </a:rPr>
              <a:t>Anti-Entropy (via Merkle trees)</a:t>
            </a:r>
            <a:r>
              <a:rPr lang="en-US" sz="1500" dirty="0">
                <a:solidFill>
                  <a:schemeClr val="accent6"/>
                </a:solidFill>
                <a:latin typeface="Google Sans"/>
                <a:ea typeface="+mn-ea"/>
                <a:cs typeface="+mn-cs"/>
              </a:rPr>
              <a:t> fixes inconsistencies in the background.</a:t>
            </a:r>
          </a:p>
          <a:p>
            <a:r>
              <a:rPr lang="en-US" sz="1500" dirty="0">
                <a:solidFill>
                  <a:schemeClr val="accent2"/>
                </a:solidFill>
                <a:latin typeface="Google Sans"/>
                <a:ea typeface="+mn-ea"/>
                <a:cs typeface="+mn-cs"/>
              </a:rPr>
              <a:t>Gossip Protocol</a:t>
            </a:r>
            <a:r>
              <a:rPr lang="en-US" sz="1500" dirty="0">
                <a:solidFill>
                  <a:schemeClr val="accent6"/>
                </a:solidFill>
                <a:latin typeface="Google Sans"/>
                <a:ea typeface="+mn-ea"/>
                <a:cs typeface="+mn-cs"/>
              </a:rPr>
              <a:t> spreads membership, state, and schema info across the network to enable the other processes. </a:t>
            </a:r>
          </a:p>
        </p:txBody>
      </p:sp>
    </p:spTree>
    <p:extLst>
      <p:ext uri="{BB962C8B-B14F-4D97-AF65-F5344CB8AC3E}">
        <p14:creationId xmlns:p14="http://schemas.microsoft.com/office/powerpoint/2010/main" val="246498580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9CC9E-1B32-CF31-9660-64BD7594D4D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06EBA8B-2E61-9291-48BC-03B7B8738CC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024A2AB-76BF-2A42-6C86-21C348335BA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E342B96-CA9B-C3A7-FFFC-C583226DF4F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8EC1367E-FDC9-408D-5B94-0825A3A83306}"/>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1EE33B66-097B-0845-BF0C-17A06811C52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F9257C50-23FC-C0D1-FE15-70D7A67D211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sp>
        <p:nvSpPr>
          <p:cNvPr id="6" name="object 2">
            <a:extLst>
              <a:ext uri="{FF2B5EF4-FFF2-40B4-BE49-F238E27FC236}">
                <a16:creationId xmlns:a16="http://schemas.microsoft.com/office/drawing/2014/main" id="{6EBFF32A-461E-C911-DBEF-D916574B94F7}"/>
              </a:ext>
            </a:extLst>
          </p:cNvPr>
          <p:cNvSpPr txBox="1">
            <a:spLocks/>
          </p:cNvSpPr>
          <p:nvPr/>
        </p:nvSpPr>
        <p:spPr>
          <a:xfrm>
            <a:off x="0" y="708024"/>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Leaderless Replication – A bit more in Depth</a:t>
            </a:r>
          </a:p>
        </p:txBody>
      </p:sp>
      <p:pic>
        <p:nvPicPr>
          <p:cNvPr id="7" name="Picture 6">
            <a:extLst>
              <a:ext uri="{FF2B5EF4-FFF2-40B4-BE49-F238E27FC236}">
                <a16:creationId xmlns:a16="http://schemas.microsoft.com/office/drawing/2014/main" id="{C83E25B5-FF54-00C9-B2ED-817225FB6C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69778"/>
            <a:ext cx="9022889" cy="1877338"/>
          </a:xfrm>
          <a:prstGeom prst="rect">
            <a:avLst/>
          </a:prstGeom>
        </p:spPr>
      </p:pic>
      <p:pic>
        <p:nvPicPr>
          <p:cNvPr id="12" name="Picture 11">
            <a:extLst>
              <a:ext uri="{FF2B5EF4-FFF2-40B4-BE49-F238E27FC236}">
                <a16:creationId xmlns:a16="http://schemas.microsoft.com/office/drawing/2014/main" id="{05116E4F-B352-5981-9B92-CD31B4C9DC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500" y="2971800"/>
            <a:ext cx="8763000" cy="2362200"/>
          </a:xfrm>
          <a:prstGeom prst="rect">
            <a:avLst/>
          </a:prstGeom>
        </p:spPr>
      </p:pic>
      <p:pic>
        <p:nvPicPr>
          <p:cNvPr id="14" name="Picture 13">
            <a:extLst>
              <a:ext uri="{FF2B5EF4-FFF2-40B4-BE49-F238E27FC236}">
                <a16:creationId xmlns:a16="http://schemas.microsoft.com/office/drawing/2014/main" id="{1FDCC3BE-51D3-17FA-5879-F7A1C85C1A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0500" y="5334000"/>
            <a:ext cx="8832389" cy="609600"/>
          </a:xfrm>
          <a:prstGeom prst="rect">
            <a:avLst/>
          </a:prstGeom>
        </p:spPr>
      </p:pic>
    </p:spTree>
    <p:extLst>
      <p:ext uri="{BB962C8B-B14F-4D97-AF65-F5344CB8AC3E}">
        <p14:creationId xmlns:p14="http://schemas.microsoft.com/office/powerpoint/2010/main" val="301334702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B77A3-FF55-E714-5E2F-F586D2DEFAA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AE461E8-B30A-D3E9-58F3-0C1B7706E12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6A6442D-BC99-2224-D6D7-B09B2E8768D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3D519E7-233A-9708-E870-B7B28D36CED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7039A300-A7A7-58ED-5E80-92E1A9D28B0D}"/>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6112FCB5-D143-3F83-7F61-063BBF3D89B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DFD6A7EC-6580-38A9-4B5A-B87B4FBE8EE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sp>
        <p:nvSpPr>
          <p:cNvPr id="6" name="object 2">
            <a:extLst>
              <a:ext uri="{FF2B5EF4-FFF2-40B4-BE49-F238E27FC236}">
                <a16:creationId xmlns:a16="http://schemas.microsoft.com/office/drawing/2014/main" id="{B312983C-02C3-FD93-6717-80744DBEAAF4}"/>
              </a:ext>
            </a:extLst>
          </p:cNvPr>
          <p:cNvSpPr txBox="1">
            <a:spLocks/>
          </p:cNvSpPr>
          <p:nvPr/>
        </p:nvSpPr>
        <p:spPr>
          <a:xfrm>
            <a:off x="0" y="708024"/>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Leaderless Replication – A bit more in Depth</a:t>
            </a:r>
          </a:p>
          <a:p>
            <a:r>
              <a:rPr lang="en-US" sz="2000" dirty="0">
                <a:solidFill>
                  <a:schemeClr val="accent2"/>
                </a:solidFill>
                <a:latin typeface="Google Sans"/>
                <a:ea typeface="+mn-ea"/>
                <a:cs typeface="+mn-cs"/>
              </a:rPr>
              <a:t>Breakdown </a:t>
            </a:r>
          </a:p>
          <a:p>
            <a:r>
              <a:rPr lang="en-US" sz="1500" dirty="0">
                <a:solidFill>
                  <a:schemeClr val="accent2"/>
                </a:solidFill>
                <a:latin typeface="Google Sans"/>
                <a:ea typeface="+mn-ea"/>
                <a:cs typeface="+mn-cs"/>
              </a:rPr>
              <a:t>1. Read Repair </a:t>
            </a:r>
          </a:p>
          <a:p>
            <a:r>
              <a:rPr lang="en-US" sz="1500" dirty="0">
                <a:solidFill>
                  <a:schemeClr val="accent2"/>
                </a:solidFill>
                <a:latin typeface="Google Sans"/>
                <a:ea typeface="+mn-ea"/>
                <a:cs typeface="+mn-cs"/>
              </a:rPr>
              <a:t>How it works: </a:t>
            </a:r>
            <a:r>
              <a:rPr lang="en-US" sz="1500" dirty="0">
                <a:solidFill>
                  <a:schemeClr val="accent6"/>
                </a:solidFill>
                <a:latin typeface="Google Sans"/>
                <a:ea typeface="+mn-ea"/>
                <a:cs typeface="+mn-cs"/>
              </a:rPr>
              <a:t>When a client reads a key, the coordinator node reads from (R) replicas. If the versions differ (using timestamp or vector clocks), the coordinator writes the newest version back to the stale nodes.</a:t>
            </a:r>
          </a:p>
          <a:p>
            <a:r>
              <a:rPr lang="en-US" sz="1500" dirty="0">
                <a:solidFill>
                  <a:schemeClr val="accent2"/>
                </a:solidFill>
                <a:latin typeface="Google Sans"/>
                <a:ea typeface="+mn-ea"/>
                <a:cs typeface="+mn-cs"/>
              </a:rPr>
              <a:t>Pros: </a:t>
            </a:r>
            <a:r>
              <a:rPr lang="en-US" sz="1500" dirty="0">
                <a:solidFill>
                  <a:schemeClr val="accent6"/>
                </a:solidFill>
                <a:latin typeface="Google Sans"/>
                <a:ea typeface="+mn-ea"/>
                <a:cs typeface="+mn-cs"/>
              </a:rPr>
              <a:t>Immediate consistency for frequently read data.</a:t>
            </a:r>
          </a:p>
          <a:p>
            <a:r>
              <a:rPr lang="en-US" sz="1500" dirty="0">
                <a:solidFill>
                  <a:schemeClr val="accent2"/>
                </a:solidFill>
                <a:latin typeface="Google Sans"/>
                <a:ea typeface="+mn-ea"/>
                <a:cs typeface="+mn-cs"/>
              </a:rPr>
              <a:t>Cons: </a:t>
            </a:r>
            <a:r>
              <a:rPr lang="en-US" sz="1500" dirty="0">
                <a:solidFill>
                  <a:schemeClr val="accent6"/>
                </a:solidFill>
                <a:latin typeface="Google Sans"/>
                <a:ea typeface="+mn-ea"/>
                <a:cs typeface="+mn-cs"/>
              </a:rPr>
              <a:t>If data is never read, it is never repaired. </a:t>
            </a:r>
          </a:p>
          <a:p>
            <a:r>
              <a:rPr lang="en-US" sz="1500" dirty="0">
                <a:solidFill>
                  <a:schemeClr val="accent2"/>
                </a:solidFill>
                <a:latin typeface="Google Sans"/>
                <a:ea typeface="+mn-ea"/>
                <a:cs typeface="+mn-cs"/>
              </a:rPr>
              <a:t>2. Anti-Entropy (using Merkle Trees) </a:t>
            </a:r>
          </a:p>
          <a:p>
            <a:r>
              <a:rPr lang="en-US" sz="1500" dirty="0">
                <a:solidFill>
                  <a:schemeClr val="accent2"/>
                </a:solidFill>
                <a:latin typeface="Google Sans"/>
                <a:ea typeface="+mn-ea"/>
                <a:cs typeface="+mn-cs"/>
              </a:rPr>
              <a:t>How it works:</a:t>
            </a:r>
            <a:r>
              <a:rPr lang="en-US" sz="1500" dirty="0">
                <a:solidFill>
                  <a:schemeClr val="accent6"/>
                </a:solidFill>
                <a:latin typeface="Google Sans"/>
                <a:ea typeface="+mn-ea"/>
                <a:cs typeface="+mn-cs"/>
              </a:rPr>
              <a:t> Because comparing full datasets is expensive, nodes compute Merkle trees—a hash-based tree structure. Replicas exchange top-level hashes. If they match, data is synchronized. If not, they descend the tree to find exactly which row differs.</a:t>
            </a:r>
          </a:p>
          <a:p>
            <a:r>
              <a:rPr lang="en-US" sz="1500" dirty="0">
                <a:solidFill>
                  <a:schemeClr val="accent2"/>
                </a:solidFill>
                <a:latin typeface="Google Sans"/>
                <a:ea typeface="+mn-ea"/>
                <a:cs typeface="+mn-cs"/>
              </a:rPr>
              <a:t>Pros: </a:t>
            </a:r>
            <a:r>
              <a:rPr lang="en-US" sz="1500" dirty="0">
                <a:solidFill>
                  <a:schemeClr val="accent6"/>
                </a:solidFill>
                <a:latin typeface="Google Sans"/>
                <a:ea typeface="+mn-ea"/>
                <a:cs typeface="+mn-cs"/>
              </a:rPr>
              <a:t>Ensures all data, including rarely accessed data, eventually converges.</a:t>
            </a:r>
          </a:p>
          <a:p>
            <a:r>
              <a:rPr lang="en-US" sz="1500" dirty="0">
                <a:solidFill>
                  <a:schemeClr val="accent2"/>
                </a:solidFill>
                <a:latin typeface="Google Sans"/>
                <a:ea typeface="+mn-ea"/>
                <a:cs typeface="+mn-cs"/>
              </a:rPr>
              <a:t>Cons: </a:t>
            </a:r>
            <a:r>
              <a:rPr lang="en-US" sz="1500" dirty="0">
                <a:solidFill>
                  <a:schemeClr val="accent6"/>
                </a:solidFill>
                <a:latin typeface="Google Sans"/>
                <a:ea typeface="+mn-ea"/>
                <a:cs typeface="+mn-cs"/>
              </a:rPr>
              <a:t>High I/O and network usage; usually run during low-traffic times. </a:t>
            </a:r>
          </a:p>
          <a:p>
            <a:r>
              <a:rPr lang="en-US" sz="1500" dirty="0">
                <a:solidFill>
                  <a:schemeClr val="accent2"/>
                </a:solidFill>
                <a:latin typeface="Google Sans"/>
                <a:ea typeface="+mn-ea"/>
                <a:cs typeface="+mn-cs"/>
              </a:rPr>
              <a:t>3. Gossip Protocol </a:t>
            </a:r>
          </a:p>
          <a:p>
            <a:r>
              <a:rPr lang="en-US" sz="1500" dirty="0">
                <a:solidFill>
                  <a:schemeClr val="accent2"/>
                </a:solidFill>
                <a:latin typeface="Google Sans"/>
                <a:ea typeface="+mn-ea"/>
                <a:cs typeface="+mn-cs"/>
              </a:rPr>
              <a:t>How it works:</a:t>
            </a:r>
            <a:r>
              <a:rPr lang="en-US" sz="1500" dirty="0">
                <a:solidFill>
                  <a:schemeClr val="accent6"/>
                </a:solidFill>
                <a:latin typeface="Google Sans"/>
                <a:ea typeface="+mn-ea"/>
                <a:cs typeface="+mn-cs"/>
              </a:rPr>
              <a:t> Nodes periodically choose a random peer and exchange state information (e.g., "Node A is alive," "Table X schema is version 5"). Within a few cycles, all nodes know the state of the entire cluster.</a:t>
            </a:r>
          </a:p>
          <a:p>
            <a:r>
              <a:rPr lang="en-US" sz="1500" dirty="0">
                <a:solidFill>
                  <a:schemeClr val="accent2"/>
                </a:solidFill>
                <a:latin typeface="Google Sans"/>
                <a:ea typeface="+mn-ea"/>
                <a:cs typeface="+mn-cs"/>
              </a:rPr>
              <a:t>Usage: </a:t>
            </a:r>
            <a:r>
              <a:rPr lang="en-US" sz="1500" dirty="0">
                <a:solidFill>
                  <a:schemeClr val="accent6"/>
                </a:solidFill>
                <a:latin typeface="Google Sans"/>
                <a:ea typeface="+mn-ea"/>
                <a:cs typeface="+mn-cs"/>
              </a:rPr>
              <a:t>Used for node discovery, failure detection, and schema distribution, not usually for the data itself, but for metadata about the data. </a:t>
            </a:r>
          </a:p>
          <a:p>
            <a:r>
              <a:rPr lang="en-US" sz="1500" dirty="0">
                <a:solidFill>
                  <a:schemeClr val="accent2"/>
                </a:solidFill>
                <a:latin typeface="Google Sans"/>
                <a:ea typeface="+mn-ea"/>
                <a:cs typeface="+mn-cs"/>
              </a:rPr>
              <a:t>4. Quorum-Based Replication (N, R, W) </a:t>
            </a:r>
          </a:p>
          <a:p>
            <a:r>
              <a:rPr lang="en-US" sz="1500" dirty="0">
                <a:solidFill>
                  <a:schemeClr val="accent2"/>
                </a:solidFill>
                <a:latin typeface="Google Sans"/>
                <a:ea typeface="+mn-ea"/>
                <a:cs typeface="+mn-cs"/>
              </a:rPr>
              <a:t>N: </a:t>
            </a:r>
            <a:r>
              <a:rPr lang="en-US" sz="1500" dirty="0">
                <a:solidFill>
                  <a:schemeClr val="accent6"/>
                </a:solidFill>
                <a:latin typeface="Google Sans"/>
                <a:ea typeface="+mn-ea"/>
                <a:cs typeface="+mn-cs"/>
              </a:rPr>
              <a:t>Number of replicas (replication factor).</a:t>
            </a:r>
          </a:p>
          <a:p>
            <a:r>
              <a:rPr lang="en-US" sz="1500" dirty="0">
                <a:solidFill>
                  <a:schemeClr val="accent2"/>
                </a:solidFill>
                <a:latin typeface="Google Sans"/>
                <a:ea typeface="+mn-ea"/>
                <a:cs typeface="+mn-cs"/>
              </a:rPr>
              <a:t>W: </a:t>
            </a:r>
            <a:r>
              <a:rPr lang="en-US" sz="1500" dirty="0">
                <a:solidFill>
                  <a:schemeClr val="accent6"/>
                </a:solidFill>
                <a:latin typeface="Google Sans"/>
                <a:ea typeface="+mn-ea"/>
                <a:cs typeface="+mn-cs"/>
              </a:rPr>
              <a:t>Minimum nodes that must acknowledge a write to succeed.</a:t>
            </a:r>
          </a:p>
          <a:p>
            <a:r>
              <a:rPr lang="en-US" sz="1500" dirty="0">
                <a:solidFill>
                  <a:schemeClr val="accent2"/>
                </a:solidFill>
                <a:latin typeface="Google Sans"/>
                <a:ea typeface="+mn-ea"/>
                <a:cs typeface="+mn-cs"/>
              </a:rPr>
              <a:t>R:</a:t>
            </a:r>
            <a:r>
              <a:rPr lang="en-US" sz="1500" dirty="0">
                <a:solidFill>
                  <a:schemeClr val="accent6"/>
                </a:solidFill>
                <a:latin typeface="Google Sans"/>
                <a:ea typeface="+mn-ea"/>
                <a:cs typeface="+mn-cs"/>
              </a:rPr>
              <a:t> Minimum nodes that must respond to a read to succeed.</a:t>
            </a:r>
          </a:p>
        </p:txBody>
      </p:sp>
    </p:spTree>
    <p:extLst>
      <p:ext uri="{BB962C8B-B14F-4D97-AF65-F5344CB8AC3E}">
        <p14:creationId xmlns:p14="http://schemas.microsoft.com/office/powerpoint/2010/main" val="1126629506"/>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37FFF4-DA69-F432-EA29-3DEB26E4DBF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DAA3468-FB3C-53F5-E187-2E5FDBBD1CA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7CD01EA-E73A-138D-C9CF-8808FF3F50B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72894F4-FD76-467B-D060-C920898C06B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7CA76300-AC50-1D5C-D9FC-3BCAD64B8E05}"/>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7B7BA981-BB6A-8213-2FFB-8D986DAD410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D72456A1-CC52-F415-EBAC-F57BDFFFD91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sp>
        <p:nvSpPr>
          <p:cNvPr id="6" name="object 2">
            <a:extLst>
              <a:ext uri="{FF2B5EF4-FFF2-40B4-BE49-F238E27FC236}">
                <a16:creationId xmlns:a16="http://schemas.microsoft.com/office/drawing/2014/main" id="{C6C2E0DE-8786-EFDD-6235-0F7764582610}"/>
              </a:ext>
            </a:extLst>
          </p:cNvPr>
          <p:cNvSpPr txBox="1">
            <a:spLocks/>
          </p:cNvSpPr>
          <p:nvPr/>
        </p:nvSpPr>
        <p:spPr>
          <a:xfrm>
            <a:off x="0" y="708024"/>
            <a:ext cx="8624937" cy="323165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Leaderless Replication – A bit more in Depth</a:t>
            </a:r>
          </a:p>
          <a:p>
            <a:r>
              <a:rPr lang="en-US" sz="2000" dirty="0">
                <a:solidFill>
                  <a:schemeClr val="accent2"/>
                </a:solidFill>
                <a:latin typeface="Google Sans"/>
                <a:ea typeface="+mn-ea"/>
                <a:cs typeface="+mn-cs"/>
              </a:rPr>
              <a:t>Breakdown </a:t>
            </a:r>
          </a:p>
          <a:p>
            <a:r>
              <a:rPr lang="en-US" sz="1500" dirty="0">
                <a:solidFill>
                  <a:schemeClr val="accent2"/>
                </a:solidFill>
                <a:latin typeface="Google Sans"/>
                <a:ea typeface="+mn-ea"/>
                <a:cs typeface="+mn-cs"/>
              </a:rPr>
              <a:t>4. Quorum-Based Replication (N, R, W) </a:t>
            </a:r>
          </a:p>
          <a:p>
            <a:r>
              <a:rPr lang="en-US" sz="1500" dirty="0">
                <a:solidFill>
                  <a:schemeClr val="accent2"/>
                </a:solidFill>
                <a:latin typeface="Google Sans"/>
                <a:ea typeface="+mn-ea"/>
                <a:cs typeface="+mn-cs"/>
              </a:rPr>
              <a:t>Consistency Model:</a:t>
            </a:r>
            <a:r>
              <a:rPr lang="en-US" sz="1500" dirty="0">
                <a:solidFill>
                  <a:schemeClr val="accent6"/>
                </a:solidFill>
                <a:latin typeface="Google Sans"/>
                <a:ea typeface="+mn-ea"/>
                <a:cs typeface="+mn-cs"/>
              </a:rPr>
              <a:t>If (W+R&gt;N), you achieve strong consistency (similar to a majority quorum).If (W+R&lt;=N), you get eventual consistency.</a:t>
            </a:r>
          </a:p>
          <a:p>
            <a:r>
              <a:rPr lang="en-US" sz="1500" dirty="0">
                <a:solidFill>
                  <a:schemeClr val="accent2"/>
                </a:solidFill>
                <a:latin typeface="Google Sans"/>
                <a:ea typeface="+mn-ea"/>
                <a:cs typeface="+mn-cs"/>
              </a:rPr>
              <a:t>Sloppy Quorum: </a:t>
            </a:r>
            <a:r>
              <a:rPr lang="en-US" sz="1500" dirty="0">
                <a:solidFill>
                  <a:schemeClr val="accent6"/>
                </a:solidFill>
                <a:latin typeface="Google Sans"/>
                <a:ea typeface="+mn-ea"/>
                <a:cs typeface="+mn-cs"/>
              </a:rPr>
              <a:t>In a partition, nodes might write to different nodes than they usually would ("hinted handoff"), then sync when the network heals. </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Summary of Differences </a:t>
            </a:r>
          </a:p>
          <a:p>
            <a:r>
              <a:rPr lang="en-US" sz="1500" dirty="0">
                <a:solidFill>
                  <a:schemeClr val="accent2"/>
                </a:solidFill>
                <a:latin typeface="Google Sans"/>
                <a:ea typeface="+mn-ea"/>
                <a:cs typeface="+mn-cs"/>
              </a:rPr>
              <a:t>Read Repair vs. Anti-Entropy:</a:t>
            </a:r>
            <a:r>
              <a:rPr lang="en-US" sz="1500" dirty="0">
                <a:solidFill>
                  <a:schemeClr val="accent6"/>
                </a:solidFill>
                <a:latin typeface="Google Sans"/>
                <a:ea typeface="+mn-ea"/>
                <a:cs typeface="+mn-cs"/>
              </a:rPr>
              <a:t> Read Repair is reactive (on read), Anti-Entropy is proactive (background).</a:t>
            </a:r>
          </a:p>
          <a:p>
            <a:r>
              <a:rPr lang="en-US" sz="1500" dirty="0">
                <a:solidFill>
                  <a:schemeClr val="accent2"/>
                </a:solidFill>
                <a:latin typeface="Google Sans"/>
                <a:ea typeface="+mn-ea"/>
                <a:cs typeface="+mn-cs"/>
              </a:rPr>
              <a:t>Gossip vs. Others: </a:t>
            </a:r>
            <a:r>
              <a:rPr lang="en-US" sz="1500" dirty="0">
                <a:solidFill>
                  <a:schemeClr val="accent6"/>
                </a:solidFill>
                <a:latin typeface="Google Sans"/>
                <a:ea typeface="+mn-ea"/>
                <a:cs typeface="+mn-cs"/>
              </a:rPr>
              <a:t>Gossip is for membership/state; the others are for data consistency.</a:t>
            </a:r>
          </a:p>
          <a:p>
            <a:r>
              <a:rPr lang="en-US" sz="1500" dirty="0">
                <a:solidFill>
                  <a:schemeClr val="accent2"/>
                </a:solidFill>
                <a:latin typeface="Google Sans"/>
                <a:ea typeface="+mn-ea"/>
                <a:cs typeface="+mn-cs"/>
              </a:rPr>
              <a:t>Quorum vs. Others: </a:t>
            </a:r>
            <a:r>
              <a:rPr lang="en-US" sz="1500" dirty="0">
                <a:solidFill>
                  <a:schemeClr val="accent6"/>
                </a:solidFill>
                <a:latin typeface="Google Sans"/>
                <a:ea typeface="+mn-ea"/>
                <a:cs typeface="+mn-cs"/>
              </a:rPr>
              <a:t>Quorum defines immediate consistency rules; the others define eventual consistency mechanisms. </a:t>
            </a:r>
          </a:p>
        </p:txBody>
      </p:sp>
    </p:spTree>
    <p:extLst>
      <p:ext uri="{BB962C8B-B14F-4D97-AF65-F5344CB8AC3E}">
        <p14:creationId xmlns:p14="http://schemas.microsoft.com/office/powerpoint/2010/main" val="56427757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FA409-A8E8-C133-6187-A26DB231266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130B110-B5DA-5CE4-F900-B0490EF4ACF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E9A78A6-1B5F-45EA-3099-4FA3E9D7D40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D440DC3-9B08-BA4D-D7A8-BB113057C5E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CED1D422-A0BA-25FE-46D1-6F4C497F9C41}"/>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E912E729-59E1-546A-302C-F7F80A319DF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8558082C-9FF8-3DB1-457C-64E63ED225D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sp>
        <p:nvSpPr>
          <p:cNvPr id="6" name="object 2">
            <a:extLst>
              <a:ext uri="{FF2B5EF4-FFF2-40B4-BE49-F238E27FC236}">
                <a16:creationId xmlns:a16="http://schemas.microsoft.com/office/drawing/2014/main" id="{3DA06ADB-4BFA-495C-4DDA-150FE58D67C2}"/>
              </a:ext>
            </a:extLst>
          </p:cNvPr>
          <p:cNvSpPr txBox="1">
            <a:spLocks/>
          </p:cNvSpPr>
          <p:nvPr/>
        </p:nvSpPr>
        <p:spPr>
          <a:xfrm>
            <a:off x="0" y="708024"/>
            <a:ext cx="8624937" cy="377026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Conflict Resolution</a:t>
            </a:r>
          </a:p>
          <a:p>
            <a:r>
              <a:rPr lang="en-US" sz="1500" dirty="0">
                <a:solidFill>
                  <a:schemeClr val="accent6"/>
                </a:solidFill>
                <a:latin typeface="Google Sans"/>
                <a:ea typeface="+mn-ea"/>
                <a:cs typeface="+mn-cs"/>
              </a:rPr>
              <a:t>Conflict resolution in distributed systems is the process of reconciling inconsistent data versions across multiple nodes when they accept conflicting updates simultaneously, often due to network partitions or asynchronous replication. It ensures data integrity and consistency by determining the final, valid state using methods like Last-Write-Wins (LWW), version vectors, or CRDTs.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Why We Need Conflict Resolution</a:t>
            </a:r>
          </a:p>
          <a:p>
            <a:r>
              <a:rPr lang="en-US" sz="1500" dirty="0">
                <a:solidFill>
                  <a:schemeClr val="accent2"/>
                </a:solidFill>
                <a:latin typeface="Google Sans"/>
                <a:ea typeface="+mn-ea"/>
                <a:cs typeface="+mn-cs"/>
              </a:rPr>
              <a:t>Data Consistency: </a:t>
            </a:r>
            <a:r>
              <a:rPr lang="en-US" sz="1500" dirty="0">
                <a:solidFill>
                  <a:schemeClr val="accent6"/>
                </a:solidFill>
                <a:latin typeface="Google Sans"/>
                <a:ea typeface="+mn-ea"/>
                <a:cs typeface="+mn-cs"/>
              </a:rPr>
              <a:t>Distributed systems (e.g., databases) often store replicas on different nodes to improve performance and availability. Conflict resolution ensures that all nodes eventually converge to the same data state.</a:t>
            </a:r>
          </a:p>
          <a:p>
            <a:r>
              <a:rPr lang="en-US" sz="1500" dirty="0">
                <a:solidFill>
                  <a:schemeClr val="accent2"/>
                </a:solidFill>
                <a:latin typeface="Google Sans"/>
                <a:ea typeface="+mn-ea"/>
                <a:cs typeface="+mn-cs"/>
              </a:rPr>
              <a:t>Concurrent Updates: </a:t>
            </a:r>
            <a:r>
              <a:rPr lang="en-US" sz="1500" dirty="0">
                <a:solidFill>
                  <a:schemeClr val="accent6"/>
                </a:solidFill>
                <a:latin typeface="Google Sans"/>
                <a:ea typeface="+mn-ea"/>
                <a:cs typeface="+mn-cs"/>
              </a:rPr>
              <a:t>In distributed systems, users can update the same data item on different nodes at the same time. Without resolution, these conflicting updates lead to data divergence.</a:t>
            </a:r>
          </a:p>
          <a:p>
            <a:r>
              <a:rPr lang="en-US" sz="1500" dirty="0">
                <a:solidFill>
                  <a:schemeClr val="accent2"/>
                </a:solidFill>
                <a:latin typeface="Google Sans"/>
                <a:ea typeface="+mn-ea"/>
                <a:cs typeface="+mn-cs"/>
              </a:rPr>
              <a:t>Network Partitions:</a:t>
            </a:r>
            <a:r>
              <a:rPr lang="en-US" sz="1500" dirty="0">
                <a:solidFill>
                  <a:schemeClr val="accent6"/>
                </a:solidFill>
                <a:latin typeface="Google Sans"/>
                <a:ea typeface="+mn-ea"/>
                <a:cs typeface="+mn-cs"/>
              </a:rPr>
              <a:t> If a network failure separates nodes, they may both update the same record. When the connection restores, the system must decide which update takes precedence.</a:t>
            </a:r>
          </a:p>
          <a:p>
            <a:r>
              <a:rPr lang="en-US" sz="1500" dirty="0">
                <a:solidFill>
                  <a:schemeClr val="accent2"/>
                </a:solidFill>
                <a:latin typeface="Google Sans"/>
                <a:ea typeface="+mn-ea"/>
                <a:cs typeface="+mn-cs"/>
              </a:rPr>
              <a:t>Preventing Data Loss: </a:t>
            </a:r>
            <a:r>
              <a:rPr lang="en-US" sz="1500" dirty="0">
                <a:solidFill>
                  <a:schemeClr val="accent6"/>
                </a:solidFill>
                <a:latin typeface="Google Sans"/>
                <a:ea typeface="+mn-ea"/>
                <a:cs typeface="+mn-cs"/>
              </a:rPr>
              <a:t>Without proper resolution (e.g., using naive strategies), some updates might be incorrectly overwritten and lost</a:t>
            </a:r>
          </a:p>
        </p:txBody>
      </p:sp>
    </p:spTree>
    <p:extLst>
      <p:ext uri="{BB962C8B-B14F-4D97-AF65-F5344CB8AC3E}">
        <p14:creationId xmlns:p14="http://schemas.microsoft.com/office/powerpoint/2010/main" val="1463146528"/>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21B2C-7AAE-AF8E-0AC5-7D74F16C1BD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226C931-2183-FD82-6391-CFBCA3C78AE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7345084-A891-524C-FFC6-56DF98B512E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4B8D33E-3FD5-C026-8CB4-BAD325AA176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BA277714-0440-6A01-A643-F8D8615C9FDF}"/>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DC4F066F-7A9A-7967-4086-981652F6A69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F1D75E89-D4BA-E250-CF5E-88D79B9F995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sp>
        <p:nvSpPr>
          <p:cNvPr id="6" name="object 2">
            <a:extLst>
              <a:ext uri="{FF2B5EF4-FFF2-40B4-BE49-F238E27FC236}">
                <a16:creationId xmlns:a16="http://schemas.microsoft.com/office/drawing/2014/main" id="{15F20EC6-9D31-1E25-0354-C118BD3859B8}"/>
              </a:ext>
            </a:extLst>
          </p:cNvPr>
          <p:cNvSpPr txBox="1">
            <a:spLocks/>
          </p:cNvSpPr>
          <p:nvPr/>
        </p:nvSpPr>
        <p:spPr>
          <a:xfrm>
            <a:off x="0" y="708024"/>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Conflict Resolution Techniques</a:t>
            </a:r>
          </a:p>
        </p:txBody>
      </p:sp>
      <p:pic>
        <p:nvPicPr>
          <p:cNvPr id="7" name="Picture 6">
            <a:extLst>
              <a:ext uri="{FF2B5EF4-FFF2-40B4-BE49-F238E27FC236}">
                <a16:creationId xmlns:a16="http://schemas.microsoft.com/office/drawing/2014/main" id="{E8052F62-C5FC-3129-8916-FC77A583BA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60" y="1032813"/>
            <a:ext cx="8956040" cy="1938987"/>
          </a:xfrm>
          <a:prstGeom prst="rect">
            <a:avLst/>
          </a:prstGeom>
        </p:spPr>
      </p:pic>
      <p:pic>
        <p:nvPicPr>
          <p:cNvPr id="12" name="Picture 11">
            <a:extLst>
              <a:ext uri="{FF2B5EF4-FFF2-40B4-BE49-F238E27FC236}">
                <a16:creationId xmlns:a16="http://schemas.microsoft.com/office/drawing/2014/main" id="{373FE90A-5925-6D67-97F0-463E1F4D88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2988812"/>
            <a:ext cx="8701137" cy="2954788"/>
          </a:xfrm>
          <a:prstGeom prst="rect">
            <a:avLst/>
          </a:prstGeom>
        </p:spPr>
      </p:pic>
    </p:spTree>
    <p:extLst>
      <p:ext uri="{BB962C8B-B14F-4D97-AF65-F5344CB8AC3E}">
        <p14:creationId xmlns:p14="http://schemas.microsoft.com/office/powerpoint/2010/main" val="36675493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5F07E-2626-B294-8C76-FF637F7DE4E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6B5CB79-4F47-027D-A422-E50F7470C0D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70C7289-579A-2933-CA68-CD2712281AB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F43C0AA-4025-0743-B874-AD1FF8264FE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2BCE1482-F533-A973-F985-1B8DFDA496DB}"/>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9A39D11D-D5EF-8D64-E9C4-09EED87CEA0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BBCEA389-D4BA-9DB6-5071-3B2959A0232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sp>
        <p:nvSpPr>
          <p:cNvPr id="6" name="object 2">
            <a:extLst>
              <a:ext uri="{FF2B5EF4-FFF2-40B4-BE49-F238E27FC236}">
                <a16:creationId xmlns:a16="http://schemas.microsoft.com/office/drawing/2014/main" id="{9C4131D5-0CC5-E49A-D2B6-C544E6833747}"/>
              </a:ext>
            </a:extLst>
          </p:cNvPr>
          <p:cNvSpPr txBox="1">
            <a:spLocks/>
          </p:cNvSpPr>
          <p:nvPr/>
        </p:nvSpPr>
        <p:spPr>
          <a:xfrm>
            <a:off x="0" y="708024"/>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Conflict Resolution Techniques</a:t>
            </a:r>
          </a:p>
        </p:txBody>
      </p:sp>
      <p:pic>
        <p:nvPicPr>
          <p:cNvPr id="9" name="Picture 8">
            <a:extLst>
              <a:ext uri="{FF2B5EF4-FFF2-40B4-BE49-F238E27FC236}">
                <a16:creationId xmlns:a16="http://schemas.microsoft.com/office/drawing/2014/main" id="{4630F585-C00F-950D-E4AC-5ADFD15BEB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034058"/>
            <a:ext cx="9119408" cy="254448"/>
          </a:xfrm>
          <a:prstGeom prst="rect">
            <a:avLst/>
          </a:prstGeom>
        </p:spPr>
      </p:pic>
      <p:pic>
        <p:nvPicPr>
          <p:cNvPr id="14" name="Picture 13">
            <a:extLst>
              <a:ext uri="{FF2B5EF4-FFF2-40B4-BE49-F238E27FC236}">
                <a16:creationId xmlns:a16="http://schemas.microsoft.com/office/drawing/2014/main" id="{7CEE2B10-F700-0567-8A4B-8E649904EA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306116"/>
            <a:ext cx="8890809" cy="4485084"/>
          </a:xfrm>
          <a:prstGeom prst="rect">
            <a:avLst/>
          </a:prstGeom>
        </p:spPr>
      </p:pic>
    </p:spTree>
    <p:extLst>
      <p:ext uri="{BB962C8B-B14F-4D97-AF65-F5344CB8AC3E}">
        <p14:creationId xmlns:p14="http://schemas.microsoft.com/office/powerpoint/2010/main" val="418117946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A9988A-29EB-D580-BF36-4AFAFDAAF76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8AAB1F3-FBD7-2F27-103E-D104C9AF12C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7737EE1-31FD-C7D6-C271-036D8463B3E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5D697BD-1611-7273-F024-DBC4A8899B1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AB705BE6-1189-7B8E-90E3-917A5C0797CF}"/>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3756039D-DF30-4672-B573-02122B1102B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608A3FC8-DF94-ECEC-A9D8-31EDBB77251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sp>
        <p:nvSpPr>
          <p:cNvPr id="6" name="object 2">
            <a:extLst>
              <a:ext uri="{FF2B5EF4-FFF2-40B4-BE49-F238E27FC236}">
                <a16:creationId xmlns:a16="http://schemas.microsoft.com/office/drawing/2014/main" id="{1A06B3BB-FB03-2A1A-044B-FB07D2CBBC83}"/>
              </a:ext>
            </a:extLst>
          </p:cNvPr>
          <p:cNvSpPr txBox="1">
            <a:spLocks/>
          </p:cNvSpPr>
          <p:nvPr/>
        </p:nvSpPr>
        <p:spPr>
          <a:xfrm>
            <a:off x="0" y="708024"/>
            <a:ext cx="8624937" cy="43088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Classification of Techniques</a:t>
            </a:r>
          </a:p>
          <a:p>
            <a:r>
              <a:rPr lang="en-US" sz="1500" dirty="0">
                <a:solidFill>
                  <a:schemeClr val="accent2"/>
                </a:solidFill>
                <a:latin typeface="Google Sans"/>
                <a:ea typeface="+mn-ea"/>
                <a:cs typeface="+mn-cs"/>
              </a:rPr>
              <a:t>Based on Timing:</a:t>
            </a:r>
          </a:p>
          <a:p>
            <a:r>
              <a:rPr lang="en-US" sz="1500" dirty="0">
                <a:solidFill>
                  <a:schemeClr val="accent2"/>
                </a:solidFill>
                <a:latin typeface="Google Sans"/>
                <a:ea typeface="+mn-ea"/>
                <a:cs typeface="+mn-cs"/>
              </a:rPr>
              <a:t>On-Write (Proactive): </a:t>
            </a:r>
            <a:r>
              <a:rPr lang="en-US" sz="1500" dirty="0">
                <a:solidFill>
                  <a:schemeClr val="accent6"/>
                </a:solidFill>
                <a:latin typeface="Google Sans"/>
                <a:ea typeface="+mn-ea"/>
                <a:cs typeface="+mn-cs"/>
              </a:rPr>
              <a:t>Conflicts are detected and resolved immediately at the time of writing (e.g., Quorum, Conditional Writes).</a:t>
            </a:r>
          </a:p>
          <a:p>
            <a:r>
              <a:rPr lang="en-US" sz="1500" dirty="0">
                <a:solidFill>
                  <a:schemeClr val="accent2"/>
                </a:solidFill>
                <a:latin typeface="Google Sans"/>
                <a:ea typeface="+mn-ea"/>
                <a:cs typeface="+mn-cs"/>
              </a:rPr>
              <a:t>On-Read (Reactive): </a:t>
            </a:r>
            <a:r>
              <a:rPr lang="en-US" sz="1500" dirty="0">
                <a:solidFill>
                  <a:schemeClr val="accent6"/>
                </a:solidFill>
                <a:latin typeface="Google Sans"/>
                <a:ea typeface="+mn-ea"/>
                <a:cs typeface="+mn-cs"/>
              </a:rPr>
              <a:t>Conflicts are accepted silently and detected/resolved only when data is read (e.g., LWW with Vector Clocks).</a:t>
            </a:r>
          </a:p>
          <a:p>
            <a:r>
              <a:rPr lang="en-US" sz="1500" dirty="0">
                <a:solidFill>
                  <a:schemeClr val="accent2"/>
                </a:solidFill>
                <a:latin typeface="Google Sans"/>
                <a:ea typeface="+mn-ea"/>
                <a:cs typeface="+mn-cs"/>
              </a:rPr>
              <a:t>Based on Approach:</a:t>
            </a:r>
          </a:p>
          <a:p>
            <a:r>
              <a:rPr lang="en-US" sz="1500" dirty="0">
                <a:solidFill>
                  <a:schemeClr val="accent2"/>
                </a:solidFill>
                <a:latin typeface="Google Sans"/>
                <a:ea typeface="+mn-ea"/>
                <a:cs typeface="+mn-cs"/>
              </a:rPr>
              <a:t>Automatic (Deterministic):</a:t>
            </a:r>
            <a:r>
              <a:rPr lang="en-US" sz="1500" dirty="0">
                <a:solidFill>
                  <a:schemeClr val="accent6"/>
                </a:solidFill>
                <a:latin typeface="Google Sans"/>
                <a:ea typeface="+mn-ea"/>
                <a:cs typeface="+mn-cs"/>
              </a:rPr>
              <a:t> System automatically resolves conflicts without human intervention (e.g., CRDTs, LWW).</a:t>
            </a:r>
          </a:p>
          <a:p>
            <a:r>
              <a:rPr lang="en-US" sz="1500" dirty="0">
                <a:solidFill>
                  <a:schemeClr val="accent2"/>
                </a:solidFill>
                <a:latin typeface="Google Sans"/>
                <a:ea typeface="+mn-ea"/>
                <a:cs typeface="+mn-cs"/>
              </a:rPr>
              <a:t>Manual:</a:t>
            </a:r>
            <a:r>
              <a:rPr lang="en-US" sz="1500" dirty="0">
                <a:solidFill>
                  <a:schemeClr val="accent6"/>
                </a:solidFill>
                <a:latin typeface="Google Sans"/>
                <a:ea typeface="+mn-ea"/>
                <a:cs typeface="+mn-cs"/>
              </a:rPr>
              <a:t> Human intervention is required. </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Key Considerations for Choosing a Technique</a:t>
            </a:r>
          </a:p>
          <a:p>
            <a:r>
              <a:rPr lang="en-US" sz="1500" dirty="0">
                <a:solidFill>
                  <a:schemeClr val="accent2"/>
                </a:solidFill>
                <a:latin typeface="Google Sans"/>
                <a:ea typeface="+mn-ea"/>
                <a:cs typeface="+mn-cs"/>
              </a:rPr>
              <a:t>Consistency vs. Availability:</a:t>
            </a:r>
            <a:r>
              <a:rPr lang="en-US" sz="1500" dirty="0">
                <a:solidFill>
                  <a:schemeClr val="accent6"/>
                </a:solidFill>
                <a:latin typeface="Google Sans"/>
                <a:ea typeface="+mn-ea"/>
                <a:cs typeface="+mn-cs"/>
              </a:rPr>
              <a:t> If high availability is needed (AP in CAP theorem), use CRDTs or LWW. If strong consistency is needed (CP), use Quorum/Consensus.</a:t>
            </a:r>
          </a:p>
          <a:p>
            <a:r>
              <a:rPr lang="en-US" sz="1500" dirty="0">
                <a:solidFill>
                  <a:schemeClr val="accent2"/>
                </a:solidFill>
                <a:latin typeface="Google Sans"/>
                <a:ea typeface="+mn-ea"/>
                <a:cs typeface="+mn-cs"/>
              </a:rPr>
              <a:t>Data Structure Type: </a:t>
            </a:r>
            <a:r>
              <a:rPr lang="en-US" sz="1500" dirty="0">
                <a:solidFill>
                  <a:schemeClr val="accent6"/>
                </a:solidFill>
                <a:latin typeface="Google Sans"/>
                <a:ea typeface="+mn-ea"/>
                <a:cs typeface="+mn-cs"/>
              </a:rPr>
              <a:t>Simple types (e.g., counters) work well with CRDTs, while complex, non-commutative data requires custom logic or Version Vectors.</a:t>
            </a:r>
          </a:p>
          <a:p>
            <a:r>
              <a:rPr lang="en-US" sz="1500" dirty="0">
                <a:solidFill>
                  <a:schemeClr val="accent2"/>
                </a:solidFill>
                <a:latin typeface="Google Sans"/>
                <a:ea typeface="+mn-ea"/>
                <a:cs typeface="+mn-cs"/>
              </a:rPr>
              <a:t>Clock Accuracy: </a:t>
            </a:r>
            <a:r>
              <a:rPr lang="en-US" sz="1500" dirty="0">
                <a:solidFill>
                  <a:schemeClr val="accent6"/>
                </a:solidFill>
                <a:latin typeface="Google Sans"/>
                <a:ea typeface="+mn-ea"/>
                <a:cs typeface="+mn-cs"/>
              </a:rPr>
              <a:t>LWW depends heavily on synchronized clocks; if clocks drift, data loss can occur. Vector Clocks are safer in distributed systems. </a:t>
            </a:r>
          </a:p>
        </p:txBody>
      </p:sp>
    </p:spTree>
    <p:extLst>
      <p:ext uri="{BB962C8B-B14F-4D97-AF65-F5344CB8AC3E}">
        <p14:creationId xmlns:p14="http://schemas.microsoft.com/office/powerpoint/2010/main" val="333076470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E5DD5-DF51-1446-5DE6-FA11F7F11C5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B19E5CC-3E86-1EC0-ED5E-4BEE6BA2E3F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3E00716-0666-3D14-DB6C-53633A3FE2A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3D2C8E7-9F25-EC65-AA92-A8C91403373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5226455-A9F2-85E9-C11D-DE1B7BC76533}"/>
              </a:ext>
            </a:extLst>
          </p:cNvPr>
          <p:cNvSpPr txBox="1">
            <a:spLocks/>
          </p:cNvSpPr>
          <p:nvPr/>
        </p:nvSpPr>
        <p:spPr>
          <a:xfrm>
            <a:off x="76200" y="697468"/>
            <a:ext cx="8624937" cy="15388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Distributed Database Schema Evolution</a:t>
            </a:r>
          </a:p>
          <a:p>
            <a:pPr marL="12700" marR="5080"/>
            <a:r>
              <a:rPr lang="en-US" sz="1500" dirty="0">
                <a:solidFill>
                  <a:schemeClr val="accent6"/>
                </a:solidFill>
                <a:latin typeface="Google Sans"/>
              </a:rPr>
              <a:t>Distributed databases handle schema evolution through a combination of backward/forward compatibility, a lack of rigid schema enforcement (in the case of NoSQL), and coordinated updates using mechanisms like schema registries, versioning, and online migration tools. </a:t>
            </a:r>
          </a:p>
          <a:p>
            <a:pPr marL="12700" marR="5080"/>
            <a:endParaRPr lang="en-US" sz="1500" dirty="0">
              <a:solidFill>
                <a:schemeClr val="accent6"/>
              </a:solidFill>
              <a:latin typeface="Google Sans"/>
            </a:endParaRPr>
          </a:p>
          <a:p>
            <a:pPr marL="12700" marR="5080"/>
            <a:r>
              <a:rPr lang="en-US" sz="2000" dirty="0">
                <a:solidFill>
                  <a:schemeClr val="accent2"/>
                </a:solidFill>
                <a:latin typeface="Google Sans"/>
              </a:rPr>
              <a:t>Techniques</a:t>
            </a:r>
          </a:p>
        </p:txBody>
      </p:sp>
      <p:grpSp>
        <p:nvGrpSpPr>
          <p:cNvPr id="7" name="Group 6">
            <a:extLst>
              <a:ext uri="{FF2B5EF4-FFF2-40B4-BE49-F238E27FC236}">
                <a16:creationId xmlns:a16="http://schemas.microsoft.com/office/drawing/2014/main" id="{06D5F6C3-4160-5167-EB5B-659797A0E4D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612BE4B0-E321-8A05-A593-03BCE3D9752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2F9593C-EBDA-A6BE-6820-7F6D5A773D4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pic>
        <p:nvPicPr>
          <p:cNvPr id="10" name="Picture 9">
            <a:extLst>
              <a:ext uri="{FF2B5EF4-FFF2-40B4-BE49-F238E27FC236}">
                <a16:creationId xmlns:a16="http://schemas.microsoft.com/office/drawing/2014/main" id="{771FA2FC-665F-A221-3806-6FF915BDC6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21" y="2236351"/>
            <a:ext cx="8833216" cy="3707249"/>
          </a:xfrm>
          <a:prstGeom prst="rect">
            <a:avLst/>
          </a:prstGeom>
        </p:spPr>
      </p:pic>
    </p:spTree>
    <p:extLst>
      <p:ext uri="{BB962C8B-B14F-4D97-AF65-F5344CB8AC3E}">
        <p14:creationId xmlns:p14="http://schemas.microsoft.com/office/powerpoint/2010/main" val="247610576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C839D-3A36-2714-E81D-C9BB6F5E30D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2EED830-8FD0-5987-80A6-A4433FB5107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41B1EAF-A7D1-CDB1-ECE9-68C2CC38F73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0877175-319E-BCBB-71D8-0178E2E2D92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EDC0AFC7-5BCC-2A1B-C7A4-B65E988DF7A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34CC5EB-8EF5-FF39-D02B-4B1C9CE8634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D509CB9-A6EC-D475-7AA5-BD2F266D3BF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pic>
        <p:nvPicPr>
          <p:cNvPr id="11" name="Picture 10">
            <a:extLst>
              <a:ext uri="{FF2B5EF4-FFF2-40B4-BE49-F238E27FC236}">
                <a16:creationId xmlns:a16="http://schemas.microsoft.com/office/drawing/2014/main" id="{6D2E2859-3BF3-7B9E-DFC4-D898B4AD4B1C}"/>
              </a:ext>
            </a:extLst>
          </p:cNvPr>
          <p:cNvPicPr>
            <a:picLocks noChangeAspect="1"/>
          </p:cNvPicPr>
          <p:nvPr/>
        </p:nvPicPr>
        <p:blipFill>
          <a:blip r:embed="rId2"/>
          <a:stretch>
            <a:fillRect/>
          </a:stretch>
        </p:blipFill>
        <p:spPr>
          <a:xfrm>
            <a:off x="70605" y="1393933"/>
            <a:ext cx="8991600" cy="302150"/>
          </a:xfrm>
          <a:prstGeom prst="rect">
            <a:avLst/>
          </a:prstGeom>
        </p:spPr>
      </p:pic>
      <p:sp>
        <p:nvSpPr>
          <p:cNvPr id="12" name="object 2">
            <a:extLst>
              <a:ext uri="{FF2B5EF4-FFF2-40B4-BE49-F238E27FC236}">
                <a16:creationId xmlns:a16="http://schemas.microsoft.com/office/drawing/2014/main" id="{8BE83674-0706-DC31-425C-5E7E800A7DCC}"/>
              </a:ext>
            </a:extLst>
          </p:cNvPr>
          <p:cNvSpPr txBox="1">
            <a:spLocks/>
          </p:cNvSpPr>
          <p:nvPr/>
        </p:nvSpPr>
        <p:spPr>
          <a:xfrm>
            <a:off x="61863" y="756047"/>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Distributed Database Schema Evolution</a:t>
            </a:r>
          </a:p>
          <a:p>
            <a:pPr marL="12700" marR="5080"/>
            <a:r>
              <a:rPr lang="en-US" sz="2000" dirty="0">
                <a:solidFill>
                  <a:schemeClr val="accent2"/>
                </a:solidFill>
                <a:latin typeface="Google Sans"/>
              </a:rPr>
              <a:t>Techniques</a:t>
            </a:r>
          </a:p>
        </p:txBody>
      </p:sp>
      <p:pic>
        <p:nvPicPr>
          <p:cNvPr id="16" name="Picture 15">
            <a:extLst>
              <a:ext uri="{FF2B5EF4-FFF2-40B4-BE49-F238E27FC236}">
                <a16:creationId xmlns:a16="http://schemas.microsoft.com/office/drawing/2014/main" id="{18E6FBFF-8882-67B2-A51A-7171D1520B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122" y="1665991"/>
            <a:ext cx="8803277" cy="2220209"/>
          </a:xfrm>
          <a:prstGeom prst="rect">
            <a:avLst/>
          </a:prstGeom>
        </p:spPr>
      </p:pic>
      <p:pic>
        <p:nvPicPr>
          <p:cNvPr id="18" name="Picture 17">
            <a:extLst>
              <a:ext uri="{FF2B5EF4-FFF2-40B4-BE49-F238E27FC236}">
                <a16:creationId xmlns:a16="http://schemas.microsoft.com/office/drawing/2014/main" id="{6B67751E-235C-4F5D-20B6-80A0D1F770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2122" y="3948900"/>
            <a:ext cx="8991600" cy="1994699"/>
          </a:xfrm>
          <a:prstGeom prst="rect">
            <a:avLst/>
          </a:prstGeom>
        </p:spPr>
      </p:pic>
    </p:spTree>
    <p:extLst>
      <p:ext uri="{BB962C8B-B14F-4D97-AF65-F5344CB8AC3E}">
        <p14:creationId xmlns:p14="http://schemas.microsoft.com/office/powerpoint/2010/main" val="1707089035"/>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0B8A7-843C-32D7-1C61-1989FF0600D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4467BA7-86A4-4442-F5A7-760876826E9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5C1A3D4-981A-ED52-2ACA-2D20608932C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7A1C5CB-61B5-F1B8-BEA8-3718E1148AA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BAB661D1-0F82-D5D0-24B6-088496C8D63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147EF79-029A-5871-3B04-AC16A55FEA2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3A398C87-A312-8972-6873-835E8640F3F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pic>
        <p:nvPicPr>
          <p:cNvPr id="11" name="Picture 10">
            <a:extLst>
              <a:ext uri="{FF2B5EF4-FFF2-40B4-BE49-F238E27FC236}">
                <a16:creationId xmlns:a16="http://schemas.microsoft.com/office/drawing/2014/main" id="{6FD44E75-3CFB-30DE-80E2-828DD93720EB}"/>
              </a:ext>
            </a:extLst>
          </p:cNvPr>
          <p:cNvPicPr>
            <a:picLocks noChangeAspect="1"/>
          </p:cNvPicPr>
          <p:nvPr/>
        </p:nvPicPr>
        <p:blipFill>
          <a:blip r:embed="rId2"/>
          <a:stretch>
            <a:fillRect/>
          </a:stretch>
        </p:blipFill>
        <p:spPr>
          <a:xfrm>
            <a:off x="74256" y="1345375"/>
            <a:ext cx="8991600" cy="302150"/>
          </a:xfrm>
          <a:prstGeom prst="rect">
            <a:avLst/>
          </a:prstGeom>
        </p:spPr>
      </p:pic>
      <p:sp>
        <p:nvSpPr>
          <p:cNvPr id="12" name="object 2">
            <a:extLst>
              <a:ext uri="{FF2B5EF4-FFF2-40B4-BE49-F238E27FC236}">
                <a16:creationId xmlns:a16="http://schemas.microsoft.com/office/drawing/2014/main" id="{3F770D69-B7B1-3A78-F154-D652653FFFC2}"/>
              </a:ext>
            </a:extLst>
          </p:cNvPr>
          <p:cNvSpPr txBox="1">
            <a:spLocks/>
          </p:cNvSpPr>
          <p:nvPr/>
        </p:nvSpPr>
        <p:spPr>
          <a:xfrm>
            <a:off x="64096" y="716874"/>
            <a:ext cx="8915400"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Distributed Database Schema Evolution</a:t>
            </a:r>
          </a:p>
          <a:p>
            <a:pPr marL="12700" marR="5080"/>
            <a:r>
              <a:rPr lang="en-US" sz="2000" dirty="0">
                <a:solidFill>
                  <a:schemeClr val="accent2"/>
                </a:solidFill>
                <a:latin typeface="Google Sans"/>
              </a:rPr>
              <a:t>Techniques</a:t>
            </a:r>
          </a:p>
        </p:txBody>
      </p:sp>
      <p:pic>
        <p:nvPicPr>
          <p:cNvPr id="6" name="Picture 5">
            <a:extLst>
              <a:ext uri="{FF2B5EF4-FFF2-40B4-BE49-F238E27FC236}">
                <a16:creationId xmlns:a16="http://schemas.microsoft.com/office/drawing/2014/main" id="{FC17EA4C-4625-57DC-976C-01145D3235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192" y="1657796"/>
            <a:ext cx="8787208" cy="1923604"/>
          </a:xfrm>
          <a:prstGeom prst="rect">
            <a:avLst/>
          </a:prstGeom>
        </p:spPr>
      </p:pic>
      <p:sp>
        <p:nvSpPr>
          <p:cNvPr id="10" name="object 2">
            <a:extLst>
              <a:ext uri="{FF2B5EF4-FFF2-40B4-BE49-F238E27FC236}">
                <a16:creationId xmlns:a16="http://schemas.microsoft.com/office/drawing/2014/main" id="{DDF029F7-BF8E-D251-AB4E-B7745DAA2D21}"/>
              </a:ext>
            </a:extLst>
          </p:cNvPr>
          <p:cNvSpPr txBox="1">
            <a:spLocks/>
          </p:cNvSpPr>
          <p:nvPr/>
        </p:nvSpPr>
        <p:spPr>
          <a:xfrm>
            <a:off x="76200" y="3562796"/>
            <a:ext cx="8624937" cy="19236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Best Practices</a:t>
            </a:r>
          </a:p>
          <a:p>
            <a:pPr marL="12700" marR="5080"/>
            <a:r>
              <a:rPr lang="en-US" sz="1500" dirty="0">
                <a:solidFill>
                  <a:schemeClr val="accent2"/>
                </a:solidFill>
                <a:latin typeface="Google Sans"/>
              </a:rPr>
              <a:t>Plan non-breaking changes first: </a:t>
            </a:r>
            <a:r>
              <a:rPr lang="en-US" sz="1500" dirty="0">
                <a:solidFill>
                  <a:schemeClr val="accent6"/>
                </a:solidFill>
                <a:latin typeface="Google Sans"/>
              </a:rPr>
              <a:t>Prioritize changes that are backward compatible, such as adding nullable columns, before implementing breaking changes.</a:t>
            </a:r>
          </a:p>
          <a:p>
            <a:pPr marL="12700" marR="5080"/>
            <a:r>
              <a:rPr lang="en-US" sz="1500" dirty="0">
                <a:solidFill>
                  <a:schemeClr val="accent2"/>
                </a:solidFill>
                <a:latin typeface="Google Sans"/>
              </a:rPr>
              <a:t>Version control everything: </a:t>
            </a:r>
            <a:r>
              <a:rPr lang="en-US" sz="1500" dirty="0">
                <a:solidFill>
                  <a:schemeClr val="accent6"/>
                </a:solidFill>
                <a:latin typeface="Google Sans"/>
              </a:rPr>
              <a:t>Treat your schema changes like code changes, using version control and clear documentation.</a:t>
            </a:r>
          </a:p>
          <a:p>
            <a:pPr marL="12700" marR="5080"/>
            <a:r>
              <a:rPr lang="en-US" sz="1500" dirty="0">
                <a:solidFill>
                  <a:schemeClr val="accent2"/>
                </a:solidFill>
                <a:latin typeface="Google Sans"/>
              </a:rPr>
              <a:t>Automate and test: </a:t>
            </a:r>
            <a:r>
              <a:rPr lang="en-US" sz="1500" dirty="0">
                <a:solidFill>
                  <a:schemeClr val="accent6"/>
                </a:solidFill>
                <a:latin typeface="Google Sans"/>
              </a:rPr>
              <a:t>Use automated tools to apply migrations and rigorously test all changes in a staging environment that mirrors production.</a:t>
            </a:r>
          </a:p>
          <a:p>
            <a:pPr marL="12700" marR="5080"/>
            <a:r>
              <a:rPr lang="en-US" sz="1500" dirty="0">
                <a:solidFill>
                  <a:schemeClr val="accent2"/>
                </a:solidFill>
                <a:latin typeface="Google Sans"/>
              </a:rPr>
              <a:t>Have a rollback plan:</a:t>
            </a:r>
            <a:r>
              <a:rPr lang="en-US" sz="1500" dirty="0">
                <a:solidFill>
                  <a:schemeClr val="accent6"/>
                </a:solidFill>
                <a:latin typeface="Google Sans"/>
              </a:rPr>
              <a:t> Always have a clear, tested contingency plan to revert changes in case of issues. </a:t>
            </a:r>
          </a:p>
        </p:txBody>
      </p:sp>
    </p:spTree>
    <p:extLst>
      <p:ext uri="{BB962C8B-B14F-4D97-AF65-F5344CB8AC3E}">
        <p14:creationId xmlns:p14="http://schemas.microsoft.com/office/powerpoint/2010/main" val="2810487737"/>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83045-19E4-2F64-9BC9-C79E930CBF5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D8E757A-5707-5264-F4A4-1C643EB6DD2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A494723-A956-3D85-1D64-784AFFD2F0B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4FCE5BA-03C4-E593-2981-F4BC42D933A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F3260678-30CE-16DD-30B7-E5429B09610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6622431-23E5-B8C6-76BB-740EC332332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47BD283-184C-4DB8-28C1-13B84E4FF51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sp>
        <p:nvSpPr>
          <p:cNvPr id="12" name="object 2">
            <a:extLst>
              <a:ext uri="{FF2B5EF4-FFF2-40B4-BE49-F238E27FC236}">
                <a16:creationId xmlns:a16="http://schemas.microsoft.com/office/drawing/2014/main" id="{CB0D790B-D754-67EC-DC9E-B5BE1B5D9205}"/>
              </a:ext>
            </a:extLst>
          </p:cNvPr>
          <p:cNvSpPr txBox="1">
            <a:spLocks/>
          </p:cNvSpPr>
          <p:nvPr/>
        </p:nvSpPr>
        <p:spPr>
          <a:xfrm>
            <a:off x="64096" y="716874"/>
            <a:ext cx="8915400" cy="51860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Distributed Database Schema Evolution</a:t>
            </a:r>
          </a:p>
          <a:p>
            <a:pPr marL="12700" marR="5080"/>
            <a:r>
              <a:rPr lang="en-US" sz="1700" dirty="0">
                <a:solidFill>
                  <a:schemeClr val="accent2"/>
                </a:solidFill>
                <a:latin typeface="Google Sans"/>
                <a:ea typeface="+mn-ea"/>
                <a:cs typeface="+mn-cs"/>
              </a:rPr>
              <a:t>Expand/Contract Pattern</a:t>
            </a:r>
          </a:p>
          <a:p>
            <a:pPr marL="12700" marR="5080"/>
            <a:r>
              <a:rPr lang="en-US" sz="1500" dirty="0">
                <a:solidFill>
                  <a:schemeClr val="accent6"/>
                </a:solidFill>
                <a:latin typeface="Google Sans"/>
                <a:ea typeface="+mn-ea"/>
                <a:cs typeface="+mn-cs"/>
              </a:rPr>
              <a:t>The expand/contract pattern is a phased approach to database schema changes that ensures zero-downtime rolling migrations by maintaining backward compatibility at each step. It involves a temporary "dual read-write" state where both the old and new schema elements coexist and are used in parallel, allowing the system to remain online during the transition. </a:t>
            </a:r>
          </a:p>
          <a:p>
            <a:pPr marL="12700" marR="5080"/>
            <a:r>
              <a:rPr lang="en-US" sz="1500" dirty="0">
                <a:solidFill>
                  <a:schemeClr val="accent2"/>
                </a:solidFill>
                <a:latin typeface="Google Sans"/>
                <a:ea typeface="+mn-ea"/>
                <a:cs typeface="+mn-cs"/>
              </a:rPr>
              <a:t>The Expand/Contract Process with Dual Read-Write Logic </a:t>
            </a:r>
          </a:p>
          <a:p>
            <a:pPr marL="12700" marR="5080"/>
            <a:r>
              <a:rPr lang="en-US" sz="1500" dirty="0">
                <a:solidFill>
                  <a:schemeClr val="accent6"/>
                </a:solidFill>
                <a:latin typeface="Google Sans"/>
                <a:ea typeface="+mn-ea"/>
                <a:cs typeface="+mn-cs"/>
              </a:rPr>
              <a:t>The process is broken down into several independent, reversible steps, allowing for a safe, incremental rollout. </a:t>
            </a:r>
          </a:p>
          <a:p>
            <a:pPr marL="12700" marR="5080"/>
            <a:r>
              <a:rPr lang="en-US" sz="1500" dirty="0">
                <a:solidFill>
                  <a:schemeClr val="accent2"/>
                </a:solidFill>
                <a:latin typeface="Google Sans"/>
                <a:ea typeface="+mn-ea"/>
                <a:cs typeface="+mn-cs"/>
              </a:rPr>
              <a:t>Phase 1: Expand</a:t>
            </a:r>
          </a:p>
          <a:p>
            <a:pPr marL="12700" marR="5080"/>
            <a:r>
              <a:rPr lang="en-US" sz="1500" dirty="0">
                <a:solidFill>
                  <a:schemeClr val="accent2"/>
                </a:solidFill>
                <a:latin typeface="Google Sans"/>
                <a:ea typeface="+mn-ea"/>
                <a:cs typeface="+mn-cs"/>
              </a:rPr>
              <a:t>Design and Deploy New Schema Elements:</a:t>
            </a:r>
            <a:r>
              <a:rPr lang="en-US" sz="1500" dirty="0">
                <a:solidFill>
                  <a:schemeClr val="accent6"/>
                </a:solidFill>
                <a:latin typeface="Google Sans"/>
                <a:ea typeface="+mn-ea"/>
                <a:cs typeface="+mn-cs"/>
              </a:rPr>
              <a:t> Introduce the new schema elements (e.g., new columns, tables, or indexes) alongside the original ones. The new elements should not have constraints (like NOT NULL) that would break the existing application code.</a:t>
            </a:r>
          </a:p>
          <a:p>
            <a:pPr marL="12700" marR="5080"/>
            <a:r>
              <a:rPr lang="en-US" sz="1500" dirty="0">
                <a:solidFill>
                  <a:schemeClr val="accent2"/>
                </a:solidFill>
                <a:latin typeface="Google Sans"/>
                <a:ea typeface="+mn-ea"/>
                <a:cs typeface="+mn-cs"/>
              </a:rPr>
              <a:t>Modify Application Code for Dual Writes: </a:t>
            </a:r>
            <a:r>
              <a:rPr lang="en-US" sz="1500" dirty="0">
                <a:solidFill>
                  <a:schemeClr val="accent6"/>
                </a:solidFill>
                <a:latin typeface="Google Sans"/>
                <a:ea typeface="+mn-ea"/>
                <a:cs typeface="+mn-cs"/>
              </a:rPr>
              <a:t>Update the application code to write to both the old and the new data structures simultaneously. The application still reads data exclusively from the original structure, ensuring that the external behavior remains unchanged and all existing data remains the source of truth.</a:t>
            </a:r>
          </a:p>
          <a:p>
            <a:pPr marL="12700" marR="5080"/>
            <a:r>
              <a:rPr lang="en-US" sz="1500" dirty="0">
                <a:solidFill>
                  <a:schemeClr val="accent2"/>
                </a:solidFill>
                <a:latin typeface="Google Sans"/>
                <a:ea typeface="+mn-ea"/>
                <a:cs typeface="+mn-cs"/>
              </a:rPr>
              <a:t>Backfill Existing Data: </a:t>
            </a:r>
            <a:r>
              <a:rPr lang="en-US" sz="1500" dirty="0">
                <a:solidFill>
                  <a:schemeClr val="accent6"/>
                </a:solidFill>
                <a:latin typeface="Google Sans"/>
                <a:ea typeface="+mn-ea"/>
                <a:cs typeface="+mn-cs"/>
              </a:rPr>
              <a:t>Run a background migration script to copy and transform existing data from the old schema to the new schema. This process should be designed to handle potential race conditions if the application is also writing to the same records, possibly using conditional logic or triggers. </a:t>
            </a:r>
          </a:p>
          <a:p>
            <a:pPr marL="12700" marR="5080"/>
            <a:r>
              <a:rPr lang="en-US" sz="1500" dirty="0">
                <a:solidFill>
                  <a:schemeClr val="accent2"/>
                </a:solidFill>
                <a:latin typeface="Google Sans"/>
                <a:ea typeface="+mn-ea"/>
                <a:cs typeface="+mn-cs"/>
              </a:rPr>
              <a:t>Phase 2: Transition (Dual Read-Write State)</a:t>
            </a:r>
          </a:p>
          <a:p>
            <a:pPr marL="12700" marR="5080"/>
            <a:r>
              <a:rPr lang="en-US" sz="1500" dirty="0">
                <a:solidFill>
                  <a:schemeClr val="accent2"/>
                </a:solidFill>
                <a:latin typeface="Google Sans"/>
                <a:ea typeface="+mn-ea"/>
                <a:cs typeface="+mn-cs"/>
              </a:rPr>
              <a:t>Modify Application Code for Dual Reads and New Writes:</a:t>
            </a:r>
          </a:p>
          <a:p>
            <a:pPr marL="12700" marR="5080"/>
            <a:r>
              <a:rPr lang="en-US" sz="1500" dirty="0">
                <a:solidFill>
                  <a:schemeClr val="accent6"/>
                </a:solidFill>
                <a:latin typeface="Google Sans"/>
                <a:ea typeface="+mn-ea"/>
                <a:cs typeface="+mn-cs"/>
              </a:rPr>
              <a:t>The application continues to write to both structures.</a:t>
            </a:r>
          </a:p>
          <a:p>
            <a:pPr marL="12700" marR="5080"/>
            <a:r>
              <a:rPr lang="en-US" sz="1500" dirty="0">
                <a:solidFill>
                  <a:schemeClr val="accent6"/>
                </a:solidFill>
                <a:latin typeface="Google Sans"/>
                <a:ea typeface="+mn-ea"/>
                <a:cs typeface="+mn-cs"/>
              </a:rPr>
              <a:t>The application's read operations are switched to read from the new schema.</a:t>
            </a:r>
          </a:p>
        </p:txBody>
      </p:sp>
    </p:spTree>
    <p:extLst>
      <p:ext uri="{BB962C8B-B14F-4D97-AF65-F5344CB8AC3E}">
        <p14:creationId xmlns:p14="http://schemas.microsoft.com/office/powerpoint/2010/main" val="3911368220"/>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B3A2E-174D-215E-CD39-CCABE643640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A19FFF6-2C5E-B6FB-4FDF-DB1B9639FE7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ACF8AA1-40A5-CFEA-552D-B636E40C9D7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3BC78FD-6948-D2E8-3408-0C9F8B46C9E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B09170B1-9E3B-AA54-70F8-10B82EFCACC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9DC011C-5BC8-91DE-02B1-D8FB9870093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94DE43D-21AC-9DC4-4D94-C274293F33B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sp>
        <p:nvSpPr>
          <p:cNvPr id="12" name="object 2">
            <a:extLst>
              <a:ext uri="{FF2B5EF4-FFF2-40B4-BE49-F238E27FC236}">
                <a16:creationId xmlns:a16="http://schemas.microsoft.com/office/drawing/2014/main" id="{76A743E7-1893-293B-5859-3E91E9F8B437}"/>
              </a:ext>
            </a:extLst>
          </p:cNvPr>
          <p:cNvSpPr txBox="1">
            <a:spLocks/>
          </p:cNvSpPr>
          <p:nvPr/>
        </p:nvSpPr>
        <p:spPr>
          <a:xfrm>
            <a:off x="64096" y="716874"/>
            <a:ext cx="8915400" cy="51860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Distributed Database Schema Evolution</a:t>
            </a:r>
          </a:p>
          <a:p>
            <a:pPr marL="12700" marR="5080"/>
            <a:r>
              <a:rPr lang="en-US" sz="1700" dirty="0">
                <a:solidFill>
                  <a:schemeClr val="accent2"/>
                </a:solidFill>
                <a:latin typeface="Google Sans"/>
                <a:ea typeface="+mn-ea"/>
                <a:cs typeface="+mn-cs"/>
              </a:rPr>
              <a:t>Expand/Contract Pattern</a:t>
            </a:r>
          </a:p>
          <a:p>
            <a:pPr marL="12700" marR="5080"/>
            <a:r>
              <a:rPr lang="en-US" sz="1500" dirty="0">
                <a:solidFill>
                  <a:schemeClr val="accent2"/>
                </a:solidFill>
                <a:latin typeface="Google Sans"/>
                <a:ea typeface="+mn-ea"/>
                <a:cs typeface="+mn-cs"/>
              </a:rPr>
              <a:t>The Expand/Contract Process with Dual Read-Write Logic </a:t>
            </a:r>
          </a:p>
          <a:p>
            <a:pPr marL="12700" marR="5080"/>
            <a:r>
              <a:rPr lang="en-US" sz="1500" dirty="0">
                <a:solidFill>
                  <a:schemeClr val="accent2"/>
                </a:solidFill>
                <a:latin typeface="Google Sans"/>
                <a:ea typeface="+mn-ea"/>
                <a:cs typeface="+mn-cs"/>
              </a:rPr>
              <a:t>Phase 2: Transition (Dual Read-Write State)</a:t>
            </a:r>
          </a:p>
          <a:p>
            <a:pPr marL="12700" marR="5080"/>
            <a:r>
              <a:rPr lang="en-US" sz="1500" dirty="0">
                <a:solidFill>
                  <a:schemeClr val="accent2"/>
                </a:solidFill>
                <a:latin typeface="Google Sans"/>
                <a:ea typeface="+mn-ea"/>
                <a:cs typeface="+mn-cs"/>
              </a:rPr>
              <a:t>Modify Application Code for Dual Reads and New Writes:</a:t>
            </a:r>
          </a:p>
          <a:p>
            <a:pPr marL="12700" marR="5080"/>
            <a:r>
              <a:rPr lang="en-US" sz="1500" dirty="0">
                <a:solidFill>
                  <a:schemeClr val="accent6"/>
                </a:solidFill>
                <a:latin typeface="Google Sans"/>
                <a:ea typeface="+mn-ea"/>
                <a:cs typeface="+mn-cs"/>
              </a:rPr>
              <a:t>During this period, both old and new application versions can run in parallel (using feature flags for controlled rollouts can help manage this). The new version reads from the new schema while the old version reads from the old.</a:t>
            </a:r>
          </a:p>
          <a:p>
            <a:pPr marL="12700" marR="5080"/>
            <a:r>
              <a:rPr lang="en-US" sz="1500" dirty="0">
                <a:solidFill>
                  <a:schemeClr val="accent2"/>
                </a:solidFill>
                <a:latin typeface="Google Sans"/>
                <a:ea typeface="+mn-ea"/>
                <a:cs typeface="+mn-cs"/>
              </a:rPr>
              <a:t>Test and Validate:</a:t>
            </a:r>
            <a:r>
              <a:rPr lang="en-US" sz="1500" dirty="0">
                <a:solidFill>
                  <a:schemeClr val="accent6"/>
                </a:solidFill>
                <a:latin typeface="Google Sans"/>
                <a:ea typeface="+mn-ea"/>
                <a:cs typeface="+mn-cs"/>
              </a:rPr>
              <a:t> The system runs in a production environment with the new schema as the source of truth for reads. This is an opportunity to test the new structure's functionality and performance with live traffic. </a:t>
            </a:r>
          </a:p>
          <a:p>
            <a:pPr marL="12700" marR="5080"/>
            <a:r>
              <a:rPr lang="en-US" sz="1500" dirty="0">
                <a:solidFill>
                  <a:schemeClr val="accent2"/>
                </a:solidFill>
                <a:latin typeface="Google Sans"/>
                <a:ea typeface="+mn-ea"/>
                <a:cs typeface="+mn-cs"/>
              </a:rPr>
              <a:t>Phase 3: Contract</a:t>
            </a:r>
          </a:p>
          <a:p>
            <a:pPr marL="12700" marR="5080"/>
            <a:r>
              <a:rPr lang="en-US" sz="1500" dirty="0">
                <a:solidFill>
                  <a:schemeClr val="accent6"/>
                </a:solidFill>
                <a:latin typeface="Google Sans"/>
                <a:ea typeface="+mn-ea"/>
                <a:cs typeface="+mn-cs"/>
              </a:rPr>
              <a:t>Discontinue Writes to the Original Structure: Once the new schema is validated and considered stable, update the application code to stop writing to the old data structure. All data access (reads and writes) now exclusively uses the new schema.</a:t>
            </a:r>
          </a:p>
          <a:p>
            <a:pPr marL="12700" marR="5080"/>
            <a:r>
              <a:rPr lang="en-US" sz="1500" dirty="0">
                <a:solidFill>
                  <a:schemeClr val="accent2"/>
                </a:solidFill>
                <a:latin typeface="Google Sans"/>
                <a:ea typeface="+mn-ea"/>
                <a:cs typeface="+mn-cs"/>
              </a:rPr>
              <a:t>Remove the Original Structure: </a:t>
            </a:r>
            <a:r>
              <a:rPr lang="en-US" sz="1500" dirty="0">
                <a:solidFill>
                  <a:schemeClr val="accent6"/>
                </a:solidFill>
                <a:latin typeface="Google Sans"/>
                <a:ea typeface="+mn-ea"/>
                <a:cs typeface="+mn-cs"/>
              </a:rPr>
              <a:t>After confirming that no part of the system is using the old schema elements (typically after a "confidence window" to ensure no rollbacks are needed), the original tables, columns, or other elements can be safely removed from the database. </a:t>
            </a:r>
          </a:p>
          <a:p>
            <a:pPr marL="12700" marR="5080"/>
            <a:endParaRPr lang="en-US" sz="1500" dirty="0">
              <a:solidFill>
                <a:schemeClr val="accent6"/>
              </a:solidFill>
              <a:latin typeface="Google Sans"/>
              <a:ea typeface="+mn-ea"/>
              <a:cs typeface="+mn-cs"/>
            </a:endParaRPr>
          </a:p>
          <a:p>
            <a:pPr marL="12700" marR="5080"/>
            <a:r>
              <a:rPr lang="en-US" sz="1500" dirty="0">
                <a:solidFill>
                  <a:schemeClr val="accent2"/>
                </a:solidFill>
                <a:latin typeface="Google Sans"/>
                <a:ea typeface="+mn-ea"/>
                <a:cs typeface="+mn-cs"/>
              </a:rPr>
              <a:t>Key Benefits</a:t>
            </a:r>
          </a:p>
          <a:p>
            <a:pPr marL="12700" marR="5080"/>
            <a:r>
              <a:rPr lang="en-US" sz="1500" dirty="0">
                <a:solidFill>
                  <a:schemeClr val="accent2"/>
                </a:solidFill>
                <a:latin typeface="Google Sans"/>
                <a:ea typeface="+mn-ea"/>
                <a:cs typeface="+mn-cs"/>
              </a:rPr>
              <a:t>Zero Downtime: </a:t>
            </a:r>
            <a:r>
              <a:rPr lang="en-US" sz="1500" dirty="0">
                <a:solidFill>
                  <a:schemeClr val="accent6"/>
                </a:solidFill>
                <a:latin typeface="Google Sans"/>
                <a:ea typeface="+mn-ea"/>
                <a:cs typeface="+mn-cs"/>
              </a:rPr>
              <a:t>The application remains available and functional throughout the entire process.</a:t>
            </a:r>
          </a:p>
          <a:p>
            <a:pPr marL="12700" marR="5080"/>
            <a:r>
              <a:rPr lang="en-US" sz="1500" dirty="0">
                <a:solidFill>
                  <a:schemeClr val="accent2"/>
                </a:solidFill>
                <a:latin typeface="Google Sans"/>
                <a:ea typeface="+mn-ea"/>
                <a:cs typeface="+mn-cs"/>
              </a:rPr>
              <a:t>Backward Compatibility:</a:t>
            </a:r>
            <a:r>
              <a:rPr lang="en-US" sz="1500" dirty="0">
                <a:solidFill>
                  <a:schemeClr val="accent6"/>
                </a:solidFill>
                <a:latin typeface="Google Sans"/>
                <a:ea typeface="+mn-ea"/>
                <a:cs typeface="+mn-cs"/>
              </a:rPr>
              <a:t> Each step maintains compatibility with the previous application version, allowing for independent deployment of schema and code changes.</a:t>
            </a:r>
          </a:p>
        </p:txBody>
      </p:sp>
    </p:spTree>
    <p:extLst>
      <p:ext uri="{BB962C8B-B14F-4D97-AF65-F5344CB8AC3E}">
        <p14:creationId xmlns:p14="http://schemas.microsoft.com/office/powerpoint/2010/main" val="3082340047"/>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77E7A-47C0-660C-28F6-39B3AAAD468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4B1FD9C-D99C-FC2F-4DAC-1D91FEECEBE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1916BE5-43AF-FB05-2D23-65FD54C1C77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E88B490-D829-C2E1-5D56-77DCD97D44F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BF254989-9533-2215-17A9-B652AD0CF3E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60824C78-D143-7676-789C-9614D460909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649FAD5-BE18-6046-170B-EF9E2E8E89B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Replication</a:t>
              </a:r>
              <a:endParaRPr lang="en-US" sz="2500" kern="1200" dirty="0">
                <a:solidFill>
                  <a:schemeClr val="bg1"/>
                </a:solidFill>
              </a:endParaRPr>
            </a:p>
          </p:txBody>
        </p:sp>
      </p:grpSp>
      <p:sp>
        <p:nvSpPr>
          <p:cNvPr id="12" name="object 2">
            <a:extLst>
              <a:ext uri="{FF2B5EF4-FFF2-40B4-BE49-F238E27FC236}">
                <a16:creationId xmlns:a16="http://schemas.microsoft.com/office/drawing/2014/main" id="{73C8E934-9702-8288-A26B-395D8E960163}"/>
              </a:ext>
            </a:extLst>
          </p:cNvPr>
          <p:cNvSpPr txBox="1">
            <a:spLocks/>
          </p:cNvSpPr>
          <p:nvPr/>
        </p:nvSpPr>
        <p:spPr>
          <a:xfrm>
            <a:off x="64096" y="716874"/>
            <a:ext cx="8915400" cy="440120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Distributed Database Schema Evolution</a:t>
            </a:r>
          </a:p>
          <a:p>
            <a:pPr marL="12700" marR="5080"/>
            <a:r>
              <a:rPr lang="en-US" sz="1700" dirty="0">
                <a:solidFill>
                  <a:schemeClr val="accent2"/>
                </a:solidFill>
                <a:latin typeface="Google Sans"/>
                <a:ea typeface="+mn-ea"/>
                <a:cs typeface="+mn-cs"/>
              </a:rPr>
              <a:t>Expand/Contract Pattern</a:t>
            </a:r>
          </a:p>
          <a:p>
            <a:pPr marL="12700" marR="5080"/>
            <a:r>
              <a:rPr lang="en-US" sz="1500" dirty="0">
                <a:solidFill>
                  <a:schemeClr val="accent2"/>
                </a:solidFill>
                <a:latin typeface="Google Sans"/>
                <a:ea typeface="+mn-ea"/>
                <a:cs typeface="+mn-cs"/>
              </a:rPr>
              <a:t>Key Benefits</a:t>
            </a:r>
          </a:p>
          <a:p>
            <a:pPr marL="12700" marR="5080"/>
            <a:r>
              <a:rPr lang="en-US" sz="1500" dirty="0">
                <a:solidFill>
                  <a:schemeClr val="accent2"/>
                </a:solidFill>
                <a:latin typeface="Google Sans"/>
                <a:ea typeface="+mn-ea"/>
                <a:cs typeface="+mn-cs"/>
              </a:rPr>
              <a:t>Easy Rollback: </a:t>
            </a:r>
            <a:r>
              <a:rPr lang="en-US" sz="1500" dirty="0">
                <a:solidFill>
                  <a:schemeClr val="accent6"/>
                </a:solidFill>
                <a:latin typeface="Google Sans"/>
                <a:ea typeface="+mn-ea"/>
                <a:cs typeface="+mn-cs"/>
              </a:rPr>
              <a:t>Most steps allow for a safe and easy rollback; if an issue arises, you can revert the code to an earlier version that uses the existing (still-present) schema.</a:t>
            </a:r>
          </a:p>
          <a:p>
            <a:pPr marL="12700" marR="5080"/>
            <a:r>
              <a:rPr lang="en-US" sz="1500" dirty="0">
                <a:solidFill>
                  <a:schemeClr val="accent2"/>
                </a:solidFill>
                <a:latin typeface="Google Sans"/>
                <a:ea typeface="+mn-ea"/>
                <a:cs typeface="+mn-cs"/>
              </a:rPr>
              <a:t>Incremental Risk Mitigation:</a:t>
            </a:r>
            <a:r>
              <a:rPr lang="en-US" sz="1500" dirty="0">
                <a:solidFill>
                  <a:schemeClr val="accent6"/>
                </a:solidFill>
                <a:latin typeface="Google Sans"/>
                <a:ea typeface="+mn-ea"/>
                <a:cs typeface="+mn-cs"/>
              </a:rPr>
              <a:t> Breaking a large, risky change into smaller, manageable steps reduces the overall risk of a migration failure. </a:t>
            </a:r>
          </a:p>
          <a:p>
            <a:pPr marL="12700" marR="5080"/>
            <a:endParaRPr lang="en-US" sz="1500" dirty="0">
              <a:solidFill>
                <a:schemeClr val="accent6"/>
              </a:solidFill>
              <a:latin typeface="Google Sans"/>
              <a:ea typeface="+mn-ea"/>
              <a:cs typeface="+mn-cs"/>
            </a:endParaRPr>
          </a:p>
          <a:p>
            <a:pPr marL="12700" marR="5080"/>
            <a:r>
              <a:rPr lang="en-US" sz="1600" kern="0" spc="-80" dirty="0">
                <a:solidFill>
                  <a:schemeClr val="accent2"/>
                </a:solidFill>
              </a:rPr>
              <a:t>For Further Exploration</a:t>
            </a:r>
          </a:p>
          <a:p>
            <a:pPr marL="12700" marR="5080"/>
            <a:r>
              <a:rPr lang="en-US" sz="1400" dirty="0">
                <a:hlinkClick r:id="rId2"/>
              </a:rPr>
              <a:t>Chain replication : how to build an effective KV-storage (part 1/2)</a:t>
            </a:r>
            <a:endParaRPr lang="en-US" sz="1400" dirty="0"/>
          </a:p>
          <a:p>
            <a:pPr marL="12700" marR="5080"/>
            <a:r>
              <a:rPr lang="en-US" sz="1400" dirty="0">
                <a:hlinkClick r:id="rId3"/>
              </a:rPr>
              <a:t>System Design Concepts: Dynamo</a:t>
            </a:r>
            <a:endParaRPr lang="en-US" sz="1400" dirty="0"/>
          </a:p>
          <a:p>
            <a:pPr marL="12700" marR="5080"/>
            <a:r>
              <a:rPr lang="en-US" sz="1400" dirty="0">
                <a:hlinkClick r:id="rId4"/>
              </a:rPr>
              <a:t>Conflict Resolution Strategies for Distributed Systems: When Two Truths Collide</a:t>
            </a:r>
            <a:endParaRPr lang="en-US" sz="1400" dirty="0"/>
          </a:p>
          <a:p>
            <a:pPr marL="12700" marR="5080"/>
            <a:r>
              <a:rPr lang="en-US" sz="1400" dirty="0">
                <a:hlinkClick r:id="rId5"/>
              </a:rPr>
              <a:t>A Look at CRDT</a:t>
            </a:r>
            <a:endParaRPr lang="en-US" sz="1400" dirty="0"/>
          </a:p>
          <a:p>
            <a:pPr marL="12700" marR="5080"/>
            <a:r>
              <a:rPr lang="en-US" sz="1400" dirty="0">
                <a:hlinkClick r:id="rId6"/>
              </a:rPr>
              <a:t>Conflict-free replicated data type - Wikipedia</a:t>
            </a:r>
            <a:endParaRPr lang="en-US" sz="1400" dirty="0"/>
          </a:p>
          <a:p>
            <a:pPr marL="12700" marR="5080"/>
            <a:r>
              <a:rPr lang="en-IN" sz="1400" dirty="0">
                <a:hlinkClick r:id="rId7"/>
              </a:rPr>
              <a:t>Distributed Data • Akka core</a:t>
            </a:r>
            <a:endParaRPr lang="en-IN" sz="1400" dirty="0"/>
          </a:p>
          <a:p>
            <a:pPr marL="12700" marR="5080"/>
            <a:r>
              <a:rPr lang="en-IN" sz="1400" dirty="0">
                <a:hlinkClick r:id="rId8"/>
              </a:rPr>
              <a:t>Operational-Transformation/ot.js</a:t>
            </a:r>
            <a:r>
              <a:rPr lang="en-IN" sz="1400" dirty="0">
                <a:solidFill>
                  <a:schemeClr val="accent6"/>
                </a:solidFill>
                <a:latin typeface="Google Sans"/>
              </a:rPr>
              <a:t>(How Text Editors handle Conflict Resolution)</a:t>
            </a:r>
            <a:endParaRPr lang="en-US" sz="1400" dirty="0">
              <a:solidFill>
                <a:schemeClr val="accent6"/>
              </a:solidFill>
              <a:latin typeface="Google Sans"/>
            </a:endParaRPr>
          </a:p>
          <a:p>
            <a:pPr marL="12700" marR="5080"/>
            <a:endParaRPr lang="en-US" sz="1500" dirty="0">
              <a:solidFill>
                <a:schemeClr val="accent6"/>
              </a:solidFill>
              <a:latin typeface="Google Sans"/>
              <a:ea typeface="+mn-ea"/>
              <a:cs typeface="+mn-cs"/>
            </a:endParaRPr>
          </a:p>
          <a:p>
            <a:pPr marL="12700" marR="5080"/>
            <a:endParaRPr lang="en-US" sz="1500" dirty="0">
              <a:solidFill>
                <a:schemeClr val="accent6"/>
              </a:solidFill>
              <a:latin typeface="Google Sans"/>
              <a:ea typeface="+mn-ea"/>
              <a:cs typeface="+mn-cs"/>
            </a:endParaRPr>
          </a:p>
          <a:p>
            <a:pPr marL="12700" marR="5080"/>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56039733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2" y="75555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2" y="59670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extLst>
              <p:ext uri="{D42A27DB-BD31-4B8C-83A1-F6EECF244321}">
                <p14:modId xmlns:p14="http://schemas.microsoft.com/office/powerpoint/2010/main" val="2013782174"/>
              </p:ext>
            </p:extLst>
          </p:nvPr>
        </p:nvGraphicFramePr>
        <p:xfrm>
          <a:off x="0" y="0"/>
          <a:ext cx="9144000" cy="685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a:extLst>
              <a:ext uri="{FF2B5EF4-FFF2-40B4-BE49-F238E27FC236}">
                <a16:creationId xmlns:a16="http://schemas.microsoft.com/office/drawing/2014/main" id="{080BE40B-88D8-CE47-CC0E-1DAA00B56BE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914400"/>
            <a:ext cx="4572000" cy="50292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BASE">
            <a:extLst>
              <a:ext uri="{FF2B5EF4-FFF2-40B4-BE49-F238E27FC236}">
                <a16:creationId xmlns:a16="http://schemas.microsoft.com/office/drawing/2014/main" id="{6AB8B2B2-FCD4-34F3-88A6-72167811FE1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914400"/>
            <a:ext cx="4572000"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854800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EE52-E186-C7A2-F932-D261195461D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CFB97C9-6057-B208-7034-98696BB8B65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FD13D6B-20C4-DDDD-D4BA-B8583BACDC8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2F2D654-EC80-0BAE-D346-52DBF8743E3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315FE2CA-8689-6113-F81D-A80B3586E503}"/>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8A65EB1B-794D-93CE-9F2E-7E1C2EEC1D8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E0FAD641-2CD9-061F-885F-E38F8428A8E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Transaction</a:t>
              </a:r>
              <a:endParaRPr lang="en-US" sz="2500" kern="1200" dirty="0">
                <a:solidFill>
                  <a:schemeClr val="bg1"/>
                </a:solidFill>
              </a:endParaRPr>
            </a:p>
          </p:txBody>
        </p:sp>
      </p:grpSp>
      <p:sp>
        <p:nvSpPr>
          <p:cNvPr id="6" name="object 2">
            <a:extLst>
              <a:ext uri="{FF2B5EF4-FFF2-40B4-BE49-F238E27FC236}">
                <a16:creationId xmlns:a16="http://schemas.microsoft.com/office/drawing/2014/main" id="{73D7C0AD-D357-53B6-344D-A8A460EE6F78}"/>
              </a:ext>
            </a:extLst>
          </p:cNvPr>
          <p:cNvSpPr txBox="1">
            <a:spLocks/>
          </p:cNvSpPr>
          <p:nvPr/>
        </p:nvSpPr>
        <p:spPr>
          <a:xfrm>
            <a:off x="0" y="708024"/>
            <a:ext cx="8624937" cy="115416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6"/>
                </a:solidFill>
                <a:latin typeface="Google Sans"/>
                <a:ea typeface="+mn-ea"/>
                <a:cs typeface="+mn-cs"/>
              </a:rPr>
              <a:t>Distributed transaction management requires balancing consistency, availability, and performance. 2PC/3PC provide strict ACID compliance with higher blocking risk, whereas Saga and TCC prioritize eventual consistency and high availability. The Transactional Outbox pattern ensures reliable event publishing, serving as a foundational component for Saga in microservices, ensuring local database updates and messaging are atomic. </a:t>
            </a:r>
          </a:p>
        </p:txBody>
      </p:sp>
      <p:pic>
        <p:nvPicPr>
          <p:cNvPr id="7" name="Picture 6">
            <a:extLst>
              <a:ext uri="{FF2B5EF4-FFF2-40B4-BE49-F238E27FC236}">
                <a16:creationId xmlns:a16="http://schemas.microsoft.com/office/drawing/2014/main" id="{D5614924-8010-75BD-C2B0-5D6464F11E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60610"/>
            <a:ext cx="9067799" cy="1849390"/>
          </a:xfrm>
          <a:prstGeom prst="rect">
            <a:avLst/>
          </a:prstGeom>
        </p:spPr>
      </p:pic>
      <p:pic>
        <p:nvPicPr>
          <p:cNvPr id="12" name="Picture 11">
            <a:extLst>
              <a:ext uri="{FF2B5EF4-FFF2-40B4-BE49-F238E27FC236}">
                <a16:creationId xmlns:a16="http://schemas.microsoft.com/office/drawing/2014/main" id="{7EE4AEB3-84C0-1204-92D4-EB785C7F57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1" y="3807952"/>
            <a:ext cx="8777336" cy="2135648"/>
          </a:xfrm>
          <a:prstGeom prst="rect">
            <a:avLst/>
          </a:prstGeom>
        </p:spPr>
      </p:pic>
    </p:spTree>
    <p:extLst>
      <p:ext uri="{BB962C8B-B14F-4D97-AF65-F5344CB8AC3E}">
        <p14:creationId xmlns:p14="http://schemas.microsoft.com/office/powerpoint/2010/main" val="124190541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D94622-DC13-13E3-2788-86D44FF97D1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B0F9DD1-8B20-D01E-8250-BB326727831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ECED3FB-B1A9-B60D-8FFF-B7C756CD274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8AFB1BF-0AD1-6CA7-69A2-439F0B82762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72953645-4DF8-FE64-1740-7BB9C42C76B2}"/>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2A1A455F-AD2D-0121-8B34-65FACF55E504}"/>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3A83CFED-1050-837F-CAE8-E51B2575CCC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Transaction</a:t>
              </a:r>
              <a:endParaRPr lang="en-US" sz="2500" kern="1200" dirty="0">
                <a:solidFill>
                  <a:schemeClr val="bg1"/>
                </a:solidFill>
              </a:endParaRPr>
            </a:p>
          </p:txBody>
        </p:sp>
      </p:grpSp>
      <p:pic>
        <p:nvPicPr>
          <p:cNvPr id="9" name="Picture 8">
            <a:extLst>
              <a:ext uri="{FF2B5EF4-FFF2-40B4-BE49-F238E27FC236}">
                <a16:creationId xmlns:a16="http://schemas.microsoft.com/office/drawing/2014/main" id="{95D7D05B-099F-34BB-6DE9-5063660D99C9}"/>
              </a:ext>
            </a:extLst>
          </p:cNvPr>
          <p:cNvPicPr>
            <a:picLocks noChangeAspect="1"/>
          </p:cNvPicPr>
          <p:nvPr/>
        </p:nvPicPr>
        <p:blipFill>
          <a:blip r:embed="rId2"/>
          <a:stretch>
            <a:fillRect/>
          </a:stretch>
        </p:blipFill>
        <p:spPr>
          <a:xfrm>
            <a:off x="44910" y="762000"/>
            <a:ext cx="9123679" cy="843587"/>
          </a:xfrm>
          <a:prstGeom prst="rect">
            <a:avLst/>
          </a:prstGeom>
        </p:spPr>
      </p:pic>
      <p:pic>
        <p:nvPicPr>
          <p:cNvPr id="14" name="Picture 13">
            <a:extLst>
              <a:ext uri="{FF2B5EF4-FFF2-40B4-BE49-F238E27FC236}">
                <a16:creationId xmlns:a16="http://schemas.microsoft.com/office/drawing/2014/main" id="{E6F92E52-7905-A4B6-5EEC-BA585A1617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90" y="1539400"/>
            <a:ext cx="9068610" cy="2270600"/>
          </a:xfrm>
          <a:prstGeom prst="rect">
            <a:avLst/>
          </a:prstGeom>
        </p:spPr>
      </p:pic>
      <p:sp>
        <p:nvSpPr>
          <p:cNvPr id="17" name="object 2">
            <a:extLst>
              <a:ext uri="{FF2B5EF4-FFF2-40B4-BE49-F238E27FC236}">
                <a16:creationId xmlns:a16="http://schemas.microsoft.com/office/drawing/2014/main" id="{6BEA256E-3CB7-6946-09DE-310924E9B770}"/>
              </a:ext>
            </a:extLst>
          </p:cNvPr>
          <p:cNvSpPr txBox="1">
            <a:spLocks/>
          </p:cNvSpPr>
          <p:nvPr/>
        </p:nvSpPr>
        <p:spPr>
          <a:xfrm>
            <a:off x="0" y="3866108"/>
            <a:ext cx="9168589" cy="20774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Pattern Deep Dive</a:t>
            </a:r>
          </a:p>
          <a:p>
            <a:r>
              <a:rPr lang="en-US" sz="1500" dirty="0">
                <a:solidFill>
                  <a:schemeClr val="accent2"/>
                </a:solidFill>
                <a:latin typeface="Google Sans"/>
                <a:ea typeface="+mn-ea"/>
                <a:cs typeface="+mn-cs"/>
              </a:rPr>
              <a:t>2PC (Two-Phase Commit): </a:t>
            </a:r>
            <a:r>
              <a:rPr lang="en-US" sz="1500" dirty="0">
                <a:solidFill>
                  <a:schemeClr val="accent6"/>
                </a:solidFill>
                <a:latin typeface="Google Sans"/>
                <a:ea typeface="+mn-ea"/>
                <a:cs typeface="+mn-cs"/>
              </a:rPr>
              <a:t>A "voting" protocol. A central coordinator asks all participants if they can commit. If all say yes, it sends a commit signal. </a:t>
            </a:r>
          </a:p>
          <a:p>
            <a:r>
              <a:rPr lang="en-US" sz="1500" dirty="0">
                <a:solidFill>
                  <a:schemeClr val="accent2"/>
                </a:solidFill>
                <a:latin typeface="Google Sans"/>
                <a:ea typeface="+mn-ea"/>
                <a:cs typeface="+mn-cs"/>
              </a:rPr>
              <a:t>Main Flaw:</a:t>
            </a:r>
            <a:r>
              <a:rPr lang="en-US" sz="1500" dirty="0">
                <a:solidFill>
                  <a:schemeClr val="accent6"/>
                </a:solidFill>
                <a:latin typeface="Google Sans"/>
                <a:ea typeface="+mn-ea"/>
                <a:cs typeface="+mn-cs"/>
              </a:rPr>
              <a:t> If the coordinator fails during the process, participants stay blocked, holding locks indefinitely.</a:t>
            </a:r>
          </a:p>
          <a:p>
            <a:r>
              <a:rPr lang="en-US" sz="1500" dirty="0">
                <a:solidFill>
                  <a:schemeClr val="accent2"/>
                </a:solidFill>
                <a:latin typeface="Google Sans"/>
                <a:ea typeface="+mn-ea"/>
                <a:cs typeface="+mn-cs"/>
              </a:rPr>
              <a:t>3PC (Three-Phase Commit):</a:t>
            </a:r>
            <a:r>
              <a:rPr lang="en-US" sz="1500" dirty="0">
                <a:solidFill>
                  <a:schemeClr val="accent6"/>
                </a:solidFill>
                <a:latin typeface="Google Sans"/>
                <a:ea typeface="+mn-ea"/>
                <a:cs typeface="+mn-cs"/>
              </a:rPr>
              <a:t> Adds a "Pre-Commit" phase. This creates a timeout mechanism. If a participant doesn't hear back, it can safely assume a state based on its current phase, reducing the blocking problem of 2PC.</a:t>
            </a:r>
          </a:p>
          <a:p>
            <a:r>
              <a:rPr lang="en-US" sz="1500" dirty="0">
                <a:solidFill>
                  <a:schemeClr val="accent2"/>
                </a:solidFill>
                <a:latin typeface="Google Sans"/>
                <a:ea typeface="+mn-ea"/>
                <a:cs typeface="+mn-cs"/>
              </a:rPr>
              <a:t>Saga Pattern: </a:t>
            </a:r>
            <a:r>
              <a:rPr lang="en-US" sz="1500" dirty="0">
                <a:solidFill>
                  <a:schemeClr val="accent6"/>
                </a:solidFill>
                <a:latin typeface="Google Sans"/>
                <a:ea typeface="+mn-ea"/>
                <a:cs typeface="+mn-cs"/>
              </a:rPr>
              <a:t>Splits one large transaction into a sequence of small local ACID transactions. If step 3 fails, it executes "compensating" transactions for steps 1 and 2 (e.g., if "Charge Card" succeeds but "Book Flight" fails, Saga triggers "Refund Card").</a:t>
            </a:r>
          </a:p>
        </p:txBody>
      </p:sp>
    </p:spTree>
    <p:extLst>
      <p:ext uri="{BB962C8B-B14F-4D97-AF65-F5344CB8AC3E}">
        <p14:creationId xmlns:p14="http://schemas.microsoft.com/office/powerpoint/2010/main" val="305593873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6D510-F808-BE35-AD76-43B8F09C0FB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01706B8-D274-8E08-D216-88F6E815F59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208251E-30C2-7E0A-383D-E8056FDC9E8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FF416AF1-44FB-C465-B9BB-20E7A1C0413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DF82C3F3-3063-3956-5878-38A7564ACB01}"/>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FF460695-5214-2726-FED9-FE365DC12F0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DBAC4746-79B1-1876-9046-34578BF3A88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Transaction</a:t>
              </a:r>
              <a:endParaRPr lang="en-US" sz="2500" kern="1200" dirty="0">
                <a:solidFill>
                  <a:schemeClr val="bg1"/>
                </a:solidFill>
              </a:endParaRPr>
            </a:p>
          </p:txBody>
        </p:sp>
      </p:grpSp>
      <p:sp>
        <p:nvSpPr>
          <p:cNvPr id="17" name="object 2">
            <a:extLst>
              <a:ext uri="{FF2B5EF4-FFF2-40B4-BE49-F238E27FC236}">
                <a16:creationId xmlns:a16="http://schemas.microsoft.com/office/drawing/2014/main" id="{DB22C5C5-0E0B-BFA2-AF9A-E16659DF66EF}"/>
              </a:ext>
            </a:extLst>
          </p:cNvPr>
          <p:cNvSpPr txBox="1">
            <a:spLocks/>
          </p:cNvSpPr>
          <p:nvPr/>
        </p:nvSpPr>
        <p:spPr>
          <a:xfrm>
            <a:off x="20320" y="676592"/>
            <a:ext cx="9168589" cy="361637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Pattern Breakdown</a:t>
            </a:r>
          </a:p>
          <a:p>
            <a:r>
              <a:rPr lang="en-US" sz="1500" dirty="0">
                <a:solidFill>
                  <a:schemeClr val="accent2"/>
                </a:solidFill>
                <a:latin typeface="Google Sans"/>
              </a:rPr>
              <a:t>TCC (Try-Confirm-Cancel): </a:t>
            </a:r>
            <a:r>
              <a:rPr lang="en-US" sz="1500" dirty="0">
                <a:solidFill>
                  <a:schemeClr val="accent6"/>
                </a:solidFill>
                <a:latin typeface="Google Sans"/>
              </a:rPr>
              <a:t>A business-level version of 2PC. The "Try" phase doesn't just lock rows; it reserves resources (e.g., deducting inventory into a "pending" bucket). This prevents blocking other users while ensuring the final "Confirm" will succeed. It "reserves" resources (Try) and then confirms or cancels them, ensuring eventual</a:t>
            </a:r>
          </a:p>
          <a:p>
            <a:r>
              <a:rPr lang="en-US" sz="1500" dirty="0">
                <a:solidFill>
                  <a:schemeClr val="accent6"/>
                </a:solidFill>
                <a:latin typeface="Google Sans"/>
              </a:rPr>
              <a:t>consistency without long-term locks. </a:t>
            </a:r>
          </a:p>
          <a:p>
            <a:r>
              <a:rPr lang="en-US" sz="1500" dirty="0">
                <a:solidFill>
                  <a:schemeClr val="accent2"/>
                </a:solidFill>
                <a:latin typeface="Google Sans"/>
                <a:ea typeface="+mn-ea"/>
                <a:cs typeface="+mn-cs"/>
              </a:rPr>
              <a:t>Transactional Outbox: </a:t>
            </a:r>
            <a:r>
              <a:rPr lang="en-US" sz="1500" dirty="0">
                <a:solidFill>
                  <a:schemeClr val="accent6"/>
                </a:solidFill>
                <a:latin typeface="Google Sans"/>
                <a:ea typeface="+mn-ea"/>
                <a:cs typeface="+mn-cs"/>
              </a:rPr>
              <a:t>Solves the "dual write" problem where you update a database and send a message. You save the message in an "Outbox" table in the same DB transaction as your data update. A separate process then polls </a:t>
            </a:r>
          </a:p>
          <a:p>
            <a:r>
              <a:rPr lang="en-US" sz="1500" dirty="0">
                <a:solidFill>
                  <a:schemeClr val="accent6"/>
                </a:solidFill>
                <a:latin typeface="Google Sans"/>
                <a:ea typeface="+mn-ea"/>
                <a:cs typeface="+mn-cs"/>
              </a:rPr>
              <a:t>this table and pushes messages to your broker (e.g., Kafka).</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Selection Guide</a:t>
            </a:r>
          </a:p>
          <a:p>
            <a:r>
              <a:rPr lang="en-US" sz="1500" dirty="0">
                <a:solidFill>
                  <a:schemeClr val="accent2"/>
                </a:solidFill>
                <a:latin typeface="Google Sans"/>
                <a:ea typeface="+mn-ea"/>
                <a:cs typeface="+mn-cs"/>
              </a:rPr>
              <a:t>Use 2PC/3PC</a:t>
            </a:r>
            <a:r>
              <a:rPr lang="en-US" sz="1500" dirty="0">
                <a:solidFill>
                  <a:schemeClr val="accent6"/>
                </a:solidFill>
                <a:latin typeface="Google Sans"/>
                <a:ea typeface="+mn-ea"/>
                <a:cs typeface="+mn-cs"/>
              </a:rPr>
              <a:t> for scenarios needing immediate, strict consistency across traditional relational databases.</a:t>
            </a:r>
          </a:p>
          <a:p>
            <a:r>
              <a:rPr lang="en-US" sz="1500" dirty="0">
                <a:solidFill>
                  <a:schemeClr val="accent2"/>
                </a:solidFill>
                <a:latin typeface="Google Sans"/>
                <a:ea typeface="+mn-ea"/>
                <a:cs typeface="+mn-cs"/>
              </a:rPr>
              <a:t>Use Saga</a:t>
            </a:r>
            <a:r>
              <a:rPr lang="en-US" sz="1500" dirty="0">
                <a:solidFill>
                  <a:schemeClr val="accent6"/>
                </a:solidFill>
                <a:latin typeface="Google Sans"/>
                <a:ea typeface="+mn-ea"/>
                <a:cs typeface="+mn-cs"/>
              </a:rPr>
              <a:t> for complex, long-running, asynchronous microservice transactions.</a:t>
            </a:r>
          </a:p>
          <a:p>
            <a:r>
              <a:rPr lang="en-US" sz="1500" dirty="0">
                <a:solidFill>
                  <a:schemeClr val="accent2"/>
                </a:solidFill>
                <a:latin typeface="Google Sans"/>
                <a:ea typeface="+mn-ea"/>
                <a:cs typeface="+mn-cs"/>
              </a:rPr>
              <a:t>Use TCC</a:t>
            </a:r>
            <a:r>
              <a:rPr lang="en-US" sz="1500" dirty="0">
                <a:solidFill>
                  <a:schemeClr val="accent6"/>
                </a:solidFill>
                <a:latin typeface="Google Sans"/>
                <a:ea typeface="+mn-ea"/>
                <a:cs typeface="+mn-cs"/>
              </a:rPr>
              <a:t> for high-contention scenarios requiring reservation logic (e.g., booking engines). </a:t>
            </a:r>
          </a:p>
          <a:p>
            <a:r>
              <a:rPr lang="en-US" sz="1500" dirty="0">
                <a:solidFill>
                  <a:schemeClr val="accent2"/>
                </a:solidFill>
                <a:latin typeface="Google Sans"/>
              </a:rPr>
              <a:t>Use Transactional Outbox</a:t>
            </a:r>
            <a:r>
              <a:rPr lang="en-US" sz="1500" dirty="0">
                <a:solidFill>
                  <a:schemeClr val="accent6"/>
                </a:solidFill>
                <a:latin typeface="Google Sans"/>
              </a:rPr>
              <a:t> in any system needing to guarantee message delivery </a:t>
            </a:r>
            <a:r>
              <a:rPr lang="en-US" sz="1500" dirty="0" err="1">
                <a:solidFill>
                  <a:schemeClr val="accent6"/>
                </a:solidFill>
                <a:latin typeface="Google Sans"/>
              </a:rPr>
              <a:t>alongwith</a:t>
            </a:r>
            <a:r>
              <a:rPr lang="en-US" sz="1500" dirty="0">
                <a:solidFill>
                  <a:schemeClr val="accent6"/>
                </a:solidFill>
                <a:latin typeface="Google Sans"/>
              </a:rPr>
              <a:t> a database update.</a:t>
            </a: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223884803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3" name="object 2">
            <a:extLst>
              <a:ext uri="{FF2B5EF4-FFF2-40B4-BE49-F238E27FC236}">
                <a16:creationId xmlns:a16="http://schemas.microsoft.com/office/drawing/2014/main" id="{797D0467-E07D-4F69-F84C-E1A6743611F5}"/>
              </a:ext>
            </a:extLst>
          </p:cNvPr>
          <p:cNvSpPr txBox="1">
            <a:spLocks/>
          </p:cNvSpPr>
          <p:nvPr/>
        </p:nvSpPr>
        <p:spPr>
          <a:xfrm>
            <a:off x="76200" y="849868"/>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Synchronous Transaction using 2PC(/3PC) - </a:t>
            </a:r>
            <a:endParaRPr lang="en-US" sz="2400" kern="0" spc="-80" dirty="0">
              <a:solidFill>
                <a:schemeClr val="accent6"/>
              </a:solidFill>
            </a:endParaRPr>
          </a:p>
        </p:txBody>
      </p:sp>
      <p:pic>
        <p:nvPicPr>
          <p:cNvPr id="3074" name="Picture 2">
            <a:extLst>
              <a:ext uri="{FF2B5EF4-FFF2-40B4-BE49-F238E27FC236}">
                <a16:creationId xmlns:a16="http://schemas.microsoft.com/office/drawing/2014/main" id="{8B6507FC-B36F-E578-DE5E-DFFD1AD601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1447800"/>
            <a:ext cx="4572000" cy="44196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018A9397-2AD1-B937-15F8-727D4842FD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447800"/>
            <a:ext cx="3886200" cy="4419600"/>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AF9DAF4E-1DCD-3742-0415-384BEB06F18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8DEC95A8-DE1A-5C56-7E4A-ACFD0707D71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ABE2E0F-B6BA-7E4A-F775-58CB7F8B368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Transaction</a:t>
              </a:r>
              <a:endParaRPr lang="en-US" sz="2500" kern="1200" dirty="0">
                <a:solidFill>
                  <a:schemeClr val="bg1"/>
                </a:solidFill>
              </a:endParaRPr>
            </a:p>
          </p:txBody>
        </p:sp>
      </p:grpSp>
    </p:spTree>
    <p:extLst>
      <p:ext uri="{BB962C8B-B14F-4D97-AF65-F5344CB8AC3E}">
        <p14:creationId xmlns:p14="http://schemas.microsoft.com/office/powerpoint/2010/main" val="288877485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689BB-E489-7824-65CB-70AC125B9A5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1009283-74A0-AAC7-ED9B-43C7873C6396}"/>
              </a:ext>
            </a:extLst>
          </p:cNvPr>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8132F93-D0C9-1CBA-2B71-64C927521865}"/>
              </a:ext>
            </a:extLst>
          </p:cNvPr>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3" name="object 2">
            <a:extLst>
              <a:ext uri="{FF2B5EF4-FFF2-40B4-BE49-F238E27FC236}">
                <a16:creationId xmlns:a16="http://schemas.microsoft.com/office/drawing/2014/main" id="{D7DB8008-E98E-089D-F80E-C139FF000193}"/>
              </a:ext>
            </a:extLst>
          </p:cNvPr>
          <p:cNvSpPr txBox="1">
            <a:spLocks/>
          </p:cNvSpPr>
          <p:nvPr/>
        </p:nvSpPr>
        <p:spPr>
          <a:xfrm>
            <a:off x="61863" y="911423"/>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Synchronous Transaction using TCC(Try-Confirm-Cancel)</a:t>
            </a:r>
            <a:endParaRPr lang="en-US" sz="1500" dirty="0">
              <a:solidFill>
                <a:schemeClr val="accent6"/>
              </a:solidFill>
              <a:latin typeface="Google Sans"/>
              <a:ea typeface="+mn-ea"/>
              <a:cs typeface="+mn-cs"/>
            </a:endParaRPr>
          </a:p>
        </p:txBody>
      </p:sp>
      <p:grpSp>
        <p:nvGrpSpPr>
          <p:cNvPr id="2" name="Group 1">
            <a:extLst>
              <a:ext uri="{FF2B5EF4-FFF2-40B4-BE49-F238E27FC236}">
                <a16:creationId xmlns:a16="http://schemas.microsoft.com/office/drawing/2014/main" id="{72E97136-1847-0DF4-0688-FFBB89BDF00A}"/>
              </a:ext>
            </a:extLst>
          </p:cNvPr>
          <p:cNvGrpSpPr/>
          <p:nvPr/>
        </p:nvGrpSpPr>
        <p:grpSpPr>
          <a:xfrm>
            <a:off x="20320" y="-30047"/>
            <a:ext cx="9123680" cy="481253"/>
            <a:chOff x="0" y="0"/>
            <a:chExt cx="8716300" cy="481253"/>
          </a:xfrm>
        </p:grpSpPr>
        <p:sp>
          <p:nvSpPr>
            <p:cNvPr id="7" name="Rectangle: Rounded Corners 6">
              <a:extLst>
                <a:ext uri="{FF2B5EF4-FFF2-40B4-BE49-F238E27FC236}">
                  <a16:creationId xmlns:a16="http://schemas.microsoft.com/office/drawing/2014/main" id="{24A40229-5F7D-79CE-F42F-F7273AC9C29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8" name="Rectangle: Rounded Corners 4">
              <a:extLst>
                <a:ext uri="{FF2B5EF4-FFF2-40B4-BE49-F238E27FC236}">
                  <a16:creationId xmlns:a16="http://schemas.microsoft.com/office/drawing/2014/main" id="{20B879D1-9C72-FA03-28D5-FAB7028B176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Transaction</a:t>
              </a:r>
              <a:endParaRPr lang="en-US" sz="2500" kern="1200" dirty="0">
                <a:solidFill>
                  <a:schemeClr val="bg1"/>
                </a:solidFill>
              </a:endParaRPr>
            </a:p>
          </p:txBody>
        </p:sp>
      </p:grpSp>
      <p:pic>
        <p:nvPicPr>
          <p:cNvPr id="9" name="Picture 8">
            <a:extLst>
              <a:ext uri="{FF2B5EF4-FFF2-40B4-BE49-F238E27FC236}">
                <a16:creationId xmlns:a16="http://schemas.microsoft.com/office/drawing/2014/main" id="{DF3883BF-109C-C94F-489E-01CF1932DD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12" y="1292422"/>
            <a:ext cx="9123680" cy="3926642"/>
          </a:xfrm>
          <a:prstGeom prst="rect">
            <a:avLst/>
          </a:prstGeom>
        </p:spPr>
      </p:pic>
      <p:sp>
        <p:nvSpPr>
          <p:cNvPr id="10" name="object 2">
            <a:extLst>
              <a:ext uri="{FF2B5EF4-FFF2-40B4-BE49-F238E27FC236}">
                <a16:creationId xmlns:a16="http://schemas.microsoft.com/office/drawing/2014/main" id="{4023EE38-C8CE-2169-4C0A-6936222A174C}"/>
              </a:ext>
            </a:extLst>
          </p:cNvPr>
          <p:cNvSpPr txBox="1">
            <a:spLocks/>
          </p:cNvSpPr>
          <p:nvPr/>
        </p:nvSpPr>
        <p:spPr>
          <a:xfrm>
            <a:off x="76200" y="5331023"/>
            <a:ext cx="8624937" cy="5539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For Further Exploration</a:t>
            </a:r>
          </a:p>
          <a:p>
            <a:pPr marL="12700" marR="5080"/>
            <a:r>
              <a:rPr lang="en-IN" sz="1600" dirty="0">
                <a:hlinkClick r:id="rId3"/>
              </a:rPr>
              <a:t>Try-Confirm/Cancel Transaction Protocol</a:t>
            </a:r>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241214386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3" name="object 2">
            <a:extLst>
              <a:ext uri="{FF2B5EF4-FFF2-40B4-BE49-F238E27FC236}">
                <a16:creationId xmlns:a16="http://schemas.microsoft.com/office/drawing/2014/main" id="{797D0467-E07D-4F69-F84C-E1A6743611F5}"/>
              </a:ext>
            </a:extLst>
          </p:cNvPr>
          <p:cNvSpPr txBox="1">
            <a:spLocks/>
          </p:cNvSpPr>
          <p:nvPr/>
        </p:nvSpPr>
        <p:spPr>
          <a:xfrm>
            <a:off x="76200" y="762000"/>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Asynchronous Transactions Using Saga Pattern – Handling Cancelation or Failures using Compensating Transactions - </a:t>
            </a:r>
            <a:endParaRPr lang="en-US" sz="2000" kern="0" spc="-80" dirty="0">
              <a:solidFill>
                <a:schemeClr val="accent6"/>
              </a:solidFill>
            </a:endParaRPr>
          </a:p>
        </p:txBody>
      </p:sp>
      <p:pic>
        <p:nvPicPr>
          <p:cNvPr id="2050" name="Picture 2" descr="&#10;        Saga pattern&#10;      ">
            <a:extLst>
              <a:ext uri="{FF2B5EF4-FFF2-40B4-BE49-F238E27FC236}">
                <a16:creationId xmlns:a16="http://schemas.microsoft.com/office/drawing/2014/main" id="{4B67F98C-A131-EDF0-3203-B6519029C1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377552"/>
            <a:ext cx="8808268" cy="4566047"/>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17B19089-8A71-043C-204F-5E2541C76873}"/>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46D8DA7-870E-1367-00EA-15204C2BDFD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8DB3F64-3BA8-F78E-0D02-24B9C1AAF14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Transaction</a:t>
              </a:r>
              <a:endParaRPr lang="en-US" sz="2500" kern="1200" dirty="0">
                <a:solidFill>
                  <a:schemeClr val="bg1"/>
                </a:solidFill>
              </a:endParaRPr>
            </a:p>
          </p:txBody>
        </p:sp>
      </p:grpSp>
    </p:spTree>
    <p:extLst>
      <p:ext uri="{BB962C8B-B14F-4D97-AF65-F5344CB8AC3E}">
        <p14:creationId xmlns:p14="http://schemas.microsoft.com/office/powerpoint/2010/main" val="203715689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3" name="object 2">
            <a:extLst>
              <a:ext uri="{FF2B5EF4-FFF2-40B4-BE49-F238E27FC236}">
                <a16:creationId xmlns:a16="http://schemas.microsoft.com/office/drawing/2014/main" id="{797D0467-E07D-4F69-F84C-E1A6743611F5}"/>
              </a:ext>
            </a:extLst>
          </p:cNvPr>
          <p:cNvSpPr txBox="1">
            <a:spLocks/>
          </p:cNvSpPr>
          <p:nvPr/>
        </p:nvSpPr>
        <p:spPr>
          <a:xfrm>
            <a:off x="76200" y="826294"/>
            <a:ext cx="8624937" cy="123110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Asynchronous Transaction Using Transactional </a:t>
            </a:r>
            <a:r>
              <a:rPr lang="en-US" sz="1800" kern="0" spc="-80" dirty="0">
                <a:solidFill>
                  <a:schemeClr val="accent2"/>
                </a:solidFill>
              </a:rPr>
              <a:t>Outbox Pattern </a:t>
            </a:r>
          </a:p>
          <a:p>
            <a:pPr marL="12700" marR="5080"/>
            <a:r>
              <a:rPr lang="en-US" sz="1500" dirty="0">
                <a:solidFill>
                  <a:schemeClr val="accent6"/>
                </a:solidFill>
                <a:latin typeface="Google Sans"/>
                <a:ea typeface="+mn-ea"/>
                <a:cs typeface="+mn-cs"/>
              </a:rPr>
              <a:t>Solves dual write problem e.g. order business entity and </a:t>
            </a:r>
            <a:r>
              <a:rPr lang="en-US" sz="1500" dirty="0" err="1">
                <a:solidFill>
                  <a:schemeClr val="accent6"/>
                </a:solidFill>
                <a:latin typeface="Google Sans"/>
                <a:ea typeface="+mn-ea"/>
                <a:cs typeface="+mn-cs"/>
              </a:rPr>
              <a:t>orderCreated</a:t>
            </a:r>
            <a:r>
              <a:rPr lang="en-US" sz="1500" dirty="0">
                <a:solidFill>
                  <a:schemeClr val="accent6"/>
                </a:solidFill>
                <a:latin typeface="Google Sans"/>
                <a:ea typeface="+mn-ea"/>
                <a:cs typeface="+mn-cs"/>
              </a:rPr>
              <a:t> event to be saved in Data Table and Outbox table respectively in an atomic transaction below &amp; then Outbox Processor[a background service] polls Outbox Table and sends the event to downstream systems via Service Bus Topic &amp; then marks the record from outbox table so that events remain in outbox table for further replay if required</a:t>
            </a:r>
          </a:p>
        </p:txBody>
      </p:sp>
      <p:pic>
        <p:nvPicPr>
          <p:cNvPr id="10244" name="Picture 4" descr="The Outbox Pattern in C# - DEV Community">
            <a:extLst>
              <a:ext uri="{FF2B5EF4-FFF2-40B4-BE49-F238E27FC236}">
                <a16:creationId xmlns:a16="http://schemas.microsoft.com/office/drawing/2014/main" id="{95ADBBD7-2434-3857-239F-6282CA1BEE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057400"/>
            <a:ext cx="8839200" cy="3810000"/>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0B0D4734-073D-59BB-E5F1-43B36D9FFA5F}"/>
              </a:ext>
            </a:extLst>
          </p:cNvPr>
          <p:cNvGrpSpPr/>
          <p:nvPr/>
        </p:nvGrpSpPr>
        <p:grpSpPr>
          <a:xfrm>
            <a:off x="20320" y="-30047"/>
            <a:ext cx="9123680" cy="481253"/>
            <a:chOff x="0" y="0"/>
            <a:chExt cx="8716300" cy="481253"/>
          </a:xfrm>
        </p:grpSpPr>
        <p:sp>
          <p:nvSpPr>
            <p:cNvPr id="7" name="Rectangle: Rounded Corners 6">
              <a:extLst>
                <a:ext uri="{FF2B5EF4-FFF2-40B4-BE49-F238E27FC236}">
                  <a16:creationId xmlns:a16="http://schemas.microsoft.com/office/drawing/2014/main" id="{6F28B4B0-E49B-BEDA-C3E8-9F5D5B9EF27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8" name="Rectangle: Rounded Corners 4">
              <a:extLst>
                <a:ext uri="{FF2B5EF4-FFF2-40B4-BE49-F238E27FC236}">
                  <a16:creationId xmlns:a16="http://schemas.microsoft.com/office/drawing/2014/main" id="{3E7479F5-4E12-D377-0FAF-D2CF9FE5F65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Transaction</a:t>
              </a:r>
              <a:endParaRPr lang="en-US" sz="2500" kern="1200" dirty="0">
                <a:solidFill>
                  <a:schemeClr val="bg1"/>
                </a:solidFill>
              </a:endParaRPr>
            </a:p>
          </p:txBody>
        </p:sp>
      </p:grpSp>
    </p:spTree>
    <p:extLst>
      <p:ext uri="{BB962C8B-B14F-4D97-AF65-F5344CB8AC3E}">
        <p14:creationId xmlns:p14="http://schemas.microsoft.com/office/powerpoint/2010/main" val="168666937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26323" y="653454"/>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31403" y="48486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3" name="object 2">
            <a:extLst>
              <a:ext uri="{FF2B5EF4-FFF2-40B4-BE49-F238E27FC236}">
                <a16:creationId xmlns:a16="http://schemas.microsoft.com/office/drawing/2014/main" id="{797D0467-E07D-4F69-F84C-E1A6743611F5}"/>
              </a:ext>
            </a:extLst>
          </p:cNvPr>
          <p:cNvSpPr txBox="1">
            <a:spLocks/>
          </p:cNvSpPr>
          <p:nvPr/>
        </p:nvSpPr>
        <p:spPr>
          <a:xfrm>
            <a:off x="44911" y="767118"/>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For Further Exploration - </a:t>
            </a:r>
          </a:p>
          <a:p>
            <a:pPr marL="12700" marR="5080"/>
            <a:r>
              <a:rPr lang="en-US" sz="1500" dirty="0">
                <a:solidFill>
                  <a:schemeClr val="accent6"/>
                </a:solidFill>
                <a:latin typeface="Google Sans"/>
              </a:rPr>
              <a:t>An Example of Synchronous Transaction using single DB 2PC Approach(i.e. in a Non-Distributed way using MS-DTC that needs to be enabled for this, in windows based machines) –</a:t>
            </a:r>
          </a:p>
          <a:p>
            <a:pPr marL="12700" marR="5080"/>
            <a:r>
              <a:rPr lang="en-IN" sz="1400" dirty="0">
                <a:hlinkClick r:id="rId3"/>
              </a:rPr>
              <a:t>DDD-Based-Enterprise-Application-Framework/Infrastructure/</a:t>
            </a:r>
            <a:r>
              <a:rPr lang="en-IN" sz="1400" dirty="0" err="1">
                <a:hlinkClick r:id="rId3"/>
              </a:rPr>
              <a:t>UnitOfWork</a:t>
            </a:r>
            <a:r>
              <a:rPr lang="en-IN" sz="1400" dirty="0">
                <a:hlinkClick r:id="rId3"/>
              </a:rPr>
              <a:t>/</a:t>
            </a:r>
            <a:r>
              <a:rPr lang="en-IN" sz="1400" dirty="0" err="1">
                <a:hlinkClick r:id="rId3"/>
              </a:rPr>
              <a:t>UnitOfWork.cs</a:t>
            </a:r>
            <a:r>
              <a:rPr lang="en-IN" sz="1400" dirty="0">
                <a:hlinkClick r:id="rId3"/>
              </a:rPr>
              <a:t> at master · sandipray63in/DDD-Based-Enterprise-Application-Framework · GitHub</a:t>
            </a:r>
            <a:r>
              <a:rPr lang="en-US" sz="2400" kern="0" spc="-80" dirty="0">
                <a:solidFill>
                  <a:schemeClr val="accent6"/>
                </a:solidFill>
              </a:rPr>
              <a:t> </a:t>
            </a:r>
            <a:r>
              <a:rPr lang="en-US" sz="1500" dirty="0">
                <a:solidFill>
                  <a:schemeClr val="accent6"/>
                </a:solidFill>
                <a:latin typeface="Google Sans"/>
              </a:rPr>
              <a:t>(check the commit and </a:t>
            </a:r>
            <a:r>
              <a:rPr lang="en-US" sz="1500" dirty="0" err="1">
                <a:solidFill>
                  <a:schemeClr val="accent6"/>
                </a:solidFill>
                <a:latin typeface="Google Sans"/>
              </a:rPr>
              <a:t>commitAsync</a:t>
            </a:r>
            <a:r>
              <a:rPr lang="en-US" sz="1500" dirty="0">
                <a:solidFill>
                  <a:schemeClr val="accent6"/>
                </a:solidFill>
                <a:latin typeface="Google Sans"/>
              </a:rPr>
              <a:t> methods). </a:t>
            </a:r>
          </a:p>
          <a:p>
            <a:pPr marL="12700" marR="5080"/>
            <a:r>
              <a:rPr lang="en-US" sz="1500" dirty="0">
                <a:solidFill>
                  <a:schemeClr val="accent2"/>
                </a:solidFill>
                <a:latin typeface="Google Sans"/>
              </a:rPr>
              <a:t>N.B. -</a:t>
            </a:r>
            <a:r>
              <a:rPr lang="en-US" sz="1500" dirty="0">
                <a:solidFill>
                  <a:schemeClr val="accent6"/>
                </a:solidFill>
                <a:latin typeface="Google Sans"/>
              </a:rPr>
              <a:t> Always wrap Synchronous Transactions using </a:t>
            </a:r>
            <a:r>
              <a:rPr lang="en-US" sz="1500" dirty="0" err="1">
                <a:solidFill>
                  <a:schemeClr val="accent6"/>
                </a:solidFill>
                <a:latin typeface="Google Sans"/>
              </a:rPr>
              <a:t>UnitOfWork</a:t>
            </a:r>
            <a:r>
              <a:rPr lang="en-US" sz="1500" dirty="0">
                <a:solidFill>
                  <a:schemeClr val="accent6"/>
                </a:solidFill>
                <a:latin typeface="Google Sans"/>
              </a:rPr>
              <a:t> Pattern.</a:t>
            </a:r>
          </a:p>
          <a:p>
            <a:pPr marL="12700" marR="5080"/>
            <a:r>
              <a:rPr lang="en-US" sz="1500" dirty="0">
                <a:solidFill>
                  <a:schemeClr val="accent2"/>
                </a:solidFill>
                <a:latin typeface="Google Sans"/>
                <a:ea typeface="+mn-ea"/>
                <a:cs typeface="+mn-cs"/>
              </a:rPr>
              <a:t>ACID vs BASE – </a:t>
            </a:r>
          </a:p>
          <a:p>
            <a:pPr marL="12700" marR="5080"/>
            <a:r>
              <a:rPr lang="en-US" sz="1400" dirty="0">
                <a:hlinkClick r:id="rId4"/>
              </a:rPr>
              <a:t>What are the differences and similarities between ACID and BASE properties of database transactions?</a:t>
            </a:r>
            <a:endParaRPr lang="en-US" sz="1400" dirty="0"/>
          </a:p>
          <a:p>
            <a:pPr marL="12700" marR="5080"/>
            <a:r>
              <a:rPr lang="en-IN" sz="1400" dirty="0">
                <a:hlinkClick r:id="rId5"/>
              </a:rPr>
              <a:t>ACID vs BASE: Database transactions – System Design</a:t>
            </a:r>
            <a:endParaRPr lang="en-IN" sz="1400" dirty="0"/>
          </a:p>
          <a:p>
            <a:pPr marL="12700" marR="5080"/>
            <a:r>
              <a:rPr lang="en-US" sz="1500" dirty="0">
                <a:solidFill>
                  <a:schemeClr val="accent2"/>
                </a:solidFill>
                <a:latin typeface="Google Sans"/>
                <a:ea typeface="+mn-ea"/>
                <a:cs typeface="+mn-cs"/>
              </a:rPr>
              <a:t>2PC/3PC Transactions – </a:t>
            </a:r>
          </a:p>
          <a:p>
            <a:pPr marL="12700" marR="5080"/>
            <a:r>
              <a:rPr lang="en-US" sz="1400" dirty="0">
                <a:hlinkClick r:id="rId6"/>
              </a:rPr>
              <a:t>Dealing Distributed Transactions with 2PC, 3PC, Local Transaction Table with MQs</a:t>
            </a:r>
            <a:endParaRPr lang="en-US" sz="1400" dirty="0"/>
          </a:p>
          <a:p>
            <a:pPr marL="12700" marR="5080"/>
            <a:r>
              <a:rPr lang="en-US" sz="1400" dirty="0">
                <a:hlinkClick r:id="rId7"/>
              </a:rPr>
              <a:t>Flat &amp; Nested Distributed Transactions – </a:t>
            </a:r>
            <a:r>
              <a:rPr lang="en-US" sz="1400" dirty="0" err="1">
                <a:hlinkClick r:id="rId7"/>
              </a:rPr>
              <a:t>GeeksforGeeks</a:t>
            </a:r>
            <a:endParaRPr lang="en-US" sz="1400" dirty="0"/>
          </a:p>
          <a:p>
            <a:pPr marL="12700" marR="5080"/>
            <a:r>
              <a:rPr lang="en-US" sz="1500" dirty="0">
                <a:solidFill>
                  <a:schemeClr val="accent2"/>
                </a:solidFill>
                <a:latin typeface="Google Sans"/>
              </a:rPr>
              <a:t>Asynchronous Transactions using Outbox and Saga Pattern – </a:t>
            </a:r>
          </a:p>
          <a:p>
            <a:pPr marL="12700" marR="5080"/>
            <a:r>
              <a:rPr lang="en-US" sz="1500" dirty="0">
                <a:solidFill>
                  <a:schemeClr val="accent6"/>
                </a:solidFill>
                <a:latin typeface="Google Sans"/>
              </a:rPr>
              <a:t>Outbox(&amp; Inbox) Pattern – </a:t>
            </a:r>
            <a:r>
              <a:rPr lang="en-IN" sz="1500" dirty="0">
                <a:hlinkClick r:id="rId8"/>
              </a:rPr>
              <a:t>Pattern: Transactional outbox</a:t>
            </a:r>
            <a:r>
              <a:rPr lang="en-US" sz="1600" kern="0" spc="-80" dirty="0">
                <a:solidFill>
                  <a:schemeClr val="accent6"/>
                </a:solidFill>
              </a:rPr>
              <a:t> </a:t>
            </a:r>
          </a:p>
          <a:p>
            <a:pPr marL="12700" marR="5080"/>
            <a:r>
              <a:rPr lang="en-US" sz="1500" dirty="0">
                <a:solidFill>
                  <a:schemeClr val="accent6"/>
                </a:solidFill>
                <a:latin typeface="Google Sans"/>
              </a:rPr>
              <a:t>Saga Pattern - </a:t>
            </a:r>
            <a:r>
              <a:rPr lang="en-US" sz="1500" kern="0" spc="-80" dirty="0">
                <a:solidFill>
                  <a:schemeClr val="accent6"/>
                </a:solidFill>
              </a:rPr>
              <a:t> </a:t>
            </a:r>
            <a:r>
              <a:rPr lang="en-IN" sz="1500" dirty="0">
                <a:hlinkClick r:id="rId9"/>
              </a:rPr>
              <a:t>Pattern: Saga</a:t>
            </a:r>
            <a:endParaRPr lang="en-IN" sz="1500" dirty="0"/>
          </a:p>
          <a:p>
            <a:pPr marL="12700" marR="5080"/>
            <a:r>
              <a:rPr lang="en-US" sz="1500" dirty="0">
                <a:solidFill>
                  <a:schemeClr val="accent2"/>
                </a:solidFill>
                <a:latin typeface="Google Sans"/>
              </a:rPr>
              <a:t>Microservices Data Consistency </a:t>
            </a:r>
            <a:r>
              <a:rPr lang="en-US" sz="1600" kern="0" spc="-80" dirty="0">
                <a:solidFill>
                  <a:schemeClr val="accent2"/>
                </a:solidFill>
              </a:rPr>
              <a:t>- </a:t>
            </a:r>
            <a:r>
              <a:rPr lang="en-IN" sz="1500" dirty="0">
                <a:hlinkClick r:id="rId10"/>
              </a:rPr>
              <a:t>transaction-manager-for-microservices.pdf</a:t>
            </a:r>
            <a:endParaRPr lang="en-IN" sz="1500" dirty="0"/>
          </a:p>
          <a:p>
            <a:pPr marL="12700" marR="5080"/>
            <a:endParaRPr lang="en-US" sz="1500" dirty="0"/>
          </a:p>
          <a:p>
            <a:pPr marL="12700" marR="5080"/>
            <a:endParaRPr lang="en-US" sz="1700" kern="0" spc="-80" dirty="0">
              <a:solidFill>
                <a:schemeClr val="accent2"/>
              </a:solidFill>
            </a:endParaRPr>
          </a:p>
          <a:p>
            <a:pPr marL="12700" marR="5080"/>
            <a:r>
              <a:rPr lang="en-US" sz="1700" kern="0" spc="-80" dirty="0">
                <a:solidFill>
                  <a:schemeClr val="accent2"/>
                </a:solidFill>
              </a:rPr>
              <a:t>     </a:t>
            </a:r>
            <a:endParaRPr lang="en-US" sz="1500" kern="0" spc="-80" dirty="0">
              <a:solidFill>
                <a:schemeClr val="accent2"/>
              </a:solidFill>
            </a:endParaRPr>
          </a:p>
        </p:txBody>
      </p:sp>
      <p:grpSp>
        <p:nvGrpSpPr>
          <p:cNvPr id="2" name="Group 1">
            <a:extLst>
              <a:ext uri="{FF2B5EF4-FFF2-40B4-BE49-F238E27FC236}">
                <a16:creationId xmlns:a16="http://schemas.microsoft.com/office/drawing/2014/main" id="{09EE0810-C791-2CFF-EFDB-238AE5035191}"/>
              </a:ext>
            </a:extLst>
          </p:cNvPr>
          <p:cNvGrpSpPr/>
          <p:nvPr/>
        </p:nvGrpSpPr>
        <p:grpSpPr>
          <a:xfrm>
            <a:off x="20320" y="-30047"/>
            <a:ext cx="9123680" cy="481253"/>
            <a:chOff x="0" y="0"/>
            <a:chExt cx="8716300" cy="481253"/>
          </a:xfrm>
        </p:grpSpPr>
        <p:sp>
          <p:nvSpPr>
            <p:cNvPr id="7" name="Rectangle: Rounded Corners 6">
              <a:extLst>
                <a:ext uri="{FF2B5EF4-FFF2-40B4-BE49-F238E27FC236}">
                  <a16:creationId xmlns:a16="http://schemas.microsoft.com/office/drawing/2014/main" id="{18F80420-4CD6-C03C-F7CD-A5D3C9E1E14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8" name="Rectangle: Rounded Corners 4">
              <a:extLst>
                <a:ext uri="{FF2B5EF4-FFF2-40B4-BE49-F238E27FC236}">
                  <a16:creationId xmlns:a16="http://schemas.microsoft.com/office/drawing/2014/main" id="{68236B5E-D234-6A66-0647-D335735A2D8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Transaction</a:t>
              </a:r>
              <a:endParaRPr lang="en-US" sz="2500" kern="1200" dirty="0">
                <a:solidFill>
                  <a:schemeClr val="bg1"/>
                </a:solidFill>
              </a:endParaRPr>
            </a:p>
          </p:txBody>
        </p:sp>
      </p:grpSp>
    </p:spTree>
    <p:extLst>
      <p:ext uri="{BB962C8B-B14F-4D97-AF65-F5344CB8AC3E}">
        <p14:creationId xmlns:p14="http://schemas.microsoft.com/office/powerpoint/2010/main" val="4161512384"/>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0D79F-81BD-C8AA-85DA-C92839B2920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A976E8D-F892-EAEE-6837-B744E9D61F6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BFFCFA4-8DD6-9B58-1682-141D1257EA8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16C4977-A400-CDE8-8D77-A0C0A6D86F2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5953DCE8-0046-7A55-CCC6-52CDC3689F2A}"/>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2659EC4-09DF-C4A0-1B1C-45CDDB348E7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423CCA9-60B2-79F7-B1AD-9779DBE3F02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Reliability &amp; Fault Tolerance</a:t>
              </a:r>
              <a:endParaRPr lang="en-US" sz="2500" kern="1200" dirty="0">
                <a:solidFill>
                  <a:schemeClr val="bg1"/>
                </a:solidFill>
              </a:endParaRPr>
            </a:p>
          </p:txBody>
        </p:sp>
      </p:grpSp>
      <p:sp>
        <p:nvSpPr>
          <p:cNvPr id="6" name="object 2">
            <a:extLst>
              <a:ext uri="{FF2B5EF4-FFF2-40B4-BE49-F238E27FC236}">
                <a16:creationId xmlns:a16="http://schemas.microsoft.com/office/drawing/2014/main" id="{F65F2BB8-7624-9CEE-AB10-954D7B10F159}"/>
              </a:ext>
            </a:extLst>
          </p:cNvPr>
          <p:cNvSpPr txBox="1">
            <a:spLocks/>
          </p:cNvSpPr>
          <p:nvPr/>
        </p:nvSpPr>
        <p:spPr>
          <a:xfrm>
            <a:off x="44911" y="785653"/>
            <a:ext cx="8624937" cy="146193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solidFill>
                  <a:schemeClr val="accent6"/>
                </a:solidFill>
                <a:latin typeface="Google Sans"/>
              </a:rPr>
              <a:t>Availability, Reliability, and Fault Tolerance are core pillars of system design, often confused but serving distinct purposes. </a:t>
            </a:r>
          </a:p>
          <a:p>
            <a:pPr marL="12700" marR="5080"/>
            <a:r>
              <a:rPr lang="en-US" sz="1500" dirty="0">
                <a:solidFill>
                  <a:schemeClr val="accent2"/>
                </a:solidFill>
                <a:latin typeface="Google Sans"/>
              </a:rPr>
              <a:t>Reliability</a:t>
            </a:r>
            <a:r>
              <a:rPr lang="en-US" sz="1500" dirty="0">
                <a:solidFill>
                  <a:schemeClr val="accent6"/>
                </a:solidFill>
                <a:latin typeface="Google Sans"/>
              </a:rPr>
              <a:t> focuses on the frequency of failures (consistency).</a:t>
            </a:r>
          </a:p>
          <a:p>
            <a:pPr marL="12700" marR="5080"/>
            <a:r>
              <a:rPr lang="en-US" sz="1500" dirty="0">
                <a:solidFill>
                  <a:schemeClr val="accent2"/>
                </a:solidFill>
                <a:latin typeface="Google Sans"/>
              </a:rPr>
              <a:t>Availability</a:t>
            </a:r>
            <a:r>
              <a:rPr lang="en-US" sz="1500" dirty="0">
                <a:solidFill>
                  <a:schemeClr val="accent6"/>
                </a:solidFill>
                <a:latin typeface="Google Sans"/>
              </a:rPr>
              <a:t> focuses on the percentage of time a system is functional (uptime).</a:t>
            </a:r>
          </a:p>
          <a:p>
            <a:pPr marL="12700" marR="5080"/>
            <a:r>
              <a:rPr lang="en-US" sz="1500" dirty="0">
                <a:solidFill>
                  <a:schemeClr val="accent2"/>
                </a:solidFill>
                <a:latin typeface="Google Sans"/>
              </a:rPr>
              <a:t>Fault Tolerance </a:t>
            </a:r>
            <a:r>
              <a:rPr lang="en-US" sz="1500" dirty="0">
                <a:solidFill>
                  <a:schemeClr val="accent6"/>
                </a:solidFill>
                <a:latin typeface="Google Sans"/>
              </a:rPr>
              <a:t>focuses on maintaining operations despite failures (continuity). </a:t>
            </a:r>
          </a:p>
          <a:p>
            <a:pPr marL="12700" marR="5080"/>
            <a:r>
              <a:rPr lang="en-US" sz="2000" dirty="0">
                <a:solidFill>
                  <a:schemeClr val="accent2"/>
                </a:solidFill>
                <a:latin typeface="Google Sans"/>
              </a:rPr>
              <a:t>Comparison</a:t>
            </a:r>
          </a:p>
        </p:txBody>
      </p:sp>
      <p:pic>
        <p:nvPicPr>
          <p:cNvPr id="11" name="Picture 10">
            <a:extLst>
              <a:ext uri="{FF2B5EF4-FFF2-40B4-BE49-F238E27FC236}">
                <a16:creationId xmlns:a16="http://schemas.microsoft.com/office/drawing/2014/main" id="{395A850B-9005-0682-9819-E2C7AE25D8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063" y="2288232"/>
            <a:ext cx="8981345" cy="3655367"/>
          </a:xfrm>
          <a:prstGeom prst="rect">
            <a:avLst/>
          </a:prstGeom>
        </p:spPr>
      </p:pic>
    </p:spTree>
    <p:extLst>
      <p:ext uri="{BB962C8B-B14F-4D97-AF65-F5344CB8AC3E}">
        <p14:creationId xmlns:p14="http://schemas.microsoft.com/office/powerpoint/2010/main" val="64314191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7356AD-AB55-F933-C7F9-B9381910BEE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B9B8097-9B68-D0BF-0F9D-1765D9E44FA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851B1CC-8EED-CFF9-C96D-D2AB51CC400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EDD87A2-D64F-2EA7-DC50-A81CFC7B3CA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7DD218E9-4951-0513-8811-5F8205E6425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B570D07-7585-ABF6-397D-63D6EB7F102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7F49983-AC91-2E7D-5590-41637448E02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Reliability &amp; Fault Tolerance</a:t>
              </a:r>
              <a:endParaRPr lang="en-US" sz="2500" kern="1200" dirty="0">
                <a:solidFill>
                  <a:schemeClr val="bg1"/>
                </a:solidFill>
              </a:endParaRPr>
            </a:p>
          </p:txBody>
        </p:sp>
      </p:grpSp>
      <p:pic>
        <p:nvPicPr>
          <p:cNvPr id="10" name="Picture 9">
            <a:extLst>
              <a:ext uri="{FF2B5EF4-FFF2-40B4-BE49-F238E27FC236}">
                <a16:creationId xmlns:a16="http://schemas.microsoft.com/office/drawing/2014/main" id="{AC39760B-2977-7BD7-FF75-D8B9FE25FD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96927"/>
            <a:ext cx="8915400" cy="450873"/>
          </a:xfrm>
          <a:prstGeom prst="rect">
            <a:avLst/>
          </a:prstGeom>
        </p:spPr>
      </p:pic>
      <p:pic>
        <p:nvPicPr>
          <p:cNvPr id="13" name="Picture 12">
            <a:extLst>
              <a:ext uri="{FF2B5EF4-FFF2-40B4-BE49-F238E27FC236}">
                <a16:creationId xmlns:a16="http://schemas.microsoft.com/office/drawing/2014/main" id="{08433423-62F6-1415-29B7-4FA3A25F73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368" y="1417320"/>
            <a:ext cx="8915400" cy="2311519"/>
          </a:xfrm>
          <a:prstGeom prst="rect">
            <a:avLst/>
          </a:prstGeom>
        </p:spPr>
      </p:pic>
      <p:sp>
        <p:nvSpPr>
          <p:cNvPr id="14" name="object 2">
            <a:extLst>
              <a:ext uri="{FF2B5EF4-FFF2-40B4-BE49-F238E27FC236}">
                <a16:creationId xmlns:a16="http://schemas.microsoft.com/office/drawing/2014/main" id="{E3C0A3B0-05F1-21FD-056C-4C5D375581EB}"/>
              </a:ext>
            </a:extLst>
          </p:cNvPr>
          <p:cNvSpPr txBox="1">
            <a:spLocks/>
          </p:cNvSpPr>
          <p:nvPr/>
        </p:nvSpPr>
        <p:spPr>
          <a:xfrm>
            <a:off x="65231" y="738507"/>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Comparison</a:t>
            </a:r>
          </a:p>
        </p:txBody>
      </p:sp>
      <p:sp>
        <p:nvSpPr>
          <p:cNvPr id="15" name="object 2">
            <a:extLst>
              <a:ext uri="{FF2B5EF4-FFF2-40B4-BE49-F238E27FC236}">
                <a16:creationId xmlns:a16="http://schemas.microsoft.com/office/drawing/2014/main" id="{E68E63F1-83FC-6EFE-18B2-395B135DDFFA}"/>
              </a:ext>
            </a:extLst>
          </p:cNvPr>
          <p:cNvSpPr txBox="1">
            <a:spLocks/>
          </p:cNvSpPr>
          <p:nvPr/>
        </p:nvSpPr>
        <p:spPr>
          <a:xfrm>
            <a:off x="76200" y="3970883"/>
            <a:ext cx="8624937" cy="169277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Breakdown</a:t>
            </a:r>
          </a:p>
          <a:p>
            <a:pPr marL="12700" marR="5080"/>
            <a:r>
              <a:rPr lang="en-US" sz="1500" dirty="0">
                <a:solidFill>
                  <a:schemeClr val="accent2"/>
                </a:solidFill>
                <a:latin typeface="Google Sans"/>
              </a:rPr>
              <a:t>1. Reliability (Consistency)</a:t>
            </a:r>
          </a:p>
          <a:p>
            <a:pPr marL="12700" marR="5080"/>
            <a:r>
              <a:rPr lang="en-US" sz="1500" dirty="0">
                <a:solidFill>
                  <a:schemeClr val="accent6"/>
                </a:solidFill>
                <a:latin typeface="Google Sans"/>
              </a:rPr>
              <a:t>Reliability is concerned with how consistently a system performs its required function without failure over a specified period. A highly reliable system is trustworthy. </a:t>
            </a:r>
          </a:p>
          <a:p>
            <a:pPr marL="12700" marR="5080"/>
            <a:r>
              <a:rPr lang="en-US" sz="1500" dirty="0">
                <a:solidFill>
                  <a:schemeClr val="accent2"/>
                </a:solidFill>
                <a:latin typeface="Google Sans"/>
              </a:rPr>
              <a:t>Metric: </a:t>
            </a:r>
            <a:r>
              <a:rPr lang="en-US" sz="1500" dirty="0">
                <a:solidFill>
                  <a:schemeClr val="accent6"/>
                </a:solidFill>
                <a:latin typeface="Google Sans"/>
              </a:rPr>
              <a:t>Mean Time Between Failures (MTBF). A higher MTBF means the system fails less often.</a:t>
            </a:r>
          </a:p>
          <a:p>
            <a:pPr marL="12700" marR="5080"/>
            <a:r>
              <a:rPr lang="en-US" sz="1500" dirty="0">
                <a:solidFill>
                  <a:schemeClr val="accent2"/>
                </a:solidFill>
                <a:latin typeface="Google Sans"/>
              </a:rPr>
              <a:t>Focus:</a:t>
            </a:r>
            <a:r>
              <a:rPr lang="en-US" sz="1500" dirty="0">
                <a:solidFill>
                  <a:schemeClr val="accent6"/>
                </a:solidFill>
                <a:latin typeface="Google Sans"/>
              </a:rPr>
              <a:t> Prevention of failures through high-quality design, testing, and durable components.</a:t>
            </a:r>
          </a:p>
          <a:p>
            <a:pPr marL="12700" marR="5080"/>
            <a:r>
              <a:rPr lang="en-US" sz="1500" dirty="0">
                <a:solidFill>
                  <a:schemeClr val="accent2"/>
                </a:solidFill>
                <a:latin typeface="Google Sans"/>
              </a:rPr>
              <a:t>Example: </a:t>
            </a:r>
            <a:r>
              <a:rPr lang="en-US" sz="1500" dirty="0">
                <a:solidFill>
                  <a:schemeClr val="accent6"/>
                </a:solidFill>
                <a:latin typeface="Google Sans"/>
              </a:rPr>
              <a:t>A medical device that must work perfectly for 24 hours without crashing. </a:t>
            </a:r>
          </a:p>
        </p:txBody>
      </p:sp>
    </p:spTree>
    <p:extLst>
      <p:ext uri="{BB962C8B-B14F-4D97-AF65-F5344CB8AC3E}">
        <p14:creationId xmlns:p14="http://schemas.microsoft.com/office/powerpoint/2010/main" val="93021631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DF641-C8F7-9538-2D73-7059106B8B3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18DA214-2CBF-593F-F0E9-924AC2AD7B7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C048D07-2BFD-496F-2B44-4A28D36007C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E8EB6A1-4950-F493-6584-2EE8953D84F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E9201DC2-CFBF-A304-9445-FF02D687442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11E6DBA-CED1-9A7C-BA27-5ECCD83D5E8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1F81FE96-CE6A-5577-BCBD-4405B4D568B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Reliability &amp; Fault Tolerance</a:t>
              </a:r>
              <a:endParaRPr lang="en-US" sz="2500" kern="1200" dirty="0">
                <a:solidFill>
                  <a:schemeClr val="bg1"/>
                </a:solidFill>
              </a:endParaRPr>
            </a:p>
          </p:txBody>
        </p:sp>
      </p:grpSp>
      <p:sp>
        <p:nvSpPr>
          <p:cNvPr id="15" name="object 2">
            <a:extLst>
              <a:ext uri="{FF2B5EF4-FFF2-40B4-BE49-F238E27FC236}">
                <a16:creationId xmlns:a16="http://schemas.microsoft.com/office/drawing/2014/main" id="{E10218A4-543A-1A30-CDAF-A8B06AE474C0}"/>
              </a:ext>
            </a:extLst>
          </p:cNvPr>
          <p:cNvSpPr txBox="1">
            <a:spLocks/>
          </p:cNvSpPr>
          <p:nvPr/>
        </p:nvSpPr>
        <p:spPr>
          <a:xfrm>
            <a:off x="76200" y="762000"/>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Breakdown</a:t>
            </a:r>
          </a:p>
          <a:p>
            <a:pPr marL="12700" marR="5080"/>
            <a:r>
              <a:rPr lang="en-US" sz="1500" dirty="0">
                <a:solidFill>
                  <a:schemeClr val="accent2"/>
                </a:solidFill>
                <a:latin typeface="Google Sans"/>
              </a:rPr>
              <a:t>2. Availability (Uptime)</a:t>
            </a:r>
          </a:p>
          <a:p>
            <a:pPr marL="12700" marR="5080"/>
            <a:r>
              <a:rPr lang="en-US" sz="1500" dirty="0">
                <a:solidFill>
                  <a:schemeClr val="accent6"/>
                </a:solidFill>
                <a:latin typeface="Google Sans"/>
              </a:rPr>
              <a:t>Availability measures the percentage of time a system is operational, accessible, and ready to serve requests. It factors in both reliability and how quickly a system can be repaired (maintainability). </a:t>
            </a:r>
          </a:p>
          <a:p>
            <a:pPr marL="12700" marR="5080"/>
            <a:r>
              <a:rPr lang="en-US" sz="1500" dirty="0">
                <a:solidFill>
                  <a:schemeClr val="accent2"/>
                </a:solidFill>
                <a:latin typeface="Google Sans"/>
              </a:rPr>
              <a:t>Metric: </a:t>
            </a:r>
            <a:r>
              <a:rPr lang="en-US" sz="1500" dirty="0">
                <a:solidFill>
                  <a:schemeClr val="accent6"/>
                </a:solidFill>
                <a:latin typeface="Google Sans"/>
              </a:rPr>
              <a:t>Uptime % (99.9% = "three nines", 99.999% = "five nines").</a:t>
            </a:r>
          </a:p>
          <a:p>
            <a:pPr marL="12700" marR="5080"/>
            <a:r>
              <a:rPr lang="en-US" sz="1500" dirty="0">
                <a:solidFill>
                  <a:schemeClr val="accent2"/>
                </a:solidFill>
                <a:latin typeface="Google Sans"/>
              </a:rPr>
              <a:t>Focus: </a:t>
            </a:r>
            <a:r>
              <a:rPr lang="en-US" sz="1500" dirty="0">
                <a:solidFill>
                  <a:schemeClr val="accent6"/>
                </a:solidFill>
                <a:latin typeface="Google Sans"/>
              </a:rPr>
              <a:t>Minimizing downtime, even if it requires a short interruption for failover.</a:t>
            </a:r>
          </a:p>
          <a:p>
            <a:pPr marL="12700" marR="5080"/>
            <a:r>
              <a:rPr lang="en-US" sz="1500" dirty="0">
                <a:solidFill>
                  <a:schemeClr val="accent2"/>
                </a:solidFill>
                <a:latin typeface="Google Sans"/>
              </a:rPr>
              <a:t>Example:</a:t>
            </a:r>
            <a:r>
              <a:rPr lang="en-US" sz="1500" dirty="0">
                <a:solidFill>
                  <a:schemeClr val="accent6"/>
                </a:solidFill>
                <a:latin typeface="Google Sans"/>
              </a:rPr>
              <a:t> An e-commerce website that might experience a few seconds of downtime while load balancers switch to a backup server. </a:t>
            </a:r>
          </a:p>
          <a:p>
            <a:pPr marL="12700" marR="5080"/>
            <a:r>
              <a:rPr lang="en-US" sz="1500" dirty="0">
                <a:solidFill>
                  <a:schemeClr val="accent2"/>
                </a:solidFill>
                <a:latin typeface="Google Sans"/>
              </a:rPr>
              <a:t>3. Fault Tolerance (Continuity) </a:t>
            </a:r>
          </a:p>
          <a:p>
            <a:pPr marL="12700" marR="5080"/>
            <a:r>
              <a:rPr lang="en-US" sz="1500" dirty="0">
                <a:solidFill>
                  <a:schemeClr val="accent6"/>
                </a:solidFill>
                <a:latin typeface="Google Sans"/>
              </a:rPr>
              <a:t>Fault Tolerance is the ability of a system to continue operating properly in the presence of one or more component failures. It provides zero downtime because the system masks the failure. </a:t>
            </a:r>
          </a:p>
          <a:p>
            <a:pPr marL="12700" marR="5080"/>
            <a:r>
              <a:rPr lang="en-US" sz="1500" dirty="0">
                <a:solidFill>
                  <a:schemeClr val="accent2"/>
                </a:solidFill>
                <a:latin typeface="Google Sans"/>
              </a:rPr>
              <a:t>Metric: </a:t>
            </a:r>
            <a:r>
              <a:rPr lang="en-US" sz="1500" dirty="0">
                <a:solidFill>
                  <a:schemeClr val="accent6"/>
                </a:solidFill>
                <a:latin typeface="Google Sans"/>
              </a:rPr>
              <a:t>Zero downtime / Continuous operation.</a:t>
            </a:r>
          </a:p>
          <a:p>
            <a:pPr marL="12700" marR="5080"/>
            <a:r>
              <a:rPr lang="en-US" sz="1500" dirty="0">
                <a:solidFill>
                  <a:schemeClr val="accent2"/>
                </a:solidFill>
                <a:latin typeface="Google Sans"/>
              </a:rPr>
              <a:t>Focus:</a:t>
            </a:r>
            <a:r>
              <a:rPr lang="en-US" sz="1500" dirty="0">
                <a:solidFill>
                  <a:schemeClr val="accent6"/>
                </a:solidFill>
                <a:latin typeface="Google Sans"/>
              </a:rPr>
              <a:t> Eliminating single points of failure by running redundant components in parallel.</a:t>
            </a:r>
          </a:p>
          <a:p>
            <a:pPr marL="12700" marR="5080"/>
            <a:r>
              <a:rPr lang="en-US" sz="1500" dirty="0">
                <a:solidFill>
                  <a:schemeClr val="accent2"/>
                </a:solidFill>
                <a:latin typeface="Google Sans"/>
              </a:rPr>
              <a:t>Example: </a:t>
            </a:r>
            <a:r>
              <a:rPr lang="en-US" sz="1500" dirty="0">
                <a:solidFill>
                  <a:schemeClr val="accent6"/>
                </a:solidFill>
                <a:latin typeface="Google Sans"/>
              </a:rPr>
              <a:t>A banking transaction system or airplane control system that must never stop, even if a server fails instantly. </a:t>
            </a:r>
          </a:p>
          <a:p>
            <a:pPr marL="12700" marR="5080"/>
            <a:r>
              <a:rPr lang="en-US" sz="1500" dirty="0">
                <a:solidFill>
                  <a:schemeClr val="accent2"/>
                </a:solidFill>
                <a:latin typeface="Google Sans"/>
              </a:rPr>
              <a:t>Key Relationships</a:t>
            </a:r>
          </a:p>
          <a:p>
            <a:pPr marL="12700" marR="5080"/>
            <a:r>
              <a:rPr lang="en-US" sz="1500" dirty="0">
                <a:solidFill>
                  <a:schemeClr val="accent2"/>
                </a:solidFill>
                <a:latin typeface="Google Sans"/>
              </a:rPr>
              <a:t>Reliability affects Availability: </a:t>
            </a:r>
            <a:r>
              <a:rPr lang="en-US" sz="1500" dirty="0">
                <a:solidFill>
                  <a:schemeClr val="accent6"/>
                </a:solidFill>
                <a:latin typeface="Google Sans"/>
              </a:rPr>
              <a:t>Highly reliable systems naturally have higher availability because they fail less often.</a:t>
            </a:r>
          </a:p>
          <a:p>
            <a:pPr marL="12700" marR="5080"/>
            <a:r>
              <a:rPr lang="en-US" sz="1500" dirty="0">
                <a:solidFill>
                  <a:schemeClr val="accent2"/>
                </a:solidFill>
                <a:latin typeface="Google Sans"/>
              </a:rPr>
              <a:t>Fault Tolerance creates Availability: </a:t>
            </a:r>
            <a:r>
              <a:rPr lang="en-US" sz="1500" dirty="0">
                <a:solidFill>
                  <a:schemeClr val="accent6"/>
                </a:solidFill>
                <a:latin typeface="Google Sans"/>
              </a:rPr>
              <a:t>Fault-tolerant systems are inherently highly available, but not all highly available systems are fault-tolerant.</a:t>
            </a:r>
          </a:p>
          <a:p>
            <a:pPr marL="12700" marR="5080"/>
            <a:r>
              <a:rPr lang="en-US" sz="1500" dirty="0">
                <a:solidFill>
                  <a:schemeClr val="accent2"/>
                </a:solidFill>
                <a:latin typeface="Google Sans"/>
              </a:rPr>
              <a:t>Trade-off: </a:t>
            </a:r>
            <a:r>
              <a:rPr lang="en-US" sz="1500" dirty="0">
                <a:solidFill>
                  <a:schemeClr val="accent6"/>
                </a:solidFill>
                <a:latin typeface="Google Sans"/>
              </a:rPr>
              <a:t>Fault tolerance is generally much more expensive and complex to implement than simple high availability. </a:t>
            </a:r>
          </a:p>
        </p:txBody>
      </p:sp>
    </p:spTree>
    <p:extLst>
      <p:ext uri="{BB962C8B-B14F-4D97-AF65-F5344CB8AC3E}">
        <p14:creationId xmlns:p14="http://schemas.microsoft.com/office/powerpoint/2010/main" val="368115785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3B0C6-55A0-02E9-C5D7-2EF3165CA0D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9A60A4E-7340-8D46-1AB0-4ED27538559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3BF6512-5A3B-9D8D-B606-6D42FD70466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D8276D8-9107-6634-B610-B1566FC7A3B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CA136B4E-7619-4781-011F-C899448FA05A}"/>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3AD6E6A-D05D-268A-9D3C-1963363452C4}"/>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C3DC8FA0-B6A1-F6DB-D3B4-C374B3A19DD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Reliability &amp; Fault Tolerance</a:t>
              </a:r>
              <a:endParaRPr lang="en-US" sz="2500" kern="1200" dirty="0">
                <a:solidFill>
                  <a:schemeClr val="bg1"/>
                </a:solidFill>
              </a:endParaRPr>
            </a:p>
          </p:txBody>
        </p:sp>
      </p:grpSp>
      <p:sp>
        <p:nvSpPr>
          <p:cNvPr id="15" name="object 2">
            <a:extLst>
              <a:ext uri="{FF2B5EF4-FFF2-40B4-BE49-F238E27FC236}">
                <a16:creationId xmlns:a16="http://schemas.microsoft.com/office/drawing/2014/main" id="{FF5CC7BE-BF3A-B6B5-7E30-B9B294860058}"/>
              </a:ext>
            </a:extLst>
          </p:cNvPr>
          <p:cNvSpPr txBox="1">
            <a:spLocks/>
          </p:cNvSpPr>
          <p:nvPr/>
        </p:nvSpPr>
        <p:spPr>
          <a:xfrm>
            <a:off x="76200" y="762000"/>
            <a:ext cx="8624937"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For Further Exploration</a:t>
            </a:r>
          </a:p>
          <a:p>
            <a:pPr marL="12700" marR="5080"/>
            <a:r>
              <a:rPr lang="en-US" sz="2000" dirty="0">
                <a:hlinkClick r:id="rId2"/>
              </a:rPr>
              <a:t>High Availability vs Fault Tolerance: A Comparative Guide</a:t>
            </a:r>
            <a:endParaRPr lang="en-US" sz="2000" dirty="0"/>
          </a:p>
          <a:p>
            <a:pPr marL="12700" marR="5080"/>
            <a:r>
              <a:rPr lang="en-IN" sz="2000" dirty="0">
                <a:hlinkClick r:id="rId3"/>
              </a:rPr>
              <a:t>Availability vs Durability vs Reliability vs Resilience</a:t>
            </a:r>
            <a:endParaRPr lang="en-US" sz="2000" dirty="0">
              <a:solidFill>
                <a:schemeClr val="accent2"/>
              </a:solidFill>
              <a:latin typeface="Google Sans"/>
            </a:endParaRPr>
          </a:p>
        </p:txBody>
      </p:sp>
    </p:spTree>
    <p:extLst>
      <p:ext uri="{BB962C8B-B14F-4D97-AF65-F5344CB8AC3E}">
        <p14:creationId xmlns:p14="http://schemas.microsoft.com/office/powerpoint/2010/main" val="287010418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44911" y="666432"/>
            <a:ext cx="8624937" cy="52937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Total System Availability – How to measure? </a:t>
            </a:r>
          </a:p>
          <a:p>
            <a:pPr marL="12700" marR="5080"/>
            <a:r>
              <a:rPr lang="en-IN" sz="1400" dirty="0">
                <a:hlinkClick r:id="rId2"/>
              </a:rPr>
              <a:t>System Reliability and Availability</a:t>
            </a:r>
            <a:endParaRPr lang="en-IN" sz="1400" dirty="0"/>
          </a:p>
          <a:p>
            <a:pPr marL="12700" marR="5080"/>
            <a:r>
              <a:rPr lang="en-US" sz="1400" dirty="0">
                <a:hlinkClick r:id="rId3"/>
              </a:rPr>
              <a:t>Calculating Total System Availability</a:t>
            </a:r>
            <a:endParaRPr lang="en-US" sz="1400" dirty="0"/>
          </a:p>
          <a:p>
            <a:pPr marL="12700" marR="5080"/>
            <a:r>
              <a:rPr lang="en-US" sz="1400" dirty="0">
                <a:hlinkClick r:id="rId4"/>
              </a:rPr>
              <a:t>How to Calculate System Availability: Definition and Measurement</a:t>
            </a:r>
            <a:endParaRPr lang="en-US" sz="1400" dirty="0"/>
          </a:p>
          <a:p>
            <a:pPr marL="12700" marR="5080"/>
            <a:r>
              <a:rPr lang="en-US" sz="2000" dirty="0">
                <a:solidFill>
                  <a:schemeClr val="accent2"/>
                </a:solidFill>
                <a:latin typeface="Google Sans"/>
              </a:rPr>
              <a:t>Health Checks – </a:t>
            </a:r>
            <a:r>
              <a:rPr lang="en-US" sz="1500" dirty="0">
                <a:solidFill>
                  <a:schemeClr val="accent6"/>
                </a:solidFill>
                <a:latin typeface="Google Sans"/>
              </a:rPr>
              <a:t>/health(/error) endpoints using </a:t>
            </a:r>
            <a:r>
              <a:rPr lang="en-US" sz="1500" dirty="0" err="1">
                <a:solidFill>
                  <a:schemeClr val="accent6"/>
                </a:solidFill>
                <a:latin typeface="Google Sans"/>
              </a:rPr>
              <a:t>httpHead</a:t>
            </a:r>
            <a:r>
              <a:rPr lang="en-US" sz="1500" dirty="0">
                <a:solidFill>
                  <a:schemeClr val="accent6"/>
                </a:solidFill>
                <a:latin typeface="Google Sans"/>
              </a:rPr>
              <a:t>(/</a:t>
            </a:r>
            <a:r>
              <a:rPr lang="en-US" sz="1500" dirty="0" err="1">
                <a:solidFill>
                  <a:schemeClr val="accent6"/>
                </a:solidFill>
                <a:latin typeface="Google Sans"/>
              </a:rPr>
              <a:t>httpGet</a:t>
            </a:r>
            <a:r>
              <a:rPr lang="en-US" sz="1500" dirty="0">
                <a:solidFill>
                  <a:schemeClr val="accent6"/>
                </a:solidFill>
                <a:latin typeface="Google Sans"/>
              </a:rPr>
              <a:t>) verbs. AP/</a:t>
            </a:r>
            <a:r>
              <a:rPr lang="en-US" sz="1500" dirty="0" err="1">
                <a:solidFill>
                  <a:schemeClr val="accent6"/>
                </a:solidFill>
                <a:latin typeface="Google Sans"/>
              </a:rPr>
              <a:t>BackgroundServices</a:t>
            </a:r>
            <a:r>
              <a:rPr lang="en-US" sz="1500" dirty="0">
                <a:solidFill>
                  <a:schemeClr val="accent6"/>
                </a:solidFill>
                <a:latin typeface="Google Sans"/>
              </a:rPr>
              <a:t> Health checks can be strong indicator of API/</a:t>
            </a:r>
            <a:r>
              <a:rPr lang="en-US" sz="1500" dirty="0" err="1">
                <a:solidFill>
                  <a:schemeClr val="accent6"/>
                </a:solidFill>
                <a:latin typeface="Google Sans"/>
              </a:rPr>
              <a:t>BackgroundServices</a:t>
            </a:r>
            <a:r>
              <a:rPr lang="en-US" sz="1500" dirty="0">
                <a:solidFill>
                  <a:schemeClr val="accent6"/>
                </a:solidFill>
                <a:latin typeface="Google Sans"/>
              </a:rPr>
              <a:t> Availability since Availability can be calculated as ratio of successful health checks to the total number of health checks performed over a specific period. Although MTTD + MTTR +  MTTF can give a much better picture about Availability but its not a trivial task to calculate MTTD, MTTR &amp; MTTF from health checks.(check next 2 slides)  </a:t>
            </a:r>
          </a:p>
          <a:p>
            <a:pPr marL="12700" marR="5080"/>
            <a:r>
              <a:rPr lang="en-US" sz="2000" dirty="0">
                <a:solidFill>
                  <a:schemeClr val="accent2"/>
                </a:solidFill>
                <a:latin typeface="Google Sans"/>
              </a:rPr>
              <a:t>Liveness vs Readiness –</a:t>
            </a:r>
          </a:p>
          <a:p>
            <a:pPr algn="l" fontAlgn="base"/>
            <a:r>
              <a:rPr lang="en-US" sz="1500" dirty="0">
                <a:solidFill>
                  <a:schemeClr val="accent2"/>
                </a:solidFill>
                <a:latin typeface="Google Sans"/>
              </a:rPr>
              <a:t>Liveness: </a:t>
            </a:r>
            <a:r>
              <a:rPr lang="en-US" sz="1500" dirty="0">
                <a:solidFill>
                  <a:schemeClr val="accent6"/>
                </a:solidFill>
                <a:latin typeface="Google Sans"/>
              </a:rPr>
              <a:t>Used to check if the app is available and alive.</a:t>
            </a:r>
          </a:p>
          <a:p>
            <a:pPr algn="l" fontAlgn="base"/>
            <a:r>
              <a:rPr lang="en-US" sz="1500" dirty="0">
                <a:solidFill>
                  <a:schemeClr val="accent2"/>
                </a:solidFill>
                <a:latin typeface="Google Sans"/>
              </a:rPr>
              <a:t>Readiness:</a:t>
            </a:r>
            <a:r>
              <a:rPr lang="en-US" sz="1500" dirty="0">
                <a:solidFill>
                  <a:schemeClr val="accent6"/>
                </a:solidFill>
                <a:latin typeface="Google Sans"/>
              </a:rPr>
              <a:t> Used to check if the application is ready to be used and serve the traffic.</a:t>
            </a:r>
          </a:p>
          <a:p>
            <a:pPr algn="l" fontAlgn="base"/>
            <a:r>
              <a:rPr lang="en-US" sz="1500" dirty="0">
                <a:solidFill>
                  <a:schemeClr val="accent6"/>
                </a:solidFill>
                <a:latin typeface="Google Sans"/>
              </a:rPr>
              <a:t>Normally the readiness check is only performed when an application has just been started, to make sure the load balancer or orchestrator can start directing the traffic. After the Application becomes ready, only then liveness check is performed. Typically, while a Liveness probe would return Healthy or </a:t>
            </a:r>
            <a:r>
              <a:rPr lang="en-US" sz="1500" dirty="0" err="1">
                <a:solidFill>
                  <a:schemeClr val="accent6"/>
                </a:solidFill>
                <a:latin typeface="Google Sans"/>
              </a:rPr>
              <a:t>UnHealthy</a:t>
            </a:r>
            <a:r>
              <a:rPr lang="en-US" sz="1500" dirty="0">
                <a:solidFill>
                  <a:schemeClr val="accent6"/>
                </a:solidFill>
                <a:latin typeface="Google Sans"/>
              </a:rPr>
              <a:t>, the Readiness probe could return Degraded if the application is not ready to process requests yet.</a:t>
            </a:r>
          </a:p>
          <a:p>
            <a:pPr algn="l" fontAlgn="base"/>
            <a:endParaRPr lang="en-US" sz="1500" dirty="0">
              <a:solidFill>
                <a:schemeClr val="accent6"/>
              </a:solidFill>
              <a:latin typeface="Google Sans"/>
            </a:endParaRPr>
          </a:p>
          <a:p>
            <a:pPr algn="l" fontAlgn="base"/>
            <a:endParaRPr lang="en-US" sz="1500" dirty="0">
              <a:solidFill>
                <a:schemeClr val="accent6"/>
              </a:solidFill>
              <a:latin typeface="Google Sans"/>
            </a:endParaRPr>
          </a:p>
          <a:p>
            <a:pPr algn="l" fontAlgn="base"/>
            <a:r>
              <a:rPr lang="en-US" sz="2000" dirty="0">
                <a:solidFill>
                  <a:schemeClr val="accent2"/>
                </a:solidFill>
                <a:latin typeface="Google Sans"/>
              </a:rPr>
              <a:t>For Further Exploration – </a:t>
            </a:r>
          </a:p>
          <a:p>
            <a:pPr marL="12700" marR="5080"/>
            <a:r>
              <a:rPr lang="en-US" sz="1400" dirty="0">
                <a:hlinkClick r:id="rId5"/>
              </a:rPr>
              <a:t>Health checks with ASP.NET Core and Kubernetes - David Guida</a:t>
            </a:r>
            <a:endParaRPr lang="en-US" sz="1400" kern="0" spc="-80" dirty="0">
              <a:solidFill>
                <a:schemeClr val="accent2"/>
              </a:solidFill>
            </a:endParaRPr>
          </a:p>
          <a:p>
            <a:pPr marL="12700" marR="5080"/>
            <a:r>
              <a:rPr lang="en-US" sz="1400" dirty="0">
                <a:hlinkClick r:id="rId6"/>
              </a:rPr>
              <a:t>High availability for multitier AKS applications - Azure Architecture Center | Microsoft Learn</a:t>
            </a:r>
            <a:r>
              <a:rPr lang="en-US" sz="1400" kern="0" spc="-80" dirty="0">
                <a:solidFill>
                  <a:schemeClr val="accent6"/>
                </a:solidFill>
              </a:rPr>
              <a:t>   </a:t>
            </a:r>
          </a:p>
          <a:p>
            <a:pPr marL="12700" marR="5080"/>
            <a:r>
              <a:rPr lang="en-US" sz="1400" dirty="0">
                <a:hlinkClick r:id="rId7"/>
              </a:rPr>
              <a:t>Performing a health check in .NET Core Worker Service - Stack Overflow</a:t>
            </a:r>
            <a:endParaRPr lang="en-US" sz="1400" kern="0" spc="-80" dirty="0">
              <a:solidFill>
                <a:schemeClr val="accent6"/>
              </a:solidFill>
            </a:endParaRPr>
          </a:p>
        </p:txBody>
      </p:sp>
      <p:grpSp>
        <p:nvGrpSpPr>
          <p:cNvPr id="7" name="Group 6">
            <a:extLst>
              <a:ext uri="{FF2B5EF4-FFF2-40B4-BE49-F238E27FC236}">
                <a16:creationId xmlns:a16="http://schemas.microsoft.com/office/drawing/2014/main" id="{3BDE1E51-C24B-975C-0FCD-EADB41F46BC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168CC45-8084-0EEE-BA92-1A2F1AFC618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B2624277-403A-717E-114C-A5A0668E1A1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 A Bit more in Detail</a:t>
              </a:r>
              <a:endParaRPr lang="en-US" sz="2500" kern="1200" dirty="0">
                <a:solidFill>
                  <a:schemeClr val="bg1"/>
                </a:solidFill>
              </a:endParaRPr>
            </a:p>
          </p:txBody>
        </p:sp>
      </p:grpSp>
    </p:spTree>
    <p:extLst>
      <p:ext uri="{BB962C8B-B14F-4D97-AF65-F5344CB8AC3E}">
        <p14:creationId xmlns:p14="http://schemas.microsoft.com/office/powerpoint/2010/main" val="164192519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2BEE1-6BB7-770B-FF1D-7932C4E16A7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34B8E2B-DA4B-7B2A-8A55-131A084E151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8540E60-AA47-4C11-113B-EA61F205C5B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8BCA715-C7EB-B574-3EE2-7438758D265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A028FAF-DB8D-7387-D4A3-0219BA53A0F6}"/>
              </a:ext>
            </a:extLst>
          </p:cNvPr>
          <p:cNvSpPr txBox="1">
            <a:spLocks/>
          </p:cNvSpPr>
          <p:nvPr/>
        </p:nvSpPr>
        <p:spPr>
          <a:xfrm>
            <a:off x="61863" y="760541"/>
            <a:ext cx="8624937" cy="48782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Calculating MTTD, MTTR &amp; MTTF from Health checks -  </a:t>
            </a:r>
          </a:p>
          <a:p>
            <a:pPr fontAlgn="ctr"/>
            <a:r>
              <a:rPr lang="en-US" sz="1500" dirty="0">
                <a:solidFill>
                  <a:schemeClr val="accent6"/>
                </a:solidFill>
                <a:latin typeface="Google Sans"/>
              </a:rPr>
              <a:t>It is possible to calculate MTTD, MTTR, and MTTF using data from health checks. These metrics are all derived from tracking the time between events related to system failures and their resolution. Health checks can provide the necessary data points for these calculations. </a:t>
            </a:r>
          </a:p>
          <a:p>
            <a:endParaRPr lang="en-US" sz="1500" dirty="0">
              <a:solidFill>
                <a:schemeClr val="accent6"/>
              </a:solidFill>
              <a:latin typeface="Google Sans"/>
            </a:endParaRPr>
          </a:p>
          <a:p>
            <a:r>
              <a:rPr lang="en-US" sz="1800" dirty="0">
                <a:solidFill>
                  <a:schemeClr val="accent2"/>
                </a:solidFill>
                <a:latin typeface="Google Sans"/>
              </a:rPr>
              <a:t>Explanation:</a:t>
            </a:r>
          </a:p>
          <a:p>
            <a:r>
              <a:rPr lang="en-US" sz="1500" dirty="0">
                <a:solidFill>
                  <a:schemeClr val="accent2"/>
                </a:solidFill>
                <a:latin typeface="Google Sans"/>
                <a:hlinkClick r:id="rId2">
                  <a:extLst>
                    <a:ext uri="{A12FA001-AC4F-418D-AE19-62706E023703}">
                      <ahyp:hlinkClr xmlns:ahyp="http://schemas.microsoft.com/office/drawing/2018/hyperlinkcolor" val="tx"/>
                    </a:ext>
                  </a:extLst>
                </a:hlinkClick>
              </a:rPr>
              <a:t>MTTD (Mean Time to Detect)</a:t>
            </a:r>
            <a:r>
              <a:rPr lang="en-US" sz="1500" dirty="0">
                <a:solidFill>
                  <a:schemeClr val="accent2"/>
                </a:solidFill>
                <a:latin typeface="Google Sans"/>
              </a:rPr>
              <a:t>:</a:t>
            </a:r>
          </a:p>
          <a:p>
            <a:pPr fontAlgn="ctr"/>
            <a:r>
              <a:rPr lang="en-US" sz="1500" dirty="0">
                <a:solidFill>
                  <a:schemeClr val="accent6"/>
                </a:solidFill>
                <a:latin typeface="Google Sans"/>
              </a:rPr>
              <a:t>Health checks can be configured to monitor system health and trigger alerts when issues arise. By logging the time of the issue detection (from the health check alert) and the time of the actual incident occurrence (if it can be determined), you can calculate the time it took to detect the issue (MTTD). </a:t>
            </a:r>
          </a:p>
          <a:p>
            <a:pPr fontAlgn="ctr"/>
            <a:endParaRPr lang="en-US" sz="1500" dirty="0">
              <a:solidFill>
                <a:schemeClr val="accent6"/>
              </a:solidFill>
              <a:latin typeface="Google Sans"/>
            </a:endParaRPr>
          </a:p>
          <a:p>
            <a:r>
              <a:rPr lang="en-US" sz="1500" dirty="0">
                <a:solidFill>
                  <a:schemeClr val="accent2"/>
                </a:solidFill>
                <a:latin typeface="Google Sans"/>
                <a:hlinkClick r:id="rId3">
                  <a:extLst>
                    <a:ext uri="{A12FA001-AC4F-418D-AE19-62706E023703}">
                      <ahyp:hlinkClr xmlns:ahyp="http://schemas.microsoft.com/office/drawing/2018/hyperlinkcolor" val="tx"/>
                    </a:ext>
                  </a:extLst>
                </a:hlinkClick>
              </a:rPr>
              <a:t>MTTR (Mean Time to Repair/Resolution)</a:t>
            </a:r>
            <a:r>
              <a:rPr lang="en-US" sz="1500" dirty="0">
                <a:solidFill>
                  <a:schemeClr val="accent2"/>
                </a:solidFill>
                <a:latin typeface="Google Sans"/>
              </a:rPr>
              <a:t>:</a:t>
            </a:r>
          </a:p>
          <a:p>
            <a:pPr fontAlgn="ctr"/>
            <a:r>
              <a:rPr lang="en-US" sz="1500" dirty="0">
                <a:solidFill>
                  <a:schemeClr val="accent6"/>
                </a:solidFill>
                <a:latin typeface="Google Sans"/>
              </a:rPr>
              <a:t>Health checks can also be part of the resolution process. They can be used to verify when a system or service has been restored to a healthy state after an issue is resolved. By measuring the time from detection to resolution (including any repair or remediation actions) based on health check data, you can calculate MTTR. </a:t>
            </a:r>
          </a:p>
          <a:p>
            <a:pPr fontAlgn="ctr"/>
            <a:endParaRPr lang="en-US" sz="1500" dirty="0">
              <a:solidFill>
                <a:schemeClr val="accent6"/>
              </a:solidFill>
              <a:latin typeface="Google Sans"/>
            </a:endParaRPr>
          </a:p>
          <a:p>
            <a:r>
              <a:rPr lang="en-US" sz="1500" dirty="0">
                <a:solidFill>
                  <a:schemeClr val="accent2"/>
                </a:solidFill>
                <a:latin typeface="Google Sans"/>
                <a:hlinkClick r:id="rId4">
                  <a:extLst>
                    <a:ext uri="{A12FA001-AC4F-418D-AE19-62706E023703}">
                      <ahyp:hlinkClr xmlns:ahyp="http://schemas.microsoft.com/office/drawing/2018/hyperlinkcolor" val="tx"/>
                    </a:ext>
                  </a:extLst>
                </a:hlinkClick>
              </a:rPr>
              <a:t>MTTF (Mean Time to Failure)</a:t>
            </a:r>
            <a:r>
              <a:rPr lang="en-US" sz="1500" dirty="0">
                <a:solidFill>
                  <a:schemeClr val="accent2"/>
                </a:solidFill>
                <a:latin typeface="Google Sans"/>
              </a:rPr>
              <a:t>:</a:t>
            </a:r>
          </a:p>
          <a:p>
            <a:pPr fontAlgn="ctr"/>
            <a:r>
              <a:rPr lang="en-US" sz="1500" dirty="0">
                <a:solidFill>
                  <a:schemeClr val="accent6"/>
                </a:solidFill>
                <a:latin typeface="Google Sans"/>
              </a:rPr>
              <a:t>This metric is typically used for non-repairable systems, but health checks can be used to track the time until a system or component reaches a point where it needs to be replaced. By monitoring the system's health and logging the time of failures, you can determine the average time to failure for that component. </a:t>
            </a:r>
          </a:p>
          <a:p>
            <a:pPr marL="12700" marR="5080"/>
            <a:endParaRPr lang="en-US" sz="1200" kern="0" spc="-80" dirty="0">
              <a:solidFill>
                <a:schemeClr val="accent6"/>
              </a:solidFill>
            </a:endParaRPr>
          </a:p>
        </p:txBody>
      </p:sp>
      <p:grpSp>
        <p:nvGrpSpPr>
          <p:cNvPr id="7" name="Group 6">
            <a:extLst>
              <a:ext uri="{FF2B5EF4-FFF2-40B4-BE49-F238E27FC236}">
                <a16:creationId xmlns:a16="http://schemas.microsoft.com/office/drawing/2014/main" id="{60F85DCA-021D-90AB-27AB-DB06BF7C7BF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BD6637A-00A2-4598-6214-E5787D04C68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F4B000D4-2A1F-56D3-AF67-8034589928D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 A Bit more in Detail</a:t>
              </a:r>
              <a:endParaRPr lang="en-US" sz="2500" kern="1200" dirty="0">
                <a:solidFill>
                  <a:schemeClr val="bg1"/>
                </a:solidFill>
              </a:endParaRPr>
            </a:p>
          </p:txBody>
        </p:sp>
      </p:grpSp>
    </p:spTree>
    <p:extLst>
      <p:ext uri="{BB962C8B-B14F-4D97-AF65-F5344CB8AC3E}">
        <p14:creationId xmlns:p14="http://schemas.microsoft.com/office/powerpoint/2010/main" val="3533778583"/>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2ED94-5550-11D9-743F-7A104C358E0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854AA64-8BCB-842C-0B89-9AEE627FCC3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178C5B8-9C5C-1B31-6ED5-69AEFAFB823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DEC2C35-21C6-DD8B-94B0-22B420837D7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CDB6A95-3F7D-02D3-6B3E-3B10E6253AD8}"/>
              </a:ext>
            </a:extLst>
          </p:cNvPr>
          <p:cNvSpPr txBox="1">
            <a:spLocks/>
          </p:cNvSpPr>
          <p:nvPr/>
        </p:nvSpPr>
        <p:spPr>
          <a:xfrm>
            <a:off x="76200" y="697468"/>
            <a:ext cx="8624937" cy="50013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Calculating MTTD, MTTR &amp; MTTF from Health checks</a:t>
            </a:r>
          </a:p>
          <a:p>
            <a:r>
              <a:rPr lang="en-US" sz="1800" dirty="0">
                <a:solidFill>
                  <a:schemeClr val="accent2"/>
                </a:solidFill>
                <a:latin typeface="Google Sans"/>
              </a:rPr>
              <a:t>How Health Checks Enable the Calculations:</a:t>
            </a:r>
          </a:p>
          <a:p>
            <a:r>
              <a:rPr lang="en-US" sz="1500" dirty="0">
                <a:solidFill>
                  <a:schemeClr val="accent2"/>
                </a:solidFill>
                <a:latin typeface="Google Sans"/>
              </a:rPr>
              <a:t>Automated Detection:</a:t>
            </a:r>
          </a:p>
          <a:p>
            <a:pPr fontAlgn="ctr"/>
            <a:r>
              <a:rPr lang="en-US" sz="1500" dirty="0">
                <a:solidFill>
                  <a:schemeClr val="accent6"/>
                </a:solidFill>
                <a:latin typeface="Google Sans"/>
              </a:rPr>
              <a:t>Health checks automate the detection of issues, providing a timestamp for when the problem was recognized. </a:t>
            </a:r>
          </a:p>
          <a:p>
            <a:r>
              <a:rPr lang="en-US" sz="1500" dirty="0">
                <a:solidFill>
                  <a:schemeClr val="accent2"/>
                </a:solidFill>
                <a:latin typeface="Google Sans"/>
              </a:rPr>
              <a:t>Automated Verification:</a:t>
            </a:r>
          </a:p>
          <a:p>
            <a:pPr fontAlgn="ctr"/>
            <a:r>
              <a:rPr lang="en-US" sz="1500" dirty="0">
                <a:solidFill>
                  <a:schemeClr val="accent6"/>
                </a:solidFill>
                <a:latin typeface="Google Sans"/>
              </a:rPr>
              <a:t>Health checks can also automatically verify if a problem has been resolved, providing a timestamp for the resolution. </a:t>
            </a:r>
          </a:p>
          <a:p>
            <a:r>
              <a:rPr lang="en-US" sz="1500" dirty="0">
                <a:solidFill>
                  <a:schemeClr val="accent2"/>
                </a:solidFill>
                <a:latin typeface="Google Sans"/>
              </a:rPr>
              <a:t>Data Logging:</a:t>
            </a:r>
          </a:p>
          <a:p>
            <a:pPr fontAlgn="ctr"/>
            <a:r>
              <a:rPr lang="en-US" sz="1500" dirty="0">
                <a:solidFill>
                  <a:schemeClr val="accent6"/>
                </a:solidFill>
                <a:latin typeface="Google Sans"/>
              </a:rPr>
              <a:t>By logging all health check data, including timestamps of incidents and resolutions, you have the necessary data points for calculating MTTD, MTTR, and MTTF. </a:t>
            </a:r>
          </a:p>
          <a:p>
            <a:r>
              <a:rPr lang="en-US" sz="1500" dirty="0">
                <a:solidFill>
                  <a:schemeClr val="accent6"/>
                </a:solidFill>
                <a:latin typeface="Google Sans"/>
              </a:rPr>
              <a:t>In essence, health checks serve as a reliable source of data for tracking the key metrics of incident management and system reliability. </a:t>
            </a:r>
          </a:p>
          <a:p>
            <a:endParaRPr lang="en-US" sz="1500" dirty="0">
              <a:solidFill>
                <a:schemeClr val="accent6"/>
              </a:solidFill>
              <a:latin typeface="Google Sans"/>
            </a:endParaRPr>
          </a:p>
          <a:p>
            <a:r>
              <a:rPr lang="en-US" sz="2000" dirty="0">
                <a:solidFill>
                  <a:schemeClr val="accent2"/>
                </a:solidFill>
                <a:latin typeface="Google Sans"/>
              </a:rPr>
              <a:t>Redundancy</a:t>
            </a:r>
          </a:p>
          <a:p>
            <a:pPr marL="12700" marR="5080"/>
            <a:r>
              <a:rPr lang="en-US" sz="1500" dirty="0">
                <a:solidFill>
                  <a:schemeClr val="accent6"/>
                </a:solidFill>
                <a:latin typeface="Google Sans"/>
              </a:rPr>
              <a:t>Redundancy is introduced in a system to avoid Single Point of Failure.</a:t>
            </a:r>
          </a:p>
          <a:p>
            <a:pPr marL="12700" marR="5080"/>
            <a:r>
              <a:rPr lang="en-US" sz="1500" dirty="0">
                <a:solidFill>
                  <a:schemeClr val="accent2"/>
                </a:solidFill>
                <a:latin typeface="Google Sans"/>
              </a:rPr>
              <a:t>Redundancy Types – </a:t>
            </a:r>
          </a:p>
          <a:p>
            <a:pPr marL="12700" marR="5080"/>
            <a:r>
              <a:rPr lang="en-US" sz="1500" dirty="0">
                <a:solidFill>
                  <a:schemeClr val="accent2"/>
                </a:solidFill>
                <a:latin typeface="Google Sans"/>
              </a:rPr>
              <a:t>Active Redundancy</a:t>
            </a:r>
          </a:p>
          <a:p>
            <a:pPr marL="12700" marR="5080"/>
            <a:r>
              <a:rPr lang="en-US" sz="1500" dirty="0">
                <a:solidFill>
                  <a:schemeClr val="accent6"/>
                </a:solidFill>
                <a:latin typeface="Google Sans"/>
              </a:rPr>
              <a:t>All nodes do the processing</a:t>
            </a:r>
          </a:p>
          <a:p>
            <a:pPr marL="12700" marR="5080"/>
            <a:r>
              <a:rPr lang="en-US" sz="1500" dirty="0">
                <a:solidFill>
                  <a:schemeClr val="accent6"/>
                </a:solidFill>
                <a:latin typeface="Google Sans"/>
              </a:rPr>
              <a:t>Ideal for Highest Availability</a:t>
            </a:r>
          </a:p>
          <a:p>
            <a:pPr marL="12700" marR="5080"/>
            <a:r>
              <a:rPr lang="en-US" sz="1500" dirty="0">
                <a:solidFill>
                  <a:schemeClr val="accent6"/>
                </a:solidFill>
                <a:latin typeface="Google Sans"/>
              </a:rPr>
              <a:t>   </a:t>
            </a:r>
            <a:endParaRPr lang="en-US" sz="1200" kern="0" spc="-80" dirty="0">
              <a:solidFill>
                <a:schemeClr val="accent6"/>
              </a:solidFill>
            </a:endParaRPr>
          </a:p>
        </p:txBody>
      </p:sp>
      <p:grpSp>
        <p:nvGrpSpPr>
          <p:cNvPr id="7" name="Group 6">
            <a:extLst>
              <a:ext uri="{FF2B5EF4-FFF2-40B4-BE49-F238E27FC236}">
                <a16:creationId xmlns:a16="http://schemas.microsoft.com/office/drawing/2014/main" id="{A77B43C7-6ECC-21FC-8974-B524A6C7724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85ECFBED-68D2-3189-A65C-71E5FB15FEF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6E5B7777-0B00-9DDE-9992-56A94B36A49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 A Bit more in Detail</a:t>
              </a:r>
              <a:endParaRPr lang="en-US" sz="2500" kern="1200" dirty="0">
                <a:solidFill>
                  <a:schemeClr val="bg1"/>
                </a:solidFill>
              </a:endParaRPr>
            </a:p>
          </p:txBody>
        </p:sp>
      </p:grpSp>
    </p:spTree>
    <p:extLst>
      <p:ext uri="{BB962C8B-B14F-4D97-AF65-F5344CB8AC3E}">
        <p14:creationId xmlns:p14="http://schemas.microsoft.com/office/powerpoint/2010/main" val="85038727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E5A29-2625-5637-708C-2FFF1EC0871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7B3E824-4C03-5C94-0E19-0DF52B76211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B498C13-3C88-C8A6-7573-04A389BAF3B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DD8FD07-309E-1A29-0503-2F212D49066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C335C02-D3C7-1ADC-A91E-34398BD77AA5}"/>
              </a:ext>
            </a:extLst>
          </p:cNvPr>
          <p:cNvSpPr txBox="1">
            <a:spLocks/>
          </p:cNvSpPr>
          <p:nvPr/>
        </p:nvSpPr>
        <p:spPr>
          <a:xfrm>
            <a:off x="76200" y="697468"/>
            <a:ext cx="8624937" cy="564770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Redundancy</a:t>
            </a:r>
          </a:p>
          <a:p>
            <a:pPr marL="12700" marR="5080"/>
            <a:r>
              <a:rPr lang="en-US" sz="1500" dirty="0">
                <a:solidFill>
                  <a:schemeClr val="accent2"/>
                </a:solidFill>
                <a:latin typeface="Google Sans"/>
              </a:rPr>
              <a:t>Redundancy Types – </a:t>
            </a:r>
          </a:p>
          <a:p>
            <a:pPr marL="12700" marR="5080"/>
            <a:r>
              <a:rPr lang="en-US" sz="1500" dirty="0">
                <a:solidFill>
                  <a:schemeClr val="accent2"/>
                </a:solidFill>
                <a:latin typeface="Google Sans"/>
              </a:rPr>
              <a:t>Passive Redundancy</a:t>
            </a:r>
          </a:p>
          <a:p>
            <a:pPr marL="12700" marR="5080"/>
            <a:r>
              <a:rPr lang="en-US" sz="1500" dirty="0">
                <a:solidFill>
                  <a:schemeClr val="accent6"/>
                </a:solidFill>
                <a:latin typeface="Google Sans"/>
              </a:rPr>
              <a:t>Only Active nodes do the processing</a:t>
            </a:r>
          </a:p>
          <a:p>
            <a:pPr marL="12700" marR="5080"/>
            <a:r>
              <a:rPr lang="en-US" sz="1500" dirty="0">
                <a:solidFill>
                  <a:schemeClr val="accent6"/>
                </a:solidFill>
                <a:latin typeface="Google Sans"/>
              </a:rPr>
              <a:t>Ideal for quick Recovery</a:t>
            </a:r>
          </a:p>
          <a:p>
            <a:pPr marL="12700" marR="5080"/>
            <a:r>
              <a:rPr lang="en-US" sz="1500" dirty="0">
                <a:solidFill>
                  <a:schemeClr val="accent2"/>
                </a:solidFill>
                <a:latin typeface="Google Sans"/>
              </a:rPr>
              <a:t>Cold Redundancy</a:t>
            </a:r>
          </a:p>
          <a:p>
            <a:pPr marL="12700" marR="5080"/>
            <a:r>
              <a:rPr lang="en-US" sz="1500" dirty="0">
                <a:solidFill>
                  <a:schemeClr val="accent6"/>
                </a:solidFill>
                <a:latin typeface="Google Sans"/>
              </a:rPr>
              <a:t>Spare Nodes are brought up only on failover</a:t>
            </a:r>
          </a:p>
          <a:p>
            <a:pPr marL="12700" marR="5080"/>
            <a:r>
              <a:rPr lang="en-US" sz="1500" dirty="0">
                <a:solidFill>
                  <a:schemeClr val="accent6"/>
                </a:solidFill>
                <a:latin typeface="Google Sans"/>
              </a:rPr>
              <a:t>Not for High Availability. Good for things like </a:t>
            </a:r>
            <a:r>
              <a:rPr lang="en-US" sz="1500" dirty="0" err="1">
                <a:solidFill>
                  <a:schemeClr val="accent6"/>
                </a:solidFill>
                <a:latin typeface="Google Sans"/>
              </a:rPr>
              <a:t>BackUp</a:t>
            </a:r>
            <a:r>
              <a:rPr lang="en-US" sz="1500" dirty="0">
                <a:solidFill>
                  <a:schemeClr val="accent6"/>
                </a:solidFill>
                <a:latin typeface="Google Sans"/>
              </a:rPr>
              <a:t> etc. </a:t>
            </a:r>
          </a:p>
          <a:p>
            <a:pPr marL="12700" marR="5080"/>
            <a:endParaRPr lang="en-US" sz="1500" dirty="0">
              <a:solidFill>
                <a:schemeClr val="accent6"/>
              </a:solidFill>
              <a:latin typeface="Google Sans"/>
            </a:endParaRPr>
          </a:p>
          <a:p>
            <a:pPr marL="12700" marR="5080"/>
            <a:r>
              <a:rPr lang="en-US" sz="1500" dirty="0">
                <a:solidFill>
                  <a:schemeClr val="accent2"/>
                </a:solidFill>
                <a:latin typeface="Google Sans"/>
              </a:rPr>
              <a:t>Stateless Components Redundancy(</a:t>
            </a:r>
            <a:r>
              <a:rPr lang="en-US" sz="1500" dirty="0" err="1">
                <a:solidFill>
                  <a:schemeClr val="accent2"/>
                </a:solidFill>
                <a:latin typeface="Google Sans"/>
              </a:rPr>
              <a:t>SlCR</a:t>
            </a:r>
            <a:r>
              <a:rPr lang="en-US" sz="1500" dirty="0">
                <a:solidFill>
                  <a:schemeClr val="accent2"/>
                </a:solidFill>
                <a:latin typeface="Google Sans"/>
              </a:rPr>
              <a:t>) – </a:t>
            </a:r>
          </a:p>
          <a:p>
            <a:pPr marL="12700" marR="5080"/>
            <a:r>
              <a:rPr lang="en-US" sz="1500" dirty="0">
                <a:solidFill>
                  <a:schemeClr val="accent6"/>
                </a:solidFill>
                <a:latin typeface="Google Sans"/>
              </a:rPr>
              <a:t>- APIs/Services are in general stateless components</a:t>
            </a:r>
          </a:p>
          <a:p>
            <a:pPr marL="12700" marR="5080"/>
            <a:r>
              <a:rPr lang="en-US" sz="1500" dirty="0">
                <a:solidFill>
                  <a:schemeClr val="accent6"/>
                </a:solidFill>
                <a:latin typeface="Google Sans"/>
              </a:rPr>
              <a:t>- Similar to Stateless Replication</a:t>
            </a:r>
          </a:p>
          <a:p>
            <a:pPr marL="12700" marR="5080"/>
            <a:r>
              <a:rPr lang="en-US" sz="1500" dirty="0">
                <a:solidFill>
                  <a:schemeClr val="accent6"/>
                </a:solidFill>
                <a:latin typeface="Google Sans"/>
              </a:rPr>
              <a:t>- But need to have servers for availability requirements on top of scalability requirements.</a:t>
            </a:r>
          </a:p>
          <a:p>
            <a:pPr marL="12700" marR="5080"/>
            <a:r>
              <a:rPr lang="en-US" sz="1500" dirty="0">
                <a:solidFill>
                  <a:schemeClr val="accent6"/>
                </a:solidFill>
                <a:latin typeface="Google Sans"/>
              </a:rPr>
              <a:t>- Kind of Active - Active always</a:t>
            </a:r>
          </a:p>
          <a:p>
            <a:pPr marL="12700" marR="5080"/>
            <a:r>
              <a:rPr lang="en-US" sz="1500" dirty="0">
                <a:solidFill>
                  <a:schemeClr val="accent6"/>
                </a:solidFill>
                <a:latin typeface="Google Sans"/>
              </a:rPr>
              <a:t>    </a:t>
            </a:r>
          </a:p>
          <a:p>
            <a:pPr marL="12700" marR="5080"/>
            <a:r>
              <a:rPr lang="en-US" sz="1500" dirty="0">
                <a:solidFill>
                  <a:schemeClr val="accent2"/>
                </a:solidFill>
                <a:latin typeface="Google Sans"/>
              </a:rPr>
              <a:t>Stateful Components Redundancy(</a:t>
            </a:r>
            <a:r>
              <a:rPr lang="en-US" sz="1500" dirty="0" err="1">
                <a:solidFill>
                  <a:schemeClr val="accent2"/>
                </a:solidFill>
                <a:latin typeface="Google Sans"/>
              </a:rPr>
              <a:t>SfCR</a:t>
            </a:r>
            <a:r>
              <a:rPr lang="en-US" sz="1500" dirty="0">
                <a:solidFill>
                  <a:schemeClr val="accent2"/>
                </a:solidFill>
                <a:latin typeface="Google Sans"/>
              </a:rPr>
              <a:t>) – </a:t>
            </a:r>
          </a:p>
          <a:p>
            <a:pPr marL="12700" marR="5080"/>
            <a:r>
              <a:rPr lang="en-US" sz="1500" dirty="0">
                <a:solidFill>
                  <a:schemeClr val="accent6"/>
                </a:solidFill>
                <a:latin typeface="Google Sans"/>
              </a:rPr>
              <a:t>- DBs, Cache, MQs, Static Content Servers are stateful components.</a:t>
            </a:r>
          </a:p>
          <a:p>
            <a:pPr marL="12700" marR="5080"/>
            <a:r>
              <a:rPr lang="en-US" sz="1500" dirty="0">
                <a:solidFill>
                  <a:schemeClr val="accent6"/>
                </a:solidFill>
                <a:latin typeface="Google Sans"/>
              </a:rPr>
              <a:t>- Again, similar to Stateful Replication</a:t>
            </a:r>
          </a:p>
          <a:p>
            <a:pPr marL="12700" marR="5080"/>
            <a:r>
              <a:rPr lang="en-US" sz="1500" dirty="0">
                <a:solidFill>
                  <a:schemeClr val="accent6"/>
                </a:solidFill>
                <a:latin typeface="Google Sans"/>
              </a:rPr>
              <a:t>- In case of DBs, the redundant server is more of a Backup rather  than a replica &amp; Master Slave Architecture is mainly used(mainly   async).</a:t>
            </a:r>
          </a:p>
          <a:p>
            <a:pPr marL="12700" marR="5080"/>
            <a:r>
              <a:rPr lang="en-US" sz="1500" dirty="0">
                <a:solidFill>
                  <a:schemeClr val="accent6"/>
                </a:solidFill>
                <a:latin typeface="Google Sans"/>
              </a:rPr>
              <a:t>- For other stateful components, mainly Master-Master Architecture is used(mainly in async mode)</a:t>
            </a:r>
          </a:p>
          <a:p>
            <a:pPr marL="12700" marR="5080"/>
            <a:endParaRPr lang="en-US" sz="1500" dirty="0">
              <a:solidFill>
                <a:schemeClr val="accent6"/>
              </a:solidFill>
              <a:latin typeface="Google Sans"/>
            </a:endParaRPr>
          </a:p>
          <a:p>
            <a:endParaRPr lang="en-US" sz="2000" dirty="0">
              <a:solidFill>
                <a:schemeClr val="accent2"/>
              </a:solidFill>
              <a:latin typeface="Google Sans"/>
            </a:endParaRPr>
          </a:p>
          <a:p>
            <a:pPr marL="12700" marR="5080"/>
            <a:endParaRPr lang="en-US" sz="1200" kern="0" spc="-80" dirty="0">
              <a:solidFill>
                <a:schemeClr val="accent6"/>
              </a:solidFill>
            </a:endParaRPr>
          </a:p>
        </p:txBody>
      </p:sp>
      <p:grpSp>
        <p:nvGrpSpPr>
          <p:cNvPr id="7" name="Group 6">
            <a:extLst>
              <a:ext uri="{FF2B5EF4-FFF2-40B4-BE49-F238E27FC236}">
                <a16:creationId xmlns:a16="http://schemas.microsoft.com/office/drawing/2014/main" id="{9714F545-E96F-A49F-A2F4-554B7C43F74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2DAFDB0-13C1-3D4D-9720-14E3318B5B7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1607D965-78B2-E6ED-0F5D-95894E6BE2A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 A Bit more in Detail</a:t>
              </a:r>
              <a:endParaRPr lang="en-US" sz="2500" kern="1200" dirty="0">
                <a:solidFill>
                  <a:schemeClr val="bg1"/>
                </a:solidFill>
              </a:endParaRPr>
            </a:p>
          </p:txBody>
        </p:sp>
      </p:grpSp>
    </p:spTree>
    <p:extLst>
      <p:ext uri="{BB962C8B-B14F-4D97-AF65-F5344CB8AC3E}">
        <p14:creationId xmlns:p14="http://schemas.microsoft.com/office/powerpoint/2010/main" val="205713936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76200" y="762000"/>
            <a:ext cx="8624937" cy="31854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DR(Disaster Recovery) – </a:t>
            </a:r>
          </a:p>
          <a:p>
            <a:pPr marL="12700" marR="5080"/>
            <a:r>
              <a:rPr lang="en-US" sz="1500" dirty="0">
                <a:solidFill>
                  <a:schemeClr val="accent6"/>
                </a:solidFill>
                <a:latin typeface="Google Sans"/>
              </a:rPr>
              <a:t>Difference between Business Continuity &amp; DR is that Business Continuity is continuing the business on some parts of the system failure but DR is more of accommodating to situations after total system failure.</a:t>
            </a:r>
          </a:p>
          <a:p>
            <a:pPr marL="12700" marR="5080"/>
            <a:r>
              <a:rPr lang="en-US" sz="1500" dirty="0">
                <a:solidFill>
                  <a:schemeClr val="accent6"/>
                </a:solidFill>
                <a:latin typeface="Google Sans"/>
              </a:rPr>
              <a:t>DR should be done not only for data but also for code &amp; Infra.</a:t>
            </a:r>
          </a:p>
          <a:p>
            <a:pPr marL="12700" marR="5080"/>
            <a:r>
              <a:rPr lang="en-US" sz="1500" dirty="0">
                <a:solidFill>
                  <a:schemeClr val="accent2"/>
                </a:solidFill>
                <a:latin typeface="Google Sans"/>
              </a:rPr>
              <a:t>Code – </a:t>
            </a:r>
            <a:r>
              <a:rPr lang="en-US" sz="1500" dirty="0">
                <a:solidFill>
                  <a:schemeClr val="accent6"/>
                </a:solidFill>
                <a:latin typeface="Google Sans"/>
              </a:rPr>
              <a:t>DR can be done using Distributed Version Control Systems.</a:t>
            </a:r>
          </a:p>
          <a:p>
            <a:pPr marL="12700" marR="5080"/>
            <a:r>
              <a:rPr lang="en-US" sz="1500" dirty="0">
                <a:solidFill>
                  <a:schemeClr val="accent2"/>
                </a:solidFill>
                <a:latin typeface="Google Sans"/>
              </a:rPr>
              <a:t>Infra – </a:t>
            </a:r>
            <a:r>
              <a:rPr lang="en-US" sz="1500" dirty="0">
                <a:solidFill>
                  <a:schemeClr val="accent6"/>
                </a:solidFill>
                <a:latin typeface="Google Sans"/>
              </a:rPr>
              <a:t>Quick Recovery can be done using </a:t>
            </a:r>
            <a:r>
              <a:rPr lang="en-US" sz="1500" dirty="0" err="1">
                <a:solidFill>
                  <a:schemeClr val="accent6"/>
                </a:solidFill>
                <a:latin typeface="Google Sans"/>
              </a:rPr>
              <a:t>IaC</a:t>
            </a:r>
            <a:r>
              <a:rPr lang="en-US" sz="1500" dirty="0">
                <a:solidFill>
                  <a:schemeClr val="accent6"/>
                </a:solidFill>
                <a:latin typeface="Google Sans"/>
              </a:rPr>
              <a:t>.</a:t>
            </a:r>
          </a:p>
          <a:p>
            <a:pPr marL="12700" marR="5080"/>
            <a:endParaRPr lang="en-US" sz="1500" dirty="0">
              <a:solidFill>
                <a:schemeClr val="accent6"/>
              </a:solidFill>
              <a:latin typeface="Google Sans"/>
            </a:endParaRPr>
          </a:p>
          <a:p>
            <a:pPr marL="12700" marR="5080"/>
            <a:r>
              <a:rPr lang="en-US" sz="1500" dirty="0">
                <a:solidFill>
                  <a:schemeClr val="accent2"/>
                </a:solidFill>
                <a:latin typeface="Google Sans"/>
              </a:rPr>
              <a:t>RTO &amp; RPO – </a:t>
            </a:r>
          </a:p>
          <a:p>
            <a:pPr marL="12700" marR="5080"/>
            <a:r>
              <a:rPr lang="en-US" sz="1500" dirty="0">
                <a:solidFill>
                  <a:schemeClr val="accent2"/>
                </a:solidFill>
                <a:latin typeface="Google Sans"/>
              </a:rPr>
              <a:t>RTO(Recovery Time Objective) – </a:t>
            </a:r>
            <a:r>
              <a:rPr lang="en-US" sz="1500" dirty="0">
                <a:solidFill>
                  <a:schemeClr val="accent6"/>
                </a:solidFill>
                <a:latin typeface="Google Sans"/>
              </a:rPr>
              <a:t>How much time does it take to recover from a failure? DR techniques for code &amp; infra(</a:t>
            </a:r>
            <a:r>
              <a:rPr lang="en-US" sz="1500" dirty="0" err="1">
                <a:solidFill>
                  <a:schemeClr val="accent6"/>
                </a:solidFill>
                <a:latin typeface="Google Sans"/>
              </a:rPr>
              <a:t>alongwith</a:t>
            </a:r>
            <a:r>
              <a:rPr lang="en-US" sz="1500" dirty="0">
                <a:solidFill>
                  <a:schemeClr val="accent6"/>
                </a:solidFill>
                <a:latin typeface="Google Sans"/>
              </a:rPr>
              <a:t> Data) improves this.</a:t>
            </a:r>
          </a:p>
          <a:p>
            <a:pPr marL="12700" marR="5080"/>
            <a:r>
              <a:rPr lang="en-US" sz="1500" dirty="0">
                <a:solidFill>
                  <a:schemeClr val="accent2"/>
                </a:solidFill>
                <a:latin typeface="Google Sans"/>
              </a:rPr>
              <a:t>RPO(Recovery Point Objective) – </a:t>
            </a:r>
            <a:r>
              <a:rPr lang="en-US" sz="1500" dirty="0">
                <a:solidFill>
                  <a:schemeClr val="accent6"/>
                </a:solidFill>
                <a:latin typeface="Google Sans"/>
              </a:rPr>
              <a:t>How much &amp; how frequently data/code/infra should be backed up so that on failure we can </a:t>
            </a:r>
            <a:r>
              <a:rPr lang="en-US" sz="1500" dirty="0" err="1">
                <a:solidFill>
                  <a:schemeClr val="accent6"/>
                </a:solidFill>
                <a:latin typeface="Google Sans"/>
              </a:rPr>
              <a:t>atleast</a:t>
            </a:r>
            <a:r>
              <a:rPr lang="en-US" sz="1500" dirty="0">
                <a:solidFill>
                  <a:schemeClr val="accent6"/>
                </a:solidFill>
                <a:latin typeface="Google Sans"/>
              </a:rPr>
              <a:t> use the Backup?</a:t>
            </a:r>
          </a:p>
          <a:p>
            <a:pPr marL="12700" marR="5080"/>
            <a:endParaRPr lang="en-US" sz="2200" kern="0" spc="-80" dirty="0">
              <a:solidFill>
                <a:schemeClr val="accent2"/>
              </a:solidFill>
            </a:endParaRPr>
          </a:p>
        </p:txBody>
      </p:sp>
      <p:grpSp>
        <p:nvGrpSpPr>
          <p:cNvPr id="7" name="Group 6">
            <a:extLst>
              <a:ext uri="{FF2B5EF4-FFF2-40B4-BE49-F238E27FC236}">
                <a16:creationId xmlns:a16="http://schemas.microsoft.com/office/drawing/2014/main" id="{A658FB7F-2FCF-8080-D330-65D244AA2DF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F88E8C2E-A1F3-0E27-283F-21A169C2992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F952D420-3F83-E357-2422-0C6276060EC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 A Bit more in Detail</a:t>
              </a:r>
              <a:endParaRPr lang="en-US" sz="2500" kern="1200" dirty="0">
                <a:solidFill>
                  <a:schemeClr val="bg1"/>
                </a:solidFill>
              </a:endParaRPr>
            </a:p>
          </p:txBody>
        </p:sp>
      </p:grpSp>
      <p:pic>
        <p:nvPicPr>
          <p:cNvPr id="1026" name="Picture 2" descr="Active-Active performs the quickest recovery">
            <a:extLst>
              <a:ext uri="{FF2B5EF4-FFF2-40B4-BE49-F238E27FC236}">
                <a16:creationId xmlns:a16="http://schemas.microsoft.com/office/drawing/2014/main" id="{1109D9ED-2646-DD64-10CA-4D322EB9EA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3581400"/>
            <a:ext cx="8915400"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180617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80835-5CC6-6D0E-B7F2-084F3BBD4E9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949C5E9-38CF-DEFB-5D9A-BD7EA81822D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DE2E3ED-B3B7-8F4F-BC4C-E7883D14A6A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683F735-0B74-6A1E-2581-A2B4340E7D3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15CD87E-C76F-ED5B-385B-EFAE331B1CFA}"/>
              </a:ext>
            </a:extLst>
          </p:cNvPr>
          <p:cNvSpPr txBox="1">
            <a:spLocks/>
          </p:cNvSpPr>
          <p:nvPr/>
        </p:nvSpPr>
        <p:spPr>
          <a:xfrm>
            <a:off x="76200" y="762000"/>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DR(Disaster Recovery) – </a:t>
            </a:r>
          </a:p>
        </p:txBody>
      </p:sp>
      <p:grpSp>
        <p:nvGrpSpPr>
          <p:cNvPr id="7" name="Group 6">
            <a:extLst>
              <a:ext uri="{FF2B5EF4-FFF2-40B4-BE49-F238E27FC236}">
                <a16:creationId xmlns:a16="http://schemas.microsoft.com/office/drawing/2014/main" id="{4F9BD31B-C4DD-BD0E-5DF2-13D5E91AD72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3F5017D-D7A8-F500-A9F7-211035EA2F9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EE1A85A-0C82-B853-91F3-87203D53A9A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 A Bit more in Detail</a:t>
              </a:r>
              <a:endParaRPr lang="en-US" sz="2500" kern="1200" dirty="0">
                <a:solidFill>
                  <a:schemeClr val="bg1"/>
                </a:solidFill>
              </a:endParaRPr>
            </a:p>
          </p:txBody>
        </p:sp>
      </p:grpSp>
      <p:pic>
        <p:nvPicPr>
          <p:cNvPr id="1030" name="Picture 6" descr="Chapter 3. Active-Passive Disaster Recovery Red Hat Virtualization 4.3 |  Red Hat Customer Portal">
            <a:extLst>
              <a:ext uri="{FF2B5EF4-FFF2-40B4-BE49-F238E27FC236}">
                <a16:creationId xmlns:a16="http://schemas.microsoft.com/office/drawing/2014/main" id="{67F5E920-E035-6A69-B12A-9E7F3D9C8C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069619"/>
            <a:ext cx="8991600" cy="165508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Disaster Recovery (DR) Architecture on AWS, Part I: Strategies for Recovery  in the Cloud | AWS Architecture Blog">
            <a:extLst>
              <a:ext uri="{FF2B5EF4-FFF2-40B4-BE49-F238E27FC236}">
                <a16:creationId xmlns:a16="http://schemas.microsoft.com/office/drawing/2014/main" id="{E49B1EBC-D70F-8F71-33AA-73C057287B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2719627"/>
            <a:ext cx="9144000" cy="1797407"/>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C05D3CF-A49F-491E-7268-51376AE7158A}"/>
              </a:ext>
            </a:extLst>
          </p:cNvPr>
          <p:cNvSpPr txBox="1"/>
          <p:nvPr/>
        </p:nvSpPr>
        <p:spPr>
          <a:xfrm>
            <a:off x="0" y="4819471"/>
            <a:ext cx="9067800" cy="1200329"/>
          </a:xfrm>
          <a:prstGeom prst="rect">
            <a:avLst/>
          </a:prstGeom>
          <a:noFill/>
        </p:spPr>
        <p:txBody>
          <a:bodyPr wrap="square">
            <a:spAutoFit/>
          </a:bodyPr>
          <a:lstStyle/>
          <a:p>
            <a:pPr marL="12700" marR="5080"/>
            <a:r>
              <a:rPr lang="en-US" sz="1800" b="1" kern="0" spc="-80" dirty="0">
                <a:solidFill>
                  <a:schemeClr val="accent2"/>
                </a:solidFill>
              </a:rPr>
              <a:t>For Further Exploration – </a:t>
            </a:r>
          </a:p>
          <a:p>
            <a:pPr marL="12700" marR="5080"/>
            <a:r>
              <a:rPr lang="en-US" sz="1800" dirty="0">
                <a:hlinkClick r:id="rId4"/>
              </a:rPr>
              <a:t>Disaster recovery options in the cloud</a:t>
            </a:r>
            <a:endParaRPr lang="en-US" sz="1800" dirty="0"/>
          </a:p>
          <a:p>
            <a:pPr marL="12700" marR="5080"/>
            <a:r>
              <a:rPr lang="en-US" sz="1800" dirty="0">
                <a:hlinkClick r:id="rId5"/>
              </a:rPr>
              <a:t>Enterprise-scale disaster recovery</a:t>
            </a:r>
            <a:endParaRPr lang="en-US" sz="1800" dirty="0"/>
          </a:p>
          <a:p>
            <a:pPr marL="12700" marR="5080"/>
            <a:r>
              <a:rPr lang="en-US" sz="1800" dirty="0">
                <a:hlinkClick r:id="rId6"/>
              </a:rPr>
              <a:t>The ultimate guide to achieving RPO/RTO</a:t>
            </a:r>
            <a:endParaRPr lang="en-US" sz="1800" kern="0" spc="-80" dirty="0">
              <a:solidFill>
                <a:schemeClr val="accent2"/>
              </a:solidFill>
            </a:endParaRPr>
          </a:p>
        </p:txBody>
      </p:sp>
    </p:spTree>
    <p:extLst>
      <p:ext uri="{BB962C8B-B14F-4D97-AF65-F5344CB8AC3E}">
        <p14:creationId xmlns:p14="http://schemas.microsoft.com/office/powerpoint/2010/main" val="2745653061"/>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8348A-5B1B-F779-4E6B-67889BFBE7F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DFA0D3E-F341-E29C-7542-B89BEC038C9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FAED9E9-97EE-AF5A-8BB9-C3751FF510E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11B6FD4-4CB2-1BE5-611A-14F8DD81DCB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CF35DAB-E320-2734-5DA4-82C4E4BCB941}"/>
              </a:ext>
            </a:extLst>
          </p:cNvPr>
          <p:cNvSpPr txBox="1">
            <a:spLocks/>
          </p:cNvSpPr>
          <p:nvPr/>
        </p:nvSpPr>
        <p:spPr>
          <a:xfrm>
            <a:off x="76200" y="697468"/>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Availability Tiers</a:t>
            </a:r>
          </a:p>
          <a:p>
            <a:pPr marL="12700" marR="5080"/>
            <a:r>
              <a:rPr lang="en-US" sz="1500" dirty="0">
                <a:solidFill>
                  <a:schemeClr val="accent6"/>
                </a:solidFill>
                <a:latin typeface="Google Sans"/>
              </a:rPr>
              <a:t>“Availability tiers” typically describe levels of system uptime, resilience, and fault tolerance offered by infrastructure, cloud providers, or distributed systems. They are usually expressed in terms of SLA (Service Level Agreement) percentages and architectural guarantees.</a:t>
            </a:r>
          </a:p>
          <a:p>
            <a:pPr marL="12700" marR="5080"/>
            <a:r>
              <a:rPr lang="en-US" sz="1500" dirty="0">
                <a:solidFill>
                  <a:schemeClr val="accent2"/>
                </a:solidFill>
                <a:latin typeface="Google Sans"/>
              </a:rPr>
              <a:t>🔹 Tier 0 – Best Effort (No SLA)</a:t>
            </a:r>
          </a:p>
          <a:p>
            <a:pPr marL="12700" marR="5080"/>
            <a:r>
              <a:rPr lang="en-US" sz="1500" dirty="0">
                <a:solidFill>
                  <a:schemeClr val="accent6"/>
                </a:solidFill>
                <a:latin typeface="Google Sans"/>
              </a:rPr>
              <a:t>No formal uptime guarantee</a:t>
            </a:r>
          </a:p>
          <a:p>
            <a:pPr marL="12700" marR="5080"/>
            <a:r>
              <a:rPr lang="en-US" sz="1500" dirty="0">
                <a:solidFill>
                  <a:schemeClr val="accent6"/>
                </a:solidFill>
                <a:latin typeface="Google Sans"/>
              </a:rPr>
              <a:t>Single server / single availability zone</a:t>
            </a:r>
          </a:p>
          <a:p>
            <a:pPr marL="12700" marR="5080"/>
            <a:r>
              <a:rPr lang="en-US" sz="1500" dirty="0">
                <a:solidFill>
                  <a:schemeClr val="accent6"/>
                </a:solidFill>
                <a:latin typeface="Google Sans"/>
              </a:rPr>
              <a:t>Manual backups (if any)</a:t>
            </a:r>
          </a:p>
          <a:p>
            <a:pPr marL="12700" marR="5080"/>
            <a:r>
              <a:rPr lang="en-US" sz="1500" dirty="0">
                <a:solidFill>
                  <a:schemeClr val="accent6"/>
                </a:solidFill>
                <a:latin typeface="Google Sans"/>
              </a:rPr>
              <a:t>Downtime expected during failures or maintenance</a:t>
            </a:r>
          </a:p>
          <a:p>
            <a:pPr marL="12700" marR="5080"/>
            <a:r>
              <a:rPr lang="en-US" sz="1500" dirty="0">
                <a:solidFill>
                  <a:schemeClr val="accent2"/>
                </a:solidFill>
                <a:latin typeface="Google Sans"/>
              </a:rPr>
              <a:t>Typical use cases:</a:t>
            </a:r>
          </a:p>
          <a:p>
            <a:pPr marL="12700" marR="5080"/>
            <a:r>
              <a:rPr lang="en-US" sz="1500" dirty="0">
                <a:solidFill>
                  <a:schemeClr val="accent6"/>
                </a:solidFill>
                <a:latin typeface="Google Sans"/>
              </a:rPr>
              <a:t>Dev/test environments</a:t>
            </a:r>
          </a:p>
          <a:p>
            <a:pPr marL="12700" marR="5080"/>
            <a:r>
              <a:rPr lang="en-US" sz="1500" dirty="0">
                <a:solidFill>
                  <a:schemeClr val="accent6"/>
                </a:solidFill>
                <a:latin typeface="Google Sans"/>
              </a:rPr>
              <a:t>Internal tools</a:t>
            </a:r>
          </a:p>
          <a:p>
            <a:pPr marL="12700" marR="5080"/>
            <a:r>
              <a:rPr lang="en-US" sz="1500" dirty="0">
                <a:solidFill>
                  <a:schemeClr val="accent6"/>
                </a:solidFill>
                <a:latin typeface="Google Sans"/>
              </a:rPr>
              <a:t>Prototypes</a:t>
            </a:r>
          </a:p>
          <a:p>
            <a:pPr marL="12700" marR="5080"/>
            <a:r>
              <a:rPr lang="en-US" sz="1500" dirty="0">
                <a:solidFill>
                  <a:schemeClr val="accent2"/>
                </a:solidFill>
                <a:latin typeface="Google Sans"/>
              </a:rPr>
              <a:t>🔹 Tier 1 – Basic Availability (99% – 99.5%)</a:t>
            </a:r>
          </a:p>
          <a:p>
            <a:pPr marL="12700" marR="5080"/>
            <a:r>
              <a:rPr lang="en-US" sz="1500" dirty="0">
                <a:solidFill>
                  <a:schemeClr val="accent6"/>
                </a:solidFill>
                <a:latin typeface="Google Sans"/>
              </a:rPr>
              <a:t> Single-region deployment</a:t>
            </a:r>
          </a:p>
          <a:p>
            <a:pPr marL="12700" marR="5080"/>
            <a:r>
              <a:rPr lang="en-US" sz="1500" dirty="0">
                <a:solidFill>
                  <a:schemeClr val="accent6"/>
                </a:solidFill>
                <a:latin typeface="Google Sans"/>
              </a:rPr>
              <a:t> Basic monitoring</a:t>
            </a:r>
          </a:p>
          <a:p>
            <a:pPr marL="12700" marR="5080"/>
            <a:r>
              <a:rPr lang="en-US" sz="1500" dirty="0">
                <a:solidFill>
                  <a:schemeClr val="accent6"/>
                </a:solidFill>
                <a:latin typeface="Google Sans"/>
              </a:rPr>
              <a:t> Manual recovery</a:t>
            </a:r>
          </a:p>
          <a:p>
            <a:pPr marL="12700" marR="5080"/>
            <a:r>
              <a:rPr lang="en-US" sz="1500" dirty="0">
                <a:solidFill>
                  <a:schemeClr val="accent6"/>
                </a:solidFill>
                <a:latin typeface="Google Sans"/>
              </a:rPr>
              <a:t> Some backup mechanism</a:t>
            </a:r>
          </a:p>
          <a:p>
            <a:pPr marL="12700" marR="5080"/>
            <a:r>
              <a:rPr lang="en-US" sz="1500" dirty="0">
                <a:solidFill>
                  <a:schemeClr val="accent6"/>
                </a:solidFill>
                <a:latin typeface="Google Sans"/>
              </a:rPr>
              <a:t> Downtime per year:</a:t>
            </a:r>
          </a:p>
          <a:p>
            <a:pPr marL="12700" marR="5080"/>
            <a:r>
              <a:rPr lang="en-US" sz="1500" dirty="0">
                <a:solidFill>
                  <a:schemeClr val="accent6"/>
                </a:solidFill>
                <a:latin typeface="Google Sans"/>
              </a:rPr>
              <a:t> 99% → ~3.65 days</a:t>
            </a:r>
          </a:p>
          <a:p>
            <a:pPr marL="12700" marR="5080"/>
            <a:r>
              <a:rPr lang="en-US" sz="1500" dirty="0">
                <a:solidFill>
                  <a:schemeClr val="accent6"/>
                </a:solidFill>
                <a:latin typeface="Google Sans"/>
              </a:rPr>
              <a:t> 99.5% → ~1.83 days</a:t>
            </a:r>
          </a:p>
        </p:txBody>
      </p:sp>
      <p:grpSp>
        <p:nvGrpSpPr>
          <p:cNvPr id="7" name="Group 6">
            <a:extLst>
              <a:ext uri="{FF2B5EF4-FFF2-40B4-BE49-F238E27FC236}">
                <a16:creationId xmlns:a16="http://schemas.microsoft.com/office/drawing/2014/main" id="{457D5533-1C12-AE02-C5DA-FFCC06BE952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AF019AF8-CE10-EF24-24FE-E11F80796B6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B1501214-0926-1343-519A-A4C8B575DFC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 A Bit more in Detail</a:t>
              </a:r>
              <a:endParaRPr lang="en-US" sz="2500" kern="1200" dirty="0">
                <a:solidFill>
                  <a:schemeClr val="bg1"/>
                </a:solidFill>
              </a:endParaRPr>
            </a:p>
          </p:txBody>
        </p:sp>
      </p:grpSp>
    </p:spTree>
    <p:extLst>
      <p:ext uri="{BB962C8B-B14F-4D97-AF65-F5344CB8AC3E}">
        <p14:creationId xmlns:p14="http://schemas.microsoft.com/office/powerpoint/2010/main" val="342173324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172FB-DD73-0003-B2A9-80F3D9C5AAA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A385965-3ABD-18FE-5F16-BB694A3CA7D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8E57FFF-D0D9-EA06-5B21-0E712867A8A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EB20CF8-B32E-A9EF-C207-9073FF3CCD6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0B81821-E486-529B-3BD0-DBE327324980}"/>
              </a:ext>
            </a:extLst>
          </p:cNvPr>
          <p:cNvSpPr txBox="1">
            <a:spLocks/>
          </p:cNvSpPr>
          <p:nvPr/>
        </p:nvSpPr>
        <p:spPr>
          <a:xfrm>
            <a:off x="76200" y="697468"/>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Availability Tiers</a:t>
            </a:r>
          </a:p>
          <a:p>
            <a:pPr marL="12700" marR="5080"/>
            <a:r>
              <a:rPr lang="en-US" sz="1500" dirty="0">
                <a:solidFill>
                  <a:schemeClr val="accent2"/>
                </a:solidFill>
                <a:latin typeface="Google Sans"/>
              </a:rPr>
              <a:t>🔹 Tier 1 – Basic Availability (99% – 99.5%)</a:t>
            </a:r>
          </a:p>
          <a:p>
            <a:pPr marL="12700" marR="5080"/>
            <a:r>
              <a:rPr lang="en-US" sz="1500" dirty="0">
                <a:solidFill>
                  <a:schemeClr val="accent2"/>
                </a:solidFill>
                <a:latin typeface="Google Sans"/>
              </a:rPr>
              <a:t>Use cases:</a:t>
            </a:r>
          </a:p>
          <a:p>
            <a:pPr marL="12700" marR="5080"/>
            <a:r>
              <a:rPr lang="en-US" sz="1500" dirty="0">
                <a:solidFill>
                  <a:schemeClr val="accent6"/>
                </a:solidFill>
                <a:latin typeface="Google Sans"/>
              </a:rPr>
              <a:t> Small business websites</a:t>
            </a:r>
          </a:p>
          <a:p>
            <a:pPr marL="12700" marR="5080"/>
            <a:r>
              <a:rPr lang="en-US" sz="1500" dirty="0">
                <a:solidFill>
                  <a:schemeClr val="accent6"/>
                </a:solidFill>
                <a:latin typeface="Google Sans"/>
              </a:rPr>
              <a:t> Non-critical SaaS features</a:t>
            </a:r>
          </a:p>
          <a:p>
            <a:pPr marL="12700" marR="5080"/>
            <a:r>
              <a:rPr lang="en-US" sz="1500" dirty="0">
                <a:solidFill>
                  <a:schemeClr val="accent2"/>
                </a:solidFill>
                <a:latin typeface="Google Sans"/>
              </a:rPr>
              <a:t>🔹 Tier 2 – High Availability (99.9% – 99.95%)</a:t>
            </a:r>
          </a:p>
          <a:p>
            <a:pPr marL="12700" marR="5080"/>
            <a:r>
              <a:rPr lang="en-US" sz="1500" dirty="0">
                <a:solidFill>
                  <a:schemeClr val="accent6"/>
                </a:solidFill>
                <a:latin typeface="Google Sans"/>
              </a:rPr>
              <a:t> Multi-instance deployment</a:t>
            </a:r>
          </a:p>
          <a:p>
            <a:pPr marL="12700" marR="5080"/>
            <a:r>
              <a:rPr lang="en-US" sz="1500" dirty="0">
                <a:solidFill>
                  <a:schemeClr val="accent6"/>
                </a:solidFill>
                <a:latin typeface="Google Sans"/>
              </a:rPr>
              <a:t> Load balancer</a:t>
            </a:r>
          </a:p>
          <a:p>
            <a:pPr marL="12700" marR="5080"/>
            <a:r>
              <a:rPr lang="en-US" sz="1500" dirty="0">
                <a:solidFill>
                  <a:schemeClr val="accent6"/>
                </a:solidFill>
                <a:latin typeface="Google Sans"/>
              </a:rPr>
              <a:t> Auto-restart on failure</a:t>
            </a:r>
          </a:p>
          <a:p>
            <a:pPr marL="12700" marR="5080"/>
            <a:r>
              <a:rPr lang="en-US" sz="1500" dirty="0">
                <a:solidFill>
                  <a:schemeClr val="accent6"/>
                </a:solidFill>
                <a:latin typeface="Google Sans"/>
              </a:rPr>
              <a:t> Data replication</a:t>
            </a:r>
          </a:p>
          <a:p>
            <a:pPr marL="12700" marR="5080"/>
            <a:r>
              <a:rPr lang="en-US" sz="1500" dirty="0">
                <a:solidFill>
                  <a:schemeClr val="accent6"/>
                </a:solidFill>
                <a:latin typeface="Google Sans"/>
              </a:rPr>
              <a:t> Possibly multi-AZ within one region</a:t>
            </a:r>
          </a:p>
          <a:p>
            <a:pPr marL="12700" marR="5080"/>
            <a:r>
              <a:rPr lang="en-US" sz="1500" dirty="0">
                <a:solidFill>
                  <a:schemeClr val="accent2"/>
                </a:solidFill>
                <a:latin typeface="Google Sans"/>
              </a:rPr>
              <a:t> Downtime per year:</a:t>
            </a:r>
          </a:p>
          <a:p>
            <a:pPr marL="12700" marR="5080"/>
            <a:r>
              <a:rPr lang="en-US" sz="1500" dirty="0">
                <a:solidFill>
                  <a:schemeClr val="accent6"/>
                </a:solidFill>
                <a:latin typeface="Google Sans"/>
              </a:rPr>
              <a:t> 99.9% → ~8.76 hours</a:t>
            </a:r>
          </a:p>
          <a:p>
            <a:pPr marL="12700" marR="5080"/>
            <a:r>
              <a:rPr lang="en-US" sz="1500" dirty="0">
                <a:solidFill>
                  <a:schemeClr val="accent6"/>
                </a:solidFill>
                <a:latin typeface="Google Sans"/>
              </a:rPr>
              <a:t> 99.95% → ~4.38 hours</a:t>
            </a:r>
          </a:p>
          <a:p>
            <a:pPr marL="12700" marR="5080"/>
            <a:r>
              <a:rPr lang="en-US" sz="1500" dirty="0">
                <a:solidFill>
                  <a:schemeClr val="accent2"/>
                </a:solidFill>
                <a:latin typeface="Google Sans"/>
              </a:rPr>
              <a:t> Use cases:</a:t>
            </a:r>
          </a:p>
          <a:p>
            <a:pPr marL="12700" marR="5080"/>
            <a:r>
              <a:rPr lang="en-US" sz="1500" dirty="0">
                <a:solidFill>
                  <a:schemeClr val="accent6"/>
                </a:solidFill>
                <a:latin typeface="Google Sans"/>
              </a:rPr>
              <a:t> Production SaaS apps</a:t>
            </a:r>
          </a:p>
          <a:p>
            <a:pPr marL="12700" marR="5080"/>
            <a:r>
              <a:rPr lang="en-US" sz="1500" dirty="0">
                <a:solidFill>
                  <a:schemeClr val="accent6"/>
                </a:solidFill>
                <a:latin typeface="Google Sans"/>
              </a:rPr>
              <a:t> E-commerce platforms</a:t>
            </a:r>
          </a:p>
          <a:p>
            <a:pPr marL="12700" marR="5080"/>
            <a:r>
              <a:rPr lang="en-US" sz="1500" dirty="0">
                <a:solidFill>
                  <a:schemeClr val="accent6"/>
                </a:solidFill>
                <a:latin typeface="Google Sans"/>
              </a:rPr>
              <a:t> APIs with moderate SLAs</a:t>
            </a:r>
          </a:p>
          <a:p>
            <a:pPr marL="12700" marR="5080"/>
            <a:r>
              <a:rPr lang="en-US" sz="1500" dirty="0">
                <a:solidFill>
                  <a:schemeClr val="accent2"/>
                </a:solidFill>
                <a:latin typeface="Google Sans"/>
              </a:rPr>
              <a:t>🔹 Tier 3 – Mission Critical (99.99%)</a:t>
            </a:r>
          </a:p>
          <a:p>
            <a:pPr marL="12700" marR="5080"/>
            <a:r>
              <a:rPr lang="en-US" sz="1500" dirty="0">
                <a:solidFill>
                  <a:schemeClr val="accent6"/>
                </a:solidFill>
                <a:latin typeface="Google Sans"/>
              </a:rPr>
              <a:t> Multi-AZ architecture</a:t>
            </a:r>
          </a:p>
          <a:p>
            <a:pPr marL="12700" marR="5080"/>
            <a:r>
              <a:rPr lang="en-US" sz="1500" dirty="0">
                <a:solidFill>
                  <a:schemeClr val="accent6"/>
                </a:solidFill>
                <a:latin typeface="Google Sans"/>
              </a:rPr>
              <a:t> Automatic failover</a:t>
            </a:r>
          </a:p>
          <a:p>
            <a:pPr marL="12700" marR="5080"/>
            <a:r>
              <a:rPr lang="en-US" sz="1500" dirty="0">
                <a:solidFill>
                  <a:schemeClr val="accent6"/>
                </a:solidFill>
                <a:latin typeface="Google Sans"/>
              </a:rPr>
              <a:t> Database replication (sync/async)</a:t>
            </a:r>
          </a:p>
        </p:txBody>
      </p:sp>
      <p:grpSp>
        <p:nvGrpSpPr>
          <p:cNvPr id="7" name="Group 6">
            <a:extLst>
              <a:ext uri="{FF2B5EF4-FFF2-40B4-BE49-F238E27FC236}">
                <a16:creationId xmlns:a16="http://schemas.microsoft.com/office/drawing/2014/main" id="{48FB3020-B6C9-C50C-2218-5D3BE71D9CE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F69462F-C09A-2A73-6B0A-28A90218CD0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3293105-3D7D-027A-39E7-EF290CE9AE5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 A Bit more in Detail</a:t>
              </a:r>
              <a:endParaRPr lang="en-US" sz="2500" kern="1200" dirty="0">
                <a:solidFill>
                  <a:schemeClr val="bg1"/>
                </a:solidFill>
              </a:endParaRPr>
            </a:p>
          </p:txBody>
        </p:sp>
      </p:grpSp>
    </p:spTree>
    <p:extLst>
      <p:ext uri="{BB962C8B-B14F-4D97-AF65-F5344CB8AC3E}">
        <p14:creationId xmlns:p14="http://schemas.microsoft.com/office/powerpoint/2010/main" val="1709074074"/>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2DCD4-84B3-A5CE-B3F5-A05A0FD686A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4E10A93-CB36-6FBC-CBDA-A6FB6AA3B01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F7E2818-FEA3-B61E-C0B0-56F590516C5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18BC4CC-D46E-77F6-7FF3-0510C4E2A72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6719F70-ACD2-A30D-A9F5-20C3E4AF71FE}"/>
              </a:ext>
            </a:extLst>
          </p:cNvPr>
          <p:cNvSpPr txBox="1">
            <a:spLocks/>
          </p:cNvSpPr>
          <p:nvPr/>
        </p:nvSpPr>
        <p:spPr>
          <a:xfrm>
            <a:off x="76200" y="697468"/>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Availability Tiers</a:t>
            </a:r>
          </a:p>
          <a:p>
            <a:pPr marL="12700" marR="5080"/>
            <a:r>
              <a:rPr lang="en-US" sz="1500" dirty="0">
                <a:solidFill>
                  <a:schemeClr val="accent2"/>
                </a:solidFill>
                <a:latin typeface="Google Sans"/>
              </a:rPr>
              <a:t>🔹 Tier 3 – Mission Critical (99.99%)</a:t>
            </a:r>
          </a:p>
          <a:p>
            <a:pPr marL="12700" marR="5080"/>
            <a:r>
              <a:rPr lang="en-US" sz="1500" dirty="0">
                <a:solidFill>
                  <a:schemeClr val="accent6"/>
                </a:solidFill>
                <a:latin typeface="Google Sans"/>
              </a:rPr>
              <a:t>Health checks &amp; autoscaling</a:t>
            </a:r>
          </a:p>
          <a:p>
            <a:pPr marL="12700" marR="5080"/>
            <a:r>
              <a:rPr lang="en-US" sz="1500" dirty="0">
                <a:solidFill>
                  <a:schemeClr val="accent6"/>
                </a:solidFill>
                <a:latin typeface="Google Sans"/>
              </a:rPr>
              <a:t> Disaster recovery plan</a:t>
            </a:r>
          </a:p>
          <a:p>
            <a:pPr marL="12700" marR="5080"/>
            <a:r>
              <a:rPr lang="en-US" sz="1500" dirty="0">
                <a:solidFill>
                  <a:schemeClr val="accent6"/>
                </a:solidFill>
                <a:latin typeface="Google Sans"/>
              </a:rPr>
              <a:t> Downtime per year:</a:t>
            </a:r>
          </a:p>
          <a:p>
            <a:pPr marL="12700" marR="5080"/>
            <a:r>
              <a:rPr lang="en-US" sz="1500" dirty="0">
                <a:solidFill>
                  <a:schemeClr val="accent6"/>
                </a:solidFill>
                <a:latin typeface="Google Sans"/>
              </a:rPr>
              <a:t> ~52.6 minutes</a:t>
            </a:r>
          </a:p>
          <a:p>
            <a:pPr marL="12700" marR="5080"/>
            <a:r>
              <a:rPr lang="en-US" sz="1500" dirty="0">
                <a:solidFill>
                  <a:schemeClr val="accent2"/>
                </a:solidFill>
                <a:latin typeface="Google Sans"/>
              </a:rPr>
              <a:t> Use cases:</a:t>
            </a:r>
          </a:p>
          <a:p>
            <a:pPr marL="12700" marR="5080"/>
            <a:r>
              <a:rPr lang="en-US" sz="1500" dirty="0">
                <a:solidFill>
                  <a:schemeClr val="accent6"/>
                </a:solidFill>
                <a:latin typeface="Google Sans"/>
              </a:rPr>
              <a:t> Financial systems</a:t>
            </a:r>
          </a:p>
          <a:p>
            <a:pPr marL="12700" marR="5080"/>
            <a:r>
              <a:rPr lang="en-US" sz="1500" dirty="0">
                <a:solidFill>
                  <a:schemeClr val="accent6"/>
                </a:solidFill>
                <a:latin typeface="Google Sans"/>
              </a:rPr>
              <a:t> Healthcare platforms</a:t>
            </a:r>
          </a:p>
          <a:p>
            <a:pPr marL="12700" marR="5080"/>
            <a:r>
              <a:rPr lang="en-US" sz="1500" dirty="0">
                <a:solidFill>
                  <a:schemeClr val="accent6"/>
                </a:solidFill>
                <a:latin typeface="Google Sans"/>
              </a:rPr>
              <a:t> Large-scale SaaS</a:t>
            </a:r>
          </a:p>
          <a:p>
            <a:pPr marL="12700" marR="5080"/>
            <a:r>
              <a:rPr lang="en-US" sz="1500" dirty="0">
                <a:solidFill>
                  <a:schemeClr val="accent2"/>
                </a:solidFill>
                <a:latin typeface="Google Sans"/>
              </a:rPr>
              <a:t>🔹 Tier 4 – Ultra High / Fault Tolerant (99.999% – Five 9s)</a:t>
            </a:r>
          </a:p>
          <a:p>
            <a:pPr marL="12700" marR="5080"/>
            <a:r>
              <a:rPr lang="en-US" sz="1500" dirty="0">
                <a:solidFill>
                  <a:schemeClr val="accent6"/>
                </a:solidFill>
                <a:latin typeface="Google Sans"/>
              </a:rPr>
              <a:t> Multi-region active-active</a:t>
            </a:r>
          </a:p>
          <a:p>
            <a:pPr marL="12700" marR="5080"/>
            <a:r>
              <a:rPr lang="en-US" sz="1500" dirty="0">
                <a:solidFill>
                  <a:schemeClr val="accent6"/>
                </a:solidFill>
                <a:latin typeface="Google Sans"/>
              </a:rPr>
              <a:t> Zero single point of failure</a:t>
            </a:r>
          </a:p>
          <a:p>
            <a:pPr marL="12700" marR="5080"/>
            <a:r>
              <a:rPr lang="en-US" sz="1500" dirty="0">
                <a:solidFill>
                  <a:schemeClr val="accent6"/>
                </a:solidFill>
                <a:latin typeface="Google Sans"/>
              </a:rPr>
              <a:t> Automated failover</a:t>
            </a:r>
          </a:p>
          <a:p>
            <a:pPr marL="12700" marR="5080"/>
            <a:r>
              <a:rPr lang="en-US" sz="1500" dirty="0">
                <a:solidFill>
                  <a:schemeClr val="accent6"/>
                </a:solidFill>
                <a:latin typeface="Google Sans"/>
              </a:rPr>
              <a:t> Continuous replication</a:t>
            </a:r>
          </a:p>
          <a:p>
            <a:pPr marL="12700" marR="5080"/>
            <a:r>
              <a:rPr lang="en-US" sz="1500" dirty="0">
                <a:solidFill>
                  <a:schemeClr val="accent6"/>
                </a:solidFill>
                <a:latin typeface="Google Sans"/>
              </a:rPr>
              <a:t> Chaos testing</a:t>
            </a:r>
          </a:p>
          <a:p>
            <a:pPr marL="12700" marR="5080"/>
            <a:r>
              <a:rPr lang="en-US" sz="1500" dirty="0">
                <a:solidFill>
                  <a:schemeClr val="accent6"/>
                </a:solidFill>
                <a:latin typeface="Google Sans"/>
              </a:rPr>
              <a:t> Blue/green or canary deployments</a:t>
            </a:r>
          </a:p>
          <a:p>
            <a:pPr marL="12700" marR="5080"/>
            <a:r>
              <a:rPr lang="en-US" sz="1500" dirty="0">
                <a:solidFill>
                  <a:schemeClr val="accent6"/>
                </a:solidFill>
                <a:latin typeface="Google Sans"/>
              </a:rPr>
              <a:t> Downtime per year:</a:t>
            </a:r>
          </a:p>
          <a:p>
            <a:pPr marL="12700" marR="5080"/>
            <a:r>
              <a:rPr lang="en-US" sz="1500" dirty="0">
                <a:solidFill>
                  <a:schemeClr val="accent6"/>
                </a:solidFill>
                <a:latin typeface="Google Sans"/>
              </a:rPr>
              <a:t> ~5.26 minutes</a:t>
            </a:r>
          </a:p>
          <a:p>
            <a:pPr marL="12700" marR="5080"/>
            <a:r>
              <a:rPr lang="en-US" sz="1500" dirty="0">
                <a:solidFill>
                  <a:schemeClr val="accent2"/>
                </a:solidFill>
                <a:latin typeface="Google Sans"/>
              </a:rPr>
              <a:t> Use cases:</a:t>
            </a:r>
          </a:p>
          <a:p>
            <a:pPr marL="12700" marR="5080"/>
            <a:r>
              <a:rPr lang="en-US" sz="1500" dirty="0">
                <a:solidFill>
                  <a:schemeClr val="accent6"/>
                </a:solidFill>
                <a:latin typeface="Google Sans"/>
              </a:rPr>
              <a:t> Global payment systems</a:t>
            </a:r>
          </a:p>
          <a:p>
            <a:pPr marL="12700" marR="5080"/>
            <a:r>
              <a:rPr lang="en-US" sz="1500" dirty="0">
                <a:solidFill>
                  <a:schemeClr val="accent6"/>
                </a:solidFill>
                <a:latin typeface="Google Sans"/>
              </a:rPr>
              <a:t> Stock exchanges</a:t>
            </a:r>
          </a:p>
          <a:p>
            <a:pPr marL="12700" marR="5080"/>
            <a:r>
              <a:rPr lang="en-US" sz="1500" dirty="0">
                <a:solidFill>
                  <a:schemeClr val="accent6"/>
                </a:solidFill>
                <a:latin typeface="Google Sans"/>
              </a:rPr>
              <a:t> Critical infrastructure</a:t>
            </a:r>
          </a:p>
        </p:txBody>
      </p:sp>
      <p:grpSp>
        <p:nvGrpSpPr>
          <p:cNvPr id="7" name="Group 6">
            <a:extLst>
              <a:ext uri="{FF2B5EF4-FFF2-40B4-BE49-F238E27FC236}">
                <a16:creationId xmlns:a16="http://schemas.microsoft.com/office/drawing/2014/main" id="{C18C38F8-AC38-5BE1-CAE3-A285F4C8E2A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6A2CB1C-566E-C28A-142B-A775210BF29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968368E-B87E-2585-22C0-AEF820C91E1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 A Bit more in Detail</a:t>
              </a:r>
              <a:endParaRPr lang="en-US" sz="2500" kern="1200" dirty="0">
                <a:solidFill>
                  <a:schemeClr val="bg1"/>
                </a:solidFill>
              </a:endParaRPr>
            </a:p>
          </p:txBody>
        </p:sp>
      </p:grpSp>
    </p:spTree>
    <p:extLst>
      <p:ext uri="{BB962C8B-B14F-4D97-AF65-F5344CB8AC3E}">
        <p14:creationId xmlns:p14="http://schemas.microsoft.com/office/powerpoint/2010/main" val="357492009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E88CF-9154-0B50-AF5C-16A77F2ECBD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72B99BE-4706-24E1-949C-FE6E749CD3E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40D9CD3-B689-2950-B0FE-82E4F6BA5A4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0E69DF0-A6E6-1518-EA4A-A9D8CBCBA91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193E0D-1BCF-6016-692B-D2DE38D63C94}"/>
              </a:ext>
            </a:extLst>
          </p:cNvPr>
          <p:cNvSpPr txBox="1">
            <a:spLocks/>
          </p:cNvSpPr>
          <p:nvPr/>
        </p:nvSpPr>
        <p:spPr>
          <a:xfrm>
            <a:off x="76200" y="697468"/>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Availability Tiers</a:t>
            </a:r>
          </a:p>
          <a:p>
            <a:pPr marL="12700" marR="5080"/>
            <a:r>
              <a:rPr lang="en-US" sz="1500" dirty="0">
                <a:solidFill>
                  <a:schemeClr val="accent2"/>
                </a:solidFill>
                <a:latin typeface="Google Sans"/>
              </a:rPr>
              <a:t>📊 Availability Percentage Comparison</a:t>
            </a:r>
          </a:p>
          <a:p>
            <a:pPr marL="12700" marR="5080"/>
            <a:r>
              <a:rPr lang="en-US" sz="1500" dirty="0">
                <a:solidFill>
                  <a:schemeClr val="accent2"/>
                </a:solidFill>
                <a:latin typeface="Google Sans"/>
              </a:rPr>
              <a:t>SLA                  Downtime/Year     Downtime/Month</a:t>
            </a:r>
          </a:p>
          <a:p>
            <a:pPr marL="12700" marR="5080"/>
            <a:r>
              <a:rPr lang="en-US" sz="1500" dirty="0">
                <a:solidFill>
                  <a:schemeClr val="accent6"/>
                </a:solidFill>
                <a:latin typeface="Google Sans"/>
              </a:rPr>
              <a:t>99%                 3.65 days                 7.2 hours</a:t>
            </a:r>
          </a:p>
          <a:p>
            <a:pPr marL="12700" marR="5080"/>
            <a:r>
              <a:rPr lang="en-US" sz="1500" dirty="0">
                <a:solidFill>
                  <a:schemeClr val="accent6"/>
                </a:solidFill>
                <a:latin typeface="Google Sans"/>
              </a:rPr>
              <a:t>99.9%              8.76 hours               43.8 min</a:t>
            </a:r>
          </a:p>
          <a:p>
            <a:pPr marL="12700" marR="5080"/>
            <a:r>
              <a:rPr lang="en-US" sz="1500" dirty="0">
                <a:solidFill>
                  <a:schemeClr val="accent6"/>
                </a:solidFill>
                <a:latin typeface="Google Sans"/>
              </a:rPr>
              <a:t>99.99%            52.6 min                  4.38 min</a:t>
            </a:r>
          </a:p>
          <a:p>
            <a:pPr marL="12700" marR="5080"/>
            <a:r>
              <a:rPr lang="en-US" sz="1500" dirty="0">
                <a:solidFill>
                  <a:schemeClr val="accent6"/>
                </a:solidFill>
                <a:latin typeface="Google Sans"/>
              </a:rPr>
              <a:t>99.999%          5.26 min                  26 sec</a:t>
            </a:r>
          </a:p>
          <a:p>
            <a:pPr marL="12700" marR="5080"/>
            <a:r>
              <a:rPr lang="en-US" sz="1500" dirty="0">
                <a:solidFill>
                  <a:schemeClr val="accent2"/>
                </a:solidFill>
                <a:latin typeface="Google Sans"/>
              </a:rPr>
              <a:t>🔹 Cloud Provider Availability Examples</a:t>
            </a:r>
          </a:p>
          <a:p>
            <a:pPr marL="12700" marR="5080"/>
            <a:r>
              <a:rPr lang="en-US" sz="1500" dirty="0">
                <a:solidFill>
                  <a:schemeClr val="accent2"/>
                </a:solidFill>
                <a:latin typeface="Google Sans"/>
              </a:rPr>
              <a:t>☁️ Multi-AZ Example – Amazon Web Services</a:t>
            </a:r>
          </a:p>
          <a:p>
            <a:pPr marL="12700" marR="5080"/>
            <a:r>
              <a:rPr lang="en-US" sz="1500" dirty="0">
                <a:solidFill>
                  <a:schemeClr val="accent6"/>
                </a:solidFill>
                <a:latin typeface="Google Sans"/>
              </a:rPr>
              <a:t>Availability Zone (AZ): Isolated data center within a region</a:t>
            </a:r>
          </a:p>
          <a:p>
            <a:pPr marL="12700" marR="5080"/>
            <a:r>
              <a:rPr lang="en-US" sz="1500" dirty="0">
                <a:solidFill>
                  <a:schemeClr val="accent6"/>
                </a:solidFill>
                <a:latin typeface="Google Sans"/>
              </a:rPr>
              <a:t>Multi-AZ = protection from data center failure</a:t>
            </a:r>
          </a:p>
          <a:p>
            <a:pPr marL="12700" marR="5080"/>
            <a:r>
              <a:rPr lang="en-US" sz="1500" dirty="0">
                <a:solidFill>
                  <a:schemeClr val="accent6"/>
                </a:solidFill>
                <a:latin typeface="Google Sans"/>
              </a:rPr>
              <a:t>Multi-Region = protection from regional disaster</a:t>
            </a:r>
          </a:p>
          <a:p>
            <a:pPr marL="12700" marR="5080"/>
            <a:r>
              <a:rPr lang="en-US" sz="1500" dirty="0">
                <a:solidFill>
                  <a:schemeClr val="accent2"/>
                </a:solidFill>
                <a:latin typeface="Google Sans"/>
              </a:rPr>
              <a:t>☁️ High Availability on Microsoft Azure</a:t>
            </a:r>
          </a:p>
          <a:p>
            <a:pPr marL="12700" marR="5080"/>
            <a:r>
              <a:rPr lang="en-US" sz="1500" dirty="0">
                <a:solidFill>
                  <a:schemeClr val="accent6"/>
                </a:solidFill>
                <a:latin typeface="Google Sans"/>
              </a:rPr>
              <a:t>Region pairs for disaster recovery</a:t>
            </a:r>
          </a:p>
          <a:p>
            <a:pPr marL="12700" marR="5080"/>
            <a:r>
              <a:rPr lang="en-US" sz="1500" dirty="0">
                <a:solidFill>
                  <a:schemeClr val="accent6"/>
                </a:solidFill>
                <a:latin typeface="Google Sans"/>
              </a:rPr>
              <a:t>Zone-redundant services</a:t>
            </a:r>
          </a:p>
          <a:p>
            <a:pPr marL="12700" marR="5080"/>
            <a:r>
              <a:rPr lang="en-US" sz="1500" dirty="0">
                <a:solidFill>
                  <a:schemeClr val="accent6"/>
                </a:solidFill>
                <a:latin typeface="Google Sans"/>
              </a:rPr>
              <a:t>Geo-redundant storage</a:t>
            </a:r>
          </a:p>
          <a:p>
            <a:pPr marL="12700" marR="5080"/>
            <a:r>
              <a:rPr lang="en-US" sz="1500" dirty="0">
                <a:solidFill>
                  <a:schemeClr val="accent2"/>
                </a:solidFill>
                <a:latin typeface="Google Sans"/>
              </a:rPr>
              <a:t>☁️ Global HA on Google Cloud Platform</a:t>
            </a:r>
          </a:p>
          <a:p>
            <a:pPr marL="12700" marR="5080"/>
            <a:r>
              <a:rPr lang="en-US" sz="1500" dirty="0">
                <a:solidFill>
                  <a:schemeClr val="accent6"/>
                </a:solidFill>
                <a:latin typeface="Google Sans"/>
              </a:rPr>
              <a:t>Global load balancing</a:t>
            </a:r>
          </a:p>
          <a:p>
            <a:pPr marL="12700" marR="5080"/>
            <a:r>
              <a:rPr lang="en-US" sz="1500" dirty="0">
                <a:solidFill>
                  <a:schemeClr val="accent6"/>
                </a:solidFill>
                <a:latin typeface="Google Sans"/>
              </a:rPr>
              <a:t>Multi-regional managed databases</a:t>
            </a:r>
          </a:p>
          <a:p>
            <a:pPr marL="12700" marR="5080"/>
            <a:r>
              <a:rPr lang="en-US" sz="1500" dirty="0">
                <a:solidFill>
                  <a:schemeClr val="accent6"/>
                </a:solidFill>
                <a:latin typeface="Google Sans"/>
              </a:rPr>
              <a:t>Cross-region replication</a:t>
            </a:r>
          </a:p>
          <a:p>
            <a:pPr marL="12700" marR="5080"/>
            <a:endParaRPr lang="en-US" sz="1500" dirty="0">
              <a:solidFill>
                <a:schemeClr val="accent6"/>
              </a:solidFill>
              <a:latin typeface="Google Sans"/>
            </a:endParaRPr>
          </a:p>
        </p:txBody>
      </p:sp>
      <p:grpSp>
        <p:nvGrpSpPr>
          <p:cNvPr id="7" name="Group 6">
            <a:extLst>
              <a:ext uri="{FF2B5EF4-FFF2-40B4-BE49-F238E27FC236}">
                <a16:creationId xmlns:a16="http://schemas.microsoft.com/office/drawing/2014/main" id="{73D98D03-2D43-33D4-D683-729B2C2ECC51}"/>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16BD961-B9B1-BF49-C6E7-BAE6FAD4105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BB9256CD-8167-2495-10D9-D3EDFCDFC6D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 A Bit more in Detail</a:t>
              </a:r>
              <a:endParaRPr lang="en-US" sz="2500" kern="1200" dirty="0">
                <a:solidFill>
                  <a:schemeClr val="bg1"/>
                </a:solidFill>
              </a:endParaRPr>
            </a:p>
          </p:txBody>
        </p:sp>
      </p:grpSp>
    </p:spTree>
    <p:extLst>
      <p:ext uri="{BB962C8B-B14F-4D97-AF65-F5344CB8AC3E}">
        <p14:creationId xmlns:p14="http://schemas.microsoft.com/office/powerpoint/2010/main" val="61686947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75367-9428-773E-DB59-AEF7BDCFF59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84191E7-ACEF-81CE-66B4-4E6BA2C03EC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7B4D009-7636-69DF-6339-64D6CC37E7A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CDA79CD-F02A-2F82-9FBF-2C3950DFB53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6C82551-DE82-5EBC-731B-59A3B838B6D4}"/>
              </a:ext>
            </a:extLst>
          </p:cNvPr>
          <p:cNvSpPr txBox="1">
            <a:spLocks/>
          </p:cNvSpPr>
          <p:nvPr/>
        </p:nvSpPr>
        <p:spPr>
          <a:xfrm>
            <a:off x="76200" y="697468"/>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Availability Tiers</a:t>
            </a:r>
          </a:p>
          <a:p>
            <a:pPr marL="12700" marR="5080"/>
            <a:r>
              <a:rPr lang="en-US" sz="1500" dirty="0">
                <a:solidFill>
                  <a:schemeClr val="accent2"/>
                </a:solidFill>
                <a:latin typeface="Google Sans"/>
              </a:rPr>
              <a:t>🔹 Technical Dimensions Behind Availability Tiers</a:t>
            </a:r>
          </a:p>
          <a:p>
            <a:pPr marL="12700" marR="5080"/>
            <a:r>
              <a:rPr lang="en-US" sz="1500" dirty="0">
                <a:solidFill>
                  <a:schemeClr val="accent2"/>
                </a:solidFill>
                <a:latin typeface="Google Sans"/>
              </a:rPr>
              <a:t>Availability tiers are determined by:</a:t>
            </a:r>
          </a:p>
          <a:p>
            <a:pPr marL="12700" marR="5080"/>
            <a:r>
              <a:rPr lang="en-US" sz="1500" dirty="0">
                <a:solidFill>
                  <a:schemeClr val="accent2"/>
                </a:solidFill>
                <a:latin typeface="Google Sans"/>
              </a:rPr>
              <a:t>1️⃣ Redundancy Level</a:t>
            </a:r>
          </a:p>
          <a:p>
            <a:pPr marL="12700" marR="5080"/>
            <a:r>
              <a:rPr lang="en-US" sz="1500" dirty="0">
                <a:solidFill>
                  <a:schemeClr val="accent6"/>
                </a:solidFill>
                <a:latin typeface="Google Sans"/>
              </a:rPr>
              <a:t>Single node</a:t>
            </a:r>
          </a:p>
          <a:p>
            <a:pPr marL="12700" marR="5080"/>
            <a:r>
              <a:rPr lang="en-US" sz="1500" dirty="0">
                <a:solidFill>
                  <a:schemeClr val="accent6"/>
                </a:solidFill>
                <a:latin typeface="Google Sans"/>
              </a:rPr>
              <a:t>Multi-node</a:t>
            </a:r>
          </a:p>
          <a:p>
            <a:pPr marL="12700" marR="5080"/>
            <a:r>
              <a:rPr lang="en-US" sz="1500" dirty="0">
                <a:solidFill>
                  <a:schemeClr val="accent6"/>
                </a:solidFill>
                <a:latin typeface="Google Sans"/>
              </a:rPr>
              <a:t>Multi-AZ</a:t>
            </a:r>
          </a:p>
          <a:p>
            <a:pPr marL="12700" marR="5080"/>
            <a:r>
              <a:rPr lang="en-US" sz="1500" dirty="0">
                <a:solidFill>
                  <a:schemeClr val="accent6"/>
                </a:solidFill>
                <a:latin typeface="Google Sans"/>
              </a:rPr>
              <a:t>Multi-region</a:t>
            </a:r>
          </a:p>
          <a:p>
            <a:pPr marL="12700" marR="5080"/>
            <a:r>
              <a:rPr lang="en-US" sz="1500" dirty="0">
                <a:solidFill>
                  <a:schemeClr val="accent2"/>
                </a:solidFill>
                <a:latin typeface="Google Sans"/>
              </a:rPr>
              <a:t>2️⃣ Data Strategy</a:t>
            </a:r>
          </a:p>
          <a:p>
            <a:pPr marL="12700" marR="5080"/>
            <a:r>
              <a:rPr lang="en-US" sz="1500" dirty="0">
                <a:solidFill>
                  <a:schemeClr val="accent6"/>
                </a:solidFill>
                <a:latin typeface="Google Sans"/>
              </a:rPr>
              <a:t>No replication</a:t>
            </a:r>
          </a:p>
          <a:p>
            <a:pPr marL="12700" marR="5080"/>
            <a:r>
              <a:rPr lang="en-US" sz="1500" dirty="0">
                <a:solidFill>
                  <a:schemeClr val="accent6"/>
                </a:solidFill>
                <a:latin typeface="Google Sans"/>
              </a:rPr>
              <a:t>Asynchronous replication</a:t>
            </a:r>
          </a:p>
          <a:p>
            <a:pPr marL="12700" marR="5080"/>
            <a:r>
              <a:rPr lang="en-US" sz="1500" dirty="0">
                <a:solidFill>
                  <a:schemeClr val="accent6"/>
                </a:solidFill>
                <a:latin typeface="Google Sans"/>
              </a:rPr>
              <a:t>Synchronous replication</a:t>
            </a:r>
          </a:p>
          <a:p>
            <a:pPr marL="12700" marR="5080"/>
            <a:r>
              <a:rPr lang="en-US" sz="1500" dirty="0">
                <a:solidFill>
                  <a:schemeClr val="accent6"/>
                </a:solidFill>
                <a:latin typeface="Google Sans"/>
              </a:rPr>
              <a:t>Distributed consensus (Raft/Paxos)</a:t>
            </a:r>
          </a:p>
          <a:p>
            <a:pPr marL="12700" marR="5080"/>
            <a:r>
              <a:rPr lang="en-US" sz="1500" dirty="0">
                <a:solidFill>
                  <a:schemeClr val="accent2"/>
                </a:solidFill>
                <a:latin typeface="Google Sans"/>
              </a:rPr>
              <a:t>3️⃣ Recovery Metrics</a:t>
            </a:r>
          </a:p>
          <a:p>
            <a:pPr marL="12700" marR="5080"/>
            <a:r>
              <a:rPr lang="en-US" sz="1500" dirty="0">
                <a:solidFill>
                  <a:schemeClr val="accent6"/>
                </a:solidFill>
                <a:latin typeface="Google Sans"/>
              </a:rPr>
              <a:t>RTO (Recovery Time Objective)</a:t>
            </a:r>
          </a:p>
          <a:p>
            <a:pPr marL="12700" marR="5080"/>
            <a:r>
              <a:rPr lang="en-US" sz="1500" dirty="0">
                <a:solidFill>
                  <a:schemeClr val="accent6"/>
                </a:solidFill>
                <a:latin typeface="Google Sans"/>
              </a:rPr>
              <a:t>RPO (Recovery Point Objective)</a:t>
            </a:r>
          </a:p>
          <a:p>
            <a:pPr marL="12700" marR="5080"/>
            <a:r>
              <a:rPr lang="en-US" sz="1500" dirty="0">
                <a:solidFill>
                  <a:schemeClr val="accent2"/>
                </a:solidFill>
                <a:latin typeface="Google Sans"/>
              </a:rPr>
              <a:t>4️⃣ Deployment Model</a:t>
            </a:r>
          </a:p>
          <a:p>
            <a:pPr marL="12700" marR="5080"/>
            <a:r>
              <a:rPr lang="en-US" sz="1500" dirty="0">
                <a:solidFill>
                  <a:schemeClr val="accent6"/>
                </a:solidFill>
                <a:latin typeface="Google Sans"/>
              </a:rPr>
              <a:t>Active-passive</a:t>
            </a:r>
          </a:p>
          <a:p>
            <a:pPr marL="12700" marR="5080"/>
            <a:r>
              <a:rPr lang="en-US" sz="1500" dirty="0">
                <a:solidFill>
                  <a:schemeClr val="accent6"/>
                </a:solidFill>
                <a:latin typeface="Google Sans"/>
              </a:rPr>
              <a:t>Active-active</a:t>
            </a:r>
          </a:p>
          <a:p>
            <a:pPr marL="12700" marR="5080"/>
            <a:r>
              <a:rPr lang="en-US" sz="1500" dirty="0">
                <a:solidFill>
                  <a:schemeClr val="accent6"/>
                </a:solidFill>
                <a:latin typeface="Google Sans"/>
              </a:rPr>
              <a:t>Blue/green</a:t>
            </a:r>
          </a:p>
          <a:p>
            <a:pPr marL="12700" marR="5080"/>
            <a:r>
              <a:rPr lang="en-US" sz="1500" dirty="0">
                <a:solidFill>
                  <a:schemeClr val="accent6"/>
                </a:solidFill>
                <a:latin typeface="Google Sans"/>
              </a:rPr>
              <a:t>Canary</a:t>
            </a:r>
          </a:p>
        </p:txBody>
      </p:sp>
      <p:grpSp>
        <p:nvGrpSpPr>
          <p:cNvPr id="7" name="Group 6">
            <a:extLst>
              <a:ext uri="{FF2B5EF4-FFF2-40B4-BE49-F238E27FC236}">
                <a16:creationId xmlns:a16="http://schemas.microsoft.com/office/drawing/2014/main" id="{122090D3-4E06-7C9C-EB01-71695DB0758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BCEC18B-F843-771C-4708-EB2A1011ADF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2E6CD8A8-4ED4-D3AF-0FEE-1D6A5B7B395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 A Bit more in Detail</a:t>
              </a:r>
              <a:endParaRPr lang="en-US" sz="2500" kern="1200" dirty="0">
                <a:solidFill>
                  <a:schemeClr val="bg1"/>
                </a:solidFill>
              </a:endParaRPr>
            </a:p>
          </p:txBody>
        </p:sp>
      </p:grpSp>
    </p:spTree>
    <p:extLst>
      <p:ext uri="{BB962C8B-B14F-4D97-AF65-F5344CB8AC3E}">
        <p14:creationId xmlns:p14="http://schemas.microsoft.com/office/powerpoint/2010/main" val="3933834681"/>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66F1BB-99F7-33AD-A55F-4AE56514CCC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011688B-C10D-2D4B-E2B5-F6EF91994BB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E81B191-A805-8CC0-25E7-AB4987F1F9F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66A54EF-B266-B239-06F9-770EF60FFD0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18A5C88-603D-E1A3-67CC-99114BCFB29F}"/>
              </a:ext>
            </a:extLst>
          </p:cNvPr>
          <p:cNvSpPr txBox="1">
            <a:spLocks/>
          </p:cNvSpPr>
          <p:nvPr/>
        </p:nvSpPr>
        <p:spPr>
          <a:xfrm>
            <a:off x="76200" y="697468"/>
            <a:ext cx="8624937" cy="549381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Availability Tiers</a:t>
            </a:r>
          </a:p>
          <a:p>
            <a:pPr marL="12700" marR="5080"/>
            <a:r>
              <a:rPr lang="en-US" sz="1400" dirty="0">
                <a:solidFill>
                  <a:schemeClr val="accent2"/>
                </a:solidFill>
                <a:latin typeface="Google Sans"/>
              </a:rPr>
              <a:t>🔹 Cost vs Availability Tradeoff</a:t>
            </a:r>
          </a:p>
          <a:p>
            <a:pPr marL="12700" marR="5080"/>
            <a:r>
              <a:rPr lang="en-US" sz="1400" dirty="0">
                <a:solidFill>
                  <a:schemeClr val="accent2"/>
                </a:solidFill>
                <a:latin typeface="Google Sans"/>
              </a:rPr>
              <a:t>Availability increases non-linearly in cost:</a:t>
            </a:r>
          </a:p>
          <a:p>
            <a:pPr marL="12700" marR="5080"/>
            <a:r>
              <a:rPr lang="en-US" sz="1400" dirty="0">
                <a:solidFill>
                  <a:schemeClr val="accent6"/>
                </a:solidFill>
                <a:latin typeface="Google Sans"/>
              </a:rPr>
              <a:t>99% → cheap</a:t>
            </a:r>
          </a:p>
          <a:p>
            <a:pPr marL="12700" marR="5080"/>
            <a:r>
              <a:rPr lang="en-US" sz="1400" dirty="0">
                <a:solidFill>
                  <a:schemeClr val="accent6"/>
                </a:solidFill>
                <a:latin typeface="Google Sans"/>
              </a:rPr>
              <a:t>99.9% → moderate</a:t>
            </a:r>
          </a:p>
          <a:p>
            <a:pPr marL="12700" marR="5080"/>
            <a:r>
              <a:rPr lang="en-US" sz="1400" dirty="0">
                <a:solidFill>
                  <a:schemeClr val="accent6"/>
                </a:solidFill>
                <a:latin typeface="Google Sans"/>
              </a:rPr>
              <a:t>99.99% → expensive</a:t>
            </a:r>
          </a:p>
          <a:p>
            <a:pPr marL="12700" marR="5080"/>
            <a:r>
              <a:rPr lang="en-US" sz="1400" dirty="0">
                <a:solidFill>
                  <a:schemeClr val="accent6"/>
                </a:solidFill>
                <a:latin typeface="Google Sans"/>
              </a:rPr>
              <a:t>99.999% → extremely expensive</a:t>
            </a:r>
          </a:p>
          <a:p>
            <a:pPr marL="12700" marR="5080"/>
            <a:r>
              <a:rPr lang="en-US" sz="1400" dirty="0">
                <a:solidFill>
                  <a:schemeClr val="accent2"/>
                </a:solidFill>
                <a:latin typeface="Google Sans"/>
              </a:rPr>
              <a:t>Each extra “9” dramatically increases:</a:t>
            </a:r>
          </a:p>
          <a:p>
            <a:pPr marL="12700" marR="5080"/>
            <a:r>
              <a:rPr lang="en-US" sz="1400" dirty="0">
                <a:solidFill>
                  <a:schemeClr val="accent6"/>
                </a:solidFill>
                <a:latin typeface="Google Sans"/>
              </a:rPr>
              <a:t>Infrastructure cost</a:t>
            </a:r>
          </a:p>
          <a:p>
            <a:pPr marL="12700" marR="5080"/>
            <a:r>
              <a:rPr lang="en-US" sz="1400" dirty="0">
                <a:solidFill>
                  <a:schemeClr val="accent6"/>
                </a:solidFill>
                <a:latin typeface="Google Sans"/>
              </a:rPr>
              <a:t>Operational complexity</a:t>
            </a:r>
          </a:p>
          <a:p>
            <a:pPr marL="12700" marR="5080"/>
            <a:r>
              <a:rPr lang="en-US" sz="1400" dirty="0">
                <a:solidFill>
                  <a:schemeClr val="accent6"/>
                </a:solidFill>
                <a:latin typeface="Google Sans"/>
              </a:rPr>
              <a:t>Engineering overhead</a:t>
            </a:r>
          </a:p>
          <a:p>
            <a:pPr marL="12700" marR="5080"/>
            <a:r>
              <a:rPr lang="en-US" sz="1400" dirty="0">
                <a:solidFill>
                  <a:schemeClr val="accent2"/>
                </a:solidFill>
                <a:latin typeface="Google Sans"/>
              </a:rPr>
              <a:t>🔹 Enterprise Data Center Tiering (Different Meaning)</a:t>
            </a:r>
          </a:p>
          <a:p>
            <a:pPr marL="12700" marR="5080"/>
            <a:r>
              <a:rPr lang="en-US" sz="1400" dirty="0">
                <a:solidFill>
                  <a:schemeClr val="accent6"/>
                </a:solidFill>
                <a:latin typeface="Google Sans"/>
              </a:rPr>
              <a:t>Do not confuse with Uptime Institute Data Center Tiers:</a:t>
            </a:r>
          </a:p>
          <a:p>
            <a:pPr marL="12700" marR="5080"/>
            <a:r>
              <a:rPr lang="en-US" sz="1400" dirty="0" err="1">
                <a:solidFill>
                  <a:schemeClr val="accent6"/>
                </a:solidFill>
                <a:latin typeface="Google Sans"/>
              </a:rPr>
              <a:t>TierDescriptionTier</a:t>
            </a:r>
            <a:r>
              <a:rPr lang="en-US" sz="1400" dirty="0">
                <a:solidFill>
                  <a:schemeClr val="accent6"/>
                </a:solidFill>
                <a:latin typeface="Google Sans"/>
              </a:rPr>
              <a:t> </a:t>
            </a:r>
            <a:r>
              <a:rPr lang="en-US" sz="1400" dirty="0" err="1">
                <a:solidFill>
                  <a:schemeClr val="accent6"/>
                </a:solidFill>
                <a:latin typeface="Google Sans"/>
              </a:rPr>
              <a:t>IBasic</a:t>
            </a:r>
            <a:r>
              <a:rPr lang="en-US" sz="1400" dirty="0">
                <a:solidFill>
                  <a:schemeClr val="accent6"/>
                </a:solidFill>
                <a:latin typeface="Google Sans"/>
              </a:rPr>
              <a:t> </a:t>
            </a:r>
            <a:r>
              <a:rPr lang="en-US" sz="1400" dirty="0" err="1">
                <a:solidFill>
                  <a:schemeClr val="accent6"/>
                </a:solidFill>
                <a:latin typeface="Google Sans"/>
              </a:rPr>
              <a:t>capacityTier</a:t>
            </a:r>
            <a:r>
              <a:rPr lang="en-US" sz="1400" dirty="0">
                <a:solidFill>
                  <a:schemeClr val="accent6"/>
                </a:solidFill>
                <a:latin typeface="Google Sans"/>
              </a:rPr>
              <a:t> </a:t>
            </a:r>
            <a:r>
              <a:rPr lang="en-US" sz="1400" dirty="0" err="1">
                <a:solidFill>
                  <a:schemeClr val="accent6"/>
                </a:solidFill>
                <a:latin typeface="Google Sans"/>
              </a:rPr>
              <a:t>IIRedundant</a:t>
            </a:r>
            <a:r>
              <a:rPr lang="en-US" sz="1400" dirty="0">
                <a:solidFill>
                  <a:schemeClr val="accent6"/>
                </a:solidFill>
                <a:latin typeface="Google Sans"/>
              </a:rPr>
              <a:t> </a:t>
            </a:r>
            <a:r>
              <a:rPr lang="en-US" sz="1400" dirty="0" err="1">
                <a:solidFill>
                  <a:schemeClr val="accent6"/>
                </a:solidFill>
                <a:latin typeface="Google Sans"/>
              </a:rPr>
              <a:t>componentsTier</a:t>
            </a:r>
            <a:r>
              <a:rPr lang="en-US" sz="1400" dirty="0">
                <a:solidFill>
                  <a:schemeClr val="accent6"/>
                </a:solidFill>
                <a:latin typeface="Google Sans"/>
              </a:rPr>
              <a:t> </a:t>
            </a:r>
            <a:r>
              <a:rPr lang="en-US" sz="1400" dirty="0" err="1">
                <a:solidFill>
                  <a:schemeClr val="accent6"/>
                </a:solidFill>
                <a:latin typeface="Google Sans"/>
              </a:rPr>
              <a:t>IIIConcurrent</a:t>
            </a:r>
            <a:r>
              <a:rPr lang="en-US" sz="1400" dirty="0">
                <a:solidFill>
                  <a:schemeClr val="accent6"/>
                </a:solidFill>
                <a:latin typeface="Google Sans"/>
              </a:rPr>
              <a:t> </a:t>
            </a:r>
            <a:r>
              <a:rPr lang="en-US" sz="1400" dirty="0" err="1">
                <a:solidFill>
                  <a:schemeClr val="accent6"/>
                </a:solidFill>
                <a:latin typeface="Google Sans"/>
              </a:rPr>
              <a:t>maintainabilityTier</a:t>
            </a:r>
            <a:r>
              <a:rPr lang="en-US" sz="1400" dirty="0">
                <a:solidFill>
                  <a:schemeClr val="accent6"/>
                </a:solidFill>
                <a:latin typeface="Google Sans"/>
              </a:rPr>
              <a:t> </a:t>
            </a:r>
            <a:r>
              <a:rPr lang="en-US" sz="1400" dirty="0" err="1">
                <a:solidFill>
                  <a:schemeClr val="accent6"/>
                </a:solidFill>
                <a:latin typeface="Google Sans"/>
              </a:rPr>
              <a:t>IVFault</a:t>
            </a:r>
            <a:r>
              <a:rPr lang="en-US" sz="1400" dirty="0">
                <a:solidFill>
                  <a:schemeClr val="accent6"/>
                </a:solidFill>
                <a:latin typeface="Google Sans"/>
              </a:rPr>
              <a:t> tolerant</a:t>
            </a:r>
          </a:p>
          <a:p>
            <a:pPr marL="12700" marR="5080"/>
            <a:r>
              <a:rPr lang="en-US" sz="1400" dirty="0">
                <a:solidFill>
                  <a:schemeClr val="accent6"/>
                </a:solidFill>
                <a:latin typeface="Google Sans"/>
              </a:rPr>
              <a:t>This refers to physical data center infrastructure, not application SLA.</a:t>
            </a:r>
          </a:p>
          <a:p>
            <a:pPr marL="12700" marR="5080"/>
            <a:r>
              <a:rPr lang="en-US" sz="1400" dirty="0">
                <a:solidFill>
                  <a:schemeClr val="accent2"/>
                </a:solidFill>
                <a:latin typeface="Google Sans"/>
              </a:rPr>
              <a:t>🔹 Summary</a:t>
            </a:r>
          </a:p>
          <a:p>
            <a:pPr marL="12700" marR="5080"/>
            <a:r>
              <a:rPr lang="en-US" sz="1400" dirty="0">
                <a:solidFill>
                  <a:schemeClr val="accent6"/>
                </a:solidFill>
                <a:latin typeface="Google Sans"/>
              </a:rPr>
              <a:t>Availability tiers generally progress like:</a:t>
            </a:r>
          </a:p>
          <a:p>
            <a:pPr marL="12700" marR="5080"/>
            <a:r>
              <a:rPr lang="en-US" sz="1400" dirty="0">
                <a:solidFill>
                  <a:schemeClr val="accent6"/>
                </a:solidFill>
                <a:latin typeface="Google Sans"/>
              </a:rPr>
              <a:t>Single Server → Redundant Nodes → Multi-AZ → Multi-Region → Active-Active Global</a:t>
            </a:r>
          </a:p>
          <a:p>
            <a:pPr marL="12700" marR="5080"/>
            <a:r>
              <a:rPr lang="en-US" sz="1400" dirty="0">
                <a:solidFill>
                  <a:schemeClr val="accent6"/>
                </a:solidFill>
                <a:latin typeface="Google Sans"/>
              </a:rPr>
              <a:t>Each tier adds:</a:t>
            </a:r>
          </a:p>
          <a:p>
            <a:pPr marL="12700" marR="5080"/>
            <a:r>
              <a:rPr lang="en-US" sz="1400" dirty="0">
                <a:solidFill>
                  <a:schemeClr val="accent6"/>
                </a:solidFill>
                <a:latin typeface="Google Sans"/>
              </a:rPr>
              <a:t>More redundancy</a:t>
            </a:r>
          </a:p>
          <a:p>
            <a:pPr marL="12700" marR="5080"/>
            <a:r>
              <a:rPr lang="en-US" sz="1400" dirty="0">
                <a:solidFill>
                  <a:schemeClr val="accent6"/>
                </a:solidFill>
                <a:latin typeface="Google Sans"/>
              </a:rPr>
              <a:t>Lower RTO/RPO</a:t>
            </a:r>
          </a:p>
          <a:p>
            <a:pPr marL="12700" marR="5080"/>
            <a:r>
              <a:rPr lang="en-US" sz="1400" dirty="0">
                <a:solidFill>
                  <a:schemeClr val="accent6"/>
                </a:solidFill>
                <a:latin typeface="Google Sans"/>
              </a:rPr>
              <a:t>Higher cost</a:t>
            </a:r>
          </a:p>
          <a:p>
            <a:pPr marL="12700" marR="5080"/>
            <a:r>
              <a:rPr lang="en-US" sz="1400" dirty="0">
                <a:solidFill>
                  <a:schemeClr val="accent6"/>
                </a:solidFill>
                <a:latin typeface="Google Sans"/>
              </a:rPr>
              <a:t>More operational complexity</a:t>
            </a:r>
          </a:p>
          <a:p>
            <a:pPr marL="12700" marR="5080"/>
            <a:endParaRPr lang="en-US" sz="1500" dirty="0">
              <a:solidFill>
                <a:schemeClr val="accent6"/>
              </a:solidFill>
              <a:latin typeface="Google Sans"/>
            </a:endParaRPr>
          </a:p>
        </p:txBody>
      </p:sp>
      <p:grpSp>
        <p:nvGrpSpPr>
          <p:cNvPr id="7" name="Group 6">
            <a:extLst>
              <a:ext uri="{FF2B5EF4-FFF2-40B4-BE49-F238E27FC236}">
                <a16:creationId xmlns:a16="http://schemas.microsoft.com/office/drawing/2014/main" id="{7317C58D-3A89-5C76-C2C3-40D1749CD25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7DB85F1-B2FC-C6FA-4843-604AC15C115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C87B8D2B-EDA8-5311-71EC-C8FFAC78B5B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 A Bit more in Detail</a:t>
              </a:r>
              <a:endParaRPr lang="en-US" sz="2500" kern="1200" dirty="0">
                <a:solidFill>
                  <a:schemeClr val="bg1"/>
                </a:solidFill>
              </a:endParaRPr>
            </a:p>
          </p:txBody>
        </p:sp>
      </p:grpSp>
    </p:spTree>
    <p:extLst>
      <p:ext uri="{BB962C8B-B14F-4D97-AF65-F5344CB8AC3E}">
        <p14:creationId xmlns:p14="http://schemas.microsoft.com/office/powerpoint/2010/main" val="254033458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DE095A-11CA-EA82-A7D2-F8D18CCDF1F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F6BC070-5652-1BF7-3324-748D01352AC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E644FDD-F5FC-B8E6-5A3B-38D605A996D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8FCB3CD-3C52-6F8D-F5A9-C68561FDBCD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AF8EF54-72C8-37D2-D4D8-C04915E22157}"/>
              </a:ext>
            </a:extLst>
          </p:cNvPr>
          <p:cNvSpPr txBox="1">
            <a:spLocks/>
          </p:cNvSpPr>
          <p:nvPr/>
        </p:nvSpPr>
        <p:spPr>
          <a:xfrm>
            <a:off x="76200" y="697468"/>
            <a:ext cx="8624937" cy="48320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Availability Tiers</a:t>
            </a:r>
          </a:p>
          <a:p>
            <a:pPr marL="12700" marR="5080"/>
            <a:r>
              <a:rPr lang="en-US" sz="1700" dirty="0">
                <a:solidFill>
                  <a:schemeClr val="accent2"/>
                </a:solidFill>
                <a:latin typeface="Google Sans"/>
              </a:rPr>
              <a:t>Implementation Roadmap</a:t>
            </a:r>
          </a:p>
          <a:p>
            <a:pPr marL="12700" marR="5080"/>
            <a:r>
              <a:rPr lang="en-US" sz="1400" dirty="0">
                <a:solidFill>
                  <a:schemeClr val="accent2"/>
                </a:solidFill>
                <a:latin typeface="Google Sans"/>
              </a:rPr>
              <a:t>1. Low Availability Tier (Tier I &amp; II) </a:t>
            </a:r>
          </a:p>
          <a:p>
            <a:pPr marL="12700" marR="5080"/>
            <a:r>
              <a:rPr lang="en-US" sz="1400" dirty="0">
                <a:solidFill>
                  <a:schemeClr val="accent2"/>
                </a:solidFill>
                <a:latin typeface="Google Sans"/>
              </a:rPr>
              <a:t>Target:</a:t>
            </a:r>
            <a:r>
              <a:rPr lang="en-US" sz="1400" dirty="0">
                <a:solidFill>
                  <a:schemeClr val="accent6"/>
                </a:solidFill>
                <a:latin typeface="Google Sans"/>
              </a:rPr>
              <a:t> Low cost, non-critical services (e.g., internal staging, basic website).</a:t>
            </a:r>
          </a:p>
          <a:p>
            <a:pPr marL="12700" marR="5080"/>
            <a:r>
              <a:rPr lang="en-US" sz="1400" dirty="0">
                <a:solidFill>
                  <a:schemeClr val="accent2"/>
                </a:solidFill>
                <a:latin typeface="Google Sans"/>
              </a:rPr>
              <a:t>Implementation: </a:t>
            </a:r>
            <a:r>
              <a:rPr lang="en-US" sz="1400" dirty="0">
                <a:solidFill>
                  <a:schemeClr val="accent6"/>
                </a:solidFill>
                <a:latin typeface="Google Sans"/>
              </a:rPr>
              <a:t>Single server instance, minimal or no redundant backups.</a:t>
            </a:r>
          </a:p>
          <a:p>
            <a:pPr marL="12700" marR="5080"/>
            <a:r>
              <a:rPr lang="en-US" sz="1400" dirty="0">
                <a:solidFill>
                  <a:schemeClr val="accent2"/>
                </a:solidFill>
                <a:latin typeface="Google Sans"/>
              </a:rPr>
              <a:t>Detailed Steps:</a:t>
            </a:r>
          </a:p>
          <a:p>
            <a:pPr marL="12700" marR="5080"/>
            <a:r>
              <a:rPr lang="en-US" sz="1400" dirty="0">
                <a:solidFill>
                  <a:schemeClr val="accent2"/>
                </a:solidFill>
                <a:latin typeface="Google Sans"/>
              </a:rPr>
              <a:t>Infrastructure: </a:t>
            </a:r>
            <a:r>
              <a:rPr lang="en-US" sz="1400" dirty="0">
                <a:solidFill>
                  <a:schemeClr val="accent6"/>
                </a:solidFill>
                <a:latin typeface="Google Sans"/>
              </a:rPr>
              <a:t>Single virtual machine, single load balancer.</a:t>
            </a:r>
          </a:p>
          <a:p>
            <a:pPr marL="12700" marR="5080"/>
            <a:r>
              <a:rPr lang="en-US" sz="1400" dirty="0">
                <a:solidFill>
                  <a:schemeClr val="accent2"/>
                </a:solidFill>
                <a:latin typeface="Google Sans"/>
              </a:rPr>
              <a:t>Data: </a:t>
            </a:r>
            <a:r>
              <a:rPr lang="en-US" sz="1400" dirty="0">
                <a:solidFill>
                  <a:schemeClr val="accent6"/>
                </a:solidFill>
                <a:latin typeface="Google Sans"/>
              </a:rPr>
              <a:t>Basic data backups (snapshot daily).</a:t>
            </a:r>
          </a:p>
          <a:p>
            <a:pPr marL="12700" marR="5080"/>
            <a:r>
              <a:rPr lang="en-US" sz="1400" dirty="0">
                <a:solidFill>
                  <a:schemeClr val="accent2"/>
                </a:solidFill>
                <a:latin typeface="Google Sans"/>
              </a:rPr>
              <a:t>Network: </a:t>
            </a:r>
            <a:r>
              <a:rPr lang="en-US" sz="1400" dirty="0">
                <a:solidFill>
                  <a:schemeClr val="accent6"/>
                </a:solidFill>
                <a:latin typeface="Google Sans"/>
              </a:rPr>
              <a:t>Single Internet Service Provider (ISP).</a:t>
            </a:r>
          </a:p>
          <a:p>
            <a:pPr marL="12700" marR="5080"/>
            <a:r>
              <a:rPr lang="en-US" sz="1400" dirty="0">
                <a:solidFill>
                  <a:schemeClr val="accent2"/>
                </a:solidFill>
                <a:latin typeface="Google Sans"/>
              </a:rPr>
              <a:t>Maintenance:</a:t>
            </a:r>
            <a:r>
              <a:rPr lang="en-US" sz="1400" dirty="0">
                <a:solidFill>
                  <a:schemeClr val="accent6"/>
                </a:solidFill>
                <a:latin typeface="Google Sans"/>
              </a:rPr>
              <a:t> Requires scheduled downtime. </a:t>
            </a:r>
          </a:p>
          <a:p>
            <a:pPr marL="12700" marR="5080"/>
            <a:r>
              <a:rPr lang="en-US" sz="1400" dirty="0">
                <a:solidFill>
                  <a:schemeClr val="accent2"/>
                </a:solidFill>
                <a:latin typeface="Google Sans"/>
              </a:rPr>
              <a:t>2. Medium Availability Tier (Tier III)</a:t>
            </a:r>
          </a:p>
          <a:p>
            <a:pPr marL="12700" marR="5080"/>
            <a:r>
              <a:rPr lang="en-US" sz="1400" dirty="0">
                <a:solidFill>
                  <a:schemeClr val="accent2"/>
                </a:solidFill>
                <a:latin typeface="Google Sans"/>
              </a:rPr>
              <a:t>Target: </a:t>
            </a:r>
            <a:r>
              <a:rPr lang="en-US" sz="1400" dirty="0">
                <a:solidFill>
                  <a:schemeClr val="accent6"/>
                </a:solidFill>
                <a:latin typeface="Google Sans"/>
              </a:rPr>
              <a:t>Production applications, customer-facing portals, medium e-commerce.</a:t>
            </a:r>
          </a:p>
          <a:p>
            <a:pPr marL="12700" marR="5080"/>
            <a:r>
              <a:rPr lang="en-US" sz="1400" dirty="0">
                <a:solidFill>
                  <a:schemeClr val="accent2"/>
                </a:solidFill>
                <a:latin typeface="Google Sans"/>
              </a:rPr>
              <a:t>Implementation: </a:t>
            </a:r>
            <a:r>
              <a:rPr lang="en-US" sz="1400" dirty="0">
                <a:solidFill>
                  <a:schemeClr val="accent6"/>
                </a:solidFill>
                <a:latin typeface="Google Sans"/>
              </a:rPr>
              <a:t>Redundant components (N+1) ensuring concurrent maintainability (repairs without taking it offline).</a:t>
            </a:r>
          </a:p>
          <a:p>
            <a:pPr marL="12700" marR="5080"/>
            <a:r>
              <a:rPr lang="en-US" sz="1400" dirty="0">
                <a:solidFill>
                  <a:schemeClr val="accent2"/>
                </a:solidFill>
                <a:latin typeface="Google Sans"/>
              </a:rPr>
              <a:t>Detailed Steps:</a:t>
            </a:r>
          </a:p>
          <a:p>
            <a:pPr marL="12700" marR="5080"/>
            <a:r>
              <a:rPr lang="en-US" sz="1400" dirty="0">
                <a:solidFill>
                  <a:schemeClr val="accent2"/>
                </a:solidFill>
                <a:latin typeface="Google Sans"/>
              </a:rPr>
              <a:t>Infrastructure:</a:t>
            </a:r>
            <a:r>
              <a:rPr lang="en-US" sz="1400" dirty="0">
                <a:solidFill>
                  <a:schemeClr val="accent6"/>
                </a:solidFill>
                <a:latin typeface="Google Sans"/>
              </a:rPr>
              <a:t> Multiple web/app servers behind a load balancer (Active-Passive or Active-Active).</a:t>
            </a:r>
          </a:p>
          <a:p>
            <a:pPr marL="12700" marR="5080"/>
            <a:r>
              <a:rPr lang="en-US" sz="1400" dirty="0">
                <a:solidFill>
                  <a:schemeClr val="accent2"/>
                </a:solidFill>
                <a:latin typeface="Google Sans"/>
              </a:rPr>
              <a:t>Data: </a:t>
            </a:r>
            <a:r>
              <a:rPr lang="en-US" sz="1400" dirty="0">
                <a:solidFill>
                  <a:schemeClr val="accent6"/>
                </a:solidFill>
                <a:latin typeface="Google Sans"/>
              </a:rPr>
              <a:t>Clustered databases (e.g., Master-Slave) with synchronous replication.</a:t>
            </a:r>
          </a:p>
          <a:p>
            <a:pPr marL="12700" marR="5080"/>
            <a:r>
              <a:rPr lang="en-US" sz="1400" dirty="0">
                <a:solidFill>
                  <a:schemeClr val="accent2"/>
                </a:solidFill>
                <a:latin typeface="Google Sans"/>
              </a:rPr>
              <a:t>Network: </a:t>
            </a:r>
            <a:r>
              <a:rPr lang="en-US" sz="1400" dirty="0">
                <a:solidFill>
                  <a:schemeClr val="accent6"/>
                </a:solidFill>
                <a:latin typeface="Google Sans"/>
              </a:rPr>
              <a:t>Multiple, diverse paths for power and network connectivity.</a:t>
            </a:r>
          </a:p>
          <a:p>
            <a:pPr marL="12700" marR="5080"/>
            <a:r>
              <a:rPr lang="en-US" sz="1400" dirty="0">
                <a:solidFill>
                  <a:schemeClr val="accent2"/>
                </a:solidFill>
                <a:latin typeface="Google Sans"/>
              </a:rPr>
              <a:t>Maintenance: </a:t>
            </a:r>
            <a:r>
              <a:rPr lang="en-US" sz="1400" dirty="0">
                <a:solidFill>
                  <a:schemeClr val="accent6"/>
                </a:solidFill>
                <a:latin typeface="Google Sans"/>
              </a:rPr>
              <a:t>Components can be removed or repaired without interrupting operations. </a:t>
            </a:r>
          </a:p>
          <a:p>
            <a:pPr marL="12700" marR="5080"/>
            <a:r>
              <a:rPr lang="en-US" sz="1400" dirty="0">
                <a:solidFill>
                  <a:schemeClr val="accent2"/>
                </a:solidFill>
                <a:latin typeface="Google Sans"/>
              </a:rPr>
              <a:t>3. High Availability Tier (Tier IV)</a:t>
            </a:r>
          </a:p>
          <a:p>
            <a:pPr marL="12700" marR="5080"/>
            <a:r>
              <a:rPr lang="en-US" sz="1400" dirty="0">
                <a:solidFill>
                  <a:schemeClr val="accent2"/>
                </a:solidFill>
                <a:latin typeface="Google Sans"/>
              </a:rPr>
              <a:t>Target: </a:t>
            </a:r>
            <a:r>
              <a:rPr lang="en-US" sz="1400" dirty="0">
                <a:solidFill>
                  <a:schemeClr val="accent6"/>
                </a:solidFill>
                <a:latin typeface="Google Sans"/>
              </a:rPr>
              <a:t>Mission-critical, financial, large-scale SaaS, healthcare.</a:t>
            </a:r>
          </a:p>
          <a:p>
            <a:pPr marL="12700" marR="5080"/>
            <a:r>
              <a:rPr lang="en-US" sz="1400" dirty="0">
                <a:solidFill>
                  <a:schemeClr val="accent6"/>
                </a:solidFill>
                <a:latin typeface="Google Sans"/>
              </a:rPr>
              <a:t>Implementation: Fault-tolerant infrastructure (2N or 2N+1) with automatic failover.</a:t>
            </a:r>
          </a:p>
        </p:txBody>
      </p:sp>
      <p:grpSp>
        <p:nvGrpSpPr>
          <p:cNvPr id="7" name="Group 6">
            <a:extLst>
              <a:ext uri="{FF2B5EF4-FFF2-40B4-BE49-F238E27FC236}">
                <a16:creationId xmlns:a16="http://schemas.microsoft.com/office/drawing/2014/main" id="{B7F1305D-7C2B-13DD-D3AA-D01FD696F943}"/>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201FDD2-E59E-96B7-5897-647870A9F60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10B51BB0-9111-396E-9724-E655ED59B02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 A Bit more in Detail</a:t>
              </a:r>
              <a:endParaRPr lang="en-US" sz="2500" kern="1200" dirty="0">
                <a:solidFill>
                  <a:schemeClr val="bg1"/>
                </a:solidFill>
              </a:endParaRPr>
            </a:p>
          </p:txBody>
        </p:sp>
      </p:grpSp>
    </p:spTree>
    <p:extLst>
      <p:ext uri="{BB962C8B-B14F-4D97-AF65-F5344CB8AC3E}">
        <p14:creationId xmlns:p14="http://schemas.microsoft.com/office/powerpoint/2010/main" val="3471463010"/>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E1210-9020-56EC-60C9-9DF1CBB5931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B2C5647-B85A-6314-145E-D12ED1720F8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B6A4707-671A-394F-11BD-5387CC5AEBF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37A0A0-9A0D-F5A7-C3AF-B8D472D71F1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D494285-B458-D8E1-99D2-36FA08F8EFEB}"/>
              </a:ext>
            </a:extLst>
          </p:cNvPr>
          <p:cNvSpPr txBox="1">
            <a:spLocks/>
          </p:cNvSpPr>
          <p:nvPr/>
        </p:nvSpPr>
        <p:spPr>
          <a:xfrm>
            <a:off x="76200" y="697468"/>
            <a:ext cx="8624937" cy="22929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Availability Tiers</a:t>
            </a:r>
          </a:p>
          <a:p>
            <a:pPr marL="12700" marR="5080"/>
            <a:r>
              <a:rPr lang="en-US" sz="1700" dirty="0">
                <a:solidFill>
                  <a:schemeClr val="accent2"/>
                </a:solidFill>
                <a:latin typeface="Google Sans"/>
              </a:rPr>
              <a:t>Implementation Roadmap</a:t>
            </a:r>
          </a:p>
          <a:p>
            <a:pPr marL="12700" marR="5080"/>
            <a:r>
              <a:rPr lang="en-US" sz="1400" dirty="0">
                <a:solidFill>
                  <a:schemeClr val="accent2"/>
                </a:solidFill>
                <a:latin typeface="Google Sans"/>
              </a:rPr>
              <a:t>3. High Availability Tier (Tier IV)</a:t>
            </a:r>
          </a:p>
          <a:p>
            <a:pPr marL="12700" marR="5080"/>
            <a:r>
              <a:rPr lang="en-US" sz="1400" dirty="0">
                <a:solidFill>
                  <a:schemeClr val="accent2"/>
                </a:solidFill>
                <a:latin typeface="Google Sans"/>
              </a:rPr>
              <a:t>Target: </a:t>
            </a:r>
            <a:r>
              <a:rPr lang="en-US" sz="1400" dirty="0">
                <a:solidFill>
                  <a:schemeClr val="accent6"/>
                </a:solidFill>
                <a:latin typeface="Google Sans"/>
              </a:rPr>
              <a:t>Mission-critical, financial, large-scale SaaS, healthcare.</a:t>
            </a:r>
          </a:p>
          <a:p>
            <a:pPr marL="12700" marR="5080"/>
            <a:r>
              <a:rPr lang="en-US" sz="1400" dirty="0">
                <a:solidFill>
                  <a:schemeClr val="accent2"/>
                </a:solidFill>
                <a:latin typeface="Google Sans"/>
              </a:rPr>
              <a:t>Implementation:</a:t>
            </a:r>
            <a:r>
              <a:rPr lang="en-US" sz="1400" dirty="0">
                <a:solidFill>
                  <a:schemeClr val="accent6"/>
                </a:solidFill>
                <a:latin typeface="Google Sans"/>
              </a:rPr>
              <a:t> Fault-tolerant infrastructure (2N or 2N+1) with automatic failover.</a:t>
            </a:r>
          </a:p>
          <a:p>
            <a:pPr marL="12700" marR="5080"/>
            <a:r>
              <a:rPr lang="en-US" sz="1400" dirty="0">
                <a:solidFill>
                  <a:schemeClr val="accent6"/>
                </a:solidFill>
                <a:latin typeface="Google Sans"/>
              </a:rPr>
              <a:t>Detailed Steps:</a:t>
            </a:r>
          </a:p>
          <a:p>
            <a:pPr marL="12700" marR="5080"/>
            <a:r>
              <a:rPr lang="en-US" sz="1400" dirty="0">
                <a:solidFill>
                  <a:schemeClr val="accent2"/>
                </a:solidFill>
                <a:latin typeface="Google Sans"/>
              </a:rPr>
              <a:t>Infrastructure: </a:t>
            </a:r>
            <a:r>
              <a:rPr lang="en-US" sz="1400" dirty="0">
                <a:solidFill>
                  <a:schemeClr val="accent6"/>
                </a:solidFill>
                <a:latin typeface="Google Sans"/>
              </a:rPr>
              <a:t>Geographically dispersed redundant systems.</a:t>
            </a:r>
          </a:p>
          <a:p>
            <a:pPr marL="12700" marR="5080"/>
            <a:r>
              <a:rPr lang="en-US" sz="1400" dirty="0">
                <a:solidFill>
                  <a:schemeClr val="accent2"/>
                </a:solidFill>
                <a:latin typeface="Google Sans"/>
              </a:rPr>
              <a:t>Data: </a:t>
            </a:r>
            <a:r>
              <a:rPr lang="en-US" sz="1400" dirty="0">
                <a:solidFill>
                  <a:schemeClr val="accent6"/>
                </a:solidFill>
                <a:latin typeface="Google Sans"/>
              </a:rPr>
              <a:t>Real-time data mirroring across multiple Availability Zones or Regions.</a:t>
            </a:r>
          </a:p>
          <a:p>
            <a:pPr marL="12700" marR="5080"/>
            <a:r>
              <a:rPr lang="en-US" sz="1400" dirty="0">
                <a:solidFill>
                  <a:schemeClr val="accent2"/>
                </a:solidFill>
                <a:latin typeface="Google Sans"/>
              </a:rPr>
              <a:t>Network: </a:t>
            </a:r>
            <a:r>
              <a:rPr lang="en-US" sz="1400" dirty="0">
                <a:solidFill>
                  <a:schemeClr val="accent6"/>
                </a:solidFill>
                <a:latin typeface="Google Sans"/>
              </a:rPr>
              <a:t>Two fully active, independent distribution paths.</a:t>
            </a:r>
          </a:p>
          <a:p>
            <a:pPr marL="12700" marR="5080"/>
            <a:r>
              <a:rPr lang="en-US" sz="1400" dirty="0">
                <a:solidFill>
                  <a:schemeClr val="accent2"/>
                </a:solidFill>
                <a:latin typeface="Google Sans"/>
              </a:rPr>
              <a:t>Failover: </a:t>
            </a:r>
            <a:r>
              <a:rPr lang="en-US" sz="1400" dirty="0">
                <a:solidFill>
                  <a:schemeClr val="accent6"/>
                </a:solidFill>
                <a:latin typeface="Google Sans"/>
              </a:rPr>
              <a:t>Automated, instantaneous failover (no human intervention)</a:t>
            </a:r>
          </a:p>
        </p:txBody>
      </p:sp>
      <p:grpSp>
        <p:nvGrpSpPr>
          <p:cNvPr id="7" name="Group 6">
            <a:extLst>
              <a:ext uri="{FF2B5EF4-FFF2-40B4-BE49-F238E27FC236}">
                <a16:creationId xmlns:a16="http://schemas.microsoft.com/office/drawing/2014/main" id="{8EE1BAD3-B830-C3A1-ADA1-34A04FB97694}"/>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3CBBBF8-5E92-AD5F-EBE3-EA73E9D1D64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6D7C0763-8402-43C7-8EA5-025D2FCEAF1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 A Bit more in Detail</a:t>
              </a:r>
              <a:endParaRPr lang="en-US" sz="2500" kern="1200" dirty="0">
                <a:solidFill>
                  <a:schemeClr val="bg1"/>
                </a:solidFill>
              </a:endParaRPr>
            </a:p>
          </p:txBody>
        </p:sp>
      </p:grpSp>
      <p:pic>
        <p:nvPicPr>
          <p:cNvPr id="10" name="Picture 9">
            <a:extLst>
              <a:ext uri="{FF2B5EF4-FFF2-40B4-BE49-F238E27FC236}">
                <a16:creationId xmlns:a16="http://schemas.microsoft.com/office/drawing/2014/main" id="{63286FF3-17BF-89F5-C275-F82B714B7F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008768"/>
            <a:ext cx="9067800" cy="2934831"/>
          </a:xfrm>
          <a:prstGeom prst="rect">
            <a:avLst/>
          </a:prstGeom>
        </p:spPr>
      </p:pic>
    </p:spTree>
    <p:extLst>
      <p:ext uri="{BB962C8B-B14F-4D97-AF65-F5344CB8AC3E}">
        <p14:creationId xmlns:p14="http://schemas.microsoft.com/office/powerpoint/2010/main" val="100421232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BADCD-A3B5-4274-6720-59A140F942B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0932852-22C0-0D35-0370-5345AD880EA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1F94181-7188-5CBF-98FC-AF5E8C4A451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848D2B8-9BCF-3C2B-FF18-E7115A4BF7F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A2243EF-641E-DBCB-77C5-7B25C5B0E183}"/>
              </a:ext>
            </a:extLst>
          </p:cNvPr>
          <p:cNvSpPr txBox="1">
            <a:spLocks/>
          </p:cNvSpPr>
          <p:nvPr/>
        </p:nvSpPr>
        <p:spPr>
          <a:xfrm>
            <a:off x="76200" y="697468"/>
            <a:ext cx="8624937" cy="20774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Availability Tiers</a:t>
            </a:r>
          </a:p>
          <a:p>
            <a:pPr marL="12700" marR="5080"/>
            <a:r>
              <a:rPr lang="en-US" sz="1700" dirty="0">
                <a:solidFill>
                  <a:schemeClr val="accent2"/>
                </a:solidFill>
                <a:latin typeface="Google Sans"/>
              </a:rPr>
              <a:t>Key Considerations for Implementation</a:t>
            </a:r>
          </a:p>
          <a:p>
            <a:pPr marL="12700" marR="5080"/>
            <a:r>
              <a:rPr lang="en-US" sz="1400" dirty="0">
                <a:solidFill>
                  <a:schemeClr val="accent2"/>
                </a:solidFill>
                <a:latin typeface="Google Sans"/>
              </a:rPr>
              <a:t>Cost vs. Reward: </a:t>
            </a:r>
            <a:r>
              <a:rPr lang="en-US" sz="1400" dirty="0">
                <a:solidFill>
                  <a:schemeClr val="accent6"/>
                </a:solidFill>
                <a:latin typeface="Google Sans"/>
              </a:rPr>
              <a:t>Higher tiers cost significantly more. Ensure the cost of downtime exceeds the cost of higher-tier infrastructure.</a:t>
            </a:r>
          </a:p>
          <a:p>
            <a:pPr marL="12700" marR="5080"/>
            <a:r>
              <a:rPr lang="en-US" sz="1400" dirty="0">
                <a:solidFill>
                  <a:schemeClr val="accent2"/>
                </a:solidFill>
                <a:latin typeface="Google Sans"/>
              </a:rPr>
              <a:t>RTO/RPO: </a:t>
            </a:r>
            <a:r>
              <a:rPr lang="en-US" sz="1400" dirty="0">
                <a:solidFill>
                  <a:schemeClr val="accent6"/>
                </a:solidFill>
                <a:latin typeface="Google Sans"/>
              </a:rPr>
              <a:t>Define Recovery Time Objective (how fast to restore) and Recovery Point Objective (how much data loss is acceptable).</a:t>
            </a:r>
          </a:p>
          <a:p>
            <a:pPr marL="12700" marR="5080"/>
            <a:r>
              <a:rPr lang="en-US" sz="1400" dirty="0">
                <a:solidFill>
                  <a:schemeClr val="accent2"/>
                </a:solidFill>
                <a:latin typeface="Google Sans"/>
              </a:rPr>
              <a:t>Testing:</a:t>
            </a:r>
            <a:r>
              <a:rPr lang="en-US" sz="1400" dirty="0">
                <a:solidFill>
                  <a:schemeClr val="accent6"/>
                </a:solidFill>
                <a:latin typeface="Google Sans"/>
              </a:rPr>
              <a:t> Regularly conduct Chaos Engineering (e.g., chaos monkey) to test failover capabilities.</a:t>
            </a:r>
          </a:p>
          <a:p>
            <a:pPr marL="12700" marR="5080"/>
            <a:r>
              <a:rPr lang="en-US" sz="1400" dirty="0">
                <a:solidFill>
                  <a:schemeClr val="accent2"/>
                </a:solidFill>
                <a:latin typeface="Google Sans"/>
              </a:rPr>
              <a:t>Automation: </a:t>
            </a:r>
            <a:r>
              <a:rPr lang="en-US" sz="1400" dirty="0">
                <a:solidFill>
                  <a:schemeClr val="accent6"/>
                </a:solidFill>
                <a:latin typeface="Google Sans"/>
              </a:rPr>
              <a:t>Automate backups, failover procedures, and infrastructure deployment using Infrastructure as Code (</a:t>
            </a:r>
            <a:r>
              <a:rPr lang="en-US" sz="1400" dirty="0" err="1">
                <a:solidFill>
                  <a:schemeClr val="accent6"/>
                </a:solidFill>
                <a:latin typeface="Google Sans"/>
              </a:rPr>
              <a:t>IaC</a:t>
            </a:r>
            <a:r>
              <a:rPr lang="en-US" sz="1400" dirty="0">
                <a:solidFill>
                  <a:schemeClr val="accent6"/>
                </a:solidFill>
                <a:latin typeface="Google Sans"/>
              </a:rPr>
              <a:t>).</a:t>
            </a:r>
          </a:p>
        </p:txBody>
      </p:sp>
      <p:grpSp>
        <p:nvGrpSpPr>
          <p:cNvPr id="7" name="Group 6">
            <a:extLst>
              <a:ext uri="{FF2B5EF4-FFF2-40B4-BE49-F238E27FC236}">
                <a16:creationId xmlns:a16="http://schemas.microsoft.com/office/drawing/2014/main" id="{8A238D87-B39D-E171-13D4-07CB1D007EC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7A2A5AF-7BE4-3179-5ACF-423A82049A0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ACBF79D-6E02-7D0C-5F1E-47886A537D7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 A Bit more in Detail</a:t>
              </a:r>
              <a:endParaRPr lang="en-US" sz="2500" kern="1200" dirty="0">
                <a:solidFill>
                  <a:schemeClr val="bg1"/>
                </a:solidFill>
              </a:endParaRPr>
            </a:p>
          </p:txBody>
        </p:sp>
      </p:grpSp>
    </p:spTree>
    <p:extLst>
      <p:ext uri="{BB962C8B-B14F-4D97-AF65-F5344CB8AC3E}">
        <p14:creationId xmlns:p14="http://schemas.microsoft.com/office/powerpoint/2010/main" val="463963779"/>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76200" y="697468"/>
            <a:ext cx="8624937" cy="592469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300" dirty="0">
                <a:solidFill>
                  <a:schemeClr val="accent2"/>
                </a:solidFill>
                <a:latin typeface="Google Sans"/>
              </a:rPr>
              <a:t>Correlation(Correlated Redundancy)</a:t>
            </a:r>
          </a:p>
          <a:p>
            <a:pPr marL="12700" marR="5080"/>
            <a:r>
              <a:rPr lang="en-US" sz="1300" dirty="0">
                <a:solidFill>
                  <a:schemeClr val="accent6"/>
                </a:solidFill>
                <a:latin typeface="Google Sans"/>
              </a:rPr>
              <a:t>If I have 2 machines at the same place &amp; there has been some power failure then both the machines will go down since the failure of both is due to the same reason(i.e. the failure reason is correlated).So we should plan for correlated redundancy situations as well and that’s one of the main reasons why most of the Cloud Providers divide their cloud into Regions, Zones, Data Centers &amp; other levels of granularity.</a:t>
            </a:r>
          </a:p>
          <a:p>
            <a:pPr marL="12700" marR="5080"/>
            <a:r>
              <a:rPr lang="en-US" sz="1300" dirty="0">
                <a:solidFill>
                  <a:schemeClr val="accent2"/>
                </a:solidFill>
                <a:latin typeface="Google Sans"/>
              </a:rPr>
              <a:t>Network Availability &amp; Scalability -   </a:t>
            </a:r>
          </a:p>
          <a:p>
            <a:pPr marL="12700" marR="5080"/>
            <a:r>
              <a:rPr lang="en-US" sz="1300" dirty="0">
                <a:solidFill>
                  <a:schemeClr val="accent6"/>
                </a:solidFill>
                <a:latin typeface="Google Sans"/>
              </a:rPr>
              <a:t>Network availability is a measure of how well a network can respond to performance and connectivity demands, while network scalability is a network's ability to handle increased amounts of change:</a:t>
            </a:r>
          </a:p>
          <a:p>
            <a:pPr marL="12700" marR="5080"/>
            <a:r>
              <a:rPr lang="en-US" sz="1300" dirty="0">
                <a:solidFill>
                  <a:schemeClr val="accent2"/>
                </a:solidFill>
                <a:latin typeface="Google Sans"/>
              </a:rPr>
              <a:t>Network availability</a:t>
            </a:r>
          </a:p>
          <a:p>
            <a:pPr marL="12700" marR="5080"/>
            <a:r>
              <a:rPr lang="en-US" sz="1300" dirty="0">
                <a:solidFill>
                  <a:schemeClr val="accent6"/>
                </a:solidFill>
                <a:latin typeface="Google Sans"/>
              </a:rPr>
              <a:t>Also known as network uptime, this is a measure of how well a network can respond to performance and connectivity demands. A common goal for organizations is to achieve five nines (99.999%) of availability. </a:t>
            </a:r>
          </a:p>
          <a:p>
            <a:pPr marL="12700" marR="5080"/>
            <a:r>
              <a:rPr lang="en-US" sz="1300" dirty="0">
                <a:solidFill>
                  <a:schemeClr val="accent2"/>
                </a:solidFill>
                <a:latin typeface="Google Sans"/>
              </a:rPr>
              <a:t>Network scalability</a:t>
            </a:r>
          </a:p>
          <a:p>
            <a:pPr marL="12700" marR="5080"/>
            <a:r>
              <a:rPr lang="en-US" sz="1300" dirty="0">
                <a:solidFill>
                  <a:schemeClr val="accent6"/>
                </a:solidFill>
                <a:latin typeface="Google Sans"/>
              </a:rPr>
              <a:t>A scalable network can efficiently manage increased amounts of users, devices, or data, while maintaining stable and reliable performance. </a:t>
            </a:r>
          </a:p>
          <a:p>
            <a:pPr marL="12700" marR="5080"/>
            <a:r>
              <a:rPr lang="en-US" sz="1300" dirty="0">
                <a:solidFill>
                  <a:schemeClr val="accent2"/>
                </a:solidFill>
                <a:latin typeface="Google Sans"/>
              </a:rPr>
              <a:t>Here are some strategies for ensuring network availability and reliability:</a:t>
            </a:r>
          </a:p>
          <a:p>
            <a:pPr marL="12700" marR="5080"/>
            <a:r>
              <a:rPr lang="en-US" sz="1300" dirty="0">
                <a:solidFill>
                  <a:schemeClr val="accent6"/>
                </a:solidFill>
                <a:latin typeface="Google Sans"/>
              </a:rPr>
              <a:t>Design redundancy into the network architecture</a:t>
            </a:r>
          </a:p>
          <a:p>
            <a:pPr marL="12700" marR="5080"/>
            <a:r>
              <a:rPr lang="en-US" sz="1300" dirty="0">
                <a:solidFill>
                  <a:schemeClr val="accent6"/>
                </a:solidFill>
                <a:latin typeface="Google Sans"/>
              </a:rPr>
              <a:t>Monitor performance</a:t>
            </a:r>
          </a:p>
          <a:p>
            <a:pPr marL="12700" marR="5080"/>
            <a:r>
              <a:rPr lang="en-US" sz="1300" dirty="0">
                <a:solidFill>
                  <a:schemeClr val="accent6"/>
                </a:solidFill>
                <a:latin typeface="Google Sans"/>
              </a:rPr>
              <a:t>Implement security</a:t>
            </a:r>
          </a:p>
          <a:p>
            <a:pPr marL="12700" marR="5080"/>
            <a:r>
              <a:rPr lang="en-US" sz="1300" dirty="0">
                <a:solidFill>
                  <a:schemeClr val="accent6"/>
                </a:solidFill>
                <a:latin typeface="Google Sans"/>
              </a:rPr>
              <a:t>Update and patch</a:t>
            </a:r>
          </a:p>
          <a:p>
            <a:pPr marL="12700" marR="5080"/>
            <a:r>
              <a:rPr lang="en-US" sz="1300" dirty="0">
                <a:solidFill>
                  <a:schemeClr val="accent6"/>
                </a:solidFill>
                <a:latin typeface="Google Sans"/>
              </a:rPr>
              <a:t>Test and backup</a:t>
            </a:r>
          </a:p>
          <a:p>
            <a:pPr marL="12700" marR="5080"/>
            <a:r>
              <a:rPr lang="en-US" sz="1300" dirty="0">
                <a:solidFill>
                  <a:schemeClr val="accent6"/>
                </a:solidFill>
                <a:latin typeface="Google Sans"/>
              </a:rPr>
              <a:t>Train and document </a:t>
            </a:r>
          </a:p>
          <a:p>
            <a:pPr marL="12700" marR="5080"/>
            <a:r>
              <a:rPr lang="en-US" sz="1300" dirty="0">
                <a:solidFill>
                  <a:schemeClr val="accent6"/>
                </a:solidFill>
                <a:latin typeface="Google Sans"/>
              </a:rPr>
              <a:t>Load balancing can also improve a network's availability, scalability, security, and performance by directing and controlling internet traffic between application servers and their clients</a:t>
            </a:r>
          </a:p>
          <a:p>
            <a:pPr marL="12700" marR="5080"/>
            <a:r>
              <a:rPr lang="en-US" sz="1300" dirty="0">
                <a:solidFill>
                  <a:schemeClr val="accent2"/>
                </a:solidFill>
                <a:latin typeface="Google Sans"/>
              </a:rPr>
              <a:t>For Further Exploration- </a:t>
            </a:r>
          </a:p>
          <a:p>
            <a:pPr marL="12700" marR="5080"/>
            <a:r>
              <a:rPr lang="en-US" sz="1200" dirty="0">
                <a:hlinkClick r:id="rId2"/>
              </a:rPr>
              <a:t>What Is Network Scalability? How to Optimize for Growth | Nile</a:t>
            </a:r>
            <a:endParaRPr lang="en-US" sz="1200" dirty="0"/>
          </a:p>
          <a:p>
            <a:pPr marL="12700" marR="5080"/>
            <a:r>
              <a:rPr lang="en-US" sz="1200" dirty="0">
                <a:hlinkClick r:id="rId3"/>
              </a:rPr>
              <a:t>What is Network Availability? - IT Glossary | SolarWinds </a:t>
            </a:r>
            <a:endParaRPr lang="en-US" sz="1200" dirty="0"/>
          </a:p>
          <a:p>
            <a:pPr marL="12700" marR="5080"/>
            <a:r>
              <a:rPr lang="en-US" sz="1200" dirty="0">
                <a:hlinkClick r:id="rId4"/>
              </a:rPr>
              <a:t>What Is Network Availability? | F5</a:t>
            </a:r>
            <a:endParaRPr lang="en-US" sz="1200" kern="0" spc="-80" dirty="0">
              <a:solidFill>
                <a:schemeClr val="accent6"/>
              </a:solidFill>
            </a:endParaRPr>
          </a:p>
          <a:p>
            <a:pPr marL="12700" marR="5080"/>
            <a:endParaRPr lang="en-US" sz="1200" dirty="0">
              <a:solidFill>
                <a:schemeClr val="accent6"/>
              </a:solidFill>
              <a:latin typeface="Google Sans"/>
            </a:endParaRPr>
          </a:p>
          <a:p>
            <a:pPr marL="12700" marR="5080"/>
            <a:endParaRPr lang="en-US" sz="1300" dirty="0">
              <a:solidFill>
                <a:schemeClr val="accent6"/>
              </a:solidFill>
              <a:latin typeface="Google Sans"/>
            </a:endParaRPr>
          </a:p>
        </p:txBody>
      </p:sp>
      <p:grpSp>
        <p:nvGrpSpPr>
          <p:cNvPr id="7" name="Group 6">
            <a:extLst>
              <a:ext uri="{FF2B5EF4-FFF2-40B4-BE49-F238E27FC236}">
                <a16:creationId xmlns:a16="http://schemas.microsoft.com/office/drawing/2014/main" id="{DA5D476C-912E-D8EE-7AF9-61F2A213ED11}"/>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F51E7C8-A06B-44D5-EB2A-9C5C951E4E3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D730F74-F0C2-9ACC-B08B-AFFAE8FBDE7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Availability – A Bit more in Detail</a:t>
              </a:r>
              <a:endParaRPr lang="en-US" sz="2500" kern="1200" dirty="0">
                <a:solidFill>
                  <a:schemeClr val="bg1"/>
                </a:solidFill>
              </a:endParaRPr>
            </a:p>
          </p:txBody>
        </p:sp>
      </p:grpSp>
    </p:spTree>
    <p:extLst>
      <p:ext uri="{BB962C8B-B14F-4D97-AF65-F5344CB8AC3E}">
        <p14:creationId xmlns:p14="http://schemas.microsoft.com/office/powerpoint/2010/main" val="155096068"/>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96CC6-D7C9-E333-3800-A9124DF3B94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5D222F1-6225-F84E-D221-17DFA115EA1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5B96E01-499D-D666-3176-784B00CCCF0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0E7E91B-9D2C-30E9-7CF6-4DFBD0A3C38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36136E5A-EF90-ED6D-2056-56BE1BFC08CE}"/>
              </a:ext>
            </a:extLst>
          </p:cNvPr>
          <p:cNvSpPr txBox="1">
            <a:spLocks/>
          </p:cNvSpPr>
          <p:nvPr/>
        </p:nvSpPr>
        <p:spPr>
          <a:xfrm>
            <a:off x="76200" y="697468"/>
            <a:ext cx="8624937" cy="19236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solidFill>
                  <a:schemeClr val="accent6"/>
                </a:solidFill>
                <a:latin typeface="Google Sans"/>
              </a:rPr>
              <a:t>Fault Tolerance and Resiliency are both critical, complementary concepts in software architecture and systems engineering that ensure system stability, but they operate on different principles. </a:t>
            </a:r>
          </a:p>
          <a:p>
            <a:pPr marL="12700" marR="5080"/>
            <a:r>
              <a:rPr lang="en-US" sz="1500" dirty="0">
                <a:solidFill>
                  <a:schemeClr val="accent2"/>
                </a:solidFill>
                <a:latin typeface="Google Sans"/>
              </a:rPr>
              <a:t>Fault Tolerance</a:t>
            </a:r>
            <a:r>
              <a:rPr lang="en-US" sz="1500" dirty="0">
                <a:solidFill>
                  <a:schemeClr val="accent6"/>
                </a:solidFill>
                <a:latin typeface="Google Sans"/>
              </a:rPr>
              <a:t> is a proactive approach, designed to prevent a system from failing even if components break, ensuring zero downtime.</a:t>
            </a:r>
          </a:p>
          <a:p>
            <a:pPr marL="12700" marR="5080"/>
            <a:r>
              <a:rPr lang="en-US" sz="1500" dirty="0">
                <a:solidFill>
                  <a:schemeClr val="accent2"/>
                </a:solidFill>
                <a:latin typeface="Google Sans"/>
              </a:rPr>
              <a:t>Resiliency</a:t>
            </a:r>
            <a:r>
              <a:rPr lang="en-US" sz="1500" dirty="0">
                <a:solidFill>
                  <a:schemeClr val="accent6"/>
                </a:solidFill>
                <a:latin typeface="Google Sans"/>
              </a:rPr>
              <a:t> is a reactive/adaptive approach, focusing on a system's ability to recover from unexpected failures, adapt to, and bounce back to a normal state. </a:t>
            </a:r>
          </a:p>
          <a:p>
            <a:pPr marL="12700" marR="5080"/>
            <a:endParaRPr lang="en-US" sz="1500" dirty="0">
              <a:solidFill>
                <a:schemeClr val="accent6"/>
              </a:solidFill>
              <a:latin typeface="Google Sans"/>
            </a:endParaRPr>
          </a:p>
          <a:p>
            <a:pPr marL="12700" marR="5080"/>
            <a:r>
              <a:rPr lang="en-US" sz="2000" dirty="0">
                <a:solidFill>
                  <a:schemeClr val="accent2"/>
                </a:solidFill>
                <a:latin typeface="Google Sans"/>
              </a:rPr>
              <a:t>Comparison</a:t>
            </a:r>
          </a:p>
        </p:txBody>
      </p:sp>
      <p:grpSp>
        <p:nvGrpSpPr>
          <p:cNvPr id="7" name="Group 6">
            <a:extLst>
              <a:ext uri="{FF2B5EF4-FFF2-40B4-BE49-F238E27FC236}">
                <a16:creationId xmlns:a16="http://schemas.microsoft.com/office/drawing/2014/main" id="{808856CD-0410-93DA-6CB8-AE658352C9B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FA50914-4A60-7FA2-CB6F-D7D27FBBF75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2B79C3E-FF34-7E47-1A8A-67C0EAC8AA4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lvl="0" defTabSz="1111250">
                <a:lnSpc>
                  <a:spcPct val="90000"/>
                </a:lnSpc>
                <a:spcBef>
                  <a:spcPct val="0"/>
                </a:spcBef>
                <a:spcAft>
                  <a:spcPct val="35000"/>
                </a:spcAft>
              </a:pPr>
              <a:r>
                <a:rPr lang="en-US" sz="2500" b="1" dirty="0"/>
                <a:t>Fault Tolerance And Resiliency</a:t>
              </a:r>
              <a:endParaRPr lang="en-US" sz="2500" dirty="0">
                <a:solidFill>
                  <a:schemeClr val="bg1"/>
                </a:solidFill>
              </a:endParaRPr>
            </a:p>
          </p:txBody>
        </p:sp>
      </p:grpSp>
      <p:pic>
        <p:nvPicPr>
          <p:cNvPr id="10" name="Picture 9">
            <a:extLst>
              <a:ext uri="{FF2B5EF4-FFF2-40B4-BE49-F238E27FC236}">
                <a16:creationId xmlns:a16="http://schemas.microsoft.com/office/drawing/2014/main" id="{55E1A90C-EA06-9D2C-8090-C474B63912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99" y="2685604"/>
            <a:ext cx="9043209" cy="3257996"/>
          </a:xfrm>
          <a:prstGeom prst="rect">
            <a:avLst/>
          </a:prstGeom>
        </p:spPr>
      </p:pic>
    </p:spTree>
    <p:extLst>
      <p:ext uri="{BB962C8B-B14F-4D97-AF65-F5344CB8AC3E}">
        <p14:creationId xmlns:p14="http://schemas.microsoft.com/office/powerpoint/2010/main" val="382111173"/>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6D8F1-411D-8D1A-EFA2-02D00B25D6A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F2E303F-FA56-B350-57CC-1A725E951BF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525A50C-312A-4280-E8A8-8ED4F149632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0BD99E0-7CC7-000F-D22B-EFA3036E756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4C8ACA92-65E0-AB61-D37C-DDCAA3B4B93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E2567C9-FAEC-0FE4-2E77-0FD0CE16813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B559F33-2874-D2CC-924A-926EA2A4A75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lvl="0" defTabSz="1111250">
                <a:lnSpc>
                  <a:spcPct val="90000"/>
                </a:lnSpc>
                <a:spcBef>
                  <a:spcPct val="0"/>
                </a:spcBef>
                <a:spcAft>
                  <a:spcPct val="35000"/>
                </a:spcAft>
              </a:pPr>
              <a:r>
                <a:rPr lang="en-US" sz="2500" b="1" dirty="0"/>
                <a:t>Fault Tolerance And Resiliency</a:t>
              </a:r>
              <a:endParaRPr lang="en-US" sz="2500" dirty="0">
                <a:solidFill>
                  <a:schemeClr val="bg1"/>
                </a:solidFill>
              </a:endParaRPr>
            </a:p>
          </p:txBody>
        </p:sp>
      </p:grpSp>
      <p:pic>
        <p:nvPicPr>
          <p:cNvPr id="11" name="Picture 10">
            <a:extLst>
              <a:ext uri="{FF2B5EF4-FFF2-40B4-BE49-F238E27FC236}">
                <a16:creationId xmlns:a16="http://schemas.microsoft.com/office/drawing/2014/main" id="{BE070A23-5765-9043-C67C-A843B1E8CC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11" y="1000784"/>
            <a:ext cx="8870489" cy="250723"/>
          </a:xfrm>
          <a:prstGeom prst="rect">
            <a:avLst/>
          </a:prstGeom>
        </p:spPr>
      </p:pic>
      <p:pic>
        <p:nvPicPr>
          <p:cNvPr id="13" name="Picture 12">
            <a:extLst>
              <a:ext uri="{FF2B5EF4-FFF2-40B4-BE49-F238E27FC236}">
                <a16:creationId xmlns:a16="http://schemas.microsoft.com/office/drawing/2014/main" id="{071C8D41-A35A-6758-7F65-1371B59C11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1251507"/>
            <a:ext cx="8870488" cy="2853389"/>
          </a:xfrm>
          <a:prstGeom prst="rect">
            <a:avLst/>
          </a:prstGeom>
        </p:spPr>
      </p:pic>
      <p:sp>
        <p:nvSpPr>
          <p:cNvPr id="14" name="object 2">
            <a:extLst>
              <a:ext uri="{FF2B5EF4-FFF2-40B4-BE49-F238E27FC236}">
                <a16:creationId xmlns:a16="http://schemas.microsoft.com/office/drawing/2014/main" id="{6744AC69-49AF-4046-2A2F-072A080E8E65}"/>
              </a:ext>
            </a:extLst>
          </p:cNvPr>
          <p:cNvSpPr txBox="1">
            <a:spLocks/>
          </p:cNvSpPr>
          <p:nvPr/>
        </p:nvSpPr>
        <p:spPr>
          <a:xfrm>
            <a:off x="76200" y="697468"/>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Comparison</a:t>
            </a:r>
          </a:p>
        </p:txBody>
      </p:sp>
    </p:spTree>
    <p:extLst>
      <p:ext uri="{BB962C8B-B14F-4D97-AF65-F5344CB8AC3E}">
        <p14:creationId xmlns:p14="http://schemas.microsoft.com/office/powerpoint/2010/main" val="6549356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CBDD2-6B8D-6734-0B73-80D4567CDE0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7B42DC0-5EBE-4CD3-4734-C404060D52D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DD4E288-BC5F-3CCD-BA5D-AB0716D6728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823E0AA-00F3-959D-2936-4210516EB75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0382DA5-340D-4E04-A935-1A276E56094E}"/>
              </a:ext>
            </a:extLst>
          </p:cNvPr>
          <p:cNvSpPr txBox="1">
            <a:spLocks/>
          </p:cNvSpPr>
          <p:nvPr/>
        </p:nvSpPr>
        <p:spPr>
          <a:xfrm>
            <a:off x="76200" y="697468"/>
            <a:ext cx="8624937" cy="50013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Breakdown</a:t>
            </a:r>
          </a:p>
          <a:p>
            <a:pPr marL="12700" marR="5080"/>
            <a:r>
              <a:rPr lang="en-US" sz="1500" dirty="0">
                <a:solidFill>
                  <a:schemeClr val="accent2"/>
                </a:solidFill>
                <a:latin typeface="Google Sans"/>
              </a:rPr>
              <a:t>Fault Tolerance (The "No Downtime" Approach) </a:t>
            </a:r>
          </a:p>
          <a:p>
            <a:pPr marL="12700" marR="5080"/>
            <a:r>
              <a:rPr lang="en-US" sz="1500" dirty="0">
                <a:solidFill>
                  <a:schemeClr val="accent6"/>
                </a:solidFill>
                <a:latin typeface="Google Sans"/>
              </a:rPr>
              <a:t>Fault tolerance is about building a system that can withstand a failure (e.g., a server crash) and continue providing service without any downtime. This is often achieved through redundancy—having standby components ready to take over immediately, or running active-active components. </a:t>
            </a:r>
          </a:p>
          <a:p>
            <a:pPr marL="12700" marR="5080"/>
            <a:r>
              <a:rPr lang="en-US" sz="1500" dirty="0">
                <a:solidFill>
                  <a:schemeClr val="accent2"/>
                </a:solidFill>
                <a:latin typeface="Google Sans"/>
              </a:rPr>
              <a:t>Key Techniques:</a:t>
            </a:r>
            <a:r>
              <a:rPr lang="en-US" sz="1500" dirty="0">
                <a:solidFill>
                  <a:schemeClr val="accent6"/>
                </a:solidFill>
                <a:latin typeface="Google Sans"/>
              </a:rPr>
              <a:t> Mirroring, Lockstep processors, RAID storage, Load Balancers.</a:t>
            </a:r>
          </a:p>
          <a:p>
            <a:pPr marL="12700" marR="5080"/>
            <a:r>
              <a:rPr lang="en-US" sz="1500" dirty="0">
                <a:solidFill>
                  <a:schemeClr val="accent2"/>
                </a:solidFill>
                <a:latin typeface="Google Sans"/>
              </a:rPr>
              <a:t>Best for: </a:t>
            </a:r>
            <a:r>
              <a:rPr lang="en-US" sz="1500" dirty="0">
                <a:solidFill>
                  <a:schemeClr val="accent6"/>
                </a:solidFill>
                <a:latin typeface="Google Sans"/>
              </a:rPr>
              <a:t>Mission-critical systems (e.g., flight control systems, banking, healthcare) where downtime means total failure. </a:t>
            </a:r>
          </a:p>
          <a:p>
            <a:pPr marL="12700" marR="5080"/>
            <a:r>
              <a:rPr lang="en-US" sz="1500" dirty="0">
                <a:solidFill>
                  <a:schemeClr val="accent2"/>
                </a:solidFill>
                <a:latin typeface="Google Sans"/>
              </a:rPr>
              <a:t>Resiliency (The "Bounce Back" Approach)</a:t>
            </a:r>
          </a:p>
          <a:p>
            <a:pPr marL="12700" marR="5080"/>
            <a:r>
              <a:rPr lang="en-US" sz="1500" dirty="0">
                <a:solidFill>
                  <a:schemeClr val="accent6"/>
                </a:solidFill>
                <a:latin typeface="Google Sans"/>
              </a:rPr>
              <a:t>Resiliency focuses on the ability of a system to "bounce back" after a disruption. It acknowledges that failures will happen and designs the system to handle them gracefully. It is about how a system handles unexpected scenarios, adapting to them to remain functional at some level. </a:t>
            </a:r>
          </a:p>
          <a:p>
            <a:pPr marL="12700" marR="5080"/>
            <a:r>
              <a:rPr lang="en-US" sz="1500" dirty="0">
                <a:solidFill>
                  <a:schemeClr val="accent2"/>
                </a:solidFill>
                <a:latin typeface="Google Sans"/>
              </a:rPr>
              <a:t>Key Techniques: </a:t>
            </a:r>
            <a:r>
              <a:rPr lang="en-US" sz="1500" dirty="0">
                <a:solidFill>
                  <a:schemeClr val="accent6"/>
                </a:solidFill>
                <a:latin typeface="Google Sans"/>
              </a:rPr>
              <a:t>Circuit breakers (stop trying a failed service), Retries, Graceful Degradation (disabling non-essential features), Auto-scaling.</a:t>
            </a:r>
          </a:p>
          <a:p>
            <a:pPr marL="12700" marR="5080"/>
            <a:r>
              <a:rPr lang="en-US" sz="1500" dirty="0">
                <a:solidFill>
                  <a:schemeClr val="accent2"/>
                </a:solidFill>
                <a:latin typeface="Google Sans"/>
              </a:rPr>
              <a:t>Best for:</a:t>
            </a:r>
            <a:r>
              <a:rPr lang="en-US" sz="1500" dirty="0">
                <a:solidFill>
                  <a:schemeClr val="accent6"/>
                </a:solidFill>
                <a:latin typeface="Google Sans"/>
              </a:rPr>
              <a:t> Distributed systems, cloud applications, microservices, where service degradation is preferable to a total crash. </a:t>
            </a:r>
          </a:p>
          <a:p>
            <a:pPr marL="12700" marR="5080"/>
            <a:endParaRPr lang="en-US" sz="1500" dirty="0">
              <a:solidFill>
                <a:schemeClr val="accent6"/>
              </a:solidFill>
              <a:latin typeface="Google Sans"/>
            </a:endParaRPr>
          </a:p>
          <a:p>
            <a:pPr marL="12700" marR="5080"/>
            <a:r>
              <a:rPr lang="en-US" sz="2000" dirty="0">
                <a:solidFill>
                  <a:schemeClr val="accent2"/>
                </a:solidFill>
                <a:latin typeface="Google Sans"/>
              </a:rPr>
              <a:t>Key Differences</a:t>
            </a:r>
          </a:p>
          <a:p>
            <a:pPr marL="12700" marR="5080"/>
            <a:r>
              <a:rPr lang="en-US" sz="1500" dirty="0">
                <a:solidFill>
                  <a:schemeClr val="accent2"/>
                </a:solidFill>
                <a:latin typeface="Google Sans"/>
              </a:rPr>
              <a:t>Scope:</a:t>
            </a:r>
            <a:r>
              <a:rPr lang="en-US" sz="1500" dirty="0">
                <a:solidFill>
                  <a:schemeClr val="accent6"/>
                </a:solidFill>
                <a:latin typeface="Google Sans"/>
              </a:rPr>
              <a:t> Fault tolerance is generally aimed at component failures (e.g., a disk failing). Resiliency is a broader term, often applied to the entire system or service level, encompassing how the system reacts to network failures, high load, or downstream service outages.</a:t>
            </a:r>
          </a:p>
        </p:txBody>
      </p:sp>
      <p:grpSp>
        <p:nvGrpSpPr>
          <p:cNvPr id="7" name="Group 6">
            <a:extLst>
              <a:ext uri="{FF2B5EF4-FFF2-40B4-BE49-F238E27FC236}">
                <a16:creationId xmlns:a16="http://schemas.microsoft.com/office/drawing/2014/main" id="{887DE1EE-1AD6-7081-66CD-E26842281A6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95A2643-45CF-87C9-B1E5-B7B43A69988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4D60AF8-8520-CDB6-5526-BE0BA798428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lvl="0" defTabSz="1111250">
                <a:lnSpc>
                  <a:spcPct val="90000"/>
                </a:lnSpc>
                <a:spcBef>
                  <a:spcPct val="0"/>
                </a:spcBef>
                <a:spcAft>
                  <a:spcPct val="35000"/>
                </a:spcAft>
              </a:pPr>
              <a:r>
                <a:rPr lang="en-US" sz="2500" b="1" dirty="0"/>
                <a:t>Fault Tolerance And Resiliency</a:t>
              </a:r>
              <a:endParaRPr lang="en-US" sz="2500" dirty="0">
                <a:solidFill>
                  <a:schemeClr val="bg1"/>
                </a:solidFill>
              </a:endParaRPr>
            </a:p>
          </p:txBody>
        </p:sp>
      </p:grpSp>
    </p:spTree>
    <p:extLst>
      <p:ext uri="{BB962C8B-B14F-4D97-AF65-F5344CB8AC3E}">
        <p14:creationId xmlns:p14="http://schemas.microsoft.com/office/powerpoint/2010/main" val="310533914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41EE3-71AA-15EA-1046-E2B0A55DAEE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130D11F-8FDE-1071-F064-AB76FE705DB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E9E0125-8A68-5046-6C03-F25DF3EEE05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DF6ECC2-8EEA-E29A-34FE-C2F9F20409C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B348F82-C28D-B856-0F02-8B681FA288D9}"/>
              </a:ext>
            </a:extLst>
          </p:cNvPr>
          <p:cNvSpPr txBox="1">
            <a:spLocks/>
          </p:cNvSpPr>
          <p:nvPr/>
        </p:nvSpPr>
        <p:spPr>
          <a:xfrm>
            <a:off x="76200" y="697468"/>
            <a:ext cx="8624937" cy="40010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Key Differences</a:t>
            </a:r>
          </a:p>
          <a:p>
            <a:pPr marL="12700" marR="5080"/>
            <a:r>
              <a:rPr lang="en-US" sz="1500" dirty="0">
                <a:solidFill>
                  <a:schemeClr val="accent2"/>
                </a:solidFill>
                <a:latin typeface="Google Sans"/>
              </a:rPr>
              <a:t>State during failure: </a:t>
            </a:r>
            <a:r>
              <a:rPr lang="en-US" sz="1500" dirty="0">
                <a:solidFill>
                  <a:schemeClr val="accent6"/>
                </a:solidFill>
                <a:latin typeface="Google Sans"/>
              </a:rPr>
              <a:t>A fault-tolerant system operates correctly during the failure, while a resilient system might temporarily degrade or pause during the recovery process, but ultimately resumes normal operation.</a:t>
            </a:r>
          </a:p>
          <a:p>
            <a:pPr marL="12700" marR="5080"/>
            <a:r>
              <a:rPr lang="en-US" sz="1500" dirty="0">
                <a:solidFill>
                  <a:schemeClr val="accent2"/>
                </a:solidFill>
                <a:latin typeface="Google Sans"/>
              </a:rPr>
              <a:t>Nature of Failure:</a:t>
            </a:r>
            <a:r>
              <a:rPr lang="en-US" sz="1500" dirty="0">
                <a:solidFill>
                  <a:schemeClr val="accent6"/>
                </a:solidFill>
                <a:latin typeface="Google Sans"/>
              </a:rPr>
              <a:t> Fault tolerance often deals with known failure modes (e.g., "what if this server dies?"). Resiliency aims to handle unknown or complex failure scenarios. </a:t>
            </a:r>
          </a:p>
          <a:p>
            <a:pPr marL="12700" marR="5080"/>
            <a:endParaRPr lang="en-US" sz="1500" dirty="0">
              <a:solidFill>
                <a:schemeClr val="accent6"/>
              </a:solidFill>
              <a:latin typeface="Google Sans"/>
            </a:endParaRPr>
          </a:p>
          <a:p>
            <a:pPr marL="12700" marR="5080"/>
            <a:r>
              <a:rPr lang="en-US" sz="2000" dirty="0">
                <a:solidFill>
                  <a:schemeClr val="accent2"/>
                </a:solidFill>
                <a:latin typeface="Google Sans"/>
              </a:rPr>
              <a:t>Summary: </a:t>
            </a:r>
            <a:r>
              <a:rPr lang="en-US" sz="1500" dirty="0">
                <a:solidFill>
                  <a:schemeClr val="accent6"/>
                </a:solidFill>
                <a:latin typeface="Google Sans"/>
              </a:rPr>
              <a:t>You can have a system that is fault-tolerant but not resilient (e.g., it can handle a single server failure but cannot recover from a network-wide partition), or a system that is resilient but not fully fault-tolerant (e.g., it will restart a failed service, but users will feel a short delay). Combining both leads to the most robust systems. </a:t>
            </a:r>
          </a:p>
          <a:p>
            <a:pPr marL="12700" marR="5080"/>
            <a:endParaRPr lang="en-US" sz="1500" dirty="0">
              <a:solidFill>
                <a:schemeClr val="accent6"/>
              </a:solidFill>
              <a:latin typeface="Google Sans"/>
            </a:endParaRPr>
          </a:p>
          <a:p>
            <a:pPr marL="12700" marR="5080"/>
            <a:r>
              <a:rPr lang="en-US" sz="2000" dirty="0">
                <a:solidFill>
                  <a:schemeClr val="accent2"/>
                </a:solidFill>
                <a:latin typeface="Google Sans"/>
              </a:rPr>
              <a:t>Handling SPOF(Single Point of Failure) – </a:t>
            </a:r>
          </a:p>
          <a:p>
            <a:pPr marL="12700" marR="5080"/>
            <a:r>
              <a:rPr lang="en-US" sz="1500" dirty="0">
                <a:solidFill>
                  <a:schemeClr val="accent6"/>
                </a:solidFill>
                <a:latin typeface="Google Sans"/>
              </a:rPr>
              <a:t>1) A worker in a cluster can become a master using Leader Election Algo.</a:t>
            </a:r>
          </a:p>
          <a:p>
            <a:pPr marL="12700" marR="5080"/>
            <a:r>
              <a:rPr lang="en-US" sz="1500" dirty="0">
                <a:solidFill>
                  <a:schemeClr val="accent6"/>
                </a:solidFill>
                <a:latin typeface="Google Sans"/>
              </a:rPr>
              <a:t>2) If possible, have multiple SPOF resources communicate with each other via P2P Networking.</a:t>
            </a:r>
          </a:p>
          <a:p>
            <a:pPr marL="12700" marR="5080"/>
            <a:r>
              <a:rPr lang="en-US" sz="1500" dirty="0">
                <a:solidFill>
                  <a:schemeClr val="accent6"/>
                </a:solidFill>
                <a:latin typeface="Google Sans"/>
              </a:rPr>
              <a:t>3) Use vertically scaled SPOF resources</a:t>
            </a:r>
          </a:p>
          <a:p>
            <a:pPr marL="12700" marR="5080"/>
            <a:endParaRPr lang="en-US" sz="2000" dirty="0">
              <a:solidFill>
                <a:schemeClr val="accent2"/>
              </a:solidFill>
              <a:latin typeface="Google Sans"/>
            </a:endParaRPr>
          </a:p>
        </p:txBody>
      </p:sp>
      <p:grpSp>
        <p:nvGrpSpPr>
          <p:cNvPr id="7" name="Group 6">
            <a:extLst>
              <a:ext uri="{FF2B5EF4-FFF2-40B4-BE49-F238E27FC236}">
                <a16:creationId xmlns:a16="http://schemas.microsoft.com/office/drawing/2014/main" id="{D49EE013-3DBF-3BB0-5695-EB2A4DA4065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C7DDC9B-A20A-D14D-2B76-5A5204B314D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9DD8341-2491-007D-8856-021D90F1141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lvl="0" defTabSz="1111250">
                <a:lnSpc>
                  <a:spcPct val="90000"/>
                </a:lnSpc>
                <a:spcBef>
                  <a:spcPct val="0"/>
                </a:spcBef>
                <a:spcAft>
                  <a:spcPct val="35000"/>
                </a:spcAft>
              </a:pPr>
              <a:r>
                <a:rPr lang="en-US" sz="2500" b="1" dirty="0"/>
                <a:t>Fault Tolerance And Resiliency</a:t>
              </a:r>
              <a:endParaRPr lang="en-US" sz="2500" dirty="0">
                <a:solidFill>
                  <a:schemeClr val="bg1"/>
                </a:solidFill>
              </a:endParaRPr>
            </a:p>
          </p:txBody>
        </p:sp>
      </p:grpSp>
    </p:spTree>
    <p:extLst>
      <p:ext uri="{BB962C8B-B14F-4D97-AF65-F5344CB8AC3E}">
        <p14:creationId xmlns:p14="http://schemas.microsoft.com/office/powerpoint/2010/main" val="1792526044"/>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A967D-CBC1-C8FF-090E-4219E2375D4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0D607E8-2E4E-5F14-693A-BB94802ACA2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3CF2960-BD00-4BEF-5B26-E6F643730FC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80C3EC4-4B74-264A-845C-146C7483382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2531006-C3BD-55FC-57E5-52F6E640EF99}"/>
              </a:ext>
            </a:extLst>
          </p:cNvPr>
          <p:cNvSpPr txBox="1">
            <a:spLocks/>
          </p:cNvSpPr>
          <p:nvPr/>
        </p:nvSpPr>
        <p:spPr>
          <a:xfrm>
            <a:off x="76200" y="697468"/>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Failure Models (How Components Fail)</a:t>
            </a:r>
          </a:p>
          <a:p>
            <a:pPr marL="12700" marR="5080"/>
            <a:endParaRPr lang="en-US" sz="2000" dirty="0">
              <a:solidFill>
                <a:schemeClr val="accent2"/>
              </a:solidFill>
              <a:latin typeface="Google Sans"/>
            </a:endParaRPr>
          </a:p>
        </p:txBody>
      </p:sp>
      <p:grpSp>
        <p:nvGrpSpPr>
          <p:cNvPr id="7" name="Group 6">
            <a:extLst>
              <a:ext uri="{FF2B5EF4-FFF2-40B4-BE49-F238E27FC236}">
                <a16:creationId xmlns:a16="http://schemas.microsoft.com/office/drawing/2014/main" id="{56ADDEB2-1393-CBDE-1A76-36EC36C9254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F277A30-E918-DD1A-95BC-DEC09C75FE6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623EE23C-FE18-2F87-B3CC-F664E628960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lvl="0" defTabSz="1111250">
                <a:lnSpc>
                  <a:spcPct val="90000"/>
                </a:lnSpc>
                <a:spcBef>
                  <a:spcPct val="0"/>
                </a:spcBef>
                <a:spcAft>
                  <a:spcPct val="35000"/>
                </a:spcAft>
              </a:pPr>
              <a:r>
                <a:rPr lang="en-US" sz="2500" b="1" dirty="0"/>
                <a:t>Fault Tolerance And Resiliency</a:t>
              </a:r>
              <a:endParaRPr lang="en-US" sz="2500" dirty="0">
                <a:solidFill>
                  <a:schemeClr val="bg1"/>
                </a:solidFill>
              </a:endParaRPr>
            </a:p>
          </p:txBody>
        </p:sp>
      </p:grpSp>
      <p:pic>
        <p:nvPicPr>
          <p:cNvPr id="10" name="Picture 9">
            <a:extLst>
              <a:ext uri="{FF2B5EF4-FFF2-40B4-BE49-F238E27FC236}">
                <a16:creationId xmlns:a16="http://schemas.microsoft.com/office/drawing/2014/main" id="{7DCF1CE2-F8CE-62EF-CE8D-E0B3A15EA7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034058"/>
            <a:ext cx="8991600" cy="4909542"/>
          </a:xfrm>
          <a:prstGeom prst="rect">
            <a:avLst/>
          </a:prstGeom>
        </p:spPr>
      </p:pic>
    </p:spTree>
    <p:extLst>
      <p:ext uri="{BB962C8B-B14F-4D97-AF65-F5344CB8AC3E}">
        <p14:creationId xmlns:p14="http://schemas.microsoft.com/office/powerpoint/2010/main" val="3833251740"/>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2840AF-824A-15D2-4975-1A662BE2447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97C9BC2-84FD-5EC5-781A-9CE55767DF5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E46E430-4475-17EF-2D8D-B3EE39CF84C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26B5124-BA25-FC98-DA16-CFBE10270E2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315EB934-8F7A-D148-FFC4-89170B8570B0}"/>
              </a:ext>
            </a:extLst>
          </p:cNvPr>
          <p:cNvSpPr txBox="1">
            <a:spLocks/>
          </p:cNvSpPr>
          <p:nvPr/>
        </p:nvSpPr>
        <p:spPr>
          <a:xfrm>
            <a:off x="76200" y="697468"/>
            <a:ext cx="8624937" cy="17697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Types of Faults (Persistence of Failure)</a:t>
            </a:r>
          </a:p>
          <a:p>
            <a:pPr marL="12700" marR="5080"/>
            <a:r>
              <a:rPr lang="en-US" sz="1500" dirty="0">
                <a:solidFill>
                  <a:schemeClr val="accent6"/>
                </a:solidFill>
                <a:latin typeface="Google Sans"/>
              </a:rPr>
              <a:t>Faults can also be classified based on how long they last. </a:t>
            </a:r>
          </a:p>
          <a:p>
            <a:pPr marL="12700" marR="5080"/>
            <a:r>
              <a:rPr lang="en-US" sz="1500" dirty="0">
                <a:solidFill>
                  <a:schemeClr val="accent2"/>
                </a:solidFill>
                <a:latin typeface="Google Sans"/>
              </a:rPr>
              <a:t>Transient Faults: </a:t>
            </a:r>
            <a:r>
              <a:rPr lang="en-US" sz="1500" dirty="0">
                <a:solidFill>
                  <a:schemeClr val="accent6"/>
                </a:solidFill>
                <a:latin typeface="Google Sans"/>
              </a:rPr>
              <a:t>Occur once and then disappear (e.g., a momentary network glitch).</a:t>
            </a:r>
          </a:p>
          <a:p>
            <a:pPr marL="12700" marR="5080"/>
            <a:r>
              <a:rPr lang="en-US" sz="1500" dirty="0">
                <a:solidFill>
                  <a:schemeClr val="accent2"/>
                </a:solidFill>
                <a:latin typeface="Google Sans"/>
              </a:rPr>
              <a:t>Intermittent Faults:</a:t>
            </a:r>
            <a:r>
              <a:rPr lang="en-US" sz="1500" dirty="0">
                <a:solidFill>
                  <a:schemeClr val="accent6"/>
                </a:solidFill>
                <a:latin typeface="Google Sans"/>
              </a:rPr>
              <a:t> Appear, disappear, and reappear (e.g., a loose cable causes sporadic packet loss).</a:t>
            </a:r>
          </a:p>
          <a:p>
            <a:pPr marL="12700" marR="5080"/>
            <a:r>
              <a:rPr lang="en-US" sz="1500" dirty="0">
                <a:solidFill>
                  <a:schemeClr val="accent2"/>
                </a:solidFill>
                <a:latin typeface="Google Sans"/>
              </a:rPr>
              <a:t>Permanent Faults: </a:t>
            </a:r>
            <a:r>
              <a:rPr lang="en-US" sz="1500" dirty="0">
                <a:solidFill>
                  <a:schemeClr val="accent6"/>
                </a:solidFill>
                <a:latin typeface="Google Sans"/>
              </a:rPr>
              <a:t>Persist until the faulty component is repaired or replaced (e.g., a burnt-out CPU). </a:t>
            </a:r>
          </a:p>
          <a:p>
            <a:pPr marL="12700" marR="5080"/>
            <a:endParaRPr lang="en-US" sz="1500" dirty="0">
              <a:solidFill>
                <a:schemeClr val="accent6"/>
              </a:solidFill>
              <a:latin typeface="Google Sans"/>
            </a:endParaRPr>
          </a:p>
          <a:p>
            <a:pPr marL="12700" marR="5080"/>
            <a:r>
              <a:rPr lang="en-US" sz="2000" dirty="0">
                <a:solidFill>
                  <a:schemeClr val="accent2"/>
                </a:solidFill>
                <a:latin typeface="Google Sans"/>
              </a:rPr>
              <a:t>System Level Failure Patterns</a:t>
            </a:r>
          </a:p>
        </p:txBody>
      </p:sp>
      <p:grpSp>
        <p:nvGrpSpPr>
          <p:cNvPr id="7" name="Group 6">
            <a:extLst>
              <a:ext uri="{FF2B5EF4-FFF2-40B4-BE49-F238E27FC236}">
                <a16:creationId xmlns:a16="http://schemas.microsoft.com/office/drawing/2014/main" id="{88A93530-428D-2367-8398-FCE27DD42A2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C5706E8-97F4-6486-7BC1-838E3E04FF8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9DB9F37-A5FF-0B75-D053-774FB53542B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lvl="0" defTabSz="1111250">
                <a:lnSpc>
                  <a:spcPct val="90000"/>
                </a:lnSpc>
                <a:spcBef>
                  <a:spcPct val="0"/>
                </a:spcBef>
                <a:spcAft>
                  <a:spcPct val="35000"/>
                </a:spcAft>
              </a:pPr>
              <a:r>
                <a:rPr lang="en-US" sz="2500" b="1" dirty="0"/>
                <a:t>Fault Tolerance And Resiliency</a:t>
              </a:r>
              <a:endParaRPr lang="en-US" sz="2500" dirty="0">
                <a:solidFill>
                  <a:schemeClr val="bg1"/>
                </a:solidFill>
              </a:endParaRPr>
            </a:p>
          </p:txBody>
        </p:sp>
      </p:grpSp>
      <p:pic>
        <p:nvPicPr>
          <p:cNvPr id="11" name="Picture 10">
            <a:extLst>
              <a:ext uri="{FF2B5EF4-FFF2-40B4-BE49-F238E27FC236}">
                <a16:creationId xmlns:a16="http://schemas.microsoft.com/office/drawing/2014/main" id="{D9012343-868D-ABFF-93EB-49AEAB7FA6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12" y="2467183"/>
            <a:ext cx="9022888" cy="3476417"/>
          </a:xfrm>
          <a:prstGeom prst="rect">
            <a:avLst/>
          </a:prstGeom>
        </p:spPr>
      </p:pic>
    </p:spTree>
    <p:extLst>
      <p:ext uri="{BB962C8B-B14F-4D97-AF65-F5344CB8AC3E}">
        <p14:creationId xmlns:p14="http://schemas.microsoft.com/office/powerpoint/2010/main" val="3157897196"/>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5EE23-3515-C973-CC55-D8700B330BA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FFE5C3A-6066-EA06-4305-099139B5EBB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1B2DA75-49CB-F86B-867F-3EE58620472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85C7BBB-0FCE-73F9-5A53-4005E1E108F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AC1CC78-C62D-99A9-3CCB-F528FEAE5DA9}"/>
              </a:ext>
            </a:extLst>
          </p:cNvPr>
          <p:cNvSpPr txBox="1">
            <a:spLocks/>
          </p:cNvSpPr>
          <p:nvPr/>
        </p:nvSpPr>
        <p:spPr>
          <a:xfrm>
            <a:off x="76200" y="697468"/>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System Level Failure Patterns</a:t>
            </a:r>
          </a:p>
        </p:txBody>
      </p:sp>
      <p:grpSp>
        <p:nvGrpSpPr>
          <p:cNvPr id="7" name="Group 6">
            <a:extLst>
              <a:ext uri="{FF2B5EF4-FFF2-40B4-BE49-F238E27FC236}">
                <a16:creationId xmlns:a16="http://schemas.microsoft.com/office/drawing/2014/main" id="{956F216E-483F-A816-6A4C-C32674C83A2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46F5055E-11BA-9FB5-17D9-748E39C84A5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44EE53B-E991-0CDC-18AE-C108A1D1DAC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lvl="0" defTabSz="1111250">
                <a:lnSpc>
                  <a:spcPct val="90000"/>
                </a:lnSpc>
                <a:spcBef>
                  <a:spcPct val="0"/>
                </a:spcBef>
                <a:spcAft>
                  <a:spcPct val="35000"/>
                </a:spcAft>
              </a:pPr>
              <a:r>
                <a:rPr lang="en-US" sz="2500" b="1" dirty="0"/>
                <a:t>Fault Tolerance And Resiliency</a:t>
              </a:r>
              <a:endParaRPr lang="en-US" sz="2500" dirty="0">
                <a:solidFill>
                  <a:schemeClr val="bg1"/>
                </a:solidFill>
              </a:endParaRPr>
            </a:p>
          </p:txBody>
        </p:sp>
      </p:grpSp>
      <p:pic>
        <p:nvPicPr>
          <p:cNvPr id="10" name="Picture 9">
            <a:extLst>
              <a:ext uri="{FF2B5EF4-FFF2-40B4-BE49-F238E27FC236}">
                <a16:creationId xmlns:a16="http://schemas.microsoft.com/office/drawing/2014/main" id="{A654A8C0-4362-E47B-BA82-DB93FAAC41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994240"/>
            <a:ext cx="8915400" cy="301160"/>
          </a:xfrm>
          <a:prstGeom prst="rect">
            <a:avLst/>
          </a:prstGeom>
        </p:spPr>
      </p:pic>
      <p:pic>
        <p:nvPicPr>
          <p:cNvPr id="13" name="Picture 12">
            <a:extLst>
              <a:ext uri="{FF2B5EF4-FFF2-40B4-BE49-F238E27FC236}">
                <a16:creationId xmlns:a16="http://schemas.microsoft.com/office/drawing/2014/main" id="{D4E3FEEB-8155-270C-443B-B46A84A1F0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19" y="1316039"/>
            <a:ext cx="9099089" cy="3389247"/>
          </a:xfrm>
          <a:prstGeom prst="rect">
            <a:avLst/>
          </a:prstGeom>
        </p:spPr>
      </p:pic>
      <p:pic>
        <p:nvPicPr>
          <p:cNvPr id="15" name="Picture 14">
            <a:extLst>
              <a:ext uri="{FF2B5EF4-FFF2-40B4-BE49-F238E27FC236}">
                <a16:creationId xmlns:a16="http://schemas.microsoft.com/office/drawing/2014/main" id="{4CC39890-7DCD-BA9B-09D9-5D21DE3468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 y="4705286"/>
            <a:ext cx="9043208" cy="1238314"/>
          </a:xfrm>
          <a:prstGeom prst="rect">
            <a:avLst/>
          </a:prstGeom>
        </p:spPr>
      </p:pic>
    </p:spTree>
    <p:extLst>
      <p:ext uri="{BB962C8B-B14F-4D97-AF65-F5344CB8AC3E}">
        <p14:creationId xmlns:p14="http://schemas.microsoft.com/office/powerpoint/2010/main" val="87517718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0304E-393A-1DA8-A711-FF5EC184E1A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59489FE-446D-E9FC-1074-9B17E7D23A7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BDC15BE-EFAF-BFC0-E770-464B84BF9CF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3386FE6-C473-15C1-248A-ADA87B4658D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38DBC04-060D-0ECA-ECDA-47EFFDB96AE0}"/>
              </a:ext>
            </a:extLst>
          </p:cNvPr>
          <p:cNvSpPr txBox="1">
            <a:spLocks/>
          </p:cNvSpPr>
          <p:nvPr/>
        </p:nvSpPr>
        <p:spPr>
          <a:xfrm>
            <a:off x="76200" y="697468"/>
            <a:ext cx="8624937" cy="17697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Fault Detection Patterns – </a:t>
            </a:r>
          </a:p>
          <a:p>
            <a:pPr marL="12700" marR="5080"/>
            <a:r>
              <a:rPr lang="en-US" sz="1500" dirty="0">
                <a:solidFill>
                  <a:schemeClr val="accent2"/>
                </a:solidFill>
                <a:latin typeface="Google Sans"/>
              </a:rPr>
              <a:t>Ping –</a:t>
            </a:r>
            <a:r>
              <a:rPr lang="en-US" sz="1500" dirty="0">
                <a:solidFill>
                  <a:schemeClr val="accent6"/>
                </a:solidFill>
                <a:latin typeface="Google Sans"/>
              </a:rPr>
              <a:t> Ping the nodes continuously(say 1 sec interval) &amp; check that they send the response back within certain time else assume that the node is dead.</a:t>
            </a:r>
          </a:p>
          <a:p>
            <a:pPr marL="12700" marR="5080"/>
            <a:r>
              <a:rPr lang="en-US" sz="1500" dirty="0">
                <a:solidFill>
                  <a:schemeClr val="accent2"/>
                </a:solidFill>
                <a:latin typeface="Google Sans"/>
              </a:rPr>
              <a:t>Heartbeat – </a:t>
            </a:r>
            <a:r>
              <a:rPr lang="en-US" sz="1500" dirty="0">
                <a:solidFill>
                  <a:schemeClr val="accent6"/>
                </a:solidFill>
                <a:latin typeface="Google Sans"/>
              </a:rPr>
              <a:t>Each node sends some heartbeat about itself to some centralized monitoring component &amp; if some node has not sent heartbeat beyond a threshold limit then consider that as dead.</a:t>
            </a:r>
          </a:p>
          <a:p>
            <a:pPr marL="12700" marR="5080"/>
            <a:endParaRPr lang="en-US" sz="1500" dirty="0">
              <a:solidFill>
                <a:schemeClr val="accent6"/>
              </a:solidFill>
              <a:latin typeface="Google Sans"/>
            </a:endParaRPr>
          </a:p>
          <a:p>
            <a:pPr marL="12700" marR="5080"/>
            <a:r>
              <a:rPr lang="en-US" sz="2000" dirty="0">
                <a:solidFill>
                  <a:schemeClr val="accent2"/>
                </a:solidFill>
                <a:latin typeface="Google Sans"/>
              </a:rPr>
              <a:t>Stateful Failover Patterns– </a:t>
            </a:r>
          </a:p>
        </p:txBody>
      </p:sp>
      <p:grpSp>
        <p:nvGrpSpPr>
          <p:cNvPr id="7" name="Group 6">
            <a:extLst>
              <a:ext uri="{FF2B5EF4-FFF2-40B4-BE49-F238E27FC236}">
                <a16:creationId xmlns:a16="http://schemas.microsoft.com/office/drawing/2014/main" id="{87DE129D-47D5-3040-4D84-11EC87C24E2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6C3DF4D2-240C-3F27-88E0-6512B86FE5E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8E137F7C-2F1B-D641-A1F4-E979BA68433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pic>
        <p:nvPicPr>
          <p:cNvPr id="10" name="Picture 9">
            <a:extLst>
              <a:ext uri="{FF2B5EF4-FFF2-40B4-BE49-F238E27FC236}">
                <a16:creationId xmlns:a16="http://schemas.microsoft.com/office/drawing/2014/main" id="{0C309C88-26A2-E7C3-9AA6-17121528D7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99" y="2505918"/>
            <a:ext cx="9043209" cy="3437681"/>
          </a:xfrm>
          <a:prstGeom prst="rect">
            <a:avLst/>
          </a:prstGeom>
        </p:spPr>
      </p:pic>
    </p:spTree>
    <p:extLst>
      <p:ext uri="{BB962C8B-B14F-4D97-AF65-F5344CB8AC3E}">
        <p14:creationId xmlns:p14="http://schemas.microsoft.com/office/powerpoint/2010/main" val="57605518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A4A44-EB5D-5AB1-FB98-26870C07A68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D02AD54-438C-F963-81B2-A5949C16B3D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D344BB2-189C-572C-A78C-6DF40EBB8DA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2AA3A14-4C38-49E4-EADE-B70C1DEBF81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77DFFBA-CBC9-B9AD-1A05-BE86BDABBA2C}"/>
              </a:ext>
            </a:extLst>
          </p:cNvPr>
          <p:cNvSpPr txBox="1">
            <a:spLocks/>
          </p:cNvSpPr>
          <p:nvPr/>
        </p:nvSpPr>
        <p:spPr>
          <a:xfrm>
            <a:off x="0" y="697468"/>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Stateful Failover Patterns– </a:t>
            </a:r>
          </a:p>
        </p:txBody>
      </p:sp>
      <p:grpSp>
        <p:nvGrpSpPr>
          <p:cNvPr id="7" name="Group 6">
            <a:extLst>
              <a:ext uri="{FF2B5EF4-FFF2-40B4-BE49-F238E27FC236}">
                <a16:creationId xmlns:a16="http://schemas.microsoft.com/office/drawing/2014/main" id="{439B6282-4D48-4B49-490F-8F3A55FC42A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1431097-1DB7-D838-792B-282D9BB9A35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3A3F9F3A-9244-E6A2-CA44-29D12CE3DFB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pic>
        <p:nvPicPr>
          <p:cNvPr id="11" name="Picture 10">
            <a:extLst>
              <a:ext uri="{FF2B5EF4-FFF2-40B4-BE49-F238E27FC236}">
                <a16:creationId xmlns:a16="http://schemas.microsoft.com/office/drawing/2014/main" id="{495BF419-9347-3510-94B1-2594DAF2D1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00006"/>
            <a:ext cx="8956040" cy="316033"/>
          </a:xfrm>
          <a:prstGeom prst="rect">
            <a:avLst/>
          </a:prstGeom>
        </p:spPr>
      </p:pic>
      <p:pic>
        <p:nvPicPr>
          <p:cNvPr id="13" name="Picture 12">
            <a:extLst>
              <a:ext uri="{FF2B5EF4-FFF2-40B4-BE49-F238E27FC236}">
                <a16:creationId xmlns:a16="http://schemas.microsoft.com/office/drawing/2014/main" id="{A76902E1-5ABC-32F8-6A70-ECBD038943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301563"/>
            <a:ext cx="8839200" cy="1670238"/>
          </a:xfrm>
          <a:prstGeom prst="rect">
            <a:avLst/>
          </a:prstGeom>
        </p:spPr>
      </p:pic>
      <p:sp>
        <p:nvSpPr>
          <p:cNvPr id="14" name="object 2">
            <a:extLst>
              <a:ext uri="{FF2B5EF4-FFF2-40B4-BE49-F238E27FC236}">
                <a16:creationId xmlns:a16="http://schemas.microsoft.com/office/drawing/2014/main" id="{46258383-D0C4-4754-B739-23DDD3AF7B83}"/>
              </a:ext>
            </a:extLst>
          </p:cNvPr>
          <p:cNvSpPr txBox="1">
            <a:spLocks/>
          </p:cNvSpPr>
          <p:nvPr/>
        </p:nvSpPr>
        <p:spPr>
          <a:xfrm>
            <a:off x="76200" y="2971800"/>
            <a:ext cx="8624937" cy="30777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dirty="0">
                <a:solidFill>
                  <a:schemeClr val="accent2"/>
                </a:solidFill>
                <a:latin typeface="Google Sans"/>
              </a:rPr>
              <a:t>Key Components of Stateful Failover</a:t>
            </a:r>
          </a:p>
          <a:p>
            <a:pPr marL="12700" marR="5080"/>
            <a:r>
              <a:rPr lang="en-US" sz="1500" dirty="0">
                <a:solidFill>
                  <a:schemeClr val="accent2"/>
                </a:solidFill>
                <a:latin typeface="Google Sans"/>
              </a:rPr>
              <a:t>Stateful Link:</a:t>
            </a:r>
            <a:r>
              <a:rPr lang="en-US" sz="1500" dirty="0">
                <a:solidFill>
                  <a:schemeClr val="accent6"/>
                </a:solidFill>
                <a:latin typeface="Google Sans"/>
              </a:rPr>
              <a:t> A dedicated, low-latency network connection between peers used to synchronize connection tables (TCP state, NAT translations, VPN sessions).</a:t>
            </a:r>
          </a:p>
          <a:p>
            <a:pPr marL="12700" marR="5080"/>
            <a:r>
              <a:rPr lang="en-US" sz="1500" dirty="0">
                <a:solidFill>
                  <a:schemeClr val="accent2"/>
                </a:solidFill>
                <a:latin typeface="Google Sans"/>
              </a:rPr>
              <a:t>Heartbeat/Health Check:</a:t>
            </a:r>
            <a:r>
              <a:rPr lang="en-US" sz="1500" dirty="0">
                <a:solidFill>
                  <a:schemeClr val="accent6"/>
                </a:solidFill>
                <a:latin typeface="Google Sans"/>
              </a:rPr>
              <a:t> Continuous monitoring (keep-</a:t>
            </a:r>
            <a:r>
              <a:rPr lang="en-US" sz="1500" dirty="0" err="1">
                <a:solidFill>
                  <a:schemeClr val="accent6"/>
                </a:solidFill>
                <a:latin typeface="Google Sans"/>
              </a:rPr>
              <a:t>alives</a:t>
            </a:r>
            <a:r>
              <a:rPr lang="en-US" sz="1500" dirty="0">
                <a:solidFill>
                  <a:schemeClr val="accent6"/>
                </a:solidFill>
                <a:latin typeface="Google Sans"/>
              </a:rPr>
              <a:t>) to detect when the primary unit fails.</a:t>
            </a:r>
          </a:p>
          <a:p>
            <a:pPr marL="12700" marR="5080"/>
            <a:r>
              <a:rPr lang="en-US" sz="1500" dirty="0">
                <a:solidFill>
                  <a:schemeClr val="accent2"/>
                </a:solidFill>
                <a:latin typeface="Google Sans"/>
              </a:rPr>
              <a:t>Session Synchronization: </a:t>
            </a:r>
            <a:r>
              <a:rPr lang="en-US" sz="1500" dirty="0">
                <a:solidFill>
                  <a:schemeClr val="accent6"/>
                </a:solidFill>
                <a:latin typeface="Google Sans"/>
              </a:rPr>
              <a:t>The process of copying the active session table from the primary to the standby device in real-time.</a:t>
            </a:r>
          </a:p>
          <a:p>
            <a:pPr marL="12700" marR="5080"/>
            <a:r>
              <a:rPr lang="en-US" sz="1500" dirty="0">
                <a:solidFill>
                  <a:schemeClr val="accent2"/>
                </a:solidFill>
                <a:latin typeface="Google Sans"/>
              </a:rPr>
              <a:t>Virtual IP (VIP) / Floating IP: </a:t>
            </a:r>
            <a:r>
              <a:rPr lang="en-US" sz="1500" dirty="0">
                <a:solidFill>
                  <a:schemeClr val="accent6"/>
                </a:solidFill>
                <a:latin typeface="Google Sans"/>
              </a:rPr>
              <a:t>An IP address that moves from the failed node to the standby node, ensuring seamless client connectivity. </a:t>
            </a:r>
          </a:p>
          <a:p>
            <a:pPr marL="12700" marR="5080"/>
            <a:r>
              <a:rPr lang="en-US" sz="1700" dirty="0">
                <a:solidFill>
                  <a:schemeClr val="accent2"/>
                </a:solidFill>
                <a:latin typeface="Google Sans"/>
              </a:rPr>
              <a:t>Advantages and Limitations</a:t>
            </a:r>
          </a:p>
          <a:p>
            <a:pPr marL="12700" marR="5080"/>
            <a:r>
              <a:rPr lang="en-US" sz="1500" dirty="0">
                <a:solidFill>
                  <a:schemeClr val="accent2"/>
                </a:solidFill>
                <a:latin typeface="Google Sans"/>
              </a:rPr>
              <a:t>Advantages: </a:t>
            </a:r>
            <a:r>
              <a:rPr lang="en-US" sz="1500" dirty="0">
                <a:solidFill>
                  <a:schemeClr val="accent6"/>
                </a:solidFill>
                <a:latin typeface="Google Sans"/>
              </a:rPr>
              <a:t>Zero or near-zero interruption to user sessions, maintenance of security context, high availability.</a:t>
            </a:r>
          </a:p>
          <a:p>
            <a:pPr marL="12700" marR="5080"/>
            <a:r>
              <a:rPr lang="en-US" sz="1500" dirty="0">
                <a:solidFill>
                  <a:schemeClr val="accent2"/>
                </a:solidFill>
                <a:latin typeface="Google Sans"/>
              </a:rPr>
              <a:t>Limitations:</a:t>
            </a:r>
            <a:r>
              <a:rPr lang="en-US" sz="1500" dirty="0">
                <a:solidFill>
                  <a:schemeClr val="accent6"/>
                </a:solidFill>
                <a:latin typeface="Google Sans"/>
              </a:rPr>
              <a:t> Higher cost (requires identical hardware), increased complexity, state link bandwidth requirements. </a:t>
            </a:r>
          </a:p>
        </p:txBody>
      </p:sp>
    </p:spTree>
    <p:extLst>
      <p:ext uri="{BB962C8B-B14F-4D97-AF65-F5344CB8AC3E}">
        <p14:creationId xmlns:p14="http://schemas.microsoft.com/office/powerpoint/2010/main" val="190743502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1A6A1-F20A-9E1E-BE91-DA9B4864655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1920018-C078-9E91-A545-A8B9EF37298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92C412B-3E32-42BF-7416-299038FCAB9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20661C5-29AF-2AAC-862D-314B8001CD2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691CAD0-6ABD-D24B-F0BC-A4FC27D49234}"/>
              </a:ext>
            </a:extLst>
          </p:cNvPr>
          <p:cNvSpPr txBox="1">
            <a:spLocks/>
          </p:cNvSpPr>
          <p:nvPr/>
        </p:nvSpPr>
        <p:spPr>
          <a:xfrm>
            <a:off x="76200" y="697468"/>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Resiliency Patterns</a:t>
            </a:r>
          </a:p>
          <a:p>
            <a:pPr marL="12700" marR="5080"/>
            <a:r>
              <a:rPr lang="en-US" sz="1500" dirty="0">
                <a:solidFill>
                  <a:schemeClr val="accent6"/>
                </a:solidFill>
                <a:latin typeface="Google Sans"/>
              </a:rPr>
              <a:t>Resiliency patterns are crucial in distributed systems to ensure that a failure in one component does not cascade and take down the entire system. These patterns are generally divided into client-side (protecting the consumer of a service) and server-side (protecting the provider of a service). </a:t>
            </a:r>
          </a:p>
          <a:p>
            <a:pPr marL="12700" marR="5080"/>
            <a:r>
              <a:rPr lang="en-US" sz="2000" dirty="0">
                <a:solidFill>
                  <a:schemeClr val="accent2"/>
                </a:solidFill>
                <a:latin typeface="Google Sans"/>
              </a:rPr>
              <a:t>Resiliency Patterns Overview</a:t>
            </a:r>
          </a:p>
          <a:p>
            <a:pPr marL="12700" marR="5080"/>
            <a:r>
              <a:rPr lang="en-US" sz="1500" dirty="0">
                <a:solidFill>
                  <a:schemeClr val="accent6"/>
                </a:solidFill>
                <a:latin typeface="Google Sans"/>
              </a:rPr>
              <a:t>        ↓</a:t>
            </a:r>
          </a:p>
          <a:p>
            <a:pPr marL="12700" marR="5080"/>
            <a:r>
              <a:rPr lang="en-US" sz="1500" dirty="0">
                <a:solidFill>
                  <a:schemeClr val="accent6"/>
                </a:solidFill>
                <a:latin typeface="Google Sans"/>
              </a:rPr>
              <a:t>         -------Client Side</a:t>
            </a:r>
          </a:p>
          <a:p>
            <a:pPr marL="12700" marR="5080"/>
            <a:r>
              <a:rPr lang="en-US" sz="1500" kern="0" spc="-80" dirty="0">
                <a:solidFill>
                  <a:schemeClr val="accent2"/>
                </a:solidFill>
              </a:rPr>
              <a:t>           </a:t>
            </a:r>
            <a:r>
              <a:rPr lang="en-US" sz="1500" dirty="0">
                <a:solidFill>
                  <a:schemeClr val="accent6"/>
                </a:solidFill>
                <a:latin typeface="Google Sans"/>
              </a:rPr>
              <a:t>         ↓</a:t>
            </a:r>
            <a:endParaRPr lang="en-US" sz="1500" kern="0" spc="-80" dirty="0">
              <a:solidFill>
                <a:schemeClr val="accent2"/>
              </a:solidFill>
              <a:latin typeface="Google Sans"/>
            </a:endParaRPr>
          </a:p>
          <a:p>
            <a:pPr marL="12700" marR="5080"/>
            <a:r>
              <a:rPr lang="en-US" sz="1500" dirty="0">
                <a:solidFill>
                  <a:schemeClr val="accent6"/>
                </a:solidFill>
                <a:latin typeface="Google Sans"/>
              </a:rPr>
              <a:t>                   ------------Timeout</a:t>
            </a:r>
          </a:p>
          <a:p>
            <a:pPr marL="12700" marR="5080"/>
            <a:r>
              <a:rPr lang="en-US" sz="1500" dirty="0">
                <a:solidFill>
                  <a:schemeClr val="accent6"/>
                </a:solidFill>
                <a:latin typeface="Google Sans"/>
              </a:rPr>
              <a:t>                   ------------Retry(with Exponential Back-Off &amp; Jitter)</a:t>
            </a:r>
          </a:p>
          <a:p>
            <a:pPr marL="12700" marR="5080"/>
            <a:r>
              <a:rPr lang="en-US" sz="1500" dirty="0">
                <a:solidFill>
                  <a:schemeClr val="accent6"/>
                </a:solidFill>
                <a:latin typeface="Google Sans"/>
              </a:rPr>
              <a:t>                   ------------Circuit Breaker</a:t>
            </a:r>
          </a:p>
          <a:p>
            <a:pPr marL="12700" marR="5080"/>
            <a:r>
              <a:rPr lang="en-US" sz="1500" dirty="0">
                <a:solidFill>
                  <a:schemeClr val="accent6"/>
                </a:solidFill>
                <a:latin typeface="Google Sans"/>
              </a:rPr>
              <a:t>                   ------------Rate Limiter(although traditionally a server side resilience component but in some      </a:t>
            </a:r>
          </a:p>
          <a:p>
            <a:pPr marL="12700" marR="5080"/>
            <a:r>
              <a:rPr lang="en-US" sz="1500" dirty="0">
                <a:solidFill>
                  <a:schemeClr val="accent6"/>
                </a:solidFill>
                <a:latin typeface="Google Sans"/>
              </a:rPr>
              <a:t>                                   scenarios like some orchestration code calling various APIs wherein at the client side itself </a:t>
            </a:r>
          </a:p>
          <a:p>
            <a:pPr marL="12700" marR="5080"/>
            <a:r>
              <a:rPr lang="en-US" sz="1500" dirty="0">
                <a:solidFill>
                  <a:schemeClr val="accent6"/>
                </a:solidFill>
                <a:latin typeface="Google Sans"/>
              </a:rPr>
              <a:t>                                    the code checks that it calls APIs at the specified Rate Limit published by the API)</a:t>
            </a:r>
          </a:p>
          <a:p>
            <a:pPr marL="12700" marR="5080"/>
            <a:r>
              <a:rPr lang="en-US" sz="1500" dirty="0">
                <a:solidFill>
                  <a:schemeClr val="accent6"/>
                </a:solidFill>
                <a:latin typeface="Google Sans"/>
              </a:rPr>
              <a:t>                   ------------Fallback</a:t>
            </a:r>
          </a:p>
          <a:p>
            <a:pPr marL="12700" marR="5080"/>
            <a:r>
              <a:rPr lang="en-US" sz="1500" dirty="0">
                <a:solidFill>
                  <a:schemeClr val="accent6"/>
                </a:solidFill>
                <a:latin typeface="Google Sans"/>
              </a:rPr>
              <a:t>        -------Server Side</a:t>
            </a:r>
          </a:p>
          <a:p>
            <a:pPr marL="12700" marR="5080"/>
            <a:r>
              <a:rPr lang="en-US" sz="1500" dirty="0">
                <a:solidFill>
                  <a:schemeClr val="accent6"/>
                </a:solidFill>
                <a:latin typeface="Google Sans"/>
              </a:rPr>
              <a:t>                     ↓</a:t>
            </a:r>
            <a:endParaRPr lang="en-US" sz="1500" kern="0" spc="-80" dirty="0">
              <a:solidFill>
                <a:schemeClr val="accent2"/>
              </a:solidFill>
              <a:latin typeface="Google Sans"/>
            </a:endParaRPr>
          </a:p>
          <a:p>
            <a:pPr marL="12700" marR="5080"/>
            <a:r>
              <a:rPr lang="en-US" sz="1500" dirty="0">
                <a:solidFill>
                  <a:schemeClr val="accent6"/>
                </a:solidFill>
                <a:latin typeface="Google Sans"/>
              </a:rPr>
              <a:t>                  ------------Queueing(Dead Letter &amp; Poison Queues Handling)</a:t>
            </a:r>
          </a:p>
          <a:p>
            <a:pPr marL="12700" marR="5080"/>
            <a:r>
              <a:rPr lang="en-US" sz="1500" dirty="0">
                <a:solidFill>
                  <a:schemeClr val="accent6"/>
                </a:solidFill>
                <a:latin typeface="Google Sans"/>
              </a:rPr>
              <a:t>                  ------------Bulkhead Isolation</a:t>
            </a:r>
          </a:p>
          <a:p>
            <a:pPr marL="12700" marR="5080"/>
            <a:r>
              <a:rPr lang="en-US" sz="1500" dirty="0">
                <a:solidFill>
                  <a:schemeClr val="accent6"/>
                </a:solidFill>
                <a:latin typeface="Google Sans"/>
              </a:rPr>
              <a:t>                  ------------Back Pressure(Load Shedding &amp; Rate Limiters are ultimately Back Pressure techniques</a:t>
            </a:r>
          </a:p>
          <a:p>
            <a:pPr marL="12700" marR="5080"/>
            <a:r>
              <a:rPr lang="en-US" sz="1500" dirty="0">
                <a:solidFill>
                  <a:schemeClr val="accent6"/>
                </a:solidFill>
                <a:latin typeface="Google Sans"/>
              </a:rPr>
              <a:t>                                  only)</a:t>
            </a:r>
          </a:p>
          <a:p>
            <a:pPr marL="12700" marR="5080"/>
            <a:r>
              <a:rPr lang="en-US" sz="1500" dirty="0">
                <a:solidFill>
                  <a:schemeClr val="accent6"/>
                </a:solidFill>
                <a:latin typeface="Google Sans"/>
              </a:rPr>
              <a:t>                  ------------Checkpointing &amp; Recovery</a:t>
            </a:r>
          </a:p>
        </p:txBody>
      </p:sp>
      <p:grpSp>
        <p:nvGrpSpPr>
          <p:cNvPr id="7" name="Group 6">
            <a:extLst>
              <a:ext uri="{FF2B5EF4-FFF2-40B4-BE49-F238E27FC236}">
                <a16:creationId xmlns:a16="http://schemas.microsoft.com/office/drawing/2014/main" id="{36208845-8135-6A2B-B9FD-25758407BF2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4EB7138E-6463-4FAC-073F-0E44EC89491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4F58138-FD77-292C-6C3B-872B4B7A414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60734397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68E73-095F-6BD0-9650-D7558EDA3E2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467C57E-E64A-E189-2579-C27A0833FF6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BA110D7-D67A-EC16-E2C5-BCB650E2237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16DDA08-8F3B-4DE7-A9EF-CB4F2290040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E058688-DC0C-07EC-1822-AD886ECCEB8F}"/>
              </a:ext>
            </a:extLst>
          </p:cNvPr>
          <p:cNvSpPr txBox="1">
            <a:spLocks/>
          </p:cNvSpPr>
          <p:nvPr/>
        </p:nvSpPr>
        <p:spPr>
          <a:xfrm>
            <a:off x="76200" y="697468"/>
            <a:ext cx="8624937" cy="276998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Resiliency Patterns Comparison</a:t>
            </a:r>
          </a:p>
          <a:p>
            <a:pPr marL="12700" marR="5080"/>
            <a:endParaRPr lang="en-US" sz="2000" kern="0" spc="-80" dirty="0">
              <a:solidFill>
                <a:schemeClr val="accent2"/>
              </a:solidFill>
            </a:endParaRPr>
          </a:p>
          <a:p>
            <a:pPr marL="12700" marR="5080"/>
            <a:endParaRPr lang="en-US" sz="2000" kern="0" spc="-80" dirty="0">
              <a:solidFill>
                <a:schemeClr val="accent2"/>
              </a:solidFill>
            </a:endParaRPr>
          </a:p>
          <a:p>
            <a:pPr marL="12700" marR="5080"/>
            <a:endParaRPr lang="en-US" sz="2000" kern="0" spc="-80" dirty="0">
              <a:solidFill>
                <a:schemeClr val="accent2"/>
              </a:solidFill>
            </a:endParaRPr>
          </a:p>
          <a:p>
            <a:pPr marL="12700" marR="5080"/>
            <a:endParaRPr lang="en-US" sz="2000" kern="0" spc="-80" dirty="0">
              <a:solidFill>
                <a:schemeClr val="accent2"/>
              </a:solidFill>
            </a:endParaRPr>
          </a:p>
          <a:p>
            <a:pPr marL="12700" marR="5080"/>
            <a:endParaRPr lang="en-US" sz="2000" kern="0" spc="-80" dirty="0">
              <a:solidFill>
                <a:schemeClr val="accent2"/>
              </a:solidFill>
            </a:endParaRPr>
          </a:p>
          <a:p>
            <a:pPr marL="12700" marR="5080"/>
            <a:endParaRPr lang="en-US" sz="2000" kern="0" spc="-80" dirty="0">
              <a:solidFill>
                <a:schemeClr val="accent2"/>
              </a:solidFill>
            </a:endParaRPr>
          </a:p>
          <a:p>
            <a:pPr marL="12700" marR="5080"/>
            <a:endParaRPr lang="en-US" sz="2000" kern="0" spc="-80" dirty="0">
              <a:solidFill>
                <a:schemeClr val="accent2"/>
              </a:solidFill>
            </a:endParaRPr>
          </a:p>
          <a:p>
            <a:pPr marL="12700" marR="5080"/>
            <a:endParaRPr lang="en-US" sz="2000" kern="0" spc="-80" dirty="0">
              <a:solidFill>
                <a:schemeClr val="accent2"/>
              </a:solidFill>
            </a:endParaRPr>
          </a:p>
        </p:txBody>
      </p:sp>
      <p:grpSp>
        <p:nvGrpSpPr>
          <p:cNvPr id="7" name="Group 6">
            <a:extLst>
              <a:ext uri="{FF2B5EF4-FFF2-40B4-BE49-F238E27FC236}">
                <a16:creationId xmlns:a16="http://schemas.microsoft.com/office/drawing/2014/main" id="{7D9C2AE4-B477-A637-AE42-7540E1BFCA8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473559B6-C53C-81E9-BE58-7D7A40B20DF4}"/>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1B9D7BA-E7A0-6613-EDDA-61711696EA8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pic>
        <p:nvPicPr>
          <p:cNvPr id="10" name="Picture 9">
            <a:extLst>
              <a:ext uri="{FF2B5EF4-FFF2-40B4-BE49-F238E27FC236}">
                <a16:creationId xmlns:a16="http://schemas.microsoft.com/office/drawing/2014/main" id="{60A163B0-660B-6F7E-DF60-3D7D34E61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 y="1044219"/>
            <a:ext cx="8915400" cy="2511106"/>
          </a:xfrm>
          <a:prstGeom prst="rect">
            <a:avLst/>
          </a:prstGeom>
        </p:spPr>
      </p:pic>
      <p:pic>
        <p:nvPicPr>
          <p:cNvPr id="13" name="Picture 12">
            <a:extLst>
              <a:ext uri="{FF2B5EF4-FFF2-40B4-BE49-F238E27FC236}">
                <a16:creationId xmlns:a16="http://schemas.microsoft.com/office/drawing/2014/main" id="{CBC175C2-302C-0CA6-E399-0D36B411A2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563" y="3594061"/>
            <a:ext cx="8839200" cy="2349539"/>
          </a:xfrm>
          <a:prstGeom prst="rect">
            <a:avLst/>
          </a:prstGeom>
        </p:spPr>
      </p:pic>
    </p:spTree>
    <p:extLst>
      <p:ext uri="{BB962C8B-B14F-4D97-AF65-F5344CB8AC3E}">
        <p14:creationId xmlns:p14="http://schemas.microsoft.com/office/powerpoint/2010/main" val="142196142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9CD88-EB81-19A0-8428-6E1EBC593E4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8DA7278-92E8-DE92-2C80-07C482A3F2A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751012A-58D7-8A85-C2F2-C8C0622271F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14C7EE8-F657-9688-DC6D-BA516930982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28B19C87-3DF4-BD15-1351-F6B293A4DE7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91830DA5-33E2-C66E-6E58-48FB7801119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14434861-64E8-E54A-A6D7-39DBDBE23DD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
        <p:nvSpPr>
          <p:cNvPr id="14" name="object 2">
            <a:extLst>
              <a:ext uri="{FF2B5EF4-FFF2-40B4-BE49-F238E27FC236}">
                <a16:creationId xmlns:a16="http://schemas.microsoft.com/office/drawing/2014/main" id="{4787539B-A51E-E253-D479-672678D0B1A3}"/>
              </a:ext>
            </a:extLst>
          </p:cNvPr>
          <p:cNvSpPr txBox="1">
            <a:spLocks/>
          </p:cNvSpPr>
          <p:nvPr/>
        </p:nvSpPr>
        <p:spPr>
          <a:xfrm>
            <a:off x="44911" y="731520"/>
            <a:ext cx="8624937" cy="45397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Client-Side vs. Server-Side Resiliency</a:t>
            </a:r>
          </a:p>
          <a:p>
            <a:pPr marL="12700" marR="5080"/>
            <a:r>
              <a:rPr lang="en-US" sz="1500" dirty="0">
                <a:solidFill>
                  <a:schemeClr val="accent2"/>
                </a:solidFill>
                <a:latin typeface="Google Sans"/>
              </a:rPr>
              <a:t>Client-Side Patterns: </a:t>
            </a:r>
            <a:r>
              <a:rPr lang="en-US" sz="1500" dirty="0">
                <a:solidFill>
                  <a:schemeClr val="accent6"/>
                </a:solidFill>
                <a:latin typeface="Google Sans"/>
              </a:rPr>
              <a:t>Focused on protecting the service caller (e.g., a frontend or a microservice) from being overwhelmed by a failing downstream dependency. The key is "failing fast".</a:t>
            </a:r>
          </a:p>
          <a:p>
            <a:pPr marL="12700" marR="5080"/>
            <a:r>
              <a:rPr lang="en-US" sz="1500" dirty="0">
                <a:solidFill>
                  <a:schemeClr val="accent2"/>
                </a:solidFill>
                <a:latin typeface="Google Sans"/>
              </a:rPr>
              <a:t>Server-Side Patterns:</a:t>
            </a:r>
            <a:r>
              <a:rPr lang="en-US" sz="1500" dirty="0">
                <a:solidFill>
                  <a:schemeClr val="accent6"/>
                </a:solidFill>
                <a:latin typeface="Google Sans"/>
              </a:rPr>
              <a:t> Focused on ensuring the service provider remains stable and functional even under heavy load or partial dependency failures (e.g., database outages). </a:t>
            </a:r>
          </a:p>
          <a:p>
            <a:pPr marL="12700" marR="5080"/>
            <a:endParaRPr lang="en-US" sz="1500" dirty="0">
              <a:solidFill>
                <a:schemeClr val="accent6"/>
              </a:solidFill>
              <a:latin typeface="Google Sans"/>
            </a:endParaRPr>
          </a:p>
          <a:p>
            <a:pPr marL="12700" marR="5080"/>
            <a:r>
              <a:rPr lang="en-US" sz="2000" dirty="0">
                <a:solidFill>
                  <a:schemeClr val="accent2"/>
                </a:solidFill>
                <a:latin typeface="Google Sans"/>
              </a:rPr>
              <a:t>Key Implementation Details</a:t>
            </a:r>
          </a:p>
          <a:p>
            <a:pPr marL="12700" marR="5080"/>
            <a:r>
              <a:rPr lang="en-US" sz="1500" dirty="0">
                <a:solidFill>
                  <a:schemeClr val="accent2"/>
                </a:solidFill>
                <a:latin typeface="Google Sans"/>
              </a:rPr>
              <a:t>Libraries: </a:t>
            </a:r>
            <a:r>
              <a:rPr lang="en-US" sz="1500" dirty="0">
                <a:solidFill>
                  <a:schemeClr val="accent6"/>
                </a:solidFill>
                <a:latin typeface="Google Sans"/>
              </a:rPr>
              <a:t>Popular libraries for implementing these include Resilience4j (Java), Polly (.NET), and Hystrix (now in maintenance).</a:t>
            </a:r>
          </a:p>
          <a:p>
            <a:pPr marL="12700" marR="5080"/>
            <a:r>
              <a:rPr lang="en-US" sz="1500" dirty="0">
                <a:solidFill>
                  <a:schemeClr val="accent2"/>
                </a:solidFill>
                <a:latin typeface="Google Sans"/>
              </a:rPr>
              <a:t>Service Mesh:</a:t>
            </a:r>
            <a:r>
              <a:rPr lang="en-US" sz="1500" dirty="0">
                <a:solidFill>
                  <a:schemeClr val="accent6"/>
                </a:solidFill>
                <a:latin typeface="Google Sans"/>
              </a:rPr>
              <a:t> In modern cloud-native architectures, these patterns are increasingly offloaded to infrastructure (e.g., Istio or </a:t>
            </a:r>
            <a:r>
              <a:rPr lang="en-US" sz="1500" dirty="0" err="1">
                <a:solidFill>
                  <a:schemeClr val="accent6"/>
                </a:solidFill>
                <a:latin typeface="Google Sans"/>
              </a:rPr>
              <a:t>Linkerd</a:t>
            </a:r>
            <a:r>
              <a:rPr lang="en-US" sz="1500" dirty="0">
                <a:solidFill>
                  <a:schemeClr val="accent6"/>
                </a:solidFill>
                <a:latin typeface="Google Sans"/>
              </a:rPr>
              <a:t>) rather than being coded directly into the service.</a:t>
            </a:r>
          </a:p>
          <a:p>
            <a:pPr marL="12700" marR="5080"/>
            <a:r>
              <a:rPr lang="en-US" sz="1500" dirty="0">
                <a:solidFill>
                  <a:schemeClr val="accent2"/>
                </a:solidFill>
                <a:latin typeface="Google Sans"/>
              </a:rPr>
              <a:t>Idempotency: </a:t>
            </a:r>
            <a:r>
              <a:rPr lang="en-US" sz="1500" dirty="0">
                <a:solidFill>
                  <a:schemeClr val="accent6"/>
                </a:solidFill>
                <a:latin typeface="Google Sans"/>
              </a:rPr>
              <a:t>When using retries, it is crucial that the operations are idempotent (can be called multiple times without changing the result beyond the initial application). </a:t>
            </a:r>
          </a:p>
          <a:p>
            <a:pPr marL="12700" marR="5080"/>
            <a:endParaRPr lang="en-US" sz="1500" dirty="0">
              <a:solidFill>
                <a:schemeClr val="accent6"/>
              </a:solidFill>
              <a:latin typeface="Google Sans"/>
            </a:endParaRPr>
          </a:p>
          <a:p>
            <a:pPr marL="12700" marR="5080"/>
            <a:r>
              <a:rPr lang="en-US" sz="1500" kern="0" spc="-80" dirty="0">
                <a:solidFill>
                  <a:schemeClr val="accent2"/>
                </a:solidFill>
              </a:rPr>
              <a:t>Fault Isolation Techniques – </a:t>
            </a:r>
          </a:p>
          <a:p>
            <a:pPr marL="12700" marR="5080"/>
            <a:r>
              <a:rPr lang="en-US" sz="1500" dirty="0">
                <a:solidFill>
                  <a:schemeClr val="accent6"/>
                </a:solidFill>
                <a:latin typeface="Google Sans"/>
              </a:rPr>
              <a:t>Bulkhead Pattern - </a:t>
            </a:r>
            <a:r>
              <a:rPr lang="en-US" sz="1500" dirty="0">
                <a:hlinkClick r:id="rId2"/>
              </a:rPr>
              <a:t>Bulkhead pattern - Azure Architecture Center | Microsoft Learn</a:t>
            </a:r>
            <a:endParaRPr lang="en-US" sz="1500" dirty="0"/>
          </a:p>
          <a:p>
            <a:pPr marL="12700" marR="5080"/>
            <a:r>
              <a:rPr lang="en-US" sz="1500" dirty="0">
                <a:solidFill>
                  <a:schemeClr val="accent6"/>
                </a:solidFill>
                <a:latin typeface="Google Sans"/>
              </a:rPr>
              <a:t>Shuffle Sharding - </a:t>
            </a:r>
            <a:r>
              <a:rPr lang="en-US" sz="1500" dirty="0">
                <a:hlinkClick r:id="rId3"/>
              </a:rPr>
              <a:t>Shuffle Sharding: Massive and Magical Fault Isolation</a:t>
            </a:r>
            <a:endParaRPr lang="en-US" sz="1500" dirty="0"/>
          </a:p>
          <a:p>
            <a:pPr marL="12700" marR="5080"/>
            <a:r>
              <a:rPr lang="en-US" sz="1500" dirty="0">
                <a:solidFill>
                  <a:schemeClr val="accent6"/>
                </a:solidFill>
                <a:latin typeface="Google Sans"/>
              </a:rPr>
              <a:t>Cell Based Architecture –  </a:t>
            </a:r>
            <a:r>
              <a:rPr lang="en-US" sz="1500" dirty="0">
                <a:hlinkClick r:id="rId4"/>
              </a:rPr>
              <a:t>Reducing the Scope of Impact with Cell-Based Architecture</a:t>
            </a:r>
            <a:endParaRPr lang="en-US" sz="1500" dirty="0">
              <a:solidFill>
                <a:schemeClr val="accent6"/>
              </a:solidFill>
              <a:latin typeface="Google Sans"/>
            </a:endParaRPr>
          </a:p>
          <a:p>
            <a:pPr marL="12700" marR="5080"/>
            <a:endParaRPr lang="en-US" sz="1500" dirty="0">
              <a:solidFill>
                <a:schemeClr val="accent6"/>
              </a:solidFill>
              <a:latin typeface="Google Sans"/>
            </a:endParaRPr>
          </a:p>
        </p:txBody>
      </p:sp>
    </p:spTree>
    <p:extLst>
      <p:ext uri="{BB962C8B-B14F-4D97-AF65-F5344CB8AC3E}">
        <p14:creationId xmlns:p14="http://schemas.microsoft.com/office/powerpoint/2010/main" val="918737413"/>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0" y="697468"/>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Self Healing(3 Levels) – </a:t>
            </a:r>
          </a:p>
          <a:p>
            <a:pPr marL="12700" marR="5080"/>
            <a:r>
              <a:rPr lang="en-US" sz="1500" dirty="0">
                <a:solidFill>
                  <a:schemeClr val="accent2"/>
                </a:solidFill>
                <a:latin typeface="Google Sans"/>
              </a:rPr>
              <a:t>System Level - </a:t>
            </a:r>
            <a:r>
              <a:rPr lang="en-US" sz="1500" dirty="0">
                <a:solidFill>
                  <a:schemeClr val="accent6"/>
                </a:solidFill>
                <a:latin typeface="Google Sans"/>
              </a:rPr>
              <a:t>The most common system level errors include process failures (often resolved by redeploying or restarting) and throughput issues (often resolved by scaling and descaling). Self-healing systems conduct health checks on different components and automatically attempt fixes (such as redeploying) to recover to their desired states.</a:t>
            </a:r>
          </a:p>
          <a:p>
            <a:pPr marL="12700" marR="5080"/>
            <a:r>
              <a:rPr lang="en-US" sz="1500" dirty="0">
                <a:solidFill>
                  <a:schemeClr val="accent2"/>
                </a:solidFill>
                <a:latin typeface="Google Sans"/>
              </a:rPr>
              <a:t>Application Level - </a:t>
            </a:r>
            <a:r>
              <a:rPr lang="en-US" sz="1500" dirty="0">
                <a:solidFill>
                  <a:schemeClr val="accent6"/>
                </a:solidFill>
                <a:latin typeface="Google Sans"/>
              </a:rPr>
              <a:t>Self-healing applications incorporate design elements that resolve problems. For example, applications that use </a:t>
            </a:r>
            <a:r>
              <a:rPr lang="en-US" sz="1500" dirty="0">
                <a:solidFill>
                  <a:schemeClr val="accent6"/>
                </a:solidFill>
                <a:latin typeface="Google Sans"/>
                <a:hlinkClick r:id="rId2">
                  <a:extLst>
                    <a:ext uri="{A12FA001-AC4F-418D-AE19-62706E023703}">
                      <ahyp:hlinkClr xmlns:ahyp="http://schemas.microsoft.com/office/drawing/2018/hyperlinkcolor" val="tx"/>
                    </a:ext>
                  </a:extLst>
                </a:hlinkClick>
              </a:rPr>
              <a:t>Akka</a:t>
            </a:r>
            <a:r>
              <a:rPr lang="en-US" sz="1500" dirty="0">
                <a:solidFill>
                  <a:schemeClr val="accent6"/>
                </a:solidFill>
                <a:latin typeface="Google Sans"/>
              </a:rPr>
              <a:t>, arrange elements in a hierarchy and assign an actor’s problems to its supervisor. Although </a:t>
            </a:r>
            <a:r>
              <a:rPr lang="en-US" sz="1500" dirty="0" err="1">
                <a:solidFill>
                  <a:schemeClr val="accent6"/>
                </a:solidFill>
                <a:latin typeface="Google Sans"/>
              </a:rPr>
              <a:t>DapR</a:t>
            </a:r>
            <a:r>
              <a:rPr lang="en-US" sz="1500" dirty="0">
                <a:solidFill>
                  <a:schemeClr val="accent6"/>
                </a:solidFill>
                <a:latin typeface="Google Sans"/>
              </a:rPr>
              <a:t> has an in-built (virtual) actor model but it doesn’t support traditional Hierarchy Actor model like that of Akka.NET(which </a:t>
            </a:r>
            <a:r>
              <a:rPr lang="en-US" sz="1500" dirty="0" err="1">
                <a:solidFill>
                  <a:schemeClr val="accent6"/>
                </a:solidFill>
                <a:latin typeface="Google Sans"/>
              </a:rPr>
              <a:t>alongwith</a:t>
            </a:r>
            <a:r>
              <a:rPr lang="en-US" sz="1500" dirty="0">
                <a:solidFill>
                  <a:schemeClr val="accent6"/>
                </a:solidFill>
                <a:latin typeface="Google Sans"/>
              </a:rPr>
              <a:t> supporting local Hierarchies, also supports Cluster model). </a:t>
            </a:r>
          </a:p>
          <a:p>
            <a:pPr marL="12700" marR="5080"/>
            <a:r>
              <a:rPr lang="en-US" sz="1500" dirty="0">
                <a:solidFill>
                  <a:schemeClr val="accent2"/>
                </a:solidFill>
                <a:latin typeface="Google Sans"/>
              </a:rPr>
              <a:t>Hardware Level -</a:t>
            </a:r>
            <a:r>
              <a:rPr lang="en-US" sz="1500" dirty="0">
                <a:solidFill>
                  <a:schemeClr val="accent6"/>
                </a:solidFill>
                <a:latin typeface="Google Sans"/>
              </a:rPr>
              <a:t> True hardware level self-healing (for example, a machine that can heal failed memory or repair a broken hard disk) does not exist. It’s still in the sci-fi realm and is leading to a newfound appreciation for biology, spurring fresh interest in biological computing</a:t>
            </a:r>
            <a:r>
              <a:rPr lang="en-US" sz="1300" kern="0" spc="-80" dirty="0">
                <a:solidFill>
                  <a:schemeClr val="tx2">
                    <a:lumMod val="60000"/>
                    <a:lumOff val="40000"/>
                  </a:schemeClr>
                </a:solidFill>
              </a:rPr>
              <a:t>(check </a:t>
            </a:r>
            <a:r>
              <a:rPr lang="en-US" sz="1300" dirty="0">
                <a:hlinkClick r:id="rId3"/>
              </a:rPr>
              <a:t>IISc scientists develop brain-inspired analog computing platform</a:t>
            </a:r>
            <a:r>
              <a:rPr lang="en-US" sz="1300" kern="0" spc="-80" dirty="0">
                <a:solidFill>
                  <a:schemeClr val="tx2">
                    <a:lumMod val="60000"/>
                    <a:lumOff val="40000"/>
                  </a:schemeClr>
                </a:solidFill>
              </a:rPr>
              <a:t>)</a:t>
            </a:r>
            <a:r>
              <a:rPr lang="en-US" sz="1300" kern="0" spc="-80" dirty="0">
                <a:solidFill>
                  <a:schemeClr val="accent6"/>
                </a:solidFill>
              </a:rPr>
              <a:t>.</a:t>
            </a:r>
          </a:p>
          <a:p>
            <a:pPr marL="12700" marR="5080"/>
            <a:r>
              <a:rPr lang="en-US" sz="1600" dirty="0">
                <a:solidFill>
                  <a:schemeClr val="accent2"/>
                </a:solidFill>
                <a:latin typeface="Google Sans"/>
              </a:rPr>
              <a:t>But do we really need App Level Self Healing?</a:t>
            </a:r>
            <a:r>
              <a:rPr lang="en-US" sz="1600" dirty="0">
                <a:solidFill>
                  <a:schemeClr val="accent6"/>
                </a:solidFill>
                <a:latin typeface="Google Sans"/>
              </a:rPr>
              <a:t> Seems K8s (&amp; Service Mesh) based Clustering &amp; System Level Self Healing is sufficient for most real world apps. If real App level healing is needed, then that can be done using something similar to Presence Detection Services approaches used in Chat/IoT Systems.</a:t>
            </a:r>
          </a:p>
          <a:p>
            <a:pPr marL="12700" marR="5080"/>
            <a:endParaRPr lang="en-US" sz="1600" dirty="0">
              <a:solidFill>
                <a:schemeClr val="accent6"/>
              </a:solidFill>
              <a:latin typeface="Google Sans"/>
            </a:endParaRPr>
          </a:p>
          <a:p>
            <a:pPr marL="12700" marR="5080"/>
            <a:r>
              <a:rPr lang="en-US" sz="1600" kern="0" spc="-80" dirty="0">
                <a:solidFill>
                  <a:schemeClr val="accent2"/>
                </a:solidFill>
              </a:rPr>
              <a:t>For Further Exploration</a:t>
            </a:r>
          </a:p>
          <a:p>
            <a:pPr marL="12700" marR="5080"/>
            <a:r>
              <a:rPr lang="en-US" sz="1300" dirty="0">
                <a:hlinkClick r:id="rId4"/>
              </a:rPr>
              <a:t>How Actors Recover from Failure | </a:t>
            </a:r>
            <a:r>
              <a:rPr lang="en-US" sz="1300" dirty="0" err="1">
                <a:hlinkClick r:id="rId4"/>
              </a:rPr>
              <a:t>Petabridge</a:t>
            </a:r>
            <a:endParaRPr lang="en-US" sz="1300" kern="0" spc="-80" dirty="0">
              <a:solidFill>
                <a:schemeClr val="tx2">
                  <a:lumMod val="60000"/>
                  <a:lumOff val="40000"/>
                </a:schemeClr>
              </a:solidFill>
            </a:endParaRPr>
          </a:p>
          <a:p>
            <a:pPr marL="12700" marR="5080"/>
            <a:r>
              <a:rPr lang="en-US" sz="1300" dirty="0">
                <a:hlinkClick r:id="rId5"/>
              </a:rPr>
              <a:t>Meet the Top Akka.NET Design Patterns | </a:t>
            </a:r>
            <a:r>
              <a:rPr lang="en-US" sz="1300" dirty="0" err="1">
                <a:hlinkClick r:id="rId5"/>
              </a:rPr>
              <a:t>Petabridge</a:t>
            </a:r>
            <a:endParaRPr lang="en-US" sz="1300" kern="0" spc="-80" dirty="0">
              <a:solidFill>
                <a:schemeClr val="accent6"/>
              </a:solidFill>
            </a:endParaRPr>
          </a:p>
        </p:txBody>
      </p:sp>
      <p:grpSp>
        <p:nvGrpSpPr>
          <p:cNvPr id="7" name="Group 6">
            <a:extLst>
              <a:ext uri="{FF2B5EF4-FFF2-40B4-BE49-F238E27FC236}">
                <a16:creationId xmlns:a16="http://schemas.microsoft.com/office/drawing/2014/main" id="{49A3247E-A226-9610-A912-8FAE813806E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4296630-BAEE-0F07-BAFA-9ABDFF98F02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757616D-A8F9-5625-3322-D95D81587C1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497195768"/>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E333C-C75D-6C3B-4767-3F5CC1D3710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47BE048-6F32-080D-904F-DDB0DE6FF07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29ED56B-19D4-DF96-F6DD-1374C60A45C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F1B976D3-23E2-905B-CBB5-EB2C849A2FB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AB3DE15-6139-097B-81B9-F8A20BF3E20E}"/>
              </a:ext>
            </a:extLst>
          </p:cNvPr>
          <p:cNvSpPr txBox="1">
            <a:spLocks/>
          </p:cNvSpPr>
          <p:nvPr/>
        </p:nvSpPr>
        <p:spPr>
          <a:xfrm>
            <a:off x="0" y="697468"/>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Partial Failures and Graceful Degradation</a:t>
            </a:r>
          </a:p>
          <a:p>
            <a:pPr marL="12700" marR="5080"/>
            <a:r>
              <a:rPr lang="en-US" sz="1500" dirty="0">
                <a:solidFill>
                  <a:schemeClr val="accent6"/>
                </a:solidFill>
                <a:latin typeface="Google Sans"/>
              </a:rPr>
              <a:t>Partial failure occurs when specific, non-critical components of a system fail, while the overall system continues to operate in a reduced capacity, a design approach known as graceful degradation. This strategy ensures that while some functionalities may be disabled, core services remain available to the user, preventing total system downtime. </a:t>
            </a:r>
          </a:p>
          <a:p>
            <a:pPr marL="12700" marR="5080"/>
            <a:r>
              <a:rPr lang="en-US" sz="1500" dirty="0">
                <a:solidFill>
                  <a:schemeClr val="accent2"/>
                </a:solidFill>
                <a:latin typeface="Google Sans"/>
              </a:rPr>
              <a:t>Key Aspects of Graceful Degradation and Partial Failure</a:t>
            </a:r>
          </a:p>
          <a:p>
            <a:pPr marL="12700" marR="5080"/>
            <a:r>
              <a:rPr lang="en-US" sz="1500" dirty="0">
                <a:solidFill>
                  <a:schemeClr val="accent2"/>
                </a:solidFill>
                <a:latin typeface="Google Sans"/>
              </a:rPr>
              <a:t>Purpose:</a:t>
            </a:r>
            <a:r>
              <a:rPr lang="en-US" sz="1500" dirty="0">
                <a:solidFill>
                  <a:schemeClr val="accent6"/>
                </a:solidFill>
                <a:latin typeface="Google Sans"/>
              </a:rPr>
              <a:t> To maintain user experience and service availability despite component failures.</a:t>
            </a:r>
          </a:p>
          <a:p>
            <a:pPr marL="12700" marR="5080"/>
            <a:r>
              <a:rPr lang="en-US" sz="1500" dirty="0">
                <a:solidFill>
                  <a:schemeClr val="accent2"/>
                </a:solidFill>
                <a:latin typeface="Google Sans"/>
              </a:rPr>
              <a:t>Mechanism:</a:t>
            </a:r>
            <a:r>
              <a:rPr lang="en-US" sz="1500" dirty="0">
                <a:solidFill>
                  <a:schemeClr val="accent6"/>
                </a:solidFill>
                <a:latin typeface="Google Sans"/>
              </a:rPr>
              <a:t> Instead of a complete system crash (fail-safe), the system operates in a "degraded" state, such as displaying cached data instead of real-time data or disabling optional features.</a:t>
            </a:r>
          </a:p>
          <a:p>
            <a:pPr marL="12700" marR="5080"/>
            <a:r>
              <a:rPr lang="en-US" sz="1500" dirty="0">
                <a:solidFill>
                  <a:schemeClr val="accent2"/>
                </a:solidFill>
                <a:latin typeface="Google Sans"/>
              </a:rPr>
              <a:t>Examples: </a:t>
            </a:r>
            <a:r>
              <a:rPr lang="en-US" sz="1500" dirty="0">
                <a:solidFill>
                  <a:schemeClr val="accent6"/>
                </a:solidFill>
                <a:latin typeface="Google Sans"/>
              </a:rPr>
              <a:t>A streaming service reducing video bit rate (fidelity) when servers are saturated. An e-commerce site allowing product browsing even if the payment service is down.</a:t>
            </a:r>
          </a:p>
          <a:p>
            <a:pPr marL="12700" marR="5080"/>
            <a:endParaRPr lang="en-US" sz="1500" dirty="0">
              <a:solidFill>
                <a:schemeClr val="accent2"/>
              </a:solidFill>
              <a:latin typeface="Google Sans"/>
            </a:endParaRPr>
          </a:p>
          <a:p>
            <a:pPr marL="12700" marR="5080"/>
            <a:r>
              <a:rPr lang="en-US" sz="1500" dirty="0">
                <a:solidFill>
                  <a:schemeClr val="accent2"/>
                </a:solidFill>
                <a:latin typeface="Google Sans"/>
              </a:rPr>
              <a:t>Implementation Strategies:</a:t>
            </a:r>
          </a:p>
          <a:p>
            <a:pPr marL="12700" marR="5080"/>
            <a:r>
              <a:rPr lang="en-US" sz="1500" dirty="0">
                <a:solidFill>
                  <a:schemeClr val="accent2"/>
                </a:solidFill>
                <a:latin typeface="Google Sans"/>
              </a:rPr>
              <a:t>Circuit Breakers: </a:t>
            </a:r>
            <a:r>
              <a:rPr lang="en-US" sz="1500" dirty="0">
                <a:solidFill>
                  <a:schemeClr val="accent6"/>
                </a:solidFill>
                <a:latin typeface="Google Sans"/>
              </a:rPr>
              <a:t>Preventing calls to a failing service to avoid cascading failures.</a:t>
            </a:r>
          </a:p>
          <a:p>
            <a:pPr marL="12700" marR="5080"/>
            <a:r>
              <a:rPr lang="en-US" sz="1500" dirty="0">
                <a:solidFill>
                  <a:schemeClr val="accent2"/>
                </a:solidFill>
                <a:latin typeface="Google Sans"/>
              </a:rPr>
              <a:t>Fallback Functions:</a:t>
            </a:r>
            <a:r>
              <a:rPr lang="en-US" sz="1500" dirty="0">
                <a:solidFill>
                  <a:schemeClr val="accent6"/>
                </a:solidFill>
                <a:latin typeface="Google Sans"/>
              </a:rPr>
              <a:t> Providing default behavior or cached content when a service fails.</a:t>
            </a:r>
          </a:p>
          <a:p>
            <a:pPr marL="12700" marR="5080"/>
            <a:r>
              <a:rPr lang="en-US" sz="1500" dirty="0">
                <a:solidFill>
                  <a:schemeClr val="accent2"/>
                </a:solidFill>
                <a:latin typeface="Google Sans"/>
              </a:rPr>
              <a:t>Resource-Based Scaling:</a:t>
            </a:r>
            <a:r>
              <a:rPr lang="en-US" sz="1500" dirty="0">
                <a:solidFill>
                  <a:schemeClr val="accent6"/>
                </a:solidFill>
                <a:latin typeface="Google Sans"/>
              </a:rPr>
              <a:t> Reducing service functionality based on CPU/memory usage. </a:t>
            </a:r>
          </a:p>
          <a:p>
            <a:pPr marL="12700" marR="5080"/>
            <a:endParaRPr lang="en-US" sz="1500" dirty="0">
              <a:solidFill>
                <a:schemeClr val="accent6"/>
              </a:solidFill>
              <a:latin typeface="Google Sans"/>
            </a:endParaRPr>
          </a:p>
          <a:p>
            <a:pPr marL="12700" marR="5080"/>
            <a:r>
              <a:rPr lang="en-US" sz="1500" dirty="0">
                <a:solidFill>
                  <a:schemeClr val="accent2"/>
                </a:solidFill>
                <a:latin typeface="Google Sans"/>
              </a:rPr>
              <a:t>Partial Failure vs. Other Concepts</a:t>
            </a:r>
          </a:p>
          <a:p>
            <a:pPr marL="12700" marR="5080"/>
            <a:r>
              <a:rPr lang="en-US" sz="1500" dirty="0">
                <a:solidFill>
                  <a:schemeClr val="accent2"/>
                </a:solidFill>
                <a:latin typeface="Google Sans"/>
              </a:rPr>
              <a:t>Vs. Fail-Fast: </a:t>
            </a:r>
            <a:r>
              <a:rPr lang="en-US" sz="1500" dirty="0">
                <a:solidFill>
                  <a:schemeClr val="accent6"/>
                </a:solidFill>
                <a:latin typeface="Google Sans"/>
              </a:rPr>
              <a:t>While graceful degradation keeps the system running, "fail-fast" approaches immediately halt operations to prevent data corruption.</a:t>
            </a:r>
          </a:p>
          <a:p>
            <a:pPr marL="12700" marR="5080"/>
            <a:r>
              <a:rPr lang="en-US" sz="1500" dirty="0">
                <a:solidFill>
                  <a:schemeClr val="accent2"/>
                </a:solidFill>
                <a:latin typeface="Google Sans"/>
              </a:rPr>
              <a:t>Vs. Fault Tolerance: </a:t>
            </a:r>
            <a:r>
              <a:rPr lang="en-US" sz="1500" dirty="0">
                <a:solidFill>
                  <a:schemeClr val="accent6"/>
                </a:solidFill>
                <a:latin typeface="Google Sans"/>
              </a:rPr>
              <a:t>Fault tolerance aims for zero downtime, often using redundancy, while graceful degradation accepts lower service levels. </a:t>
            </a:r>
          </a:p>
        </p:txBody>
      </p:sp>
      <p:grpSp>
        <p:nvGrpSpPr>
          <p:cNvPr id="7" name="Group 6">
            <a:extLst>
              <a:ext uri="{FF2B5EF4-FFF2-40B4-BE49-F238E27FC236}">
                <a16:creationId xmlns:a16="http://schemas.microsoft.com/office/drawing/2014/main" id="{DEB344D6-EC36-7B37-C56C-229A8D4C5F8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6AA904E-9E1E-081E-80FC-3F243BFB05F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64996422-F46A-093F-F419-922FC7EDAEE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63598817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7B320-BACC-D877-DAE5-E6782B5B146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BA915B3-025B-CA48-9BFE-6847D95414F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A171493-095F-E760-CF0E-3EECDBA02D8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2E74A70-8D5A-F473-B46E-AC02C54504F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2898A01-6121-46D0-E13E-4524BAD3FD87}"/>
              </a:ext>
            </a:extLst>
          </p:cNvPr>
          <p:cNvSpPr txBox="1">
            <a:spLocks/>
          </p:cNvSpPr>
          <p:nvPr/>
        </p:nvSpPr>
        <p:spPr>
          <a:xfrm>
            <a:off x="0" y="697468"/>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Graceful Degradation vs Self Healing</a:t>
            </a:r>
          </a:p>
        </p:txBody>
      </p:sp>
      <p:grpSp>
        <p:nvGrpSpPr>
          <p:cNvPr id="7" name="Group 6">
            <a:extLst>
              <a:ext uri="{FF2B5EF4-FFF2-40B4-BE49-F238E27FC236}">
                <a16:creationId xmlns:a16="http://schemas.microsoft.com/office/drawing/2014/main" id="{C5309226-682A-D090-0290-748DEBC9A4A4}"/>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3703E24-4463-8401-C489-1BF9D8C7C8A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8B3FC9B-87A1-4601-B21B-539580F31C0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pic>
        <p:nvPicPr>
          <p:cNvPr id="10" name="Picture 9">
            <a:extLst>
              <a:ext uri="{FF2B5EF4-FFF2-40B4-BE49-F238E27FC236}">
                <a16:creationId xmlns:a16="http://schemas.microsoft.com/office/drawing/2014/main" id="{2A49E4E4-3729-9C5D-6FAE-8A41D44896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11" y="994925"/>
            <a:ext cx="8870489" cy="4694349"/>
          </a:xfrm>
          <a:prstGeom prst="rect">
            <a:avLst/>
          </a:prstGeom>
        </p:spPr>
      </p:pic>
      <p:sp>
        <p:nvSpPr>
          <p:cNvPr id="6" name="object 2">
            <a:extLst>
              <a:ext uri="{FF2B5EF4-FFF2-40B4-BE49-F238E27FC236}">
                <a16:creationId xmlns:a16="http://schemas.microsoft.com/office/drawing/2014/main" id="{EEA5F1E2-7226-C732-3D21-4BA82210D42C}"/>
              </a:ext>
            </a:extLst>
          </p:cNvPr>
          <p:cNvSpPr txBox="1">
            <a:spLocks/>
          </p:cNvSpPr>
          <p:nvPr/>
        </p:nvSpPr>
        <p:spPr>
          <a:xfrm>
            <a:off x="0" y="5712768"/>
            <a:ext cx="8991600" cy="2308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solidFill>
                  <a:schemeClr val="accent2"/>
                </a:solidFill>
                <a:latin typeface="Google Sans"/>
              </a:rPr>
              <a:t>N.B. -</a:t>
            </a:r>
            <a:r>
              <a:rPr lang="en-US" sz="1500" dirty="0">
                <a:solidFill>
                  <a:schemeClr val="accent6"/>
                </a:solidFill>
                <a:latin typeface="Google Sans"/>
              </a:rPr>
              <a:t> </a:t>
            </a:r>
            <a:r>
              <a:rPr lang="en-US" sz="1500" dirty="0">
                <a:solidFill>
                  <a:schemeClr val="accent1"/>
                </a:solidFill>
                <a:latin typeface="Google Sans"/>
              </a:rPr>
              <a:t>Design for Degraded Modes using partial responses, read-only </a:t>
            </a:r>
            <a:r>
              <a:rPr lang="en-US" sz="1500" dirty="0" err="1">
                <a:solidFill>
                  <a:schemeClr val="accent1"/>
                </a:solidFill>
                <a:latin typeface="Google Sans"/>
              </a:rPr>
              <a:t>fall-backs</a:t>
            </a:r>
            <a:r>
              <a:rPr lang="en-US" sz="1500" dirty="0">
                <a:solidFill>
                  <a:schemeClr val="accent1"/>
                </a:solidFill>
                <a:latin typeface="Google Sans"/>
              </a:rPr>
              <a:t>, feature flags etc.</a:t>
            </a:r>
          </a:p>
        </p:txBody>
      </p:sp>
    </p:spTree>
    <p:extLst>
      <p:ext uri="{BB962C8B-B14F-4D97-AF65-F5344CB8AC3E}">
        <p14:creationId xmlns:p14="http://schemas.microsoft.com/office/powerpoint/2010/main" val="173323244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76200" y="697468"/>
            <a:ext cx="8624937" cy="433965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Client-Side Resiliency Patterns – A bit more in Detail</a:t>
            </a:r>
          </a:p>
          <a:p>
            <a:pPr marL="12700" marR="5080"/>
            <a:r>
              <a:rPr lang="en-US" sz="1500" dirty="0">
                <a:solidFill>
                  <a:schemeClr val="accent2"/>
                </a:solidFill>
                <a:latin typeface="Google Sans"/>
              </a:rPr>
              <a:t>Timeout – </a:t>
            </a:r>
            <a:r>
              <a:rPr lang="en-US" sz="1500" dirty="0">
                <a:solidFill>
                  <a:schemeClr val="accent6"/>
                </a:solidFill>
                <a:latin typeface="Google Sans"/>
              </a:rPr>
              <a:t>This is the simplest one. You make request to some external API and wait for it to send the response &amp; if you don’t get the response within some specified threshold limit, handle this as per requirements. </a:t>
            </a:r>
            <a:r>
              <a:rPr lang="en-US" sz="1500" dirty="0">
                <a:solidFill>
                  <a:schemeClr val="accent1"/>
                </a:solidFill>
                <a:latin typeface="Google Sans"/>
              </a:rPr>
              <a:t>COTS/Cloud Products with inbuilt non-configurable timeouts (maybe beyond certain limit) can create issues</a:t>
            </a:r>
            <a:r>
              <a:rPr lang="en-US" sz="1500" dirty="0">
                <a:solidFill>
                  <a:schemeClr val="accent6"/>
                </a:solidFill>
                <a:latin typeface="Google Sans"/>
              </a:rPr>
              <a:t>.</a:t>
            </a:r>
          </a:p>
          <a:p>
            <a:pPr marL="12700" marR="5080"/>
            <a:r>
              <a:rPr lang="en-US" sz="1500" dirty="0">
                <a:solidFill>
                  <a:schemeClr val="accent2"/>
                </a:solidFill>
                <a:latin typeface="Google Sans"/>
              </a:rPr>
              <a:t>Retry(for transient failures) – </a:t>
            </a:r>
          </a:p>
          <a:p>
            <a:pPr marL="12700" marR="5080"/>
            <a:r>
              <a:rPr lang="en-US" sz="1500" dirty="0">
                <a:solidFill>
                  <a:schemeClr val="accent2"/>
                </a:solidFill>
                <a:latin typeface="Google Sans"/>
              </a:rPr>
              <a:t>Normal –</a:t>
            </a:r>
            <a:r>
              <a:rPr lang="en-US" sz="1500" dirty="0">
                <a:solidFill>
                  <a:schemeClr val="accent6"/>
                </a:solidFill>
                <a:latin typeface="Google Sans"/>
              </a:rPr>
              <a:t> the number of retries can be configured. But problem with just configuring number of retries is that if N clients are calling some API with retries, the API can get overloaded with requests.</a:t>
            </a:r>
          </a:p>
          <a:p>
            <a:pPr marL="12700" marR="5080"/>
            <a:r>
              <a:rPr lang="en-US" sz="1500" dirty="0">
                <a:solidFill>
                  <a:schemeClr val="accent2"/>
                </a:solidFill>
                <a:latin typeface="Google Sans"/>
              </a:rPr>
              <a:t>Exponential </a:t>
            </a:r>
            <a:r>
              <a:rPr lang="en-US" sz="1500" dirty="0" err="1">
                <a:solidFill>
                  <a:schemeClr val="accent2"/>
                </a:solidFill>
                <a:latin typeface="Google Sans"/>
              </a:rPr>
              <a:t>BackOff</a:t>
            </a:r>
            <a:r>
              <a:rPr lang="en-US" sz="1500" dirty="0">
                <a:solidFill>
                  <a:schemeClr val="accent2"/>
                </a:solidFill>
                <a:latin typeface="Google Sans"/>
              </a:rPr>
              <a:t> – </a:t>
            </a:r>
            <a:r>
              <a:rPr lang="en-US" sz="1500" dirty="0">
                <a:solidFill>
                  <a:schemeClr val="accent6"/>
                </a:solidFill>
                <a:latin typeface="Google Sans"/>
              </a:rPr>
              <a:t>increasing the time between individual retries(e.g. 2secs, 4 secs, 8 secs, 16 secs…).But again this can lead a client sometimes to wait too long.</a:t>
            </a:r>
          </a:p>
          <a:p>
            <a:pPr marL="12700" marR="5080"/>
            <a:r>
              <a:rPr lang="en-US" sz="1500" dirty="0">
                <a:solidFill>
                  <a:schemeClr val="accent2"/>
                </a:solidFill>
                <a:latin typeface="Google Sans"/>
              </a:rPr>
              <a:t>Capped Exponential Backoff – </a:t>
            </a:r>
            <a:r>
              <a:rPr lang="en-US" sz="1500" dirty="0">
                <a:solidFill>
                  <a:schemeClr val="accent6"/>
                </a:solidFill>
                <a:latin typeface="Google Sans"/>
              </a:rPr>
              <a:t>Set a max </a:t>
            </a:r>
            <a:r>
              <a:rPr lang="en-US" sz="1500" dirty="0" err="1">
                <a:solidFill>
                  <a:schemeClr val="accent6"/>
                </a:solidFill>
                <a:latin typeface="Google Sans"/>
              </a:rPr>
              <a:t>Threshhold</a:t>
            </a:r>
            <a:r>
              <a:rPr lang="en-US" sz="1500" dirty="0">
                <a:solidFill>
                  <a:schemeClr val="accent6"/>
                </a:solidFill>
                <a:latin typeface="Google Sans"/>
              </a:rPr>
              <a:t> value on the Exponential backoff value.</a:t>
            </a:r>
          </a:p>
          <a:p>
            <a:pPr marL="12700" marR="5080"/>
            <a:r>
              <a:rPr lang="en-US" sz="1500" dirty="0">
                <a:solidFill>
                  <a:schemeClr val="accent2"/>
                </a:solidFill>
                <a:latin typeface="Google Sans"/>
              </a:rPr>
              <a:t>Jitter – </a:t>
            </a:r>
            <a:r>
              <a:rPr lang="en-US" sz="1500" dirty="0">
                <a:solidFill>
                  <a:schemeClr val="accent6"/>
                </a:solidFill>
                <a:latin typeface="Google Sans"/>
              </a:rPr>
              <a:t>A random amount of time between each retry to prevent large bursts by spreading out the arrival rate.</a:t>
            </a:r>
          </a:p>
          <a:p>
            <a:pPr marL="12700" marR="5080"/>
            <a:r>
              <a:rPr lang="en-US" sz="1500" dirty="0">
                <a:solidFill>
                  <a:schemeClr val="accent2"/>
                </a:solidFill>
                <a:latin typeface="Google Sans"/>
              </a:rPr>
              <a:t>Circuit Breaker - </a:t>
            </a:r>
          </a:p>
          <a:p>
            <a:pPr marL="12700" marR="5080"/>
            <a:endParaRPr lang="en-US" sz="1500" dirty="0">
              <a:solidFill>
                <a:schemeClr val="accent6"/>
              </a:solidFill>
              <a:latin typeface="Google Sans"/>
            </a:endParaRPr>
          </a:p>
          <a:p>
            <a:pPr marL="12700" marR="5080"/>
            <a:r>
              <a:rPr lang="en-US" sz="2400" kern="0" spc="-80" dirty="0">
                <a:solidFill>
                  <a:schemeClr val="accent2"/>
                </a:solidFill>
              </a:rPr>
              <a:t>       </a:t>
            </a:r>
          </a:p>
          <a:p>
            <a:pPr marL="12700" marR="5080"/>
            <a:r>
              <a:rPr lang="en-US" sz="2400" kern="0" spc="-80" dirty="0">
                <a:solidFill>
                  <a:schemeClr val="accent2"/>
                </a:solidFill>
              </a:rPr>
              <a:t>   </a:t>
            </a:r>
            <a:endParaRPr lang="en-US" sz="1600" kern="0" spc="-80" dirty="0">
              <a:solidFill>
                <a:schemeClr val="accent6"/>
              </a:solidFill>
            </a:endParaRPr>
          </a:p>
        </p:txBody>
      </p:sp>
      <p:grpSp>
        <p:nvGrpSpPr>
          <p:cNvPr id="7" name="Group 6">
            <a:extLst>
              <a:ext uri="{FF2B5EF4-FFF2-40B4-BE49-F238E27FC236}">
                <a16:creationId xmlns:a16="http://schemas.microsoft.com/office/drawing/2014/main" id="{6C9B5BEB-D1AE-0FB1-5758-EFB91DFF937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F4AEDD4E-B2B8-CDEA-F398-531E2CE1D6D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ABDFBB4-079A-DC30-7686-CE60867F7BA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pic>
        <p:nvPicPr>
          <p:cNvPr id="1026" name="Picture 2" descr="Circuit Breaker states">
            <a:extLst>
              <a:ext uri="{FF2B5EF4-FFF2-40B4-BE49-F238E27FC236}">
                <a16:creationId xmlns:a16="http://schemas.microsoft.com/office/drawing/2014/main" id="{2DCC28EC-1787-22DC-A289-9BB5384BDE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1" y="4038601"/>
            <a:ext cx="8305799" cy="17525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3580610"/>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A5FF2-87A2-67B5-94D5-7A057C4520F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46C39A4-677D-8936-ECD8-F8CCE211C5F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2399138-6D85-7A98-7885-B166B4D41E0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1935C96-576D-9FD1-3848-E91BB346625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3BB80FEA-6A27-559F-E3E5-7ECDECB146A9}"/>
              </a:ext>
            </a:extLst>
          </p:cNvPr>
          <p:cNvSpPr txBox="1">
            <a:spLocks/>
          </p:cNvSpPr>
          <p:nvPr/>
        </p:nvSpPr>
        <p:spPr>
          <a:xfrm>
            <a:off x="76200" y="697468"/>
            <a:ext cx="8624937" cy="552458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Client-Side Resiliency Patterns – A bit more in Detail</a:t>
            </a:r>
          </a:p>
          <a:p>
            <a:pPr marL="12700" marR="5080"/>
            <a:r>
              <a:rPr lang="en-US" sz="1500" dirty="0">
                <a:solidFill>
                  <a:schemeClr val="accent6"/>
                </a:solidFill>
                <a:latin typeface="Google Sans"/>
              </a:rPr>
              <a:t>A small framework related to all the Resiliency Patterns based on OOP/FP principles-  </a:t>
            </a:r>
          </a:p>
          <a:p>
            <a:pPr marL="12700" marR="5080"/>
            <a:r>
              <a:rPr lang="en-US" sz="1800" kern="0" spc="-80" dirty="0">
                <a:solidFill>
                  <a:schemeClr val="accent6"/>
                </a:solidFill>
              </a:rPr>
              <a:t> </a:t>
            </a:r>
            <a:r>
              <a:rPr lang="en-IN" sz="1100" dirty="0">
                <a:hlinkClick r:id="rId2"/>
              </a:rPr>
              <a:t>DDD-Based-Enterprise-Application-Framework/Infrastructure/</a:t>
            </a:r>
            <a:r>
              <a:rPr lang="en-IN" sz="1100" dirty="0" err="1">
                <a:hlinkClick r:id="rId2"/>
              </a:rPr>
              <a:t>ExceptionHandling</a:t>
            </a:r>
            <a:r>
              <a:rPr lang="en-IN" sz="1100" dirty="0">
                <a:hlinkClick r:id="rId2"/>
              </a:rPr>
              <a:t> at master · sandipray63in/DDD-Based-Enterprise-Application-Framework · GitHub</a:t>
            </a:r>
            <a:r>
              <a:rPr lang="en-US" sz="1400" kern="0" spc="-80" dirty="0">
                <a:solidFill>
                  <a:schemeClr val="accent6"/>
                </a:solidFill>
              </a:rPr>
              <a:t> </a:t>
            </a:r>
          </a:p>
          <a:p>
            <a:pPr marL="12700" marR="5080"/>
            <a:r>
              <a:rPr lang="en-US" sz="1500" dirty="0">
                <a:solidFill>
                  <a:schemeClr val="accent6"/>
                </a:solidFill>
                <a:latin typeface="Google Sans"/>
              </a:rPr>
              <a:t>A more generic approach to the above framework probably would be to consolidate the (most important) Resiliency Patterns in the following order(using C# Task Continuation) </a:t>
            </a:r>
          </a:p>
          <a:p>
            <a:pPr marL="12700" marR="5080"/>
            <a:r>
              <a:rPr lang="en-US" sz="1500" dirty="0">
                <a:solidFill>
                  <a:schemeClr val="accent6"/>
                </a:solidFill>
                <a:latin typeface="Google Sans"/>
              </a:rPr>
              <a:t>Timeout</a:t>
            </a:r>
          </a:p>
          <a:p>
            <a:pPr marL="12700" marR="5080"/>
            <a:r>
              <a:rPr lang="en-US" sz="1500" dirty="0">
                <a:solidFill>
                  <a:schemeClr val="accent6"/>
                </a:solidFill>
                <a:latin typeface="Google Sans"/>
              </a:rPr>
              <a:t>Retry(with Jitter)</a:t>
            </a:r>
          </a:p>
          <a:p>
            <a:pPr marL="12700" marR="5080"/>
            <a:r>
              <a:rPr lang="en-US" sz="1500" dirty="0">
                <a:solidFill>
                  <a:schemeClr val="accent6"/>
                </a:solidFill>
                <a:latin typeface="Google Sans"/>
              </a:rPr>
              <a:t>Circuit Breaker</a:t>
            </a:r>
          </a:p>
          <a:p>
            <a:pPr marL="12700" marR="5080"/>
            <a:endParaRPr lang="en-US" sz="1500" dirty="0">
              <a:solidFill>
                <a:schemeClr val="accent6"/>
              </a:solidFill>
              <a:latin typeface="Google Sans"/>
            </a:endParaRPr>
          </a:p>
          <a:p>
            <a:pPr marL="12700" marR="5080"/>
            <a:r>
              <a:rPr lang="en-US" sz="2000" kern="0" spc="-80" dirty="0">
                <a:solidFill>
                  <a:schemeClr val="accent2"/>
                </a:solidFill>
              </a:rPr>
              <a:t>For Further Exploration</a:t>
            </a:r>
            <a:endParaRPr lang="en-US" sz="2000" kern="0" spc="-80" dirty="0">
              <a:solidFill>
                <a:schemeClr val="accent6"/>
              </a:solidFill>
            </a:endParaRPr>
          </a:p>
          <a:p>
            <a:pPr marL="12700" marR="5080"/>
            <a:r>
              <a:rPr lang="en-US" sz="1500" dirty="0">
                <a:hlinkClick r:id="rId3"/>
              </a:rPr>
              <a:t>Timeouts, retries and backoff with jitter</a:t>
            </a:r>
            <a:r>
              <a:rPr lang="en-US" sz="2400" kern="0" spc="-80" dirty="0">
                <a:solidFill>
                  <a:schemeClr val="accent2"/>
                </a:solidFill>
              </a:rPr>
              <a:t> </a:t>
            </a:r>
          </a:p>
          <a:p>
            <a:pPr marL="12700" marR="5080"/>
            <a:r>
              <a:rPr lang="en-US" sz="1500" dirty="0">
                <a:hlinkClick r:id="rId4"/>
              </a:rPr>
              <a:t>Resilient .NET Application with Polly Resilience Pipelines</a:t>
            </a:r>
            <a:endParaRPr lang="en-US" sz="1500" dirty="0"/>
          </a:p>
          <a:p>
            <a:pPr marL="12700" marR="5080"/>
            <a:r>
              <a:rPr lang="en-US" sz="1500" dirty="0">
                <a:hlinkClick r:id="rId5"/>
              </a:rPr>
              <a:t>Building resilient cloud services with .NET 8 - .NET Blog</a:t>
            </a:r>
            <a:r>
              <a:rPr lang="en-US" sz="1500" kern="0" spc="-80" dirty="0">
                <a:solidFill>
                  <a:schemeClr val="accent2"/>
                </a:solidFill>
              </a:rPr>
              <a:t>  </a:t>
            </a:r>
          </a:p>
          <a:p>
            <a:pPr marL="12700" marR="5080"/>
            <a:r>
              <a:rPr lang="en-US" sz="1600" dirty="0">
                <a:hlinkClick r:id="rId6"/>
              </a:rPr>
              <a:t>Build resilient HTTP apps: Key development patterns - .NET | Microsoft Learn</a:t>
            </a:r>
            <a:endParaRPr lang="en-US" sz="1600" dirty="0"/>
          </a:p>
          <a:p>
            <a:pPr marL="12700" marR="5080"/>
            <a:r>
              <a:rPr lang="en-US" sz="1500" dirty="0">
                <a:hlinkClick r:id="rId7"/>
              </a:rPr>
              <a:t>Circuit Breaker pattern - Azure Architecture Center | Microsoft Learn</a:t>
            </a:r>
            <a:endParaRPr lang="en-US" sz="1500" dirty="0"/>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a:p>
            <a:pPr marL="12700" marR="5080"/>
            <a:r>
              <a:rPr lang="en-US" sz="2400" kern="0" spc="-80" dirty="0">
                <a:solidFill>
                  <a:schemeClr val="accent2"/>
                </a:solidFill>
              </a:rPr>
              <a:t>       </a:t>
            </a:r>
          </a:p>
          <a:p>
            <a:pPr marL="12700" marR="5080"/>
            <a:r>
              <a:rPr lang="en-US" sz="2400" kern="0" spc="-80" dirty="0">
                <a:solidFill>
                  <a:schemeClr val="accent2"/>
                </a:solidFill>
              </a:rPr>
              <a:t>   </a:t>
            </a:r>
            <a:endParaRPr lang="en-US" sz="1600" kern="0" spc="-80" dirty="0">
              <a:solidFill>
                <a:schemeClr val="accent6"/>
              </a:solidFill>
            </a:endParaRPr>
          </a:p>
        </p:txBody>
      </p:sp>
      <p:grpSp>
        <p:nvGrpSpPr>
          <p:cNvPr id="7" name="Group 6">
            <a:extLst>
              <a:ext uri="{FF2B5EF4-FFF2-40B4-BE49-F238E27FC236}">
                <a16:creationId xmlns:a16="http://schemas.microsoft.com/office/drawing/2014/main" id="{E412598F-6185-7CFC-B15C-B894DC13002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295C901-AA82-6B29-7AB9-E1D1376BB75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2FBB722-2A56-D0DF-E77B-668CB66E413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849675988"/>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2" y="627758"/>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2" y="462717"/>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137368" y="427713"/>
            <a:ext cx="8624937" cy="98488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r>
              <a:rPr lang="en-US" sz="2000" kern="0" spc="-80" dirty="0">
                <a:solidFill>
                  <a:schemeClr val="accent2"/>
                </a:solidFill>
              </a:rPr>
              <a:t>Server-Side Resiliency Patterns – A bit more in Detail</a:t>
            </a:r>
          </a:p>
          <a:p>
            <a:pPr marL="12700" marR="5080"/>
            <a:r>
              <a:rPr lang="en-US" sz="2000" kern="0" spc="-80" dirty="0">
                <a:solidFill>
                  <a:schemeClr val="accent2"/>
                </a:solidFill>
              </a:rPr>
              <a:t>Rate Limiter</a:t>
            </a:r>
          </a:p>
        </p:txBody>
      </p:sp>
      <p:pic>
        <p:nvPicPr>
          <p:cNvPr id="2050" name="Picture 2">
            <a:extLst>
              <a:ext uri="{FF2B5EF4-FFF2-40B4-BE49-F238E27FC236}">
                <a16:creationId xmlns:a16="http://schemas.microsoft.com/office/drawing/2014/main" id="{1B24DF64-A56E-B3A7-B57E-F53014A05B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368" y="1412598"/>
            <a:ext cx="8786295" cy="3930838"/>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96B8B935-28BC-A723-E0DC-0D178FCE0134}"/>
              </a:ext>
            </a:extLst>
          </p:cNvPr>
          <p:cNvSpPr txBox="1">
            <a:spLocks/>
          </p:cNvSpPr>
          <p:nvPr/>
        </p:nvSpPr>
        <p:spPr>
          <a:xfrm>
            <a:off x="152400" y="5343436"/>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IN" sz="1500" dirty="0">
                <a:hlinkClick r:id="rId3"/>
              </a:rPr>
              <a:t>Rate Limiting Algos | LinkedIn</a:t>
            </a:r>
            <a:endParaRPr lang="en-US" sz="1500" kern="0" spc="-80" dirty="0">
              <a:solidFill>
                <a:schemeClr val="accent2"/>
              </a:solidFill>
            </a:endParaRPr>
          </a:p>
        </p:txBody>
      </p:sp>
      <p:grpSp>
        <p:nvGrpSpPr>
          <p:cNvPr id="7" name="Group 6">
            <a:extLst>
              <a:ext uri="{FF2B5EF4-FFF2-40B4-BE49-F238E27FC236}">
                <a16:creationId xmlns:a16="http://schemas.microsoft.com/office/drawing/2014/main" id="{C4855F2D-7E7E-7D32-35EB-9067F75F11B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D6B3C8D-55B1-CBBC-1067-46B1257F58F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6B2392C6-B343-1178-EEBC-FB464234BA9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252154837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C72FD-DCC2-277E-EB0C-9EBE3457EB7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7F782B5-273B-2163-E425-29EFB82C05C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CC64577-FBDA-5F03-BD0B-85CCE186C1E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54B0B69-5900-0035-2C0B-C1382D5B627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71999EA-B92F-A407-58BF-6E93143F7E9C}"/>
              </a:ext>
            </a:extLst>
          </p:cNvPr>
          <p:cNvSpPr txBox="1">
            <a:spLocks/>
          </p:cNvSpPr>
          <p:nvPr/>
        </p:nvSpPr>
        <p:spPr>
          <a:xfrm>
            <a:off x="76200" y="697468"/>
            <a:ext cx="8624937" cy="535531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Bulkhead Isolation</a:t>
            </a:r>
          </a:p>
          <a:p>
            <a:pPr marL="12700" marR="5080"/>
            <a:r>
              <a:rPr lang="en-US" sz="1800" dirty="0">
                <a:solidFill>
                  <a:schemeClr val="accent2"/>
                </a:solidFill>
                <a:latin typeface="Google Sans"/>
              </a:rPr>
              <a:t>What “bulkhead isolation” means (short)</a:t>
            </a:r>
          </a:p>
          <a:p>
            <a:pPr marL="12700" marR="5080"/>
            <a:r>
              <a:rPr lang="en-US" sz="1500" dirty="0">
                <a:solidFill>
                  <a:schemeClr val="accent6"/>
                </a:solidFill>
                <a:latin typeface="Google Sans"/>
              </a:rPr>
              <a:t>Bulkhead isolation limits the blast radius of failures or resource exhaustion by partitioning resources (CPU, threads, connections, memory, queues, processes, services) so one failing/slow workload can’t starve the rest. </a:t>
            </a:r>
            <a:r>
              <a:rPr lang="en-US" sz="1500" dirty="0">
                <a:solidFill>
                  <a:schemeClr val="tx2"/>
                </a:solidFill>
                <a:latin typeface="Google Sans"/>
              </a:rPr>
              <a:t>Bulkhead isolation indirectly prevents HOL(Head of Line) Blocking as well.</a:t>
            </a:r>
          </a:p>
          <a:p>
            <a:pPr marL="12700" marR="5080"/>
            <a:r>
              <a:rPr lang="en-US" sz="1800" dirty="0">
                <a:solidFill>
                  <a:schemeClr val="accent2"/>
                </a:solidFill>
                <a:latin typeface="Google Sans"/>
              </a:rPr>
              <a:t>Architectural techniques (high-level categories)</a:t>
            </a:r>
          </a:p>
          <a:p>
            <a:pPr marL="12700" marR="5080"/>
            <a:r>
              <a:rPr lang="en-US" sz="1500" dirty="0">
                <a:solidFill>
                  <a:schemeClr val="accent2"/>
                </a:solidFill>
                <a:latin typeface="Google Sans"/>
              </a:rPr>
              <a:t>Process / OS-level isolation</a:t>
            </a:r>
          </a:p>
          <a:p>
            <a:pPr marL="12700" marR="5080"/>
            <a:r>
              <a:rPr lang="en-US" sz="1500" dirty="0">
                <a:solidFill>
                  <a:schemeClr val="accent6"/>
                </a:solidFill>
                <a:latin typeface="Google Sans"/>
              </a:rPr>
              <a:t>Run different responsibilities in separate processes (separate executables, Windows services).</a:t>
            </a:r>
          </a:p>
          <a:p>
            <a:pPr marL="12700" marR="5080"/>
            <a:r>
              <a:rPr lang="en-US" sz="1500" dirty="0">
                <a:solidFill>
                  <a:schemeClr val="accent6"/>
                </a:solidFill>
                <a:latin typeface="Google Sans"/>
              </a:rPr>
              <a:t>Use separate VMs or containers (Docker) per </a:t>
            </a:r>
            <a:r>
              <a:rPr lang="en-US" sz="1500" dirty="0" err="1">
                <a:solidFill>
                  <a:schemeClr val="accent6"/>
                </a:solidFill>
                <a:latin typeface="Google Sans"/>
              </a:rPr>
              <a:t>esponsibility</a:t>
            </a:r>
            <a:r>
              <a:rPr lang="en-US" sz="1500" dirty="0">
                <a:solidFill>
                  <a:schemeClr val="accent6"/>
                </a:solidFill>
                <a:latin typeface="Google Sans"/>
              </a:rPr>
              <a:t>/customer/tenant.</a:t>
            </a:r>
          </a:p>
          <a:p>
            <a:pPr marL="12700" marR="5080"/>
            <a:r>
              <a:rPr lang="en-US" sz="1500" dirty="0">
                <a:solidFill>
                  <a:schemeClr val="accent6"/>
                </a:solidFill>
                <a:latin typeface="Google Sans"/>
              </a:rPr>
              <a:t>Resource limits at OS/container level (</a:t>
            </a:r>
            <a:r>
              <a:rPr lang="en-US" sz="1500" dirty="0" err="1">
                <a:solidFill>
                  <a:schemeClr val="accent6"/>
                </a:solidFill>
                <a:latin typeface="Google Sans"/>
              </a:rPr>
              <a:t>cgroups</a:t>
            </a:r>
            <a:r>
              <a:rPr lang="en-US" sz="1500" dirty="0">
                <a:solidFill>
                  <a:schemeClr val="accent6"/>
                </a:solidFill>
                <a:latin typeface="Google Sans"/>
              </a:rPr>
              <a:t> / Docker --memory/--</a:t>
            </a:r>
            <a:r>
              <a:rPr lang="en-US" sz="1500" dirty="0" err="1">
                <a:solidFill>
                  <a:schemeClr val="accent6"/>
                </a:solidFill>
                <a:latin typeface="Google Sans"/>
              </a:rPr>
              <a:t>cpus</a:t>
            </a:r>
            <a:r>
              <a:rPr lang="en-US" sz="1500" dirty="0">
                <a:solidFill>
                  <a:schemeClr val="accent6"/>
                </a:solidFill>
                <a:latin typeface="Google Sans"/>
              </a:rPr>
              <a:t>).</a:t>
            </a:r>
          </a:p>
          <a:p>
            <a:pPr marL="12700" marR="5080"/>
            <a:r>
              <a:rPr lang="en-US" sz="1500" dirty="0">
                <a:solidFill>
                  <a:schemeClr val="accent2"/>
                </a:solidFill>
                <a:latin typeface="Google Sans"/>
              </a:rPr>
              <a:t>Container / Orchestration isolation</a:t>
            </a:r>
          </a:p>
          <a:p>
            <a:pPr marL="12700" marR="5080"/>
            <a:r>
              <a:rPr lang="en-US" sz="1500" dirty="0">
                <a:solidFill>
                  <a:schemeClr val="accent6"/>
                </a:solidFill>
                <a:latin typeface="Google Sans"/>
              </a:rPr>
              <a:t>One pod per service or per tenant. Use Kubernetes Pod resource limits and QoS classes.</a:t>
            </a:r>
          </a:p>
          <a:p>
            <a:pPr marL="12700" marR="5080"/>
            <a:r>
              <a:rPr lang="en-US" sz="1500" dirty="0">
                <a:solidFill>
                  <a:schemeClr val="accent6"/>
                </a:solidFill>
                <a:latin typeface="Google Sans"/>
              </a:rPr>
              <a:t>Pod anti-affinity / node pools to avoid noisy neighbor.</a:t>
            </a:r>
          </a:p>
          <a:p>
            <a:pPr marL="12700" marR="5080"/>
            <a:r>
              <a:rPr lang="en-US" sz="1500" dirty="0">
                <a:solidFill>
                  <a:schemeClr val="accent6"/>
                </a:solidFill>
                <a:latin typeface="Google Sans"/>
              </a:rPr>
              <a:t>Horizontal scaling (replicas) vs vertical constraints.</a:t>
            </a:r>
          </a:p>
          <a:p>
            <a:pPr marL="12700" marR="5080"/>
            <a:r>
              <a:rPr lang="en-US" sz="1500" dirty="0">
                <a:solidFill>
                  <a:schemeClr val="accent2"/>
                </a:solidFill>
                <a:latin typeface="Google Sans"/>
              </a:rPr>
              <a:t>Service / Microservice boundaries</a:t>
            </a:r>
          </a:p>
          <a:p>
            <a:pPr marL="12700" marR="5080"/>
            <a:r>
              <a:rPr lang="en-US" sz="1500" dirty="0">
                <a:solidFill>
                  <a:schemeClr val="accent6"/>
                </a:solidFill>
                <a:latin typeface="Google Sans"/>
              </a:rPr>
              <a:t>Decompose into services with bounded responsibilities; isolate via network/API boundaries.</a:t>
            </a:r>
          </a:p>
          <a:p>
            <a:pPr marL="12700" marR="5080"/>
            <a:r>
              <a:rPr lang="en-US" sz="1500" dirty="0">
                <a:solidFill>
                  <a:schemeClr val="accent6"/>
                </a:solidFill>
                <a:latin typeface="Google Sans"/>
              </a:rPr>
              <a:t>Separate databases or connection pools per service/tenant where necessary.</a:t>
            </a:r>
          </a:p>
          <a:p>
            <a:pPr marL="12700" marR="5080"/>
            <a:r>
              <a:rPr lang="en-US" sz="1500" dirty="0">
                <a:solidFill>
                  <a:schemeClr val="accent2"/>
                </a:solidFill>
                <a:latin typeface="Google Sans"/>
              </a:rPr>
              <a:t>Network and service mesh controls</a:t>
            </a:r>
          </a:p>
          <a:p>
            <a:pPr marL="12700" marR="5080"/>
            <a:r>
              <a:rPr lang="en-US" sz="1500" dirty="0">
                <a:solidFill>
                  <a:schemeClr val="accent6"/>
                </a:solidFill>
                <a:latin typeface="Google Sans"/>
              </a:rPr>
              <a:t>Sidecar policies (Istio/</a:t>
            </a:r>
            <a:r>
              <a:rPr lang="en-US" sz="1500" dirty="0" err="1">
                <a:solidFill>
                  <a:schemeClr val="accent6"/>
                </a:solidFill>
                <a:latin typeface="Google Sans"/>
              </a:rPr>
              <a:t>Linkerd</a:t>
            </a:r>
            <a:r>
              <a:rPr lang="en-US" sz="1500" dirty="0">
                <a:solidFill>
                  <a:schemeClr val="accent6"/>
                </a:solidFill>
                <a:latin typeface="Google Sans"/>
              </a:rPr>
              <a:t>) to limit concurrent connections, enforce circuit breaking per service.</a:t>
            </a:r>
          </a:p>
          <a:p>
            <a:pPr marL="12700" marR="5080"/>
            <a:r>
              <a:rPr lang="en-US" sz="1500" dirty="0">
                <a:solidFill>
                  <a:schemeClr val="accent6"/>
                </a:solidFill>
                <a:latin typeface="Google Sans"/>
              </a:rPr>
              <a:t>Rate limits and connection pool limits in the mesh.</a:t>
            </a:r>
          </a:p>
          <a:p>
            <a:pPr marL="12700" marR="5080"/>
            <a:r>
              <a:rPr lang="en-US" sz="1500" dirty="0">
                <a:solidFill>
                  <a:schemeClr val="accent6"/>
                </a:solidFill>
                <a:latin typeface="Google Sans"/>
              </a:rPr>
              <a:t>API Gateway / Edge throttling</a:t>
            </a:r>
          </a:p>
        </p:txBody>
      </p:sp>
      <p:grpSp>
        <p:nvGrpSpPr>
          <p:cNvPr id="7" name="Group 6">
            <a:extLst>
              <a:ext uri="{FF2B5EF4-FFF2-40B4-BE49-F238E27FC236}">
                <a16:creationId xmlns:a16="http://schemas.microsoft.com/office/drawing/2014/main" id="{C47AC991-2C9E-153F-3AA4-FA6BFCE5E19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96EB366-BB04-9535-A5DA-809569ABB53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BCF7C321-6FDA-CE73-2754-CCE819C3BAF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132650685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1B88D-F6BB-A6EA-8B97-93A3D0D83BE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822CEC9-42AA-BAA9-4434-376DF2EE0A5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D885644-1639-6AF3-23A2-27590E5C826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D704C7D-04A0-A3EE-A759-745B936709C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C3C228AB-0572-3A27-F440-E8A059FECFC0}"/>
              </a:ext>
            </a:extLst>
          </p:cNvPr>
          <p:cNvSpPr txBox="1">
            <a:spLocks/>
          </p:cNvSpPr>
          <p:nvPr/>
        </p:nvSpPr>
        <p:spPr>
          <a:xfrm>
            <a:off x="76200" y="697468"/>
            <a:ext cx="8624937" cy="535531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Bulkhead Isolation</a:t>
            </a:r>
          </a:p>
          <a:p>
            <a:pPr marL="12700" marR="5080"/>
            <a:r>
              <a:rPr lang="en-US" sz="1800" dirty="0">
                <a:solidFill>
                  <a:schemeClr val="accent2"/>
                </a:solidFill>
                <a:latin typeface="Google Sans"/>
              </a:rPr>
              <a:t>Architectural techniques (high-level categories)</a:t>
            </a:r>
          </a:p>
          <a:p>
            <a:pPr marL="12700" marR="5080"/>
            <a:r>
              <a:rPr lang="en-US" sz="1500" dirty="0">
                <a:solidFill>
                  <a:schemeClr val="accent2"/>
                </a:solidFill>
                <a:latin typeface="Google Sans"/>
              </a:rPr>
              <a:t>Network and service mesh controls</a:t>
            </a:r>
          </a:p>
          <a:p>
            <a:pPr marL="12700" marR="5080"/>
            <a:r>
              <a:rPr lang="en-US" sz="1500" dirty="0">
                <a:solidFill>
                  <a:schemeClr val="accent6"/>
                </a:solidFill>
                <a:latin typeface="Google Sans"/>
              </a:rPr>
              <a:t>Enforce per-API, per-consumer quotas/rate limits at gateway (APIM, Kong, NGINX).</a:t>
            </a:r>
          </a:p>
          <a:p>
            <a:pPr marL="12700" marR="5080"/>
            <a:r>
              <a:rPr lang="en-US" sz="1500" dirty="0">
                <a:solidFill>
                  <a:schemeClr val="accent6"/>
                </a:solidFill>
                <a:latin typeface="Google Sans"/>
              </a:rPr>
              <a:t>Token bucket / leaky bucket / fixed window algorithms.</a:t>
            </a:r>
          </a:p>
          <a:p>
            <a:pPr marL="12700" marR="5080"/>
            <a:r>
              <a:rPr lang="en-US" sz="1500" dirty="0">
                <a:solidFill>
                  <a:schemeClr val="accent2"/>
                </a:solidFill>
                <a:latin typeface="Google Sans"/>
              </a:rPr>
              <a:t>Queueing &amp; asynchronous workers</a:t>
            </a:r>
          </a:p>
          <a:p>
            <a:pPr marL="12700" marR="5080"/>
            <a:r>
              <a:rPr lang="en-US" sz="1500" dirty="0">
                <a:solidFill>
                  <a:schemeClr val="accent6"/>
                </a:solidFill>
                <a:latin typeface="Google Sans"/>
              </a:rPr>
              <a:t>Use message queues (RabbitMQ, Azure Service Bus, Kafka) with bounded consumers.</a:t>
            </a:r>
          </a:p>
          <a:p>
            <a:pPr marL="12700" marR="5080"/>
            <a:r>
              <a:rPr lang="en-US" sz="1500" dirty="0">
                <a:solidFill>
                  <a:schemeClr val="accent6"/>
                </a:solidFill>
                <a:latin typeface="Google Sans"/>
              </a:rPr>
              <a:t>Separate queues or priority queues per traffic class/tenant.</a:t>
            </a:r>
          </a:p>
          <a:p>
            <a:pPr marL="12700" marR="5080"/>
            <a:r>
              <a:rPr lang="en-US" sz="1500" dirty="0">
                <a:solidFill>
                  <a:schemeClr val="accent6"/>
                </a:solidFill>
                <a:latin typeface="Google Sans"/>
              </a:rPr>
              <a:t>Backpressure: stop enqueueing or return 429 when queue full.</a:t>
            </a:r>
          </a:p>
          <a:p>
            <a:pPr marL="12700" marR="5080"/>
            <a:r>
              <a:rPr lang="en-US" sz="1500" dirty="0">
                <a:solidFill>
                  <a:schemeClr val="accent2"/>
                </a:solidFill>
                <a:latin typeface="Google Sans"/>
              </a:rPr>
              <a:t>Per-resource connection pools</a:t>
            </a:r>
          </a:p>
          <a:p>
            <a:pPr marL="12700" marR="5080"/>
            <a:r>
              <a:rPr lang="en-US" sz="1500" dirty="0">
                <a:solidFill>
                  <a:schemeClr val="accent6"/>
                </a:solidFill>
                <a:latin typeface="Google Sans"/>
              </a:rPr>
              <a:t>Database connection pools separated by workload (read vs write) or by tenant.</a:t>
            </a:r>
          </a:p>
          <a:p>
            <a:pPr marL="12700" marR="5080"/>
            <a:r>
              <a:rPr lang="en-US" sz="1500" dirty="0">
                <a:solidFill>
                  <a:schemeClr val="accent6"/>
                </a:solidFill>
                <a:latin typeface="Google Sans"/>
              </a:rPr>
              <a:t>Separate HTTP client pools for downstream services.</a:t>
            </a:r>
          </a:p>
          <a:p>
            <a:pPr marL="12700" marR="5080"/>
            <a:r>
              <a:rPr lang="en-US" sz="1500" dirty="0">
                <a:solidFill>
                  <a:schemeClr val="accent2"/>
                </a:solidFill>
                <a:latin typeface="Google Sans"/>
              </a:rPr>
              <a:t>Thread / concurrency limits</a:t>
            </a:r>
          </a:p>
          <a:p>
            <a:pPr marL="12700" marR="5080"/>
            <a:r>
              <a:rPr lang="en-US" sz="1500" dirty="0">
                <a:solidFill>
                  <a:schemeClr val="accent6"/>
                </a:solidFill>
                <a:latin typeface="Google Sans"/>
              </a:rPr>
              <a:t>Limit concurrency at component level (bounded thread pool, worker pool).</a:t>
            </a:r>
          </a:p>
          <a:p>
            <a:pPr marL="12700" marR="5080"/>
            <a:r>
              <a:rPr lang="en-US" sz="1500" dirty="0">
                <a:solidFill>
                  <a:schemeClr val="accent6"/>
                </a:solidFill>
                <a:latin typeface="Google Sans"/>
              </a:rPr>
              <a:t>Use concurrency-limiter components to control number of simultaneous operations.</a:t>
            </a:r>
          </a:p>
          <a:p>
            <a:pPr marL="12700" marR="5080"/>
            <a:r>
              <a:rPr lang="en-US" sz="1500" dirty="0">
                <a:solidFill>
                  <a:schemeClr val="accent2"/>
                </a:solidFill>
                <a:latin typeface="Google Sans"/>
              </a:rPr>
              <a:t>Workload prioritization / quotas</a:t>
            </a:r>
          </a:p>
          <a:p>
            <a:pPr marL="12700" marR="5080"/>
            <a:r>
              <a:rPr lang="en-US" sz="1500" dirty="0">
                <a:solidFill>
                  <a:schemeClr val="accent6"/>
                </a:solidFill>
                <a:latin typeface="Google Sans"/>
              </a:rPr>
              <a:t>Reserve a portion of capacity for high-priority work (weighted queues).</a:t>
            </a:r>
          </a:p>
          <a:p>
            <a:pPr marL="12700" marR="5080"/>
            <a:r>
              <a:rPr lang="en-US" sz="1500" dirty="0">
                <a:solidFill>
                  <a:schemeClr val="accent6"/>
                </a:solidFill>
                <a:latin typeface="Google Sans"/>
              </a:rPr>
              <a:t>Admission control: reject or delay low-priority requests when constrained.</a:t>
            </a:r>
          </a:p>
          <a:p>
            <a:pPr marL="12700" marR="5080"/>
            <a:r>
              <a:rPr lang="en-US" sz="1500" dirty="0">
                <a:solidFill>
                  <a:schemeClr val="accent2"/>
                </a:solidFill>
                <a:latin typeface="Google Sans"/>
              </a:rPr>
              <a:t>Time limits + circuit breakers</a:t>
            </a:r>
          </a:p>
          <a:p>
            <a:pPr marL="12700" marR="5080"/>
            <a:r>
              <a:rPr lang="en-US" sz="1500" dirty="0">
                <a:solidFill>
                  <a:schemeClr val="accent6"/>
                </a:solidFill>
                <a:latin typeface="Google Sans"/>
              </a:rPr>
              <a:t>Combine timeouts and circuit breakers to fail fast and isolate slowness.</a:t>
            </a:r>
          </a:p>
          <a:p>
            <a:pPr marL="12700" marR="5080"/>
            <a:r>
              <a:rPr lang="en-US" sz="1500" dirty="0">
                <a:solidFill>
                  <a:schemeClr val="accent6"/>
                </a:solidFill>
                <a:latin typeface="Google Sans"/>
              </a:rPr>
              <a:t>Prioritize failing fast over queueing when necessary.</a:t>
            </a:r>
          </a:p>
        </p:txBody>
      </p:sp>
      <p:grpSp>
        <p:nvGrpSpPr>
          <p:cNvPr id="7" name="Group 6">
            <a:extLst>
              <a:ext uri="{FF2B5EF4-FFF2-40B4-BE49-F238E27FC236}">
                <a16:creationId xmlns:a16="http://schemas.microsoft.com/office/drawing/2014/main" id="{79ADAF34-4A66-6F17-5F70-189273E8246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9F6028AF-2C0C-AB2A-ED84-7AE9A619715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AF1C4CB-696F-2F27-903D-43693F95140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150445964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4B0F4-443B-8AEC-B6A7-5AA5527B474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3A7495F-4BA1-A641-3D83-447B701BCAC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A47C130-F556-82B9-8CFB-B2D5EE6EECB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5A49109-BB34-6834-55DF-2F2F68D1976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92C26CE-F90E-ECA3-AD25-3A17EC16F464}"/>
              </a:ext>
            </a:extLst>
          </p:cNvPr>
          <p:cNvSpPr txBox="1">
            <a:spLocks/>
          </p:cNvSpPr>
          <p:nvPr/>
        </p:nvSpPr>
        <p:spPr>
          <a:xfrm>
            <a:off x="76200" y="697468"/>
            <a:ext cx="8624937"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Bulkhead Isolation</a:t>
            </a:r>
          </a:p>
          <a:p>
            <a:pPr marL="12700" marR="5080"/>
            <a:r>
              <a:rPr lang="en-US" sz="1800" dirty="0">
                <a:solidFill>
                  <a:schemeClr val="accent2"/>
                </a:solidFill>
                <a:latin typeface="Google Sans"/>
              </a:rPr>
              <a:t>Architectural techniques (high-level categories)</a:t>
            </a:r>
          </a:p>
          <a:p>
            <a:pPr marL="12700" marR="5080"/>
            <a:r>
              <a:rPr lang="en-US" sz="1500" dirty="0">
                <a:solidFill>
                  <a:schemeClr val="accent2"/>
                </a:solidFill>
                <a:latin typeface="Google Sans"/>
              </a:rPr>
              <a:t>Physical segregation</a:t>
            </a:r>
          </a:p>
          <a:p>
            <a:pPr marL="12700" marR="5080"/>
            <a:r>
              <a:rPr lang="en-US" sz="1500" dirty="0">
                <a:solidFill>
                  <a:schemeClr val="accent6"/>
                </a:solidFill>
                <a:latin typeface="Google Sans"/>
              </a:rPr>
              <a:t>Separate hardware (dedicated nodes or racks) for critical workloads.</a:t>
            </a:r>
          </a:p>
          <a:p>
            <a:pPr marL="12700" marR="5080"/>
            <a:r>
              <a:rPr lang="en-US" sz="1500" dirty="0">
                <a:solidFill>
                  <a:schemeClr val="accent6"/>
                </a:solidFill>
                <a:latin typeface="Google Sans"/>
              </a:rPr>
              <a:t>Fault domain planning</a:t>
            </a:r>
          </a:p>
          <a:p>
            <a:pPr marL="12700" marR="5080"/>
            <a:r>
              <a:rPr lang="en-US" sz="1500" dirty="0">
                <a:solidFill>
                  <a:schemeClr val="accent6"/>
                </a:solidFill>
                <a:latin typeface="Google Sans"/>
              </a:rPr>
              <a:t>Use cloud fault domains / availability zones to limit correlated failures.</a:t>
            </a:r>
          </a:p>
          <a:p>
            <a:pPr marL="12700" marR="5080"/>
            <a:r>
              <a:rPr lang="en-US" sz="1500" dirty="0">
                <a:solidFill>
                  <a:schemeClr val="accent2"/>
                </a:solidFill>
                <a:latin typeface="Google Sans"/>
              </a:rPr>
              <a:t>Tenant / customer isolation modes</a:t>
            </a:r>
          </a:p>
          <a:p>
            <a:pPr marL="12700" marR="5080"/>
            <a:r>
              <a:rPr lang="en-US" sz="1500" dirty="0">
                <a:solidFill>
                  <a:schemeClr val="accent6"/>
                </a:solidFill>
                <a:latin typeface="Google Sans"/>
              </a:rPr>
              <a:t>Single-tenant vs multi-tenant: choose dedicated pools for noisy tenants.</a:t>
            </a:r>
          </a:p>
          <a:p>
            <a:pPr marL="12700" marR="5080"/>
            <a:r>
              <a:rPr lang="en-US" sz="1500" dirty="0">
                <a:solidFill>
                  <a:schemeClr val="accent6"/>
                </a:solidFill>
                <a:latin typeface="Google Sans"/>
              </a:rPr>
              <a:t>Resource quotas enforced by orchestration</a:t>
            </a:r>
          </a:p>
          <a:p>
            <a:pPr marL="12700" marR="5080"/>
            <a:r>
              <a:rPr lang="en-US" sz="1500" dirty="0">
                <a:solidFill>
                  <a:schemeClr val="accent6"/>
                </a:solidFill>
                <a:latin typeface="Google Sans"/>
              </a:rPr>
              <a:t>Kubernetes </a:t>
            </a:r>
            <a:r>
              <a:rPr lang="en-US" sz="1500" dirty="0" err="1">
                <a:solidFill>
                  <a:schemeClr val="accent6"/>
                </a:solidFill>
                <a:latin typeface="Google Sans"/>
              </a:rPr>
              <a:t>ResourceQuota</a:t>
            </a:r>
            <a:r>
              <a:rPr lang="en-US" sz="1500" dirty="0">
                <a:solidFill>
                  <a:schemeClr val="accent6"/>
                </a:solidFill>
                <a:latin typeface="Google Sans"/>
              </a:rPr>
              <a:t> / </a:t>
            </a:r>
            <a:r>
              <a:rPr lang="en-US" sz="1500" dirty="0" err="1">
                <a:solidFill>
                  <a:schemeClr val="accent6"/>
                </a:solidFill>
                <a:latin typeface="Google Sans"/>
              </a:rPr>
              <a:t>LimitRange</a:t>
            </a:r>
            <a:r>
              <a:rPr lang="en-US" sz="1500" dirty="0">
                <a:solidFill>
                  <a:schemeClr val="accent6"/>
                </a:solidFill>
                <a:latin typeface="Google Sans"/>
              </a:rPr>
              <a:t>; Azure/AWS quotas.</a:t>
            </a:r>
          </a:p>
          <a:p>
            <a:pPr marL="12700" marR="5080"/>
            <a:endParaRPr lang="en-US" sz="1500" dirty="0">
              <a:solidFill>
                <a:schemeClr val="accent6"/>
              </a:solidFill>
              <a:latin typeface="Google Sans"/>
            </a:endParaRPr>
          </a:p>
          <a:p>
            <a:pPr marL="12700" marR="5080"/>
            <a:r>
              <a:rPr lang="en-US" sz="1800" dirty="0">
                <a:solidFill>
                  <a:schemeClr val="accent2"/>
                </a:solidFill>
                <a:latin typeface="Google Sans"/>
              </a:rPr>
              <a:t>.NET-specific implementation techniques</a:t>
            </a:r>
          </a:p>
          <a:p>
            <a:pPr marL="12700" marR="5080"/>
            <a:r>
              <a:rPr lang="en-US" sz="1500" dirty="0">
                <a:solidFill>
                  <a:schemeClr val="accent2"/>
                </a:solidFill>
                <a:latin typeface="Google Sans"/>
              </a:rPr>
              <a:t>Concurrency and semaphore techniques</a:t>
            </a:r>
          </a:p>
          <a:p>
            <a:pPr marL="12700" marR="5080"/>
            <a:r>
              <a:rPr lang="en-US" sz="1500" dirty="0" err="1">
                <a:solidFill>
                  <a:schemeClr val="accent6"/>
                </a:solidFill>
                <a:latin typeface="Google Sans"/>
              </a:rPr>
              <a:t>SemaphoreSlim</a:t>
            </a:r>
            <a:r>
              <a:rPr lang="en-US" sz="1500" dirty="0">
                <a:solidFill>
                  <a:schemeClr val="accent6"/>
                </a:solidFill>
                <a:latin typeface="Google Sans"/>
              </a:rPr>
              <a:t> (async-friendly)</a:t>
            </a:r>
          </a:p>
          <a:p>
            <a:pPr marL="12700" marR="5080"/>
            <a:r>
              <a:rPr lang="en-US" sz="1500" dirty="0">
                <a:solidFill>
                  <a:schemeClr val="accent6"/>
                </a:solidFill>
                <a:latin typeface="Google Sans"/>
              </a:rPr>
              <a:t>Use a </a:t>
            </a:r>
            <a:r>
              <a:rPr lang="en-US" sz="1500" dirty="0" err="1">
                <a:solidFill>
                  <a:schemeClr val="accent6"/>
                </a:solidFill>
                <a:latin typeface="Google Sans"/>
              </a:rPr>
              <a:t>SemaphoreSlim</a:t>
            </a:r>
            <a:r>
              <a:rPr lang="en-US" sz="1500" dirty="0">
                <a:solidFill>
                  <a:schemeClr val="accent6"/>
                </a:solidFill>
                <a:latin typeface="Google Sans"/>
              </a:rPr>
              <a:t>(</a:t>
            </a:r>
            <a:r>
              <a:rPr lang="en-US" sz="1500" dirty="0" err="1">
                <a:solidFill>
                  <a:schemeClr val="accent6"/>
                </a:solidFill>
                <a:latin typeface="Google Sans"/>
              </a:rPr>
              <a:t>maxConcurrency</a:t>
            </a:r>
            <a:r>
              <a:rPr lang="en-US" sz="1500" dirty="0">
                <a:solidFill>
                  <a:schemeClr val="accent6"/>
                </a:solidFill>
                <a:latin typeface="Google Sans"/>
              </a:rPr>
              <a:t>) to gate parallel operations in controllers, background workers, or </a:t>
            </a:r>
            <a:r>
              <a:rPr lang="en-US" sz="1500" dirty="0" err="1">
                <a:solidFill>
                  <a:schemeClr val="accent6"/>
                </a:solidFill>
                <a:latin typeface="Google Sans"/>
              </a:rPr>
              <a:t>IHostedServices</a:t>
            </a:r>
            <a:r>
              <a:rPr lang="en-US" sz="1500" dirty="0">
                <a:solidFill>
                  <a:schemeClr val="accent6"/>
                </a:solidFill>
                <a:latin typeface="Google Sans"/>
              </a:rPr>
              <a:t>.</a:t>
            </a:r>
          </a:p>
          <a:p>
            <a:pPr marL="12700" marR="5080"/>
            <a:r>
              <a:rPr lang="en-US" sz="1500" dirty="0">
                <a:solidFill>
                  <a:schemeClr val="accent2"/>
                </a:solidFill>
                <a:latin typeface="Google Sans"/>
              </a:rPr>
              <a:t>Pros: </a:t>
            </a:r>
            <a:r>
              <a:rPr lang="en-US" sz="1500" dirty="0">
                <a:solidFill>
                  <a:schemeClr val="accent6"/>
                </a:solidFill>
                <a:latin typeface="Google Sans"/>
              </a:rPr>
              <a:t>simple, low dependency. Cons: manual management of waits/timeouts.</a:t>
            </a:r>
          </a:p>
          <a:p>
            <a:pPr marL="12700" marR="5080"/>
            <a:r>
              <a:rPr lang="en-US" sz="1500" dirty="0">
                <a:solidFill>
                  <a:schemeClr val="accent6"/>
                </a:solidFill>
                <a:latin typeface="Google Sans"/>
              </a:rPr>
              <a:t>private </a:t>
            </a:r>
            <a:r>
              <a:rPr lang="en-US" sz="1500" dirty="0" err="1">
                <a:solidFill>
                  <a:schemeClr val="accent6"/>
                </a:solidFill>
                <a:latin typeface="Google Sans"/>
              </a:rPr>
              <a:t>readonly</a:t>
            </a:r>
            <a:r>
              <a:rPr lang="en-US" sz="1500" dirty="0">
                <a:solidFill>
                  <a:schemeClr val="accent6"/>
                </a:solidFill>
                <a:latin typeface="Google Sans"/>
              </a:rPr>
              <a:t> </a:t>
            </a:r>
            <a:r>
              <a:rPr lang="en-US" sz="1500" dirty="0" err="1">
                <a:solidFill>
                  <a:schemeClr val="accent6"/>
                </a:solidFill>
                <a:latin typeface="Google Sans"/>
              </a:rPr>
              <a:t>SemaphoreSlim</a:t>
            </a:r>
            <a:r>
              <a:rPr lang="en-US" sz="1500" dirty="0">
                <a:solidFill>
                  <a:schemeClr val="accent6"/>
                </a:solidFill>
                <a:latin typeface="Google Sans"/>
              </a:rPr>
              <a:t> _</a:t>
            </a:r>
            <a:r>
              <a:rPr lang="en-US" sz="1500" dirty="0" err="1">
                <a:solidFill>
                  <a:schemeClr val="accent6"/>
                </a:solidFill>
                <a:latin typeface="Google Sans"/>
              </a:rPr>
              <a:t>sem</a:t>
            </a:r>
            <a:r>
              <a:rPr lang="en-US" sz="1500" dirty="0">
                <a:solidFill>
                  <a:schemeClr val="accent6"/>
                </a:solidFill>
                <a:latin typeface="Google Sans"/>
              </a:rPr>
              <a:t> = new </a:t>
            </a:r>
            <a:r>
              <a:rPr lang="en-US" sz="1500" dirty="0" err="1">
                <a:solidFill>
                  <a:schemeClr val="accent6"/>
                </a:solidFill>
                <a:latin typeface="Google Sans"/>
              </a:rPr>
              <a:t>SemaphoreSlim</a:t>
            </a:r>
            <a:r>
              <a:rPr lang="en-US" sz="1500" dirty="0">
                <a:solidFill>
                  <a:schemeClr val="accent6"/>
                </a:solidFill>
                <a:latin typeface="Google Sans"/>
              </a:rPr>
              <a:t>(10); // max concurrent</a:t>
            </a:r>
          </a:p>
          <a:p>
            <a:pPr marL="12700" marR="5080"/>
            <a:endParaRPr lang="en-US" sz="1500" dirty="0">
              <a:solidFill>
                <a:schemeClr val="accent6"/>
              </a:solidFill>
              <a:latin typeface="Google Sans"/>
            </a:endParaRPr>
          </a:p>
        </p:txBody>
      </p:sp>
      <p:grpSp>
        <p:nvGrpSpPr>
          <p:cNvPr id="7" name="Group 6">
            <a:extLst>
              <a:ext uri="{FF2B5EF4-FFF2-40B4-BE49-F238E27FC236}">
                <a16:creationId xmlns:a16="http://schemas.microsoft.com/office/drawing/2014/main" id="{B075BC0F-2C10-7E84-FEEE-70409B18D28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4467B502-A8B0-E567-23F7-E18D7044151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332B3596-0DE2-3DC2-3DB7-BF55D5C7CE9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3731822699"/>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10027-2A1C-6182-F2BC-8D0245EA185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E250919-F88A-D04C-9685-4EAA34E3182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B4EDE5F-084C-D00E-F68B-31293CD6226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F385D2C7-DE3C-4A91-6EDA-4C57E04BF08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93C6D93-2836-1E59-90C9-4B6C16958CE1}"/>
              </a:ext>
            </a:extLst>
          </p:cNvPr>
          <p:cNvSpPr txBox="1">
            <a:spLocks/>
          </p:cNvSpPr>
          <p:nvPr/>
        </p:nvSpPr>
        <p:spPr>
          <a:xfrm>
            <a:off x="76200" y="697468"/>
            <a:ext cx="8624937" cy="49398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Bulkhead Isolation</a:t>
            </a:r>
          </a:p>
          <a:p>
            <a:pPr marL="12700" marR="5080"/>
            <a:r>
              <a:rPr lang="en-US" sz="1800" dirty="0">
                <a:solidFill>
                  <a:schemeClr val="accent2"/>
                </a:solidFill>
                <a:latin typeface="Google Sans"/>
              </a:rPr>
              <a:t>.NET-specific implementation techniques</a:t>
            </a:r>
          </a:p>
          <a:p>
            <a:pPr marL="12700" marR="5080"/>
            <a:r>
              <a:rPr lang="en-US" sz="1500" dirty="0">
                <a:solidFill>
                  <a:schemeClr val="accent2"/>
                </a:solidFill>
                <a:latin typeface="Google Sans"/>
              </a:rPr>
              <a:t>Concurrency and semaphore techniques</a:t>
            </a:r>
          </a:p>
          <a:p>
            <a:pPr marL="12700" marR="5080"/>
            <a:r>
              <a:rPr lang="en-US" sz="1500" dirty="0">
                <a:solidFill>
                  <a:schemeClr val="accent6"/>
                </a:solidFill>
                <a:latin typeface="Google Sans"/>
              </a:rPr>
              <a:t>public async Task&lt;</a:t>
            </a:r>
            <a:r>
              <a:rPr lang="en-US" sz="1500" dirty="0" err="1">
                <a:solidFill>
                  <a:schemeClr val="accent6"/>
                </a:solidFill>
                <a:latin typeface="Google Sans"/>
              </a:rPr>
              <a:t>IActionResult</a:t>
            </a:r>
            <a:r>
              <a:rPr lang="en-US" sz="1500" dirty="0">
                <a:solidFill>
                  <a:schemeClr val="accent6"/>
                </a:solidFill>
                <a:latin typeface="Google Sans"/>
              </a:rPr>
              <a:t>&gt; Handle()</a:t>
            </a:r>
          </a:p>
          <a:p>
            <a:pPr marL="12700" marR="5080"/>
            <a:r>
              <a:rPr lang="en-US" sz="1500" dirty="0">
                <a:solidFill>
                  <a:schemeClr val="accent6"/>
                </a:solidFill>
                <a:latin typeface="Google Sans"/>
              </a:rPr>
              <a:t>{</a:t>
            </a:r>
          </a:p>
          <a:p>
            <a:pPr marL="12700" marR="5080"/>
            <a:r>
              <a:rPr lang="en-US" sz="1500" dirty="0">
                <a:solidFill>
                  <a:schemeClr val="accent6"/>
                </a:solidFill>
                <a:latin typeface="Google Sans"/>
              </a:rPr>
              <a:t>    if (!await _</a:t>
            </a:r>
            <a:r>
              <a:rPr lang="en-US" sz="1500" dirty="0" err="1">
                <a:solidFill>
                  <a:schemeClr val="accent6"/>
                </a:solidFill>
                <a:latin typeface="Google Sans"/>
              </a:rPr>
              <a:t>sem.WaitAsync</a:t>
            </a:r>
            <a:r>
              <a:rPr lang="en-US" sz="1500" dirty="0">
                <a:solidFill>
                  <a:schemeClr val="accent6"/>
                </a:solidFill>
                <a:latin typeface="Google Sans"/>
              </a:rPr>
              <a:t>(0))</a:t>
            </a:r>
          </a:p>
          <a:p>
            <a:pPr marL="12700" marR="5080"/>
            <a:r>
              <a:rPr lang="en-US" sz="1500" dirty="0">
                <a:solidFill>
                  <a:schemeClr val="accent6"/>
                </a:solidFill>
                <a:latin typeface="Google Sans"/>
              </a:rPr>
              <a:t>        return </a:t>
            </a:r>
            <a:r>
              <a:rPr lang="en-US" sz="1500" dirty="0" err="1">
                <a:solidFill>
                  <a:schemeClr val="accent6"/>
                </a:solidFill>
                <a:latin typeface="Google Sans"/>
              </a:rPr>
              <a:t>StatusCode</a:t>
            </a:r>
            <a:r>
              <a:rPr lang="en-US" sz="1500" dirty="0">
                <a:solidFill>
                  <a:schemeClr val="accent6"/>
                </a:solidFill>
                <a:latin typeface="Google Sans"/>
              </a:rPr>
              <a:t>(429, "Too many requests"); // or 503</a:t>
            </a:r>
          </a:p>
          <a:p>
            <a:pPr marL="12700" marR="5080"/>
            <a:endParaRPr lang="en-US" sz="1500" dirty="0">
              <a:solidFill>
                <a:schemeClr val="accent6"/>
              </a:solidFill>
              <a:latin typeface="Google Sans"/>
            </a:endParaRPr>
          </a:p>
          <a:p>
            <a:pPr marL="12700" marR="5080"/>
            <a:r>
              <a:rPr lang="en-US" sz="1500" dirty="0">
                <a:solidFill>
                  <a:schemeClr val="accent6"/>
                </a:solidFill>
                <a:latin typeface="Google Sans"/>
              </a:rPr>
              <a:t>    try</a:t>
            </a:r>
          </a:p>
          <a:p>
            <a:pPr marL="12700" marR="5080"/>
            <a:r>
              <a:rPr lang="en-US" sz="1500" dirty="0">
                <a:solidFill>
                  <a:schemeClr val="accent6"/>
                </a:solidFill>
                <a:latin typeface="Google Sans"/>
              </a:rPr>
              <a:t>    {</a:t>
            </a:r>
          </a:p>
          <a:p>
            <a:pPr marL="12700" marR="5080"/>
            <a:r>
              <a:rPr lang="en-US" sz="1500" dirty="0">
                <a:solidFill>
                  <a:schemeClr val="accent6"/>
                </a:solidFill>
                <a:latin typeface="Google Sans"/>
              </a:rPr>
              <a:t>        // do work</a:t>
            </a:r>
          </a:p>
          <a:p>
            <a:pPr marL="12700" marR="5080"/>
            <a:r>
              <a:rPr lang="en-US" sz="1500" dirty="0">
                <a:solidFill>
                  <a:schemeClr val="accent6"/>
                </a:solidFill>
                <a:latin typeface="Google Sans"/>
              </a:rPr>
              <a:t>    }</a:t>
            </a:r>
          </a:p>
          <a:p>
            <a:pPr marL="12700" marR="5080"/>
            <a:r>
              <a:rPr lang="en-US" sz="1500" dirty="0">
                <a:solidFill>
                  <a:schemeClr val="accent6"/>
                </a:solidFill>
                <a:latin typeface="Google Sans"/>
              </a:rPr>
              <a:t>    finally</a:t>
            </a:r>
          </a:p>
          <a:p>
            <a:pPr marL="12700" marR="5080"/>
            <a:r>
              <a:rPr lang="en-US" sz="1500" dirty="0">
                <a:solidFill>
                  <a:schemeClr val="accent6"/>
                </a:solidFill>
                <a:latin typeface="Google Sans"/>
              </a:rPr>
              <a:t>    {</a:t>
            </a:r>
          </a:p>
          <a:p>
            <a:pPr marL="12700" marR="5080"/>
            <a:r>
              <a:rPr lang="en-US" sz="1500" dirty="0">
                <a:solidFill>
                  <a:schemeClr val="accent6"/>
                </a:solidFill>
                <a:latin typeface="Google Sans"/>
              </a:rPr>
              <a:t>        _</a:t>
            </a:r>
            <a:r>
              <a:rPr lang="en-US" sz="1500" dirty="0" err="1">
                <a:solidFill>
                  <a:schemeClr val="accent6"/>
                </a:solidFill>
                <a:latin typeface="Google Sans"/>
              </a:rPr>
              <a:t>sem.Release</a:t>
            </a:r>
            <a:r>
              <a:rPr lang="en-US" sz="1500" dirty="0">
                <a:solidFill>
                  <a:schemeClr val="accent6"/>
                </a:solidFill>
                <a:latin typeface="Google Sans"/>
              </a:rPr>
              <a:t>();</a:t>
            </a:r>
          </a:p>
          <a:p>
            <a:pPr marL="12700" marR="5080"/>
            <a:r>
              <a:rPr lang="en-US" sz="1500" dirty="0">
                <a:solidFill>
                  <a:schemeClr val="accent6"/>
                </a:solidFill>
                <a:latin typeface="Google Sans"/>
              </a:rPr>
              <a:t>    }</a:t>
            </a:r>
          </a:p>
          <a:p>
            <a:pPr marL="12700" marR="5080"/>
            <a:r>
              <a:rPr lang="en-US" sz="1500" dirty="0">
                <a:solidFill>
                  <a:schemeClr val="accent6"/>
                </a:solidFill>
                <a:latin typeface="Google Sans"/>
              </a:rPr>
              <a:t>}</a:t>
            </a:r>
          </a:p>
          <a:p>
            <a:pPr marL="12700" marR="5080"/>
            <a:r>
              <a:rPr lang="en-US" sz="1500" dirty="0" err="1">
                <a:solidFill>
                  <a:schemeClr val="accent6"/>
                </a:solidFill>
                <a:latin typeface="Google Sans"/>
              </a:rPr>
              <a:t>SemaphoreSlim</a:t>
            </a:r>
            <a:r>
              <a:rPr lang="en-US" sz="1500" dirty="0">
                <a:solidFill>
                  <a:schemeClr val="accent6"/>
                </a:solidFill>
                <a:latin typeface="Google Sans"/>
              </a:rPr>
              <a:t> with timeout and cancellation</a:t>
            </a:r>
          </a:p>
          <a:p>
            <a:pPr marL="12700" marR="5080"/>
            <a:r>
              <a:rPr lang="en-US" sz="1500" dirty="0">
                <a:solidFill>
                  <a:schemeClr val="accent6"/>
                </a:solidFill>
                <a:latin typeface="Google Sans"/>
              </a:rPr>
              <a:t>Always use </a:t>
            </a:r>
            <a:r>
              <a:rPr lang="en-US" sz="1500" dirty="0" err="1">
                <a:solidFill>
                  <a:schemeClr val="accent6"/>
                </a:solidFill>
                <a:latin typeface="Google Sans"/>
              </a:rPr>
              <a:t>WaitAsync</a:t>
            </a:r>
            <a:r>
              <a:rPr lang="en-US" sz="1500" dirty="0">
                <a:solidFill>
                  <a:schemeClr val="accent6"/>
                </a:solidFill>
                <a:latin typeface="Google Sans"/>
              </a:rPr>
              <a:t>(timeout, token) to avoid deadlocks.</a:t>
            </a:r>
          </a:p>
        </p:txBody>
      </p:sp>
      <p:grpSp>
        <p:nvGrpSpPr>
          <p:cNvPr id="7" name="Group 6">
            <a:extLst>
              <a:ext uri="{FF2B5EF4-FFF2-40B4-BE49-F238E27FC236}">
                <a16:creationId xmlns:a16="http://schemas.microsoft.com/office/drawing/2014/main" id="{A8CC2001-95F5-1329-891D-CE333194F84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258ACF2-F79D-60D9-752A-2949D56901E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B87B58A5-A00D-D16B-865D-9FB443BD455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2147360269"/>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71E8F-20BF-41FE-532E-73192B1281E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F28CB23-D998-6722-D514-1E01402474C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E02743F-5D55-FD0C-BBB7-5763F94E97B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E7DAF18-8C11-F841-6056-13EC666C170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9C724F7-47A9-5AEE-7657-04C5C4014386}"/>
              </a:ext>
            </a:extLst>
          </p:cNvPr>
          <p:cNvSpPr txBox="1">
            <a:spLocks/>
          </p:cNvSpPr>
          <p:nvPr/>
        </p:nvSpPr>
        <p:spPr>
          <a:xfrm>
            <a:off x="76200" y="697468"/>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Bulkhead Isolation</a:t>
            </a:r>
          </a:p>
          <a:p>
            <a:pPr marL="12700" marR="5080"/>
            <a:r>
              <a:rPr lang="en-US" sz="1800" dirty="0">
                <a:solidFill>
                  <a:schemeClr val="accent2"/>
                </a:solidFill>
                <a:latin typeface="Google Sans"/>
              </a:rPr>
              <a:t>.NET-specific implementation techniques</a:t>
            </a:r>
          </a:p>
          <a:p>
            <a:pPr marL="12700" marR="5080"/>
            <a:r>
              <a:rPr lang="en-US" sz="1500" dirty="0">
                <a:solidFill>
                  <a:schemeClr val="accent2"/>
                </a:solidFill>
                <a:latin typeface="Google Sans"/>
              </a:rPr>
              <a:t>Polly policies (resilience + bulkhead)</a:t>
            </a:r>
          </a:p>
          <a:p>
            <a:pPr marL="12700" marR="5080"/>
            <a:r>
              <a:rPr lang="en-US" sz="1500" dirty="0">
                <a:solidFill>
                  <a:schemeClr val="accent6"/>
                </a:solidFill>
                <a:latin typeface="Google Sans"/>
              </a:rPr>
              <a:t>Polly </a:t>
            </a:r>
            <a:r>
              <a:rPr lang="en-US" sz="1500" dirty="0" err="1">
                <a:solidFill>
                  <a:schemeClr val="accent6"/>
                </a:solidFill>
                <a:latin typeface="Google Sans"/>
              </a:rPr>
              <a:t>BulkheadPolicy</a:t>
            </a:r>
            <a:endParaRPr lang="en-US" sz="1500" dirty="0">
              <a:solidFill>
                <a:schemeClr val="accent6"/>
              </a:solidFill>
              <a:latin typeface="Google Sans"/>
            </a:endParaRPr>
          </a:p>
          <a:p>
            <a:pPr marL="12700" marR="5080"/>
            <a:r>
              <a:rPr lang="en-US" sz="1500" dirty="0" err="1">
                <a:solidFill>
                  <a:schemeClr val="accent6"/>
                </a:solidFill>
                <a:latin typeface="Google Sans"/>
              </a:rPr>
              <a:t>Policy.BulkheadAsync</a:t>
            </a:r>
            <a:r>
              <a:rPr lang="en-US" sz="1500" dirty="0">
                <a:solidFill>
                  <a:schemeClr val="accent6"/>
                </a:solidFill>
                <a:latin typeface="Google Sans"/>
              </a:rPr>
              <a:t>(</a:t>
            </a:r>
            <a:r>
              <a:rPr lang="en-US" sz="1500" dirty="0" err="1">
                <a:solidFill>
                  <a:schemeClr val="accent6"/>
                </a:solidFill>
                <a:latin typeface="Google Sans"/>
              </a:rPr>
              <a:t>maxParallelization</a:t>
            </a:r>
            <a:r>
              <a:rPr lang="en-US" sz="1500" dirty="0">
                <a:solidFill>
                  <a:schemeClr val="accent6"/>
                </a:solidFill>
                <a:latin typeface="Google Sans"/>
              </a:rPr>
              <a:t>, </a:t>
            </a:r>
            <a:r>
              <a:rPr lang="en-US" sz="1500" dirty="0" err="1">
                <a:solidFill>
                  <a:schemeClr val="accent6"/>
                </a:solidFill>
                <a:latin typeface="Google Sans"/>
              </a:rPr>
              <a:t>maxQueuingActions</a:t>
            </a:r>
            <a:r>
              <a:rPr lang="en-US" sz="1500" dirty="0">
                <a:solidFill>
                  <a:schemeClr val="accent6"/>
                </a:solidFill>
                <a:latin typeface="Google Sans"/>
              </a:rPr>
              <a:t>) provides a semaphore + queue.</a:t>
            </a:r>
          </a:p>
          <a:p>
            <a:pPr marL="12700" marR="5080"/>
            <a:r>
              <a:rPr lang="en-US" sz="1500" dirty="0">
                <a:solidFill>
                  <a:schemeClr val="accent6"/>
                </a:solidFill>
                <a:latin typeface="Google Sans"/>
              </a:rPr>
              <a:t>Integrates with </a:t>
            </a:r>
            <a:r>
              <a:rPr lang="en-US" sz="1500" dirty="0" err="1">
                <a:solidFill>
                  <a:schemeClr val="accent6"/>
                </a:solidFill>
                <a:latin typeface="Google Sans"/>
              </a:rPr>
              <a:t>CircuitBreaker</a:t>
            </a:r>
            <a:r>
              <a:rPr lang="en-US" sz="1500" dirty="0">
                <a:solidFill>
                  <a:schemeClr val="accent6"/>
                </a:solidFill>
                <a:latin typeface="Google Sans"/>
              </a:rPr>
              <a:t>, Retry, Timeout.</a:t>
            </a:r>
          </a:p>
          <a:p>
            <a:pPr marL="12700" marR="5080"/>
            <a:r>
              <a:rPr lang="en-US" sz="1500" dirty="0">
                <a:solidFill>
                  <a:schemeClr val="accent6"/>
                </a:solidFill>
                <a:latin typeface="Google Sans"/>
              </a:rPr>
              <a:t>Example:</a:t>
            </a:r>
          </a:p>
          <a:p>
            <a:pPr marL="12700" marR="5080"/>
            <a:r>
              <a:rPr lang="en-US" sz="1500" dirty="0">
                <a:solidFill>
                  <a:schemeClr val="accent6"/>
                </a:solidFill>
                <a:latin typeface="Google Sans"/>
              </a:rPr>
              <a:t>var bulkhead = </a:t>
            </a:r>
            <a:r>
              <a:rPr lang="en-US" sz="1500" dirty="0" err="1">
                <a:solidFill>
                  <a:schemeClr val="accent6"/>
                </a:solidFill>
                <a:latin typeface="Google Sans"/>
              </a:rPr>
              <a:t>Policy.BulkheadAsync</a:t>
            </a:r>
            <a:r>
              <a:rPr lang="en-US" sz="1500" dirty="0">
                <a:solidFill>
                  <a:schemeClr val="accent6"/>
                </a:solidFill>
                <a:latin typeface="Google Sans"/>
              </a:rPr>
              <a:t>(10, 20); // 10 concurrent, 20 queued</a:t>
            </a:r>
          </a:p>
          <a:p>
            <a:pPr marL="12700" marR="5080"/>
            <a:r>
              <a:rPr lang="en-US" sz="1500" dirty="0">
                <a:solidFill>
                  <a:schemeClr val="accent6"/>
                </a:solidFill>
                <a:latin typeface="Google Sans"/>
              </a:rPr>
              <a:t>await </a:t>
            </a:r>
            <a:r>
              <a:rPr lang="en-US" sz="1500" dirty="0" err="1">
                <a:solidFill>
                  <a:schemeClr val="accent6"/>
                </a:solidFill>
                <a:latin typeface="Google Sans"/>
              </a:rPr>
              <a:t>bulkhead.ExecuteAsync</a:t>
            </a:r>
            <a:r>
              <a:rPr lang="en-US" sz="1500" dirty="0">
                <a:solidFill>
                  <a:schemeClr val="accent6"/>
                </a:solidFill>
                <a:latin typeface="Google Sans"/>
              </a:rPr>
              <a:t>(async () =&gt; { await </a:t>
            </a:r>
            <a:r>
              <a:rPr lang="en-US" sz="1500" dirty="0" err="1">
                <a:solidFill>
                  <a:schemeClr val="accent6"/>
                </a:solidFill>
                <a:latin typeface="Google Sans"/>
              </a:rPr>
              <a:t>DoWork</a:t>
            </a:r>
            <a:r>
              <a:rPr lang="en-US" sz="1500" dirty="0">
                <a:solidFill>
                  <a:schemeClr val="accent6"/>
                </a:solidFill>
                <a:latin typeface="Google Sans"/>
              </a:rPr>
              <a:t>(); });</a:t>
            </a:r>
          </a:p>
          <a:p>
            <a:pPr marL="12700" marR="5080"/>
            <a:r>
              <a:rPr lang="en-US" sz="1500" dirty="0">
                <a:solidFill>
                  <a:schemeClr val="accent6"/>
                </a:solidFill>
                <a:latin typeface="Google Sans"/>
              </a:rPr>
              <a:t>When the bulkhead rejects, handle accordingly (429/503 or fallback).</a:t>
            </a:r>
          </a:p>
          <a:p>
            <a:pPr marL="12700" marR="5080"/>
            <a:r>
              <a:rPr lang="en-US" sz="1500" dirty="0">
                <a:solidFill>
                  <a:schemeClr val="accent6"/>
                </a:solidFill>
                <a:latin typeface="Google Sans"/>
              </a:rPr>
              <a:t>Polly </a:t>
            </a:r>
            <a:r>
              <a:rPr lang="en-US" sz="1500" dirty="0" err="1">
                <a:solidFill>
                  <a:schemeClr val="accent6"/>
                </a:solidFill>
                <a:latin typeface="Google Sans"/>
              </a:rPr>
              <a:t>ConcurrencyLimitPolicy</a:t>
            </a:r>
            <a:r>
              <a:rPr lang="en-US" sz="1500" dirty="0">
                <a:solidFill>
                  <a:schemeClr val="accent6"/>
                </a:solidFill>
                <a:latin typeface="Google Sans"/>
              </a:rPr>
              <a:t> (new)</a:t>
            </a:r>
          </a:p>
          <a:p>
            <a:pPr marL="12700" marR="5080"/>
            <a:r>
              <a:rPr lang="en-US" sz="1500" dirty="0">
                <a:solidFill>
                  <a:schemeClr val="accent6"/>
                </a:solidFill>
                <a:latin typeface="Google Sans"/>
              </a:rPr>
              <a:t>In newer Polly, there's </a:t>
            </a:r>
            <a:r>
              <a:rPr lang="en-US" sz="1500" dirty="0" err="1">
                <a:solidFill>
                  <a:schemeClr val="accent6"/>
                </a:solidFill>
                <a:latin typeface="Google Sans"/>
              </a:rPr>
              <a:t>ConcurrencyLimitAsync</a:t>
            </a:r>
            <a:r>
              <a:rPr lang="en-US" sz="1500" dirty="0">
                <a:solidFill>
                  <a:schemeClr val="accent6"/>
                </a:solidFill>
                <a:latin typeface="Google Sans"/>
              </a:rPr>
              <a:t> to limit concurrency (similar to bulkhead but lighter).</a:t>
            </a:r>
          </a:p>
          <a:p>
            <a:pPr marL="12700" marR="5080"/>
            <a:r>
              <a:rPr lang="en-US" sz="1500" dirty="0">
                <a:solidFill>
                  <a:schemeClr val="accent2"/>
                </a:solidFill>
                <a:latin typeface="Google Sans"/>
              </a:rPr>
              <a:t>TPL Dataflow</a:t>
            </a:r>
          </a:p>
          <a:p>
            <a:pPr marL="12700" marR="5080"/>
            <a:r>
              <a:rPr lang="en-US" sz="1500" dirty="0">
                <a:solidFill>
                  <a:schemeClr val="accent6"/>
                </a:solidFill>
                <a:latin typeface="Google Sans"/>
              </a:rPr>
              <a:t>TPL Dataflow </a:t>
            </a:r>
            <a:r>
              <a:rPr lang="en-US" sz="1500" dirty="0" err="1">
                <a:solidFill>
                  <a:schemeClr val="accent6"/>
                </a:solidFill>
                <a:latin typeface="Google Sans"/>
              </a:rPr>
              <a:t>ActionBlock</a:t>
            </a:r>
            <a:r>
              <a:rPr lang="en-US" sz="1500" dirty="0">
                <a:solidFill>
                  <a:schemeClr val="accent6"/>
                </a:solidFill>
                <a:latin typeface="Google Sans"/>
              </a:rPr>
              <a:t> / </a:t>
            </a:r>
            <a:r>
              <a:rPr lang="en-US" sz="1500" dirty="0" err="1">
                <a:solidFill>
                  <a:schemeClr val="accent6"/>
                </a:solidFill>
                <a:latin typeface="Google Sans"/>
              </a:rPr>
              <a:t>TransformBlock</a:t>
            </a:r>
            <a:r>
              <a:rPr lang="en-US" sz="1500" dirty="0">
                <a:solidFill>
                  <a:schemeClr val="accent6"/>
                </a:solidFill>
                <a:latin typeface="Google Sans"/>
              </a:rPr>
              <a:t> with </a:t>
            </a:r>
            <a:r>
              <a:rPr lang="en-US" sz="1500" dirty="0" err="1">
                <a:solidFill>
                  <a:schemeClr val="accent6"/>
                </a:solidFill>
                <a:latin typeface="Google Sans"/>
              </a:rPr>
              <a:t>BoundedCapacity</a:t>
            </a:r>
            <a:r>
              <a:rPr lang="en-US" sz="1500" dirty="0">
                <a:solidFill>
                  <a:schemeClr val="accent6"/>
                </a:solidFill>
                <a:latin typeface="Google Sans"/>
              </a:rPr>
              <a:t> and </a:t>
            </a:r>
            <a:r>
              <a:rPr lang="en-US" sz="1500" dirty="0" err="1">
                <a:solidFill>
                  <a:schemeClr val="accent6"/>
                </a:solidFill>
                <a:latin typeface="Google Sans"/>
              </a:rPr>
              <a:t>MaxDegreeOfParallelism</a:t>
            </a:r>
            <a:endParaRPr lang="en-US" sz="1500" dirty="0">
              <a:solidFill>
                <a:schemeClr val="accent6"/>
              </a:solidFill>
              <a:latin typeface="Google Sans"/>
            </a:endParaRPr>
          </a:p>
          <a:p>
            <a:pPr marL="12700" marR="5080"/>
            <a:r>
              <a:rPr lang="en-US" sz="1500" dirty="0">
                <a:solidFill>
                  <a:schemeClr val="accent6"/>
                </a:solidFill>
                <a:latin typeface="Google Sans"/>
              </a:rPr>
              <a:t>Powerful for producer/consumer pipelines with built-in bounding/backpressure.</a:t>
            </a:r>
          </a:p>
          <a:p>
            <a:pPr marL="12700" marR="5080"/>
            <a:r>
              <a:rPr lang="en-US" sz="1500" dirty="0">
                <a:solidFill>
                  <a:schemeClr val="accent6"/>
                </a:solidFill>
                <a:latin typeface="Google Sans"/>
              </a:rPr>
              <a:t>var options = new </a:t>
            </a:r>
            <a:r>
              <a:rPr lang="en-US" sz="1500" dirty="0" err="1">
                <a:solidFill>
                  <a:schemeClr val="accent6"/>
                </a:solidFill>
                <a:latin typeface="Google Sans"/>
              </a:rPr>
              <a:t>ExecutionDataflowBlockOptions</a:t>
            </a:r>
            <a:endParaRPr lang="en-US" sz="1500" dirty="0">
              <a:solidFill>
                <a:schemeClr val="accent6"/>
              </a:solidFill>
              <a:latin typeface="Google Sans"/>
            </a:endParaRPr>
          </a:p>
          <a:p>
            <a:pPr marL="12700" marR="5080"/>
            <a:r>
              <a:rPr lang="en-US" sz="1500" dirty="0">
                <a:solidFill>
                  <a:schemeClr val="accent6"/>
                </a:solidFill>
                <a:latin typeface="Google Sans"/>
              </a:rPr>
              <a:t>{</a:t>
            </a:r>
          </a:p>
          <a:p>
            <a:pPr marL="12700" marR="5080"/>
            <a:r>
              <a:rPr lang="en-US" sz="1500" dirty="0">
                <a:solidFill>
                  <a:schemeClr val="accent6"/>
                </a:solidFill>
                <a:latin typeface="Google Sans"/>
              </a:rPr>
              <a:t>    </a:t>
            </a:r>
            <a:r>
              <a:rPr lang="en-US" sz="1500" dirty="0" err="1">
                <a:solidFill>
                  <a:schemeClr val="accent6"/>
                </a:solidFill>
                <a:latin typeface="Google Sans"/>
              </a:rPr>
              <a:t>BoundedCapacity</a:t>
            </a:r>
            <a:r>
              <a:rPr lang="en-US" sz="1500" dirty="0">
                <a:solidFill>
                  <a:schemeClr val="accent6"/>
                </a:solidFill>
                <a:latin typeface="Google Sans"/>
              </a:rPr>
              <a:t> = 100,</a:t>
            </a:r>
          </a:p>
          <a:p>
            <a:pPr marL="12700" marR="5080"/>
            <a:r>
              <a:rPr lang="en-US" sz="1500" dirty="0">
                <a:solidFill>
                  <a:schemeClr val="accent6"/>
                </a:solidFill>
                <a:latin typeface="Google Sans"/>
              </a:rPr>
              <a:t>    </a:t>
            </a:r>
            <a:r>
              <a:rPr lang="en-US" sz="1500" dirty="0" err="1">
                <a:solidFill>
                  <a:schemeClr val="accent6"/>
                </a:solidFill>
                <a:latin typeface="Google Sans"/>
              </a:rPr>
              <a:t>MaxDegreeOfParallelism</a:t>
            </a:r>
            <a:r>
              <a:rPr lang="en-US" sz="1500" dirty="0">
                <a:solidFill>
                  <a:schemeClr val="accent6"/>
                </a:solidFill>
                <a:latin typeface="Google Sans"/>
              </a:rPr>
              <a:t> = 5</a:t>
            </a:r>
          </a:p>
          <a:p>
            <a:pPr marL="12700" marR="5080"/>
            <a:r>
              <a:rPr lang="en-US" sz="1500" dirty="0">
                <a:solidFill>
                  <a:schemeClr val="accent6"/>
                </a:solidFill>
                <a:latin typeface="Google Sans"/>
              </a:rPr>
              <a:t>};</a:t>
            </a:r>
          </a:p>
        </p:txBody>
      </p:sp>
      <p:grpSp>
        <p:nvGrpSpPr>
          <p:cNvPr id="7" name="Group 6">
            <a:extLst>
              <a:ext uri="{FF2B5EF4-FFF2-40B4-BE49-F238E27FC236}">
                <a16:creationId xmlns:a16="http://schemas.microsoft.com/office/drawing/2014/main" id="{142A775D-07F9-A7A3-BB64-8AF11F3B65B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63205FA-B747-478C-80BA-FF47AA2CE39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0165329-CEDF-9760-EF05-A57EC64A753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2382903569"/>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99D9E9-DCB7-0371-471B-5D4F5CBD6C1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C9FBEF2-3E9E-948C-64D9-629D9433A00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543490C-9956-99EE-D98A-FAB12BEFFCE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0C923AA-6BC1-4888-DDB9-BC7D0529BCE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17376F0-75F5-5390-843C-C71953E1FE44}"/>
              </a:ext>
            </a:extLst>
          </p:cNvPr>
          <p:cNvSpPr txBox="1">
            <a:spLocks/>
          </p:cNvSpPr>
          <p:nvPr/>
        </p:nvSpPr>
        <p:spPr>
          <a:xfrm>
            <a:off x="76200" y="697468"/>
            <a:ext cx="8624937" cy="49398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Bulkhead Isolation</a:t>
            </a:r>
          </a:p>
          <a:p>
            <a:pPr marL="12700" marR="5080"/>
            <a:r>
              <a:rPr lang="en-US" sz="1800" dirty="0">
                <a:solidFill>
                  <a:schemeClr val="accent2"/>
                </a:solidFill>
                <a:latin typeface="Google Sans"/>
              </a:rPr>
              <a:t>.NET-specific implementation techniques</a:t>
            </a:r>
          </a:p>
          <a:p>
            <a:pPr marL="12700" marR="5080"/>
            <a:r>
              <a:rPr lang="en-US" sz="1500" dirty="0">
                <a:solidFill>
                  <a:schemeClr val="accent2"/>
                </a:solidFill>
                <a:latin typeface="Google Sans"/>
              </a:rPr>
              <a:t>TPL Dataflow</a:t>
            </a:r>
          </a:p>
          <a:p>
            <a:pPr marL="12700" marR="5080"/>
            <a:r>
              <a:rPr lang="en-US" sz="1500" dirty="0">
                <a:solidFill>
                  <a:schemeClr val="accent6"/>
                </a:solidFill>
                <a:latin typeface="Google Sans"/>
              </a:rPr>
              <a:t>var block = new </a:t>
            </a:r>
            <a:r>
              <a:rPr lang="en-US" sz="1500" dirty="0" err="1">
                <a:solidFill>
                  <a:schemeClr val="accent6"/>
                </a:solidFill>
                <a:latin typeface="Google Sans"/>
              </a:rPr>
              <a:t>ActionBlock</a:t>
            </a:r>
            <a:r>
              <a:rPr lang="en-US" sz="1500" dirty="0">
                <a:solidFill>
                  <a:schemeClr val="accent6"/>
                </a:solidFill>
                <a:latin typeface="Google Sans"/>
              </a:rPr>
              <a:t>&lt;Message&gt;(Process, options);</a:t>
            </a:r>
          </a:p>
          <a:p>
            <a:pPr marL="12700" marR="5080"/>
            <a:r>
              <a:rPr lang="en-US" sz="1500" dirty="0">
                <a:solidFill>
                  <a:schemeClr val="accent6"/>
                </a:solidFill>
                <a:latin typeface="Google Sans"/>
              </a:rPr>
              <a:t>// </a:t>
            </a:r>
            <a:r>
              <a:rPr lang="en-US" sz="1500" dirty="0" err="1">
                <a:solidFill>
                  <a:schemeClr val="accent6"/>
                </a:solidFill>
                <a:latin typeface="Google Sans"/>
              </a:rPr>
              <a:t>block.Post</a:t>
            </a:r>
            <a:r>
              <a:rPr lang="en-US" sz="1500" dirty="0">
                <a:solidFill>
                  <a:schemeClr val="accent6"/>
                </a:solidFill>
                <a:latin typeface="Google Sans"/>
              </a:rPr>
              <a:t>(...) or </a:t>
            </a:r>
            <a:r>
              <a:rPr lang="en-US" sz="1500" dirty="0" err="1">
                <a:solidFill>
                  <a:schemeClr val="accent6"/>
                </a:solidFill>
                <a:latin typeface="Google Sans"/>
              </a:rPr>
              <a:t>block.SendAsync</a:t>
            </a:r>
            <a:r>
              <a:rPr lang="en-US" sz="1500" dirty="0">
                <a:solidFill>
                  <a:schemeClr val="accent6"/>
                </a:solidFill>
                <a:latin typeface="Google Sans"/>
              </a:rPr>
              <a:t>(...)</a:t>
            </a:r>
          </a:p>
          <a:p>
            <a:pPr marL="12700" marR="5080"/>
            <a:r>
              <a:rPr lang="en-US" sz="1500" dirty="0" err="1">
                <a:solidFill>
                  <a:schemeClr val="accent6"/>
                </a:solidFill>
                <a:latin typeface="Google Sans"/>
              </a:rPr>
              <a:t>BufferBlock</a:t>
            </a:r>
            <a:r>
              <a:rPr lang="en-US" sz="1500" dirty="0">
                <a:solidFill>
                  <a:schemeClr val="accent6"/>
                </a:solidFill>
                <a:latin typeface="Google Sans"/>
              </a:rPr>
              <a:t> + </a:t>
            </a:r>
            <a:r>
              <a:rPr lang="en-US" sz="1500" dirty="0" err="1">
                <a:solidFill>
                  <a:schemeClr val="accent6"/>
                </a:solidFill>
                <a:latin typeface="Google Sans"/>
              </a:rPr>
              <a:t>ActionBlock</a:t>
            </a:r>
            <a:r>
              <a:rPr lang="en-US" sz="1500" dirty="0">
                <a:solidFill>
                  <a:schemeClr val="accent6"/>
                </a:solidFill>
                <a:latin typeface="Google Sans"/>
              </a:rPr>
              <a:t> combos</a:t>
            </a:r>
          </a:p>
          <a:p>
            <a:pPr marL="12700" marR="5080"/>
            <a:r>
              <a:rPr lang="en-US" sz="1500" dirty="0">
                <a:solidFill>
                  <a:schemeClr val="accent6"/>
                </a:solidFill>
                <a:latin typeface="Google Sans"/>
              </a:rPr>
              <a:t>Prioritize, partition, or route messages to different </a:t>
            </a:r>
            <a:r>
              <a:rPr lang="en-US" sz="1500" dirty="0" err="1">
                <a:solidFill>
                  <a:schemeClr val="accent6"/>
                </a:solidFill>
                <a:latin typeface="Google Sans"/>
              </a:rPr>
              <a:t>ActionBlocks</a:t>
            </a:r>
            <a:r>
              <a:rPr lang="en-US" sz="1500" dirty="0">
                <a:solidFill>
                  <a:schemeClr val="accent6"/>
                </a:solidFill>
                <a:latin typeface="Google Sans"/>
              </a:rPr>
              <a:t> (bulkheads per tenant).</a:t>
            </a:r>
          </a:p>
          <a:p>
            <a:pPr marL="12700" marR="5080"/>
            <a:r>
              <a:rPr lang="en-US" sz="1500" dirty="0">
                <a:solidFill>
                  <a:schemeClr val="accent2"/>
                </a:solidFill>
                <a:latin typeface="Google Sans"/>
              </a:rPr>
              <a:t>Channels (</a:t>
            </a:r>
            <a:r>
              <a:rPr lang="en-US" sz="1500" dirty="0" err="1">
                <a:solidFill>
                  <a:schemeClr val="accent2"/>
                </a:solidFill>
                <a:latin typeface="Google Sans"/>
              </a:rPr>
              <a:t>System.Threading.Channels</a:t>
            </a:r>
            <a:r>
              <a:rPr lang="en-US" sz="1500" dirty="0">
                <a:solidFill>
                  <a:schemeClr val="accent2"/>
                </a:solidFill>
                <a:latin typeface="Google Sans"/>
              </a:rPr>
              <a:t>)</a:t>
            </a:r>
          </a:p>
          <a:p>
            <a:pPr marL="12700" marR="5080"/>
            <a:r>
              <a:rPr lang="en-US" sz="1500" dirty="0">
                <a:solidFill>
                  <a:schemeClr val="accent6"/>
                </a:solidFill>
                <a:latin typeface="Google Sans"/>
              </a:rPr>
              <a:t>Bounded Channel</a:t>
            </a:r>
          </a:p>
          <a:p>
            <a:pPr marL="12700" marR="5080"/>
            <a:r>
              <a:rPr lang="en-US" sz="1500" dirty="0" err="1">
                <a:solidFill>
                  <a:schemeClr val="accent6"/>
                </a:solidFill>
                <a:latin typeface="Google Sans"/>
              </a:rPr>
              <a:t>Channel.CreateBounded</a:t>
            </a:r>
            <a:r>
              <a:rPr lang="en-US" sz="1500" dirty="0">
                <a:solidFill>
                  <a:schemeClr val="accent6"/>
                </a:solidFill>
                <a:latin typeface="Google Sans"/>
              </a:rPr>
              <a:t>&lt;T&gt;(capacity) + a fixed number of consumers. Good for async pipelines and backpressure.</a:t>
            </a:r>
          </a:p>
          <a:p>
            <a:pPr marL="12700" marR="5080"/>
            <a:r>
              <a:rPr lang="en-US" sz="1500" dirty="0">
                <a:solidFill>
                  <a:schemeClr val="accent6"/>
                </a:solidFill>
                <a:latin typeface="Google Sans"/>
              </a:rPr>
              <a:t>var channel = </a:t>
            </a:r>
            <a:r>
              <a:rPr lang="en-US" sz="1500" dirty="0" err="1">
                <a:solidFill>
                  <a:schemeClr val="accent6"/>
                </a:solidFill>
                <a:latin typeface="Google Sans"/>
              </a:rPr>
              <a:t>Channel.CreateBounded</a:t>
            </a:r>
            <a:r>
              <a:rPr lang="en-US" sz="1500" dirty="0">
                <a:solidFill>
                  <a:schemeClr val="accent6"/>
                </a:solidFill>
                <a:latin typeface="Google Sans"/>
              </a:rPr>
              <a:t>&lt;</a:t>
            </a:r>
            <a:r>
              <a:rPr lang="en-US" sz="1500" dirty="0" err="1">
                <a:solidFill>
                  <a:schemeClr val="accent6"/>
                </a:solidFill>
                <a:latin typeface="Google Sans"/>
              </a:rPr>
              <a:t>MyMessage</a:t>
            </a:r>
            <a:r>
              <a:rPr lang="en-US" sz="1500" dirty="0">
                <a:solidFill>
                  <a:schemeClr val="accent6"/>
                </a:solidFill>
                <a:latin typeface="Google Sans"/>
              </a:rPr>
              <a:t>&gt;(new </a:t>
            </a:r>
            <a:r>
              <a:rPr lang="en-US" sz="1500" dirty="0" err="1">
                <a:solidFill>
                  <a:schemeClr val="accent6"/>
                </a:solidFill>
                <a:latin typeface="Google Sans"/>
              </a:rPr>
              <a:t>BoundedChannelOptions</a:t>
            </a:r>
            <a:r>
              <a:rPr lang="en-US" sz="1500" dirty="0">
                <a:solidFill>
                  <a:schemeClr val="accent6"/>
                </a:solidFill>
                <a:latin typeface="Google Sans"/>
              </a:rPr>
              <a:t>(100) { </a:t>
            </a:r>
            <a:r>
              <a:rPr lang="en-US" sz="1500" dirty="0" err="1">
                <a:solidFill>
                  <a:schemeClr val="accent6"/>
                </a:solidFill>
                <a:latin typeface="Google Sans"/>
              </a:rPr>
              <a:t>FullMode</a:t>
            </a:r>
            <a:r>
              <a:rPr lang="en-US" sz="1500" dirty="0">
                <a:solidFill>
                  <a:schemeClr val="accent6"/>
                </a:solidFill>
                <a:latin typeface="Google Sans"/>
              </a:rPr>
              <a:t> = </a:t>
            </a:r>
            <a:r>
              <a:rPr lang="en-US" sz="1500" dirty="0" err="1">
                <a:solidFill>
                  <a:schemeClr val="accent6"/>
                </a:solidFill>
                <a:latin typeface="Google Sans"/>
              </a:rPr>
              <a:t>BoundedChannelFullMode.Wait</a:t>
            </a:r>
            <a:r>
              <a:rPr lang="en-US" sz="1500" dirty="0">
                <a:solidFill>
                  <a:schemeClr val="accent6"/>
                </a:solidFill>
                <a:latin typeface="Google Sans"/>
              </a:rPr>
              <a:t> });</a:t>
            </a:r>
          </a:p>
          <a:p>
            <a:pPr marL="12700" marR="5080"/>
            <a:r>
              <a:rPr lang="en-US" sz="1500" dirty="0">
                <a:solidFill>
                  <a:schemeClr val="accent6"/>
                </a:solidFill>
                <a:latin typeface="Google Sans"/>
              </a:rPr>
              <a:t>// Producer: await </a:t>
            </a:r>
            <a:r>
              <a:rPr lang="en-US" sz="1500" dirty="0" err="1">
                <a:solidFill>
                  <a:schemeClr val="accent6"/>
                </a:solidFill>
                <a:latin typeface="Google Sans"/>
              </a:rPr>
              <a:t>channel.Writer.WriteAsync</a:t>
            </a:r>
            <a:r>
              <a:rPr lang="en-US" sz="1500" dirty="0">
                <a:solidFill>
                  <a:schemeClr val="accent6"/>
                </a:solidFill>
                <a:latin typeface="Google Sans"/>
              </a:rPr>
              <a:t>(msg);</a:t>
            </a:r>
          </a:p>
          <a:p>
            <a:pPr marL="12700" marR="5080"/>
            <a:r>
              <a:rPr lang="en-US" sz="1500" dirty="0">
                <a:solidFill>
                  <a:schemeClr val="accent6"/>
                </a:solidFill>
                <a:latin typeface="Google Sans"/>
              </a:rPr>
              <a:t>// Consumer loop: while (await </a:t>
            </a:r>
            <a:r>
              <a:rPr lang="en-US" sz="1500" dirty="0" err="1">
                <a:solidFill>
                  <a:schemeClr val="accent6"/>
                </a:solidFill>
                <a:latin typeface="Google Sans"/>
              </a:rPr>
              <a:t>channel.Reader.WaitToReadAsync</a:t>
            </a:r>
            <a:r>
              <a:rPr lang="en-US" sz="1500" dirty="0">
                <a:solidFill>
                  <a:schemeClr val="accent6"/>
                </a:solidFill>
                <a:latin typeface="Google Sans"/>
              </a:rPr>
              <a:t>()) { var msg = await </a:t>
            </a:r>
            <a:r>
              <a:rPr lang="en-US" sz="1500" dirty="0" err="1">
                <a:solidFill>
                  <a:schemeClr val="accent6"/>
                </a:solidFill>
                <a:latin typeface="Google Sans"/>
              </a:rPr>
              <a:t>channel.Reader.ReadAsync</a:t>
            </a:r>
            <a:r>
              <a:rPr lang="en-US" sz="1500" dirty="0">
                <a:solidFill>
                  <a:schemeClr val="accent6"/>
                </a:solidFill>
                <a:latin typeface="Google Sans"/>
              </a:rPr>
              <a:t>(); }</a:t>
            </a:r>
          </a:p>
          <a:p>
            <a:pPr marL="12700" marR="5080"/>
            <a:r>
              <a:rPr lang="en-US" sz="1500" dirty="0" err="1">
                <a:solidFill>
                  <a:schemeClr val="accent6"/>
                </a:solidFill>
                <a:latin typeface="Google Sans"/>
              </a:rPr>
              <a:t>BlockingCollection</a:t>
            </a:r>
            <a:r>
              <a:rPr lang="en-US" sz="1500" dirty="0">
                <a:solidFill>
                  <a:schemeClr val="accent6"/>
                </a:solidFill>
                <a:latin typeface="Google Sans"/>
              </a:rPr>
              <a:t> / </a:t>
            </a:r>
            <a:r>
              <a:rPr lang="en-US" sz="1500" dirty="0" err="1">
                <a:solidFill>
                  <a:schemeClr val="accent6"/>
                </a:solidFill>
                <a:latin typeface="Google Sans"/>
              </a:rPr>
              <a:t>ConcurrentQueue</a:t>
            </a:r>
            <a:r>
              <a:rPr lang="en-US" sz="1500" dirty="0">
                <a:solidFill>
                  <a:schemeClr val="accent6"/>
                </a:solidFill>
                <a:latin typeface="Google Sans"/>
              </a:rPr>
              <a:t> with worker pool</a:t>
            </a:r>
          </a:p>
          <a:p>
            <a:pPr marL="12700" marR="5080"/>
            <a:r>
              <a:rPr lang="en-US" sz="1500" dirty="0" err="1">
                <a:solidFill>
                  <a:schemeClr val="accent6"/>
                </a:solidFill>
                <a:latin typeface="Google Sans"/>
              </a:rPr>
              <a:t>BlockingCollection</a:t>
            </a:r>
            <a:r>
              <a:rPr lang="en-US" sz="1500" dirty="0">
                <a:solidFill>
                  <a:schemeClr val="accent6"/>
                </a:solidFill>
                <a:latin typeface="Google Sans"/>
              </a:rPr>
              <a:t>&lt;T&gt; with a fixed pool of worker threads</a:t>
            </a:r>
          </a:p>
          <a:p>
            <a:pPr marL="12700" marR="5080"/>
            <a:r>
              <a:rPr lang="en-US" sz="1500" dirty="0">
                <a:solidFill>
                  <a:schemeClr val="accent6"/>
                </a:solidFill>
                <a:latin typeface="Google Sans"/>
              </a:rPr>
              <a:t>Classic approach (sync) for bounded queues with fixed consumers.</a:t>
            </a:r>
          </a:p>
        </p:txBody>
      </p:sp>
      <p:grpSp>
        <p:nvGrpSpPr>
          <p:cNvPr id="7" name="Group 6">
            <a:extLst>
              <a:ext uri="{FF2B5EF4-FFF2-40B4-BE49-F238E27FC236}">
                <a16:creationId xmlns:a16="http://schemas.microsoft.com/office/drawing/2014/main" id="{AEA051D1-75F8-BF0C-9626-B3E38D6E589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A21E3EB-A962-A536-53E2-126726B4206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87AD4F7-1FCA-BCFF-7D81-3BCC00C81C8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4243234282"/>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0C2F2-DB50-F76C-9999-1ACC30BC816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E98D379-DD3E-7585-B9B5-E2924E81AED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48B2895-45F0-1CA7-2EE6-8F5F0EDEB83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F1C25EF-4D0D-0F23-EF88-2894C210772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25DD21F-6ABB-8A00-862A-580B799DC346}"/>
              </a:ext>
            </a:extLst>
          </p:cNvPr>
          <p:cNvSpPr txBox="1">
            <a:spLocks/>
          </p:cNvSpPr>
          <p:nvPr/>
        </p:nvSpPr>
        <p:spPr>
          <a:xfrm>
            <a:off x="76200" y="697468"/>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Bulkhead Isolation</a:t>
            </a:r>
          </a:p>
          <a:p>
            <a:pPr marL="12700" marR="5080"/>
            <a:r>
              <a:rPr lang="en-US" sz="1800" dirty="0">
                <a:solidFill>
                  <a:schemeClr val="accent2"/>
                </a:solidFill>
                <a:latin typeface="Google Sans"/>
              </a:rPr>
              <a:t>.NET-specific implementation techniques</a:t>
            </a:r>
          </a:p>
          <a:p>
            <a:pPr marL="12700" marR="5080"/>
            <a:r>
              <a:rPr lang="en-US" sz="1500" dirty="0">
                <a:solidFill>
                  <a:schemeClr val="accent2"/>
                </a:solidFill>
                <a:latin typeface="Google Sans"/>
              </a:rPr>
              <a:t>ASP.NET Core / Kestrel limits and middleware</a:t>
            </a:r>
          </a:p>
          <a:p>
            <a:pPr marL="12700" marR="5080"/>
            <a:r>
              <a:rPr lang="en-US" sz="1500" dirty="0">
                <a:solidFill>
                  <a:schemeClr val="accent6"/>
                </a:solidFill>
                <a:latin typeface="Google Sans"/>
              </a:rPr>
              <a:t>Kestrel server limits</a:t>
            </a:r>
          </a:p>
          <a:p>
            <a:pPr marL="12700" marR="5080"/>
            <a:r>
              <a:rPr lang="en-US" sz="1500" dirty="0" err="1">
                <a:solidFill>
                  <a:schemeClr val="accent6"/>
                </a:solidFill>
                <a:latin typeface="Google Sans"/>
              </a:rPr>
              <a:t>Limits.MaxConcurrentConnections</a:t>
            </a:r>
            <a:r>
              <a:rPr lang="en-US" sz="1500" dirty="0">
                <a:solidFill>
                  <a:schemeClr val="accent6"/>
                </a:solidFill>
                <a:latin typeface="Google Sans"/>
              </a:rPr>
              <a:t> / </a:t>
            </a:r>
            <a:r>
              <a:rPr lang="en-US" sz="1500" dirty="0" err="1">
                <a:solidFill>
                  <a:schemeClr val="accent6"/>
                </a:solidFill>
                <a:latin typeface="Google Sans"/>
              </a:rPr>
              <a:t>Limits.MaxConcurrentUpgradedConnections</a:t>
            </a:r>
            <a:r>
              <a:rPr lang="en-US" sz="1500" dirty="0">
                <a:solidFill>
                  <a:schemeClr val="accent6"/>
                </a:solidFill>
                <a:latin typeface="Google Sans"/>
              </a:rPr>
              <a:t> (</a:t>
            </a:r>
            <a:r>
              <a:rPr lang="en-US" sz="1500" dirty="0" err="1">
                <a:solidFill>
                  <a:schemeClr val="accent6"/>
                </a:solidFill>
                <a:latin typeface="Google Sans"/>
              </a:rPr>
              <a:t>KestrelServerLimits</a:t>
            </a:r>
            <a:r>
              <a:rPr lang="en-US" sz="1500" dirty="0">
                <a:solidFill>
                  <a:schemeClr val="accent6"/>
                </a:solidFill>
                <a:latin typeface="Google Sans"/>
              </a:rPr>
              <a:t>).</a:t>
            </a:r>
          </a:p>
          <a:p>
            <a:pPr marL="12700" marR="5080"/>
            <a:r>
              <a:rPr lang="en-US" sz="1500" dirty="0">
                <a:solidFill>
                  <a:schemeClr val="accent6"/>
                </a:solidFill>
                <a:latin typeface="Google Sans"/>
              </a:rPr>
              <a:t>Use to control accepted concurrent connections.</a:t>
            </a:r>
          </a:p>
          <a:p>
            <a:pPr marL="12700" marR="5080"/>
            <a:r>
              <a:rPr lang="en-US" sz="1500" dirty="0">
                <a:solidFill>
                  <a:schemeClr val="accent6"/>
                </a:solidFill>
                <a:latin typeface="Google Sans"/>
              </a:rPr>
              <a:t>IIS / ASP.NET app pool isolation</a:t>
            </a:r>
          </a:p>
          <a:p>
            <a:pPr marL="12700" marR="5080"/>
            <a:r>
              <a:rPr lang="en-US" sz="1500" dirty="0">
                <a:solidFill>
                  <a:schemeClr val="accent6"/>
                </a:solidFill>
                <a:latin typeface="Google Sans"/>
              </a:rPr>
              <a:t>Separate app pools, limit worker processes, configure queue length and recycling to avoid starvation.</a:t>
            </a:r>
          </a:p>
          <a:p>
            <a:pPr marL="12700" marR="5080"/>
            <a:r>
              <a:rPr lang="en-US" sz="1500" dirty="0">
                <a:solidFill>
                  <a:schemeClr val="accent6"/>
                </a:solidFill>
                <a:latin typeface="Google Sans"/>
              </a:rPr>
              <a:t>ASP.NET Core Rate Limiting Middleware (.NET 7+ built-in)</a:t>
            </a:r>
          </a:p>
          <a:p>
            <a:pPr marL="12700" marR="5080"/>
            <a:r>
              <a:rPr lang="en-US" sz="1500" dirty="0" err="1">
                <a:solidFill>
                  <a:schemeClr val="accent6"/>
                </a:solidFill>
                <a:latin typeface="Google Sans"/>
              </a:rPr>
              <a:t>RateLimiter</a:t>
            </a:r>
            <a:r>
              <a:rPr lang="en-US" sz="1500" dirty="0">
                <a:solidFill>
                  <a:schemeClr val="accent6"/>
                </a:solidFill>
                <a:latin typeface="Google Sans"/>
              </a:rPr>
              <a:t> policies (fixed window, token bucket, concurrency limiter).</a:t>
            </a:r>
          </a:p>
          <a:p>
            <a:pPr marL="12700" marR="5080"/>
            <a:r>
              <a:rPr lang="en-US" sz="1500" dirty="0">
                <a:solidFill>
                  <a:schemeClr val="accent6"/>
                </a:solidFill>
                <a:latin typeface="Google Sans"/>
              </a:rPr>
              <a:t>Example: </a:t>
            </a:r>
            <a:r>
              <a:rPr lang="en-US" sz="1500" dirty="0" err="1">
                <a:solidFill>
                  <a:schemeClr val="accent6"/>
                </a:solidFill>
                <a:latin typeface="Google Sans"/>
              </a:rPr>
              <a:t>ConcurrencyLimiter</a:t>
            </a:r>
            <a:r>
              <a:rPr lang="en-US" sz="1500" dirty="0">
                <a:solidFill>
                  <a:schemeClr val="accent6"/>
                </a:solidFill>
                <a:latin typeface="Google Sans"/>
              </a:rPr>
              <a:t> to limit concurrent requests per route/tenant:</a:t>
            </a:r>
          </a:p>
          <a:p>
            <a:pPr marL="12700" marR="5080"/>
            <a:r>
              <a:rPr lang="en-US" sz="1500" dirty="0" err="1">
                <a:solidFill>
                  <a:schemeClr val="accent6"/>
                </a:solidFill>
                <a:latin typeface="Google Sans"/>
              </a:rPr>
              <a:t>builder.Services.AddRateLimiter</a:t>
            </a:r>
            <a:r>
              <a:rPr lang="en-US" sz="1500" dirty="0">
                <a:solidFill>
                  <a:schemeClr val="accent6"/>
                </a:solidFill>
                <a:latin typeface="Google Sans"/>
              </a:rPr>
              <a:t>(options =&gt;</a:t>
            </a:r>
          </a:p>
          <a:p>
            <a:pPr marL="12700" marR="5080"/>
            <a:r>
              <a:rPr lang="en-US" sz="1500" dirty="0">
                <a:solidFill>
                  <a:schemeClr val="accent6"/>
                </a:solidFill>
                <a:latin typeface="Google Sans"/>
              </a:rPr>
              <a:t>{</a:t>
            </a:r>
          </a:p>
          <a:p>
            <a:pPr marL="12700" marR="5080"/>
            <a:r>
              <a:rPr lang="en-US" sz="1500" dirty="0">
                <a:solidFill>
                  <a:schemeClr val="accent6"/>
                </a:solidFill>
                <a:latin typeface="Google Sans"/>
              </a:rPr>
              <a:t>    </a:t>
            </a:r>
            <a:r>
              <a:rPr lang="en-US" sz="1500" dirty="0" err="1">
                <a:solidFill>
                  <a:schemeClr val="accent6"/>
                </a:solidFill>
                <a:latin typeface="Google Sans"/>
              </a:rPr>
              <a:t>options.AddConcurrencyLimiter</a:t>
            </a:r>
            <a:r>
              <a:rPr lang="en-US" sz="1500" dirty="0">
                <a:solidFill>
                  <a:schemeClr val="accent6"/>
                </a:solidFill>
                <a:latin typeface="Google Sans"/>
              </a:rPr>
              <a:t>("</a:t>
            </a:r>
            <a:r>
              <a:rPr lang="en-US" sz="1500" dirty="0" err="1">
                <a:solidFill>
                  <a:schemeClr val="accent6"/>
                </a:solidFill>
                <a:latin typeface="Google Sans"/>
              </a:rPr>
              <a:t>MyLimiter</a:t>
            </a:r>
            <a:r>
              <a:rPr lang="en-US" sz="1500" dirty="0">
                <a:solidFill>
                  <a:schemeClr val="accent6"/>
                </a:solidFill>
                <a:latin typeface="Google Sans"/>
              </a:rPr>
              <a:t>", new </a:t>
            </a:r>
            <a:r>
              <a:rPr lang="en-US" sz="1500" dirty="0" err="1">
                <a:solidFill>
                  <a:schemeClr val="accent6"/>
                </a:solidFill>
                <a:latin typeface="Google Sans"/>
              </a:rPr>
              <a:t>ConcurrencyLimiterOptions</a:t>
            </a:r>
            <a:endParaRPr lang="en-US" sz="1500" dirty="0">
              <a:solidFill>
                <a:schemeClr val="accent6"/>
              </a:solidFill>
              <a:latin typeface="Google Sans"/>
            </a:endParaRPr>
          </a:p>
          <a:p>
            <a:pPr marL="12700" marR="5080"/>
            <a:r>
              <a:rPr lang="en-US" sz="1500" dirty="0">
                <a:solidFill>
                  <a:schemeClr val="accent6"/>
                </a:solidFill>
                <a:latin typeface="Google Sans"/>
              </a:rPr>
              <a:t>    {</a:t>
            </a:r>
          </a:p>
          <a:p>
            <a:pPr marL="12700" marR="5080"/>
            <a:r>
              <a:rPr lang="en-US" sz="1500" dirty="0">
                <a:solidFill>
                  <a:schemeClr val="accent6"/>
                </a:solidFill>
                <a:latin typeface="Google Sans"/>
              </a:rPr>
              <a:t>        </a:t>
            </a:r>
            <a:r>
              <a:rPr lang="en-US" sz="1500" dirty="0" err="1">
                <a:solidFill>
                  <a:schemeClr val="accent6"/>
                </a:solidFill>
                <a:latin typeface="Google Sans"/>
              </a:rPr>
              <a:t>PermitLimit</a:t>
            </a:r>
            <a:r>
              <a:rPr lang="en-US" sz="1500" dirty="0">
                <a:solidFill>
                  <a:schemeClr val="accent6"/>
                </a:solidFill>
                <a:latin typeface="Google Sans"/>
              </a:rPr>
              <a:t> = 20,</a:t>
            </a:r>
          </a:p>
          <a:p>
            <a:pPr marL="12700" marR="5080"/>
            <a:r>
              <a:rPr lang="en-US" sz="1500" dirty="0">
                <a:solidFill>
                  <a:schemeClr val="accent6"/>
                </a:solidFill>
                <a:latin typeface="Google Sans"/>
              </a:rPr>
              <a:t>        </a:t>
            </a:r>
            <a:r>
              <a:rPr lang="en-US" sz="1500" dirty="0" err="1">
                <a:solidFill>
                  <a:schemeClr val="accent6"/>
                </a:solidFill>
                <a:latin typeface="Google Sans"/>
              </a:rPr>
              <a:t>QueueLimit</a:t>
            </a:r>
            <a:r>
              <a:rPr lang="en-US" sz="1500" dirty="0">
                <a:solidFill>
                  <a:schemeClr val="accent6"/>
                </a:solidFill>
                <a:latin typeface="Google Sans"/>
              </a:rPr>
              <a:t> = 5</a:t>
            </a:r>
          </a:p>
          <a:p>
            <a:pPr marL="12700" marR="5080"/>
            <a:r>
              <a:rPr lang="en-US" sz="1500" dirty="0">
                <a:solidFill>
                  <a:schemeClr val="accent6"/>
                </a:solidFill>
                <a:latin typeface="Google Sans"/>
              </a:rPr>
              <a:t>    });</a:t>
            </a:r>
          </a:p>
          <a:p>
            <a:pPr marL="12700" marR="5080"/>
            <a:r>
              <a:rPr lang="en-US" sz="1500" dirty="0">
                <a:solidFill>
                  <a:schemeClr val="accent6"/>
                </a:solidFill>
                <a:latin typeface="Google Sans"/>
              </a:rPr>
              <a:t>});</a:t>
            </a:r>
          </a:p>
          <a:p>
            <a:pPr marL="12700" marR="5080"/>
            <a:r>
              <a:rPr lang="en-US" sz="1500" dirty="0" err="1">
                <a:solidFill>
                  <a:schemeClr val="accent6"/>
                </a:solidFill>
                <a:latin typeface="Google Sans"/>
              </a:rPr>
              <a:t>app.UseRateLimiter</a:t>
            </a:r>
            <a:r>
              <a:rPr lang="en-US" sz="1500" dirty="0">
                <a:solidFill>
                  <a:schemeClr val="accent6"/>
                </a:solidFill>
                <a:latin typeface="Google Sans"/>
              </a:rPr>
              <a:t>();</a:t>
            </a:r>
          </a:p>
        </p:txBody>
      </p:sp>
      <p:grpSp>
        <p:nvGrpSpPr>
          <p:cNvPr id="7" name="Group 6">
            <a:extLst>
              <a:ext uri="{FF2B5EF4-FFF2-40B4-BE49-F238E27FC236}">
                <a16:creationId xmlns:a16="http://schemas.microsoft.com/office/drawing/2014/main" id="{157E39F9-71A8-8C1F-E855-F9430777323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A93356E-410D-6F26-F469-9E00E4988CD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D3898B9-03B1-CF0A-D78F-DEC5651D4C9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3471647620"/>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F723B-A69E-15FA-B788-942C790F08E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F010156-5CA3-5BDB-A915-4BDB2E0EAE9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FC5121E-3E24-04BE-944B-22CD993B22F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56ACB12-6265-EB42-B20A-631C897FADB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7F4380A-9100-AF16-6B24-95692B9BBB12}"/>
              </a:ext>
            </a:extLst>
          </p:cNvPr>
          <p:cNvSpPr txBox="1">
            <a:spLocks/>
          </p:cNvSpPr>
          <p:nvPr/>
        </p:nvSpPr>
        <p:spPr>
          <a:xfrm>
            <a:off x="76200" y="697468"/>
            <a:ext cx="8624937" cy="49398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Bulkhead Isolation</a:t>
            </a:r>
          </a:p>
          <a:p>
            <a:pPr marL="12700" marR="5080"/>
            <a:r>
              <a:rPr lang="en-US" sz="1800" dirty="0">
                <a:solidFill>
                  <a:schemeClr val="accent2"/>
                </a:solidFill>
                <a:latin typeface="Google Sans"/>
              </a:rPr>
              <a:t>.NET-specific implementation techniques</a:t>
            </a:r>
          </a:p>
          <a:p>
            <a:pPr marL="12700" marR="5080"/>
            <a:r>
              <a:rPr lang="en-US" sz="1500" dirty="0">
                <a:solidFill>
                  <a:schemeClr val="accent2"/>
                </a:solidFill>
                <a:latin typeface="Google Sans"/>
              </a:rPr>
              <a:t>Custom middleware using </a:t>
            </a:r>
            <a:r>
              <a:rPr lang="en-US" sz="1500" dirty="0" err="1">
                <a:solidFill>
                  <a:schemeClr val="accent2"/>
                </a:solidFill>
                <a:latin typeface="Google Sans"/>
              </a:rPr>
              <a:t>SemaphoreSlim</a:t>
            </a:r>
            <a:r>
              <a:rPr lang="en-US" sz="1500" dirty="0">
                <a:solidFill>
                  <a:schemeClr val="accent2"/>
                </a:solidFill>
                <a:latin typeface="Google Sans"/>
              </a:rPr>
              <a:t> or </a:t>
            </a:r>
            <a:r>
              <a:rPr lang="en-US" sz="1500" dirty="0" err="1">
                <a:solidFill>
                  <a:schemeClr val="accent2"/>
                </a:solidFill>
                <a:latin typeface="Google Sans"/>
              </a:rPr>
              <a:t>RateLimiter</a:t>
            </a:r>
            <a:endParaRPr lang="en-US" sz="1500" dirty="0">
              <a:solidFill>
                <a:schemeClr val="accent2"/>
              </a:solidFill>
              <a:latin typeface="Google Sans"/>
            </a:endParaRPr>
          </a:p>
          <a:p>
            <a:pPr marL="12700" marR="5080"/>
            <a:r>
              <a:rPr lang="en-US" sz="1500" dirty="0">
                <a:solidFill>
                  <a:schemeClr val="accent6"/>
                </a:solidFill>
                <a:latin typeface="Google Sans"/>
              </a:rPr>
              <a:t>Build per-tenant/per-route bulkheads via middleware to return 429 when congested.</a:t>
            </a:r>
          </a:p>
          <a:p>
            <a:pPr marL="12700" marR="5080"/>
            <a:r>
              <a:rPr lang="en-US" sz="1500" dirty="0" err="1">
                <a:solidFill>
                  <a:schemeClr val="accent6"/>
                </a:solidFill>
                <a:latin typeface="Google Sans"/>
              </a:rPr>
              <a:t>gRPC</a:t>
            </a:r>
            <a:r>
              <a:rPr lang="en-US" sz="1500" dirty="0">
                <a:solidFill>
                  <a:schemeClr val="accent6"/>
                </a:solidFill>
                <a:latin typeface="Google Sans"/>
              </a:rPr>
              <a:t> &amp; HTTP client settings</a:t>
            </a:r>
          </a:p>
          <a:p>
            <a:pPr marL="12700" marR="5080"/>
            <a:r>
              <a:rPr lang="en-US" sz="1500" dirty="0" err="1">
                <a:solidFill>
                  <a:schemeClr val="accent6"/>
                </a:solidFill>
                <a:latin typeface="Google Sans"/>
              </a:rPr>
              <a:t>HttpClient</a:t>
            </a:r>
            <a:r>
              <a:rPr lang="en-US" sz="1500" dirty="0">
                <a:solidFill>
                  <a:schemeClr val="accent6"/>
                </a:solidFill>
                <a:latin typeface="Google Sans"/>
              </a:rPr>
              <a:t> connection pooling and </a:t>
            </a:r>
            <a:r>
              <a:rPr lang="en-US" sz="1500" dirty="0" err="1">
                <a:solidFill>
                  <a:schemeClr val="accent6"/>
                </a:solidFill>
                <a:latin typeface="Google Sans"/>
              </a:rPr>
              <a:t>SocketsHttpHandler</a:t>
            </a:r>
            <a:r>
              <a:rPr lang="en-US" sz="1500" dirty="0">
                <a:solidFill>
                  <a:schemeClr val="accent6"/>
                </a:solidFill>
                <a:latin typeface="Google Sans"/>
              </a:rPr>
              <a:t> </a:t>
            </a:r>
            <a:r>
              <a:rPr lang="en-US" sz="1500" dirty="0" err="1">
                <a:solidFill>
                  <a:schemeClr val="accent6"/>
                </a:solidFill>
                <a:latin typeface="Google Sans"/>
              </a:rPr>
              <a:t>MaxConnectionsPerServer</a:t>
            </a:r>
            <a:endParaRPr lang="en-US" sz="1500" dirty="0">
              <a:solidFill>
                <a:schemeClr val="accent6"/>
              </a:solidFill>
              <a:latin typeface="Google Sans"/>
            </a:endParaRPr>
          </a:p>
          <a:p>
            <a:pPr marL="12700" marR="5080"/>
            <a:r>
              <a:rPr lang="en-US" sz="1500" dirty="0">
                <a:solidFill>
                  <a:schemeClr val="accent6"/>
                </a:solidFill>
                <a:latin typeface="Google Sans"/>
              </a:rPr>
              <a:t>new </a:t>
            </a:r>
            <a:r>
              <a:rPr lang="en-US" sz="1500" dirty="0" err="1">
                <a:solidFill>
                  <a:schemeClr val="accent6"/>
                </a:solidFill>
                <a:latin typeface="Google Sans"/>
              </a:rPr>
              <a:t>SocketsHttpHandler</a:t>
            </a:r>
            <a:r>
              <a:rPr lang="en-US" sz="1500" dirty="0">
                <a:solidFill>
                  <a:schemeClr val="accent6"/>
                </a:solidFill>
                <a:latin typeface="Google Sans"/>
              </a:rPr>
              <a:t> { </a:t>
            </a:r>
            <a:r>
              <a:rPr lang="en-US" sz="1500" dirty="0" err="1">
                <a:solidFill>
                  <a:schemeClr val="accent6"/>
                </a:solidFill>
                <a:latin typeface="Google Sans"/>
              </a:rPr>
              <a:t>MaxConnectionsPerServer</a:t>
            </a:r>
            <a:r>
              <a:rPr lang="en-US" sz="1500" dirty="0">
                <a:solidFill>
                  <a:schemeClr val="accent6"/>
                </a:solidFill>
                <a:latin typeface="Google Sans"/>
              </a:rPr>
              <a:t> = n } to limit concurrency to downstream services.</a:t>
            </a:r>
          </a:p>
          <a:p>
            <a:pPr marL="12700" marR="5080"/>
            <a:r>
              <a:rPr lang="en-US" sz="1500" dirty="0" err="1">
                <a:solidFill>
                  <a:schemeClr val="accent6"/>
                </a:solidFill>
                <a:latin typeface="Google Sans"/>
              </a:rPr>
              <a:t>gRPC</a:t>
            </a:r>
            <a:r>
              <a:rPr lang="en-US" sz="1500" dirty="0">
                <a:solidFill>
                  <a:schemeClr val="accent6"/>
                </a:solidFill>
                <a:latin typeface="Google Sans"/>
              </a:rPr>
              <a:t> </a:t>
            </a:r>
            <a:r>
              <a:rPr lang="en-US" sz="1500" dirty="0" err="1">
                <a:solidFill>
                  <a:schemeClr val="accent6"/>
                </a:solidFill>
                <a:latin typeface="Google Sans"/>
              </a:rPr>
              <a:t>MaxConcurrentStreams</a:t>
            </a:r>
            <a:r>
              <a:rPr lang="en-US" sz="1500" dirty="0">
                <a:solidFill>
                  <a:schemeClr val="accent6"/>
                </a:solidFill>
                <a:latin typeface="Google Sans"/>
              </a:rPr>
              <a:t> and connection pool per service</a:t>
            </a:r>
          </a:p>
          <a:p>
            <a:pPr marL="12700" marR="5080"/>
            <a:r>
              <a:rPr lang="en-US" sz="1500" dirty="0">
                <a:solidFill>
                  <a:schemeClr val="accent6"/>
                </a:solidFill>
                <a:latin typeface="Google Sans"/>
              </a:rPr>
              <a:t>Configure per-channel to limit simultaneous streams.</a:t>
            </a:r>
          </a:p>
          <a:p>
            <a:pPr marL="12700" marR="5080"/>
            <a:r>
              <a:rPr lang="en-US" sz="1500" dirty="0">
                <a:solidFill>
                  <a:schemeClr val="accent2"/>
                </a:solidFill>
                <a:latin typeface="Google Sans"/>
              </a:rPr>
              <a:t>Background services and </a:t>
            </a:r>
            <a:r>
              <a:rPr lang="en-US" sz="1500" dirty="0" err="1">
                <a:solidFill>
                  <a:schemeClr val="accent2"/>
                </a:solidFill>
                <a:latin typeface="Google Sans"/>
              </a:rPr>
              <a:t>IHostedService</a:t>
            </a:r>
            <a:r>
              <a:rPr lang="en-US" sz="1500" dirty="0">
                <a:solidFill>
                  <a:schemeClr val="accent2"/>
                </a:solidFill>
                <a:latin typeface="Google Sans"/>
              </a:rPr>
              <a:t> patterns</a:t>
            </a:r>
          </a:p>
          <a:p>
            <a:pPr marL="12700" marR="5080"/>
            <a:r>
              <a:rPr lang="en-US" sz="1500" dirty="0" err="1">
                <a:solidFill>
                  <a:schemeClr val="accent6"/>
                </a:solidFill>
                <a:latin typeface="Google Sans"/>
              </a:rPr>
              <a:t>IHostedService</a:t>
            </a:r>
            <a:r>
              <a:rPr lang="en-US" sz="1500" dirty="0">
                <a:solidFill>
                  <a:schemeClr val="accent6"/>
                </a:solidFill>
                <a:latin typeface="Google Sans"/>
              </a:rPr>
              <a:t> with fixed worker count</a:t>
            </a:r>
          </a:p>
          <a:p>
            <a:pPr marL="12700" marR="5080"/>
            <a:r>
              <a:rPr lang="en-US" sz="1500" dirty="0">
                <a:solidFill>
                  <a:schemeClr val="accent6"/>
                </a:solidFill>
                <a:latin typeface="Google Sans"/>
              </a:rPr>
              <a:t>Implement multiple worker tasks with limited degree of parallelism using </a:t>
            </a:r>
            <a:r>
              <a:rPr lang="en-US" sz="1500" dirty="0" err="1">
                <a:solidFill>
                  <a:schemeClr val="accent6"/>
                </a:solidFill>
                <a:latin typeface="Google Sans"/>
              </a:rPr>
              <a:t>SemaphoreSlim</a:t>
            </a:r>
            <a:r>
              <a:rPr lang="en-US" sz="1500" dirty="0">
                <a:solidFill>
                  <a:schemeClr val="accent6"/>
                </a:solidFill>
                <a:latin typeface="Google Sans"/>
              </a:rPr>
              <a:t> or Channels.</a:t>
            </a:r>
          </a:p>
          <a:p>
            <a:pPr marL="12700" marR="5080"/>
            <a:r>
              <a:rPr lang="en-US" sz="1500" dirty="0" err="1">
                <a:solidFill>
                  <a:schemeClr val="accent6"/>
                </a:solidFill>
                <a:latin typeface="Google Sans"/>
              </a:rPr>
              <a:t>BackgroundService</a:t>
            </a:r>
            <a:r>
              <a:rPr lang="en-US" sz="1500" dirty="0">
                <a:solidFill>
                  <a:schemeClr val="accent6"/>
                </a:solidFill>
                <a:latin typeface="Google Sans"/>
              </a:rPr>
              <a:t> + Channel + worker pool</a:t>
            </a:r>
          </a:p>
          <a:p>
            <a:pPr marL="12700" marR="5080"/>
            <a:r>
              <a:rPr lang="en-US" sz="1500" dirty="0">
                <a:solidFill>
                  <a:schemeClr val="accent6"/>
                </a:solidFill>
                <a:latin typeface="Google Sans"/>
              </a:rPr>
              <a:t>Producer writes requests to channels; fixed number of consumers process.</a:t>
            </a:r>
          </a:p>
          <a:p>
            <a:pPr marL="12700" marR="5080"/>
            <a:r>
              <a:rPr lang="en-US" sz="1500" dirty="0">
                <a:solidFill>
                  <a:schemeClr val="accent2"/>
                </a:solidFill>
                <a:latin typeface="Google Sans"/>
              </a:rPr>
              <a:t>Reactive and actor frameworks</a:t>
            </a:r>
          </a:p>
          <a:p>
            <a:pPr marL="12700" marR="5080"/>
            <a:r>
              <a:rPr lang="en-US" sz="1500" dirty="0">
                <a:solidFill>
                  <a:schemeClr val="accent6"/>
                </a:solidFill>
                <a:latin typeface="Google Sans"/>
              </a:rPr>
              <a:t>Akka.NET / Orleans</a:t>
            </a:r>
          </a:p>
          <a:p>
            <a:pPr marL="12700" marR="5080"/>
            <a:r>
              <a:rPr lang="en-US" sz="1500" dirty="0">
                <a:solidFill>
                  <a:schemeClr val="accent6"/>
                </a:solidFill>
                <a:latin typeface="Google Sans"/>
              </a:rPr>
              <a:t>Actor-based isolation: use actors with mailbox throttling and per-actor concurrency limits.</a:t>
            </a:r>
          </a:p>
          <a:p>
            <a:pPr marL="12700" marR="5080"/>
            <a:r>
              <a:rPr lang="en-US" sz="1500" dirty="0">
                <a:solidFill>
                  <a:schemeClr val="accent6"/>
                </a:solidFill>
                <a:latin typeface="Google Sans"/>
              </a:rPr>
              <a:t>Orleans silo configuration</a:t>
            </a:r>
          </a:p>
          <a:p>
            <a:pPr marL="12700" marR="5080"/>
            <a:r>
              <a:rPr lang="en-US" sz="1500" dirty="0">
                <a:solidFill>
                  <a:schemeClr val="accent6"/>
                </a:solidFill>
                <a:latin typeface="Google Sans"/>
              </a:rPr>
              <a:t>Grain activation limits and silo resource isolation (for multi-tenant scenarios).</a:t>
            </a:r>
          </a:p>
        </p:txBody>
      </p:sp>
      <p:grpSp>
        <p:nvGrpSpPr>
          <p:cNvPr id="7" name="Group 6">
            <a:extLst>
              <a:ext uri="{FF2B5EF4-FFF2-40B4-BE49-F238E27FC236}">
                <a16:creationId xmlns:a16="http://schemas.microsoft.com/office/drawing/2014/main" id="{96E450DA-8658-5EFD-2F76-B44CACEFB3F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2260860-0D5D-4C13-632D-84D3C575BBB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28BD7FA4-0671-1678-1C0C-7CF19153495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2393119034"/>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04AA1-FA36-415B-7728-E2594E95CE7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83C459D-B0EA-47A0-E170-67BA627C0B7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1456CA-37CE-6B0F-3AF8-3FE19A9F324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147E295-C33F-9C19-D68C-228A450ADE2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C8A89C3-1FD1-CED5-1335-63AFB49CD83A}"/>
              </a:ext>
            </a:extLst>
          </p:cNvPr>
          <p:cNvSpPr txBox="1">
            <a:spLocks/>
          </p:cNvSpPr>
          <p:nvPr/>
        </p:nvSpPr>
        <p:spPr>
          <a:xfrm>
            <a:off x="76200" y="697468"/>
            <a:ext cx="8624937" cy="52168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Bulkhead Isolation</a:t>
            </a:r>
          </a:p>
          <a:p>
            <a:pPr marL="12700" marR="5080"/>
            <a:r>
              <a:rPr lang="en-US" sz="1800" dirty="0">
                <a:solidFill>
                  <a:schemeClr val="accent2"/>
                </a:solidFill>
                <a:latin typeface="Google Sans"/>
              </a:rPr>
              <a:t>.NET-specific implementation techniques</a:t>
            </a:r>
          </a:p>
          <a:p>
            <a:pPr marL="12700" marR="5080"/>
            <a:r>
              <a:rPr lang="en-US" sz="1500" dirty="0">
                <a:solidFill>
                  <a:schemeClr val="accent2"/>
                </a:solidFill>
                <a:latin typeface="Google Sans"/>
              </a:rPr>
              <a:t>Language /CLR specific features</a:t>
            </a:r>
          </a:p>
          <a:p>
            <a:pPr marL="12700" marR="5080"/>
            <a:r>
              <a:rPr lang="en-US" sz="1500" dirty="0">
                <a:solidFill>
                  <a:schemeClr val="accent6"/>
                </a:solidFill>
                <a:latin typeface="Google Sans"/>
              </a:rPr>
              <a:t>Thread priority and thread pool starvation guards` — avoid; prefer resource-specific bulkheads.</a:t>
            </a:r>
          </a:p>
          <a:p>
            <a:pPr marL="12700" marR="5080"/>
            <a:r>
              <a:rPr lang="en-US" sz="1500" dirty="0" err="1">
                <a:solidFill>
                  <a:schemeClr val="accent6"/>
                </a:solidFill>
                <a:latin typeface="Google Sans"/>
              </a:rPr>
              <a:t>AppDomain</a:t>
            </a:r>
            <a:r>
              <a:rPr lang="en-US" sz="1500" dirty="0">
                <a:solidFill>
                  <a:schemeClr val="accent6"/>
                </a:solidFill>
                <a:latin typeface="Google Sans"/>
              </a:rPr>
              <a:t> isolation — largely obsolete in .NET Core; not recommended.</a:t>
            </a:r>
          </a:p>
          <a:p>
            <a:pPr marL="12700" marR="5080"/>
            <a:r>
              <a:rPr lang="en-US" sz="1800" dirty="0">
                <a:solidFill>
                  <a:schemeClr val="accent2"/>
                </a:solidFill>
                <a:latin typeface="Google Sans"/>
              </a:rPr>
              <a:t>Implementation patterns / combos (practical architectures)</a:t>
            </a:r>
          </a:p>
          <a:p>
            <a:pPr marL="12700" marR="5080"/>
            <a:r>
              <a:rPr lang="en-US" sz="1500" dirty="0">
                <a:solidFill>
                  <a:schemeClr val="accent6"/>
                </a:solidFill>
                <a:latin typeface="Google Sans"/>
              </a:rPr>
              <a:t>API edge + per-route bulkhead</a:t>
            </a:r>
          </a:p>
          <a:p>
            <a:pPr marL="12700" marR="5080"/>
            <a:r>
              <a:rPr lang="en-US" sz="1500" dirty="0">
                <a:solidFill>
                  <a:schemeClr val="accent6"/>
                </a:solidFill>
                <a:latin typeface="Google Sans"/>
              </a:rPr>
              <a:t>API Gateway enforces coarse rate limits; ASP.NET Core Middleware (per-route) enforces concurrency limits via </a:t>
            </a:r>
            <a:r>
              <a:rPr lang="en-US" sz="1500" dirty="0" err="1">
                <a:solidFill>
                  <a:schemeClr val="accent6"/>
                </a:solidFill>
                <a:latin typeface="Google Sans"/>
              </a:rPr>
              <a:t>RateLimiter</a:t>
            </a:r>
            <a:r>
              <a:rPr lang="en-US" sz="1500" dirty="0">
                <a:solidFill>
                  <a:schemeClr val="accent6"/>
                </a:solidFill>
                <a:latin typeface="Google Sans"/>
              </a:rPr>
              <a:t> or </a:t>
            </a:r>
            <a:r>
              <a:rPr lang="en-US" sz="1500" dirty="0" err="1">
                <a:solidFill>
                  <a:schemeClr val="accent6"/>
                </a:solidFill>
                <a:latin typeface="Google Sans"/>
              </a:rPr>
              <a:t>SemaphoreSlim</a:t>
            </a:r>
            <a:r>
              <a:rPr lang="en-US" sz="1500" dirty="0">
                <a:solidFill>
                  <a:schemeClr val="accent6"/>
                </a:solidFill>
                <a:latin typeface="Google Sans"/>
              </a:rPr>
              <a:t>. Then use Polly for downstream call isolation.</a:t>
            </a:r>
          </a:p>
          <a:p>
            <a:pPr marL="12700" marR="5080"/>
            <a:r>
              <a:rPr lang="en-US" sz="1500" dirty="0">
                <a:solidFill>
                  <a:schemeClr val="accent6"/>
                </a:solidFill>
                <a:latin typeface="Google Sans"/>
              </a:rPr>
              <a:t>Per-tenant queue + worker pool</a:t>
            </a:r>
          </a:p>
          <a:p>
            <a:pPr marL="12700" marR="5080"/>
            <a:r>
              <a:rPr lang="en-US" sz="1500" dirty="0">
                <a:solidFill>
                  <a:schemeClr val="accent6"/>
                </a:solidFill>
                <a:latin typeface="Google Sans"/>
              </a:rPr>
              <a:t>Per-tenant queue (bounded channel) -&gt; fixed workers -&gt; DB. Backpressure if queue full.</a:t>
            </a:r>
          </a:p>
          <a:p>
            <a:pPr marL="12700" marR="5080"/>
            <a:r>
              <a:rPr lang="en-US" sz="1500" dirty="0">
                <a:solidFill>
                  <a:schemeClr val="accent6"/>
                </a:solidFill>
                <a:latin typeface="Google Sans"/>
              </a:rPr>
              <a:t>Priority lanes</a:t>
            </a:r>
          </a:p>
          <a:p>
            <a:pPr marL="12700" marR="5080"/>
            <a:r>
              <a:rPr lang="en-US" sz="1500" dirty="0">
                <a:solidFill>
                  <a:schemeClr val="accent6"/>
                </a:solidFill>
                <a:latin typeface="Google Sans"/>
              </a:rPr>
              <a:t>High-priority </a:t>
            </a:r>
            <a:r>
              <a:rPr lang="en-US" sz="1500" dirty="0" err="1">
                <a:solidFill>
                  <a:schemeClr val="accent6"/>
                </a:solidFill>
                <a:latin typeface="Google Sans"/>
              </a:rPr>
              <a:t>ActionBlock</a:t>
            </a:r>
            <a:r>
              <a:rPr lang="en-US" sz="1500" dirty="0">
                <a:solidFill>
                  <a:schemeClr val="accent6"/>
                </a:solidFill>
                <a:latin typeface="Google Sans"/>
              </a:rPr>
              <a:t> with reserved workers + low-priority bounded queue for best effort tasks.</a:t>
            </a:r>
          </a:p>
          <a:p>
            <a:pPr marL="12700" marR="5080"/>
            <a:r>
              <a:rPr lang="en-US" sz="1500" dirty="0">
                <a:solidFill>
                  <a:schemeClr val="accent6"/>
                </a:solidFill>
                <a:latin typeface="Google Sans"/>
              </a:rPr>
              <a:t>Polly Bulkhead + Circuit Breaker + Timeout</a:t>
            </a:r>
          </a:p>
          <a:p>
            <a:pPr marL="12700" marR="5080"/>
            <a:r>
              <a:rPr lang="en-US" sz="1500" dirty="0">
                <a:solidFill>
                  <a:schemeClr val="accent6"/>
                </a:solidFill>
                <a:latin typeface="Google Sans"/>
              </a:rPr>
              <a:t>Use Bulkhead to limit concurrency, Timeout to bound execution duration, </a:t>
            </a:r>
            <a:r>
              <a:rPr lang="en-US" sz="1500" dirty="0" err="1">
                <a:solidFill>
                  <a:schemeClr val="accent6"/>
                </a:solidFill>
                <a:latin typeface="Google Sans"/>
              </a:rPr>
              <a:t>CircuitBreaker</a:t>
            </a:r>
            <a:r>
              <a:rPr lang="en-US" sz="1500" dirty="0">
                <a:solidFill>
                  <a:schemeClr val="accent6"/>
                </a:solidFill>
                <a:latin typeface="Google Sans"/>
              </a:rPr>
              <a:t> to open on repeated failures.</a:t>
            </a:r>
          </a:p>
          <a:p>
            <a:pPr marL="12700" marR="5080"/>
            <a:r>
              <a:rPr lang="en-US" sz="1500" dirty="0">
                <a:solidFill>
                  <a:schemeClr val="accent6"/>
                </a:solidFill>
                <a:latin typeface="Google Sans"/>
              </a:rPr>
              <a:t>Service Mesh + App-level bulkheads</a:t>
            </a:r>
          </a:p>
          <a:p>
            <a:pPr marL="12700" marR="5080"/>
            <a:r>
              <a:rPr lang="en-US" sz="1500" dirty="0">
                <a:solidFill>
                  <a:schemeClr val="accent6"/>
                </a:solidFill>
                <a:latin typeface="Google Sans"/>
              </a:rPr>
              <a:t>Mesh enforces connection/policy limits, app enforces per-endpoint concurrency.</a:t>
            </a:r>
          </a:p>
          <a:p>
            <a:pPr marL="12700" marR="5080"/>
            <a:r>
              <a:rPr lang="en-US" sz="1500" dirty="0">
                <a:solidFill>
                  <a:schemeClr val="accent6"/>
                </a:solidFill>
                <a:latin typeface="Google Sans"/>
              </a:rPr>
              <a:t>Separate process/host for heavy work</a:t>
            </a:r>
          </a:p>
          <a:p>
            <a:pPr marL="12700" marR="5080"/>
            <a:r>
              <a:rPr lang="en-US" sz="1500" dirty="0">
                <a:solidFill>
                  <a:schemeClr val="accent6"/>
                </a:solidFill>
                <a:latin typeface="Google Sans"/>
              </a:rPr>
              <a:t>Quick API returns 202 and delegates to separate worker host (isolated) for processing.</a:t>
            </a:r>
          </a:p>
        </p:txBody>
      </p:sp>
      <p:grpSp>
        <p:nvGrpSpPr>
          <p:cNvPr id="7" name="Group 6">
            <a:extLst>
              <a:ext uri="{FF2B5EF4-FFF2-40B4-BE49-F238E27FC236}">
                <a16:creationId xmlns:a16="http://schemas.microsoft.com/office/drawing/2014/main" id="{63CE868E-DAE6-EDE0-3B20-37086818082A}"/>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F007A8BF-3F73-2A57-9544-EE0FA622A87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CCE2296A-5374-B1F8-2218-37100544F36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3905894048"/>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42D0E-5D45-E557-86EB-EDD8875C6BE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7DF6C9F-3430-BB19-4519-75F7FB9DABE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68100F9-CC1E-02DB-BC74-77AC684B2BF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5E8B20C-16C2-160B-C8A2-AD98F8E6C33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C88F048-C981-F2FB-4402-01A94F1470F7}"/>
              </a:ext>
            </a:extLst>
          </p:cNvPr>
          <p:cNvSpPr txBox="1">
            <a:spLocks/>
          </p:cNvSpPr>
          <p:nvPr/>
        </p:nvSpPr>
        <p:spPr>
          <a:xfrm>
            <a:off x="76200" y="697468"/>
            <a:ext cx="8624937" cy="52168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Bulkhead Isolation</a:t>
            </a:r>
          </a:p>
          <a:p>
            <a:pPr marL="12700" marR="5080"/>
            <a:r>
              <a:rPr lang="en-US" sz="1800" dirty="0">
                <a:solidFill>
                  <a:schemeClr val="accent2"/>
                </a:solidFill>
                <a:latin typeface="Google Sans"/>
              </a:rPr>
              <a:t>Observability, testing &amp; operational considerations</a:t>
            </a:r>
          </a:p>
          <a:p>
            <a:pPr marL="12700" marR="5080"/>
            <a:r>
              <a:rPr lang="en-US" sz="1500" dirty="0">
                <a:solidFill>
                  <a:schemeClr val="accent2"/>
                </a:solidFill>
                <a:latin typeface="Google Sans"/>
              </a:rPr>
              <a:t>Metrics to collect</a:t>
            </a:r>
          </a:p>
          <a:p>
            <a:pPr marL="12700" marR="5080"/>
            <a:r>
              <a:rPr lang="en-US" sz="1500" dirty="0">
                <a:solidFill>
                  <a:schemeClr val="accent6"/>
                </a:solidFill>
                <a:latin typeface="Google Sans"/>
              </a:rPr>
              <a:t>Bulkhead queue length, rejected count, current concurrent count, latency, thread pool starvation indicators, queue offer/accept rates.</a:t>
            </a:r>
          </a:p>
          <a:p>
            <a:pPr marL="12700" marR="5080"/>
            <a:r>
              <a:rPr lang="en-US" sz="1500" dirty="0">
                <a:solidFill>
                  <a:schemeClr val="accent2"/>
                </a:solidFill>
                <a:latin typeface="Google Sans"/>
              </a:rPr>
              <a:t>Alerts</a:t>
            </a:r>
          </a:p>
          <a:p>
            <a:pPr marL="12700" marR="5080"/>
            <a:r>
              <a:rPr lang="en-US" sz="1500" dirty="0">
                <a:solidFill>
                  <a:schemeClr val="accent6"/>
                </a:solidFill>
                <a:latin typeface="Google Sans"/>
              </a:rPr>
              <a:t>Alert on persistent rejections, high queue sizes, tail latencies.</a:t>
            </a:r>
          </a:p>
          <a:p>
            <a:pPr marL="12700" marR="5080"/>
            <a:r>
              <a:rPr lang="en-US" sz="1500" dirty="0">
                <a:solidFill>
                  <a:schemeClr val="accent2"/>
                </a:solidFill>
                <a:latin typeface="Google Sans"/>
              </a:rPr>
              <a:t>Load testing</a:t>
            </a:r>
          </a:p>
          <a:p>
            <a:pPr marL="12700" marR="5080"/>
            <a:r>
              <a:rPr lang="en-US" sz="1500" dirty="0">
                <a:solidFill>
                  <a:schemeClr val="accent6"/>
                </a:solidFill>
                <a:latin typeface="Google Sans"/>
              </a:rPr>
              <a:t>Test with realistic multi-tenant load; ensure one tenant cannot cause others to fail.</a:t>
            </a:r>
          </a:p>
          <a:p>
            <a:pPr marL="12700" marR="5080"/>
            <a:r>
              <a:rPr lang="en-US" sz="1500" dirty="0">
                <a:solidFill>
                  <a:schemeClr val="accent2"/>
                </a:solidFill>
                <a:latin typeface="Google Sans"/>
              </a:rPr>
              <a:t>Chaos testing</a:t>
            </a:r>
          </a:p>
          <a:p>
            <a:pPr marL="12700" marR="5080"/>
            <a:r>
              <a:rPr lang="en-US" sz="1500" dirty="0">
                <a:solidFill>
                  <a:schemeClr val="accent6"/>
                </a:solidFill>
                <a:latin typeface="Google Sans"/>
              </a:rPr>
              <a:t>Inject latency/failures and ensure bulkheads protect healthy partitions.</a:t>
            </a:r>
          </a:p>
          <a:p>
            <a:pPr marL="12700" marR="5080"/>
            <a:r>
              <a:rPr lang="en-US" sz="1500" dirty="0">
                <a:solidFill>
                  <a:schemeClr val="accent2"/>
                </a:solidFill>
                <a:latin typeface="Google Sans"/>
              </a:rPr>
              <a:t>Graceful degradation</a:t>
            </a:r>
          </a:p>
          <a:p>
            <a:pPr marL="12700" marR="5080"/>
            <a:r>
              <a:rPr lang="en-US" sz="1500" dirty="0">
                <a:solidFill>
                  <a:schemeClr val="accent6"/>
                </a:solidFill>
                <a:latin typeface="Google Sans"/>
              </a:rPr>
              <a:t>Provide fallbacks, degraded responses, or 429/503 with Retry-After.</a:t>
            </a:r>
          </a:p>
          <a:p>
            <a:pPr marL="12700" marR="5080"/>
            <a:r>
              <a:rPr lang="en-US" sz="1500" dirty="0">
                <a:solidFill>
                  <a:schemeClr val="accent2"/>
                </a:solidFill>
                <a:latin typeface="Google Sans"/>
              </a:rPr>
              <a:t>Logging</a:t>
            </a:r>
          </a:p>
          <a:p>
            <a:pPr marL="12700" marR="5080"/>
            <a:r>
              <a:rPr lang="en-US" sz="1500" dirty="0">
                <a:solidFill>
                  <a:schemeClr val="accent6"/>
                </a:solidFill>
                <a:latin typeface="Google Sans"/>
              </a:rPr>
              <a:t>Log when bulkhead rejection happens (include tenant id and reason).</a:t>
            </a:r>
          </a:p>
          <a:p>
            <a:pPr marL="12700" marR="5080"/>
            <a:r>
              <a:rPr lang="en-US" sz="1800" dirty="0">
                <a:solidFill>
                  <a:schemeClr val="accent2"/>
                </a:solidFill>
                <a:latin typeface="Google Sans"/>
              </a:rPr>
              <a:t>Trade-offs and guidance (short)</a:t>
            </a:r>
          </a:p>
          <a:p>
            <a:pPr marL="12700" marR="5080"/>
            <a:r>
              <a:rPr lang="en-US" sz="1500" dirty="0">
                <a:solidFill>
                  <a:schemeClr val="accent6"/>
                </a:solidFill>
                <a:latin typeface="Google Sans"/>
              </a:rPr>
              <a:t>Prefer application-level bulkheads (Polly, </a:t>
            </a:r>
            <a:r>
              <a:rPr lang="en-US" sz="1500" dirty="0" err="1">
                <a:solidFill>
                  <a:schemeClr val="accent6"/>
                </a:solidFill>
                <a:latin typeface="Google Sans"/>
              </a:rPr>
              <a:t>SemaphoreSlim</a:t>
            </a:r>
            <a:r>
              <a:rPr lang="en-US" sz="1500" dirty="0">
                <a:solidFill>
                  <a:schemeClr val="accent6"/>
                </a:solidFill>
                <a:latin typeface="Google Sans"/>
              </a:rPr>
              <a:t>, Channels, Dataflow) for precise control and observability.</a:t>
            </a:r>
          </a:p>
          <a:p>
            <a:pPr marL="12700" marR="5080"/>
            <a:r>
              <a:rPr lang="en-US" sz="1500" dirty="0">
                <a:solidFill>
                  <a:schemeClr val="accent6"/>
                </a:solidFill>
                <a:latin typeface="Google Sans"/>
              </a:rPr>
              <a:t>Use container/VM isolation when security/resource isolation is paramount.</a:t>
            </a:r>
          </a:p>
          <a:p>
            <a:pPr marL="12700" marR="5080"/>
            <a:r>
              <a:rPr lang="en-US" sz="1500" dirty="0">
                <a:solidFill>
                  <a:schemeClr val="accent6"/>
                </a:solidFill>
                <a:latin typeface="Google Sans"/>
              </a:rPr>
              <a:t>Avoid tuning global </a:t>
            </a:r>
            <a:r>
              <a:rPr lang="en-US" sz="1500" dirty="0" err="1">
                <a:solidFill>
                  <a:schemeClr val="accent6"/>
                </a:solidFill>
                <a:latin typeface="Google Sans"/>
              </a:rPr>
              <a:t>ThreadPool</a:t>
            </a:r>
            <a:r>
              <a:rPr lang="en-US" sz="1500" dirty="0">
                <a:solidFill>
                  <a:schemeClr val="accent6"/>
                </a:solidFill>
                <a:latin typeface="Google Sans"/>
              </a:rPr>
              <a:t>—use component-level limits.</a:t>
            </a:r>
          </a:p>
        </p:txBody>
      </p:sp>
      <p:grpSp>
        <p:nvGrpSpPr>
          <p:cNvPr id="7" name="Group 6">
            <a:extLst>
              <a:ext uri="{FF2B5EF4-FFF2-40B4-BE49-F238E27FC236}">
                <a16:creationId xmlns:a16="http://schemas.microsoft.com/office/drawing/2014/main" id="{78068B1E-2FAC-1930-8327-58B8828E586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F7941AA-7621-3126-57A9-22FEE1040E7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224A451C-C113-3D68-0F43-B5A7EDED2E1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72177336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49D91-F95C-98DF-7EB1-B175E92386C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2CB7B2A-D939-14EC-BEE5-CAD454A18AE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634B958-8F28-5118-2672-E7AA442BF58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7FB631C-5304-05A9-D6FA-AF27327BDB4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68FF604-89DC-9B46-846F-F32FFD1D2FD2}"/>
              </a:ext>
            </a:extLst>
          </p:cNvPr>
          <p:cNvSpPr txBox="1">
            <a:spLocks/>
          </p:cNvSpPr>
          <p:nvPr/>
        </p:nvSpPr>
        <p:spPr>
          <a:xfrm>
            <a:off x="76200" y="697468"/>
            <a:ext cx="8624937" cy="433965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Bulkhead Isolation</a:t>
            </a:r>
          </a:p>
          <a:p>
            <a:pPr marL="12700" marR="5080"/>
            <a:r>
              <a:rPr lang="en-US" sz="1800" dirty="0">
                <a:solidFill>
                  <a:schemeClr val="accent2"/>
                </a:solidFill>
                <a:latin typeface="Google Sans"/>
              </a:rPr>
              <a:t>Trade-offs and guidance (short)</a:t>
            </a:r>
          </a:p>
          <a:p>
            <a:pPr marL="12700" marR="5080"/>
            <a:r>
              <a:rPr lang="en-US" sz="1500" dirty="0">
                <a:solidFill>
                  <a:schemeClr val="accent6"/>
                </a:solidFill>
                <a:latin typeface="Google Sans"/>
              </a:rPr>
              <a:t>Use queue capacity + backpressure (preferred) over unbounded queueing.</a:t>
            </a:r>
          </a:p>
          <a:p>
            <a:pPr marL="12700" marR="5080"/>
            <a:r>
              <a:rPr lang="en-US" sz="1500" dirty="0">
                <a:solidFill>
                  <a:schemeClr val="accent6"/>
                </a:solidFill>
                <a:latin typeface="Google Sans"/>
              </a:rPr>
              <a:t>Combine timeouts + bulkheads + circuit breakers for robust fault isolation.</a:t>
            </a:r>
          </a:p>
          <a:p>
            <a:pPr marL="12700" marR="5080"/>
            <a:r>
              <a:rPr lang="en-US" sz="1500" dirty="0">
                <a:solidFill>
                  <a:schemeClr val="accent6"/>
                </a:solidFill>
                <a:latin typeface="Google Sans"/>
              </a:rPr>
              <a:t>Use per-tenant or per-priority pools when noisy neighbors are likely.</a:t>
            </a:r>
          </a:p>
          <a:p>
            <a:pPr marL="12700" marR="5080"/>
            <a:r>
              <a:rPr lang="en-US" sz="1800" dirty="0">
                <a:solidFill>
                  <a:schemeClr val="accent2"/>
                </a:solidFill>
                <a:latin typeface="Google Sans"/>
              </a:rPr>
              <a:t>Quick decision checklist (pick the right approach)</a:t>
            </a:r>
          </a:p>
          <a:p>
            <a:pPr marL="12700" marR="5080"/>
            <a:r>
              <a:rPr lang="en-US" sz="1500" dirty="0">
                <a:solidFill>
                  <a:schemeClr val="accent6"/>
                </a:solidFill>
                <a:latin typeface="Google Sans"/>
              </a:rPr>
              <a:t>Need per-tenant isolation → per-tenant queues/worker pools or separate process/container.</a:t>
            </a:r>
          </a:p>
          <a:p>
            <a:pPr marL="12700" marR="5080"/>
            <a:r>
              <a:rPr lang="en-US" sz="1500" dirty="0">
                <a:solidFill>
                  <a:schemeClr val="accent6"/>
                </a:solidFill>
                <a:latin typeface="Google Sans"/>
              </a:rPr>
              <a:t>Need simple concurrency cap on an endpoint → </a:t>
            </a:r>
            <a:r>
              <a:rPr lang="en-US" sz="1500" dirty="0" err="1">
                <a:solidFill>
                  <a:schemeClr val="accent6"/>
                </a:solidFill>
                <a:latin typeface="Google Sans"/>
              </a:rPr>
              <a:t>RateLimiter</a:t>
            </a:r>
            <a:r>
              <a:rPr lang="en-US" sz="1500" dirty="0">
                <a:solidFill>
                  <a:schemeClr val="accent6"/>
                </a:solidFill>
                <a:latin typeface="Google Sans"/>
              </a:rPr>
              <a:t> (ASP.NET Core) or </a:t>
            </a:r>
            <a:r>
              <a:rPr lang="en-US" sz="1500" dirty="0" err="1">
                <a:solidFill>
                  <a:schemeClr val="accent6"/>
                </a:solidFill>
                <a:latin typeface="Google Sans"/>
              </a:rPr>
              <a:t>SemaphoreSlim</a:t>
            </a:r>
            <a:r>
              <a:rPr lang="en-US" sz="1500" dirty="0">
                <a:solidFill>
                  <a:schemeClr val="accent6"/>
                </a:solidFill>
                <a:latin typeface="Google Sans"/>
              </a:rPr>
              <a:t>.</a:t>
            </a:r>
          </a:p>
          <a:p>
            <a:pPr marL="12700" marR="5080"/>
            <a:r>
              <a:rPr lang="en-US" sz="1500" dirty="0">
                <a:solidFill>
                  <a:schemeClr val="accent6"/>
                </a:solidFill>
                <a:latin typeface="Google Sans"/>
              </a:rPr>
              <a:t>Need robust resilience for downstream calls → Polly Bulkhead + Timeout + </a:t>
            </a:r>
            <a:r>
              <a:rPr lang="en-US" sz="1500" dirty="0" err="1">
                <a:solidFill>
                  <a:schemeClr val="accent6"/>
                </a:solidFill>
                <a:latin typeface="Google Sans"/>
              </a:rPr>
              <a:t>CircuitBreaker</a:t>
            </a:r>
            <a:r>
              <a:rPr lang="en-US" sz="1500" dirty="0">
                <a:solidFill>
                  <a:schemeClr val="accent6"/>
                </a:solidFill>
                <a:latin typeface="Google Sans"/>
              </a:rPr>
              <a:t>.</a:t>
            </a:r>
          </a:p>
          <a:p>
            <a:pPr marL="12700" marR="5080"/>
            <a:r>
              <a:rPr lang="en-US" sz="1500" dirty="0">
                <a:solidFill>
                  <a:schemeClr val="accent6"/>
                </a:solidFill>
                <a:latin typeface="Google Sans"/>
              </a:rPr>
              <a:t>Need async pipelines with backpressure → Channel&lt;T&gt; or TPL Dataflow.</a:t>
            </a:r>
          </a:p>
          <a:p>
            <a:pPr marL="12700" marR="5080"/>
            <a:r>
              <a:rPr lang="en-US" sz="1500" dirty="0">
                <a:solidFill>
                  <a:schemeClr val="accent6"/>
                </a:solidFill>
                <a:latin typeface="Google Sans"/>
              </a:rPr>
              <a:t>Need actor model → Akka.NET/Orleans.</a:t>
            </a:r>
          </a:p>
          <a:p>
            <a:pPr marL="12700" marR="5080"/>
            <a:r>
              <a:rPr lang="en-US" sz="1800" dirty="0">
                <a:solidFill>
                  <a:schemeClr val="accent2"/>
                </a:solidFill>
                <a:latin typeface="Google Sans"/>
              </a:rPr>
              <a:t>Final recommendations (practical)</a:t>
            </a:r>
          </a:p>
          <a:p>
            <a:pPr marL="12700" marR="5080"/>
            <a:r>
              <a:rPr lang="en-US" sz="1500" dirty="0">
                <a:solidFill>
                  <a:schemeClr val="accent6"/>
                </a:solidFill>
                <a:latin typeface="Google Sans"/>
              </a:rPr>
              <a:t>Start with application-level bulkheads (Polly or ASP.NET </a:t>
            </a:r>
            <a:r>
              <a:rPr lang="en-US" sz="1500" dirty="0" err="1">
                <a:solidFill>
                  <a:schemeClr val="accent6"/>
                </a:solidFill>
                <a:latin typeface="Google Sans"/>
              </a:rPr>
              <a:t>RateLimiter</a:t>
            </a:r>
            <a:r>
              <a:rPr lang="en-US" sz="1500" dirty="0">
                <a:solidFill>
                  <a:schemeClr val="accent6"/>
                </a:solidFill>
                <a:latin typeface="Google Sans"/>
              </a:rPr>
              <a:t>) for most web/API scenarios.</a:t>
            </a:r>
          </a:p>
          <a:p>
            <a:pPr marL="12700" marR="5080"/>
            <a:r>
              <a:rPr lang="en-US" sz="1500" dirty="0">
                <a:solidFill>
                  <a:schemeClr val="accent6"/>
                </a:solidFill>
                <a:latin typeface="Google Sans"/>
              </a:rPr>
              <a:t>Add bounded async queues (Channels/Dataflow) for heavy background processing.</a:t>
            </a:r>
          </a:p>
          <a:p>
            <a:pPr marL="12700" marR="5080"/>
            <a:r>
              <a:rPr lang="en-US" sz="1500" dirty="0">
                <a:solidFill>
                  <a:schemeClr val="accent6"/>
                </a:solidFill>
                <a:latin typeface="Google Sans"/>
              </a:rPr>
              <a:t>Use container/VM process separation for tenants that historically produce noisy traffic.</a:t>
            </a:r>
          </a:p>
          <a:p>
            <a:pPr marL="12700" marR="5080"/>
            <a:r>
              <a:rPr lang="en-US" sz="1500" dirty="0">
                <a:solidFill>
                  <a:schemeClr val="accent2"/>
                </a:solidFill>
                <a:latin typeface="Google Sans"/>
              </a:rPr>
              <a:t>Instrument everything: </a:t>
            </a:r>
            <a:r>
              <a:rPr lang="en-US" sz="1500" dirty="0">
                <a:solidFill>
                  <a:schemeClr val="accent6"/>
                </a:solidFill>
                <a:latin typeface="Google Sans"/>
              </a:rPr>
              <a:t>expose bulkhead metrics and test under realistic loads. </a:t>
            </a:r>
          </a:p>
        </p:txBody>
      </p:sp>
      <p:grpSp>
        <p:nvGrpSpPr>
          <p:cNvPr id="7" name="Group 6">
            <a:extLst>
              <a:ext uri="{FF2B5EF4-FFF2-40B4-BE49-F238E27FC236}">
                <a16:creationId xmlns:a16="http://schemas.microsoft.com/office/drawing/2014/main" id="{9BE6A4DE-3023-DC7D-A5EB-234263131EE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8BC8A65-AEB7-D168-F08C-BA1E283F609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3F0D5496-D102-7A9B-7B16-7E7927624D7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2479300845"/>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25E27-FAD4-F88E-881B-E2CB38AD83A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C79B252-1E61-3E25-DA02-255A8C77B61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4CE0475-8C42-6329-DA61-6725A02716F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53049B1-03D7-F583-BDDC-05E0AEDB869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E3B4889-EB99-C805-E34F-AD530CEC9584}"/>
              </a:ext>
            </a:extLst>
          </p:cNvPr>
          <p:cNvSpPr txBox="1">
            <a:spLocks/>
          </p:cNvSpPr>
          <p:nvPr/>
        </p:nvSpPr>
        <p:spPr>
          <a:xfrm>
            <a:off x="76200" y="697468"/>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Backpressure</a:t>
            </a:r>
          </a:p>
          <a:p>
            <a:pPr marL="12700" marR="5080"/>
            <a:r>
              <a:rPr lang="en-US" sz="1500" dirty="0">
                <a:solidFill>
                  <a:schemeClr val="accent6"/>
                </a:solidFill>
                <a:latin typeface="Google Sans"/>
              </a:rPr>
              <a:t>Backpressure is the mechanism for a slow consumer to signal a fast producer to slow down the data flow. </a:t>
            </a:r>
            <a:endParaRPr lang="en-US" sz="2400" kern="0" spc="-80" dirty="0">
              <a:solidFill>
                <a:schemeClr val="accent2"/>
              </a:solidFill>
            </a:endParaRPr>
          </a:p>
          <a:p>
            <a:pPr marL="12700" marR="5080"/>
            <a:r>
              <a:rPr lang="en-US" sz="1500" dirty="0">
                <a:solidFill>
                  <a:schemeClr val="accent6"/>
                </a:solidFill>
                <a:latin typeface="Google Sans"/>
              </a:rPr>
              <a:t>Backpressure manage data flow by signaling producers to slow down when consumers get overwhelmed, using strategies like Buffering (storing data in bounded queues), Dropping (discarding messages), Throttling (rate-limiting producers), or Blocking (pausing producers). Common approaches include explicit signals (Reactive Streams' request() calls), implicit slowdowns (latency), or architectural patterns like scaling consumers (competing consumers) or circuit breakers, all aiming to prevent system collapse from overload. </a:t>
            </a:r>
            <a:r>
              <a:rPr lang="en-US" sz="1800" dirty="0">
                <a:solidFill>
                  <a:schemeClr val="accent2"/>
                </a:solidFill>
                <a:latin typeface="Google Sans"/>
              </a:rPr>
              <a:t>Key Patterns &amp; Techniques</a:t>
            </a:r>
          </a:p>
          <a:p>
            <a:pPr marL="12700" marR="5080"/>
            <a:r>
              <a:rPr lang="en-US" sz="1500" dirty="0">
                <a:solidFill>
                  <a:schemeClr val="accent2"/>
                </a:solidFill>
                <a:latin typeface="Google Sans"/>
              </a:rPr>
              <a:t>Buffering (Queues): </a:t>
            </a:r>
          </a:p>
          <a:p>
            <a:pPr marL="12700" marR="5080"/>
            <a:r>
              <a:rPr lang="en-US" sz="1500" dirty="0">
                <a:solidFill>
                  <a:schemeClr val="accent2"/>
                </a:solidFill>
                <a:latin typeface="Google Sans"/>
              </a:rPr>
              <a:t>How it works:</a:t>
            </a:r>
            <a:r>
              <a:rPr lang="en-US" sz="1500" dirty="0">
                <a:solidFill>
                  <a:schemeClr val="accent6"/>
                </a:solidFill>
                <a:latin typeface="Google Sans"/>
              </a:rPr>
              <a:t> Stores excess data in queues (e.g., in memory) until the consumer catches up.</a:t>
            </a:r>
          </a:p>
          <a:p>
            <a:pPr marL="12700" marR="5080"/>
            <a:r>
              <a:rPr lang="en-US" sz="1500" dirty="0">
                <a:solidFill>
                  <a:schemeClr val="accent2"/>
                </a:solidFill>
                <a:latin typeface="Google Sans"/>
              </a:rPr>
              <a:t>Considerations: </a:t>
            </a:r>
            <a:r>
              <a:rPr lang="en-US" sz="1500" dirty="0">
                <a:solidFill>
                  <a:schemeClr val="accent6"/>
                </a:solidFill>
                <a:latin typeface="Google Sans"/>
              </a:rPr>
              <a:t>Requires bounded buffers to prevent out-of-memory crashes; can introduce latency.</a:t>
            </a:r>
          </a:p>
          <a:p>
            <a:pPr marL="12700" marR="5080"/>
            <a:r>
              <a:rPr lang="en-US" sz="1500" dirty="0">
                <a:solidFill>
                  <a:schemeClr val="accent2"/>
                </a:solidFill>
                <a:latin typeface="Google Sans"/>
              </a:rPr>
              <a:t>Example:</a:t>
            </a:r>
            <a:r>
              <a:rPr lang="en-US" sz="1500" dirty="0">
                <a:solidFill>
                  <a:schemeClr val="accent6"/>
                </a:solidFill>
                <a:latin typeface="Google Sans"/>
              </a:rPr>
              <a:t> Bounded queues in Kafka consumers.</a:t>
            </a:r>
          </a:p>
          <a:p>
            <a:pPr marL="12700" marR="5080"/>
            <a:r>
              <a:rPr lang="en-US" sz="1500" dirty="0">
                <a:solidFill>
                  <a:schemeClr val="accent2"/>
                </a:solidFill>
                <a:latin typeface="Google Sans"/>
              </a:rPr>
              <a:t>Dropping (Load Shedding):</a:t>
            </a:r>
          </a:p>
          <a:p>
            <a:pPr marL="12700" marR="5080"/>
            <a:r>
              <a:rPr lang="en-US" sz="1500" dirty="0">
                <a:solidFill>
                  <a:schemeClr val="accent2"/>
                </a:solidFill>
                <a:latin typeface="Google Sans"/>
              </a:rPr>
              <a:t>How it works:</a:t>
            </a:r>
            <a:r>
              <a:rPr lang="en-US" sz="1500" dirty="0">
                <a:solidFill>
                  <a:schemeClr val="accent6"/>
                </a:solidFill>
                <a:latin typeface="Google Sans"/>
              </a:rPr>
              <a:t> Discards messages (oldest or newest) when buffers are full.</a:t>
            </a:r>
          </a:p>
          <a:p>
            <a:pPr marL="12700" marR="5080"/>
            <a:r>
              <a:rPr lang="en-US" sz="1500" dirty="0">
                <a:solidFill>
                  <a:schemeClr val="accent2"/>
                </a:solidFill>
                <a:latin typeface="Google Sans"/>
              </a:rPr>
              <a:t>Considerations:</a:t>
            </a:r>
            <a:r>
              <a:rPr lang="en-US" sz="1500" dirty="0">
                <a:solidFill>
                  <a:schemeClr val="accent6"/>
                </a:solidFill>
                <a:latin typeface="Google Sans"/>
              </a:rPr>
              <a:t> Loses data; needs a strategy for what to drop.</a:t>
            </a:r>
          </a:p>
          <a:p>
            <a:pPr marL="12700" marR="5080"/>
            <a:r>
              <a:rPr lang="en-US" sz="1500" dirty="0">
                <a:solidFill>
                  <a:schemeClr val="accent2"/>
                </a:solidFill>
                <a:latin typeface="Google Sans"/>
              </a:rPr>
              <a:t>Example:</a:t>
            </a:r>
            <a:r>
              <a:rPr lang="en-US" sz="1500" dirty="0">
                <a:solidFill>
                  <a:schemeClr val="accent6"/>
                </a:solidFill>
                <a:latin typeface="Google Sans"/>
              </a:rPr>
              <a:t> Silently ignoring records or saving to basic backup storage.</a:t>
            </a:r>
          </a:p>
          <a:p>
            <a:pPr marL="12700" marR="5080"/>
            <a:r>
              <a:rPr lang="en-US" sz="1500" dirty="0">
                <a:solidFill>
                  <a:schemeClr val="accent2"/>
                </a:solidFill>
                <a:latin typeface="Google Sans"/>
              </a:rPr>
              <a:t>Throttling / Rate Limiting:</a:t>
            </a:r>
          </a:p>
          <a:p>
            <a:pPr marL="12700" marR="5080"/>
            <a:r>
              <a:rPr lang="en-US" sz="1500" dirty="0">
                <a:solidFill>
                  <a:schemeClr val="accent2"/>
                </a:solidFill>
                <a:latin typeface="Google Sans"/>
              </a:rPr>
              <a:t>How it works:</a:t>
            </a:r>
            <a:r>
              <a:rPr lang="en-US" sz="1500" dirty="0">
                <a:solidFill>
                  <a:schemeClr val="accent6"/>
                </a:solidFill>
                <a:latin typeface="Google Sans"/>
              </a:rPr>
              <a:t> Explicitly limits the rate at which producers send data based on consumer capacity.</a:t>
            </a:r>
          </a:p>
          <a:p>
            <a:pPr marL="12700" marR="5080"/>
            <a:r>
              <a:rPr lang="en-US" sz="1500" dirty="0">
                <a:solidFill>
                  <a:schemeClr val="accent2"/>
                </a:solidFill>
                <a:latin typeface="Google Sans"/>
              </a:rPr>
              <a:t>Considerations:</a:t>
            </a:r>
            <a:r>
              <a:rPr lang="en-US" sz="1500" dirty="0">
                <a:solidFill>
                  <a:schemeClr val="accent6"/>
                </a:solidFill>
                <a:latin typeface="Google Sans"/>
              </a:rPr>
              <a:t> Can be complex to tune but prevents overload.</a:t>
            </a:r>
          </a:p>
          <a:p>
            <a:pPr marL="12700" marR="5080"/>
            <a:r>
              <a:rPr lang="en-US" sz="1500" dirty="0">
                <a:solidFill>
                  <a:schemeClr val="accent2"/>
                </a:solidFill>
                <a:latin typeface="Google Sans"/>
              </a:rPr>
              <a:t>Example: </a:t>
            </a:r>
            <a:r>
              <a:rPr lang="en-US" sz="1500" dirty="0">
                <a:solidFill>
                  <a:schemeClr val="accent6"/>
                </a:solidFill>
                <a:latin typeface="Google Sans"/>
              </a:rPr>
              <a:t>Using leaky buckets or token-based rate limiters.</a:t>
            </a:r>
          </a:p>
        </p:txBody>
      </p:sp>
      <p:grpSp>
        <p:nvGrpSpPr>
          <p:cNvPr id="7" name="Group 6">
            <a:extLst>
              <a:ext uri="{FF2B5EF4-FFF2-40B4-BE49-F238E27FC236}">
                <a16:creationId xmlns:a16="http://schemas.microsoft.com/office/drawing/2014/main" id="{86FC2E46-CC21-6435-7ED5-FCE26DE7EFC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8EA110A9-F4FD-841E-3EA8-517F953891E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A823D4B-FA30-B761-DC20-24BEC50F27A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538240281"/>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4A45D-338E-316B-09E4-F1388B82225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0A1AB86-1CEC-9E82-12B8-61C12CE89E9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8201D90-461B-FEF9-56C0-42D51AAEA17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E80A0CE-49F7-E997-9F31-85CD0F650A3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28D521C-5895-080E-7871-DB8D836B85F8}"/>
              </a:ext>
            </a:extLst>
          </p:cNvPr>
          <p:cNvSpPr txBox="1">
            <a:spLocks/>
          </p:cNvSpPr>
          <p:nvPr/>
        </p:nvSpPr>
        <p:spPr>
          <a:xfrm>
            <a:off x="76200" y="697468"/>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Backpressure</a:t>
            </a:r>
          </a:p>
          <a:p>
            <a:pPr marL="12700" marR="5080"/>
            <a:r>
              <a:rPr lang="en-US" sz="1800" dirty="0">
                <a:solidFill>
                  <a:schemeClr val="accent2"/>
                </a:solidFill>
                <a:latin typeface="Google Sans"/>
              </a:rPr>
              <a:t>Key Patterns &amp; Techniques</a:t>
            </a:r>
          </a:p>
          <a:p>
            <a:pPr marL="12700" marR="5080"/>
            <a:r>
              <a:rPr lang="en-US" sz="1500" dirty="0">
                <a:solidFill>
                  <a:schemeClr val="accent2"/>
                </a:solidFill>
                <a:latin typeface="Google Sans"/>
              </a:rPr>
              <a:t>Blocking / Slowdown:</a:t>
            </a:r>
          </a:p>
          <a:p>
            <a:pPr marL="12700" marR="5080"/>
            <a:r>
              <a:rPr lang="en-US" sz="1500" dirty="0">
                <a:solidFill>
                  <a:schemeClr val="accent2"/>
                </a:solidFill>
                <a:latin typeface="Google Sans"/>
              </a:rPr>
              <a:t>How it works: </a:t>
            </a:r>
            <a:r>
              <a:rPr lang="en-US" sz="1500" dirty="0">
                <a:solidFill>
                  <a:schemeClr val="accent6"/>
                </a:solidFill>
                <a:latin typeface="Google Sans"/>
              </a:rPr>
              <a:t>Pauses or slows the producer's operations entirely until the consumer backlog clears.</a:t>
            </a:r>
          </a:p>
          <a:p>
            <a:pPr marL="12700" marR="5080"/>
            <a:r>
              <a:rPr lang="en-US" sz="1500" dirty="0">
                <a:solidFill>
                  <a:schemeClr val="accent2"/>
                </a:solidFill>
                <a:latin typeface="Google Sans"/>
              </a:rPr>
              <a:t>Considerations: </a:t>
            </a:r>
            <a:r>
              <a:rPr lang="en-US" sz="1500" dirty="0">
                <a:solidFill>
                  <a:schemeClr val="accent6"/>
                </a:solidFill>
                <a:latin typeface="Google Sans"/>
              </a:rPr>
              <a:t>Simple but can stop critical work.</a:t>
            </a:r>
          </a:p>
          <a:p>
            <a:pPr marL="12700" marR="5080"/>
            <a:r>
              <a:rPr lang="en-US" sz="1500" dirty="0">
                <a:solidFill>
                  <a:schemeClr val="accent2"/>
                </a:solidFill>
                <a:latin typeface="Google Sans"/>
              </a:rPr>
              <a:t>Example: </a:t>
            </a:r>
            <a:r>
              <a:rPr lang="en-US" sz="1500" dirty="0">
                <a:solidFill>
                  <a:schemeClr val="accent6"/>
                </a:solidFill>
                <a:latin typeface="Google Sans"/>
              </a:rPr>
              <a:t>A consumer telling a Kafka producer to stop fetching until it's ready.</a:t>
            </a:r>
          </a:p>
          <a:p>
            <a:pPr marL="12700" marR="5080"/>
            <a:r>
              <a:rPr lang="en-US" sz="1500" dirty="0">
                <a:solidFill>
                  <a:schemeClr val="accent2"/>
                </a:solidFill>
                <a:latin typeface="Google Sans"/>
              </a:rPr>
              <a:t>Scaling Out (Competing Consumers):</a:t>
            </a:r>
          </a:p>
          <a:p>
            <a:pPr marL="12700" marR="5080"/>
            <a:r>
              <a:rPr lang="en-US" sz="1500" dirty="0">
                <a:solidFill>
                  <a:schemeClr val="accent2"/>
                </a:solidFill>
                <a:latin typeface="Google Sans"/>
              </a:rPr>
              <a:t>How it works: </a:t>
            </a:r>
            <a:r>
              <a:rPr lang="en-US" sz="1500" dirty="0">
                <a:solidFill>
                  <a:schemeClr val="accent6"/>
                </a:solidFill>
                <a:latin typeface="Google Sans"/>
              </a:rPr>
              <a:t>Adds more consumer instances to process messages in parallel.</a:t>
            </a:r>
          </a:p>
          <a:p>
            <a:pPr marL="12700" marR="5080"/>
            <a:r>
              <a:rPr lang="en-US" sz="1500" dirty="0">
                <a:solidFill>
                  <a:schemeClr val="accent6"/>
                </a:solidFill>
                <a:latin typeface="Google Sans"/>
              </a:rPr>
              <a:t>Considerations: Increases processing power but can add load to downstream services (e.g., databases) and disrupt order.</a:t>
            </a:r>
          </a:p>
          <a:p>
            <a:pPr marL="12700" marR="5080"/>
            <a:r>
              <a:rPr lang="en-US" sz="1500" dirty="0">
                <a:solidFill>
                  <a:schemeClr val="accent2"/>
                </a:solidFill>
                <a:latin typeface="Google Sans"/>
              </a:rPr>
              <a:t>Circuit Breaker:</a:t>
            </a:r>
          </a:p>
          <a:p>
            <a:pPr marL="12700" marR="5080"/>
            <a:r>
              <a:rPr lang="en-US" sz="1500" dirty="0">
                <a:solidFill>
                  <a:schemeClr val="accent2"/>
                </a:solidFill>
                <a:latin typeface="Google Sans"/>
              </a:rPr>
              <a:t>How it works: </a:t>
            </a:r>
            <a:r>
              <a:rPr lang="en-US" sz="1500" dirty="0">
                <a:solidFill>
                  <a:schemeClr val="accent6"/>
                </a:solidFill>
                <a:latin typeface="Google Sans"/>
              </a:rPr>
              <a:t>Stops requests to an overloaded service entirely for a period, allowing it to recover, as described in this Medium article.</a:t>
            </a:r>
          </a:p>
          <a:p>
            <a:pPr marL="12700" marR="5080"/>
            <a:r>
              <a:rPr lang="en-US" sz="1500" dirty="0">
                <a:solidFill>
                  <a:schemeClr val="accent2"/>
                </a:solidFill>
                <a:latin typeface="Google Sans"/>
              </a:rPr>
              <a:t>Reactive Streams (e.g., </a:t>
            </a:r>
            <a:r>
              <a:rPr lang="en-US" sz="1500" dirty="0" err="1">
                <a:solidFill>
                  <a:schemeClr val="accent2"/>
                </a:solidFill>
                <a:latin typeface="Google Sans"/>
              </a:rPr>
              <a:t>RxJava</a:t>
            </a:r>
            <a:r>
              <a:rPr lang="en-US" sz="1500" dirty="0">
                <a:solidFill>
                  <a:schemeClr val="accent2"/>
                </a:solidFill>
                <a:latin typeface="Google Sans"/>
              </a:rPr>
              <a:t>, Project Reactor):</a:t>
            </a:r>
          </a:p>
          <a:p>
            <a:pPr marL="12700" marR="5080"/>
            <a:r>
              <a:rPr lang="en-US" sz="1500" dirty="0">
                <a:solidFill>
                  <a:schemeClr val="accent2"/>
                </a:solidFill>
                <a:latin typeface="Google Sans"/>
              </a:rPr>
              <a:t>How it works: </a:t>
            </a:r>
            <a:r>
              <a:rPr lang="en-US" sz="1500" dirty="0">
                <a:solidFill>
                  <a:schemeClr val="accent6"/>
                </a:solidFill>
                <a:latin typeface="Google Sans"/>
              </a:rPr>
              <a:t>Uses request(n) calls from consumer to producer to control data flow, enabling built-in backpressure.</a:t>
            </a:r>
          </a:p>
          <a:p>
            <a:pPr marL="12700" marR="5080"/>
            <a:r>
              <a:rPr lang="en-US" sz="1500" dirty="0">
                <a:solidFill>
                  <a:schemeClr val="accent2"/>
                </a:solidFill>
                <a:latin typeface="Google Sans"/>
              </a:rPr>
              <a:t>Example: </a:t>
            </a:r>
            <a:r>
              <a:rPr lang="en-US" sz="1500" dirty="0">
                <a:solidFill>
                  <a:schemeClr val="accent6"/>
                </a:solidFill>
                <a:latin typeface="Google Sans"/>
              </a:rPr>
              <a:t>Using </a:t>
            </a:r>
            <a:r>
              <a:rPr lang="en-US" sz="1500" dirty="0" err="1">
                <a:solidFill>
                  <a:schemeClr val="accent6"/>
                </a:solidFill>
                <a:latin typeface="Google Sans"/>
              </a:rPr>
              <a:t>flatMap</a:t>
            </a:r>
            <a:r>
              <a:rPr lang="en-US" sz="1500" dirty="0">
                <a:solidFill>
                  <a:schemeClr val="accent6"/>
                </a:solidFill>
                <a:latin typeface="Google Sans"/>
              </a:rPr>
              <a:t> with concurrency() in Project Reactor to manage flow between Kafka and Postgres. </a:t>
            </a:r>
          </a:p>
          <a:p>
            <a:pPr marL="12700" marR="5080"/>
            <a:endParaRPr lang="en-US" sz="1500" dirty="0">
              <a:solidFill>
                <a:schemeClr val="accent6"/>
              </a:solidFill>
              <a:latin typeface="Google Sans"/>
            </a:endParaRPr>
          </a:p>
          <a:p>
            <a:pPr marL="12700" marR="5080"/>
            <a:r>
              <a:rPr lang="en-US" sz="1500" dirty="0">
                <a:solidFill>
                  <a:schemeClr val="accent2"/>
                </a:solidFill>
                <a:latin typeface="Google Sans"/>
              </a:rPr>
              <a:t>N.B. –</a:t>
            </a:r>
            <a:r>
              <a:rPr lang="en-US" sz="1500" dirty="0">
                <a:solidFill>
                  <a:schemeClr val="accent6"/>
                </a:solidFill>
                <a:latin typeface="Google Sans"/>
              </a:rPr>
              <a:t> A Polling Consumer(maybe </a:t>
            </a:r>
            <a:r>
              <a:rPr lang="en-US" sz="1500" dirty="0" err="1">
                <a:solidFill>
                  <a:schemeClr val="accent6"/>
                </a:solidFill>
                <a:latin typeface="Google Sans"/>
              </a:rPr>
              <a:t>IAsyncEnumerable</a:t>
            </a:r>
            <a:r>
              <a:rPr lang="en-US" sz="1500" dirty="0">
                <a:solidFill>
                  <a:schemeClr val="accent6"/>
                </a:solidFill>
                <a:latin typeface="Google Sans"/>
              </a:rPr>
              <a:t> based in .NET) by default handles Backpressure since it fetches data as per it’s needs and there is no push from the sender.</a:t>
            </a:r>
          </a:p>
        </p:txBody>
      </p:sp>
      <p:grpSp>
        <p:nvGrpSpPr>
          <p:cNvPr id="7" name="Group 6">
            <a:extLst>
              <a:ext uri="{FF2B5EF4-FFF2-40B4-BE49-F238E27FC236}">
                <a16:creationId xmlns:a16="http://schemas.microsoft.com/office/drawing/2014/main" id="{D3F19F11-F945-A3A7-C889-5B968DD9187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147BB51-B1C1-5D57-BB3D-4E83F2DC626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56A124B-E393-C670-1BBA-17DAE6ECAB9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4202681962"/>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782A5-E7DC-AC85-A61D-D7060F7C973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25AB410-9081-BF40-F3A6-6E80DFDF501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0DB50E7-E893-2C26-3F7C-BB3A14013C1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21FB0CF-37E5-7F05-F47A-A7B47C9E68A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925FB00-4C4D-754B-1C83-066350C91B4E}"/>
              </a:ext>
            </a:extLst>
          </p:cNvPr>
          <p:cNvSpPr txBox="1">
            <a:spLocks/>
          </p:cNvSpPr>
          <p:nvPr/>
        </p:nvSpPr>
        <p:spPr>
          <a:xfrm>
            <a:off x="76200" y="697468"/>
            <a:ext cx="8624937" cy="49398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Backpressure</a:t>
            </a:r>
          </a:p>
          <a:p>
            <a:pPr marL="12700" marR="5080"/>
            <a:r>
              <a:rPr lang="en-US" sz="1800" dirty="0">
                <a:solidFill>
                  <a:schemeClr val="accent2"/>
                </a:solidFill>
                <a:latin typeface="Google Sans"/>
              </a:rPr>
              <a:t>.NET Specific Techniques</a:t>
            </a:r>
          </a:p>
          <a:p>
            <a:pPr marL="12700" marR="5080"/>
            <a:r>
              <a:rPr lang="en-US" sz="1500" dirty="0" err="1">
                <a:solidFill>
                  <a:schemeClr val="accent6"/>
                </a:solidFill>
                <a:latin typeface="Google Sans"/>
              </a:rPr>
              <a:t>System.Threading.Channels</a:t>
            </a:r>
            <a:r>
              <a:rPr lang="en-US" sz="1500" dirty="0">
                <a:solidFill>
                  <a:schemeClr val="accent6"/>
                </a:solidFill>
                <a:latin typeface="Google Sans"/>
              </a:rPr>
              <a:t> (recommended for modern .NET)</a:t>
            </a:r>
          </a:p>
          <a:p>
            <a:pPr marL="12700" marR="5080"/>
            <a:r>
              <a:rPr lang="en-US" sz="1500" dirty="0">
                <a:solidFill>
                  <a:schemeClr val="accent2"/>
                </a:solidFill>
                <a:latin typeface="Google Sans"/>
              </a:rPr>
              <a:t>What:</a:t>
            </a:r>
            <a:r>
              <a:rPr lang="en-US" sz="1500" dirty="0">
                <a:solidFill>
                  <a:schemeClr val="accent6"/>
                </a:solidFill>
                <a:latin typeface="Google Sans"/>
              </a:rPr>
              <a:t> high-perf in-process channels, support bounded/unbounded, single/multi-producer consumer.</a:t>
            </a:r>
          </a:p>
          <a:p>
            <a:pPr marL="12700" marR="5080"/>
            <a:r>
              <a:rPr lang="en-US" sz="1500" dirty="0">
                <a:solidFill>
                  <a:schemeClr val="accent2"/>
                </a:solidFill>
                <a:latin typeface="Google Sans"/>
              </a:rPr>
              <a:t>Why: </a:t>
            </a:r>
            <a:r>
              <a:rPr lang="en-US" sz="1500" dirty="0">
                <a:solidFill>
                  <a:schemeClr val="accent6"/>
                </a:solidFill>
                <a:latin typeface="Google Sans"/>
              </a:rPr>
              <a:t>efficient, low allocation, supports synchronous blocking or async wait.</a:t>
            </a:r>
          </a:p>
          <a:p>
            <a:pPr marL="12700" marR="5080"/>
            <a:r>
              <a:rPr lang="en-US" sz="1500" dirty="0">
                <a:solidFill>
                  <a:schemeClr val="accent2"/>
                </a:solidFill>
                <a:latin typeface="Google Sans"/>
              </a:rPr>
              <a:t>How to: </a:t>
            </a:r>
            <a:r>
              <a:rPr lang="en-US" sz="1500" dirty="0">
                <a:solidFill>
                  <a:schemeClr val="accent6"/>
                </a:solidFill>
                <a:latin typeface="Google Sans"/>
              </a:rPr>
              <a:t>use </a:t>
            </a:r>
            <a:r>
              <a:rPr lang="en-US" sz="1500" dirty="0" err="1">
                <a:solidFill>
                  <a:schemeClr val="accent6"/>
                </a:solidFill>
                <a:latin typeface="Google Sans"/>
              </a:rPr>
              <a:t>Channel.CreateBounded</a:t>
            </a:r>
            <a:r>
              <a:rPr lang="en-US" sz="1500" dirty="0">
                <a:solidFill>
                  <a:schemeClr val="accent6"/>
                </a:solidFill>
                <a:latin typeface="Google Sans"/>
              </a:rPr>
              <a:t>&lt;T&gt;(new </a:t>
            </a:r>
            <a:r>
              <a:rPr lang="en-US" sz="1500" dirty="0" err="1">
                <a:solidFill>
                  <a:schemeClr val="accent6"/>
                </a:solidFill>
                <a:latin typeface="Google Sans"/>
              </a:rPr>
              <a:t>BoundedChannelOptions</a:t>
            </a:r>
            <a:r>
              <a:rPr lang="en-US" sz="1500" dirty="0">
                <a:solidFill>
                  <a:schemeClr val="accent6"/>
                </a:solidFill>
                <a:latin typeface="Google Sans"/>
              </a:rPr>
              <a:t>(capacity) { </a:t>
            </a:r>
            <a:r>
              <a:rPr lang="en-US" sz="1500" dirty="0" err="1">
                <a:solidFill>
                  <a:schemeClr val="accent6"/>
                </a:solidFill>
                <a:latin typeface="Google Sans"/>
              </a:rPr>
              <a:t>FullMode</a:t>
            </a:r>
            <a:r>
              <a:rPr lang="en-US" sz="1500" dirty="0">
                <a:solidFill>
                  <a:schemeClr val="accent6"/>
                </a:solidFill>
                <a:latin typeface="Google Sans"/>
              </a:rPr>
              <a:t> = </a:t>
            </a:r>
            <a:r>
              <a:rPr lang="en-US" sz="1500" dirty="0" err="1">
                <a:solidFill>
                  <a:schemeClr val="accent6"/>
                </a:solidFill>
                <a:latin typeface="Google Sans"/>
              </a:rPr>
              <a:t>BoundedChannelFullMode.Wait</a:t>
            </a:r>
            <a:r>
              <a:rPr lang="en-US" sz="1500" dirty="0">
                <a:solidFill>
                  <a:schemeClr val="accent6"/>
                </a:solidFill>
                <a:latin typeface="Google Sans"/>
              </a:rPr>
              <a:t>/</a:t>
            </a:r>
            <a:r>
              <a:rPr lang="en-US" sz="1500" dirty="0" err="1">
                <a:solidFill>
                  <a:schemeClr val="accent6"/>
                </a:solidFill>
                <a:latin typeface="Google Sans"/>
              </a:rPr>
              <a:t>DropOldest</a:t>
            </a:r>
            <a:r>
              <a:rPr lang="en-US" sz="1500" dirty="0">
                <a:solidFill>
                  <a:schemeClr val="accent6"/>
                </a:solidFill>
                <a:latin typeface="Google Sans"/>
              </a:rPr>
              <a:t>/</a:t>
            </a:r>
            <a:r>
              <a:rPr lang="en-US" sz="1500" dirty="0" err="1">
                <a:solidFill>
                  <a:schemeClr val="accent6"/>
                </a:solidFill>
                <a:latin typeface="Google Sans"/>
              </a:rPr>
              <a:t>DropWrite</a:t>
            </a:r>
            <a:r>
              <a:rPr lang="en-US" sz="1500" dirty="0">
                <a:solidFill>
                  <a:schemeClr val="accent6"/>
                </a:solidFill>
                <a:latin typeface="Google Sans"/>
              </a:rPr>
              <a:t> }).</a:t>
            </a:r>
          </a:p>
          <a:p>
            <a:pPr marL="12700" marR="5080"/>
            <a:r>
              <a:rPr lang="en-US" sz="1500" dirty="0">
                <a:solidFill>
                  <a:schemeClr val="accent6"/>
                </a:solidFill>
                <a:latin typeface="Google Sans"/>
              </a:rPr>
              <a:t>using </a:t>
            </a:r>
            <a:r>
              <a:rPr lang="en-US" sz="1500" dirty="0" err="1">
                <a:solidFill>
                  <a:schemeClr val="accent6"/>
                </a:solidFill>
                <a:latin typeface="Google Sans"/>
              </a:rPr>
              <a:t>System.Threading.Channels</a:t>
            </a:r>
            <a:r>
              <a:rPr lang="en-US" sz="1500" dirty="0">
                <a:solidFill>
                  <a:schemeClr val="accent6"/>
                </a:solidFill>
                <a:latin typeface="Google Sans"/>
              </a:rPr>
              <a:t>;</a:t>
            </a:r>
          </a:p>
          <a:p>
            <a:pPr marL="12700" marR="5080"/>
            <a:r>
              <a:rPr lang="en-US" sz="1500" dirty="0">
                <a:solidFill>
                  <a:schemeClr val="accent6"/>
                </a:solidFill>
                <a:latin typeface="Google Sans"/>
              </a:rPr>
              <a:t>var options = new </a:t>
            </a:r>
            <a:r>
              <a:rPr lang="en-US" sz="1500" dirty="0" err="1">
                <a:solidFill>
                  <a:schemeClr val="accent6"/>
                </a:solidFill>
                <a:latin typeface="Google Sans"/>
              </a:rPr>
              <a:t>BoundedChannelOptions</a:t>
            </a:r>
            <a:r>
              <a:rPr lang="en-US" sz="1500" dirty="0">
                <a:solidFill>
                  <a:schemeClr val="accent6"/>
                </a:solidFill>
                <a:latin typeface="Google Sans"/>
              </a:rPr>
              <a:t>(100) {</a:t>
            </a:r>
          </a:p>
          <a:p>
            <a:pPr marL="12700" marR="5080"/>
            <a:r>
              <a:rPr lang="en-US" sz="1500" dirty="0">
                <a:solidFill>
                  <a:schemeClr val="accent6"/>
                </a:solidFill>
                <a:latin typeface="Google Sans"/>
              </a:rPr>
              <a:t>    </a:t>
            </a:r>
            <a:r>
              <a:rPr lang="en-US" sz="1500" dirty="0" err="1">
                <a:solidFill>
                  <a:schemeClr val="accent6"/>
                </a:solidFill>
                <a:latin typeface="Google Sans"/>
              </a:rPr>
              <a:t>FullMode</a:t>
            </a:r>
            <a:r>
              <a:rPr lang="en-US" sz="1500" dirty="0">
                <a:solidFill>
                  <a:schemeClr val="accent6"/>
                </a:solidFill>
                <a:latin typeface="Google Sans"/>
              </a:rPr>
              <a:t> = </a:t>
            </a:r>
            <a:r>
              <a:rPr lang="en-US" sz="1500" dirty="0" err="1">
                <a:solidFill>
                  <a:schemeClr val="accent6"/>
                </a:solidFill>
                <a:latin typeface="Google Sans"/>
              </a:rPr>
              <a:t>BoundedChannelFullMode.Wait</a:t>
            </a:r>
            <a:r>
              <a:rPr lang="en-US" sz="1500" dirty="0">
                <a:solidFill>
                  <a:schemeClr val="accent6"/>
                </a:solidFill>
                <a:latin typeface="Google Sans"/>
              </a:rPr>
              <a:t> // blocks writers until space</a:t>
            </a:r>
          </a:p>
          <a:p>
            <a:pPr marL="12700" marR="5080"/>
            <a:r>
              <a:rPr lang="en-US" sz="1500" dirty="0">
                <a:solidFill>
                  <a:schemeClr val="accent6"/>
                </a:solidFill>
                <a:latin typeface="Google Sans"/>
              </a:rPr>
              <a:t>};</a:t>
            </a:r>
          </a:p>
          <a:p>
            <a:pPr marL="12700" marR="5080"/>
            <a:r>
              <a:rPr lang="en-US" sz="1500" dirty="0">
                <a:solidFill>
                  <a:schemeClr val="accent6"/>
                </a:solidFill>
                <a:latin typeface="Google Sans"/>
              </a:rPr>
              <a:t>var channel = </a:t>
            </a:r>
            <a:r>
              <a:rPr lang="en-US" sz="1500" dirty="0" err="1">
                <a:solidFill>
                  <a:schemeClr val="accent6"/>
                </a:solidFill>
                <a:latin typeface="Google Sans"/>
              </a:rPr>
              <a:t>Channel.CreateBounded</a:t>
            </a:r>
            <a:r>
              <a:rPr lang="en-US" sz="1500" dirty="0">
                <a:solidFill>
                  <a:schemeClr val="accent6"/>
                </a:solidFill>
                <a:latin typeface="Google Sans"/>
              </a:rPr>
              <a:t>&lt;</a:t>
            </a:r>
            <a:r>
              <a:rPr lang="en-US" sz="1500" dirty="0" err="1">
                <a:solidFill>
                  <a:schemeClr val="accent6"/>
                </a:solidFill>
                <a:latin typeface="Google Sans"/>
              </a:rPr>
              <a:t>MyWork</a:t>
            </a:r>
            <a:r>
              <a:rPr lang="en-US" sz="1500" dirty="0">
                <a:solidFill>
                  <a:schemeClr val="accent6"/>
                </a:solidFill>
                <a:latin typeface="Google Sans"/>
              </a:rPr>
              <a:t>&gt;(options);</a:t>
            </a:r>
          </a:p>
          <a:p>
            <a:pPr marL="12700" marR="5080"/>
            <a:r>
              <a:rPr lang="en-US" sz="1500" dirty="0">
                <a:solidFill>
                  <a:schemeClr val="accent6"/>
                </a:solidFill>
                <a:latin typeface="Google Sans"/>
              </a:rPr>
              <a:t>// Producer</a:t>
            </a:r>
          </a:p>
          <a:p>
            <a:pPr marL="12700" marR="5080"/>
            <a:r>
              <a:rPr lang="en-US" sz="1500" dirty="0">
                <a:solidFill>
                  <a:schemeClr val="accent6"/>
                </a:solidFill>
                <a:latin typeface="Google Sans"/>
              </a:rPr>
              <a:t>await </a:t>
            </a:r>
            <a:r>
              <a:rPr lang="en-US" sz="1500" dirty="0" err="1">
                <a:solidFill>
                  <a:schemeClr val="accent6"/>
                </a:solidFill>
                <a:latin typeface="Google Sans"/>
              </a:rPr>
              <a:t>channel.Writer.WriteAsync</a:t>
            </a:r>
            <a:r>
              <a:rPr lang="en-US" sz="1500" dirty="0">
                <a:solidFill>
                  <a:schemeClr val="accent6"/>
                </a:solidFill>
                <a:latin typeface="Google Sans"/>
              </a:rPr>
              <a:t>(item);</a:t>
            </a:r>
          </a:p>
          <a:p>
            <a:pPr marL="12700" marR="5080"/>
            <a:r>
              <a:rPr lang="en-US" sz="1500" dirty="0">
                <a:solidFill>
                  <a:schemeClr val="accent6"/>
                </a:solidFill>
                <a:latin typeface="Google Sans"/>
              </a:rPr>
              <a:t>// Consumer</a:t>
            </a:r>
          </a:p>
          <a:p>
            <a:pPr marL="12700" marR="5080"/>
            <a:r>
              <a:rPr lang="en-US" sz="1500" dirty="0">
                <a:solidFill>
                  <a:schemeClr val="accent6"/>
                </a:solidFill>
                <a:latin typeface="Google Sans"/>
              </a:rPr>
              <a:t>await foreach (var item in </a:t>
            </a:r>
            <a:r>
              <a:rPr lang="en-US" sz="1500" dirty="0" err="1">
                <a:solidFill>
                  <a:schemeClr val="accent6"/>
                </a:solidFill>
                <a:latin typeface="Google Sans"/>
              </a:rPr>
              <a:t>channel.Reader.ReadAllAsync</a:t>
            </a:r>
            <a:r>
              <a:rPr lang="en-US" sz="1500" dirty="0">
                <a:solidFill>
                  <a:schemeClr val="accent6"/>
                </a:solidFill>
                <a:latin typeface="Google Sans"/>
              </a:rPr>
              <a:t>()) {</a:t>
            </a:r>
          </a:p>
          <a:p>
            <a:pPr marL="12700" marR="5080"/>
            <a:r>
              <a:rPr lang="en-US" sz="1500" dirty="0">
                <a:solidFill>
                  <a:schemeClr val="accent6"/>
                </a:solidFill>
                <a:latin typeface="Google Sans"/>
              </a:rPr>
              <a:t>    Process(item);</a:t>
            </a:r>
          </a:p>
          <a:p>
            <a:pPr marL="12700" marR="5080"/>
            <a:r>
              <a:rPr lang="en-US" sz="1500" dirty="0">
                <a:solidFill>
                  <a:schemeClr val="accent6"/>
                </a:solidFill>
                <a:latin typeface="Google Sans"/>
              </a:rPr>
              <a:t>}</a:t>
            </a:r>
          </a:p>
          <a:p>
            <a:pPr marL="12700" marR="5080"/>
            <a:r>
              <a:rPr lang="en-US" sz="1500" dirty="0">
                <a:solidFill>
                  <a:schemeClr val="accent2"/>
                </a:solidFill>
                <a:latin typeface="Google Sans"/>
              </a:rPr>
              <a:t>Trade-offs:</a:t>
            </a:r>
            <a:r>
              <a:rPr lang="en-US" sz="1500" dirty="0">
                <a:solidFill>
                  <a:schemeClr val="accent6"/>
                </a:solidFill>
                <a:latin typeface="Google Sans"/>
              </a:rPr>
              <a:t> blocking vs dropping policies; good for in-process pipelines.</a:t>
            </a:r>
          </a:p>
        </p:txBody>
      </p:sp>
      <p:grpSp>
        <p:nvGrpSpPr>
          <p:cNvPr id="7" name="Group 6">
            <a:extLst>
              <a:ext uri="{FF2B5EF4-FFF2-40B4-BE49-F238E27FC236}">
                <a16:creationId xmlns:a16="http://schemas.microsoft.com/office/drawing/2014/main" id="{9364CE4F-3CAC-A7E0-551E-DEA6156E94A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27E6E43-860E-1AFA-E139-EB3DF3C5CB6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B3739C3F-484D-C8B3-1D35-3F4554DC7C8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2414093138"/>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F5C2F-5E10-E654-545E-6B229DEC862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CD7E31A-0472-850E-5A09-085C3A6ABD0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A57BDFF-B8E0-3824-5B8C-DECBF29E284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966DF7B-70EE-F26E-F151-CFF0018661C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3430EBC-712C-4C84-CB59-49A215960ADD}"/>
              </a:ext>
            </a:extLst>
          </p:cNvPr>
          <p:cNvSpPr txBox="1">
            <a:spLocks/>
          </p:cNvSpPr>
          <p:nvPr/>
        </p:nvSpPr>
        <p:spPr>
          <a:xfrm>
            <a:off x="76200" y="697468"/>
            <a:ext cx="8624937" cy="49398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Backpressure</a:t>
            </a:r>
          </a:p>
          <a:p>
            <a:pPr marL="12700" marR="5080"/>
            <a:r>
              <a:rPr lang="en-US" sz="1800" dirty="0">
                <a:solidFill>
                  <a:schemeClr val="accent2"/>
                </a:solidFill>
                <a:latin typeface="Google Sans"/>
              </a:rPr>
              <a:t>.NET Specific Techniques</a:t>
            </a:r>
          </a:p>
          <a:p>
            <a:pPr marL="12700" marR="5080"/>
            <a:r>
              <a:rPr lang="en-US" sz="1500" dirty="0">
                <a:solidFill>
                  <a:schemeClr val="accent2"/>
                </a:solidFill>
                <a:latin typeface="Google Sans"/>
              </a:rPr>
              <a:t>TPL Dataflow (</a:t>
            </a:r>
            <a:r>
              <a:rPr lang="en-US" sz="1500" dirty="0" err="1">
                <a:solidFill>
                  <a:schemeClr val="accent2"/>
                </a:solidFill>
                <a:latin typeface="Google Sans"/>
              </a:rPr>
              <a:t>System.Threading.Tasks.Dataflow</a:t>
            </a:r>
            <a:r>
              <a:rPr lang="en-US" sz="1500" dirty="0">
                <a:solidFill>
                  <a:schemeClr val="accent2"/>
                </a:solidFill>
                <a:latin typeface="Google Sans"/>
              </a:rPr>
              <a:t>)</a:t>
            </a:r>
          </a:p>
          <a:p>
            <a:pPr marL="12700" marR="5080"/>
            <a:r>
              <a:rPr lang="en-US" sz="1500" dirty="0">
                <a:solidFill>
                  <a:schemeClr val="accent2"/>
                </a:solidFill>
                <a:latin typeface="Google Sans"/>
              </a:rPr>
              <a:t>What: </a:t>
            </a:r>
            <a:r>
              <a:rPr lang="en-US" sz="1500" dirty="0">
                <a:solidFill>
                  <a:schemeClr val="accent6"/>
                </a:solidFill>
                <a:latin typeface="Google Sans"/>
              </a:rPr>
              <a:t>block-based dataflow (</a:t>
            </a:r>
            <a:r>
              <a:rPr lang="en-US" sz="1500" dirty="0" err="1">
                <a:solidFill>
                  <a:schemeClr val="accent6"/>
                </a:solidFill>
                <a:latin typeface="Google Sans"/>
              </a:rPr>
              <a:t>BufferBlock</a:t>
            </a:r>
            <a:r>
              <a:rPr lang="en-US" sz="1500" dirty="0">
                <a:solidFill>
                  <a:schemeClr val="accent6"/>
                </a:solidFill>
                <a:latin typeface="Google Sans"/>
              </a:rPr>
              <a:t>, </a:t>
            </a:r>
            <a:r>
              <a:rPr lang="en-US" sz="1500" dirty="0" err="1">
                <a:solidFill>
                  <a:schemeClr val="accent6"/>
                </a:solidFill>
                <a:latin typeface="Google Sans"/>
              </a:rPr>
              <a:t>ActionBlock</a:t>
            </a:r>
            <a:r>
              <a:rPr lang="en-US" sz="1500" dirty="0">
                <a:solidFill>
                  <a:schemeClr val="accent6"/>
                </a:solidFill>
                <a:latin typeface="Google Sans"/>
              </a:rPr>
              <a:t>) with built-in bounding and </a:t>
            </a:r>
            <a:r>
              <a:rPr lang="en-US" sz="1500" dirty="0" err="1">
                <a:solidFill>
                  <a:schemeClr val="accent6"/>
                </a:solidFill>
                <a:latin typeface="Google Sans"/>
              </a:rPr>
              <a:t>MaxDegreeOfParallelism</a:t>
            </a:r>
            <a:r>
              <a:rPr lang="en-US" sz="1500" dirty="0">
                <a:solidFill>
                  <a:schemeClr val="accent6"/>
                </a:solidFill>
                <a:latin typeface="Google Sans"/>
              </a:rPr>
              <a:t>.</a:t>
            </a:r>
          </a:p>
          <a:p>
            <a:pPr marL="12700" marR="5080"/>
            <a:r>
              <a:rPr lang="en-US" sz="1500" dirty="0">
                <a:solidFill>
                  <a:schemeClr val="accent2"/>
                </a:solidFill>
                <a:latin typeface="Google Sans"/>
              </a:rPr>
              <a:t>How: </a:t>
            </a:r>
            <a:r>
              <a:rPr lang="en-US" sz="1500" dirty="0">
                <a:solidFill>
                  <a:schemeClr val="accent6"/>
                </a:solidFill>
                <a:latin typeface="Google Sans"/>
              </a:rPr>
              <a:t>new </a:t>
            </a:r>
            <a:r>
              <a:rPr lang="en-US" sz="1500" dirty="0" err="1">
                <a:solidFill>
                  <a:schemeClr val="accent6"/>
                </a:solidFill>
                <a:latin typeface="Google Sans"/>
              </a:rPr>
              <a:t>ActionBlock</a:t>
            </a:r>
            <a:r>
              <a:rPr lang="en-US" sz="1500" dirty="0">
                <a:solidFill>
                  <a:schemeClr val="accent6"/>
                </a:solidFill>
                <a:latin typeface="Google Sans"/>
              </a:rPr>
              <a:t>&lt;T&gt;(async t =&gt; {...}, new </a:t>
            </a:r>
            <a:r>
              <a:rPr lang="en-US" sz="1500" dirty="0" err="1">
                <a:solidFill>
                  <a:schemeClr val="accent6"/>
                </a:solidFill>
                <a:latin typeface="Google Sans"/>
              </a:rPr>
              <a:t>ExecutionDataflowBlockOptions</a:t>
            </a:r>
            <a:r>
              <a:rPr lang="en-US" sz="1500" dirty="0">
                <a:solidFill>
                  <a:schemeClr val="accent6"/>
                </a:solidFill>
                <a:latin typeface="Google Sans"/>
              </a:rPr>
              <a:t> { </a:t>
            </a:r>
            <a:r>
              <a:rPr lang="en-US" sz="1500" dirty="0" err="1">
                <a:solidFill>
                  <a:schemeClr val="accent6"/>
                </a:solidFill>
                <a:latin typeface="Google Sans"/>
              </a:rPr>
              <a:t>BoundedCapacity</a:t>
            </a:r>
            <a:r>
              <a:rPr lang="en-US" sz="1500" dirty="0">
                <a:solidFill>
                  <a:schemeClr val="accent6"/>
                </a:solidFill>
                <a:latin typeface="Google Sans"/>
              </a:rPr>
              <a:t> = 50, </a:t>
            </a:r>
            <a:r>
              <a:rPr lang="en-US" sz="1500" dirty="0" err="1">
                <a:solidFill>
                  <a:schemeClr val="accent6"/>
                </a:solidFill>
                <a:latin typeface="Google Sans"/>
              </a:rPr>
              <a:t>MaxDegreeOfParallelism</a:t>
            </a:r>
            <a:r>
              <a:rPr lang="en-US" sz="1500" dirty="0">
                <a:solidFill>
                  <a:schemeClr val="accent6"/>
                </a:solidFill>
                <a:latin typeface="Google Sans"/>
              </a:rPr>
              <a:t> = 4 })</a:t>
            </a:r>
          </a:p>
          <a:p>
            <a:pPr marL="12700" marR="5080"/>
            <a:r>
              <a:rPr lang="en-US" sz="1500" dirty="0">
                <a:solidFill>
                  <a:schemeClr val="accent6"/>
                </a:solidFill>
                <a:latin typeface="Google Sans"/>
              </a:rPr>
              <a:t>var block = new </a:t>
            </a:r>
            <a:r>
              <a:rPr lang="en-US" sz="1500" dirty="0" err="1">
                <a:solidFill>
                  <a:schemeClr val="accent6"/>
                </a:solidFill>
                <a:latin typeface="Google Sans"/>
              </a:rPr>
              <a:t>ActionBlock</a:t>
            </a:r>
            <a:r>
              <a:rPr lang="en-US" sz="1500" dirty="0">
                <a:solidFill>
                  <a:schemeClr val="accent6"/>
                </a:solidFill>
                <a:latin typeface="Google Sans"/>
              </a:rPr>
              <a:t>&lt;int&gt;(async </a:t>
            </a:r>
            <a:r>
              <a:rPr lang="en-US" sz="1500" dirty="0" err="1">
                <a:solidFill>
                  <a:schemeClr val="accent6"/>
                </a:solidFill>
                <a:latin typeface="Google Sans"/>
              </a:rPr>
              <a:t>i</a:t>
            </a:r>
            <a:r>
              <a:rPr lang="en-US" sz="1500" dirty="0">
                <a:solidFill>
                  <a:schemeClr val="accent6"/>
                </a:solidFill>
                <a:latin typeface="Google Sans"/>
              </a:rPr>
              <a:t> =&gt; {</a:t>
            </a:r>
          </a:p>
          <a:p>
            <a:pPr marL="12700" marR="5080"/>
            <a:r>
              <a:rPr lang="en-US" sz="1500" dirty="0">
                <a:solidFill>
                  <a:schemeClr val="accent6"/>
                </a:solidFill>
                <a:latin typeface="Google Sans"/>
              </a:rPr>
              <a:t>    await </a:t>
            </a:r>
            <a:r>
              <a:rPr lang="en-US" sz="1500" dirty="0" err="1">
                <a:solidFill>
                  <a:schemeClr val="accent6"/>
                </a:solidFill>
                <a:latin typeface="Google Sans"/>
              </a:rPr>
              <a:t>ProcessAsync</a:t>
            </a:r>
            <a:r>
              <a:rPr lang="en-US" sz="1500" dirty="0">
                <a:solidFill>
                  <a:schemeClr val="accent6"/>
                </a:solidFill>
                <a:latin typeface="Google Sans"/>
              </a:rPr>
              <a:t>(</a:t>
            </a:r>
            <a:r>
              <a:rPr lang="en-US" sz="1500" dirty="0" err="1">
                <a:solidFill>
                  <a:schemeClr val="accent6"/>
                </a:solidFill>
                <a:latin typeface="Google Sans"/>
              </a:rPr>
              <a:t>i</a:t>
            </a:r>
            <a:r>
              <a:rPr lang="en-US" sz="1500" dirty="0">
                <a:solidFill>
                  <a:schemeClr val="accent6"/>
                </a:solidFill>
                <a:latin typeface="Google Sans"/>
              </a:rPr>
              <a:t>);</a:t>
            </a:r>
          </a:p>
          <a:p>
            <a:pPr marL="12700" marR="5080"/>
            <a:r>
              <a:rPr lang="en-US" sz="1500" dirty="0">
                <a:solidFill>
                  <a:schemeClr val="accent6"/>
                </a:solidFill>
                <a:latin typeface="Google Sans"/>
              </a:rPr>
              <a:t>}, new </a:t>
            </a:r>
            <a:r>
              <a:rPr lang="en-US" sz="1500" dirty="0" err="1">
                <a:solidFill>
                  <a:schemeClr val="accent6"/>
                </a:solidFill>
                <a:latin typeface="Google Sans"/>
              </a:rPr>
              <a:t>ExecutionDataflowBlockOptions</a:t>
            </a:r>
            <a:r>
              <a:rPr lang="en-US" sz="1500" dirty="0">
                <a:solidFill>
                  <a:schemeClr val="accent6"/>
                </a:solidFill>
                <a:latin typeface="Google Sans"/>
              </a:rPr>
              <a:t> {</a:t>
            </a:r>
          </a:p>
          <a:p>
            <a:pPr marL="12700" marR="5080"/>
            <a:r>
              <a:rPr lang="en-US" sz="1500" dirty="0">
                <a:solidFill>
                  <a:schemeClr val="accent6"/>
                </a:solidFill>
                <a:latin typeface="Google Sans"/>
              </a:rPr>
              <a:t>    </a:t>
            </a:r>
            <a:r>
              <a:rPr lang="en-US" sz="1500" dirty="0" err="1">
                <a:solidFill>
                  <a:schemeClr val="accent6"/>
                </a:solidFill>
                <a:latin typeface="Google Sans"/>
              </a:rPr>
              <a:t>BoundedCapacity</a:t>
            </a:r>
            <a:r>
              <a:rPr lang="en-US" sz="1500" dirty="0">
                <a:solidFill>
                  <a:schemeClr val="accent6"/>
                </a:solidFill>
                <a:latin typeface="Google Sans"/>
              </a:rPr>
              <a:t> = 100,</a:t>
            </a:r>
          </a:p>
          <a:p>
            <a:pPr marL="12700" marR="5080"/>
            <a:r>
              <a:rPr lang="en-US" sz="1500" dirty="0">
                <a:solidFill>
                  <a:schemeClr val="accent6"/>
                </a:solidFill>
                <a:latin typeface="Google Sans"/>
              </a:rPr>
              <a:t>    </a:t>
            </a:r>
            <a:r>
              <a:rPr lang="en-US" sz="1500" dirty="0" err="1">
                <a:solidFill>
                  <a:schemeClr val="accent6"/>
                </a:solidFill>
                <a:latin typeface="Google Sans"/>
              </a:rPr>
              <a:t>MaxDegreeOfParallelism</a:t>
            </a:r>
            <a:r>
              <a:rPr lang="en-US" sz="1500" dirty="0">
                <a:solidFill>
                  <a:schemeClr val="accent6"/>
                </a:solidFill>
                <a:latin typeface="Google Sans"/>
              </a:rPr>
              <a:t> = 4</a:t>
            </a:r>
          </a:p>
          <a:p>
            <a:pPr marL="12700" marR="5080"/>
            <a:r>
              <a:rPr lang="en-US" sz="1500" dirty="0">
                <a:solidFill>
                  <a:schemeClr val="accent6"/>
                </a:solidFill>
                <a:latin typeface="Google Sans"/>
              </a:rPr>
              <a:t>});</a:t>
            </a:r>
          </a:p>
          <a:p>
            <a:pPr marL="12700" marR="5080"/>
            <a:r>
              <a:rPr lang="en-US" sz="1500" dirty="0">
                <a:solidFill>
                  <a:schemeClr val="accent6"/>
                </a:solidFill>
                <a:latin typeface="Google Sans"/>
              </a:rPr>
              <a:t>// Producer</a:t>
            </a:r>
          </a:p>
          <a:p>
            <a:pPr marL="12700" marR="5080"/>
            <a:r>
              <a:rPr lang="en-US" sz="1500" dirty="0">
                <a:solidFill>
                  <a:schemeClr val="accent6"/>
                </a:solidFill>
                <a:latin typeface="Google Sans"/>
              </a:rPr>
              <a:t>if (!</a:t>
            </a:r>
            <a:r>
              <a:rPr lang="en-US" sz="1500" dirty="0" err="1">
                <a:solidFill>
                  <a:schemeClr val="accent6"/>
                </a:solidFill>
                <a:latin typeface="Google Sans"/>
              </a:rPr>
              <a:t>block.Post</a:t>
            </a:r>
            <a:r>
              <a:rPr lang="en-US" sz="1500" dirty="0">
                <a:solidFill>
                  <a:schemeClr val="accent6"/>
                </a:solidFill>
                <a:latin typeface="Google Sans"/>
              </a:rPr>
              <a:t>(item)) {</a:t>
            </a:r>
          </a:p>
          <a:p>
            <a:pPr marL="12700" marR="5080"/>
            <a:r>
              <a:rPr lang="en-US" sz="1500" dirty="0">
                <a:solidFill>
                  <a:schemeClr val="accent6"/>
                </a:solidFill>
                <a:latin typeface="Google Sans"/>
              </a:rPr>
              <a:t>    // buffer full -&gt; handle (drop, retry, reject)</a:t>
            </a:r>
          </a:p>
          <a:p>
            <a:pPr marL="12700" marR="5080"/>
            <a:r>
              <a:rPr lang="en-US" sz="1500" dirty="0">
                <a:solidFill>
                  <a:schemeClr val="accent6"/>
                </a:solidFill>
                <a:latin typeface="Google Sans"/>
              </a:rPr>
              <a:t>}</a:t>
            </a:r>
          </a:p>
          <a:p>
            <a:pPr marL="12700" marR="5080"/>
            <a:r>
              <a:rPr lang="en-US" sz="1500" dirty="0">
                <a:solidFill>
                  <a:schemeClr val="accent2"/>
                </a:solidFill>
                <a:latin typeface="Google Sans"/>
              </a:rPr>
              <a:t>Trade-offs: </a:t>
            </a:r>
            <a:r>
              <a:rPr lang="en-US" sz="1500" dirty="0">
                <a:solidFill>
                  <a:schemeClr val="accent6"/>
                </a:solidFill>
                <a:latin typeface="Google Sans"/>
              </a:rPr>
              <a:t>feature-rich, easy to wire pipelines. Slightly higher overhead than Channels, but expressive.</a:t>
            </a: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p:txBody>
      </p:sp>
      <p:grpSp>
        <p:nvGrpSpPr>
          <p:cNvPr id="7" name="Group 6">
            <a:extLst>
              <a:ext uri="{FF2B5EF4-FFF2-40B4-BE49-F238E27FC236}">
                <a16:creationId xmlns:a16="http://schemas.microsoft.com/office/drawing/2014/main" id="{2E06F44A-E531-CE4A-C925-8B879757DBA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79DA37F-2FDE-30D8-A8B5-7393106FBBA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B909C2EA-63E4-5A5E-BFC5-19DEB6FE3AC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1835621806"/>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CBFEC-C5CA-70B0-CCFF-6A12D2E443C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57EDF3B-12F2-EE82-CF3B-AF8AD67E453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684143D-46E1-65C2-56A2-B6022C4428C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9947DFB-95A1-C79E-6C11-BD4BB1B463D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440285F-7BC2-5441-EC6F-6191688916DA}"/>
              </a:ext>
            </a:extLst>
          </p:cNvPr>
          <p:cNvSpPr txBox="1">
            <a:spLocks/>
          </p:cNvSpPr>
          <p:nvPr/>
        </p:nvSpPr>
        <p:spPr>
          <a:xfrm>
            <a:off x="76200" y="697468"/>
            <a:ext cx="8624937" cy="47089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Backpressure</a:t>
            </a:r>
          </a:p>
          <a:p>
            <a:pPr marL="12700" marR="5080"/>
            <a:r>
              <a:rPr lang="en-US" sz="1800" dirty="0">
                <a:solidFill>
                  <a:schemeClr val="accent2"/>
                </a:solidFill>
                <a:latin typeface="Google Sans"/>
              </a:rPr>
              <a:t>.NET Specific Techniques</a:t>
            </a:r>
          </a:p>
          <a:p>
            <a:pPr marL="12700" marR="5080"/>
            <a:r>
              <a:rPr lang="en-US" sz="1500" dirty="0" err="1">
                <a:solidFill>
                  <a:schemeClr val="accent2"/>
                </a:solidFill>
                <a:latin typeface="Google Sans"/>
              </a:rPr>
              <a:t>BlockingCollection</a:t>
            </a:r>
            <a:r>
              <a:rPr lang="en-US" sz="1500" dirty="0">
                <a:solidFill>
                  <a:schemeClr val="accent2"/>
                </a:solidFill>
                <a:latin typeface="Google Sans"/>
              </a:rPr>
              <a:t>&lt;T&gt; with bounded capacity</a:t>
            </a:r>
          </a:p>
          <a:p>
            <a:pPr marL="12700" marR="5080"/>
            <a:r>
              <a:rPr lang="en-US" sz="1500" dirty="0">
                <a:solidFill>
                  <a:schemeClr val="accent2"/>
                </a:solidFill>
                <a:latin typeface="Google Sans"/>
              </a:rPr>
              <a:t>What:</a:t>
            </a:r>
            <a:r>
              <a:rPr lang="en-US" sz="1500" dirty="0">
                <a:solidFill>
                  <a:schemeClr val="accent6"/>
                </a:solidFill>
                <a:latin typeface="Google Sans"/>
              </a:rPr>
              <a:t> simple producer-consumer queue with </a:t>
            </a:r>
            <a:r>
              <a:rPr lang="en-US" sz="1500" dirty="0" err="1">
                <a:solidFill>
                  <a:schemeClr val="accent6"/>
                </a:solidFill>
                <a:latin typeface="Google Sans"/>
              </a:rPr>
              <a:t>GetConsumingEnumerable</a:t>
            </a:r>
            <a:r>
              <a:rPr lang="en-US" sz="1500" dirty="0">
                <a:solidFill>
                  <a:schemeClr val="accent6"/>
                </a:solidFill>
                <a:latin typeface="Google Sans"/>
              </a:rPr>
              <a:t> and capacity.</a:t>
            </a:r>
          </a:p>
          <a:p>
            <a:pPr marL="12700" marR="5080"/>
            <a:r>
              <a:rPr lang="en-US" sz="1500" dirty="0">
                <a:solidFill>
                  <a:schemeClr val="accent6"/>
                </a:solidFill>
                <a:latin typeface="Google Sans"/>
              </a:rPr>
              <a:t>var </a:t>
            </a:r>
            <a:r>
              <a:rPr lang="en-US" sz="1500" dirty="0" err="1">
                <a:solidFill>
                  <a:schemeClr val="accent6"/>
                </a:solidFill>
                <a:latin typeface="Google Sans"/>
              </a:rPr>
              <a:t>bc</a:t>
            </a:r>
            <a:r>
              <a:rPr lang="en-US" sz="1500" dirty="0">
                <a:solidFill>
                  <a:schemeClr val="accent6"/>
                </a:solidFill>
                <a:latin typeface="Google Sans"/>
              </a:rPr>
              <a:t> = new </a:t>
            </a:r>
            <a:r>
              <a:rPr lang="en-US" sz="1500" dirty="0" err="1">
                <a:solidFill>
                  <a:schemeClr val="accent6"/>
                </a:solidFill>
                <a:latin typeface="Google Sans"/>
              </a:rPr>
              <a:t>BlockingCollection</a:t>
            </a:r>
            <a:r>
              <a:rPr lang="en-US" sz="1500" dirty="0">
                <a:solidFill>
                  <a:schemeClr val="accent6"/>
                </a:solidFill>
                <a:latin typeface="Google Sans"/>
              </a:rPr>
              <a:t>&lt;</a:t>
            </a:r>
            <a:r>
              <a:rPr lang="en-US" sz="1500" dirty="0" err="1">
                <a:solidFill>
                  <a:schemeClr val="accent6"/>
                </a:solidFill>
                <a:latin typeface="Google Sans"/>
              </a:rPr>
              <a:t>MyWork</a:t>
            </a:r>
            <a:r>
              <a:rPr lang="en-US" sz="1500" dirty="0">
                <a:solidFill>
                  <a:schemeClr val="accent6"/>
                </a:solidFill>
                <a:latin typeface="Google Sans"/>
              </a:rPr>
              <a:t>&gt;(boundedCapacity:100);</a:t>
            </a:r>
          </a:p>
          <a:p>
            <a:pPr marL="12700" marR="5080"/>
            <a:r>
              <a:rPr lang="en-US" sz="1500" dirty="0" err="1">
                <a:solidFill>
                  <a:schemeClr val="accent6"/>
                </a:solidFill>
                <a:latin typeface="Google Sans"/>
              </a:rPr>
              <a:t>bc.Add</a:t>
            </a:r>
            <a:r>
              <a:rPr lang="en-US" sz="1500" dirty="0">
                <a:solidFill>
                  <a:schemeClr val="accent6"/>
                </a:solidFill>
                <a:latin typeface="Google Sans"/>
              </a:rPr>
              <a:t>(item); // blocks when full</a:t>
            </a:r>
          </a:p>
          <a:p>
            <a:pPr marL="12700" marR="5080"/>
            <a:r>
              <a:rPr lang="en-US" sz="1500" dirty="0">
                <a:solidFill>
                  <a:schemeClr val="accent6"/>
                </a:solidFill>
                <a:latin typeface="Google Sans"/>
              </a:rPr>
              <a:t>foreach(var w in </a:t>
            </a:r>
            <a:r>
              <a:rPr lang="en-US" sz="1500" dirty="0" err="1">
                <a:solidFill>
                  <a:schemeClr val="accent6"/>
                </a:solidFill>
                <a:latin typeface="Google Sans"/>
              </a:rPr>
              <a:t>bc.GetConsumingEnumerable</a:t>
            </a:r>
            <a:r>
              <a:rPr lang="en-US" sz="1500" dirty="0">
                <a:solidFill>
                  <a:schemeClr val="accent6"/>
                </a:solidFill>
                <a:latin typeface="Google Sans"/>
              </a:rPr>
              <a:t>()) Process(w);</a:t>
            </a:r>
          </a:p>
          <a:p>
            <a:pPr marL="12700" marR="5080"/>
            <a:r>
              <a:rPr lang="en-US" sz="1500" dirty="0">
                <a:solidFill>
                  <a:schemeClr val="accent2"/>
                </a:solidFill>
                <a:latin typeface="Google Sans"/>
              </a:rPr>
              <a:t>Trade-offs:</a:t>
            </a:r>
            <a:r>
              <a:rPr lang="en-US" sz="1500" dirty="0">
                <a:solidFill>
                  <a:schemeClr val="accent6"/>
                </a:solidFill>
                <a:latin typeface="Google Sans"/>
              </a:rPr>
              <a:t> synchronous/blocking, older API, not ideal for async-heavy code.</a:t>
            </a:r>
          </a:p>
          <a:p>
            <a:pPr marL="12700" marR="5080"/>
            <a:r>
              <a:rPr lang="en-US" sz="1500" dirty="0" err="1">
                <a:solidFill>
                  <a:schemeClr val="accent2"/>
                </a:solidFill>
                <a:latin typeface="Google Sans"/>
              </a:rPr>
              <a:t>SemaphoreSlim</a:t>
            </a:r>
            <a:r>
              <a:rPr lang="en-US" sz="1500" dirty="0">
                <a:solidFill>
                  <a:schemeClr val="accent2"/>
                </a:solidFill>
                <a:latin typeface="Google Sans"/>
              </a:rPr>
              <a:t> / concurrency limiter</a:t>
            </a:r>
          </a:p>
          <a:p>
            <a:pPr marL="12700" marR="5080"/>
            <a:r>
              <a:rPr lang="en-US" sz="1500" dirty="0">
                <a:solidFill>
                  <a:schemeClr val="accent2"/>
                </a:solidFill>
                <a:latin typeface="Google Sans"/>
              </a:rPr>
              <a:t>What: </a:t>
            </a:r>
            <a:r>
              <a:rPr lang="en-US" sz="1500" dirty="0">
                <a:solidFill>
                  <a:schemeClr val="accent6"/>
                </a:solidFill>
                <a:latin typeface="Google Sans"/>
              </a:rPr>
              <a:t>limit number of concurrent operations. Simple backpressure by gating concurrency.</a:t>
            </a:r>
          </a:p>
          <a:p>
            <a:pPr marL="12700" marR="5080"/>
            <a:r>
              <a:rPr lang="en-US" sz="1500" dirty="0">
                <a:solidFill>
                  <a:schemeClr val="accent6"/>
                </a:solidFill>
                <a:latin typeface="Google Sans"/>
              </a:rPr>
              <a:t>var </a:t>
            </a:r>
            <a:r>
              <a:rPr lang="en-US" sz="1500" dirty="0" err="1">
                <a:solidFill>
                  <a:schemeClr val="accent6"/>
                </a:solidFill>
                <a:latin typeface="Google Sans"/>
              </a:rPr>
              <a:t>sem</a:t>
            </a:r>
            <a:r>
              <a:rPr lang="en-US" sz="1500" dirty="0">
                <a:solidFill>
                  <a:schemeClr val="accent6"/>
                </a:solidFill>
                <a:latin typeface="Google Sans"/>
              </a:rPr>
              <a:t> = new </a:t>
            </a:r>
            <a:r>
              <a:rPr lang="en-US" sz="1500" dirty="0" err="1">
                <a:solidFill>
                  <a:schemeClr val="accent6"/>
                </a:solidFill>
                <a:latin typeface="Google Sans"/>
              </a:rPr>
              <a:t>SemaphoreSlim</a:t>
            </a:r>
            <a:r>
              <a:rPr lang="en-US" sz="1500" dirty="0">
                <a:solidFill>
                  <a:schemeClr val="accent6"/>
                </a:solidFill>
                <a:latin typeface="Google Sans"/>
              </a:rPr>
              <a:t>(10); // allow 10 concurrent</a:t>
            </a:r>
          </a:p>
          <a:p>
            <a:pPr marL="12700" marR="5080"/>
            <a:r>
              <a:rPr lang="en-US" sz="1500" dirty="0">
                <a:solidFill>
                  <a:schemeClr val="accent6"/>
                </a:solidFill>
                <a:latin typeface="Google Sans"/>
              </a:rPr>
              <a:t>await </a:t>
            </a:r>
            <a:r>
              <a:rPr lang="en-US" sz="1500" dirty="0" err="1">
                <a:solidFill>
                  <a:schemeClr val="accent6"/>
                </a:solidFill>
                <a:latin typeface="Google Sans"/>
              </a:rPr>
              <a:t>sem.WaitAsync</a:t>
            </a:r>
            <a:r>
              <a:rPr lang="en-US" sz="1500" dirty="0">
                <a:solidFill>
                  <a:schemeClr val="accent6"/>
                </a:solidFill>
                <a:latin typeface="Google Sans"/>
              </a:rPr>
              <a:t>();</a:t>
            </a:r>
          </a:p>
          <a:p>
            <a:pPr marL="12700" marR="5080"/>
            <a:r>
              <a:rPr lang="en-US" sz="1500" dirty="0">
                <a:solidFill>
                  <a:schemeClr val="accent6"/>
                </a:solidFill>
                <a:latin typeface="Google Sans"/>
              </a:rPr>
              <a:t>try { await </a:t>
            </a:r>
            <a:r>
              <a:rPr lang="en-US" sz="1500" dirty="0" err="1">
                <a:solidFill>
                  <a:schemeClr val="accent6"/>
                </a:solidFill>
                <a:latin typeface="Google Sans"/>
              </a:rPr>
              <a:t>DoWorkAsync</a:t>
            </a:r>
            <a:r>
              <a:rPr lang="en-US" sz="1500" dirty="0">
                <a:solidFill>
                  <a:schemeClr val="accent6"/>
                </a:solidFill>
                <a:latin typeface="Google Sans"/>
              </a:rPr>
              <a:t>(); }</a:t>
            </a:r>
          </a:p>
          <a:p>
            <a:pPr marL="12700" marR="5080"/>
            <a:r>
              <a:rPr lang="en-US" sz="1500" dirty="0">
                <a:solidFill>
                  <a:schemeClr val="accent6"/>
                </a:solidFill>
                <a:latin typeface="Google Sans"/>
              </a:rPr>
              <a:t>finally { </a:t>
            </a:r>
            <a:r>
              <a:rPr lang="en-US" sz="1500" dirty="0" err="1">
                <a:solidFill>
                  <a:schemeClr val="accent6"/>
                </a:solidFill>
                <a:latin typeface="Google Sans"/>
              </a:rPr>
              <a:t>sem.Release</a:t>
            </a:r>
            <a:r>
              <a:rPr lang="en-US" sz="1500" dirty="0">
                <a:solidFill>
                  <a:schemeClr val="accent6"/>
                </a:solidFill>
                <a:latin typeface="Google Sans"/>
              </a:rPr>
              <a:t>(); }</a:t>
            </a:r>
          </a:p>
          <a:p>
            <a:pPr marL="12700" marR="5080"/>
            <a:r>
              <a:rPr lang="en-US" sz="1500" dirty="0">
                <a:solidFill>
                  <a:schemeClr val="accent2"/>
                </a:solidFill>
                <a:latin typeface="Google Sans"/>
              </a:rPr>
              <a:t>Trade-offs: </a:t>
            </a:r>
            <a:r>
              <a:rPr lang="en-US" sz="1500" dirty="0">
                <a:solidFill>
                  <a:schemeClr val="accent6"/>
                </a:solidFill>
                <a:latin typeface="Google Sans"/>
              </a:rPr>
              <a:t>easy; does not manage queue length or dropping semantics by itself.</a:t>
            </a: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p:txBody>
      </p:sp>
      <p:grpSp>
        <p:nvGrpSpPr>
          <p:cNvPr id="7" name="Group 6">
            <a:extLst>
              <a:ext uri="{FF2B5EF4-FFF2-40B4-BE49-F238E27FC236}">
                <a16:creationId xmlns:a16="http://schemas.microsoft.com/office/drawing/2014/main" id="{987AC9B8-C886-BB58-AF73-69FAB85D536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DA95DE1-F70F-FE99-64BA-2B95C7C6E13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819BD62-2D63-DC1B-475E-E9A13116246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3520518627"/>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AB9DF-1605-FFDE-4371-2FB136E2E5A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D593C01-BD8E-4C22-A6AA-03BE430BF18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0BE902E-1193-FEB4-8ADB-57232525653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F2A646C-1082-B32E-012E-D5C7A763A04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4FBCE78-F476-2000-93BD-5ECAB0F2774A}"/>
              </a:ext>
            </a:extLst>
          </p:cNvPr>
          <p:cNvSpPr txBox="1">
            <a:spLocks/>
          </p:cNvSpPr>
          <p:nvPr/>
        </p:nvSpPr>
        <p:spPr>
          <a:xfrm>
            <a:off x="76200" y="697468"/>
            <a:ext cx="8624937" cy="447814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Backpressure</a:t>
            </a:r>
          </a:p>
          <a:p>
            <a:pPr marL="12700" marR="5080"/>
            <a:r>
              <a:rPr lang="en-US" sz="1800" dirty="0">
                <a:solidFill>
                  <a:schemeClr val="accent2"/>
                </a:solidFill>
                <a:latin typeface="Google Sans"/>
              </a:rPr>
              <a:t>.NET Specific Techniques</a:t>
            </a:r>
          </a:p>
          <a:p>
            <a:pPr marL="12700" marR="5080"/>
            <a:r>
              <a:rPr lang="en-US" sz="1500" dirty="0" err="1">
                <a:solidFill>
                  <a:schemeClr val="accent2"/>
                </a:solidFill>
                <a:latin typeface="Google Sans"/>
              </a:rPr>
              <a:t>System.Threading.RateLimiting</a:t>
            </a:r>
            <a:r>
              <a:rPr lang="en-US" sz="1500" dirty="0">
                <a:solidFill>
                  <a:schemeClr val="accent2"/>
                </a:solidFill>
                <a:latin typeface="Google Sans"/>
              </a:rPr>
              <a:t> (dotnet rate limiters)</a:t>
            </a:r>
          </a:p>
          <a:p>
            <a:pPr marL="12700" marR="5080"/>
            <a:r>
              <a:rPr lang="en-US" sz="1500" dirty="0">
                <a:solidFill>
                  <a:schemeClr val="accent2"/>
                </a:solidFill>
                <a:latin typeface="Google Sans"/>
              </a:rPr>
              <a:t>What: </a:t>
            </a:r>
            <a:r>
              <a:rPr lang="en-US" sz="1500" dirty="0">
                <a:solidFill>
                  <a:schemeClr val="accent6"/>
                </a:solidFill>
                <a:latin typeface="Google Sans"/>
              </a:rPr>
              <a:t>.NET built-in rate-limiting primitives (</a:t>
            </a:r>
            <a:r>
              <a:rPr lang="en-US" sz="1500" dirty="0" err="1">
                <a:solidFill>
                  <a:schemeClr val="accent6"/>
                </a:solidFill>
                <a:latin typeface="Google Sans"/>
              </a:rPr>
              <a:t>TokenBucketLimiter</a:t>
            </a:r>
            <a:r>
              <a:rPr lang="en-US" sz="1500" dirty="0">
                <a:solidFill>
                  <a:schemeClr val="accent6"/>
                </a:solidFill>
                <a:latin typeface="Google Sans"/>
              </a:rPr>
              <a:t>, </a:t>
            </a:r>
            <a:r>
              <a:rPr lang="en-US" sz="1500" dirty="0" err="1">
                <a:solidFill>
                  <a:schemeClr val="accent6"/>
                </a:solidFill>
                <a:latin typeface="Google Sans"/>
              </a:rPr>
              <a:t>ConcurrencyLimiter</a:t>
            </a:r>
            <a:r>
              <a:rPr lang="en-US" sz="1500" dirty="0">
                <a:solidFill>
                  <a:schemeClr val="accent6"/>
                </a:solidFill>
                <a:latin typeface="Google Sans"/>
              </a:rPr>
              <a:t>, </a:t>
            </a:r>
            <a:r>
              <a:rPr lang="en-US" sz="1500" dirty="0" err="1">
                <a:solidFill>
                  <a:schemeClr val="accent6"/>
                </a:solidFill>
                <a:latin typeface="Google Sans"/>
              </a:rPr>
              <a:t>SlidingWindow</a:t>
            </a:r>
            <a:r>
              <a:rPr lang="en-US" sz="1500" dirty="0">
                <a:solidFill>
                  <a:schemeClr val="accent6"/>
                </a:solidFill>
                <a:latin typeface="Google Sans"/>
              </a:rPr>
              <a:t>).</a:t>
            </a:r>
          </a:p>
          <a:p>
            <a:pPr marL="12700" marR="5080"/>
            <a:r>
              <a:rPr lang="en-US" sz="1500" dirty="0">
                <a:solidFill>
                  <a:schemeClr val="accent2"/>
                </a:solidFill>
                <a:latin typeface="Google Sans"/>
              </a:rPr>
              <a:t>How:</a:t>
            </a:r>
            <a:r>
              <a:rPr lang="en-US" sz="1500" dirty="0">
                <a:solidFill>
                  <a:schemeClr val="accent6"/>
                </a:solidFill>
                <a:latin typeface="Google Sans"/>
              </a:rPr>
              <a:t> use </a:t>
            </a:r>
            <a:r>
              <a:rPr lang="en-US" sz="1500" dirty="0" err="1">
                <a:solidFill>
                  <a:schemeClr val="accent6"/>
                </a:solidFill>
                <a:latin typeface="Google Sans"/>
              </a:rPr>
              <a:t>RateLimiter</a:t>
            </a:r>
            <a:r>
              <a:rPr lang="en-US" sz="1500" dirty="0">
                <a:solidFill>
                  <a:schemeClr val="accent6"/>
                </a:solidFill>
                <a:latin typeface="Google Sans"/>
              </a:rPr>
              <a:t> in ASP.NET Core middleware or manually.</a:t>
            </a:r>
          </a:p>
          <a:p>
            <a:pPr marL="12700" marR="5080"/>
            <a:r>
              <a:rPr lang="en-US" sz="1500" dirty="0">
                <a:solidFill>
                  <a:schemeClr val="accent6"/>
                </a:solidFill>
                <a:latin typeface="Google Sans"/>
              </a:rPr>
              <a:t>var limiter = new </a:t>
            </a:r>
            <a:r>
              <a:rPr lang="en-US" sz="1500" dirty="0" err="1">
                <a:solidFill>
                  <a:schemeClr val="accent6"/>
                </a:solidFill>
                <a:latin typeface="Google Sans"/>
              </a:rPr>
              <a:t>TokenBucketRateLimiter</a:t>
            </a:r>
            <a:r>
              <a:rPr lang="en-US" sz="1500" dirty="0">
                <a:solidFill>
                  <a:schemeClr val="accent6"/>
                </a:solidFill>
                <a:latin typeface="Google Sans"/>
              </a:rPr>
              <a:t>(new </a:t>
            </a:r>
            <a:r>
              <a:rPr lang="en-US" sz="1500" dirty="0" err="1">
                <a:solidFill>
                  <a:schemeClr val="accent6"/>
                </a:solidFill>
                <a:latin typeface="Google Sans"/>
              </a:rPr>
              <a:t>TokenBucketRateLimiterOptions</a:t>
            </a:r>
            <a:r>
              <a:rPr lang="en-US" sz="1500" dirty="0">
                <a:solidFill>
                  <a:schemeClr val="accent6"/>
                </a:solidFill>
                <a:latin typeface="Google Sans"/>
              </a:rPr>
              <a:t> {</a:t>
            </a:r>
          </a:p>
          <a:p>
            <a:pPr marL="12700" marR="5080"/>
            <a:r>
              <a:rPr lang="en-US" sz="1500" dirty="0">
                <a:solidFill>
                  <a:schemeClr val="accent6"/>
                </a:solidFill>
                <a:latin typeface="Google Sans"/>
              </a:rPr>
              <a:t>    </a:t>
            </a:r>
            <a:r>
              <a:rPr lang="en-US" sz="1500" dirty="0" err="1">
                <a:solidFill>
                  <a:schemeClr val="accent6"/>
                </a:solidFill>
                <a:latin typeface="Google Sans"/>
              </a:rPr>
              <a:t>TokenLimit</a:t>
            </a:r>
            <a:r>
              <a:rPr lang="en-US" sz="1500" dirty="0">
                <a:solidFill>
                  <a:schemeClr val="accent6"/>
                </a:solidFill>
                <a:latin typeface="Google Sans"/>
              </a:rPr>
              <a:t> = 100,</a:t>
            </a:r>
          </a:p>
          <a:p>
            <a:pPr marL="12700" marR="5080"/>
            <a:r>
              <a:rPr lang="en-US" sz="1500" dirty="0">
                <a:solidFill>
                  <a:schemeClr val="accent6"/>
                </a:solidFill>
                <a:latin typeface="Google Sans"/>
              </a:rPr>
              <a:t>    </a:t>
            </a:r>
            <a:r>
              <a:rPr lang="en-US" sz="1500" dirty="0" err="1">
                <a:solidFill>
                  <a:schemeClr val="accent6"/>
                </a:solidFill>
                <a:latin typeface="Google Sans"/>
              </a:rPr>
              <a:t>QueueProcessingOrder</a:t>
            </a:r>
            <a:r>
              <a:rPr lang="en-US" sz="1500" dirty="0">
                <a:solidFill>
                  <a:schemeClr val="accent6"/>
                </a:solidFill>
                <a:latin typeface="Google Sans"/>
              </a:rPr>
              <a:t> = </a:t>
            </a:r>
            <a:r>
              <a:rPr lang="en-US" sz="1500" dirty="0" err="1">
                <a:solidFill>
                  <a:schemeClr val="accent6"/>
                </a:solidFill>
                <a:latin typeface="Google Sans"/>
              </a:rPr>
              <a:t>QueueProcessingOrder.OldestFirst</a:t>
            </a:r>
            <a:r>
              <a:rPr lang="en-US" sz="1500" dirty="0">
                <a:solidFill>
                  <a:schemeClr val="accent6"/>
                </a:solidFill>
                <a:latin typeface="Google Sans"/>
              </a:rPr>
              <a:t>,</a:t>
            </a:r>
          </a:p>
          <a:p>
            <a:pPr marL="12700" marR="5080"/>
            <a:r>
              <a:rPr lang="en-US" sz="1500" dirty="0">
                <a:solidFill>
                  <a:schemeClr val="accent6"/>
                </a:solidFill>
                <a:latin typeface="Google Sans"/>
              </a:rPr>
              <a:t>    </a:t>
            </a:r>
            <a:r>
              <a:rPr lang="en-US" sz="1500" dirty="0" err="1">
                <a:solidFill>
                  <a:schemeClr val="accent6"/>
                </a:solidFill>
                <a:latin typeface="Google Sans"/>
              </a:rPr>
              <a:t>QueueLimit</a:t>
            </a:r>
            <a:r>
              <a:rPr lang="en-US" sz="1500" dirty="0">
                <a:solidFill>
                  <a:schemeClr val="accent6"/>
                </a:solidFill>
                <a:latin typeface="Google Sans"/>
              </a:rPr>
              <a:t> = 50,</a:t>
            </a:r>
          </a:p>
          <a:p>
            <a:pPr marL="12700" marR="5080"/>
            <a:r>
              <a:rPr lang="en-US" sz="1500" dirty="0">
                <a:solidFill>
                  <a:schemeClr val="accent6"/>
                </a:solidFill>
                <a:latin typeface="Google Sans"/>
              </a:rPr>
              <a:t>    </a:t>
            </a:r>
            <a:r>
              <a:rPr lang="en-US" sz="1500" dirty="0" err="1">
                <a:solidFill>
                  <a:schemeClr val="accent6"/>
                </a:solidFill>
                <a:latin typeface="Google Sans"/>
              </a:rPr>
              <a:t>ReplenishmentPeriod</a:t>
            </a:r>
            <a:r>
              <a:rPr lang="en-US" sz="1500" dirty="0">
                <a:solidFill>
                  <a:schemeClr val="accent6"/>
                </a:solidFill>
                <a:latin typeface="Google Sans"/>
              </a:rPr>
              <a:t> = </a:t>
            </a:r>
            <a:r>
              <a:rPr lang="en-US" sz="1500" dirty="0" err="1">
                <a:solidFill>
                  <a:schemeClr val="accent6"/>
                </a:solidFill>
                <a:latin typeface="Google Sans"/>
              </a:rPr>
              <a:t>TimeSpan.FromSeconds</a:t>
            </a:r>
            <a:r>
              <a:rPr lang="en-US" sz="1500" dirty="0">
                <a:solidFill>
                  <a:schemeClr val="accent6"/>
                </a:solidFill>
                <a:latin typeface="Google Sans"/>
              </a:rPr>
              <a:t>(1),</a:t>
            </a:r>
          </a:p>
          <a:p>
            <a:pPr marL="12700" marR="5080"/>
            <a:r>
              <a:rPr lang="en-US" sz="1500" dirty="0">
                <a:solidFill>
                  <a:schemeClr val="accent6"/>
                </a:solidFill>
                <a:latin typeface="Google Sans"/>
              </a:rPr>
              <a:t>    </a:t>
            </a:r>
            <a:r>
              <a:rPr lang="en-US" sz="1500" dirty="0" err="1">
                <a:solidFill>
                  <a:schemeClr val="accent6"/>
                </a:solidFill>
                <a:latin typeface="Google Sans"/>
              </a:rPr>
              <a:t>TokensPerPeriod</a:t>
            </a:r>
            <a:r>
              <a:rPr lang="en-US" sz="1500" dirty="0">
                <a:solidFill>
                  <a:schemeClr val="accent6"/>
                </a:solidFill>
                <a:latin typeface="Google Sans"/>
              </a:rPr>
              <a:t> = 10</a:t>
            </a:r>
          </a:p>
          <a:p>
            <a:pPr marL="12700" marR="5080"/>
            <a:r>
              <a:rPr lang="en-US" sz="1500" dirty="0">
                <a:solidFill>
                  <a:schemeClr val="accent6"/>
                </a:solidFill>
                <a:latin typeface="Google Sans"/>
              </a:rPr>
              <a:t>});</a:t>
            </a:r>
          </a:p>
          <a:p>
            <a:pPr marL="12700" marR="5080"/>
            <a:r>
              <a:rPr lang="en-US" sz="1500" dirty="0">
                <a:solidFill>
                  <a:schemeClr val="accent6"/>
                </a:solidFill>
                <a:latin typeface="Google Sans"/>
              </a:rPr>
              <a:t>var lease = await </a:t>
            </a:r>
            <a:r>
              <a:rPr lang="en-US" sz="1500" dirty="0" err="1">
                <a:solidFill>
                  <a:schemeClr val="accent6"/>
                </a:solidFill>
                <a:latin typeface="Google Sans"/>
              </a:rPr>
              <a:t>limiter.AttemptAcquireAsync</a:t>
            </a:r>
            <a:r>
              <a:rPr lang="en-US" sz="1500" dirty="0">
                <a:solidFill>
                  <a:schemeClr val="accent6"/>
                </a:solidFill>
                <a:latin typeface="Google Sans"/>
              </a:rPr>
              <a:t>(1);</a:t>
            </a:r>
          </a:p>
          <a:p>
            <a:pPr marL="12700" marR="5080"/>
            <a:r>
              <a:rPr lang="en-US" sz="1500" dirty="0">
                <a:solidFill>
                  <a:schemeClr val="accent6"/>
                </a:solidFill>
                <a:latin typeface="Google Sans"/>
              </a:rPr>
              <a:t>if (!</a:t>
            </a:r>
            <a:r>
              <a:rPr lang="en-US" sz="1500" dirty="0" err="1">
                <a:solidFill>
                  <a:schemeClr val="accent6"/>
                </a:solidFill>
                <a:latin typeface="Google Sans"/>
              </a:rPr>
              <a:t>lease.IsAcquired</a:t>
            </a:r>
            <a:r>
              <a:rPr lang="en-US" sz="1500" dirty="0">
                <a:solidFill>
                  <a:schemeClr val="accent6"/>
                </a:solidFill>
                <a:latin typeface="Google Sans"/>
              </a:rPr>
              <a:t>) { /* reject/429 */ }</a:t>
            </a:r>
          </a:p>
          <a:p>
            <a:pPr marL="12700" marR="5080"/>
            <a:r>
              <a:rPr lang="en-US" sz="1500" dirty="0">
                <a:solidFill>
                  <a:schemeClr val="accent2"/>
                </a:solidFill>
                <a:latin typeface="Google Sans"/>
              </a:rPr>
              <a:t>Trade-offs: </a:t>
            </a:r>
            <a:r>
              <a:rPr lang="en-US" sz="1500" dirty="0">
                <a:solidFill>
                  <a:schemeClr val="accent6"/>
                </a:solidFill>
                <a:latin typeface="Google Sans"/>
              </a:rPr>
              <a:t>precise rate limiting; stable in-process rate control.</a:t>
            </a: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p:txBody>
      </p:sp>
      <p:grpSp>
        <p:nvGrpSpPr>
          <p:cNvPr id="7" name="Group 6">
            <a:extLst>
              <a:ext uri="{FF2B5EF4-FFF2-40B4-BE49-F238E27FC236}">
                <a16:creationId xmlns:a16="http://schemas.microsoft.com/office/drawing/2014/main" id="{C52F54B3-D84A-B92F-6A03-8A8C416DC47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7EC4CFB-60D4-AC96-DA08-42985EBF2C14}"/>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63D33D2E-3C9A-ECE6-67B9-3BC2CCEB99D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392102907"/>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D0635-362E-7F47-65D1-2298C8F29B3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D5D7049-63FC-99D0-A39E-6AFE55FB9D8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AD54CB7-8DAC-E058-1915-E67A331CBEE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416E0E1-18E5-C4AD-7536-D80D6010B8A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6EF78E2-9D84-54A3-0A8B-CA3ED372BE9A}"/>
              </a:ext>
            </a:extLst>
          </p:cNvPr>
          <p:cNvSpPr txBox="1">
            <a:spLocks/>
          </p:cNvSpPr>
          <p:nvPr/>
        </p:nvSpPr>
        <p:spPr>
          <a:xfrm>
            <a:off x="76200" y="697468"/>
            <a:ext cx="8624937" cy="42473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Backpressure</a:t>
            </a:r>
          </a:p>
          <a:p>
            <a:pPr marL="12700" marR="5080"/>
            <a:r>
              <a:rPr lang="en-US" sz="1800" dirty="0">
                <a:solidFill>
                  <a:schemeClr val="accent2"/>
                </a:solidFill>
                <a:latin typeface="Google Sans"/>
              </a:rPr>
              <a:t>.NET Specific Techniques</a:t>
            </a:r>
          </a:p>
          <a:p>
            <a:pPr marL="12700" marR="5080"/>
            <a:r>
              <a:rPr lang="en-US" sz="1500" dirty="0">
                <a:solidFill>
                  <a:schemeClr val="accent2"/>
                </a:solidFill>
                <a:latin typeface="Google Sans"/>
              </a:rPr>
              <a:t>Rx.NET (</a:t>
            </a:r>
            <a:r>
              <a:rPr lang="en-US" sz="1500" dirty="0" err="1">
                <a:solidFill>
                  <a:schemeClr val="accent2"/>
                </a:solidFill>
                <a:latin typeface="Google Sans"/>
              </a:rPr>
              <a:t>IObservable</a:t>
            </a:r>
            <a:r>
              <a:rPr lang="en-US" sz="1500" dirty="0">
                <a:solidFill>
                  <a:schemeClr val="accent2"/>
                </a:solidFill>
                <a:latin typeface="Google Sans"/>
              </a:rPr>
              <a:t>) — micro-strategies for “backpressure”</a:t>
            </a:r>
          </a:p>
          <a:p>
            <a:pPr marL="12700" marR="5080"/>
            <a:r>
              <a:rPr lang="en-US" sz="1500" dirty="0">
                <a:solidFill>
                  <a:schemeClr val="accent2"/>
                </a:solidFill>
                <a:latin typeface="Google Sans"/>
              </a:rPr>
              <a:t>Problem: </a:t>
            </a:r>
            <a:r>
              <a:rPr lang="en-US" sz="1500" dirty="0">
                <a:solidFill>
                  <a:schemeClr val="accent6"/>
                </a:solidFill>
                <a:latin typeface="Google Sans"/>
              </a:rPr>
              <a:t>Rx is push-based; no standardized backpressure. Use operators:</a:t>
            </a:r>
          </a:p>
          <a:p>
            <a:pPr marL="12700" marR="5080"/>
            <a:r>
              <a:rPr lang="en-US" sz="1500" dirty="0">
                <a:solidFill>
                  <a:schemeClr val="accent6"/>
                </a:solidFill>
                <a:latin typeface="Google Sans"/>
              </a:rPr>
              <a:t>Buffer, Window, Sample, Throttle, </a:t>
            </a:r>
            <a:r>
              <a:rPr lang="en-US" sz="1500" dirty="0" err="1">
                <a:solidFill>
                  <a:schemeClr val="accent6"/>
                </a:solidFill>
                <a:latin typeface="Google Sans"/>
              </a:rPr>
              <a:t>OnBackpressureDrop</a:t>
            </a:r>
            <a:r>
              <a:rPr lang="en-US" sz="1500" dirty="0">
                <a:solidFill>
                  <a:schemeClr val="accent6"/>
                </a:solidFill>
                <a:latin typeface="Google Sans"/>
              </a:rPr>
              <a:t> (not built-in)</a:t>
            </a:r>
          </a:p>
          <a:p>
            <a:pPr marL="12700" marR="5080"/>
            <a:r>
              <a:rPr lang="en-US" sz="1500" dirty="0">
                <a:solidFill>
                  <a:schemeClr val="accent2"/>
                </a:solidFill>
                <a:latin typeface="Google Sans"/>
              </a:rPr>
              <a:t>For heavy loads: </a:t>
            </a:r>
            <a:r>
              <a:rPr lang="en-US" sz="1500" dirty="0">
                <a:solidFill>
                  <a:schemeClr val="accent6"/>
                </a:solidFill>
                <a:latin typeface="Google Sans"/>
              </a:rPr>
              <a:t>use </a:t>
            </a:r>
            <a:r>
              <a:rPr lang="en-US" sz="1500" dirty="0" err="1">
                <a:solidFill>
                  <a:schemeClr val="accent6"/>
                </a:solidFill>
                <a:latin typeface="Google Sans"/>
              </a:rPr>
              <a:t>ObserveOn</a:t>
            </a:r>
            <a:r>
              <a:rPr lang="en-US" sz="1500" dirty="0">
                <a:solidFill>
                  <a:schemeClr val="accent6"/>
                </a:solidFill>
                <a:latin typeface="Google Sans"/>
              </a:rPr>
              <a:t>(</a:t>
            </a:r>
            <a:r>
              <a:rPr lang="en-US" sz="1500" dirty="0" err="1">
                <a:solidFill>
                  <a:schemeClr val="accent6"/>
                </a:solidFill>
                <a:latin typeface="Google Sans"/>
              </a:rPr>
              <a:t>Scheduler.Default</a:t>
            </a:r>
            <a:r>
              <a:rPr lang="en-US" sz="1500" dirty="0">
                <a:solidFill>
                  <a:schemeClr val="accent6"/>
                </a:solidFill>
                <a:latin typeface="Google Sans"/>
              </a:rPr>
              <a:t>) and Buffer + bounded blocking consumer.</a:t>
            </a:r>
          </a:p>
          <a:p>
            <a:pPr marL="12700" marR="5080"/>
            <a:r>
              <a:rPr lang="en-US" sz="1500" dirty="0">
                <a:solidFill>
                  <a:schemeClr val="accent2"/>
                </a:solidFill>
                <a:latin typeface="Google Sans"/>
              </a:rPr>
              <a:t>Alternative: </a:t>
            </a:r>
            <a:r>
              <a:rPr lang="en-US" sz="1500" dirty="0">
                <a:solidFill>
                  <a:schemeClr val="accent6"/>
                </a:solidFill>
                <a:latin typeface="Google Sans"/>
              </a:rPr>
              <a:t>use </a:t>
            </a:r>
            <a:r>
              <a:rPr lang="en-US" sz="1500" dirty="0" err="1">
                <a:solidFill>
                  <a:schemeClr val="accent6"/>
                </a:solidFill>
                <a:latin typeface="Google Sans"/>
              </a:rPr>
              <a:t>Reactive.Streams</a:t>
            </a:r>
            <a:r>
              <a:rPr lang="en-US" sz="1500" dirty="0">
                <a:solidFill>
                  <a:schemeClr val="accent6"/>
                </a:solidFill>
                <a:latin typeface="Google Sans"/>
              </a:rPr>
              <a:t> via libraries (Akka Streams / Reactor equivalent in .NET not mainstream).</a:t>
            </a:r>
          </a:p>
          <a:p>
            <a:pPr marL="12700" marR="5080"/>
            <a:r>
              <a:rPr lang="en-US" sz="1500" dirty="0">
                <a:solidFill>
                  <a:schemeClr val="accent2"/>
                </a:solidFill>
                <a:latin typeface="Google Sans"/>
              </a:rPr>
              <a:t>Trade-offs: </a:t>
            </a:r>
            <a:r>
              <a:rPr lang="en-US" sz="1500" dirty="0">
                <a:solidFill>
                  <a:schemeClr val="accent6"/>
                </a:solidFill>
                <a:latin typeface="Google Sans"/>
              </a:rPr>
              <a:t>expressive but you must manage buffering. Not ideal for strict backpressure.</a:t>
            </a:r>
          </a:p>
          <a:p>
            <a:pPr marL="12700" marR="5080"/>
            <a:endParaRPr lang="en-US" sz="1500" dirty="0">
              <a:solidFill>
                <a:schemeClr val="accent6"/>
              </a:solidFill>
              <a:latin typeface="Google Sans"/>
            </a:endParaRPr>
          </a:p>
          <a:p>
            <a:pPr marL="12700" marR="5080"/>
            <a:r>
              <a:rPr lang="en-US" sz="1500" dirty="0" err="1">
                <a:solidFill>
                  <a:schemeClr val="accent2"/>
                </a:solidFill>
                <a:latin typeface="Google Sans"/>
              </a:rPr>
              <a:t>gRPC</a:t>
            </a:r>
            <a:r>
              <a:rPr lang="en-US" sz="1500" dirty="0">
                <a:solidFill>
                  <a:schemeClr val="accent2"/>
                </a:solidFill>
                <a:latin typeface="Google Sans"/>
              </a:rPr>
              <a:t> C# (server &amp; client flow control)</a:t>
            </a:r>
          </a:p>
          <a:p>
            <a:pPr marL="12700" marR="5080"/>
            <a:r>
              <a:rPr lang="en-US" sz="1500" dirty="0" err="1">
                <a:solidFill>
                  <a:schemeClr val="accent6"/>
                </a:solidFill>
                <a:latin typeface="Google Sans"/>
              </a:rPr>
              <a:t>gRPC</a:t>
            </a:r>
            <a:r>
              <a:rPr lang="en-US" sz="1500" dirty="0">
                <a:solidFill>
                  <a:schemeClr val="accent6"/>
                </a:solidFill>
                <a:latin typeface="Google Sans"/>
              </a:rPr>
              <a:t> supports flow control at HTTP/2 level; server can use message streaming with client flow control (client pulls/ack style).</a:t>
            </a:r>
          </a:p>
          <a:p>
            <a:pPr marL="12700" marR="5080"/>
            <a:r>
              <a:rPr lang="en-US" sz="1500" dirty="0">
                <a:solidFill>
                  <a:schemeClr val="accent6"/>
                </a:solidFill>
                <a:latin typeface="Google Sans"/>
              </a:rPr>
              <a:t>Use streaming RPCs to implement consumer-driven consumption.</a:t>
            </a:r>
          </a:p>
          <a:p>
            <a:pPr marL="12700" marR="5080"/>
            <a:r>
              <a:rPr lang="en-US" sz="1500" dirty="0">
                <a:solidFill>
                  <a:schemeClr val="accent6"/>
                </a:solidFill>
                <a:latin typeface="Google Sans"/>
              </a:rPr>
              <a:t>Combine with server-side concurrency limits &amp; </a:t>
            </a:r>
            <a:r>
              <a:rPr lang="en-US" sz="1500" dirty="0" err="1">
                <a:solidFill>
                  <a:schemeClr val="accent6"/>
                </a:solidFill>
                <a:latin typeface="Google Sans"/>
              </a:rPr>
              <a:t>RateLimiter</a:t>
            </a:r>
            <a:r>
              <a:rPr lang="en-US" sz="1500" dirty="0">
                <a:solidFill>
                  <a:schemeClr val="accent6"/>
                </a:solidFill>
                <a:latin typeface="Google Sans"/>
              </a:rPr>
              <a:t>.</a:t>
            </a: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p:txBody>
      </p:sp>
      <p:grpSp>
        <p:nvGrpSpPr>
          <p:cNvPr id="7" name="Group 6">
            <a:extLst>
              <a:ext uri="{FF2B5EF4-FFF2-40B4-BE49-F238E27FC236}">
                <a16:creationId xmlns:a16="http://schemas.microsoft.com/office/drawing/2014/main" id="{AF058215-94FF-8B4B-0BAA-A00E0392555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FB61809-9AA0-5F58-E2D3-9087728E4FF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87E6A86-9E4F-0796-FA11-EE211F50217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2676267437"/>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163D9-87C3-F013-8465-691EAC39877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5088599-89D7-34AF-DCCF-A77D673FB66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85D97E4-79A7-6818-3718-EA28A8BBE27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DF7CBD5-F992-D566-D2A0-31C23DB6EAD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95C27AB-987E-72E8-AF48-612A54FEAC15}"/>
              </a:ext>
            </a:extLst>
          </p:cNvPr>
          <p:cNvSpPr txBox="1">
            <a:spLocks/>
          </p:cNvSpPr>
          <p:nvPr/>
        </p:nvSpPr>
        <p:spPr>
          <a:xfrm>
            <a:off x="76200" y="697468"/>
            <a:ext cx="8624937" cy="54014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Backpressure</a:t>
            </a:r>
          </a:p>
          <a:p>
            <a:pPr marL="12700" marR="5080"/>
            <a:r>
              <a:rPr lang="en-US" sz="1800" dirty="0">
                <a:solidFill>
                  <a:schemeClr val="accent2"/>
                </a:solidFill>
                <a:latin typeface="Google Sans"/>
              </a:rPr>
              <a:t>.NET Specific Techniques</a:t>
            </a:r>
          </a:p>
          <a:p>
            <a:pPr marL="12700" marR="5080"/>
            <a:r>
              <a:rPr lang="en-US" sz="1500" dirty="0">
                <a:solidFill>
                  <a:schemeClr val="accent2"/>
                </a:solidFill>
                <a:latin typeface="Google Sans"/>
              </a:rPr>
              <a:t>ASP.NET Core request-level backpressure</a:t>
            </a:r>
          </a:p>
          <a:p>
            <a:pPr marL="12700" marR="5080"/>
            <a:r>
              <a:rPr lang="en-US" sz="1500" dirty="0">
                <a:solidFill>
                  <a:schemeClr val="accent6"/>
                </a:solidFill>
                <a:latin typeface="Google Sans"/>
              </a:rPr>
              <a:t>Middleware to reject/throttle: respond 429 or 503.</a:t>
            </a:r>
          </a:p>
          <a:p>
            <a:pPr marL="12700" marR="5080"/>
            <a:r>
              <a:rPr lang="en-US" sz="1500" dirty="0">
                <a:solidFill>
                  <a:schemeClr val="accent2"/>
                </a:solidFill>
                <a:latin typeface="Google Sans"/>
              </a:rPr>
              <a:t>Kestrel &amp; IIS settings:</a:t>
            </a:r>
            <a:r>
              <a:rPr lang="en-US" sz="1500" dirty="0">
                <a:solidFill>
                  <a:schemeClr val="accent6"/>
                </a:solidFill>
                <a:latin typeface="Google Sans"/>
              </a:rPr>
              <a:t> connection/request limits, max concurrent connections.</a:t>
            </a:r>
          </a:p>
          <a:p>
            <a:pPr marL="12700" marR="5080"/>
            <a:r>
              <a:rPr lang="en-US" sz="1500" dirty="0">
                <a:solidFill>
                  <a:schemeClr val="accent2"/>
                </a:solidFill>
                <a:latin typeface="Google Sans"/>
              </a:rPr>
              <a:t>Example:</a:t>
            </a:r>
            <a:r>
              <a:rPr lang="en-US" sz="1500" dirty="0">
                <a:solidFill>
                  <a:schemeClr val="accent6"/>
                </a:solidFill>
                <a:latin typeface="Google Sans"/>
              </a:rPr>
              <a:t> middleware using </a:t>
            </a:r>
            <a:r>
              <a:rPr lang="en-US" sz="1500" dirty="0" err="1">
                <a:solidFill>
                  <a:schemeClr val="accent6"/>
                </a:solidFill>
                <a:latin typeface="Google Sans"/>
              </a:rPr>
              <a:t>ConcurrencyLimiter</a:t>
            </a:r>
            <a:r>
              <a:rPr lang="en-US" sz="1500" dirty="0">
                <a:solidFill>
                  <a:schemeClr val="accent6"/>
                </a:solidFill>
                <a:latin typeface="Google Sans"/>
              </a:rPr>
              <a:t> or token bucket to limit requests.</a:t>
            </a:r>
          </a:p>
          <a:p>
            <a:pPr marL="12700" marR="5080"/>
            <a:r>
              <a:rPr lang="en-US" sz="1500" dirty="0">
                <a:solidFill>
                  <a:schemeClr val="accent6"/>
                </a:solidFill>
                <a:latin typeface="Google Sans"/>
              </a:rPr>
              <a:t>public class </a:t>
            </a:r>
            <a:r>
              <a:rPr lang="en-US" sz="1500" dirty="0" err="1">
                <a:solidFill>
                  <a:schemeClr val="accent6"/>
                </a:solidFill>
                <a:latin typeface="Google Sans"/>
              </a:rPr>
              <a:t>ThrottleMiddleware</a:t>
            </a:r>
            <a:r>
              <a:rPr lang="en-US" sz="1500" dirty="0">
                <a:solidFill>
                  <a:schemeClr val="accent6"/>
                </a:solidFill>
                <a:latin typeface="Google Sans"/>
              </a:rPr>
              <a:t> {</a:t>
            </a:r>
          </a:p>
          <a:p>
            <a:pPr marL="12700" marR="5080"/>
            <a:r>
              <a:rPr lang="en-US" sz="1500" dirty="0">
                <a:solidFill>
                  <a:schemeClr val="accent6"/>
                </a:solidFill>
                <a:latin typeface="Google Sans"/>
              </a:rPr>
              <a:t>    private </a:t>
            </a:r>
            <a:r>
              <a:rPr lang="en-US" sz="1500" dirty="0" err="1">
                <a:solidFill>
                  <a:schemeClr val="accent6"/>
                </a:solidFill>
                <a:latin typeface="Google Sans"/>
              </a:rPr>
              <a:t>readonly</a:t>
            </a:r>
            <a:r>
              <a:rPr lang="en-US" sz="1500" dirty="0">
                <a:solidFill>
                  <a:schemeClr val="accent6"/>
                </a:solidFill>
                <a:latin typeface="Google Sans"/>
              </a:rPr>
              <a:t> </a:t>
            </a:r>
            <a:r>
              <a:rPr lang="en-US" sz="1500" dirty="0" err="1">
                <a:solidFill>
                  <a:schemeClr val="accent6"/>
                </a:solidFill>
                <a:latin typeface="Google Sans"/>
              </a:rPr>
              <a:t>RateLimiter</a:t>
            </a:r>
            <a:r>
              <a:rPr lang="en-US" sz="1500" dirty="0">
                <a:solidFill>
                  <a:schemeClr val="accent6"/>
                </a:solidFill>
                <a:latin typeface="Google Sans"/>
              </a:rPr>
              <a:t> _limiter;</a:t>
            </a:r>
          </a:p>
          <a:p>
            <a:pPr marL="12700" marR="5080"/>
            <a:r>
              <a:rPr lang="en-US" sz="1500" dirty="0">
                <a:solidFill>
                  <a:schemeClr val="accent6"/>
                </a:solidFill>
                <a:latin typeface="Google Sans"/>
              </a:rPr>
              <a:t>    public async Task Invoke(</a:t>
            </a:r>
            <a:r>
              <a:rPr lang="en-US" sz="1500" dirty="0" err="1">
                <a:solidFill>
                  <a:schemeClr val="accent6"/>
                </a:solidFill>
                <a:latin typeface="Google Sans"/>
              </a:rPr>
              <a:t>HttpContext</a:t>
            </a:r>
            <a:r>
              <a:rPr lang="en-US" sz="1500" dirty="0">
                <a:solidFill>
                  <a:schemeClr val="accent6"/>
                </a:solidFill>
                <a:latin typeface="Google Sans"/>
              </a:rPr>
              <a:t> </a:t>
            </a:r>
            <a:r>
              <a:rPr lang="en-US" sz="1500" dirty="0" err="1">
                <a:solidFill>
                  <a:schemeClr val="accent6"/>
                </a:solidFill>
                <a:latin typeface="Google Sans"/>
              </a:rPr>
              <a:t>ctx</a:t>
            </a:r>
            <a:r>
              <a:rPr lang="en-US" sz="1500" dirty="0">
                <a:solidFill>
                  <a:schemeClr val="accent6"/>
                </a:solidFill>
                <a:latin typeface="Google Sans"/>
              </a:rPr>
              <a:t>) {</a:t>
            </a:r>
          </a:p>
          <a:p>
            <a:pPr marL="12700" marR="5080"/>
            <a:r>
              <a:rPr lang="en-US" sz="1500" dirty="0">
                <a:solidFill>
                  <a:schemeClr val="accent6"/>
                </a:solidFill>
                <a:latin typeface="Google Sans"/>
              </a:rPr>
              <a:t>        using var lease = await _</a:t>
            </a:r>
            <a:r>
              <a:rPr lang="en-US" sz="1500" dirty="0" err="1">
                <a:solidFill>
                  <a:schemeClr val="accent6"/>
                </a:solidFill>
                <a:latin typeface="Google Sans"/>
              </a:rPr>
              <a:t>limiter.AttemptAcquireAsync</a:t>
            </a:r>
            <a:r>
              <a:rPr lang="en-US" sz="1500" dirty="0">
                <a:solidFill>
                  <a:schemeClr val="accent6"/>
                </a:solidFill>
                <a:latin typeface="Google Sans"/>
              </a:rPr>
              <a:t>(1);</a:t>
            </a:r>
          </a:p>
          <a:p>
            <a:pPr marL="12700" marR="5080"/>
            <a:r>
              <a:rPr lang="en-US" sz="1500" dirty="0">
                <a:solidFill>
                  <a:schemeClr val="accent6"/>
                </a:solidFill>
                <a:latin typeface="Google Sans"/>
              </a:rPr>
              <a:t>        if (!</a:t>
            </a:r>
            <a:r>
              <a:rPr lang="en-US" sz="1500" dirty="0" err="1">
                <a:solidFill>
                  <a:schemeClr val="accent6"/>
                </a:solidFill>
                <a:latin typeface="Google Sans"/>
              </a:rPr>
              <a:t>lease.IsAcquired</a:t>
            </a:r>
            <a:r>
              <a:rPr lang="en-US" sz="1500" dirty="0">
                <a:solidFill>
                  <a:schemeClr val="accent6"/>
                </a:solidFill>
                <a:latin typeface="Google Sans"/>
              </a:rPr>
              <a:t>) {</a:t>
            </a:r>
          </a:p>
          <a:p>
            <a:pPr marL="12700" marR="5080"/>
            <a:r>
              <a:rPr lang="en-US" sz="1500" dirty="0">
                <a:solidFill>
                  <a:schemeClr val="accent6"/>
                </a:solidFill>
                <a:latin typeface="Google Sans"/>
              </a:rPr>
              <a:t>            </a:t>
            </a:r>
            <a:r>
              <a:rPr lang="en-US" sz="1500" dirty="0" err="1">
                <a:solidFill>
                  <a:schemeClr val="accent6"/>
                </a:solidFill>
                <a:latin typeface="Google Sans"/>
              </a:rPr>
              <a:t>ctx.Response.StatusCode</a:t>
            </a:r>
            <a:r>
              <a:rPr lang="en-US" sz="1500" dirty="0">
                <a:solidFill>
                  <a:schemeClr val="accent6"/>
                </a:solidFill>
                <a:latin typeface="Google Sans"/>
              </a:rPr>
              <a:t> = 429; return;</a:t>
            </a:r>
          </a:p>
          <a:p>
            <a:pPr marL="12700" marR="5080"/>
            <a:r>
              <a:rPr lang="en-US" sz="1500" dirty="0">
                <a:solidFill>
                  <a:schemeClr val="accent6"/>
                </a:solidFill>
                <a:latin typeface="Google Sans"/>
              </a:rPr>
              <a:t>        }</a:t>
            </a:r>
          </a:p>
          <a:p>
            <a:pPr marL="12700" marR="5080"/>
            <a:r>
              <a:rPr lang="en-US" sz="1500" dirty="0">
                <a:solidFill>
                  <a:schemeClr val="accent6"/>
                </a:solidFill>
                <a:latin typeface="Google Sans"/>
              </a:rPr>
              <a:t>        await _next(</a:t>
            </a:r>
            <a:r>
              <a:rPr lang="en-US" sz="1500" dirty="0" err="1">
                <a:solidFill>
                  <a:schemeClr val="accent6"/>
                </a:solidFill>
                <a:latin typeface="Google Sans"/>
              </a:rPr>
              <a:t>ctx</a:t>
            </a:r>
            <a:r>
              <a:rPr lang="en-US" sz="1500" dirty="0">
                <a:solidFill>
                  <a:schemeClr val="accent6"/>
                </a:solidFill>
                <a:latin typeface="Google Sans"/>
              </a:rPr>
              <a:t>);</a:t>
            </a:r>
          </a:p>
          <a:p>
            <a:pPr marL="12700" marR="5080"/>
            <a:r>
              <a:rPr lang="en-US" sz="1500" dirty="0">
                <a:solidFill>
                  <a:schemeClr val="accent6"/>
                </a:solidFill>
                <a:latin typeface="Google Sans"/>
              </a:rPr>
              <a:t>    }</a:t>
            </a:r>
          </a:p>
          <a:p>
            <a:pPr marL="12700" marR="5080"/>
            <a:r>
              <a:rPr lang="en-US" sz="1500" dirty="0">
                <a:solidFill>
                  <a:schemeClr val="accent6"/>
                </a:solidFill>
                <a:latin typeface="Google Sans"/>
              </a:rPr>
              <a:t>}</a:t>
            </a:r>
          </a:p>
          <a:p>
            <a:pPr marL="12700" marR="5080"/>
            <a:r>
              <a:rPr lang="en-US" sz="1500" dirty="0">
                <a:solidFill>
                  <a:schemeClr val="accent6"/>
                </a:solidFill>
                <a:latin typeface="Google Sans"/>
              </a:rPr>
              <a:t>Message brokers &amp; durable queuing (Kafka, RabbitMQ, Azure Service Bus)</a:t>
            </a:r>
          </a:p>
          <a:p>
            <a:pPr marL="12700" marR="5080"/>
            <a:r>
              <a:rPr lang="en-US" sz="1500" dirty="0">
                <a:solidFill>
                  <a:schemeClr val="accent6"/>
                </a:solidFill>
                <a:latin typeface="Google Sans"/>
              </a:rPr>
              <a:t>Prefetch / consumer windowing: control how many messages consumers prefetch.</a:t>
            </a:r>
          </a:p>
          <a:p>
            <a:pPr marL="12700" marR="5080"/>
            <a:r>
              <a:rPr lang="en-US" sz="1500" dirty="0" err="1">
                <a:solidFill>
                  <a:schemeClr val="accent2"/>
                </a:solidFill>
                <a:latin typeface="Google Sans"/>
              </a:rPr>
              <a:t>ACKing</a:t>
            </a:r>
            <a:r>
              <a:rPr lang="en-US" sz="1500" dirty="0">
                <a:solidFill>
                  <a:schemeClr val="accent2"/>
                </a:solidFill>
                <a:latin typeface="Google Sans"/>
              </a:rPr>
              <a:t>: </a:t>
            </a:r>
            <a:r>
              <a:rPr lang="en-US" sz="1500" dirty="0">
                <a:solidFill>
                  <a:schemeClr val="accent6"/>
                </a:solidFill>
                <a:latin typeface="Google Sans"/>
              </a:rPr>
              <a:t>only ack after processing — prevents loss but allows flow control.</a:t>
            </a:r>
          </a:p>
          <a:p>
            <a:pPr marL="12700" marR="5080"/>
            <a:r>
              <a:rPr lang="en-US" sz="1500" dirty="0">
                <a:solidFill>
                  <a:schemeClr val="accent2"/>
                </a:solidFill>
                <a:latin typeface="Google Sans"/>
              </a:rPr>
              <a:t>Use-case:</a:t>
            </a:r>
            <a:r>
              <a:rPr lang="en-US" sz="1500" dirty="0">
                <a:solidFill>
                  <a:schemeClr val="accent6"/>
                </a:solidFill>
                <a:latin typeface="Google Sans"/>
              </a:rPr>
              <a:t> decouple producers and consumers and let broker absorb bursts (bounded retention and disk constraints still apply).</a:t>
            </a:r>
          </a:p>
        </p:txBody>
      </p:sp>
      <p:grpSp>
        <p:nvGrpSpPr>
          <p:cNvPr id="7" name="Group 6">
            <a:extLst>
              <a:ext uri="{FF2B5EF4-FFF2-40B4-BE49-F238E27FC236}">
                <a16:creationId xmlns:a16="http://schemas.microsoft.com/office/drawing/2014/main" id="{43C79F26-B7C5-2E19-3050-9E069AC345EA}"/>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FAA92C72-69ED-8A89-707A-8747C7DAC3C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A6699EF-7A6E-CD95-59A1-4A4B05C5C99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2434543993"/>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4FEE1-B55C-5BEF-F849-06AF8F0A2B5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55C391C-3C0D-8A16-8399-5E09D5E2AED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C6C0C4A-6EE5-4F0B-4152-055F38BF237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A5821EB-3505-90E2-DA1B-B5253626BA7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172817-63F4-7830-DA6B-947893AF0251}"/>
              </a:ext>
            </a:extLst>
          </p:cNvPr>
          <p:cNvSpPr txBox="1">
            <a:spLocks/>
          </p:cNvSpPr>
          <p:nvPr/>
        </p:nvSpPr>
        <p:spPr>
          <a:xfrm>
            <a:off x="76200" y="697468"/>
            <a:ext cx="8624937" cy="49398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Backpressure</a:t>
            </a:r>
          </a:p>
          <a:p>
            <a:pPr marL="12700" marR="5080"/>
            <a:r>
              <a:rPr lang="en-US" sz="1800" dirty="0">
                <a:solidFill>
                  <a:schemeClr val="accent2"/>
                </a:solidFill>
                <a:latin typeface="Google Sans"/>
              </a:rPr>
              <a:t>.NET Specific Techniques</a:t>
            </a:r>
          </a:p>
          <a:p>
            <a:pPr marL="12700" marR="5080"/>
            <a:r>
              <a:rPr lang="en-US" sz="1500" dirty="0">
                <a:solidFill>
                  <a:schemeClr val="accent2"/>
                </a:solidFill>
                <a:latin typeface="Google Sans"/>
              </a:rPr>
              <a:t>ASP.NET Core request-level backpressure</a:t>
            </a:r>
          </a:p>
          <a:p>
            <a:pPr marL="12700" marR="5080"/>
            <a:r>
              <a:rPr lang="en-US" sz="1500" dirty="0">
                <a:solidFill>
                  <a:schemeClr val="accent2"/>
                </a:solidFill>
                <a:latin typeface="Google Sans"/>
              </a:rPr>
              <a:t>.NET clients:</a:t>
            </a:r>
            <a:r>
              <a:rPr lang="en-US" sz="1500" dirty="0">
                <a:solidFill>
                  <a:schemeClr val="accent6"/>
                </a:solidFill>
                <a:latin typeface="Google Sans"/>
              </a:rPr>
              <a:t> </a:t>
            </a:r>
            <a:r>
              <a:rPr lang="en-US" sz="1500" dirty="0" err="1">
                <a:solidFill>
                  <a:schemeClr val="accent6"/>
                </a:solidFill>
                <a:latin typeface="Google Sans"/>
              </a:rPr>
              <a:t>Confluent.Kafka</a:t>
            </a:r>
            <a:r>
              <a:rPr lang="en-US" sz="1500" dirty="0">
                <a:solidFill>
                  <a:schemeClr val="accent6"/>
                </a:solidFill>
                <a:latin typeface="Google Sans"/>
              </a:rPr>
              <a:t>, </a:t>
            </a:r>
            <a:r>
              <a:rPr lang="en-US" sz="1500" dirty="0" err="1">
                <a:solidFill>
                  <a:schemeClr val="accent6"/>
                </a:solidFill>
                <a:latin typeface="Google Sans"/>
              </a:rPr>
              <a:t>RabbitMQ.Client</a:t>
            </a:r>
            <a:r>
              <a:rPr lang="en-US" sz="1500" dirty="0">
                <a:solidFill>
                  <a:schemeClr val="accent6"/>
                </a:solidFill>
                <a:latin typeface="Google Sans"/>
              </a:rPr>
              <a:t>, </a:t>
            </a:r>
            <a:r>
              <a:rPr lang="en-US" sz="1500" dirty="0" err="1">
                <a:solidFill>
                  <a:schemeClr val="accent6"/>
                </a:solidFill>
                <a:latin typeface="Google Sans"/>
              </a:rPr>
              <a:t>Azure.Messaging.ServiceBus</a:t>
            </a:r>
            <a:r>
              <a:rPr lang="en-US" sz="1500" dirty="0">
                <a:solidFill>
                  <a:schemeClr val="accent6"/>
                </a:solidFill>
                <a:latin typeface="Google Sans"/>
              </a:rPr>
              <a:t> — each supports prefetch configuration.</a:t>
            </a:r>
          </a:p>
          <a:p>
            <a:pPr marL="12700" marR="5080"/>
            <a:r>
              <a:rPr lang="en-US" sz="1500" dirty="0">
                <a:solidFill>
                  <a:schemeClr val="accent2"/>
                </a:solidFill>
                <a:latin typeface="Google Sans"/>
              </a:rPr>
              <a:t>Polly for resilience (circuit breaker + bulkhead + retry)</a:t>
            </a:r>
          </a:p>
          <a:p>
            <a:pPr marL="12700" marR="5080"/>
            <a:r>
              <a:rPr lang="en-US" sz="1500" dirty="0">
                <a:solidFill>
                  <a:schemeClr val="accent6"/>
                </a:solidFill>
                <a:latin typeface="Google Sans"/>
              </a:rPr>
              <a:t>Polly provides circuit breaker, bulkhead isolation, and retries with jitter.</a:t>
            </a:r>
          </a:p>
          <a:p>
            <a:pPr marL="12700" marR="5080"/>
            <a:r>
              <a:rPr lang="en-US" sz="1500" dirty="0">
                <a:solidFill>
                  <a:schemeClr val="accent6"/>
                </a:solidFill>
                <a:latin typeface="Google Sans"/>
              </a:rPr>
              <a:t>Combine circuit breaker with rate limiter to stop sending to overloaded endpoints.</a:t>
            </a:r>
          </a:p>
          <a:p>
            <a:pPr marL="12700" marR="5080"/>
            <a:r>
              <a:rPr lang="en-US" sz="1500" dirty="0">
                <a:solidFill>
                  <a:schemeClr val="accent2"/>
                </a:solidFill>
                <a:latin typeface="Google Sans"/>
              </a:rPr>
              <a:t>External API/Proxy (API Gateway, reverse proxy)</a:t>
            </a:r>
          </a:p>
          <a:p>
            <a:pPr marL="12700" marR="5080"/>
            <a:r>
              <a:rPr lang="en-US" sz="1500" dirty="0">
                <a:solidFill>
                  <a:schemeClr val="accent6"/>
                </a:solidFill>
                <a:latin typeface="Google Sans"/>
              </a:rPr>
              <a:t>Nginx / Envoy / Azure API Management features: rate-limiting &amp; connection limits, helps protect backend.</a:t>
            </a:r>
          </a:p>
          <a:p>
            <a:pPr marL="12700" marR="5080"/>
            <a:r>
              <a:rPr lang="en-US" sz="1500" dirty="0">
                <a:solidFill>
                  <a:schemeClr val="accent6"/>
                </a:solidFill>
                <a:latin typeface="Google Sans"/>
              </a:rPr>
              <a:t>Use Retry-After / 429 to tell clients to slow down.</a:t>
            </a:r>
          </a:p>
          <a:p>
            <a:pPr marL="12700" marR="5080"/>
            <a:r>
              <a:rPr lang="en-US" sz="1500" dirty="0">
                <a:solidFill>
                  <a:schemeClr val="accent2"/>
                </a:solidFill>
                <a:latin typeface="Google Sans"/>
              </a:rPr>
              <a:t>Load balancer + autoscaling</a:t>
            </a:r>
          </a:p>
          <a:p>
            <a:pPr marL="12700" marR="5080"/>
            <a:r>
              <a:rPr lang="en-US" sz="1500" dirty="0">
                <a:solidFill>
                  <a:schemeClr val="accent6"/>
                </a:solidFill>
                <a:latin typeface="Google Sans"/>
              </a:rPr>
              <a:t>Scale out consumers when queue length or latencies rise. Use </a:t>
            </a:r>
            <a:r>
              <a:rPr lang="en-US" sz="1500" dirty="0" err="1">
                <a:solidFill>
                  <a:schemeClr val="accent6"/>
                </a:solidFill>
                <a:latin typeface="Google Sans"/>
              </a:rPr>
              <a:t>autoscaler</a:t>
            </a:r>
            <a:r>
              <a:rPr lang="en-US" sz="1500" dirty="0">
                <a:solidFill>
                  <a:schemeClr val="accent6"/>
                </a:solidFill>
                <a:latin typeface="Google Sans"/>
              </a:rPr>
              <a:t> based on metrics.</a:t>
            </a:r>
          </a:p>
          <a:p>
            <a:pPr marL="12700" marR="5080"/>
            <a:r>
              <a:rPr lang="en-US" sz="1500" dirty="0">
                <a:solidFill>
                  <a:schemeClr val="accent6"/>
                </a:solidFill>
                <a:latin typeface="Google Sans"/>
              </a:rPr>
              <a:t>Database-level throttling (e.g., SQL Server resource governor)</a:t>
            </a:r>
          </a:p>
          <a:p>
            <a:pPr marL="12700" marR="5080"/>
            <a:r>
              <a:rPr lang="en-US" sz="1500" dirty="0">
                <a:solidFill>
                  <a:schemeClr val="accent6"/>
                </a:solidFill>
                <a:latin typeface="Google Sans"/>
              </a:rPr>
              <a:t>Protect DB by limiting queries / CPU per workload.</a:t>
            </a:r>
          </a:p>
          <a:p>
            <a:pPr marL="12700" marR="5080"/>
            <a:r>
              <a:rPr lang="en-US" sz="1500" dirty="0">
                <a:solidFill>
                  <a:schemeClr val="accent2"/>
                </a:solidFill>
                <a:latin typeface="Google Sans"/>
              </a:rPr>
              <a:t>Persistent local overflow (disk-backed spool)</a:t>
            </a:r>
          </a:p>
          <a:p>
            <a:pPr marL="12700" marR="5080"/>
            <a:r>
              <a:rPr lang="en-US" sz="1500" dirty="0">
                <a:solidFill>
                  <a:schemeClr val="accent6"/>
                </a:solidFill>
                <a:latin typeface="Google Sans"/>
              </a:rPr>
              <a:t>When memory full, spill to disk (local file queue) to smooth bursts.</a:t>
            </a:r>
          </a:p>
          <a:p>
            <a:pPr marL="12700" marR="5080"/>
            <a:r>
              <a:rPr lang="en-US" sz="1500" dirty="0">
                <a:solidFill>
                  <a:schemeClr val="accent6"/>
                </a:solidFill>
                <a:latin typeface="Google Sans"/>
              </a:rPr>
              <a:t>HTTP-level: Transfer-Encoding chunking, request streaming</a:t>
            </a:r>
          </a:p>
          <a:p>
            <a:pPr marL="12700" marR="5080"/>
            <a:r>
              <a:rPr lang="en-US" sz="1500" dirty="0">
                <a:solidFill>
                  <a:schemeClr val="accent6"/>
                </a:solidFill>
                <a:latin typeface="Google Sans"/>
              </a:rPr>
              <a:t>For streaming responses/requests, design consumers to process chunks at consumer pace.</a:t>
            </a:r>
          </a:p>
        </p:txBody>
      </p:sp>
      <p:grpSp>
        <p:nvGrpSpPr>
          <p:cNvPr id="7" name="Group 6">
            <a:extLst>
              <a:ext uri="{FF2B5EF4-FFF2-40B4-BE49-F238E27FC236}">
                <a16:creationId xmlns:a16="http://schemas.microsoft.com/office/drawing/2014/main" id="{80F3DAFA-48B3-B5D8-3364-F663AC368E6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D3C8B14-E77D-31DB-F2C1-224AFC636C4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B9C6DBF6-4A34-C17D-C5A0-20E58C69DCE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3970176468"/>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A3CF4-D215-88BB-C874-DFF9AA808B6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BBA7B58-F07B-8530-466E-8B1C196AE1B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1393923-3173-C33B-6ABC-0CD847A857A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05BC060-314B-43D6-485A-72BD30A6BAC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417157B-5C1F-79D4-0F33-01A6E7280C15}"/>
              </a:ext>
            </a:extLst>
          </p:cNvPr>
          <p:cNvSpPr txBox="1">
            <a:spLocks/>
          </p:cNvSpPr>
          <p:nvPr/>
        </p:nvSpPr>
        <p:spPr>
          <a:xfrm>
            <a:off x="76200" y="697468"/>
            <a:ext cx="8624937" cy="49398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Backpressure</a:t>
            </a:r>
          </a:p>
          <a:p>
            <a:pPr marL="12700" marR="5080"/>
            <a:r>
              <a:rPr lang="en-US" sz="1800" dirty="0">
                <a:solidFill>
                  <a:schemeClr val="accent2"/>
                </a:solidFill>
                <a:latin typeface="Google Sans"/>
              </a:rPr>
              <a:t>Concrete .NET examples &amp; patterns (short recipes)</a:t>
            </a:r>
          </a:p>
          <a:p>
            <a:pPr marL="12700" marR="5080"/>
            <a:r>
              <a:rPr lang="en-US" sz="1500" dirty="0">
                <a:solidFill>
                  <a:schemeClr val="accent2"/>
                </a:solidFill>
                <a:latin typeface="Google Sans"/>
              </a:rPr>
              <a:t>A. In-process pipeline with Channels + adaptive concurrency</a:t>
            </a:r>
          </a:p>
          <a:p>
            <a:pPr marL="12700" marR="5080"/>
            <a:r>
              <a:rPr lang="en-US" sz="1500" dirty="0">
                <a:solidFill>
                  <a:schemeClr val="accent6"/>
                </a:solidFill>
                <a:latin typeface="Google Sans"/>
              </a:rPr>
              <a:t>// Channel producer writes quickly; consumer pool controls concurrency</a:t>
            </a:r>
          </a:p>
          <a:p>
            <a:pPr marL="12700" marR="5080"/>
            <a:r>
              <a:rPr lang="en-US" sz="1500" dirty="0">
                <a:solidFill>
                  <a:schemeClr val="accent6"/>
                </a:solidFill>
                <a:latin typeface="Google Sans"/>
              </a:rPr>
              <a:t>var </a:t>
            </a:r>
            <a:r>
              <a:rPr lang="en-US" sz="1500" dirty="0" err="1">
                <a:solidFill>
                  <a:schemeClr val="accent6"/>
                </a:solidFill>
                <a:latin typeface="Google Sans"/>
              </a:rPr>
              <a:t>ch</a:t>
            </a:r>
            <a:r>
              <a:rPr lang="en-US" sz="1500" dirty="0">
                <a:solidFill>
                  <a:schemeClr val="accent6"/>
                </a:solidFill>
                <a:latin typeface="Google Sans"/>
              </a:rPr>
              <a:t> = </a:t>
            </a:r>
            <a:r>
              <a:rPr lang="en-US" sz="1500" dirty="0" err="1">
                <a:solidFill>
                  <a:schemeClr val="accent6"/>
                </a:solidFill>
                <a:latin typeface="Google Sans"/>
              </a:rPr>
              <a:t>Channel.CreateBounded</a:t>
            </a:r>
            <a:r>
              <a:rPr lang="en-US" sz="1500" dirty="0">
                <a:solidFill>
                  <a:schemeClr val="accent6"/>
                </a:solidFill>
                <a:latin typeface="Google Sans"/>
              </a:rPr>
              <a:t>&lt;Data&gt;(100);</a:t>
            </a:r>
          </a:p>
          <a:p>
            <a:pPr marL="12700" marR="5080"/>
            <a:r>
              <a:rPr lang="en-US" sz="1500" dirty="0">
                <a:solidFill>
                  <a:schemeClr val="accent6"/>
                </a:solidFill>
                <a:latin typeface="Google Sans"/>
              </a:rPr>
              <a:t>for (int </a:t>
            </a:r>
            <a:r>
              <a:rPr lang="en-US" sz="1500" dirty="0" err="1">
                <a:solidFill>
                  <a:schemeClr val="accent6"/>
                </a:solidFill>
                <a:latin typeface="Google Sans"/>
              </a:rPr>
              <a:t>i</a:t>
            </a:r>
            <a:r>
              <a:rPr lang="en-US" sz="1500" dirty="0">
                <a:solidFill>
                  <a:schemeClr val="accent6"/>
                </a:solidFill>
                <a:latin typeface="Google Sans"/>
              </a:rPr>
              <a:t>=0;i&lt;</a:t>
            </a:r>
            <a:r>
              <a:rPr lang="en-US" sz="1500" dirty="0" err="1">
                <a:solidFill>
                  <a:schemeClr val="accent6"/>
                </a:solidFill>
                <a:latin typeface="Google Sans"/>
              </a:rPr>
              <a:t>workers;i</a:t>
            </a:r>
            <a:r>
              <a:rPr lang="en-US" sz="1500" dirty="0">
                <a:solidFill>
                  <a:schemeClr val="accent6"/>
                </a:solidFill>
                <a:latin typeface="Google Sans"/>
              </a:rPr>
              <a:t>++) _ = </a:t>
            </a:r>
            <a:r>
              <a:rPr lang="en-US" sz="1500" dirty="0" err="1">
                <a:solidFill>
                  <a:schemeClr val="accent6"/>
                </a:solidFill>
                <a:latin typeface="Google Sans"/>
              </a:rPr>
              <a:t>ConsumerLoop</a:t>
            </a:r>
            <a:r>
              <a:rPr lang="en-US" sz="1500" dirty="0">
                <a:solidFill>
                  <a:schemeClr val="accent6"/>
                </a:solidFill>
                <a:latin typeface="Google Sans"/>
              </a:rPr>
              <a:t>(</a:t>
            </a:r>
            <a:r>
              <a:rPr lang="en-US" sz="1500" dirty="0" err="1">
                <a:solidFill>
                  <a:schemeClr val="accent6"/>
                </a:solidFill>
                <a:latin typeface="Google Sans"/>
              </a:rPr>
              <a:t>ch.Reader</a:t>
            </a:r>
            <a:r>
              <a:rPr lang="en-US" sz="1500" dirty="0">
                <a:solidFill>
                  <a:schemeClr val="accent6"/>
                </a:solidFill>
                <a:latin typeface="Google Sans"/>
              </a:rPr>
              <a:t>);</a:t>
            </a:r>
          </a:p>
          <a:p>
            <a:pPr marL="12700" marR="5080"/>
            <a:r>
              <a:rPr lang="en-US" sz="1500" dirty="0">
                <a:solidFill>
                  <a:schemeClr val="accent6"/>
                </a:solidFill>
                <a:latin typeface="Google Sans"/>
              </a:rPr>
              <a:t>async Task </a:t>
            </a:r>
            <a:r>
              <a:rPr lang="en-US" sz="1500" dirty="0" err="1">
                <a:solidFill>
                  <a:schemeClr val="accent6"/>
                </a:solidFill>
                <a:latin typeface="Google Sans"/>
              </a:rPr>
              <a:t>ProducerLoop</a:t>
            </a:r>
            <a:r>
              <a:rPr lang="en-US" sz="1500" dirty="0">
                <a:solidFill>
                  <a:schemeClr val="accent6"/>
                </a:solidFill>
                <a:latin typeface="Google Sans"/>
              </a:rPr>
              <a:t>() {</a:t>
            </a:r>
          </a:p>
          <a:p>
            <a:pPr marL="12700" marR="5080"/>
            <a:r>
              <a:rPr lang="en-US" sz="1500" dirty="0">
                <a:solidFill>
                  <a:schemeClr val="accent6"/>
                </a:solidFill>
                <a:latin typeface="Google Sans"/>
              </a:rPr>
              <a:t>  while (</a:t>
            </a:r>
            <a:r>
              <a:rPr lang="en-US" sz="1500" dirty="0" err="1">
                <a:solidFill>
                  <a:schemeClr val="accent6"/>
                </a:solidFill>
                <a:latin typeface="Google Sans"/>
              </a:rPr>
              <a:t>hasMore</a:t>
            </a:r>
            <a:r>
              <a:rPr lang="en-US" sz="1500" dirty="0">
                <a:solidFill>
                  <a:schemeClr val="accent6"/>
                </a:solidFill>
                <a:latin typeface="Google Sans"/>
              </a:rPr>
              <a:t>) {</a:t>
            </a:r>
          </a:p>
          <a:p>
            <a:pPr marL="12700" marR="5080"/>
            <a:r>
              <a:rPr lang="en-US" sz="1500" dirty="0">
                <a:solidFill>
                  <a:schemeClr val="accent6"/>
                </a:solidFill>
                <a:latin typeface="Google Sans"/>
              </a:rPr>
              <a:t>    if (!await </a:t>
            </a:r>
            <a:r>
              <a:rPr lang="en-US" sz="1500" dirty="0" err="1">
                <a:solidFill>
                  <a:schemeClr val="accent6"/>
                </a:solidFill>
                <a:latin typeface="Google Sans"/>
              </a:rPr>
              <a:t>ch.Writer.WaitToWriteAsync</a:t>
            </a:r>
            <a:r>
              <a:rPr lang="en-US" sz="1500" dirty="0">
                <a:solidFill>
                  <a:schemeClr val="accent6"/>
                </a:solidFill>
                <a:latin typeface="Google Sans"/>
              </a:rPr>
              <a:t>(</a:t>
            </a:r>
            <a:r>
              <a:rPr lang="en-US" sz="1500" dirty="0" err="1">
                <a:solidFill>
                  <a:schemeClr val="accent6"/>
                </a:solidFill>
                <a:latin typeface="Google Sans"/>
              </a:rPr>
              <a:t>TimeSpan.FromSeconds</a:t>
            </a:r>
            <a:r>
              <a:rPr lang="en-US" sz="1500" dirty="0">
                <a:solidFill>
                  <a:schemeClr val="accent6"/>
                </a:solidFill>
                <a:latin typeface="Google Sans"/>
              </a:rPr>
              <a:t>(1))) {</a:t>
            </a:r>
          </a:p>
          <a:p>
            <a:pPr marL="12700" marR="5080"/>
            <a:r>
              <a:rPr lang="en-US" sz="1500" dirty="0">
                <a:solidFill>
                  <a:schemeClr val="accent6"/>
                </a:solidFill>
                <a:latin typeface="Google Sans"/>
              </a:rPr>
              <a:t>      // channel full -&gt; consider backoff or drop</a:t>
            </a:r>
          </a:p>
          <a:p>
            <a:pPr marL="12700" marR="5080"/>
            <a:r>
              <a:rPr lang="en-US" sz="1500" dirty="0">
                <a:solidFill>
                  <a:schemeClr val="accent6"/>
                </a:solidFill>
                <a:latin typeface="Google Sans"/>
              </a:rPr>
              <a:t>      await </a:t>
            </a:r>
            <a:r>
              <a:rPr lang="en-US" sz="1500" dirty="0" err="1">
                <a:solidFill>
                  <a:schemeClr val="accent6"/>
                </a:solidFill>
                <a:latin typeface="Google Sans"/>
              </a:rPr>
              <a:t>Task.Delay</a:t>
            </a:r>
            <a:r>
              <a:rPr lang="en-US" sz="1500" dirty="0">
                <a:solidFill>
                  <a:schemeClr val="accent6"/>
                </a:solidFill>
                <a:latin typeface="Google Sans"/>
              </a:rPr>
              <a:t>(100); </a:t>
            </a:r>
          </a:p>
          <a:p>
            <a:pPr marL="12700" marR="5080"/>
            <a:r>
              <a:rPr lang="en-US" sz="1500" dirty="0">
                <a:solidFill>
                  <a:schemeClr val="accent6"/>
                </a:solidFill>
                <a:latin typeface="Google Sans"/>
              </a:rPr>
              <a:t>      continue;</a:t>
            </a:r>
          </a:p>
          <a:p>
            <a:pPr marL="12700" marR="5080"/>
            <a:r>
              <a:rPr lang="en-US" sz="1500" dirty="0">
                <a:solidFill>
                  <a:schemeClr val="accent6"/>
                </a:solidFill>
                <a:latin typeface="Google Sans"/>
              </a:rPr>
              <a:t>    }</a:t>
            </a:r>
          </a:p>
          <a:p>
            <a:pPr marL="12700" marR="5080"/>
            <a:r>
              <a:rPr lang="en-US" sz="1500" dirty="0">
                <a:solidFill>
                  <a:schemeClr val="accent6"/>
                </a:solidFill>
                <a:latin typeface="Google Sans"/>
              </a:rPr>
              <a:t>    await </a:t>
            </a:r>
            <a:r>
              <a:rPr lang="en-US" sz="1500" dirty="0" err="1">
                <a:solidFill>
                  <a:schemeClr val="accent6"/>
                </a:solidFill>
                <a:latin typeface="Google Sans"/>
              </a:rPr>
              <a:t>ch.Writer.WriteAsync</a:t>
            </a:r>
            <a:r>
              <a:rPr lang="en-US" sz="1500" dirty="0">
                <a:solidFill>
                  <a:schemeClr val="accent6"/>
                </a:solidFill>
                <a:latin typeface="Google Sans"/>
              </a:rPr>
              <a:t>(</a:t>
            </a:r>
            <a:r>
              <a:rPr lang="en-US" sz="1500" dirty="0" err="1">
                <a:solidFill>
                  <a:schemeClr val="accent6"/>
                </a:solidFill>
                <a:latin typeface="Google Sans"/>
              </a:rPr>
              <a:t>nextItem</a:t>
            </a:r>
            <a:r>
              <a:rPr lang="en-US" sz="1500" dirty="0">
                <a:solidFill>
                  <a:schemeClr val="accent6"/>
                </a:solidFill>
                <a:latin typeface="Google Sans"/>
              </a:rPr>
              <a:t>);</a:t>
            </a:r>
          </a:p>
          <a:p>
            <a:pPr marL="12700" marR="5080"/>
            <a:r>
              <a:rPr lang="en-US" sz="1500" dirty="0">
                <a:solidFill>
                  <a:schemeClr val="accent6"/>
                </a:solidFill>
                <a:latin typeface="Google Sans"/>
              </a:rPr>
              <a:t>  }</a:t>
            </a:r>
          </a:p>
          <a:p>
            <a:pPr marL="12700" marR="5080"/>
            <a:r>
              <a:rPr lang="en-US" sz="1500" dirty="0">
                <a:solidFill>
                  <a:schemeClr val="accent6"/>
                </a:solidFill>
                <a:latin typeface="Google Sans"/>
              </a:rPr>
              <a:t>}</a:t>
            </a:r>
          </a:p>
          <a:p>
            <a:pPr marL="12700" marR="5080"/>
            <a:r>
              <a:rPr lang="en-US" sz="1500" dirty="0">
                <a:solidFill>
                  <a:schemeClr val="accent2"/>
                </a:solidFill>
                <a:latin typeface="Google Sans"/>
              </a:rPr>
              <a:t>B. API gateway + </a:t>
            </a:r>
            <a:r>
              <a:rPr lang="en-US" sz="1500" dirty="0" err="1">
                <a:solidFill>
                  <a:schemeClr val="accent2"/>
                </a:solidFill>
                <a:latin typeface="Google Sans"/>
              </a:rPr>
              <a:t>RateLimiter</a:t>
            </a:r>
            <a:r>
              <a:rPr lang="en-US" sz="1500" dirty="0">
                <a:solidFill>
                  <a:schemeClr val="accent2"/>
                </a:solidFill>
                <a:latin typeface="Google Sans"/>
              </a:rPr>
              <a:t> + 429</a:t>
            </a:r>
          </a:p>
          <a:p>
            <a:pPr marL="12700" marR="5080"/>
            <a:r>
              <a:rPr lang="en-US" sz="1500" dirty="0">
                <a:solidFill>
                  <a:schemeClr val="accent6"/>
                </a:solidFill>
                <a:latin typeface="Google Sans"/>
              </a:rPr>
              <a:t>Use </a:t>
            </a:r>
            <a:r>
              <a:rPr lang="en-US" sz="1500" dirty="0" err="1">
                <a:solidFill>
                  <a:schemeClr val="accent6"/>
                </a:solidFill>
                <a:latin typeface="Google Sans"/>
              </a:rPr>
              <a:t>RateLimiter</a:t>
            </a:r>
            <a:r>
              <a:rPr lang="en-US" sz="1500" dirty="0">
                <a:solidFill>
                  <a:schemeClr val="accent6"/>
                </a:solidFill>
                <a:latin typeface="Google Sans"/>
              </a:rPr>
              <a:t> middleware in ASP.NET Core to return 429 with Retry-After header.</a:t>
            </a:r>
          </a:p>
          <a:p>
            <a:pPr marL="12700" marR="5080"/>
            <a:endParaRPr lang="en-US" sz="1500" dirty="0">
              <a:solidFill>
                <a:schemeClr val="accent6"/>
              </a:solidFill>
              <a:latin typeface="Google Sans"/>
            </a:endParaRPr>
          </a:p>
        </p:txBody>
      </p:sp>
      <p:grpSp>
        <p:nvGrpSpPr>
          <p:cNvPr id="7" name="Group 6">
            <a:extLst>
              <a:ext uri="{FF2B5EF4-FFF2-40B4-BE49-F238E27FC236}">
                <a16:creationId xmlns:a16="http://schemas.microsoft.com/office/drawing/2014/main" id="{B7A9F540-67C2-9ECE-3CAD-E26570E3635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6D86737A-4794-FD23-FE33-A3D53CB65E4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34CB4AD1-0280-3A10-2CE4-C1FCDD7ED5E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2398126331"/>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80C3C-3CD8-57D1-52B0-D65014C1993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93DA6B8-307E-0007-F429-C12F4B08707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7BA646D-2A36-B60B-AA31-DF541CC04E1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FFBB6D2-2A62-A094-D291-3F93F00B5B4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16195EE-DCBD-EDF6-89D1-2BDA967F4A4D}"/>
              </a:ext>
            </a:extLst>
          </p:cNvPr>
          <p:cNvSpPr txBox="1">
            <a:spLocks/>
          </p:cNvSpPr>
          <p:nvPr/>
        </p:nvSpPr>
        <p:spPr>
          <a:xfrm>
            <a:off x="76200" y="697468"/>
            <a:ext cx="8624937" cy="52168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Backpressure</a:t>
            </a:r>
          </a:p>
          <a:p>
            <a:pPr marL="12700" marR="5080"/>
            <a:r>
              <a:rPr lang="en-US" sz="1800" dirty="0">
                <a:solidFill>
                  <a:schemeClr val="accent2"/>
                </a:solidFill>
                <a:latin typeface="Google Sans"/>
              </a:rPr>
              <a:t>Concrete .NET examples &amp; patterns (short recipes)</a:t>
            </a:r>
          </a:p>
          <a:p>
            <a:pPr marL="12700" marR="5080"/>
            <a:r>
              <a:rPr lang="en-US" sz="1500" dirty="0">
                <a:solidFill>
                  <a:schemeClr val="accent2"/>
                </a:solidFill>
                <a:latin typeface="Google Sans"/>
              </a:rPr>
              <a:t>C. TPL Dataflow for staged processing with bounding</a:t>
            </a:r>
          </a:p>
          <a:p>
            <a:pPr marL="12700" marR="5080"/>
            <a:r>
              <a:rPr lang="en-US" sz="1500" dirty="0">
                <a:solidFill>
                  <a:schemeClr val="accent6"/>
                </a:solidFill>
                <a:latin typeface="Google Sans"/>
              </a:rPr>
              <a:t>var buffer = new </a:t>
            </a:r>
            <a:r>
              <a:rPr lang="en-US" sz="1500" dirty="0" err="1">
                <a:solidFill>
                  <a:schemeClr val="accent6"/>
                </a:solidFill>
                <a:latin typeface="Google Sans"/>
              </a:rPr>
              <a:t>BufferBlock</a:t>
            </a:r>
            <a:r>
              <a:rPr lang="en-US" sz="1500" dirty="0">
                <a:solidFill>
                  <a:schemeClr val="accent6"/>
                </a:solidFill>
                <a:latin typeface="Google Sans"/>
              </a:rPr>
              <a:t>&lt;Input&gt;(new </a:t>
            </a:r>
            <a:r>
              <a:rPr lang="en-US" sz="1500" dirty="0" err="1">
                <a:solidFill>
                  <a:schemeClr val="accent6"/>
                </a:solidFill>
                <a:latin typeface="Google Sans"/>
              </a:rPr>
              <a:t>DataflowBlockOptions</a:t>
            </a:r>
            <a:r>
              <a:rPr lang="en-US" sz="1500" dirty="0">
                <a:solidFill>
                  <a:schemeClr val="accent6"/>
                </a:solidFill>
                <a:latin typeface="Google Sans"/>
              </a:rPr>
              <a:t> { </a:t>
            </a:r>
            <a:r>
              <a:rPr lang="en-US" sz="1500" dirty="0" err="1">
                <a:solidFill>
                  <a:schemeClr val="accent6"/>
                </a:solidFill>
                <a:latin typeface="Google Sans"/>
              </a:rPr>
              <a:t>BoundedCapacity</a:t>
            </a:r>
            <a:r>
              <a:rPr lang="en-US" sz="1500" dirty="0">
                <a:solidFill>
                  <a:schemeClr val="accent6"/>
                </a:solidFill>
                <a:latin typeface="Google Sans"/>
              </a:rPr>
              <a:t> = 100 });</a:t>
            </a:r>
          </a:p>
          <a:p>
            <a:pPr marL="12700" marR="5080"/>
            <a:r>
              <a:rPr lang="en-US" sz="1500" dirty="0">
                <a:solidFill>
                  <a:schemeClr val="accent6"/>
                </a:solidFill>
                <a:latin typeface="Google Sans"/>
              </a:rPr>
              <a:t>var transform = new </a:t>
            </a:r>
            <a:r>
              <a:rPr lang="en-US" sz="1500" dirty="0" err="1">
                <a:solidFill>
                  <a:schemeClr val="accent6"/>
                </a:solidFill>
                <a:latin typeface="Google Sans"/>
              </a:rPr>
              <a:t>TransformBlock</a:t>
            </a:r>
            <a:r>
              <a:rPr lang="en-US" sz="1500" dirty="0">
                <a:solidFill>
                  <a:schemeClr val="accent6"/>
                </a:solidFill>
                <a:latin typeface="Google Sans"/>
              </a:rPr>
              <a:t>&lt;Input, Output&gt;(async in =&gt; await Transform(in),</a:t>
            </a:r>
          </a:p>
          <a:p>
            <a:pPr marL="12700" marR="5080"/>
            <a:r>
              <a:rPr lang="en-US" sz="1500" dirty="0">
                <a:solidFill>
                  <a:schemeClr val="accent6"/>
                </a:solidFill>
                <a:latin typeface="Google Sans"/>
              </a:rPr>
              <a:t>    new </a:t>
            </a:r>
            <a:r>
              <a:rPr lang="en-US" sz="1500" dirty="0" err="1">
                <a:solidFill>
                  <a:schemeClr val="accent6"/>
                </a:solidFill>
                <a:latin typeface="Google Sans"/>
              </a:rPr>
              <a:t>ExecutionDataflowBlockOptions</a:t>
            </a:r>
            <a:r>
              <a:rPr lang="en-US" sz="1500" dirty="0">
                <a:solidFill>
                  <a:schemeClr val="accent6"/>
                </a:solidFill>
                <a:latin typeface="Google Sans"/>
              </a:rPr>
              <a:t> { </a:t>
            </a:r>
            <a:r>
              <a:rPr lang="en-US" sz="1500" dirty="0" err="1">
                <a:solidFill>
                  <a:schemeClr val="accent6"/>
                </a:solidFill>
                <a:latin typeface="Google Sans"/>
              </a:rPr>
              <a:t>BoundedCapacity</a:t>
            </a:r>
            <a:r>
              <a:rPr lang="en-US" sz="1500" dirty="0">
                <a:solidFill>
                  <a:schemeClr val="accent6"/>
                </a:solidFill>
                <a:latin typeface="Google Sans"/>
              </a:rPr>
              <a:t> = 10, </a:t>
            </a:r>
            <a:r>
              <a:rPr lang="en-US" sz="1500" dirty="0" err="1">
                <a:solidFill>
                  <a:schemeClr val="accent6"/>
                </a:solidFill>
                <a:latin typeface="Google Sans"/>
              </a:rPr>
              <a:t>MaxDegreeOfParallelism</a:t>
            </a:r>
            <a:r>
              <a:rPr lang="en-US" sz="1500" dirty="0">
                <a:solidFill>
                  <a:schemeClr val="accent6"/>
                </a:solidFill>
                <a:latin typeface="Google Sans"/>
              </a:rPr>
              <a:t> = 4});</a:t>
            </a:r>
          </a:p>
          <a:p>
            <a:pPr marL="12700" marR="5080"/>
            <a:r>
              <a:rPr lang="en-US" sz="1500" dirty="0" err="1">
                <a:solidFill>
                  <a:schemeClr val="accent6"/>
                </a:solidFill>
                <a:latin typeface="Google Sans"/>
              </a:rPr>
              <a:t>buffer.LinkTo</a:t>
            </a:r>
            <a:r>
              <a:rPr lang="en-US" sz="1500" dirty="0">
                <a:solidFill>
                  <a:schemeClr val="accent6"/>
                </a:solidFill>
                <a:latin typeface="Google Sans"/>
              </a:rPr>
              <a:t>(transform, new </a:t>
            </a:r>
            <a:r>
              <a:rPr lang="en-US" sz="1500" dirty="0" err="1">
                <a:solidFill>
                  <a:schemeClr val="accent6"/>
                </a:solidFill>
                <a:latin typeface="Google Sans"/>
              </a:rPr>
              <a:t>DataflowLinkOptions</a:t>
            </a:r>
            <a:r>
              <a:rPr lang="en-US" sz="1500" dirty="0">
                <a:solidFill>
                  <a:schemeClr val="accent6"/>
                </a:solidFill>
                <a:latin typeface="Google Sans"/>
              </a:rPr>
              <a:t> { </a:t>
            </a:r>
            <a:r>
              <a:rPr lang="en-US" sz="1500" dirty="0" err="1">
                <a:solidFill>
                  <a:schemeClr val="accent6"/>
                </a:solidFill>
                <a:latin typeface="Google Sans"/>
              </a:rPr>
              <a:t>PropagateCompletion</a:t>
            </a:r>
            <a:r>
              <a:rPr lang="en-US" sz="1500" dirty="0">
                <a:solidFill>
                  <a:schemeClr val="accent6"/>
                </a:solidFill>
                <a:latin typeface="Google Sans"/>
              </a:rPr>
              <a:t> = true });</a:t>
            </a:r>
          </a:p>
          <a:p>
            <a:pPr marL="12700" marR="5080"/>
            <a:r>
              <a:rPr lang="en-US" sz="1500" dirty="0">
                <a:solidFill>
                  <a:schemeClr val="accent2"/>
                </a:solidFill>
                <a:latin typeface="Google Sans"/>
              </a:rPr>
              <a:t>D. Brokered processing (Kafka) with consumer tuning</a:t>
            </a:r>
          </a:p>
          <a:p>
            <a:pPr marL="12700" marR="5080"/>
            <a:r>
              <a:rPr lang="en-US" sz="1500" dirty="0">
                <a:solidFill>
                  <a:schemeClr val="accent6"/>
                </a:solidFill>
                <a:latin typeface="Google Sans"/>
              </a:rPr>
              <a:t>Set </a:t>
            </a:r>
            <a:r>
              <a:rPr lang="en-US" sz="1500" dirty="0" err="1">
                <a:solidFill>
                  <a:schemeClr val="accent6"/>
                </a:solidFill>
                <a:latin typeface="Google Sans"/>
              </a:rPr>
              <a:t>fetch.max.bytes</a:t>
            </a:r>
            <a:r>
              <a:rPr lang="en-US" sz="1500" dirty="0">
                <a:solidFill>
                  <a:schemeClr val="accent6"/>
                </a:solidFill>
                <a:latin typeface="Google Sans"/>
              </a:rPr>
              <a:t>, </a:t>
            </a:r>
            <a:r>
              <a:rPr lang="en-US" sz="1500" dirty="0" err="1">
                <a:solidFill>
                  <a:schemeClr val="accent6"/>
                </a:solidFill>
                <a:latin typeface="Google Sans"/>
              </a:rPr>
              <a:t>max.partition.fetch.bytes</a:t>
            </a:r>
            <a:r>
              <a:rPr lang="en-US" sz="1500" dirty="0">
                <a:solidFill>
                  <a:schemeClr val="accent6"/>
                </a:solidFill>
                <a:latin typeface="Google Sans"/>
              </a:rPr>
              <a:t>, and consumer </a:t>
            </a:r>
            <a:r>
              <a:rPr lang="en-US" sz="1500" dirty="0" err="1">
                <a:solidFill>
                  <a:schemeClr val="accent6"/>
                </a:solidFill>
                <a:latin typeface="Google Sans"/>
              </a:rPr>
              <a:t>max.poll.records</a:t>
            </a:r>
            <a:r>
              <a:rPr lang="en-US" sz="1500" dirty="0">
                <a:solidFill>
                  <a:schemeClr val="accent6"/>
                </a:solidFill>
                <a:latin typeface="Google Sans"/>
              </a:rPr>
              <a:t> to tune; commit only after processing.</a:t>
            </a:r>
          </a:p>
          <a:p>
            <a:pPr marL="12700" marR="5080"/>
            <a:endParaRPr lang="en-US" sz="1500" dirty="0">
              <a:solidFill>
                <a:schemeClr val="accent6"/>
              </a:solidFill>
              <a:latin typeface="Google Sans"/>
            </a:endParaRPr>
          </a:p>
          <a:p>
            <a:pPr marL="12700" marR="5080"/>
            <a:r>
              <a:rPr lang="en-US" sz="1800" dirty="0">
                <a:solidFill>
                  <a:schemeClr val="accent2"/>
                </a:solidFill>
                <a:latin typeface="Google Sans"/>
              </a:rPr>
              <a:t>Decision guidance: pick this when…</a:t>
            </a:r>
          </a:p>
          <a:p>
            <a:pPr marL="12700" marR="5080"/>
            <a:r>
              <a:rPr lang="en-US" sz="1500" dirty="0">
                <a:solidFill>
                  <a:schemeClr val="accent2"/>
                </a:solidFill>
                <a:latin typeface="Google Sans"/>
              </a:rPr>
              <a:t>Short bursts, in-process:</a:t>
            </a:r>
            <a:r>
              <a:rPr lang="en-US" sz="1500" dirty="0">
                <a:solidFill>
                  <a:schemeClr val="accent6"/>
                </a:solidFill>
                <a:latin typeface="Google Sans"/>
              </a:rPr>
              <a:t> Channels or </a:t>
            </a:r>
            <a:r>
              <a:rPr lang="en-US" sz="1500" dirty="0" err="1">
                <a:solidFill>
                  <a:schemeClr val="accent6"/>
                </a:solidFill>
                <a:latin typeface="Google Sans"/>
              </a:rPr>
              <a:t>ActionBlock</a:t>
            </a:r>
            <a:r>
              <a:rPr lang="en-US" sz="1500" dirty="0">
                <a:solidFill>
                  <a:schemeClr val="accent6"/>
                </a:solidFill>
                <a:latin typeface="Google Sans"/>
              </a:rPr>
              <a:t> (TPL Dataflow).</a:t>
            </a:r>
          </a:p>
          <a:p>
            <a:pPr marL="12700" marR="5080"/>
            <a:r>
              <a:rPr lang="en-US" sz="1500" dirty="0">
                <a:solidFill>
                  <a:schemeClr val="accent2"/>
                </a:solidFill>
                <a:latin typeface="Google Sans"/>
              </a:rPr>
              <a:t>Long-running async tasks: </a:t>
            </a:r>
            <a:r>
              <a:rPr lang="en-US" sz="1500" dirty="0">
                <a:solidFill>
                  <a:schemeClr val="accent6"/>
                </a:solidFill>
                <a:latin typeface="Google Sans"/>
              </a:rPr>
              <a:t>Channel + bounded capacity + concurrency limiter.</a:t>
            </a:r>
          </a:p>
          <a:p>
            <a:pPr marL="12700" marR="5080"/>
            <a:r>
              <a:rPr lang="en-US" sz="1500" dirty="0">
                <a:solidFill>
                  <a:schemeClr val="accent2"/>
                </a:solidFill>
                <a:latin typeface="Google Sans"/>
              </a:rPr>
              <a:t>High throughput pipelines: </a:t>
            </a:r>
            <a:r>
              <a:rPr lang="en-US" sz="1500" dirty="0">
                <a:solidFill>
                  <a:schemeClr val="accent6"/>
                </a:solidFill>
                <a:latin typeface="Google Sans"/>
              </a:rPr>
              <a:t>Kafka or persistent queue + consumer prefetch tuning.</a:t>
            </a:r>
          </a:p>
          <a:p>
            <a:pPr marL="12700" marR="5080"/>
            <a:r>
              <a:rPr lang="en-US" sz="1500" dirty="0">
                <a:solidFill>
                  <a:schemeClr val="accent2"/>
                </a:solidFill>
                <a:latin typeface="Google Sans"/>
              </a:rPr>
              <a:t>HTTP public facing: </a:t>
            </a:r>
            <a:r>
              <a:rPr lang="en-US" sz="1500" dirty="0">
                <a:solidFill>
                  <a:schemeClr val="accent6"/>
                </a:solidFill>
                <a:latin typeface="Google Sans"/>
              </a:rPr>
              <a:t>API Gateway / </a:t>
            </a:r>
            <a:r>
              <a:rPr lang="en-US" sz="1500" dirty="0" err="1">
                <a:solidFill>
                  <a:schemeClr val="accent6"/>
                </a:solidFill>
                <a:latin typeface="Google Sans"/>
              </a:rPr>
              <a:t>RateLimiter</a:t>
            </a:r>
            <a:r>
              <a:rPr lang="en-US" sz="1500" dirty="0">
                <a:solidFill>
                  <a:schemeClr val="accent6"/>
                </a:solidFill>
                <a:latin typeface="Google Sans"/>
              </a:rPr>
              <a:t> middleware + 429s + Retry-After.</a:t>
            </a:r>
          </a:p>
          <a:p>
            <a:pPr marL="12700" marR="5080"/>
            <a:r>
              <a:rPr lang="en-US" sz="1500" dirty="0">
                <a:solidFill>
                  <a:schemeClr val="accent2"/>
                </a:solidFill>
                <a:latin typeface="Google Sans"/>
              </a:rPr>
              <a:t>Unreliable downstream:</a:t>
            </a:r>
            <a:r>
              <a:rPr lang="en-US" sz="1500" dirty="0">
                <a:solidFill>
                  <a:schemeClr val="accent6"/>
                </a:solidFill>
                <a:latin typeface="Google Sans"/>
              </a:rPr>
              <a:t> Polly (circuit breaker + bulkhead).</a:t>
            </a:r>
          </a:p>
          <a:p>
            <a:pPr marL="12700" marR="5080"/>
            <a:r>
              <a:rPr lang="en-US" sz="1500" dirty="0">
                <a:solidFill>
                  <a:schemeClr val="accent2"/>
                </a:solidFill>
                <a:latin typeface="Google Sans"/>
              </a:rPr>
              <a:t>Need per-client fairness: </a:t>
            </a:r>
            <a:r>
              <a:rPr lang="en-US" sz="1500" dirty="0">
                <a:solidFill>
                  <a:schemeClr val="accent6"/>
                </a:solidFill>
                <a:latin typeface="Google Sans"/>
              </a:rPr>
              <a:t>token bucket per-client in gateway/proxy.</a:t>
            </a:r>
          </a:p>
          <a:p>
            <a:pPr marL="12700" marR="5080"/>
            <a:r>
              <a:rPr lang="en-US" sz="1500" dirty="0">
                <a:solidFill>
                  <a:schemeClr val="accent2"/>
                </a:solidFill>
                <a:latin typeface="Google Sans"/>
              </a:rPr>
              <a:t>Resource isolation by tenant / feature: </a:t>
            </a:r>
            <a:r>
              <a:rPr lang="en-US" sz="1500" dirty="0">
                <a:solidFill>
                  <a:schemeClr val="accent6"/>
                </a:solidFill>
                <a:latin typeface="Google Sans"/>
              </a:rPr>
              <a:t>bulkhead + priority queues.</a:t>
            </a:r>
          </a:p>
          <a:p>
            <a:pPr marL="12700" marR="5080"/>
            <a:endParaRPr lang="en-US" sz="1500" dirty="0">
              <a:solidFill>
                <a:schemeClr val="accent6"/>
              </a:solidFill>
              <a:latin typeface="Google Sans"/>
            </a:endParaRPr>
          </a:p>
        </p:txBody>
      </p:sp>
      <p:grpSp>
        <p:nvGrpSpPr>
          <p:cNvPr id="7" name="Group 6">
            <a:extLst>
              <a:ext uri="{FF2B5EF4-FFF2-40B4-BE49-F238E27FC236}">
                <a16:creationId xmlns:a16="http://schemas.microsoft.com/office/drawing/2014/main" id="{D97B9D6D-352A-BB80-C224-80436CCBDC9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85D66D6-71AB-B984-CF76-A2F64D0C681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30C6E218-A5C9-0BFC-EFE3-C01EA8BC2F5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1370470201"/>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3991E-CF49-75B1-0786-FA98BDC763E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DDA6601-11C1-A595-BF3E-E086D3BAD9A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47AED4B-E6FD-A4A6-D318-952C5EB9FC6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371F0C4-AD48-BF2F-02FD-A9D02F2797B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51E512A-4B6E-4E9D-E2FC-2D0E2A1F4F85}"/>
              </a:ext>
            </a:extLst>
          </p:cNvPr>
          <p:cNvSpPr txBox="1">
            <a:spLocks/>
          </p:cNvSpPr>
          <p:nvPr/>
        </p:nvSpPr>
        <p:spPr>
          <a:xfrm>
            <a:off x="76200" y="697468"/>
            <a:ext cx="8624937" cy="52629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Backpressure</a:t>
            </a:r>
          </a:p>
          <a:p>
            <a:pPr marL="12700" marR="5080"/>
            <a:r>
              <a:rPr lang="en-US" sz="1800" dirty="0">
                <a:solidFill>
                  <a:schemeClr val="accent2"/>
                </a:solidFill>
                <a:latin typeface="Google Sans"/>
              </a:rPr>
              <a:t>Observability, testing &amp; metrics you must collect</a:t>
            </a:r>
          </a:p>
          <a:p>
            <a:pPr marL="12700" marR="5080"/>
            <a:r>
              <a:rPr lang="en-US" sz="1500" dirty="0">
                <a:solidFill>
                  <a:schemeClr val="accent6"/>
                </a:solidFill>
                <a:latin typeface="Google Sans"/>
              </a:rPr>
              <a:t>Queue length, rate in/out, queue wait time, task processing time, retry counts, 429 rates, CPU/RAM, GC pressure.</a:t>
            </a:r>
          </a:p>
          <a:p>
            <a:pPr marL="12700" marR="5080"/>
            <a:r>
              <a:rPr lang="en-US" sz="1500" dirty="0">
                <a:solidFill>
                  <a:schemeClr val="accent6"/>
                </a:solidFill>
                <a:latin typeface="Google Sans"/>
              </a:rPr>
              <a:t>Use alerts on queue length and long-tail latency.</a:t>
            </a:r>
          </a:p>
          <a:p>
            <a:pPr marL="12700" marR="5080"/>
            <a:r>
              <a:rPr lang="en-US" sz="1500" dirty="0">
                <a:solidFill>
                  <a:schemeClr val="accent6"/>
                </a:solidFill>
                <a:latin typeface="Google Sans"/>
              </a:rPr>
              <a:t>Load-test (k6, JMeter) and chaos test overloading: verify backpressure works (no OOM, predictable errors).</a:t>
            </a:r>
          </a:p>
          <a:p>
            <a:pPr marL="12700" marR="5080"/>
            <a:r>
              <a:rPr lang="en-US" sz="1800" dirty="0">
                <a:solidFill>
                  <a:schemeClr val="accent2"/>
                </a:solidFill>
                <a:latin typeface="Google Sans"/>
              </a:rPr>
              <a:t>Common pitfalls</a:t>
            </a:r>
          </a:p>
          <a:p>
            <a:pPr marL="12700" marR="5080"/>
            <a:r>
              <a:rPr lang="en-US" sz="1500" dirty="0">
                <a:solidFill>
                  <a:schemeClr val="accent6"/>
                </a:solidFill>
                <a:latin typeface="Google Sans"/>
              </a:rPr>
              <a:t>Silent dropping without informing clients — leads to hard-to-troubleshoot data loss. Prefer explicit 429s with Retry-After when possible.</a:t>
            </a:r>
          </a:p>
          <a:p>
            <a:pPr marL="12700" marR="5080"/>
            <a:r>
              <a:rPr lang="en-US" sz="1500" dirty="0">
                <a:solidFill>
                  <a:schemeClr val="accent6"/>
                </a:solidFill>
                <a:latin typeface="Google Sans"/>
              </a:rPr>
              <a:t>Unbounded buffers — memory blowup under bursts.</a:t>
            </a:r>
          </a:p>
          <a:p>
            <a:pPr marL="12700" marR="5080"/>
            <a:r>
              <a:rPr lang="en-US" sz="1500" dirty="0">
                <a:solidFill>
                  <a:schemeClr val="accent6"/>
                </a:solidFill>
                <a:latin typeface="Google Sans"/>
              </a:rPr>
              <a:t>Blocking sync code in async pipelines — </a:t>
            </a:r>
            <a:r>
              <a:rPr lang="en-US" sz="1500" dirty="0" err="1">
                <a:solidFill>
                  <a:schemeClr val="accent6"/>
                </a:solidFill>
                <a:latin typeface="Google Sans"/>
              </a:rPr>
              <a:t>threadpool</a:t>
            </a:r>
            <a:r>
              <a:rPr lang="en-US" sz="1500" dirty="0">
                <a:solidFill>
                  <a:schemeClr val="accent6"/>
                </a:solidFill>
                <a:latin typeface="Google Sans"/>
              </a:rPr>
              <a:t> starvation.</a:t>
            </a:r>
          </a:p>
          <a:p>
            <a:pPr marL="12700" marR="5080"/>
            <a:r>
              <a:rPr lang="en-US" sz="1500" dirty="0">
                <a:solidFill>
                  <a:schemeClr val="accent6"/>
                </a:solidFill>
                <a:latin typeface="Google Sans"/>
              </a:rPr>
              <a:t>Retry storms — retries without jitter and backoff further overload systems.</a:t>
            </a:r>
          </a:p>
          <a:p>
            <a:pPr marL="12700" marR="5080"/>
            <a:r>
              <a:rPr lang="en-US" sz="1500" dirty="0">
                <a:solidFill>
                  <a:schemeClr val="accent6"/>
                </a:solidFill>
                <a:latin typeface="Google Sans"/>
              </a:rPr>
              <a:t>Incorrect prefetch — consumers that fetch too much and can't process cause memory usage spikes.</a:t>
            </a:r>
          </a:p>
          <a:p>
            <a:pPr marL="12700" marR="5080"/>
            <a:r>
              <a:rPr lang="en-US" sz="1500" dirty="0">
                <a:solidFill>
                  <a:schemeClr val="accent6"/>
                </a:solidFill>
                <a:latin typeface="Google Sans"/>
              </a:rPr>
              <a:t>Mixing many policies without order — e.g., retry before circuit-breaker may cause unnecessary failures if placed wrongly.</a:t>
            </a:r>
          </a:p>
          <a:p>
            <a:pPr marL="12700" marR="5080"/>
            <a:r>
              <a:rPr lang="en-US" sz="1800" dirty="0">
                <a:solidFill>
                  <a:schemeClr val="accent2"/>
                </a:solidFill>
                <a:latin typeface="Google Sans"/>
              </a:rPr>
              <a:t>Quick mapping table (scenario → recommended .NET technique)</a:t>
            </a:r>
          </a:p>
          <a:p>
            <a:pPr marL="12700" marR="5080"/>
            <a:r>
              <a:rPr lang="en-US" sz="1500" dirty="0">
                <a:solidFill>
                  <a:schemeClr val="accent2"/>
                </a:solidFill>
                <a:latin typeface="Google Sans"/>
              </a:rPr>
              <a:t>Microservice internal pipeline, low-latency: </a:t>
            </a:r>
            <a:r>
              <a:rPr lang="en-US" sz="1500" dirty="0">
                <a:solidFill>
                  <a:schemeClr val="accent6"/>
                </a:solidFill>
                <a:latin typeface="Google Sans"/>
              </a:rPr>
              <a:t>Channel&lt;T&gt; (bounded) + </a:t>
            </a:r>
            <a:r>
              <a:rPr lang="en-US" sz="1500" dirty="0" err="1">
                <a:solidFill>
                  <a:schemeClr val="accent6"/>
                </a:solidFill>
                <a:latin typeface="Google Sans"/>
              </a:rPr>
              <a:t>SemaphoreSlim</a:t>
            </a:r>
            <a:r>
              <a:rPr lang="en-US" sz="1500" dirty="0">
                <a:solidFill>
                  <a:schemeClr val="accent6"/>
                </a:solidFill>
                <a:latin typeface="Google Sans"/>
              </a:rPr>
              <a:t> concurrency</a:t>
            </a:r>
          </a:p>
          <a:p>
            <a:pPr marL="12700" marR="5080"/>
            <a:r>
              <a:rPr lang="en-US" sz="1500" dirty="0">
                <a:solidFill>
                  <a:schemeClr val="accent2"/>
                </a:solidFill>
                <a:latin typeface="Google Sans"/>
              </a:rPr>
              <a:t>CPU-bound parallel processing:</a:t>
            </a:r>
            <a:r>
              <a:rPr lang="en-US" sz="1500" dirty="0">
                <a:solidFill>
                  <a:schemeClr val="accent6"/>
                </a:solidFill>
                <a:latin typeface="Google Sans"/>
              </a:rPr>
              <a:t> TPL Dataflow (</a:t>
            </a:r>
            <a:r>
              <a:rPr lang="en-US" sz="1500" dirty="0" err="1">
                <a:solidFill>
                  <a:schemeClr val="accent6"/>
                </a:solidFill>
                <a:latin typeface="Google Sans"/>
              </a:rPr>
              <a:t>MaxDegreeOfParallelism</a:t>
            </a:r>
            <a:r>
              <a:rPr lang="en-US" sz="1500" dirty="0">
                <a:solidFill>
                  <a:schemeClr val="accent6"/>
                </a:solidFill>
                <a:latin typeface="Google Sans"/>
              </a:rPr>
              <a:t>)</a:t>
            </a:r>
          </a:p>
          <a:p>
            <a:pPr marL="12700" marR="5080"/>
            <a:r>
              <a:rPr lang="en-US" sz="1500" dirty="0">
                <a:solidFill>
                  <a:schemeClr val="accent2"/>
                </a:solidFill>
                <a:latin typeface="Google Sans"/>
              </a:rPr>
              <a:t>Public HTTP API: </a:t>
            </a:r>
            <a:r>
              <a:rPr lang="en-US" sz="1500" dirty="0">
                <a:solidFill>
                  <a:schemeClr val="accent6"/>
                </a:solidFill>
                <a:latin typeface="Google Sans"/>
              </a:rPr>
              <a:t>ASP.NET Core </a:t>
            </a:r>
            <a:r>
              <a:rPr lang="en-US" sz="1500" dirty="0" err="1">
                <a:solidFill>
                  <a:schemeClr val="accent6"/>
                </a:solidFill>
                <a:latin typeface="Google Sans"/>
              </a:rPr>
              <a:t>RateLimiter</a:t>
            </a:r>
            <a:r>
              <a:rPr lang="en-US" sz="1500" dirty="0">
                <a:solidFill>
                  <a:schemeClr val="accent6"/>
                </a:solidFill>
                <a:latin typeface="Google Sans"/>
              </a:rPr>
              <a:t> middleware + global circuit breaker</a:t>
            </a:r>
          </a:p>
          <a:p>
            <a:pPr marL="12700" marR="5080"/>
            <a:r>
              <a:rPr lang="en-US" sz="1500" dirty="0">
                <a:solidFill>
                  <a:schemeClr val="accent2"/>
                </a:solidFill>
                <a:latin typeface="Google Sans"/>
              </a:rPr>
              <a:t>Distributed high-throughput event stream: </a:t>
            </a:r>
            <a:r>
              <a:rPr lang="en-US" sz="1500" dirty="0">
                <a:solidFill>
                  <a:schemeClr val="accent6"/>
                </a:solidFill>
                <a:latin typeface="Google Sans"/>
              </a:rPr>
              <a:t>Kafka + tuned prefetch, consumer group scaling</a:t>
            </a:r>
          </a:p>
        </p:txBody>
      </p:sp>
      <p:grpSp>
        <p:nvGrpSpPr>
          <p:cNvPr id="7" name="Group 6">
            <a:extLst>
              <a:ext uri="{FF2B5EF4-FFF2-40B4-BE49-F238E27FC236}">
                <a16:creationId xmlns:a16="http://schemas.microsoft.com/office/drawing/2014/main" id="{1234E5EA-6782-4EFB-AA2B-1436C76C386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9509D81-2B20-E1E1-F217-2B6B4090F144}"/>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2D2CE2C-DE3A-B7BF-BF26-976191F12BF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910009793"/>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ECF18-E59D-38B7-5A38-40774CB37CD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944BBAD-CC1B-47FF-B067-279EA751E0A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C5C6EB2-98B1-CDD0-CFC3-E8A8FD2AB28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8DB2F1D-748A-2E69-67B6-6B1159E301B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A042B40-BB6A-B3A2-A51B-ECCDAF0F11CD}"/>
              </a:ext>
            </a:extLst>
          </p:cNvPr>
          <p:cNvSpPr txBox="1">
            <a:spLocks/>
          </p:cNvSpPr>
          <p:nvPr/>
        </p:nvSpPr>
        <p:spPr>
          <a:xfrm>
            <a:off x="76200" y="697468"/>
            <a:ext cx="8624937" cy="40626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Backpressure</a:t>
            </a:r>
          </a:p>
          <a:p>
            <a:pPr marL="12700" marR="5080"/>
            <a:r>
              <a:rPr lang="en-US" sz="1800" dirty="0">
                <a:solidFill>
                  <a:schemeClr val="accent2"/>
                </a:solidFill>
                <a:latin typeface="Google Sans"/>
              </a:rPr>
              <a:t>Quick mapping table (scenario → recommended .NET technique)</a:t>
            </a:r>
          </a:p>
          <a:p>
            <a:pPr marL="12700" marR="5080"/>
            <a:r>
              <a:rPr lang="en-US" sz="1500" dirty="0">
                <a:solidFill>
                  <a:schemeClr val="accent2"/>
                </a:solidFill>
                <a:latin typeface="Google Sans"/>
              </a:rPr>
              <a:t>Durable async work acceptance (surge handling): </a:t>
            </a:r>
            <a:r>
              <a:rPr lang="en-US" sz="1500" dirty="0">
                <a:solidFill>
                  <a:schemeClr val="accent6"/>
                </a:solidFill>
                <a:latin typeface="Google Sans"/>
              </a:rPr>
              <a:t>API returns 202 + enqueue to broker</a:t>
            </a:r>
          </a:p>
          <a:p>
            <a:pPr marL="12700" marR="5080"/>
            <a:r>
              <a:rPr lang="en-US" sz="1500" dirty="0">
                <a:solidFill>
                  <a:schemeClr val="accent2"/>
                </a:solidFill>
                <a:latin typeface="Google Sans"/>
              </a:rPr>
              <a:t>Protect third-party API: </a:t>
            </a:r>
            <a:r>
              <a:rPr lang="en-US" sz="1500" dirty="0">
                <a:solidFill>
                  <a:schemeClr val="accent6"/>
                </a:solidFill>
                <a:latin typeface="Google Sans"/>
              </a:rPr>
              <a:t>Polly (circuit breaker + rate limit)</a:t>
            </a:r>
          </a:p>
          <a:p>
            <a:pPr marL="12700" marR="5080"/>
            <a:r>
              <a:rPr lang="en-US" sz="1500" dirty="0">
                <a:solidFill>
                  <a:schemeClr val="accent2"/>
                </a:solidFill>
                <a:latin typeface="Google Sans"/>
              </a:rPr>
              <a:t>GUI client apps to avoid UI freeze:</a:t>
            </a:r>
            <a:r>
              <a:rPr lang="en-US" sz="1500" dirty="0">
                <a:solidFill>
                  <a:schemeClr val="accent6"/>
                </a:solidFill>
                <a:latin typeface="Google Sans"/>
              </a:rPr>
              <a:t> use Channel + small concurrency + feedback to user</a:t>
            </a:r>
          </a:p>
          <a:p>
            <a:pPr marL="12700" marR="5080"/>
            <a:r>
              <a:rPr lang="en-US" sz="1500" dirty="0">
                <a:solidFill>
                  <a:schemeClr val="accent2"/>
                </a:solidFill>
                <a:latin typeface="Google Sans"/>
              </a:rPr>
              <a:t>IoT telemetry bursts: </a:t>
            </a:r>
            <a:r>
              <a:rPr lang="en-US" sz="1500" dirty="0">
                <a:solidFill>
                  <a:schemeClr val="accent6"/>
                </a:solidFill>
                <a:latin typeface="Google Sans"/>
              </a:rPr>
              <a:t>local disk spool + uploader with backoff</a:t>
            </a:r>
          </a:p>
          <a:p>
            <a:pPr marL="12700" marR="5080"/>
            <a:endParaRPr lang="en-US" sz="1500" dirty="0">
              <a:solidFill>
                <a:schemeClr val="accent6"/>
              </a:solidFill>
              <a:latin typeface="Google Sans"/>
            </a:endParaRPr>
          </a:p>
          <a:p>
            <a:pPr marL="12700" marR="5080"/>
            <a:r>
              <a:rPr lang="en-US" sz="1800" dirty="0">
                <a:solidFill>
                  <a:schemeClr val="accent2"/>
                </a:solidFill>
                <a:latin typeface="Google Sans"/>
              </a:rPr>
              <a:t>Implementation checklist (when building backpressure)</a:t>
            </a:r>
          </a:p>
          <a:p>
            <a:pPr marL="12700" marR="5080"/>
            <a:r>
              <a:rPr lang="en-US" sz="1500" dirty="0">
                <a:solidFill>
                  <a:schemeClr val="accent6"/>
                </a:solidFill>
                <a:latin typeface="Google Sans"/>
              </a:rPr>
              <a:t>Set bounded capacity for every in-process queue.</a:t>
            </a:r>
          </a:p>
          <a:p>
            <a:pPr marL="12700" marR="5080"/>
            <a:r>
              <a:rPr lang="en-US" sz="1500" dirty="0">
                <a:solidFill>
                  <a:schemeClr val="accent6"/>
                </a:solidFill>
                <a:latin typeface="Google Sans"/>
              </a:rPr>
              <a:t>Decide policy when full: Block / Drop oldest/newest / Reject (and return error).</a:t>
            </a:r>
          </a:p>
          <a:p>
            <a:pPr marL="12700" marR="5080"/>
            <a:r>
              <a:rPr lang="en-US" sz="1500" dirty="0">
                <a:solidFill>
                  <a:schemeClr val="accent6"/>
                </a:solidFill>
                <a:latin typeface="Google Sans"/>
              </a:rPr>
              <a:t>Provide explicit feedback to clients (429 + Retry-After, or status endpoint).</a:t>
            </a:r>
          </a:p>
          <a:p>
            <a:pPr marL="12700" marR="5080"/>
            <a:r>
              <a:rPr lang="en-US" sz="1500" dirty="0">
                <a:solidFill>
                  <a:schemeClr val="accent6"/>
                </a:solidFill>
                <a:latin typeface="Google Sans"/>
              </a:rPr>
              <a:t>Use exponential backoff + jitter for retries.</a:t>
            </a:r>
          </a:p>
          <a:p>
            <a:pPr marL="12700" marR="5080"/>
            <a:r>
              <a:rPr lang="en-US" sz="1500" dirty="0">
                <a:solidFill>
                  <a:schemeClr val="accent6"/>
                </a:solidFill>
                <a:latin typeface="Google Sans"/>
              </a:rPr>
              <a:t>Monitor queue lengths and processing latency; </a:t>
            </a:r>
            <a:r>
              <a:rPr lang="en-US" sz="1500" dirty="0" err="1">
                <a:solidFill>
                  <a:schemeClr val="accent6"/>
                </a:solidFill>
                <a:latin typeface="Google Sans"/>
              </a:rPr>
              <a:t>autoscale</a:t>
            </a:r>
            <a:r>
              <a:rPr lang="en-US" sz="1500" dirty="0">
                <a:solidFill>
                  <a:schemeClr val="accent6"/>
                </a:solidFill>
                <a:latin typeface="Google Sans"/>
              </a:rPr>
              <a:t> when appropriate.</a:t>
            </a:r>
          </a:p>
          <a:p>
            <a:pPr marL="12700" marR="5080"/>
            <a:r>
              <a:rPr lang="en-US" sz="1500" dirty="0">
                <a:solidFill>
                  <a:schemeClr val="accent6"/>
                </a:solidFill>
                <a:latin typeface="Google Sans"/>
              </a:rPr>
              <a:t>Isolate workloads (bulkheads) to avoid cross-impact.</a:t>
            </a:r>
          </a:p>
          <a:p>
            <a:pPr marL="12700" marR="5080"/>
            <a:r>
              <a:rPr lang="en-US" sz="1500" dirty="0">
                <a:solidFill>
                  <a:schemeClr val="accent6"/>
                </a:solidFill>
                <a:latin typeface="Google Sans"/>
              </a:rPr>
              <a:t>Test with realistic bursts and failure modes.</a:t>
            </a:r>
          </a:p>
        </p:txBody>
      </p:sp>
      <p:grpSp>
        <p:nvGrpSpPr>
          <p:cNvPr id="7" name="Group 6">
            <a:extLst>
              <a:ext uri="{FF2B5EF4-FFF2-40B4-BE49-F238E27FC236}">
                <a16:creationId xmlns:a16="http://schemas.microsoft.com/office/drawing/2014/main" id="{E92A2DDB-AFEC-A18F-34D9-9CB4C9EFF52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45D1BB76-8340-DCD9-D7BE-1F73E218853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6438B92-9841-37F0-190A-0195FFF497E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903238565"/>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923B4-AF4D-7DC9-DA04-D412C3AF252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16D3758-1FCE-D946-DCE3-C89D5FB63FC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A1F7792-82ED-A34A-7BD4-60544C4C010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7448492-065B-C25A-27E0-FA26DBB3355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6CA07D7-FC48-753C-6A3D-17455D873FBF}"/>
              </a:ext>
            </a:extLst>
          </p:cNvPr>
          <p:cNvSpPr txBox="1">
            <a:spLocks/>
          </p:cNvSpPr>
          <p:nvPr/>
        </p:nvSpPr>
        <p:spPr>
          <a:xfrm>
            <a:off x="76200" y="697468"/>
            <a:ext cx="8624937" cy="15542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Checkpointing and Recovery</a:t>
            </a:r>
          </a:p>
          <a:p>
            <a:pPr marL="12700" marR="5080"/>
            <a:r>
              <a:rPr lang="en-US" sz="1500" dirty="0">
                <a:solidFill>
                  <a:schemeClr val="accent6"/>
                </a:solidFill>
                <a:latin typeface="Google Sans"/>
              </a:rPr>
              <a:t>Checkpointing and recovery are critical techniques in distributed systems for resiliency, allowing a system to resume operation from a known safe state after a crash. Due to the lack of shared memory and a global clock, checkpointing requires coordinating processes to ensure consistency. </a:t>
            </a:r>
          </a:p>
          <a:p>
            <a:pPr marL="12700" marR="5080"/>
            <a:r>
              <a:rPr lang="en-US" sz="1800" dirty="0">
                <a:solidFill>
                  <a:schemeClr val="accent2"/>
                </a:solidFill>
                <a:latin typeface="Google Sans"/>
              </a:rPr>
              <a:t>Checkpointing Techniques Classification</a:t>
            </a:r>
          </a:p>
        </p:txBody>
      </p:sp>
      <p:grpSp>
        <p:nvGrpSpPr>
          <p:cNvPr id="7" name="Group 6">
            <a:extLst>
              <a:ext uri="{FF2B5EF4-FFF2-40B4-BE49-F238E27FC236}">
                <a16:creationId xmlns:a16="http://schemas.microsoft.com/office/drawing/2014/main" id="{6E21944D-9833-6074-4104-9A6992493AD4}"/>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9908CAA0-0A57-D593-35E1-D8501DB025A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1E2CAE81-D030-41A4-3589-51B02B48D19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pic>
        <p:nvPicPr>
          <p:cNvPr id="10" name="Picture 9">
            <a:extLst>
              <a:ext uri="{FF2B5EF4-FFF2-40B4-BE49-F238E27FC236}">
                <a16:creationId xmlns:a16="http://schemas.microsoft.com/office/drawing/2014/main" id="{4A2FB1F3-BDB7-032A-854C-3C4EB7FD79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2387417"/>
            <a:ext cx="8839200" cy="3556183"/>
          </a:xfrm>
          <a:prstGeom prst="rect">
            <a:avLst/>
          </a:prstGeom>
        </p:spPr>
      </p:pic>
    </p:spTree>
    <p:extLst>
      <p:ext uri="{BB962C8B-B14F-4D97-AF65-F5344CB8AC3E}">
        <p14:creationId xmlns:p14="http://schemas.microsoft.com/office/powerpoint/2010/main" val="3276851972"/>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C091D-D12F-30DC-4430-D41654DC1E7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3D9F5BC-47FF-162F-3D27-D1917BFEC01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7234403-CBB6-34D5-2727-D1B77CBBF7F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628B625-2E48-931E-5667-9E178012B4A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3D07D85-45AA-7A70-D36D-A75045490602}"/>
              </a:ext>
            </a:extLst>
          </p:cNvPr>
          <p:cNvSpPr txBox="1">
            <a:spLocks/>
          </p:cNvSpPr>
          <p:nvPr/>
        </p:nvSpPr>
        <p:spPr>
          <a:xfrm>
            <a:off x="76200" y="697468"/>
            <a:ext cx="8624937" cy="12003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Checkpointing and Recovery</a:t>
            </a:r>
          </a:p>
          <a:p>
            <a:pPr marL="12700" marR="5080"/>
            <a:r>
              <a:rPr lang="en-US" sz="1600" dirty="0">
                <a:solidFill>
                  <a:schemeClr val="accent2"/>
                </a:solidFill>
                <a:latin typeface="Google Sans"/>
              </a:rPr>
              <a:t>Checkpointing Techniques Classification</a:t>
            </a:r>
          </a:p>
          <a:p>
            <a:pPr marL="12700" marR="5080"/>
            <a:endParaRPr lang="en-US" sz="2400" kern="0" spc="-80" dirty="0">
              <a:solidFill>
                <a:schemeClr val="accent2"/>
              </a:solidFill>
            </a:endParaRPr>
          </a:p>
        </p:txBody>
      </p:sp>
      <p:grpSp>
        <p:nvGrpSpPr>
          <p:cNvPr id="7" name="Group 6">
            <a:extLst>
              <a:ext uri="{FF2B5EF4-FFF2-40B4-BE49-F238E27FC236}">
                <a16:creationId xmlns:a16="http://schemas.microsoft.com/office/drawing/2014/main" id="{15ED8B4F-68E6-EC9A-B66A-0104F9B8083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A563AF2-DF8B-8B63-5E65-06DE51DA76D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6007E2C3-10CF-3A24-34FD-E3D2E7415F0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pic>
        <p:nvPicPr>
          <p:cNvPr id="11" name="Picture 10">
            <a:extLst>
              <a:ext uri="{FF2B5EF4-FFF2-40B4-BE49-F238E27FC236}">
                <a16:creationId xmlns:a16="http://schemas.microsoft.com/office/drawing/2014/main" id="{0E73F09B-ED0E-E1E1-6F8B-470124998F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54" y="1512727"/>
            <a:ext cx="9022889" cy="406421"/>
          </a:xfrm>
          <a:prstGeom prst="rect">
            <a:avLst/>
          </a:prstGeom>
        </p:spPr>
      </p:pic>
      <p:pic>
        <p:nvPicPr>
          <p:cNvPr id="13" name="Picture 12">
            <a:extLst>
              <a:ext uri="{FF2B5EF4-FFF2-40B4-BE49-F238E27FC236}">
                <a16:creationId xmlns:a16="http://schemas.microsoft.com/office/drawing/2014/main" id="{9096E65D-2AFA-6454-919D-E1366B817F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64" y="1897797"/>
            <a:ext cx="8776148" cy="1810582"/>
          </a:xfrm>
          <a:prstGeom prst="rect">
            <a:avLst/>
          </a:prstGeom>
        </p:spPr>
      </p:pic>
      <p:sp>
        <p:nvSpPr>
          <p:cNvPr id="14" name="object 2">
            <a:extLst>
              <a:ext uri="{FF2B5EF4-FFF2-40B4-BE49-F238E27FC236}">
                <a16:creationId xmlns:a16="http://schemas.microsoft.com/office/drawing/2014/main" id="{F3C05F56-C1FD-2579-B99E-9FF8B20E20A2}"/>
              </a:ext>
            </a:extLst>
          </p:cNvPr>
          <p:cNvSpPr txBox="1">
            <a:spLocks/>
          </p:cNvSpPr>
          <p:nvPr/>
        </p:nvSpPr>
        <p:spPr>
          <a:xfrm>
            <a:off x="138063" y="3837801"/>
            <a:ext cx="8624937" cy="27699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Checkpointing Methods</a:t>
            </a:r>
          </a:p>
        </p:txBody>
      </p:sp>
      <p:pic>
        <p:nvPicPr>
          <p:cNvPr id="16" name="Picture 15">
            <a:extLst>
              <a:ext uri="{FF2B5EF4-FFF2-40B4-BE49-F238E27FC236}">
                <a16:creationId xmlns:a16="http://schemas.microsoft.com/office/drawing/2014/main" id="{9F69E123-520F-8F83-306E-582BEDDB71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 y="4126863"/>
            <a:ext cx="8991599" cy="1816737"/>
          </a:xfrm>
          <a:prstGeom prst="rect">
            <a:avLst/>
          </a:prstGeom>
        </p:spPr>
      </p:pic>
    </p:spTree>
    <p:extLst>
      <p:ext uri="{BB962C8B-B14F-4D97-AF65-F5344CB8AC3E}">
        <p14:creationId xmlns:p14="http://schemas.microsoft.com/office/powerpoint/2010/main" val="3761831363"/>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BF351-7AAC-B7CB-4564-61339E7D5DE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BEF82EC-F375-DD0A-762B-78FB6C899A6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B9B62EC-CC95-0BC5-DE0A-172BECB0E3E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4159EF8-111B-52E4-A61A-52D8553D68C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5635FD6-CECC-A2AD-5A2B-F2C39736461A}"/>
              </a:ext>
            </a:extLst>
          </p:cNvPr>
          <p:cNvSpPr txBox="1">
            <a:spLocks/>
          </p:cNvSpPr>
          <p:nvPr/>
        </p:nvSpPr>
        <p:spPr>
          <a:xfrm>
            <a:off x="76200" y="697468"/>
            <a:ext cx="8624937" cy="8617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Checkpointing and Recovery</a:t>
            </a:r>
          </a:p>
          <a:p>
            <a:pPr marL="12700" marR="5080"/>
            <a:r>
              <a:rPr lang="en-US" sz="1600" kern="0" spc="-80" dirty="0">
                <a:solidFill>
                  <a:schemeClr val="accent2"/>
                </a:solidFill>
              </a:rPr>
              <a:t>Checkpointing Methods</a:t>
            </a:r>
          </a:p>
        </p:txBody>
      </p:sp>
      <p:grpSp>
        <p:nvGrpSpPr>
          <p:cNvPr id="7" name="Group 6">
            <a:extLst>
              <a:ext uri="{FF2B5EF4-FFF2-40B4-BE49-F238E27FC236}">
                <a16:creationId xmlns:a16="http://schemas.microsoft.com/office/drawing/2014/main" id="{F468892F-5BCA-8F46-BAA5-5B17BC412BD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46D81FB-44A8-18B5-A969-9143EA3464B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B06CE2E2-DA5E-38B8-304D-92F74D07A43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pic>
        <p:nvPicPr>
          <p:cNvPr id="18" name="Picture 17">
            <a:extLst>
              <a:ext uri="{FF2B5EF4-FFF2-40B4-BE49-F238E27FC236}">
                <a16:creationId xmlns:a16="http://schemas.microsoft.com/office/drawing/2014/main" id="{5DDA6BA2-9019-B41F-81FB-21540C874E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534320"/>
            <a:ext cx="8991600" cy="481254"/>
          </a:xfrm>
          <a:prstGeom prst="rect">
            <a:avLst/>
          </a:prstGeom>
        </p:spPr>
      </p:pic>
      <p:pic>
        <p:nvPicPr>
          <p:cNvPr id="20" name="Picture 19">
            <a:extLst>
              <a:ext uri="{FF2B5EF4-FFF2-40B4-BE49-F238E27FC236}">
                <a16:creationId xmlns:a16="http://schemas.microsoft.com/office/drawing/2014/main" id="{3447D923-F572-5FE1-CDC6-9B690B1D1D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2049230"/>
            <a:ext cx="8624937" cy="2827570"/>
          </a:xfrm>
          <a:prstGeom prst="rect">
            <a:avLst/>
          </a:prstGeom>
        </p:spPr>
      </p:pic>
      <p:sp>
        <p:nvSpPr>
          <p:cNvPr id="21" name="object 2">
            <a:extLst>
              <a:ext uri="{FF2B5EF4-FFF2-40B4-BE49-F238E27FC236}">
                <a16:creationId xmlns:a16="http://schemas.microsoft.com/office/drawing/2014/main" id="{FF90CF36-3F17-51B5-22F7-29ABD2769595}"/>
              </a:ext>
            </a:extLst>
          </p:cNvPr>
          <p:cNvSpPr txBox="1">
            <a:spLocks/>
          </p:cNvSpPr>
          <p:nvPr/>
        </p:nvSpPr>
        <p:spPr>
          <a:xfrm>
            <a:off x="76200" y="4974104"/>
            <a:ext cx="8624937" cy="9694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Log Based Rollback Recovery</a:t>
            </a:r>
          </a:p>
          <a:p>
            <a:pPr marL="12700" marR="5080"/>
            <a:r>
              <a:rPr lang="en-US" sz="1500" dirty="0">
                <a:solidFill>
                  <a:schemeClr val="accent6"/>
                </a:solidFill>
                <a:latin typeface="Google Sans"/>
              </a:rPr>
              <a:t>Log-based recovery combines checkpointing with logging messages to reconstruct a system state beyond the last checkpoint. It relies on the Piecewise Deterministic (PWD) assumption: any non-deterministic event can be logged. </a:t>
            </a:r>
          </a:p>
        </p:txBody>
      </p:sp>
    </p:spTree>
    <p:extLst>
      <p:ext uri="{BB962C8B-B14F-4D97-AF65-F5344CB8AC3E}">
        <p14:creationId xmlns:p14="http://schemas.microsoft.com/office/powerpoint/2010/main" val="1483187967"/>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BF93D-6974-33A6-9278-0A9ADAD6DB5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5FC3B88-2BE3-123F-41B7-699EA483C07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48A7CD4-0FC7-592C-0D0D-3339803142E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5E119B8-FEEB-1139-CBE8-D862E1522C3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6BF8C96-786A-A189-416D-279206769540}"/>
              </a:ext>
            </a:extLst>
          </p:cNvPr>
          <p:cNvSpPr txBox="1">
            <a:spLocks/>
          </p:cNvSpPr>
          <p:nvPr/>
        </p:nvSpPr>
        <p:spPr>
          <a:xfrm>
            <a:off x="76200" y="697468"/>
            <a:ext cx="8624937" cy="123110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Checkpointing and Recovery</a:t>
            </a:r>
          </a:p>
          <a:p>
            <a:pPr marL="12700" marR="5080"/>
            <a:r>
              <a:rPr lang="en-US" sz="1600" kern="0" spc="-80" dirty="0">
                <a:solidFill>
                  <a:schemeClr val="accent2"/>
                </a:solidFill>
              </a:rPr>
              <a:t>Log Based Rollback Recovery</a:t>
            </a:r>
          </a:p>
          <a:p>
            <a:pPr marL="12700" marR="5080"/>
            <a:endParaRPr lang="en-US" sz="2400" kern="0" spc="-80" dirty="0">
              <a:solidFill>
                <a:schemeClr val="accent2"/>
              </a:solidFill>
            </a:endParaRPr>
          </a:p>
        </p:txBody>
      </p:sp>
      <p:grpSp>
        <p:nvGrpSpPr>
          <p:cNvPr id="7" name="Group 6">
            <a:extLst>
              <a:ext uri="{FF2B5EF4-FFF2-40B4-BE49-F238E27FC236}">
                <a16:creationId xmlns:a16="http://schemas.microsoft.com/office/drawing/2014/main" id="{DDDF712E-0497-06FE-7B54-DA93BA2FDC2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63B93B0-E282-C42A-1B15-BD3E4F85726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3036A306-2733-910C-94BA-A33424EFCB3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pic>
        <p:nvPicPr>
          <p:cNvPr id="10" name="Picture 9">
            <a:extLst>
              <a:ext uri="{FF2B5EF4-FFF2-40B4-BE49-F238E27FC236}">
                <a16:creationId xmlns:a16="http://schemas.microsoft.com/office/drawing/2014/main" id="{DDC7CF5B-44F2-B71C-D5B4-7A378EB77E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51" y="1515904"/>
            <a:ext cx="8839200" cy="3818096"/>
          </a:xfrm>
          <a:prstGeom prst="rect">
            <a:avLst/>
          </a:prstGeom>
        </p:spPr>
      </p:pic>
    </p:spTree>
    <p:extLst>
      <p:ext uri="{BB962C8B-B14F-4D97-AF65-F5344CB8AC3E}">
        <p14:creationId xmlns:p14="http://schemas.microsoft.com/office/powerpoint/2010/main" val="3028511172"/>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332E7-7990-2B04-26C0-C8CEDE3188A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B87DB8C-EDC0-417A-74B3-358BD4B5F38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A325BDB-A49A-56CD-6120-2FF8C35A264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B038018-F087-6C28-FF09-95A03DD018C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F81F2B9-85AF-77F8-EED3-0F91632989D4}"/>
              </a:ext>
            </a:extLst>
          </p:cNvPr>
          <p:cNvSpPr txBox="1">
            <a:spLocks/>
          </p:cNvSpPr>
          <p:nvPr/>
        </p:nvSpPr>
        <p:spPr>
          <a:xfrm>
            <a:off x="76200" y="697468"/>
            <a:ext cx="8624937" cy="40626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Server-Side Resiliency Patterns – A bit more in Detail</a:t>
            </a:r>
          </a:p>
          <a:p>
            <a:pPr marL="12700" marR="5080"/>
            <a:r>
              <a:rPr lang="en-US" sz="1800" kern="0" spc="-80" dirty="0">
                <a:solidFill>
                  <a:schemeClr val="accent2"/>
                </a:solidFill>
              </a:rPr>
              <a:t>Checkpointing and Recovery</a:t>
            </a:r>
          </a:p>
          <a:p>
            <a:pPr marL="12700" marR="5080"/>
            <a:r>
              <a:rPr lang="en-US" sz="1800" dirty="0">
                <a:solidFill>
                  <a:schemeClr val="accent2"/>
                </a:solidFill>
                <a:latin typeface="Google Sans"/>
              </a:rPr>
              <a:t>Key Concepts in Recovery</a:t>
            </a:r>
          </a:p>
          <a:p>
            <a:pPr marL="12700" marR="5080"/>
            <a:r>
              <a:rPr lang="en-US" sz="1500" dirty="0">
                <a:solidFill>
                  <a:schemeClr val="accent2"/>
                </a:solidFill>
                <a:latin typeface="Google Sans"/>
              </a:rPr>
              <a:t>Domino Effect: </a:t>
            </a:r>
            <a:r>
              <a:rPr lang="en-US" sz="1500" dirty="0">
                <a:solidFill>
                  <a:schemeClr val="accent6"/>
                </a:solidFill>
                <a:latin typeface="Google Sans"/>
              </a:rPr>
              <a:t>A scenario where independent, uncoordinated checkpoints fail to provide a consistent state, forcing processes to roll back to the very beginning.</a:t>
            </a:r>
          </a:p>
          <a:p>
            <a:pPr marL="12700" marR="5080"/>
            <a:r>
              <a:rPr lang="en-US" sz="1500" dirty="0">
                <a:solidFill>
                  <a:schemeClr val="accent2"/>
                </a:solidFill>
                <a:latin typeface="Google Sans"/>
              </a:rPr>
              <a:t>Consistent Global Checkpoint:</a:t>
            </a:r>
            <a:r>
              <a:rPr lang="en-US" sz="1500" dirty="0">
                <a:solidFill>
                  <a:schemeClr val="accent6"/>
                </a:solidFill>
                <a:latin typeface="Google Sans"/>
              </a:rPr>
              <a:t> A set of local checkpoints, one from each process, such that no message received in a checkpoint was sent after the corresponding sender's checkpoint.</a:t>
            </a:r>
          </a:p>
          <a:p>
            <a:pPr marL="12700" marR="5080"/>
            <a:r>
              <a:rPr lang="en-US" sz="1500" dirty="0">
                <a:solidFill>
                  <a:schemeClr val="accent2"/>
                </a:solidFill>
                <a:latin typeface="Google Sans"/>
              </a:rPr>
              <a:t>Recovery Line: </a:t>
            </a:r>
            <a:r>
              <a:rPr lang="en-US" sz="1500" dirty="0">
                <a:solidFill>
                  <a:schemeClr val="accent6"/>
                </a:solidFill>
                <a:latin typeface="Google Sans"/>
              </a:rPr>
              <a:t>The most recent consistent global checkpoint.</a:t>
            </a:r>
          </a:p>
          <a:p>
            <a:pPr marL="12700" marR="5080"/>
            <a:r>
              <a:rPr lang="en-US" sz="1500" dirty="0">
                <a:solidFill>
                  <a:schemeClr val="accent6"/>
                </a:solidFill>
                <a:latin typeface="Google Sans"/>
              </a:rPr>
              <a:t>Orphan Message: A message that was received, but its sending event was lost due to a crash and rollback.</a:t>
            </a:r>
          </a:p>
          <a:p>
            <a:pPr marL="12700" marR="5080"/>
            <a:r>
              <a:rPr lang="en-US" sz="1500" dirty="0">
                <a:solidFill>
                  <a:schemeClr val="accent2"/>
                </a:solidFill>
                <a:latin typeface="Google Sans"/>
              </a:rPr>
              <a:t>Stable Storage:</a:t>
            </a:r>
            <a:r>
              <a:rPr lang="en-US" sz="1500" dirty="0">
                <a:solidFill>
                  <a:schemeClr val="accent6"/>
                </a:solidFill>
                <a:latin typeface="Google Sans"/>
              </a:rPr>
              <a:t> Storage that survives system failures (e.g., redundant disks). </a:t>
            </a:r>
          </a:p>
          <a:p>
            <a:pPr marL="12700" marR="5080"/>
            <a:endParaRPr lang="en-US" sz="1500" dirty="0">
              <a:solidFill>
                <a:schemeClr val="accent6"/>
              </a:solidFill>
              <a:latin typeface="Google Sans"/>
            </a:endParaRPr>
          </a:p>
          <a:p>
            <a:pPr marL="12700" marR="5080"/>
            <a:r>
              <a:rPr lang="en-US" sz="1800" dirty="0">
                <a:solidFill>
                  <a:schemeClr val="accent2"/>
                </a:solidFill>
                <a:latin typeface="Google Sans"/>
              </a:rPr>
              <a:t>Other Advanced Techniques</a:t>
            </a:r>
          </a:p>
          <a:p>
            <a:pPr marL="12700" marR="5080"/>
            <a:r>
              <a:rPr lang="en-US" sz="1500" dirty="0">
                <a:solidFill>
                  <a:schemeClr val="accent2"/>
                </a:solidFill>
                <a:latin typeface="Google Sans"/>
              </a:rPr>
              <a:t>Incremental Checkpointing: </a:t>
            </a:r>
            <a:r>
              <a:rPr lang="en-US" sz="1500" dirty="0">
                <a:solidFill>
                  <a:schemeClr val="accent6"/>
                </a:solidFill>
                <a:latin typeface="Google Sans"/>
              </a:rPr>
              <a:t>Instead of saving the entire state, only the differences (deltas) since the last checkpoint are saved to reduce storage costs.</a:t>
            </a:r>
          </a:p>
          <a:p>
            <a:pPr marL="12700" marR="5080"/>
            <a:r>
              <a:rPr lang="en-US" sz="1500" dirty="0">
                <a:solidFill>
                  <a:schemeClr val="accent2"/>
                </a:solidFill>
                <a:latin typeface="Google Sans"/>
              </a:rPr>
              <a:t>Sender-Based Logging: </a:t>
            </a:r>
            <a:r>
              <a:rPr lang="en-US" sz="1500" dirty="0">
                <a:solidFill>
                  <a:schemeClr val="accent6"/>
                </a:solidFill>
                <a:latin typeface="Google Sans"/>
              </a:rPr>
              <a:t>Instead of the receiver logging, the sender stores the message in its own log, reducing receiver storage demands (important for mobile devices). </a:t>
            </a:r>
          </a:p>
        </p:txBody>
      </p:sp>
      <p:grpSp>
        <p:nvGrpSpPr>
          <p:cNvPr id="7" name="Group 6">
            <a:extLst>
              <a:ext uri="{FF2B5EF4-FFF2-40B4-BE49-F238E27FC236}">
                <a16:creationId xmlns:a16="http://schemas.microsoft.com/office/drawing/2014/main" id="{3B2F49FE-9991-551F-F02B-DC82A66B15B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F918880-BE05-50A6-F782-6DE10E61461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827D072D-BCB4-6EBF-3901-228B950EBAC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Fault Tolerance And Resiliency</a:t>
              </a:r>
              <a:endParaRPr lang="en-US" sz="2500" kern="1200" dirty="0">
                <a:solidFill>
                  <a:schemeClr val="bg1"/>
                </a:solidFill>
              </a:endParaRPr>
            </a:p>
          </p:txBody>
        </p:sp>
      </p:grpSp>
    </p:spTree>
    <p:extLst>
      <p:ext uri="{BB962C8B-B14F-4D97-AF65-F5344CB8AC3E}">
        <p14:creationId xmlns:p14="http://schemas.microsoft.com/office/powerpoint/2010/main" val="3942726782"/>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72055-5939-09B0-221A-452FCBF2E61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9361C0F-C022-6C5D-A580-6FD2BAC83CE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7A27FA4-84AF-A889-095B-7938CBA0EFD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088E162-0F80-937C-7D17-9C102A4DB49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C45B370-E2DE-4CFE-3B6E-C31C6546CB0E}"/>
              </a:ext>
            </a:extLst>
          </p:cNvPr>
          <p:cNvSpPr txBox="1">
            <a:spLocks/>
          </p:cNvSpPr>
          <p:nvPr/>
        </p:nvSpPr>
        <p:spPr>
          <a:xfrm>
            <a:off x="76200" y="697468"/>
            <a:ext cx="8624937" cy="118494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solidFill>
                  <a:schemeClr val="accent6"/>
                </a:solidFill>
                <a:latin typeface="Google Sans"/>
              </a:rPr>
              <a:t>Burst traffic handling in distributed systems involves a combination of proactive (planning) and reactive (runtime) strategies to manage sudden spikes in user demand without overloading infrastructure. These techniques prevent performance degradation, cascading failures, and system crashes.</a:t>
            </a:r>
          </a:p>
          <a:p>
            <a:pPr marL="12700" marR="5080"/>
            <a:endParaRPr lang="en-US" sz="1500" dirty="0">
              <a:solidFill>
                <a:schemeClr val="accent6"/>
              </a:solidFill>
              <a:latin typeface="Google Sans"/>
            </a:endParaRPr>
          </a:p>
          <a:p>
            <a:pPr marL="12700" marR="5080"/>
            <a:r>
              <a:rPr lang="en-US" sz="1700" dirty="0">
                <a:solidFill>
                  <a:schemeClr val="accent2"/>
                </a:solidFill>
                <a:latin typeface="Google Sans"/>
              </a:rPr>
              <a:t>Techniques</a:t>
            </a:r>
          </a:p>
        </p:txBody>
      </p:sp>
      <p:grpSp>
        <p:nvGrpSpPr>
          <p:cNvPr id="7" name="Group 6">
            <a:extLst>
              <a:ext uri="{FF2B5EF4-FFF2-40B4-BE49-F238E27FC236}">
                <a16:creationId xmlns:a16="http://schemas.microsoft.com/office/drawing/2014/main" id="{AF874EE9-6A0F-319B-1DCB-06D562A0709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4C51B4B1-8720-7C52-123F-C694F8108CB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69C5CF5-3901-C8CD-8613-9582D89E1B5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Burst Traffic Handling </a:t>
              </a:r>
              <a:endParaRPr lang="en-US" sz="2500" kern="1200" dirty="0">
                <a:solidFill>
                  <a:schemeClr val="bg1"/>
                </a:solidFill>
              </a:endParaRPr>
            </a:p>
          </p:txBody>
        </p:sp>
      </p:grpSp>
      <p:pic>
        <p:nvPicPr>
          <p:cNvPr id="10" name="Picture 9">
            <a:extLst>
              <a:ext uri="{FF2B5EF4-FFF2-40B4-BE49-F238E27FC236}">
                <a16:creationId xmlns:a16="http://schemas.microsoft.com/office/drawing/2014/main" id="{1445820F-2123-04BF-440C-00F281AA04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520" y="1921144"/>
            <a:ext cx="8895080" cy="3870056"/>
          </a:xfrm>
          <a:prstGeom prst="rect">
            <a:avLst/>
          </a:prstGeom>
        </p:spPr>
      </p:pic>
    </p:spTree>
    <p:extLst>
      <p:ext uri="{BB962C8B-B14F-4D97-AF65-F5344CB8AC3E}">
        <p14:creationId xmlns:p14="http://schemas.microsoft.com/office/powerpoint/2010/main" val="2115333660"/>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167E9-2CF0-DEBE-EC22-2C599731E0C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18ECA5A-3C39-6460-4BB0-F9C1CE193DF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9AE351B-4BFB-6493-218A-B34FC9715D9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C676DBA-3242-4168-7065-F07EFF6326D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0B292E5-A810-EDE6-335A-A4FD8C4FD59F}"/>
              </a:ext>
            </a:extLst>
          </p:cNvPr>
          <p:cNvSpPr txBox="1">
            <a:spLocks/>
          </p:cNvSpPr>
          <p:nvPr/>
        </p:nvSpPr>
        <p:spPr>
          <a:xfrm>
            <a:off x="76200" y="697468"/>
            <a:ext cx="8624937" cy="2616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dirty="0">
                <a:solidFill>
                  <a:schemeClr val="accent2"/>
                </a:solidFill>
                <a:latin typeface="Google Sans"/>
              </a:rPr>
              <a:t>Techniques</a:t>
            </a:r>
          </a:p>
        </p:txBody>
      </p:sp>
      <p:grpSp>
        <p:nvGrpSpPr>
          <p:cNvPr id="7" name="Group 6">
            <a:extLst>
              <a:ext uri="{FF2B5EF4-FFF2-40B4-BE49-F238E27FC236}">
                <a16:creationId xmlns:a16="http://schemas.microsoft.com/office/drawing/2014/main" id="{888917BE-3C67-5951-8DE7-4E77D21A29D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A1FB21D4-D46C-102F-2103-BAD162C1020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2ED490E6-1B00-F412-3394-34BD9CA531C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Burst Traffic Handling </a:t>
              </a:r>
              <a:endParaRPr lang="en-US" sz="2500" kern="1200" dirty="0">
                <a:solidFill>
                  <a:schemeClr val="bg1"/>
                </a:solidFill>
              </a:endParaRPr>
            </a:p>
          </p:txBody>
        </p:sp>
      </p:grpSp>
      <p:pic>
        <p:nvPicPr>
          <p:cNvPr id="12" name="Picture 11">
            <a:extLst>
              <a:ext uri="{FF2B5EF4-FFF2-40B4-BE49-F238E27FC236}">
                <a16:creationId xmlns:a16="http://schemas.microsoft.com/office/drawing/2014/main" id="{E1AB7270-EB99-073B-DD4F-617D9A50A4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645" y="959079"/>
            <a:ext cx="9033764" cy="412522"/>
          </a:xfrm>
          <a:prstGeom prst="rect">
            <a:avLst/>
          </a:prstGeom>
        </p:spPr>
      </p:pic>
      <p:pic>
        <p:nvPicPr>
          <p:cNvPr id="14" name="Picture 13">
            <a:extLst>
              <a:ext uri="{FF2B5EF4-FFF2-40B4-BE49-F238E27FC236}">
                <a16:creationId xmlns:a16="http://schemas.microsoft.com/office/drawing/2014/main" id="{7BD2DB52-3703-80F3-030A-F4D3FC473F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645" y="1371601"/>
            <a:ext cx="9058355" cy="3780120"/>
          </a:xfrm>
          <a:prstGeom prst="rect">
            <a:avLst/>
          </a:prstGeom>
        </p:spPr>
      </p:pic>
      <p:pic>
        <p:nvPicPr>
          <p:cNvPr id="16" name="Picture 15">
            <a:extLst>
              <a:ext uri="{FF2B5EF4-FFF2-40B4-BE49-F238E27FC236}">
                <a16:creationId xmlns:a16="http://schemas.microsoft.com/office/drawing/2014/main" id="{302D55AB-A714-A153-9B13-C4FE41D9A5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441" y="5175214"/>
            <a:ext cx="9058355" cy="692186"/>
          </a:xfrm>
          <a:prstGeom prst="rect">
            <a:avLst/>
          </a:prstGeom>
        </p:spPr>
      </p:pic>
    </p:spTree>
    <p:extLst>
      <p:ext uri="{BB962C8B-B14F-4D97-AF65-F5344CB8AC3E}">
        <p14:creationId xmlns:p14="http://schemas.microsoft.com/office/powerpoint/2010/main" val="3394955724"/>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91B5B-A8F6-88E3-12CB-1C80D16EF1F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4CCDB17-625B-01D9-CF6B-89AD16FF8A9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3E8378E-380B-7831-CEA4-06F9373852B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91E9FC6-B570-2001-5E27-396E59F6F6E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25E9AEF-FCD7-5BE1-14E7-92F72A275F23}"/>
              </a:ext>
            </a:extLst>
          </p:cNvPr>
          <p:cNvSpPr txBox="1">
            <a:spLocks/>
          </p:cNvSpPr>
          <p:nvPr/>
        </p:nvSpPr>
        <p:spPr>
          <a:xfrm>
            <a:off x="76200" y="697468"/>
            <a:ext cx="8624937" cy="543225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dirty="0">
                <a:solidFill>
                  <a:schemeClr val="accent2"/>
                </a:solidFill>
                <a:latin typeface="Google Sans"/>
              </a:rPr>
              <a:t>Breakdown of Key Techniques</a:t>
            </a:r>
          </a:p>
          <a:p>
            <a:pPr marL="12700" marR="5080"/>
            <a:r>
              <a:rPr lang="en-US" sz="1500" dirty="0">
                <a:solidFill>
                  <a:schemeClr val="accent2"/>
                </a:solidFill>
                <a:latin typeface="Google Sans"/>
              </a:rPr>
              <a:t>Traffic Shaping vs. Traffic Policing</a:t>
            </a:r>
          </a:p>
          <a:p>
            <a:pPr marL="12700" marR="5080"/>
            <a:r>
              <a:rPr lang="en-US" sz="1500" dirty="0">
                <a:solidFill>
                  <a:schemeClr val="accent2"/>
                </a:solidFill>
                <a:latin typeface="Google Sans"/>
              </a:rPr>
              <a:t>Shaping (Token Bucket):</a:t>
            </a:r>
            <a:r>
              <a:rPr lang="en-US" sz="1500" dirty="0">
                <a:solidFill>
                  <a:schemeClr val="accent6"/>
                </a:solidFill>
                <a:latin typeface="Google Sans"/>
              </a:rPr>
              <a:t> Buffers excess traffic. It delays packets rather than dropping them, smoothing the traffic spike.</a:t>
            </a:r>
          </a:p>
          <a:p>
            <a:pPr marL="12700" marR="5080"/>
            <a:r>
              <a:rPr lang="en-US" sz="1500" dirty="0">
                <a:solidFill>
                  <a:schemeClr val="accent2"/>
                </a:solidFill>
                <a:latin typeface="Google Sans"/>
              </a:rPr>
              <a:t>Policing (Leaky Bucket): </a:t>
            </a:r>
            <a:r>
              <a:rPr lang="en-US" sz="1500" dirty="0">
                <a:solidFill>
                  <a:schemeClr val="accent6"/>
                </a:solidFill>
                <a:latin typeface="Google Sans"/>
              </a:rPr>
              <a:t>Drops or marks traffic that exceeds the rate limit immediately, preventing buffering delays but causing packet loss.</a:t>
            </a:r>
          </a:p>
          <a:p>
            <a:pPr marL="12700" marR="5080"/>
            <a:r>
              <a:rPr lang="en-US" sz="1500" dirty="0">
                <a:solidFill>
                  <a:schemeClr val="accent2"/>
                </a:solidFill>
                <a:latin typeface="Google Sans"/>
              </a:rPr>
              <a:t>Thundering Herd Protection</a:t>
            </a:r>
          </a:p>
          <a:p>
            <a:pPr marL="12700" marR="5080"/>
            <a:r>
              <a:rPr lang="en-US" sz="1500" dirty="0">
                <a:solidFill>
                  <a:schemeClr val="accent6"/>
                </a:solidFill>
                <a:latin typeface="Google Sans"/>
              </a:rPr>
              <a:t>When a cache fails, multiple requests might hit the backend database simultaneously. Queueing requests or using locking allows only one request to fetch the data while others wait for the cache update.</a:t>
            </a:r>
          </a:p>
          <a:p>
            <a:pPr marL="12700" marR="5080"/>
            <a:r>
              <a:rPr lang="en-US" sz="1500" dirty="0">
                <a:solidFill>
                  <a:schemeClr val="accent2"/>
                </a:solidFill>
                <a:latin typeface="Google Sans"/>
              </a:rPr>
              <a:t>Backoff Jitter</a:t>
            </a:r>
          </a:p>
          <a:p>
            <a:pPr marL="12700" marR="5080"/>
            <a:r>
              <a:rPr lang="en-US" sz="1500" dirty="0">
                <a:solidFill>
                  <a:schemeClr val="accent6"/>
                </a:solidFill>
                <a:latin typeface="Google Sans"/>
              </a:rPr>
              <a:t>When a service fails, clients often retry immediately, causing a "thundering herd" (cascading failure). Adding Jitter (randomness) to Exponential Backoff spreads out retries over time, allowing the service to recover.</a:t>
            </a:r>
          </a:p>
          <a:p>
            <a:pPr marL="12700" marR="5080"/>
            <a:r>
              <a:rPr lang="en-US" sz="1500" dirty="0">
                <a:solidFill>
                  <a:schemeClr val="accent2"/>
                </a:solidFill>
                <a:latin typeface="Google Sans"/>
              </a:rPr>
              <a:t>Asynchronous Processing (Queues)</a:t>
            </a:r>
          </a:p>
          <a:p>
            <a:pPr marL="12700" marR="5080"/>
            <a:r>
              <a:rPr lang="en-US" sz="1500" dirty="0">
                <a:solidFill>
                  <a:schemeClr val="accent6"/>
                </a:solidFill>
                <a:latin typeface="Google Sans"/>
              </a:rPr>
              <a:t>Decoupling the producer and consumer using queues ensures that if a service receives a sudden burst of 10,000 requests, it does not crash, but rather processes them at its maximum capacity.</a:t>
            </a:r>
          </a:p>
          <a:p>
            <a:pPr marL="12700" marR="5080"/>
            <a:r>
              <a:rPr lang="en-US" sz="1500" dirty="0">
                <a:solidFill>
                  <a:schemeClr val="accent2"/>
                </a:solidFill>
                <a:latin typeface="Google Sans"/>
              </a:rPr>
              <a:t>Adaptive Admission Control</a:t>
            </a:r>
          </a:p>
          <a:p>
            <a:pPr marL="12700" marR="5080"/>
            <a:r>
              <a:rPr lang="en-US" sz="1500" dirty="0">
                <a:solidFill>
                  <a:schemeClr val="accent6"/>
                </a:solidFill>
                <a:latin typeface="Google Sans"/>
              </a:rPr>
              <a:t>A sophisticated form of load shedding, this technique monitors the load status of a service in real-time and automatically adjusts the "admission level"—allowing more traffic when load is light and limiting traffic as it approaches the limit. </a:t>
            </a:r>
          </a:p>
          <a:p>
            <a:pPr marL="12700" marR="5080"/>
            <a:endParaRPr lang="en-US" sz="1500" dirty="0">
              <a:solidFill>
                <a:schemeClr val="accent6"/>
              </a:solidFill>
              <a:latin typeface="Google Sans"/>
            </a:endParaRPr>
          </a:p>
          <a:p>
            <a:pPr marL="12700" marR="5080"/>
            <a:r>
              <a:rPr lang="en-US" sz="1700" dirty="0">
                <a:solidFill>
                  <a:schemeClr val="accent2"/>
                </a:solidFill>
                <a:latin typeface="Google Sans"/>
              </a:rPr>
              <a:t>For Further Exploration</a:t>
            </a:r>
          </a:p>
          <a:p>
            <a:pPr marL="12700" marR="5080"/>
            <a:r>
              <a:rPr lang="en-US" sz="1000" dirty="0">
                <a:hlinkClick r:id="rId2"/>
              </a:rPr>
              <a:t>What Is Burst Traffic? Key Strategies &amp; Why It Matters</a:t>
            </a:r>
            <a:endParaRPr lang="en-US" sz="1000" dirty="0">
              <a:solidFill>
                <a:schemeClr val="accent2"/>
              </a:solidFill>
              <a:latin typeface="Google Sans"/>
            </a:endParaRPr>
          </a:p>
          <a:p>
            <a:pPr marL="12700" marR="5080"/>
            <a:r>
              <a:rPr lang="en-US" sz="1000" dirty="0">
                <a:hlinkClick r:id="rId3"/>
              </a:rPr>
              <a:t>How to Deal with Traffic Surges in Distributed Systems</a:t>
            </a:r>
            <a:endParaRPr lang="en-US" sz="1000" dirty="0"/>
          </a:p>
          <a:p>
            <a:pPr marL="12700" marR="5080"/>
            <a:r>
              <a:rPr lang="en-IN" sz="1000" dirty="0">
                <a:hlinkClick r:id="rId4"/>
              </a:rPr>
              <a:t>System design concepts — Bursty traffic handling | by </a:t>
            </a:r>
            <a:r>
              <a:rPr lang="en-IN" sz="1000" dirty="0" err="1">
                <a:hlinkClick r:id="rId4"/>
              </a:rPr>
              <a:t>ScalaBrix</a:t>
            </a:r>
            <a:r>
              <a:rPr lang="en-IN" sz="1000" dirty="0">
                <a:hlinkClick r:id="rId4"/>
              </a:rPr>
              <a:t> | Medium</a:t>
            </a:r>
            <a:endParaRPr lang="en-US" sz="1000" dirty="0">
              <a:solidFill>
                <a:schemeClr val="accent2"/>
              </a:solidFill>
              <a:latin typeface="Google Sans"/>
            </a:endParaRPr>
          </a:p>
        </p:txBody>
      </p:sp>
      <p:grpSp>
        <p:nvGrpSpPr>
          <p:cNvPr id="7" name="Group 6">
            <a:extLst>
              <a:ext uri="{FF2B5EF4-FFF2-40B4-BE49-F238E27FC236}">
                <a16:creationId xmlns:a16="http://schemas.microsoft.com/office/drawing/2014/main" id="{AF1BB7D2-C59B-6008-BF91-4FB7DE7C837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847C9FE-5523-3E08-BB15-9A5BF52244D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6AD2531-FB7B-71D9-335B-743788AD75E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Burst Traffic Handling </a:t>
              </a:r>
              <a:endParaRPr lang="en-US" sz="2500" kern="1200" dirty="0">
                <a:solidFill>
                  <a:schemeClr val="bg1"/>
                </a:solidFill>
              </a:endParaRPr>
            </a:p>
          </p:txBody>
        </p:sp>
      </p:grpSp>
    </p:spTree>
    <p:extLst>
      <p:ext uri="{BB962C8B-B14F-4D97-AF65-F5344CB8AC3E}">
        <p14:creationId xmlns:p14="http://schemas.microsoft.com/office/powerpoint/2010/main" val="2832472252"/>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58720-5AA3-6D49-995C-705C7C65EC6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232562C-C050-7AB6-6FA7-CFF31074BBD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247B2CD-0C93-CDC1-0863-F2D5C3A1DF0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05AA4EB-85BB-4F87-9FBE-E569C9D6F2A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881DC0D-FB05-6914-78CD-701155094F94}"/>
              </a:ext>
            </a:extLst>
          </p:cNvPr>
          <p:cNvSpPr txBox="1">
            <a:spLocks/>
          </p:cNvSpPr>
          <p:nvPr/>
        </p:nvSpPr>
        <p:spPr>
          <a:xfrm>
            <a:off x="76200" y="697468"/>
            <a:ext cx="8624937" cy="48320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InfoSec, </a:t>
            </a:r>
            <a:r>
              <a:rPr lang="en-US" sz="1700" kern="0" spc="-80" dirty="0" err="1">
                <a:solidFill>
                  <a:schemeClr val="accent2"/>
                </a:solidFill>
              </a:rPr>
              <a:t>CyberSecurity</a:t>
            </a:r>
            <a:r>
              <a:rPr lang="en-US" sz="1700" kern="0" spc="-80" dirty="0">
                <a:solidFill>
                  <a:schemeClr val="accent2"/>
                </a:solidFill>
              </a:rPr>
              <a:t>, Network Security, Data Security</a:t>
            </a:r>
          </a:p>
          <a:p>
            <a:pPr marL="12700" marR="5080"/>
            <a:r>
              <a:rPr lang="en-IN" sz="1350" kern="0" spc="-80" dirty="0">
                <a:solidFill>
                  <a:schemeClr val="accent2"/>
                </a:solidFill>
              </a:rPr>
              <a:t>1️⃣ Information Security (InfoSec) – Big Umbrella</a:t>
            </a:r>
          </a:p>
          <a:p>
            <a:pPr marL="12700" marR="5080"/>
            <a:r>
              <a:rPr lang="en-IN" sz="1350" kern="0" spc="-80" dirty="0">
                <a:solidFill>
                  <a:schemeClr val="accent2"/>
                </a:solidFill>
              </a:rPr>
              <a:t>Definition</a:t>
            </a:r>
          </a:p>
          <a:p>
            <a:pPr marL="12700" marR="5080"/>
            <a:r>
              <a:rPr lang="en-IN" sz="1350" kern="0" spc="-80" dirty="0">
                <a:solidFill>
                  <a:schemeClr val="accent6"/>
                </a:solidFill>
              </a:rPr>
              <a:t>Information Security is about protecting information in any form—digital, physical, verbal, written.</a:t>
            </a:r>
          </a:p>
          <a:p>
            <a:pPr marL="12700" marR="5080"/>
            <a:r>
              <a:rPr lang="en-IN" sz="1350" kern="0" spc="-80" dirty="0">
                <a:solidFill>
                  <a:schemeClr val="accent6"/>
                </a:solidFill>
              </a:rPr>
              <a:t>If it’s information, InfoSec cares.</a:t>
            </a:r>
          </a:p>
          <a:p>
            <a:pPr marL="12700" marR="5080"/>
            <a:r>
              <a:rPr lang="en-IN" sz="1350" kern="0" spc="-80" dirty="0">
                <a:solidFill>
                  <a:schemeClr val="accent2"/>
                </a:solidFill>
              </a:rPr>
              <a:t>Core Goal</a:t>
            </a:r>
          </a:p>
          <a:p>
            <a:pPr marL="12700" marR="5080"/>
            <a:r>
              <a:rPr lang="en-IN" sz="1350" kern="0" spc="-80" dirty="0">
                <a:solidFill>
                  <a:schemeClr val="accent6"/>
                </a:solidFill>
              </a:rPr>
              <a:t>Protect information against:</a:t>
            </a:r>
          </a:p>
          <a:p>
            <a:pPr marL="12700" marR="5080"/>
            <a:r>
              <a:rPr lang="en-IN" sz="1350" kern="0" spc="-80" dirty="0">
                <a:solidFill>
                  <a:schemeClr val="accent6"/>
                </a:solidFill>
              </a:rPr>
              <a:t>Unauthorized access</a:t>
            </a:r>
          </a:p>
          <a:p>
            <a:pPr marL="12700" marR="5080"/>
            <a:r>
              <a:rPr lang="en-IN" sz="1350" kern="0" spc="-80" dirty="0">
                <a:solidFill>
                  <a:schemeClr val="accent6"/>
                </a:solidFill>
              </a:rPr>
              <a:t>Unauthorized modification</a:t>
            </a:r>
          </a:p>
          <a:p>
            <a:pPr marL="12700" marR="5080"/>
            <a:r>
              <a:rPr lang="en-IN" sz="1350" kern="0" spc="-80" dirty="0">
                <a:solidFill>
                  <a:schemeClr val="accent6"/>
                </a:solidFill>
              </a:rPr>
              <a:t>Unauthorized destruction</a:t>
            </a:r>
          </a:p>
          <a:p>
            <a:pPr marL="12700" marR="5080"/>
            <a:r>
              <a:rPr lang="en-IN" sz="1350" kern="0" spc="-80" dirty="0">
                <a:solidFill>
                  <a:schemeClr val="accent2"/>
                </a:solidFill>
              </a:rPr>
              <a:t>This is captured by the CIA Triad:</a:t>
            </a:r>
          </a:p>
          <a:p>
            <a:pPr marL="12700" marR="5080"/>
            <a:r>
              <a:rPr lang="en-IN" sz="1350" kern="0" spc="-80" dirty="0">
                <a:solidFill>
                  <a:schemeClr val="accent6"/>
                </a:solidFill>
              </a:rPr>
              <a:t>Confidentiality</a:t>
            </a:r>
          </a:p>
          <a:p>
            <a:pPr marL="12700" marR="5080"/>
            <a:r>
              <a:rPr lang="en-IN" sz="1350" kern="0" spc="-80" dirty="0">
                <a:solidFill>
                  <a:schemeClr val="accent6"/>
                </a:solidFill>
              </a:rPr>
              <a:t>Integrity</a:t>
            </a:r>
          </a:p>
          <a:p>
            <a:pPr marL="12700" marR="5080"/>
            <a:r>
              <a:rPr lang="en-IN" sz="1350" kern="0" spc="-80" dirty="0">
                <a:solidFill>
                  <a:schemeClr val="accent6"/>
                </a:solidFill>
              </a:rPr>
              <a:t>Availability</a:t>
            </a:r>
          </a:p>
          <a:p>
            <a:pPr marL="12700" marR="5080"/>
            <a:r>
              <a:rPr lang="en-IN" sz="1350" kern="0" spc="-80" dirty="0">
                <a:solidFill>
                  <a:schemeClr val="accent2"/>
                </a:solidFill>
              </a:rPr>
              <a:t>Scope</a:t>
            </a:r>
          </a:p>
          <a:p>
            <a:pPr marL="12700" marR="5080"/>
            <a:r>
              <a:rPr lang="en-IN" sz="1350" kern="0" spc="-80" dirty="0">
                <a:solidFill>
                  <a:schemeClr val="accent2"/>
                </a:solidFill>
              </a:rPr>
              <a:t>Covers:</a:t>
            </a:r>
          </a:p>
          <a:p>
            <a:pPr marL="12700" marR="5080"/>
            <a:r>
              <a:rPr lang="en-IN" sz="1350" kern="0" spc="-80" dirty="0">
                <a:solidFill>
                  <a:schemeClr val="accent6"/>
                </a:solidFill>
              </a:rPr>
              <a:t>Digital data (databases, files)</a:t>
            </a:r>
          </a:p>
          <a:p>
            <a:pPr marL="12700" marR="5080"/>
            <a:r>
              <a:rPr lang="en-IN" sz="1350" kern="0" spc="-80" dirty="0">
                <a:solidFill>
                  <a:schemeClr val="accent6"/>
                </a:solidFill>
              </a:rPr>
              <a:t>Paper documents</a:t>
            </a:r>
          </a:p>
          <a:p>
            <a:pPr marL="12700" marR="5080"/>
            <a:r>
              <a:rPr lang="en-IN" sz="1350" kern="0" spc="-80" dirty="0">
                <a:solidFill>
                  <a:schemeClr val="accent6"/>
                </a:solidFill>
              </a:rPr>
              <a:t>Whiteboards</a:t>
            </a:r>
          </a:p>
          <a:p>
            <a:pPr marL="12700" marR="5080"/>
            <a:r>
              <a:rPr lang="en-IN" sz="1350" kern="0" spc="-80" dirty="0">
                <a:solidFill>
                  <a:schemeClr val="accent6"/>
                </a:solidFill>
              </a:rPr>
              <a:t>USB drives</a:t>
            </a:r>
          </a:p>
          <a:p>
            <a:pPr marL="12700" marR="5080"/>
            <a:r>
              <a:rPr lang="en-IN" sz="1350" kern="0" spc="-80" dirty="0">
                <a:solidFill>
                  <a:schemeClr val="accent6"/>
                </a:solidFill>
              </a:rPr>
              <a:t>Emails</a:t>
            </a:r>
          </a:p>
          <a:p>
            <a:pPr marL="12700" marR="5080"/>
            <a:r>
              <a:rPr lang="en-IN" sz="1350" kern="0" spc="-80" dirty="0">
                <a:solidFill>
                  <a:schemeClr val="accent6"/>
                </a:solidFill>
              </a:rPr>
              <a:t>Spoken conversations</a:t>
            </a:r>
          </a:p>
          <a:p>
            <a:pPr marL="12700" marR="5080"/>
            <a:r>
              <a:rPr lang="en-IN" sz="1350" kern="0" spc="-80" dirty="0">
                <a:solidFill>
                  <a:schemeClr val="accent6"/>
                </a:solidFill>
              </a:rPr>
              <a:t>Physical storage rooms</a:t>
            </a:r>
            <a:endParaRPr lang="en-US" sz="2400" kern="0" spc="-80" dirty="0">
              <a:solidFill>
                <a:schemeClr val="accent2"/>
              </a:solidFill>
            </a:endParaRPr>
          </a:p>
        </p:txBody>
      </p:sp>
      <p:sp>
        <p:nvSpPr>
          <p:cNvPr id="8" name="TextBox 7">
            <a:extLst>
              <a:ext uri="{FF2B5EF4-FFF2-40B4-BE49-F238E27FC236}">
                <a16:creationId xmlns:a16="http://schemas.microsoft.com/office/drawing/2014/main" id="{71F2D4AA-CD7B-58FF-2D49-60979B392692}"/>
              </a:ext>
            </a:extLst>
          </p:cNvPr>
          <p:cNvSpPr txBox="1"/>
          <p:nvPr/>
        </p:nvSpPr>
        <p:spPr>
          <a:xfrm>
            <a:off x="76199" y="5297269"/>
            <a:ext cx="8841377" cy="369332"/>
          </a:xfrm>
          <a:prstGeom prst="rect">
            <a:avLst/>
          </a:prstGeom>
          <a:noFill/>
        </p:spPr>
        <p:txBody>
          <a:bodyPr wrap="square">
            <a:spAutoFit/>
          </a:bodyPr>
          <a:lstStyle/>
          <a:p>
            <a:r>
              <a:rPr lang="en-US" sz="1800" kern="0" spc="-80" dirty="0">
                <a:solidFill>
                  <a:schemeClr val="accent2"/>
                </a:solidFill>
              </a:rPr>
              <a:t> </a:t>
            </a:r>
            <a:endParaRPr lang="en-IN" dirty="0"/>
          </a:p>
        </p:txBody>
      </p:sp>
      <p:grpSp>
        <p:nvGrpSpPr>
          <p:cNvPr id="7" name="Group 6">
            <a:extLst>
              <a:ext uri="{FF2B5EF4-FFF2-40B4-BE49-F238E27FC236}">
                <a16:creationId xmlns:a16="http://schemas.microsoft.com/office/drawing/2014/main" id="{077F8D23-0FA5-980F-E8F3-736340538A26}"/>
              </a:ext>
            </a:extLst>
          </p:cNvPr>
          <p:cNvGrpSpPr/>
          <p:nvPr/>
        </p:nvGrpSpPr>
        <p:grpSpPr>
          <a:xfrm>
            <a:off x="20320" y="-30047"/>
            <a:ext cx="9123680" cy="481253"/>
            <a:chOff x="0" y="0"/>
            <a:chExt cx="8716300" cy="481253"/>
          </a:xfrm>
        </p:grpSpPr>
        <p:sp>
          <p:nvSpPr>
            <p:cNvPr id="9" name="Rectangle: Rounded Corners 8">
              <a:extLst>
                <a:ext uri="{FF2B5EF4-FFF2-40B4-BE49-F238E27FC236}">
                  <a16:creationId xmlns:a16="http://schemas.microsoft.com/office/drawing/2014/main" id="{9D4CF515-29FA-478F-4F26-B67EE2FA2D5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94B3EC0F-AE68-F384-E4F0-B13264FB487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465160356"/>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F6597-7E29-D59D-5C03-7CD0B9336D9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3DC7ADB-FDD0-1977-3145-036BB878996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872F2AA-E2A9-0832-E0FB-B8B69A9ABB2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F71DF5CC-D748-2657-6899-3C9EFE63A04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2469B81-9245-FC5E-5BEB-094FAC8C7C0B}"/>
              </a:ext>
            </a:extLst>
          </p:cNvPr>
          <p:cNvSpPr txBox="1">
            <a:spLocks/>
          </p:cNvSpPr>
          <p:nvPr/>
        </p:nvSpPr>
        <p:spPr>
          <a:xfrm>
            <a:off x="76200" y="697468"/>
            <a:ext cx="8624937" cy="477823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InfoSec, </a:t>
            </a:r>
            <a:r>
              <a:rPr lang="en-US" sz="1700" kern="0" spc="-80" dirty="0" err="1">
                <a:solidFill>
                  <a:schemeClr val="accent2"/>
                </a:solidFill>
              </a:rPr>
              <a:t>CyberSecurity</a:t>
            </a:r>
            <a:r>
              <a:rPr lang="en-US" sz="1700" kern="0" spc="-80" dirty="0">
                <a:solidFill>
                  <a:schemeClr val="accent2"/>
                </a:solidFill>
              </a:rPr>
              <a:t>, Network Security, Data Security</a:t>
            </a:r>
          </a:p>
          <a:p>
            <a:pPr marL="12700" marR="5080"/>
            <a:r>
              <a:rPr lang="en-IN" sz="1350" kern="0" spc="-80" dirty="0">
                <a:solidFill>
                  <a:schemeClr val="accent2"/>
                </a:solidFill>
              </a:rPr>
              <a:t>1️⃣ Information Security (InfoSec) – Big Umbrella</a:t>
            </a:r>
          </a:p>
          <a:p>
            <a:pPr marL="12700" marR="5080"/>
            <a:r>
              <a:rPr lang="en-IN" sz="1400" kern="0" spc="-80" dirty="0">
                <a:solidFill>
                  <a:schemeClr val="accent2"/>
                </a:solidFill>
              </a:rPr>
              <a:t>Controls Used</a:t>
            </a:r>
          </a:p>
          <a:p>
            <a:pPr marL="12700" marR="5080"/>
            <a:r>
              <a:rPr lang="en-IN" sz="1400" kern="0" spc="-80" dirty="0">
                <a:solidFill>
                  <a:schemeClr val="accent6"/>
                </a:solidFill>
              </a:rPr>
              <a:t>Policies (classification, access control)</a:t>
            </a:r>
          </a:p>
          <a:p>
            <a:pPr marL="12700" marR="5080"/>
            <a:r>
              <a:rPr lang="en-IN" sz="1400" kern="0" spc="-80" dirty="0">
                <a:solidFill>
                  <a:schemeClr val="accent6"/>
                </a:solidFill>
              </a:rPr>
              <a:t>Physical security (locks, CCTV)</a:t>
            </a:r>
          </a:p>
          <a:p>
            <a:pPr marL="12700" marR="5080"/>
            <a:r>
              <a:rPr lang="en-IN" sz="1400" kern="0" spc="-80" dirty="0">
                <a:solidFill>
                  <a:schemeClr val="accent6"/>
                </a:solidFill>
              </a:rPr>
              <a:t>Legal controls (NDAs, compliance)</a:t>
            </a:r>
          </a:p>
          <a:p>
            <a:pPr marL="12700" marR="5080"/>
            <a:r>
              <a:rPr lang="en-IN" sz="1400" kern="0" spc="-80" dirty="0">
                <a:solidFill>
                  <a:schemeClr val="accent6"/>
                </a:solidFill>
              </a:rPr>
              <a:t>Technical controls (encryption, IAM)</a:t>
            </a:r>
          </a:p>
          <a:p>
            <a:pPr marL="12700" marR="5080"/>
            <a:r>
              <a:rPr lang="en-IN" sz="1400" kern="0" spc="-80" dirty="0">
                <a:solidFill>
                  <a:schemeClr val="accent6"/>
                </a:solidFill>
              </a:rPr>
              <a:t>Human controls (training, awareness)</a:t>
            </a:r>
          </a:p>
          <a:p>
            <a:pPr marL="12700" marR="5080"/>
            <a:r>
              <a:rPr lang="en-IN" sz="1400" kern="0" spc="-80" dirty="0">
                <a:solidFill>
                  <a:schemeClr val="accent2"/>
                </a:solidFill>
              </a:rPr>
              <a:t>Example</a:t>
            </a:r>
          </a:p>
          <a:p>
            <a:pPr marL="12700" marR="5080"/>
            <a:r>
              <a:rPr lang="en-IN" sz="1400" kern="0" spc="-80" dirty="0">
                <a:solidFill>
                  <a:schemeClr val="accent6"/>
                </a:solidFill>
              </a:rPr>
              <a:t>Shredding printed salary slips</a:t>
            </a:r>
          </a:p>
          <a:p>
            <a:pPr marL="12700" marR="5080"/>
            <a:r>
              <a:rPr lang="en-IN" sz="1400" kern="0" spc="-80" dirty="0">
                <a:solidFill>
                  <a:schemeClr val="accent6"/>
                </a:solidFill>
              </a:rPr>
              <a:t>Restricting who can discuss merger plans</a:t>
            </a:r>
          </a:p>
          <a:p>
            <a:pPr marL="12700" marR="5080"/>
            <a:r>
              <a:rPr lang="en-IN" sz="1400" kern="0" spc="-80" dirty="0">
                <a:solidFill>
                  <a:schemeClr val="accent6"/>
                </a:solidFill>
              </a:rPr>
              <a:t>Encrypting laptops</a:t>
            </a:r>
          </a:p>
          <a:p>
            <a:pPr marL="12700" marR="5080"/>
            <a:r>
              <a:rPr lang="en-IN" sz="1400" kern="0" spc="-80" dirty="0">
                <a:solidFill>
                  <a:schemeClr val="accent2"/>
                </a:solidFill>
              </a:rPr>
              <a:t>👉 InfoSec = Information protection, regardless of medium</a:t>
            </a:r>
          </a:p>
          <a:p>
            <a:pPr marL="12700" marR="5080"/>
            <a:endParaRPr lang="en-IN" sz="1400" kern="0" spc="-80" dirty="0">
              <a:solidFill>
                <a:schemeClr val="accent2"/>
              </a:solidFill>
            </a:endParaRPr>
          </a:p>
          <a:p>
            <a:pPr marL="12700" marR="5080"/>
            <a:r>
              <a:rPr lang="en-IN" sz="1400" kern="0" spc="-80" dirty="0">
                <a:solidFill>
                  <a:schemeClr val="accent2"/>
                </a:solidFill>
              </a:rPr>
              <a:t>2️⃣ Cybersecurity – Digital-Only Focus</a:t>
            </a:r>
          </a:p>
          <a:p>
            <a:pPr marL="12700" marR="5080"/>
            <a:r>
              <a:rPr lang="en-IN" sz="1400" kern="0" spc="-80" dirty="0">
                <a:solidFill>
                  <a:schemeClr val="accent2"/>
                </a:solidFill>
              </a:rPr>
              <a:t>Definition</a:t>
            </a:r>
          </a:p>
          <a:p>
            <a:pPr marL="12700" marR="5080"/>
            <a:r>
              <a:rPr lang="en-IN" sz="1400" kern="0" spc="-80" dirty="0">
                <a:solidFill>
                  <a:schemeClr val="accent6"/>
                </a:solidFill>
              </a:rPr>
              <a:t>Cybersecurity protects information systems, networks, applications, and data in cyberspace.</a:t>
            </a:r>
          </a:p>
          <a:p>
            <a:pPr marL="12700" marR="5080"/>
            <a:r>
              <a:rPr lang="en-IN" sz="1400" kern="0" spc="-80" dirty="0">
                <a:solidFill>
                  <a:schemeClr val="accent6"/>
                </a:solidFill>
              </a:rPr>
              <a:t>InfoSec without paper and physical files.</a:t>
            </a:r>
          </a:p>
          <a:p>
            <a:pPr marL="12700" marR="5080"/>
            <a:r>
              <a:rPr lang="en-IN" sz="1400" kern="0" spc="-80" dirty="0">
                <a:solidFill>
                  <a:schemeClr val="accent2"/>
                </a:solidFill>
              </a:rPr>
              <a:t>Scope</a:t>
            </a:r>
          </a:p>
          <a:p>
            <a:pPr marL="12700" marR="5080"/>
            <a:r>
              <a:rPr lang="en-IN" sz="1400" kern="0" spc="-80" dirty="0">
                <a:solidFill>
                  <a:schemeClr val="accent6"/>
                </a:solidFill>
              </a:rPr>
              <a:t>Applications</a:t>
            </a:r>
          </a:p>
          <a:p>
            <a:pPr marL="12700" marR="5080"/>
            <a:r>
              <a:rPr lang="en-IN" sz="1400" kern="0" spc="-80" dirty="0">
                <a:solidFill>
                  <a:schemeClr val="accent6"/>
                </a:solidFill>
              </a:rPr>
              <a:t>Cloud infrastructure</a:t>
            </a:r>
          </a:p>
          <a:p>
            <a:pPr marL="12700" marR="5080"/>
            <a:r>
              <a:rPr lang="en-IN" sz="1400" kern="0" spc="-80" dirty="0">
                <a:solidFill>
                  <a:schemeClr val="accent6"/>
                </a:solidFill>
              </a:rPr>
              <a:t>Servers</a:t>
            </a:r>
            <a:endParaRPr lang="en-US" sz="2400" kern="0" spc="-80" dirty="0">
              <a:solidFill>
                <a:schemeClr val="accent2"/>
              </a:solidFill>
            </a:endParaRPr>
          </a:p>
        </p:txBody>
      </p:sp>
      <p:sp>
        <p:nvSpPr>
          <p:cNvPr id="8" name="TextBox 7">
            <a:extLst>
              <a:ext uri="{FF2B5EF4-FFF2-40B4-BE49-F238E27FC236}">
                <a16:creationId xmlns:a16="http://schemas.microsoft.com/office/drawing/2014/main" id="{B01D18B8-2B76-64F8-C82A-15A74B5DBC62}"/>
              </a:ext>
            </a:extLst>
          </p:cNvPr>
          <p:cNvSpPr txBox="1"/>
          <p:nvPr/>
        </p:nvSpPr>
        <p:spPr>
          <a:xfrm>
            <a:off x="76199" y="5297269"/>
            <a:ext cx="8841377" cy="369332"/>
          </a:xfrm>
          <a:prstGeom prst="rect">
            <a:avLst/>
          </a:prstGeom>
          <a:noFill/>
        </p:spPr>
        <p:txBody>
          <a:bodyPr wrap="square">
            <a:spAutoFit/>
          </a:bodyPr>
          <a:lstStyle/>
          <a:p>
            <a:r>
              <a:rPr lang="en-US" sz="1800" kern="0" spc="-80" dirty="0">
                <a:solidFill>
                  <a:schemeClr val="accent2"/>
                </a:solidFill>
              </a:rPr>
              <a:t> </a:t>
            </a:r>
            <a:endParaRPr lang="en-IN" dirty="0"/>
          </a:p>
        </p:txBody>
      </p:sp>
      <p:grpSp>
        <p:nvGrpSpPr>
          <p:cNvPr id="7" name="Group 6">
            <a:extLst>
              <a:ext uri="{FF2B5EF4-FFF2-40B4-BE49-F238E27FC236}">
                <a16:creationId xmlns:a16="http://schemas.microsoft.com/office/drawing/2014/main" id="{C34F0592-06C9-91FA-5500-F25FBE89B4DE}"/>
              </a:ext>
            </a:extLst>
          </p:cNvPr>
          <p:cNvGrpSpPr/>
          <p:nvPr/>
        </p:nvGrpSpPr>
        <p:grpSpPr>
          <a:xfrm>
            <a:off x="20320" y="-30047"/>
            <a:ext cx="9123680" cy="481253"/>
            <a:chOff x="0" y="0"/>
            <a:chExt cx="8716300" cy="481253"/>
          </a:xfrm>
        </p:grpSpPr>
        <p:sp>
          <p:nvSpPr>
            <p:cNvPr id="9" name="Rectangle: Rounded Corners 8">
              <a:extLst>
                <a:ext uri="{FF2B5EF4-FFF2-40B4-BE49-F238E27FC236}">
                  <a16:creationId xmlns:a16="http://schemas.microsoft.com/office/drawing/2014/main" id="{11061DD6-5826-00B6-5722-46305BBF01E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32A93EE8-1980-4001-C3A3-BDE3BA8CE60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893967012"/>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2AC2C-2203-DA69-4C5B-F0CC670FD0F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63EE696-F095-39B8-9FAC-3036B896045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402AF1D-7DA4-9A35-D367-50826B0846B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972974D-158F-E9BA-0880-1A7838A4C22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7B0C473-5B1F-C845-B434-9A2ABFABFEF5}"/>
              </a:ext>
            </a:extLst>
          </p:cNvPr>
          <p:cNvSpPr txBox="1">
            <a:spLocks/>
          </p:cNvSpPr>
          <p:nvPr/>
        </p:nvSpPr>
        <p:spPr>
          <a:xfrm>
            <a:off x="76200" y="697468"/>
            <a:ext cx="8624937" cy="457048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InfoSec, </a:t>
            </a:r>
            <a:r>
              <a:rPr lang="en-US" sz="1700" kern="0" spc="-80" dirty="0" err="1">
                <a:solidFill>
                  <a:schemeClr val="accent2"/>
                </a:solidFill>
              </a:rPr>
              <a:t>CyberSecurity</a:t>
            </a:r>
            <a:r>
              <a:rPr lang="en-US" sz="1700" kern="0" spc="-80" dirty="0">
                <a:solidFill>
                  <a:schemeClr val="accent2"/>
                </a:solidFill>
              </a:rPr>
              <a:t>, Network Security, Data Security</a:t>
            </a:r>
          </a:p>
          <a:p>
            <a:pPr marL="12700" marR="5080"/>
            <a:r>
              <a:rPr lang="en-IN" sz="1400" kern="0" spc="-80" dirty="0">
                <a:solidFill>
                  <a:schemeClr val="accent2"/>
                </a:solidFill>
              </a:rPr>
              <a:t>2️⃣ Cybersecurity – Digital-Only Focus</a:t>
            </a:r>
          </a:p>
          <a:p>
            <a:pPr marL="12700" marR="5080"/>
            <a:r>
              <a:rPr lang="en-IN" sz="1400" kern="0" spc="-80" dirty="0">
                <a:solidFill>
                  <a:schemeClr val="accent2"/>
                </a:solidFill>
              </a:rPr>
              <a:t>Scope</a:t>
            </a:r>
          </a:p>
          <a:p>
            <a:pPr marL="12700" marR="5080"/>
            <a:r>
              <a:rPr lang="en-IN" sz="1400" kern="0" spc="-80" dirty="0">
                <a:solidFill>
                  <a:schemeClr val="accent6"/>
                </a:solidFill>
              </a:rPr>
              <a:t>Endpoints</a:t>
            </a:r>
          </a:p>
          <a:p>
            <a:pPr marL="12700" marR="5080"/>
            <a:r>
              <a:rPr lang="en-IN" sz="1400" kern="0" spc="-80" dirty="0">
                <a:solidFill>
                  <a:schemeClr val="accent6"/>
                </a:solidFill>
              </a:rPr>
              <a:t>Internet-facing systems</a:t>
            </a:r>
          </a:p>
          <a:p>
            <a:pPr marL="12700" marR="5080"/>
            <a:r>
              <a:rPr lang="en-IN" sz="1400" kern="0" spc="-80" dirty="0">
                <a:solidFill>
                  <a:schemeClr val="accent6"/>
                </a:solidFill>
              </a:rPr>
              <a:t>APIs</a:t>
            </a:r>
          </a:p>
          <a:p>
            <a:pPr marL="12700" marR="5080"/>
            <a:r>
              <a:rPr lang="en-IN" sz="1400" kern="0" spc="-80" dirty="0">
                <a:solidFill>
                  <a:schemeClr val="accent6"/>
                </a:solidFill>
              </a:rPr>
              <a:t>SaaS platforms</a:t>
            </a:r>
          </a:p>
          <a:p>
            <a:pPr marL="12700" marR="5080"/>
            <a:r>
              <a:rPr lang="en-IN" sz="1400" kern="0" spc="-80" dirty="0">
                <a:solidFill>
                  <a:schemeClr val="accent6"/>
                </a:solidFill>
              </a:rPr>
              <a:t>Threats Addressed</a:t>
            </a:r>
          </a:p>
          <a:p>
            <a:pPr marL="12700" marR="5080"/>
            <a:r>
              <a:rPr lang="en-IN" sz="1400" kern="0" spc="-80" dirty="0">
                <a:solidFill>
                  <a:schemeClr val="accent6"/>
                </a:solidFill>
              </a:rPr>
              <a:t>Malware</a:t>
            </a:r>
          </a:p>
          <a:p>
            <a:pPr marL="12700" marR="5080"/>
            <a:r>
              <a:rPr lang="en-IN" sz="1400" kern="0" spc="-80" dirty="0">
                <a:solidFill>
                  <a:schemeClr val="accent6"/>
                </a:solidFill>
              </a:rPr>
              <a:t>Ransomware</a:t>
            </a:r>
          </a:p>
          <a:p>
            <a:pPr marL="12700" marR="5080"/>
            <a:r>
              <a:rPr lang="en-IN" sz="1400" kern="0" spc="-80" dirty="0">
                <a:solidFill>
                  <a:schemeClr val="accent6"/>
                </a:solidFill>
              </a:rPr>
              <a:t>Phishing</a:t>
            </a:r>
          </a:p>
          <a:p>
            <a:pPr marL="12700" marR="5080"/>
            <a:r>
              <a:rPr lang="en-IN" sz="1400" kern="0" spc="-80" dirty="0">
                <a:solidFill>
                  <a:schemeClr val="accent6"/>
                </a:solidFill>
              </a:rPr>
              <a:t>DDoS</a:t>
            </a:r>
          </a:p>
          <a:p>
            <a:pPr marL="12700" marR="5080"/>
            <a:r>
              <a:rPr lang="en-IN" sz="1400" kern="0" spc="-80" dirty="0">
                <a:solidFill>
                  <a:schemeClr val="accent6"/>
                </a:solidFill>
              </a:rPr>
              <a:t>Zero-day exploits</a:t>
            </a:r>
          </a:p>
          <a:p>
            <a:pPr marL="12700" marR="5080"/>
            <a:r>
              <a:rPr lang="en-IN" sz="1400" kern="0" spc="-80" dirty="0">
                <a:solidFill>
                  <a:schemeClr val="accent6"/>
                </a:solidFill>
              </a:rPr>
              <a:t>APTs</a:t>
            </a:r>
          </a:p>
          <a:p>
            <a:pPr marL="12700" marR="5080"/>
            <a:r>
              <a:rPr lang="en-IN" sz="1400" kern="0" spc="-80" dirty="0">
                <a:solidFill>
                  <a:schemeClr val="accent2"/>
                </a:solidFill>
              </a:rPr>
              <a:t>Controls Used</a:t>
            </a:r>
          </a:p>
          <a:p>
            <a:pPr marL="12700" marR="5080"/>
            <a:r>
              <a:rPr lang="en-IN" sz="1400" kern="0" spc="-80" dirty="0">
                <a:solidFill>
                  <a:schemeClr val="accent6"/>
                </a:solidFill>
              </a:rPr>
              <a:t>Firewalls</a:t>
            </a:r>
          </a:p>
          <a:p>
            <a:pPr marL="12700" marR="5080"/>
            <a:r>
              <a:rPr lang="en-IN" sz="1400" kern="0" spc="-80" dirty="0">
                <a:solidFill>
                  <a:schemeClr val="accent6"/>
                </a:solidFill>
              </a:rPr>
              <a:t>EDR/XDR</a:t>
            </a:r>
          </a:p>
          <a:p>
            <a:pPr marL="12700" marR="5080"/>
            <a:r>
              <a:rPr lang="en-IN" sz="1400" kern="0" spc="-80" dirty="0">
                <a:solidFill>
                  <a:schemeClr val="accent6"/>
                </a:solidFill>
              </a:rPr>
              <a:t>SIEM/SOAR</a:t>
            </a:r>
          </a:p>
          <a:p>
            <a:pPr marL="12700" marR="5080"/>
            <a:r>
              <a:rPr lang="en-IN" sz="1400" kern="0" spc="-80" dirty="0">
                <a:solidFill>
                  <a:schemeClr val="accent6"/>
                </a:solidFill>
              </a:rPr>
              <a:t>Vulnerability management</a:t>
            </a:r>
          </a:p>
          <a:p>
            <a:pPr marL="12700" marR="5080"/>
            <a:r>
              <a:rPr lang="en-IN" sz="1400" kern="0" spc="-80" dirty="0">
                <a:solidFill>
                  <a:schemeClr val="accent6"/>
                </a:solidFill>
              </a:rPr>
              <a:t>IAM</a:t>
            </a:r>
          </a:p>
          <a:p>
            <a:pPr marL="12700" marR="5080"/>
            <a:r>
              <a:rPr lang="en-IN" sz="1400" kern="0" spc="-80" dirty="0">
                <a:solidFill>
                  <a:schemeClr val="accent6"/>
                </a:solidFill>
              </a:rPr>
              <a:t>Secure SDLC</a:t>
            </a:r>
          </a:p>
        </p:txBody>
      </p:sp>
      <p:sp>
        <p:nvSpPr>
          <p:cNvPr id="8" name="TextBox 7">
            <a:extLst>
              <a:ext uri="{FF2B5EF4-FFF2-40B4-BE49-F238E27FC236}">
                <a16:creationId xmlns:a16="http://schemas.microsoft.com/office/drawing/2014/main" id="{2C765D3F-E301-A4C7-F4BA-C7CB2D2CAF86}"/>
              </a:ext>
            </a:extLst>
          </p:cNvPr>
          <p:cNvSpPr txBox="1"/>
          <p:nvPr/>
        </p:nvSpPr>
        <p:spPr>
          <a:xfrm>
            <a:off x="76199" y="5297269"/>
            <a:ext cx="8841377" cy="369332"/>
          </a:xfrm>
          <a:prstGeom prst="rect">
            <a:avLst/>
          </a:prstGeom>
          <a:noFill/>
        </p:spPr>
        <p:txBody>
          <a:bodyPr wrap="square">
            <a:spAutoFit/>
          </a:bodyPr>
          <a:lstStyle/>
          <a:p>
            <a:r>
              <a:rPr lang="en-US" sz="1800" kern="0" spc="-80" dirty="0">
                <a:solidFill>
                  <a:schemeClr val="accent2"/>
                </a:solidFill>
              </a:rPr>
              <a:t> </a:t>
            </a:r>
            <a:endParaRPr lang="en-IN" dirty="0"/>
          </a:p>
        </p:txBody>
      </p:sp>
      <p:grpSp>
        <p:nvGrpSpPr>
          <p:cNvPr id="7" name="Group 6">
            <a:extLst>
              <a:ext uri="{FF2B5EF4-FFF2-40B4-BE49-F238E27FC236}">
                <a16:creationId xmlns:a16="http://schemas.microsoft.com/office/drawing/2014/main" id="{3368DB5C-C30B-D99D-C994-C97840F87789}"/>
              </a:ext>
            </a:extLst>
          </p:cNvPr>
          <p:cNvGrpSpPr/>
          <p:nvPr/>
        </p:nvGrpSpPr>
        <p:grpSpPr>
          <a:xfrm>
            <a:off x="20320" y="-30047"/>
            <a:ext cx="9123680" cy="481253"/>
            <a:chOff x="0" y="0"/>
            <a:chExt cx="8716300" cy="481253"/>
          </a:xfrm>
        </p:grpSpPr>
        <p:sp>
          <p:nvSpPr>
            <p:cNvPr id="9" name="Rectangle: Rounded Corners 8">
              <a:extLst>
                <a:ext uri="{FF2B5EF4-FFF2-40B4-BE49-F238E27FC236}">
                  <a16:creationId xmlns:a16="http://schemas.microsoft.com/office/drawing/2014/main" id="{EB7974ED-373E-90C2-ECA1-4F8934D25B4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599295E0-B1D9-7B82-0361-DC07A2558FA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61598884"/>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7582B-60D1-2B36-EF94-4B47D7A8639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9BFF297-C370-012F-B093-90FA80F0C34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8E88100-1FC0-2494-A693-69BB4E61D62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3DF155A-DF7A-AE56-1971-906CF52AE74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6F3A09C-FD14-B20F-B2DA-A9DCF378B87E}"/>
              </a:ext>
            </a:extLst>
          </p:cNvPr>
          <p:cNvSpPr txBox="1">
            <a:spLocks/>
          </p:cNvSpPr>
          <p:nvPr/>
        </p:nvSpPr>
        <p:spPr>
          <a:xfrm>
            <a:off x="76200" y="697468"/>
            <a:ext cx="8624937" cy="47859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InfoSec, </a:t>
            </a:r>
            <a:r>
              <a:rPr lang="en-US" sz="1700" kern="0" spc="-80" dirty="0" err="1">
                <a:solidFill>
                  <a:schemeClr val="accent2"/>
                </a:solidFill>
              </a:rPr>
              <a:t>CyberSecurity</a:t>
            </a:r>
            <a:r>
              <a:rPr lang="en-US" sz="1700" kern="0" spc="-80" dirty="0">
                <a:solidFill>
                  <a:schemeClr val="accent2"/>
                </a:solidFill>
              </a:rPr>
              <a:t>, Network Security, Data Security</a:t>
            </a:r>
          </a:p>
          <a:p>
            <a:pPr marL="12700" marR="5080"/>
            <a:r>
              <a:rPr lang="en-IN" sz="1400" kern="0" spc="-80" dirty="0">
                <a:solidFill>
                  <a:schemeClr val="accent2"/>
                </a:solidFill>
              </a:rPr>
              <a:t>2️⃣ Cybersecurity – Digital-Only Focus</a:t>
            </a:r>
          </a:p>
          <a:p>
            <a:pPr marL="12700" marR="5080"/>
            <a:r>
              <a:rPr lang="en-IN" sz="1400" kern="0" spc="-80" dirty="0">
                <a:solidFill>
                  <a:schemeClr val="accent2"/>
                </a:solidFill>
              </a:rPr>
              <a:t>Example</a:t>
            </a:r>
          </a:p>
          <a:p>
            <a:pPr marL="12700" marR="5080"/>
            <a:r>
              <a:rPr lang="en-IN" sz="1400" kern="0" spc="-80" dirty="0">
                <a:solidFill>
                  <a:schemeClr val="accent6"/>
                </a:solidFill>
              </a:rPr>
              <a:t>Preventing ransomware attack</a:t>
            </a:r>
          </a:p>
          <a:p>
            <a:pPr marL="12700" marR="5080"/>
            <a:r>
              <a:rPr lang="en-IN" sz="1400" kern="0" spc="-80" dirty="0">
                <a:solidFill>
                  <a:schemeClr val="accent6"/>
                </a:solidFill>
              </a:rPr>
              <a:t>Protecting cloud workloads on AWS/Azure</a:t>
            </a:r>
          </a:p>
          <a:p>
            <a:pPr marL="12700" marR="5080"/>
            <a:r>
              <a:rPr lang="en-IN" sz="1400" kern="0" spc="-80" dirty="0">
                <a:solidFill>
                  <a:schemeClr val="accent6"/>
                </a:solidFill>
              </a:rPr>
              <a:t>Securing APIs from abuse</a:t>
            </a:r>
          </a:p>
          <a:p>
            <a:pPr marL="12700" marR="5080"/>
            <a:r>
              <a:rPr lang="en-IN" sz="1400" kern="0" spc="-80" dirty="0">
                <a:solidFill>
                  <a:schemeClr val="accent2"/>
                </a:solidFill>
              </a:rPr>
              <a:t>👉 Cybersecurity = Protecting digital assets from cyber threats</a:t>
            </a:r>
          </a:p>
          <a:p>
            <a:pPr marL="12700" marR="5080"/>
            <a:endParaRPr lang="en-IN" sz="1400" kern="0" spc="-80" dirty="0">
              <a:solidFill>
                <a:schemeClr val="accent2"/>
              </a:solidFill>
            </a:endParaRPr>
          </a:p>
          <a:p>
            <a:pPr marL="12700" marR="5080"/>
            <a:r>
              <a:rPr lang="en-IN" sz="1400" kern="0" spc="-80" dirty="0">
                <a:solidFill>
                  <a:schemeClr val="accent2"/>
                </a:solidFill>
              </a:rPr>
              <a:t>3️⃣ Network Security – Traffic &amp; Connectivity Protection</a:t>
            </a:r>
          </a:p>
          <a:p>
            <a:pPr marL="12700" marR="5080"/>
            <a:r>
              <a:rPr lang="en-IN" sz="1400" kern="0" spc="-80" dirty="0">
                <a:solidFill>
                  <a:schemeClr val="accent2"/>
                </a:solidFill>
              </a:rPr>
              <a:t>Definition</a:t>
            </a:r>
          </a:p>
          <a:p>
            <a:pPr marL="12700" marR="5080"/>
            <a:r>
              <a:rPr lang="en-IN" sz="1400" kern="0" spc="-80" dirty="0">
                <a:solidFill>
                  <a:schemeClr val="accent6"/>
                </a:solidFill>
              </a:rPr>
              <a:t>Network Security focuses on protecting data in transit and network infrastructure.</a:t>
            </a:r>
          </a:p>
          <a:p>
            <a:pPr marL="12700" marR="5080"/>
            <a:r>
              <a:rPr lang="en-IN" sz="1400" kern="0" spc="-80" dirty="0">
                <a:solidFill>
                  <a:schemeClr val="accent6"/>
                </a:solidFill>
              </a:rPr>
              <a:t>It’s about who can talk to whom, and how safely.</a:t>
            </a:r>
          </a:p>
          <a:p>
            <a:pPr marL="12700" marR="5080"/>
            <a:r>
              <a:rPr lang="en-IN" sz="1400" kern="0" spc="-80" dirty="0">
                <a:solidFill>
                  <a:schemeClr val="accent2"/>
                </a:solidFill>
              </a:rPr>
              <a:t>Scope</a:t>
            </a:r>
          </a:p>
          <a:p>
            <a:pPr marL="12700" marR="5080"/>
            <a:r>
              <a:rPr lang="en-IN" sz="1400" kern="0" spc="-80" dirty="0">
                <a:solidFill>
                  <a:schemeClr val="accent6"/>
                </a:solidFill>
              </a:rPr>
              <a:t>Routers, switches</a:t>
            </a:r>
          </a:p>
          <a:p>
            <a:pPr marL="12700" marR="5080"/>
            <a:r>
              <a:rPr lang="en-IN" sz="1400" kern="0" spc="-80" dirty="0">
                <a:solidFill>
                  <a:schemeClr val="accent6"/>
                </a:solidFill>
              </a:rPr>
              <a:t>Firewalls</a:t>
            </a:r>
          </a:p>
          <a:p>
            <a:pPr marL="12700" marR="5080"/>
            <a:r>
              <a:rPr lang="en-IN" sz="1400" kern="0" spc="-80" dirty="0">
                <a:solidFill>
                  <a:schemeClr val="accent6"/>
                </a:solidFill>
              </a:rPr>
              <a:t>VPNs</a:t>
            </a:r>
          </a:p>
          <a:p>
            <a:pPr marL="12700" marR="5080"/>
            <a:r>
              <a:rPr lang="en-IN" sz="1400" kern="0" spc="-80" dirty="0">
                <a:solidFill>
                  <a:schemeClr val="accent6"/>
                </a:solidFill>
              </a:rPr>
              <a:t>Network traffic</a:t>
            </a:r>
          </a:p>
          <a:p>
            <a:pPr marL="12700" marR="5080"/>
            <a:r>
              <a:rPr lang="en-IN" sz="1400" kern="0" spc="-80" dirty="0">
                <a:solidFill>
                  <a:schemeClr val="accent6"/>
                </a:solidFill>
              </a:rPr>
              <a:t>DNS</a:t>
            </a:r>
          </a:p>
          <a:p>
            <a:pPr marL="12700" marR="5080"/>
            <a:r>
              <a:rPr lang="en-IN" sz="1400" kern="0" spc="-80" dirty="0">
                <a:solidFill>
                  <a:schemeClr val="accent6"/>
                </a:solidFill>
              </a:rPr>
              <a:t>Network segmentation</a:t>
            </a:r>
          </a:p>
          <a:p>
            <a:pPr marL="12700" marR="5080"/>
            <a:r>
              <a:rPr lang="en-IN" sz="1400" kern="0" spc="-80" dirty="0">
                <a:solidFill>
                  <a:schemeClr val="accent6"/>
                </a:solidFill>
              </a:rPr>
              <a:t>Threats Addressed</a:t>
            </a:r>
          </a:p>
          <a:p>
            <a:pPr marL="12700" marR="5080"/>
            <a:r>
              <a:rPr lang="en-IN" sz="1400" kern="0" spc="-80" dirty="0">
                <a:solidFill>
                  <a:schemeClr val="accent6"/>
                </a:solidFill>
              </a:rPr>
              <a:t>Man-in-the-middle (MITM)</a:t>
            </a:r>
          </a:p>
          <a:p>
            <a:pPr marL="12700" marR="5080"/>
            <a:r>
              <a:rPr lang="en-IN" sz="1400" kern="0" spc="-80" dirty="0">
                <a:solidFill>
                  <a:schemeClr val="accent6"/>
                </a:solidFill>
              </a:rPr>
              <a:t>Packet sniffing</a:t>
            </a:r>
          </a:p>
        </p:txBody>
      </p:sp>
      <p:sp>
        <p:nvSpPr>
          <p:cNvPr id="8" name="TextBox 7">
            <a:extLst>
              <a:ext uri="{FF2B5EF4-FFF2-40B4-BE49-F238E27FC236}">
                <a16:creationId xmlns:a16="http://schemas.microsoft.com/office/drawing/2014/main" id="{DA01B8FF-CF99-B958-0511-70738C0F90D5}"/>
              </a:ext>
            </a:extLst>
          </p:cNvPr>
          <p:cNvSpPr txBox="1"/>
          <p:nvPr/>
        </p:nvSpPr>
        <p:spPr>
          <a:xfrm>
            <a:off x="76199" y="5297269"/>
            <a:ext cx="8841377" cy="369332"/>
          </a:xfrm>
          <a:prstGeom prst="rect">
            <a:avLst/>
          </a:prstGeom>
          <a:noFill/>
        </p:spPr>
        <p:txBody>
          <a:bodyPr wrap="square">
            <a:spAutoFit/>
          </a:bodyPr>
          <a:lstStyle/>
          <a:p>
            <a:r>
              <a:rPr lang="en-US" sz="1800" kern="0" spc="-80" dirty="0">
                <a:solidFill>
                  <a:schemeClr val="accent2"/>
                </a:solidFill>
              </a:rPr>
              <a:t> </a:t>
            </a:r>
            <a:endParaRPr lang="en-IN" dirty="0"/>
          </a:p>
        </p:txBody>
      </p:sp>
      <p:grpSp>
        <p:nvGrpSpPr>
          <p:cNvPr id="7" name="Group 6">
            <a:extLst>
              <a:ext uri="{FF2B5EF4-FFF2-40B4-BE49-F238E27FC236}">
                <a16:creationId xmlns:a16="http://schemas.microsoft.com/office/drawing/2014/main" id="{0EEFA46A-7E21-A922-8617-C8E9DA9A773D}"/>
              </a:ext>
            </a:extLst>
          </p:cNvPr>
          <p:cNvGrpSpPr/>
          <p:nvPr/>
        </p:nvGrpSpPr>
        <p:grpSpPr>
          <a:xfrm>
            <a:off x="20320" y="-30047"/>
            <a:ext cx="9123680" cy="481253"/>
            <a:chOff x="0" y="0"/>
            <a:chExt cx="8716300" cy="481253"/>
          </a:xfrm>
        </p:grpSpPr>
        <p:sp>
          <p:nvSpPr>
            <p:cNvPr id="9" name="Rectangle: Rounded Corners 8">
              <a:extLst>
                <a:ext uri="{FF2B5EF4-FFF2-40B4-BE49-F238E27FC236}">
                  <a16:creationId xmlns:a16="http://schemas.microsoft.com/office/drawing/2014/main" id="{24A10D06-605D-8B74-D3F0-B91B4584EA7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E8B8A68A-9E86-E481-0888-C200C7B9219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598734193"/>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9CC73-EAF6-E11B-9F0C-574EF70EC68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2703D6B-329D-A1EB-8247-BE3097B18B8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144B377-3755-65D3-5E60-8ED386A0619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33D00F1-FB0B-E7E5-F6E9-D3B9A477329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3CB1D5EB-8493-E408-C090-B6CEA82F591C}"/>
              </a:ext>
            </a:extLst>
          </p:cNvPr>
          <p:cNvSpPr txBox="1">
            <a:spLocks/>
          </p:cNvSpPr>
          <p:nvPr/>
        </p:nvSpPr>
        <p:spPr>
          <a:xfrm>
            <a:off x="76200" y="697468"/>
            <a:ext cx="8624937" cy="47859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InfoSec, </a:t>
            </a:r>
            <a:r>
              <a:rPr lang="en-US" sz="1700" kern="0" spc="-80" dirty="0" err="1">
                <a:solidFill>
                  <a:schemeClr val="accent2"/>
                </a:solidFill>
              </a:rPr>
              <a:t>CyberSecurity</a:t>
            </a:r>
            <a:r>
              <a:rPr lang="en-US" sz="1700" kern="0" spc="-80" dirty="0">
                <a:solidFill>
                  <a:schemeClr val="accent2"/>
                </a:solidFill>
              </a:rPr>
              <a:t>, Network Security, Data Security</a:t>
            </a:r>
          </a:p>
          <a:p>
            <a:pPr marL="12700" marR="5080"/>
            <a:r>
              <a:rPr lang="en-IN" sz="1400" kern="0" spc="-80" dirty="0">
                <a:solidFill>
                  <a:schemeClr val="accent2"/>
                </a:solidFill>
              </a:rPr>
              <a:t>3️⃣ Network Security – Traffic &amp; Connectivity Protection</a:t>
            </a:r>
          </a:p>
          <a:p>
            <a:pPr marL="12700" marR="5080"/>
            <a:r>
              <a:rPr lang="en-IN" sz="1400" kern="0" spc="-80" dirty="0">
                <a:solidFill>
                  <a:schemeClr val="accent2"/>
                </a:solidFill>
              </a:rPr>
              <a:t>Scope</a:t>
            </a:r>
          </a:p>
          <a:p>
            <a:pPr marL="12700" marR="5080"/>
            <a:r>
              <a:rPr lang="en-IN" sz="1400" kern="0" spc="-80" dirty="0">
                <a:solidFill>
                  <a:schemeClr val="accent6"/>
                </a:solidFill>
              </a:rPr>
              <a:t>DDoS</a:t>
            </a:r>
          </a:p>
          <a:p>
            <a:pPr marL="12700" marR="5080"/>
            <a:r>
              <a:rPr lang="en-IN" sz="1400" kern="0" spc="-80" dirty="0">
                <a:solidFill>
                  <a:schemeClr val="accent6"/>
                </a:solidFill>
              </a:rPr>
              <a:t>Lateral movement</a:t>
            </a:r>
          </a:p>
          <a:p>
            <a:pPr marL="12700" marR="5080"/>
            <a:r>
              <a:rPr lang="en-IN" sz="1400" kern="0" spc="-80" dirty="0">
                <a:solidFill>
                  <a:schemeClr val="accent6"/>
                </a:solidFill>
              </a:rPr>
              <a:t>Unauthorized access</a:t>
            </a:r>
          </a:p>
          <a:p>
            <a:pPr marL="12700" marR="5080"/>
            <a:r>
              <a:rPr lang="en-IN" sz="1400" kern="0" spc="-80" dirty="0">
                <a:solidFill>
                  <a:schemeClr val="accent6"/>
                </a:solidFill>
              </a:rPr>
              <a:t>Controls Used</a:t>
            </a:r>
          </a:p>
          <a:p>
            <a:pPr marL="12700" marR="5080"/>
            <a:r>
              <a:rPr lang="en-IN" sz="1400" kern="0" spc="-80" dirty="0">
                <a:solidFill>
                  <a:schemeClr val="accent6"/>
                </a:solidFill>
              </a:rPr>
              <a:t>Firewalls (L3–L7)</a:t>
            </a:r>
          </a:p>
          <a:p>
            <a:pPr marL="12700" marR="5080"/>
            <a:r>
              <a:rPr lang="en-IN" sz="1400" kern="0" spc="-80" dirty="0">
                <a:solidFill>
                  <a:schemeClr val="accent6"/>
                </a:solidFill>
              </a:rPr>
              <a:t>IDS/IPS</a:t>
            </a:r>
          </a:p>
          <a:p>
            <a:pPr marL="12700" marR="5080"/>
            <a:r>
              <a:rPr lang="en-IN" sz="1400" kern="0" spc="-80" dirty="0">
                <a:solidFill>
                  <a:schemeClr val="accent6"/>
                </a:solidFill>
              </a:rPr>
              <a:t>VPNs</a:t>
            </a:r>
          </a:p>
          <a:p>
            <a:pPr marL="12700" marR="5080"/>
            <a:r>
              <a:rPr lang="en-IN" sz="1400" kern="0" spc="-80" dirty="0">
                <a:solidFill>
                  <a:schemeClr val="accent6"/>
                </a:solidFill>
              </a:rPr>
              <a:t>Zero Trust Network Access (ZTNA)</a:t>
            </a:r>
          </a:p>
          <a:p>
            <a:pPr marL="12700" marR="5080"/>
            <a:r>
              <a:rPr lang="en-IN" sz="1400" kern="0" spc="-80" dirty="0">
                <a:solidFill>
                  <a:schemeClr val="accent6"/>
                </a:solidFill>
              </a:rPr>
              <a:t>Network segmentation (VLANs, </a:t>
            </a:r>
            <a:r>
              <a:rPr lang="en-IN" sz="1400" kern="0" spc="-80" dirty="0" err="1">
                <a:solidFill>
                  <a:schemeClr val="accent6"/>
                </a:solidFill>
              </a:rPr>
              <a:t>microsegmentation</a:t>
            </a:r>
            <a:r>
              <a:rPr lang="en-IN" sz="1400" kern="0" spc="-80" dirty="0">
                <a:solidFill>
                  <a:schemeClr val="accent6"/>
                </a:solidFill>
              </a:rPr>
              <a:t>)</a:t>
            </a:r>
          </a:p>
          <a:p>
            <a:pPr marL="12700" marR="5080"/>
            <a:r>
              <a:rPr lang="en-IN" sz="1400" kern="0" spc="-80" dirty="0">
                <a:solidFill>
                  <a:schemeClr val="accent2"/>
                </a:solidFill>
              </a:rPr>
              <a:t>Example</a:t>
            </a:r>
          </a:p>
          <a:p>
            <a:pPr marL="12700" marR="5080"/>
            <a:r>
              <a:rPr lang="en-IN" sz="1400" kern="0" spc="-80" dirty="0">
                <a:solidFill>
                  <a:schemeClr val="accent6"/>
                </a:solidFill>
              </a:rPr>
              <a:t>Blocking malicious IPs</a:t>
            </a:r>
          </a:p>
          <a:p>
            <a:pPr marL="12700" marR="5080"/>
            <a:r>
              <a:rPr lang="en-IN" sz="1400" kern="0" spc="-80" dirty="0">
                <a:solidFill>
                  <a:schemeClr val="accent6"/>
                </a:solidFill>
              </a:rPr>
              <a:t>Encrypting traffic using TLS/IPSec</a:t>
            </a:r>
          </a:p>
          <a:p>
            <a:pPr marL="12700" marR="5080"/>
            <a:r>
              <a:rPr lang="en-IN" sz="1400" kern="0" spc="-80" dirty="0">
                <a:solidFill>
                  <a:schemeClr val="accent6"/>
                </a:solidFill>
              </a:rPr>
              <a:t>Preventing lateral movement inside a data </a:t>
            </a:r>
            <a:r>
              <a:rPr lang="en-IN" sz="1400" kern="0" spc="-80" dirty="0" err="1">
                <a:solidFill>
                  <a:schemeClr val="accent6"/>
                </a:solidFill>
              </a:rPr>
              <a:t>center</a:t>
            </a:r>
            <a:endParaRPr lang="en-IN" sz="1400" kern="0" spc="-80" dirty="0">
              <a:solidFill>
                <a:schemeClr val="accent6"/>
              </a:solidFill>
            </a:endParaRPr>
          </a:p>
          <a:p>
            <a:pPr marL="12700" marR="5080"/>
            <a:r>
              <a:rPr lang="en-IN" sz="1400" kern="0" spc="-80" dirty="0">
                <a:solidFill>
                  <a:schemeClr val="accent2"/>
                </a:solidFill>
              </a:rPr>
              <a:t>👉 Network Security = Securing data in motion &amp; network pathways</a:t>
            </a:r>
          </a:p>
          <a:p>
            <a:pPr marL="12700" marR="5080"/>
            <a:endParaRPr lang="en-IN" sz="1400" kern="0" spc="-80" dirty="0">
              <a:solidFill>
                <a:schemeClr val="accent2"/>
              </a:solidFill>
            </a:endParaRPr>
          </a:p>
          <a:p>
            <a:pPr marL="12700" marR="5080"/>
            <a:r>
              <a:rPr lang="en-IN" sz="1400" kern="0" spc="-80" dirty="0">
                <a:solidFill>
                  <a:schemeClr val="accent2"/>
                </a:solidFill>
              </a:rPr>
              <a:t>4️⃣ Data Security – Data-Centric Protection</a:t>
            </a:r>
          </a:p>
          <a:p>
            <a:pPr marL="12700" marR="5080"/>
            <a:r>
              <a:rPr lang="en-IN" sz="1400" kern="0" spc="-80" dirty="0">
                <a:solidFill>
                  <a:schemeClr val="accent2"/>
                </a:solidFill>
              </a:rPr>
              <a:t>Definition</a:t>
            </a:r>
          </a:p>
          <a:p>
            <a:pPr marL="12700" marR="5080"/>
            <a:r>
              <a:rPr lang="en-IN" sz="1400" kern="0" spc="-80" dirty="0">
                <a:solidFill>
                  <a:schemeClr val="accent6"/>
                </a:solidFill>
              </a:rPr>
              <a:t>Data Security focuses on protecting the data itself, regardless of where it lives or moves.</a:t>
            </a:r>
          </a:p>
          <a:p>
            <a:pPr marL="12700" marR="5080"/>
            <a:r>
              <a:rPr lang="en-IN" sz="1400" kern="0" spc="-80" dirty="0">
                <a:solidFill>
                  <a:schemeClr val="accent6"/>
                </a:solidFill>
              </a:rPr>
              <a:t>Even if everything else fails, the data should remain safe.</a:t>
            </a:r>
            <a:endParaRPr lang="en-US" sz="2400" kern="0" spc="-80" dirty="0">
              <a:solidFill>
                <a:schemeClr val="accent2"/>
              </a:solidFill>
            </a:endParaRPr>
          </a:p>
        </p:txBody>
      </p:sp>
      <p:sp>
        <p:nvSpPr>
          <p:cNvPr id="8" name="TextBox 7">
            <a:extLst>
              <a:ext uri="{FF2B5EF4-FFF2-40B4-BE49-F238E27FC236}">
                <a16:creationId xmlns:a16="http://schemas.microsoft.com/office/drawing/2014/main" id="{10F9EF97-9976-114D-F75F-0DC53015EAD6}"/>
              </a:ext>
            </a:extLst>
          </p:cNvPr>
          <p:cNvSpPr txBox="1"/>
          <p:nvPr/>
        </p:nvSpPr>
        <p:spPr>
          <a:xfrm>
            <a:off x="76199" y="5297269"/>
            <a:ext cx="8841377" cy="369332"/>
          </a:xfrm>
          <a:prstGeom prst="rect">
            <a:avLst/>
          </a:prstGeom>
          <a:noFill/>
        </p:spPr>
        <p:txBody>
          <a:bodyPr wrap="square">
            <a:spAutoFit/>
          </a:bodyPr>
          <a:lstStyle/>
          <a:p>
            <a:r>
              <a:rPr lang="en-US" sz="1800" kern="0" spc="-80" dirty="0">
                <a:solidFill>
                  <a:schemeClr val="accent2"/>
                </a:solidFill>
              </a:rPr>
              <a:t> </a:t>
            </a:r>
            <a:endParaRPr lang="en-IN" dirty="0"/>
          </a:p>
        </p:txBody>
      </p:sp>
      <p:grpSp>
        <p:nvGrpSpPr>
          <p:cNvPr id="7" name="Group 6">
            <a:extLst>
              <a:ext uri="{FF2B5EF4-FFF2-40B4-BE49-F238E27FC236}">
                <a16:creationId xmlns:a16="http://schemas.microsoft.com/office/drawing/2014/main" id="{7BE53EFF-87B2-98D3-FF8E-D07C547F28D0}"/>
              </a:ext>
            </a:extLst>
          </p:cNvPr>
          <p:cNvGrpSpPr/>
          <p:nvPr/>
        </p:nvGrpSpPr>
        <p:grpSpPr>
          <a:xfrm>
            <a:off x="20320" y="-30047"/>
            <a:ext cx="9123680" cy="481253"/>
            <a:chOff x="0" y="0"/>
            <a:chExt cx="8716300" cy="481253"/>
          </a:xfrm>
        </p:grpSpPr>
        <p:sp>
          <p:nvSpPr>
            <p:cNvPr id="9" name="Rectangle: Rounded Corners 8">
              <a:extLst>
                <a:ext uri="{FF2B5EF4-FFF2-40B4-BE49-F238E27FC236}">
                  <a16:creationId xmlns:a16="http://schemas.microsoft.com/office/drawing/2014/main" id="{3F1D4BFA-C414-12BD-D4EB-00E2D6F08C1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3E13DF6F-F4E7-5A5A-4E43-8F3337605A6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186391276"/>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EF820-14C9-1625-EA94-DDB526060B2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41A9A42-0C21-3DF1-10C0-49A31FADEB2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F48B44F-1FCB-EB4C-4077-839CBFFEC04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3838CB7-8EE5-8D70-4CAB-97338751C5F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E14C38E-F91E-FCD1-6E56-756405EA661C}"/>
              </a:ext>
            </a:extLst>
          </p:cNvPr>
          <p:cNvSpPr txBox="1">
            <a:spLocks/>
          </p:cNvSpPr>
          <p:nvPr/>
        </p:nvSpPr>
        <p:spPr>
          <a:xfrm>
            <a:off x="76200" y="697468"/>
            <a:ext cx="8624937" cy="47859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InfoSec, </a:t>
            </a:r>
            <a:r>
              <a:rPr lang="en-US" sz="1700" kern="0" spc="-80" dirty="0" err="1">
                <a:solidFill>
                  <a:schemeClr val="accent2"/>
                </a:solidFill>
              </a:rPr>
              <a:t>CyberSecurity</a:t>
            </a:r>
            <a:r>
              <a:rPr lang="en-US" sz="1700" kern="0" spc="-80" dirty="0">
                <a:solidFill>
                  <a:schemeClr val="accent2"/>
                </a:solidFill>
              </a:rPr>
              <a:t>, Network Security, Data Security</a:t>
            </a:r>
          </a:p>
          <a:p>
            <a:pPr marL="12700" marR="5080"/>
            <a:r>
              <a:rPr lang="en-IN" sz="1400" kern="0" spc="-80" dirty="0">
                <a:solidFill>
                  <a:schemeClr val="accent2"/>
                </a:solidFill>
              </a:rPr>
              <a:t>4️⃣ Data Security – Data-Centric Protection</a:t>
            </a:r>
          </a:p>
          <a:p>
            <a:pPr marL="12700" marR="5080"/>
            <a:r>
              <a:rPr lang="en-IN" sz="1400" kern="0" spc="-80" dirty="0">
                <a:solidFill>
                  <a:schemeClr val="accent2"/>
                </a:solidFill>
              </a:rPr>
              <a:t>Scope</a:t>
            </a:r>
          </a:p>
          <a:p>
            <a:pPr marL="12700" marR="5080"/>
            <a:r>
              <a:rPr lang="en-IN" sz="1400" kern="0" spc="-80" dirty="0">
                <a:solidFill>
                  <a:schemeClr val="accent6"/>
                </a:solidFill>
              </a:rPr>
              <a:t>Databases</a:t>
            </a:r>
          </a:p>
          <a:p>
            <a:pPr marL="12700" marR="5080"/>
            <a:r>
              <a:rPr lang="en-IN" sz="1400" kern="0" spc="-80" dirty="0">
                <a:solidFill>
                  <a:schemeClr val="accent6"/>
                </a:solidFill>
              </a:rPr>
              <a:t>Files</a:t>
            </a:r>
          </a:p>
          <a:p>
            <a:pPr marL="12700" marR="5080"/>
            <a:r>
              <a:rPr lang="en-IN" sz="1400" kern="0" spc="-80" dirty="0">
                <a:solidFill>
                  <a:schemeClr val="accent6"/>
                </a:solidFill>
              </a:rPr>
              <a:t>Backups</a:t>
            </a:r>
          </a:p>
          <a:p>
            <a:pPr marL="12700" marR="5080"/>
            <a:r>
              <a:rPr lang="en-IN" sz="1400" kern="0" spc="-80" dirty="0">
                <a:solidFill>
                  <a:schemeClr val="accent6"/>
                </a:solidFill>
              </a:rPr>
              <a:t>Data lakes</a:t>
            </a:r>
          </a:p>
          <a:p>
            <a:pPr marL="12700" marR="5080"/>
            <a:r>
              <a:rPr lang="en-IN" sz="1400" kern="0" spc="-80" dirty="0">
                <a:solidFill>
                  <a:schemeClr val="accent6"/>
                </a:solidFill>
              </a:rPr>
              <a:t>Data pipelines</a:t>
            </a:r>
          </a:p>
          <a:p>
            <a:pPr marL="12700" marR="5080"/>
            <a:r>
              <a:rPr lang="en-IN" sz="1400" kern="0" spc="-80" dirty="0">
                <a:solidFill>
                  <a:schemeClr val="accent6"/>
                </a:solidFill>
              </a:rPr>
              <a:t>Analytics platforms</a:t>
            </a:r>
          </a:p>
          <a:p>
            <a:pPr marL="12700" marR="5080"/>
            <a:r>
              <a:rPr lang="en-IN" sz="1400" kern="0" spc="-80" dirty="0">
                <a:solidFill>
                  <a:schemeClr val="accent6"/>
                </a:solidFill>
              </a:rPr>
              <a:t>Threats Addressed</a:t>
            </a:r>
          </a:p>
          <a:p>
            <a:pPr marL="12700" marR="5080"/>
            <a:r>
              <a:rPr lang="en-IN" sz="1400" kern="0" spc="-80" dirty="0">
                <a:solidFill>
                  <a:schemeClr val="accent6"/>
                </a:solidFill>
              </a:rPr>
              <a:t>Data breaches</a:t>
            </a:r>
          </a:p>
          <a:p>
            <a:pPr marL="12700" marR="5080"/>
            <a:r>
              <a:rPr lang="en-IN" sz="1400" kern="0" spc="-80" dirty="0">
                <a:solidFill>
                  <a:schemeClr val="accent6"/>
                </a:solidFill>
              </a:rPr>
              <a:t>Insider threats</a:t>
            </a:r>
          </a:p>
          <a:p>
            <a:pPr marL="12700" marR="5080"/>
            <a:r>
              <a:rPr lang="en-IN" sz="1400" kern="0" spc="-80" dirty="0">
                <a:solidFill>
                  <a:schemeClr val="accent6"/>
                </a:solidFill>
              </a:rPr>
              <a:t>Data leakage</a:t>
            </a:r>
          </a:p>
          <a:p>
            <a:pPr marL="12700" marR="5080"/>
            <a:r>
              <a:rPr lang="en-IN" sz="1400" kern="0" spc="-80" dirty="0">
                <a:solidFill>
                  <a:schemeClr val="accent6"/>
                </a:solidFill>
              </a:rPr>
              <a:t>Unauthorized access</a:t>
            </a:r>
          </a:p>
          <a:p>
            <a:pPr marL="12700" marR="5080"/>
            <a:r>
              <a:rPr lang="en-IN" sz="1400" kern="0" spc="-80" dirty="0">
                <a:solidFill>
                  <a:schemeClr val="accent6"/>
                </a:solidFill>
              </a:rPr>
              <a:t>Accidental exposure</a:t>
            </a:r>
          </a:p>
          <a:p>
            <a:pPr marL="12700" marR="5080"/>
            <a:r>
              <a:rPr lang="en-IN" sz="1400" kern="0" spc="-80" dirty="0">
                <a:solidFill>
                  <a:schemeClr val="accent2"/>
                </a:solidFill>
              </a:rPr>
              <a:t>Controls Used</a:t>
            </a:r>
          </a:p>
          <a:p>
            <a:pPr marL="12700" marR="5080"/>
            <a:r>
              <a:rPr lang="en-IN" sz="1400" kern="0" spc="-80" dirty="0">
                <a:solidFill>
                  <a:schemeClr val="accent6"/>
                </a:solidFill>
              </a:rPr>
              <a:t>Encryption at rest &amp; in transit</a:t>
            </a:r>
          </a:p>
          <a:p>
            <a:pPr marL="12700" marR="5080"/>
            <a:r>
              <a:rPr lang="en-IN" sz="1400" kern="0" spc="-80" dirty="0">
                <a:solidFill>
                  <a:schemeClr val="accent6"/>
                </a:solidFill>
              </a:rPr>
              <a:t>Tokenization</a:t>
            </a:r>
          </a:p>
          <a:p>
            <a:pPr marL="12700" marR="5080"/>
            <a:r>
              <a:rPr lang="en-IN" sz="1400" kern="0" spc="-80" dirty="0">
                <a:solidFill>
                  <a:schemeClr val="accent6"/>
                </a:solidFill>
              </a:rPr>
              <a:t>Data masking</a:t>
            </a:r>
          </a:p>
          <a:p>
            <a:pPr marL="12700" marR="5080"/>
            <a:r>
              <a:rPr lang="en-IN" sz="1400" kern="0" spc="-80" dirty="0">
                <a:solidFill>
                  <a:schemeClr val="accent6"/>
                </a:solidFill>
              </a:rPr>
              <a:t>DLP (Data Loss Prevention)</a:t>
            </a:r>
          </a:p>
          <a:p>
            <a:pPr marL="12700" marR="5080"/>
            <a:r>
              <a:rPr lang="en-IN" sz="1400" kern="0" spc="-80" dirty="0">
                <a:solidFill>
                  <a:schemeClr val="accent6"/>
                </a:solidFill>
              </a:rPr>
              <a:t>Access controls</a:t>
            </a:r>
          </a:p>
          <a:p>
            <a:pPr marL="12700" marR="5080"/>
            <a:r>
              <a:rPr lang="en-IN" sz="1400" kern="0" spc="-80" dirty="0">
                <a:solidFill>
                  <a:schemeClr val="accent6"/>
                </a:solidFill>
              </a:rPr>
              <a:t>Key management (HSM, KMS)</a:t>
            </a:r>
            <a:endParaRPr lang="en-US" sz="2400" kern="0" spc="-80" dirty="0">
              <a:solidFill>
                <a:schemeClr val="accent2"/>
              </a:solidFill>
            </a:endParaRPr>
          </a:p>
        </p:txBody>
      </p:sp>
      <p:sp>
        <p:nvSpPr>
          <p:cNvPr id="8" name="TextBox 7">
            <a:extLst>
              <a:ext uri="{FF2B5EF4-FFF2-40B4-BE49-F238E27FC236}">
                <a16:creationId xmlns:a16="http://schemas.microsoft.com/office/drawing/2014/main" id="{39188B25-D2BA-EE9A-B521-0E0BCF2D4D9D}"/>
              </a:ext>
            </a:extLst>
          </p:cNvPr>
          <p:cNvSpPr txBox="1"/>
          <p:nvPr/>
        </p:nvSpPr>
        <p:spPr>
          <a:xfrm>
            <a:off x="76199" y="5297269"/>
            <a:ext cx="8841377" cy="369332"/>
          </a:xfrm>
          <a:prstGeom prst="rect">
            <a:avLst/>
          </a:prstGeom>
          <a:noFill/>
        </p:spPr>
        <p:txBody>
          <a:bodyPr wrap="square">
            <a:spAutoFit/>
          </a:bodyPr>
          <a:lstStyle/>
          <a:p>
            <a:r>
              <a:rPr lang="en-US" sz="1800" kern="0" spc="-80" dirty="0">
                <a:solidFill>
                  <a:schemeClr val="accent2"/>
                </a:solidFill>
              </a:rPr>
              <a:t> </a:t>
            </a:r>
            <a:endParaRPr lang="en-IN" dirty="0"/>
          </a:p>
        </p:txBody>
      </p:sp>
      <p:grpSp>
        <p:nvGrpSpPr>
          <p:cNvPr id="7" name="Group 6">
            <a:extLst>
              <a:ext uri="{FF2B5EF4-FFF2-40B4-BE49-F238E27FC236}">
                <a16:creationId xmlns:a16="http://schemas.microsoft.com/office/drawing/2014/main" id="{38944C79-E7E6-09EC-15DC-C58B957AE159}"/>
              </a:ext>
            </a:extLst>
          </p:cNvPr>
          <p:cNvGrpSpPr/>
          <p:nvPr/>
        </p:nvGrpSpPr>
        <p:grpSpPr>
          <a:xfrm>
            <a:off x="20320" y="-30047"/>
            <a:ext cx="9123680" cy="481253"/>
            <a:chOff x="0" y="0"/>
            <a:chExt cx="8716300" cy="481253"/>
          </a:xfrm>
        </p:grpSpPr>
        <p:sp>
          <p:nvSpPr>
            <p:cNvPr id="9" name="Rectangle: Rounded Corners 8">
              <a:extLst>
                <a:ext uri="{FF2B5EF4-FFF2-40B4-BE49-F238E27FC236}">
                  <a16:creationId xmlns:a16="http://schemas.microsoft.com/office/drawing/2014/main" id="{99B9AADD-17C7-AD21-D8B2-E2DC415595F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EDF780BB-B0A6-3301-2AAF-EF14E66ED02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965006437"/>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01EC2-0175-63E9-FD62-C78F06B2CFC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0BB9E13-70C4-5B22-4B1D-3841D230326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B191761-79E9-1EBE-6824-619B70DDEC7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2555749-560C-CA38-A6B0-2BC08CC7ED7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3E5EFB8-956D-AD6B-0DA3-BBFD88EC5E4A}"/>
              </a:ext>
            </a:extLst>
          </p:cNvPr>
          <p:cNvSpPr txBox="1">
            <a:spLocks/>
          </p:cNvSpPr>
          <p:nvPr/>
        </p:nvSpPr>
        <p:spPr>
          <a:xfrm>
            <a:off x="76200" y="697468"/>
            <a:ext cx="8624937" cy="47859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InfoSec, </a:t>
            </a:r>
            <a:r>
              <a:rPr lang="en-US" sz="1700" kern="0" spc="-80" dirty="0" err="1">
                <a:solidFill>
                  <a:schemeClr val="accent2"/>
                </a:solidFill>
              </a:rPr>
              <a:t>CyberSecurity</a:t>
            </a:r>
            <a:r>
              <a:rPr lang="en-US" sz="1700" kern="0" spc="-80" dirty="0">
                <a:solidFill>
                  <a:schemeClr val="accent2"/>
                </a:solidFill>
              </a:rPr>
              <a:t>, Network Security, Data Security</a:t>
            </a:r>
          </a:p>
          <a:p>
            <a:pPr marL="12700" marR="5080"/>
            <a:r>
              <a:rPr lang="en-IN" sz="1400" kern="0" spc="-80" dirty="0">
                <a:solidFill>
                  <a:schemeClr val="accent2"/>
                </a:solidFill>
              </a:rPr>
              <a:t>4️⃣ Data Security – Data-Centric Protection</a:t>
            </a:r>
          </a:p>
          <a:p>
            <a:pPr marL="12700" marR="5080"/>
            <a:r>
              <a:rPr lang="en-IN" sz="1400" kern="0" spc="-80" dirty="0">
                <a:solidFill>
                  <a:schemeClr val="accent2"/>
                </a:solidFill>
              </a:rPr>
              <a:t>Example</a:t>
            </a:r>
          </a:p>
          <a:p>
            <a:pPr marL="12700" marR="5080"/>
            <a:r>
              <a:rPr lang="en-IN" sz="1400" kern="0" spc="-80" dirty="0">
                <a:solidFill>
                  <a:schemeClr val="accent6"/>
                </a:solidFill>
              </a:rPr>
              <a:t>Encrypting customer PII</a:t>
            </a:r>
          </a:p>
          <a:p>
            <a:pPr marL="12700" marR="5080"/>
            <a:r>
              <a:rPr lang="en-IN" sz="1400" kern="0" spc="-80" dirty="0">
                <a:solidFill>
                  <a:schemeClr val="accent6"/>
                </a:solidFill>
              </a:rPr>
              <a:t>Masking PAN numbers in logs</a:t>
            </a:r>
          </a:p>
          <a:p>
            <a:pPr marL="12700" marR="5080"/>
            <a:r>
              <a:rPr lang="en-IN" sz="1400" kern="0" spc="-80" dirty="0">
                <a:solidFill>
                  <a:schemeClr val="accent6"/>
                </a:solidFill>
              </a:rPr>
              <a:t>Preventing sensitive data upload to personal email</a:t>
            </a:r>
          </a:p>
          <a:p>
            <a:pPr marL="12700" marR="5080"/>
            <a:r>
              <a:rPr lang="en-IN" sz="1400" kern="0" spc="-80" dirty="0">
                <a:solidFill>
                  <a:schemeClr val="accent2"/>
                </a:solidFill>
              </a:rPr>
              <a:t>👉 Data Security = Protecting the payload, not the transport</a:t>
            </a:r>
          </a:p>
          <a:p>
            <a:pPr marL="12700" marR="5080"/>
            <a:r>
              <a:rPr lang="en-IN" sz="1400" kern="0" spc="-80" dirty="0">
                <a:solidFill>
                  <a:schemeClr val="accent2"/>
                </a:solidFill>
              </a:rPr>
              <a:t>🔁 Relationship Between Them </a:t>
            </a:r>
          </a:p>
          <a:p>
            <a:pPr marL="12700" marR="5080"/>
            <a:r>
              <a:rPr lang="en-IN" sz="1400" kern="0" spc="-80" dirty="0">
                <a:solidFill>
                  <a:schemeClr val="accent6"/>
                </a:solidFill>
              </a:rPr>
              <a:t>Information Security</a:t>
            </a:r>
          </a:p>
          <a:p>
            <a:pPr marL="12700" marR="5080"/>
            <a:r>
              <a:rPr lang="en-IN" sz="1400" kern="0" spc="-80" dirty="0">
                <a:solidFill>
                  <a:schemeClr val="accent6"/>
                </a:solidFill>
              </a:rPr>
              <a:t>│</a:t>
            </a:r>
          </a:p>
          <a:p>
            <a:pPr marL="12700" marR="5080"/>
            <a:r>
              <a:rPr lang="en-IN" sz="1400" kern="0" spc="-80" dirty="0">
                <a:solidFill>
                  <a:schemeClr val="accent6"/>
                </a:solidFill>
              </a:rPr>
              <a:t>├── Cybersecurity</a:t>
            </a:r>
          </a:p>
          <a:p>
            <a:pPr marL="12700" marR="5080"/>
            <a:r>
              <a:rPr lang="en-IN" sz="1400" kern="0" spc="-80" dirty="0">
                <a:solidFill>
                  <a:schemeClr val="accent6"/>
                </a:solidFill>
              </a:rPr>
              <a:t>│   │</a:t>
            </a:r>
          </a:p>
          <a:p>
            <a:pPr marL="12700" marR="5080"/>
            <a:r>
              <a:rPr lang="en-IN" sz="1400" kern="0" spc="-80" dirty="0">
                <a:solidFill>
                  <a:schemeClr val="accent6"/>
                </a:solidFill>
              </a:rPr>
              <a:t>│   ├── Network Security</a:t>
            </a:r>
          </a:p>
          <a:p>
            <a:pPr marL="12700" marR="5080"/>
            <a:r>
              <a:rPr lang="en-IN" sz="1400" kern="0" spc="-80" dirty="0">
                <a:solidFill>
                  <a:schemeClr val="accent6"/>
                </a:solidFill>
              </a:rPr>
              <a:t>│   │</a:t>
            </a:r>
          </a:p>
          <a:p>
            <a:pPr marL="12700" marR="5080"/>
            <a:r>
              <a:rPr lang="en-IN" sz="1400" kern="0" spc="-80" dirty="0">
                <a:solidFill>
                  <a:schemeClr val="accent6"/>
                </a:solidFill>
              </a:rPr>
              <a:t>│   └── Application Security</a:t>
            </a:r>
          </a:p>
          <a:p>
            <a:pPr marL="12700" marR="5080"/>
            <a:r>
              <a:rPr lang="en-IN" sz="1400" kern="0" spc="-80" dirty="0">
                <a:solidFill>
                  <a:schemeClr val="accent6"/>
                </a:solidFill>
              </a:rPr>
              <a:t>│</a:t>
            </a:r>
          </a:p>
          <a:p>
            <a:pPr marL="12700" marR="5080"/>
            <a:r>
              <a:rPr lang="en-IN" sz="1400" kern="0" spc="-80" dirty="0">
                <a:solidFill>
                  <a:schemeClr val="accent6"/>
                </a:solidFill>
              </a:rPr>
              <a:t>└── Data Security</a:t>
            </a:r>
          </a:p>
          <a:p>
            <a:pPr marL="12700" marR="5080"/>
            <a:r>
              <a:rPr lang="en-IN" sz="1400" kern="0" spc="-80" dirty="0">
                <a:solidFill>
                  <a:schemeClr val="accent2"/>
                </a:solidFill>
              </a:rPr>
              <a:t>Key Insight</a:t>
            </a:r>
          </a:p>
          <a:p>
            <a:pPr marL="12700" marR="5080"/>
            <a:r>
              <a:rPr lang="en-IN" sz="1400" kern="0" spc="-80" dirty="0">
                <a:solidFill>
                  <a:schemeClr val="accent6"/>
                </a:solidFill>
              </a:rPr>
              <a:t>InfoSec = What must be protected (information)</a:t>
            </a:r>
          </a:p>
          <a:p>
            <a:pPr marL="12700" marR="5080"/>
            <a:r>
              <a:rPr lang="en-IN" sz="1400" kern="0" spc="-80" dirty="0">
                <a:solidFill>
                  <a:schemeClr val="accent6"/>
                </a:solidFill>
              </a:rPr>
              <a:t>Cybersecurity = Where it is protected (cyberspace)</a:t>
            </a:r>
          </a:p>
          <a:p>
            <a:pPr marL="12700" marR="5080"/>
            <a:r>
              <a:rPr lang="en-IN" sz="1400" kern="0" spc="-80" dirty="0">
                <a:solidFill>
                  <a:schemeClr val="accent6"/>
                </a:solidFill>
              </a:rPr>
              <a:t>Network Security = How it moves safely</a:t>
            </a:r>
          </a:p>
          <a:p>
            <a:pPr marL="12700" marR="5080"/>
            <a:r>
              <a:rPr lang="en-IN" sz="1400" kern="0" spc="-80" dirty="0">
                <a:solidFill>
                  <a:schemeClr val="accent6"/>
                </a:solidFill>
              </a:rPr>
              <a:t>Data Security = How the data remains safe even if breached</a:t>
            </a:r>
          </a:p>
        </p:txBody>
      </p:sp>
      <p:sp>
        <p:nvSpPr>
          <p:cNvPr id="8" name="TextBox 7">
            <a:extLst>
              <a:ext uri="{FF2B5EF4-FFF2-40B4-BE49-F238E27FC236}">
                <a16:creationId xmlns:a16="http://schemas.microsoft.com/office/drawing/2014/main" id="{140F5A2B-5B2A-7278-9037-B4900502FE08}"/>
              </a:ext>
            </a:extLst>
          </p:cNvPr>
          <p:cNvSpPr txBox="1"/>
          <p:nvPr/>
        </p:nvSpPr>
        <p:spPr>
          <a:xfrm>
            <a:off x="76199" y="5297269"/>
            <a:ext cx="8841377" cy="369332"/>
          </a:xfrm>
          <a:prstGeom prst="rect">
            <a:avLst/>
          </a:prstGeom>
          <a:noFill/>
        </p:spPr>
        <p:txBody>
          <a:bodyPr wrap="square">
            <a:spAutoFit/>
          </a:bodyPr>
          <a:lstStyle/>
          <a:p>
            <a:r>
              <a:rPr lang="en-US" sz="1800" kern="0" spc="-80" dirty="0">
                <a:solidFill>
                  <a:schemeClr val="accent2"/>
                </a:solidFill>
              </a:rPr>
              <a:t> </a:t>
            </a:r>
            <a:endParaRPr lang="en-IN" dirty="0"/>
          </a:p>
        </p:txBody>
      </p:sp>
      <p:grpSp>
        <p:nvGrpSpPr>
          <p:cNvPr id="7" name="Group 6">
            <a:extLst>
              <a:ext uri="{FF2B5EF4-FFF2-40B4-BE49-F238E27FC236}">
                <a16:creationId xmlns:a16="http://schemas.microsoft.com/office/drawing/2014/main" id="{AA7BA05E-E1CA-8076-9D35-6337F3C3FD9F}"/>
              </a:ext>
            </a:extLst>
          </p:cNvPr>
          <p:cNvGrpSpPr/>
          <p:nvPr/>
        </p:nvGrpSpPr>
        <p:grpSpPr>
          <a:xfrm>
            <a:off x="20320" y="-30047"/>
            <a:ext cx="9123680" cy="481253"/>
            <a:chOff x="0" y="0"/>
            <a:chExt cx="8716300" cy="481253"/>
          </a:xfrm>
        </p:grpSpPr>
        <p:sp>
          <p:nvSpPr>
            <p:cNvPr id="9" name="Rectangle: Rounded Corners 8">
              <a:extLst>
                <a:ext uri="{FF2B5EF4-FFF2-40B4-BE49-F238E27FC236}">
                  <a16:creationId xmlns:a16="http://schemas.microsoft.com/office/drawing/2014/main" id="{4D3D6583-80D5-D6AC-2802-AED69DF6E14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BE4765AE-0CB9-EA2D-8329-39AC3AAE5E9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66224114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99471-0B1A-A9EB-F008-194C310768B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A7C160D-419F-E11D-13A8-F5209BCE2C1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CA008FE-CE21-9F94-025C-33FCF24BF28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9131F48-BFFB-A357-FDA7-74DBCC21D75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AE23F6F-6844-962E-B9BA-717DACB440DD}"/>
              </a:ext>
            </a:extLst>
          </p:cNvPr>
          <p:cNvSpPr txBox="1">
            <a:spLocks/>
          </p:cNvSpPr>
          <p:nvPr/>
        </p:nvSpPr>
        <p:spPr>
          <a:xfrm>
            <a:off x="76200" y="697468"/>
            <a:ext cx="8624937" cy="22006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InfoSec, </a:t>
            </a:r>
            <a:r>
              <a:rPr lang="en-US" sz="1700" kern="0" spc="-80" dirty="0" err="1">
                <a:solidFill>
                  <a:schemeClr val="accent2"/>
                </a:solidFill>
              </a:rPr>
              <a:t>CyberSecurity</a:t>
            </a:r>
            <a:r>
              <a:rPr lang="en-US" sz="1700" kern="0" spc="-80" dirty="0">
                <a:solidFill>
                  <a:schemeClr val="accent2"/>
                </a:solidFill>
              </a:rPr>
              <a:t>, Network Security, Data Security</a:t>
            </a:r>
          </a:p>
          <a:p>
            <a:pPr marL="12700" marR="5080"/>
            <a:r>
              <a:rPr lang="en-IN" sz="1400" kern="0" spc="-80" dirty="0">
                <a:solidFill>
                  <a:schemeClr val="accent2"/>
                </a:solidFill>
              </a:rPr>
              <a:t>For Further Exploration</a:t>
            </a:r>
          </a:p>
          <a:p>
            <a:pPr marL="12700" marR="5080"/>
            <a:r>
              <a:rPr lang="en-US" sz="1400" dirty="0">
                <a:hlinkClick r:id="rId2"/>
              </a:rPr>
              <a:t>Level Up InfoSec - Free Resources</a:t>
            </a:r>
            <a:endParaRPr lang="en-IN" sz="1400" kern="0" spc="-80" dirty="0">
              <a:solidFill>
                <a:schemeClr val="accent2"/>
              </a:solidFill>
            </a:endParaRPr>
          </a:p>
          <a:p>
            <a:pPr marL="12700" marR="5080"/>
            <a:r>
              <a:rPr lang="en-IN" sz="1400" dirty="0">
                <a:hlinkClick r:id="rId3"/>
              </a:rPr>
              <a:t>Free Training Courses | Splunk</a:t>
            </a:r>
            <a:endParaRPr lang="en-IN" sz="1400" dirty="0"/>
          </a:p>
          <a:p>
            <a:pPr marL="12700" marR="5080"/>
            <a:r>
              <a:rPr lang="en-IN" sz="1400" dirty="0">
                <a:hlinkClick r:id="rId4"/>
              </a:rPr>
              <a:t>Cybersecurity Fundamentals | Coursera</a:t>
            </a:r>
            <a:endParaRPr lang="en-IN" sz="1400" dirty="0"/>
          </a:p>
          <a:p>
            <a:pPr marL="12700" marR="5080"/>
            <a:r>
              <a:rPr lang="en-US" sz="1400" dirty="0">
                <a:hlinkClick r:id="rId5"/>
              </a:rPr>
              <a:t>Awesome-Cybersecurity-Learning-Resources</a:t>
            </a:r>
            <a:endParaRPr lang="en-US" sz="1400" dirty="0"/>
          </a:p>
          <a:p>
            <a:pPr marL="12700" marR="5080"/>
            <a:r>
              <a:rPr lang="en-US" sz="1400" dirty="0">
                <a:hlinkClick r:id="rId6"/>
              </a:rPr>
              <a:t>Cisco Networking Academy: Learn Cybersecurity, Python &amp; More</a:t>
            </a:r>
            <a:endParaRPr lang="en-IN" sz="1400" kern="0" spc="-80" dirty="0">
              <a:solidFill>
                <a:schemeClr val="accent2"/>
              </a:solidFill>
            </a:endParaRPr>
          </a:p>
          <a:p>
            <a:pPr marL="12700" marR="5080"/>
            <a:r>
              <a:rPr lang="en-US" sz="1400" dirty="0">
                <a:hlinkClick r:id="rId7"/>
              </a:rPr>
              <a:t>Network Security Expert (NSE) Training Institute | Fortinet</a:t>
            </a:r>
            <a:endParaRPr lang="en-US" sz="1400" dirty="0"/>
          </a:p>
          <a:p>
            <a:pPr marL="12700" marR="5080"/>
            <a:r>
              <a:rPr lang="en-US" sz="1400" dirty="0">
                <a:hlinkClick r:id="rId8"/>
              </a:rPr>
              <a:t>The Ultimate Guide to the SSCP | ISC2 Reference Series</a:t>
            </a:r>
            <a:endParaRPr lang="en-US" sz="1400" dirty="0"/>
          </a:p>
          <a:p>
            <a:pPr marL="12700" marR="5080"/>
            <a:endParaRPr lang="en-IN" sz="1400" kern="0" spc="-80" dirty="0">
              <a:solidFill>
                <a:schemeClr val="accent6"/>
              </a:solidFill>
            </a:endParaRPr>
          </a:p>
        </p:txBody>
      </p:sp>
      <p:sp>
        <p:nvSpPr>
          <p:cNvPr id="8" name="TextBox 7">
            <a:extLst>
              <a:ext uri="{FF2B5EF4-FFF2-40B4-BE49-F238E27FC236}">
                <a16:creationId xmlns:a16="http://schemas.microsoft.com/office/drawing/2014/main" id="{326BDB72-DF00-6860-CB54-F5539DA47B7E}"/>
              </a:ext>
            </a:extLst>
          </p:cNvPr>
          <p:cNvSpPr txBox="1"/>
          <p:nvPr/>
        </p:nvSpPr>
        <p:spPr>
          <a:xfrm>
            <a:off x="76199" y="5297269"/>
            <a:ext cx="8841377" cy="369332"/>
          </a:xfrm>
          <a:prstGeom prst="rect">
            <a:avLst/>
          </a:prstGeom>
          <a:noFill/>
        </p:spPr>
        <p:txBody>
          <a:bodyPr wrap="square">
            <a:spAutoFit/>
          </a:bodyPr>
          <a:lstStyle/>
          <a:p>
            <a:r>
              <a:rPr lang="en-US" sz="1800" kern="0" spc="-80" dirty="0">
                <a:solidFill>
                  <a:schemeClr val="accent2"/>
                </a:solidFill>
              </a:rPr>
              <a:t> </a:t>
            </a:r>
            <a:endParaRPr lang="en-IN" dirty="0"/>
          </a:p>
        </p:txBody>
      </p:sp>
      <p:grpSp>
        <p:nvGrpSpPr>
          <p:cNvPr id="7" name="Group 6">
            <a:extLst>
              <a:ext uri="{FF2B5EF4-FFF2-40B4-BE49-F238E27FC236}">
                <a16:creationId xmlns:a16="http://schemas.microsoft.com/office/drawing/2014/main" id="{94BE42FD-2209-5A1A-7DAC-50C60D6CA338}"/>
              </a:ext>
            </a:extLst>
          </p:cNvPr>
          <p:cNvGrpSpPr/>
          <p:nvPr/>
        </p:nvGrpSpPr>
        <p:grpSpPr>
          <a:xfrm>
            <a:off x="20320" y="-30047"/>
            <a:ext cx="9123680" cy="481253"/>
            <a:chOff x="0" y="0"/>
            <a:chExt cx="8716300" cy="481253"/>
          </a:xfrm>
        </p:grpSpPr>
        <p:sp>
          <p:nvSpPr>
            <p:cNvPr id="9" name="Rectangle: Rounded Corners 8">
              <a:extLst>
                <a:ext uri="{FF2B5EF4-FFF2-40B4-BE49-F238E27FC236}">
                  <a16:creationId xmlns:a16="http://schemas.microsoft.com/office/drawing/2014/main" id="{E2760A7C-EE12-BFC8-830D-D4DB671D064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5F679BCB-14F2-F2C7-658E-095DE8D722A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046384559"/>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DD7F0-303F-73E2-40DD-1208A4F8B68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8AAF83F-5EBD-EC31-926C-BC3DD47610E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630E801-7B41-B762-A236-EC8DAC86A89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2779E08-8491-3FAB-809B-F8CEE91F463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5C7B057-7115-D186-3F82-3C8DECCD990F}"/>
              </a:ext>
            </a:extLst>
          </p:cNvPr>
          <p:cNvSpPr txBox="1">
            <a:spLocks/>
          </p:cNvSpPr>
          <p:nvPr/>
        </p:nvSpPr>
        <p:spPr>
          <a:xfrm>
            <a:off x="76200" y="773668"/>
            <a:ext cx="8624937" cy="15388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Privacy &amp; Governance</a:t>
            </a:r>
          </a:p>
          <a:p>
            <a:pPr marL="12700" marR="5080"/>
            <a:r>
              <a:rPr lang="en-US" sz="1400" kern="0" spc="-80" dirty="0">
                <a:solidFill>
                  <a:schemeClr val="accent2"/>
                </a:solidFill>
              </a:rPr>
              <a:t>Security:</a:t>
            </a:r>
            <a:r>
              <a:rPr lang="en-US" sz="1400" kern="0" spc="-80" dirty="0">
                <a:solidFill>
                  <a:schemeClr val="accent6"/>
                </a:solidFill>
              </a:rPr>
              <a:t> Protect against threats (hackers, breaches, malware).</a:t>
            </a:r>
          </a:p>
          <a:p>
            <a:pPr marL="12700" marR="5080"/>
            <a:r>
              <a:rPr lang="en-US" sz="1400" kern="0" spc="-80" dirty="0">
                <a:solidFill>
                  <a:schemeClr val="accent2"/>
                </a:solidFill>
              </a:rPr>
              <a:t>Privacy: </a:t>
            </a:r>
            <a:r>
              <a:rPr lang="en-US" sz="1400" kern="0" spc="-80" dirty="0">
                <a:solidFill>
                  <a:schemeClr val="accent6"/>
                </a:solidFill>
              </a:rPr>
              <a:t>Govern how personal data is collected, used, and shared.</a:t>
            </a:r>
          </a:p>
          <a:p>
            <a:pPr marL="12700" marR="5080"/>
            <a:r>
              <a:rPr lang="en-US" sz="1400" kern="0" spc="-80" dirty="0">
                <a:solidFill>
                  <a:schemeClr val="accent2"/>
                </a:solidFill>
              </a:rPr>
              <a:t>Governance:</a:t>
            </a:r>
            <a:r>
              <a:rPr lang="en-US" sz="1400" kern="0" spc="-80" dirty="0">
                <a:solidFill>
                  <a:schemeClr val="accent6"/>
                </a:solidFill>
              </a:rPr>
              <a:t> Establish policies, rules, and accountability for data management.</a:t>
            </a:r>
          </a:p>
          <a:p>
            <a:pPr marL="12700" marR="5080"/>
            <a:endParaRPr lang="en-US" sz="1400" kern="0" spc="-80" dirty="0">
              <a:solidFill>
                <a:schemeClr val="accent6"/>
              </a:solidFill>
            </a:endParaRPr>
          </a:p>
          <a:p>
            <a:pPr marL="12700" marR="5080"/>
            <a:r>
              <a:rPr lang="en-US" sz="2000" kern="0" spc="-80" dirty="0">
                <a:solidFill>
                  <a:schemeClr val="accent2"/>
                </a:solidFill>
              </a:rPr>
              <a:t>Comparison</a:t>
            </a:r>
          </a:p>
        </p:txBody>
      </p:sp>
      <p:grpSp>
        <p:nvGrpSpPr>
          <p:cNvPr id="7" name="Group 6">
            <a:extLst>
              <a:ext uri="{FF2B5EF4-FFF2-40B4-BE49-F238E27FC236}">
                <a16:creationId xmlns:a16="http://schemas.microsoft.com/office/drawing/2014/main" id="{BF4B631F-57A7-927C-7641-7AFF243DF28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A36E16F-4C17-1A4E-CA72-44ADEC08D1D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64F138E-87CA-B087-5078-7619ED8BF6B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pic>
        <p:nvPicPr>
          <p:cNvPr id="11" name="Picture 10">
            <a:extLst>
              <a:ext uri="{FF2B5EF4-FFF2-40B4-BE49-F238E27FC236}">
                <a16:creationId xmlns:a16="http://schemas.microsoft.com/office/drawing/2014/main" id="{886564F0-D833-DDB0-0C43-416AC77353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2286000"/>
            <a:ext cx="8915399" cy="3657600"/>
          </a:xfrm>
          <a:prstGeom prst="rect">
            <a:avLst/>
          </a:prstGeom>
        </p:spPr>
      </p:pic>
    </p:spTree>
    <p:extLst>
      <p:ext uri="{BB962C8B-B14F-4D97-AF65-F5344CB8AC3E}">
        <p14:creationId xmlns:p14="http://schemas.microsoft.com/office/powerpoint/2010/main" val="4282771920"/>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C2781-9DE4-8B5B-89FE-C1DFE35948D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3382A15-BB6D-11D1-D99C-6930B319114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04C062E-C2B8-CB73-55CC-382089B6A09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060CEBB-53A0-E5EB-5F47-33CA1FCC514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C3002918-90CD-9C0F-58F9-1C950E14D9B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E24DAA1-E91B-9484-6A0F-4A7578B03B1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AFBA384-5E2C-5191-0820-0F9DEC2B761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pic>
        <p:nvPicPr>
          <p:cNvPr id="10" name="Picture 9">
            <a:extLst>
              <a:ext uri="{FF2B5EF4-FFF2-40B4-BE49-F238E27FC236}">
                <a16:creationId xmlns:a16="http://schemas.microsoft.com/office/drawing/2014/main" id="{A53FE2F7-680F-862F-35AC-2BB32399CD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02" y="1499946"/>
            <a:ext cx="9074498" cy="481254"/>
          </a:xfrm>
          <a:prstGeom prst="rect">
            <a:avLst/>
          </a:prstGeom>
        </p:spPr>
      </p:pic>
      <p:pic>
        <p:nvPicPr>
          <p:cNvPr id="13" name="Picture 12">
            <a:extLst>
              <a:ext uri="{FF2B5EF4-FFF2-40B4-BE49-F238E27FC236}">
                <a16:creationId xmlns:a16="http://schemas.microsoft.com/office/drawing/2014/main" id="{629F906C-C144-E3E3-A7C8-D9BF77B8AC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929182"/>
            <a:ext cx="8763000" cy="1804618"/>
          </a:xfrm>
          <a:prstGeom prst="rect">
            <a:avLst/>
          </a:prstGeom>
        </p:spPr>
      </p:pic>
      <p:sp>
        <p:nvSpPr>
          <p:cNvPr id="14" name="object 2">
            <a:extLst>
              <a:ext uri="{FF2B5EF4-FFF2-40B4-BE49-F238E27FC236}">
                <a16:creationId xmlns:a16="http://schemas.microsoft.com/office/drawing/2014/main" id="{C2CE58D6-F91F-D206-670C-E65E1721B9C3}"/>
              </a:ext>
            </a:extLst>
          </p:cNvPr>
          <p:cNvSpPr txBox="1">
            <a:spLocks/>
          </p:cNvSpPr>
          <p:nvPr/>
        </p:nvSpPr>
        <p:spPr>
          <a:xfrm>
            <a:off x="137369" y="3733800"/>
            <a:ext cx="8624937" cy="22159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Breakdown</a:t>
            </a:r>
          </a:p>
          <a:p>
            <a:pPr marL="12700" marR="5080"/>
            <a:r>
              <a:rPr lang="en-US" sz="1500" dirty="0">
                <a:solidFill>
                  <a:schemeClr val="accent2"/>
                </a:solidFill>
                <a:latin typeface="Google Sans"/>
              </a:rPr>
              <a:t>1. Security Actions</a:t>
            </a:r>
          </a:p>
          <a:p>
            <a:pPr marL="12700" marR="5080"/>
            <a:r>
              <a:rPr lang="en-US" sz="1500" dirty="0">
                <a:solidFill>
                  <a:schemeClr val="accent6"/>
                </a:solidFill>
                <a:latin typeface="Google Sans"/>
              </a:rPr>
              <a:t>Security actions are technical and operational measures designed to lock the doors and prevent unauthorized access. </a:t>
            </a:r>
          </a:p>
          <a:p>
            <a:pPr marL="12700" marR="5080"/>
            <a:r>
              <a:rPr lang="en-US" sz="1500" dirty="0">
                <a:solidFill>
                  <a:schemeClr val="accent2"/>
                </a:solidFill>
                <a:latin typeface="Google Sans"/>
              </a:rPr>
              <a:t>Proactive Defense: </a:t>
            </a:r>
            <a:r>
              <a:rPr lang="en-US" sz="1500" dirty="0">
                <a:solidFill>
                  <a:schemeClr val="accent6"/>
                </a:solidFill>
                <a:latin typeface="Google Sans"/>
              </a:rPr>
              <a:t>Implementing multi-factor authentication (MFA), patching systems to fix vulnerabilities, and configuring firewalls.</a:t>
            </a:r>
          </a:p>
          <a:p>
            <a:pPr marL="12700" marR="5080"/>
            <a:r>
              <a:rPr lang="en-US" sz="1500" dirty="0">
                <a:solidFill>
                  <a:schemeClr val="accent2"/>
                </a:solidFill>
                <a:latin typeface="Google Sans"/>
              </a:rPr>
              <a:t>Reactive Defense:</a:t>
            </a:r>
            <a:r>
              <a:rPr lang="en-US" sz="1500" dirty="0">
                <a:solidFill>
                  <a:schemeClr val="accent6"/>
                </a:solidFill>
                <a:latin typeface="Google Sans"/>
              </a:rPr>
              <a:t> Incident response, isolating infected machines, and recovering data from backups.</a:t>
            </a:r>
          </a:p>
          <a:p>
            <a:pPr marL="12700" marR="5080"/>
            <a:r>
              <a:rPr lang="en-US" sz="1500" dirty="0">
                <a:solidFill>
                  <a:schemeClr val="accent2"/>
                </a:solidFill>
                <a:latin typeface="Google Sans"/>
              </a:rPr>
              <a:t>Data Protection: </a:t>
            </a:r>
            <a:r>
              <a:rPr lang="en-US" sz="1500" dirty="0">
                <a:solidFill>
                  <a:schemeClr val="accent6"/>
                </a:solidFill>
                <a:latin typeface="Google Sans"/>
              </a:rPr>
              <a:t>Using encryption (AES-256) for data at rest and TLS for data in motion to render stolen data unreadable. </a:t>
            </a:r>
          </a:p>
        </p:txBody>
      </p:sp>
      <p:sp>
        <p:nvSpPr>
          <p:cNvPr id="15" name="object 2">
            <a:extLst>
              <a:ext uri="{FF2B5EF4-FFF2-40B4-BE49-F238E27FC236}">
                <a16:creationId xmlns:a16="http://schemas.microsoft.com/office/drawing/2014/main" id="{3CAB7876-288D-BB30-0864-C3857AA8F976}"/>
              </a:ext>
            </a:extLst>
          </p:cNvPr>
          <p:cNvSpPr txBox="1">
            <a:spLocks/>
          </p:cNvSpPr>
          <p:nvPr/>
        </p:nvSpPr>
        <p:spPr>
          <a:xfrm>
            <a:off x="142449" y="797004"/>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Privacy &amp; Governance</a:t>
            </a:r>
          </a:p>
          <a:p>
            <a:pPr marL="12700" marR="5080"/>
            <a:r>
              <a:rPr lang="en-US" sz="2000" kern="0" spc="-80" dirty="0">
                <a:solidFill>
                  <a:schemeClr val="accent2"/>
                </a:solidFill>
              </a:rPr>
              <a:t>Comparison</a:t>
            </a:r>
          </a:p>
        </p:txBody>
      </p:sp>
    </p:spTree>
    <p:extLst>
      <p:ext uri="{BB962C8B-B14F-4D97-AF65-F5344CB8AC3E}">
        <p14:creationId xmlns:p14="http://schemas.microsoft.com/office/powerpoint/2010/main" val="480974590"/>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8D578-7239-88D8-D3C5-2D4B239D219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78374AF-DBE9-FAD9-3DEF-E6B2D985729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C7448E5-C644-F73E-0637-2224EA0DBED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685997A-C41C-4C6B-33D7-980551F2B41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F8B53146-4C7E-B0A2-AB27-29A13FF0EC9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E98E187-0DAE-5EAC-959C-77F09E02FC6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1E399838-CAC7-0383-CAC7-0145C148F33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
        <p:nvSpPr>
          <p:cNvPr id="14" name="object 2">
            <a:extLst>
              <a:ext uri="{FF2B5EF4-FFF2-40B4-BE49-F238E27FC236}">
                <a16:creationId xmlns:a16="http://schemas.microsoft.com/office/drawing/2014/main" id="{3EAA6236-5B96-8F37-B68B-93B4F2FDA01D}"/>
              </a:ext>
            </a:extLst>
          </p:cNvPr>
          <p:cNvSpPr txBox="1">
            <a:spLocks/>
          </p:cNvSpPr>
          <p:nvPr/>
        </p:nvSpPr>
        <p:spPr>
          <a:xfrm>
            <a:off x="137369" y="797560"/>
            <a:ext cx="8624937" cy="48320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Privacy &amp; Governance</a:t>
            </a:r>
          </a:p>
          <a:p>
            <a:pPr marL="12700" marR="5080"/>
            <a:r>
              <a:rPr lang="en-US" sz="2000" kern="0" spc="-80" dirty="0">
                <a:solidFill>
                  <a:schemeClr val="accent2"/>
                </a:solidFill>
              </a:rPr>
              <a:t>Breakdown</a:t>
            </a:r>
          </a:p>
          <a:p>
            <a:pPr marL="12700" marR="5080"/>
            <a:r>
              <a:rPr lang="en-US" sz="1500" dirty="0">
                <a:solidFill>
                  <a:schemeClr val="accent2"/>
                </a:solidFill>
                <a:latin typeface="Google Sans"/>
              </a:rPr>
              <a:t>2. Privacy Actions</a:t>
            </a:r>
          </a:p>
          <a:p>
            <a:pPr marL="12700" marR="5080"/>
            <a:r>
              <a:rPr lang="en-US" sz="1500" dirty="0">
                <a:solidFill>
                  <a:schemeClr val="accent6"/>
                </a:solidFill>
                <a:latin typeface="Google Sans"/>
              </a:rPr>
              <a:t>Privacy actions are designed to ensure that the collection and use of personal data are lawful, transparent, and fair. </a:t>
            </a:r>
          </a:p>
          <a:p>
            <a:pPr marL="12700" marR="5080"/>
            <a:r>
              <a:rPr lang="en-US" sz="1500" dirty="0">
                <a:solidFill>
                  <a:schemeClr val="accent2"/>
                </a:solidFill>
                <a:latin typeface="Google Sans"/>
              </a:rPr>
              <a:t>Data Minimization: </a:t>
            </a:r>
            <a:r>
              <a:rPr lang="en-US" sz="1500" dirty="0">
                <a:solidFill>
                  <a:schemeClr val="accent6"/>
                </a:solidFill>
                <a:latin typeface="Google Sans"/>
              </a:rPr>
              <a:t>Only collecting the absolute minimum data necessary for the stated purpose.</a:t>
            </a:r>
          </a:p>
          <a:p>
            <a:pPr marL="12700" marR="5080"/>
            <a:r>
              <a:rPr lang="en-US" sz="1500" dirty="0">
                <a:solidFill>
                  <a:schemeClr val="accent2"/>
                </a:solidFill>
                <a:latin typeface="Google Sans"/>
              </a:rPr>
              <a:t>Transparency &amp; Consent:</a:t>
            </a:r>
            <a:r>
              <a:rPr lang="en-US" sz="1500" dirty="0">
                <a:solidFill>
                  <a:schemeClr val="accent6"/>
                </a:solidFill>
                <a:latin typeface="Google Sans"/>
              </a:rPr>
              <a:t> Implementing consent management platforms (CMPs) that ask for permission before tracking, ensuring users know how their data is used.</a:t>
            </a:r>
          </a:p>
          <a:p>
            <a:pPr marL="12700" marR="5080"/>
            <a:r>
              <a:rPr lang="en-US" sz="1500" dirty="0">
                <a:solidFill>
                  <a:schemeClr val="accent2"/>
                </a:solidFill>
                <a:latin typeface="Google Sans"/>
              </a:rPr>
              <a:t>Rights Management: </a:t>
            </a:r>
            <a:r>
              <a:rPr lang="en-US" sz="1500" dirty="0">
                <a:solidFill>
                  <a:schemeClr val="accent6"/>
                </a:solidFill>
                <a:latin typeface="Google Sans"/>
              </a:rPr>
              <a:t>Responding to user requests to access, correct, or delete their personal information</a:t>
            </a:r>
          </a:p>
          <a:p>
            <a:pPr marL="12700" marR="5080"/>
            <a:endParaRPr lang="en-US" sz="1500" dirty="0">
              <a:solidFill>
                <a:schemeClr val="accent6"/>
              </a:solidFill>
              <a:latin typeface="Google Sans"/>
            </a:endParaRPr>
          </a:p>
          <a:p>
            <a:pPr marL="12700" marR="5080"/>
            <a:r>
              <a:rPr lang="en-US" sz="1500" dirty="0">
                <a:solidFill>
                  <a:schemeClr val="accent2"/>
                </a:solidFill>
                <a:latin typeface="Google Sans"/>
              </a:rPr>
              <a:t>3. Governance Actions</a:t>
            </a:r>
          </a:p>
          <a:p>
            <a:pPr marL="12700" marR="5080"/>
            <a:r>
              <a:rPr lang="en-US" sz="1500" dirty="0">
                <a:solidFill>
                  <a:schemeClr val="accent6"/>
                </a:solidFill>
                <a:latin typeface="Google Sans"/>
              </a:rPr>
              <a:t>Governance is the "umbrella" framework that sets the rules, roles, and standards for data, ensuring it is a trusted asset rather than a liability. </a:t>
            </a:r>
          </a:p>
          <a:p>
            <a:pPr marL="12700" marR="5080"/>
            <a:r>
              <a:rPr lang="en-US" sz="1500" dirty="0">
                <a:solidFill>
                  <a:schemeClr val="accent2"/>
                </a:solidFill>
                <a:latin typeface="Google Sans"/>
              </a:rPr>
              <a:t>Data Classification:</a:t>
            </a:r>
            <a:r>
              <a:rPr lang="en-US" sz="1500" dirty="0">
                <a:solidFill>
                  <a:schemeClr val="accent6"/>
                </a:solidFill>
                <a:latin typeface="Google Sans"/>
              </a:rPr>
              <a:t> Categorizing data based on sensitivity (e.g., Public, Restricted, Confidential) to dictate how it is secured.</a:t>
            </a:r>
          </a:p>
          <a:p>
            <a:pPr marL="12700" marR="5080"/>
            <a:r>
              <a:rPr lang="en-US" sz="1500" dirty="0">
                <a:solidFill>
                  <a:schemeClr val="accent2"/>
                </a:solidFill>
                <a:latin typeface="Google Sans"/>
              </a:rPr>
              <a:t>Data Lifecycle Management:</a:t>
            </a:r>
            <a:r>
              <a:rPr lang="en-US" sz="1500" dirty="0">
                <a:solidFill>
                  <a:schemeClr val="accent6"/>
                </a:solidFill>
                <a:latin typeface="Google Sans"/>
              </a:rPr>
              <a:t> Defining how long data is kept and creating automated procedures for secure disposal (disposition) to avoid "data hoarding".</a:t>
            </a:r>
          </a:p>
          <a:p>
            <a:pPr marL="12700" marR="5080"/>
            <a:r>
              <a:rPr lang="en-US" sz="1500" dirty="0">
                <a:solidFill>
                  <a:schemeClr val="accent2"/>
                </a:solidFill>
                <a:latin typeface="Google Sans"/>
              </a:rPr>
              <a:t>Accountability:</a:t>
            </a:r>
            <a:r>
              <a:rPr lang="en-US" sz="1500" dirty="0">
                <a:solidFill>
                  <a:schemeClr val="accent6"/>
                </a:solidFill>
                <a:latin typeface="Google Sans"/>
              </a:rPr>
              <a:t> Establishing data stewards and custodians to be responsible for data quality and access controls. </a:t>
            </a:r>
          </a:p>
          <a:p>
            <a:pPr marL="12700" marR="5080"/>
            <a:endParaRPr lang="en-US" sz="1500" dirty="0">
              <a:solidFill>
                <a:schemeClr val="accent6"/>
              </a:solidFill>
              <a:latin typeface="Google Sans"/>
            </a:endParaRPr>
          </a:p>
        </p:txBody>
      </p:sp>
    </p:spTree>
    <p:extLst>
      <p:ext uri="{BB962C8B-B14F-4D97-AF65-F5344CB8AC3E}">
        <p14:creationId xmlns:p14="http://schemas.microsoft.com/office/powerpoint/2010/main" val="1309858132"/>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25D60-1E82-30C9-F37F-B4551CC8A0F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950BFFC-DB4B-B462-93D2-D263485D44C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9ECCF29-FC57-79DA-FF54-51A78B2EAE2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DB4AC7A-3D7B-B930-2156-0D8D0FD4B79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CEA03AE6-E0BB-7382-7011-D1064EDAF0E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38BF5B7-8CDB-C630-B46F-966B088027F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D023D6B-DA51-5DAE-2D4E-3F35CA6A0F6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
        <p:nvSpPr>
          <p:cNvPr id="14" name="object 2">
            <a:extLst>
              <a:ext uri="{FF2B5EF4-FFF2-40B4-BE49-F238E27FC236}">
                <a16:creationId xmlns:a16="http://schemas.microsoft.com/office/drawing/2014/main" id="{166395A2-13D7-0D4D-69E9-69E057DB3D22}"/>
              </a:ext>
            </a:extLst>
          </p:cNvPr>
          <p:cNvSpPr txBox="1">
            <a:spLocks/>
          </p:cNvSpPr>
          <p:nvPr/>
        </p:nvSpPr>
        <p:spPr>
          <a:xfrm>
            <a:off x="137369" y="797560"/>
            <a:ext cx="8624937" cy="34624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Security, Privacy &amp; Governance</a:t>
            </a:r>
          </a:p>
          <a:p>
            <a:pPr marL="12700" marR="5080"/>
            <a:r>
              <a:rPr lang="en-US" sz="1500" dirty="0">
                <a:solidFill>
                  <a:schemeClr val="accent2"/>
                </a:solidFill>
                <a:latin typeface="Google Sans"/>
              </a:rPr>
              <a:t>How They Interconnect</a:t>
            </a:r>
          </a:p>
          <a:p>
            <a:pPr marL="12700" marR="5080"/>
            <a:r>
              <a:rPr lang="en-US" sz="1500" dirty="0">
                <a:solidFill>
                  <a:schemeClr val="accent2"/>
                </a:solidFill>
                <a:latin typeface="Google Sans"/>
              </a:rPr>
              <a:t>No Governance = No Security: </a:t>
            </a:r>
            <a:r>
              <a:rPr lang="en-US" sz="1500" dirty="0">
                <a:solidFill>
                  <a:schemeClr val="accent6"/>
                </a:solidFill>
                <a:latin typeface="Google Sans"/>
              </a:rPr>
              <a:t>If you do not know where your data is (governance), you cannot secure it.</a:t>
            </a:r>
          </a:p>
          <a:p>
            <a:pPr marL="12700" marR="5080"/>
            <a:r>
              <a:rPr lang="en-US" sz="1500" dirty="0">
                <a:solidFill>
                  <a:schemeClr val="accent2"/>
                </a:solidFill>
                <a:latin typeface="Google Sans"/>
              </a:rPr>
              <a:t>No Security = No Privacy: </a:t>
            </a:r>
            <a:r>
              <a:rPr lang="en-US" sz="1500" dirty="0">
                <a:solidFill>
                  <a:schemeClr val="accent6"/>
                </a:solidFill>
                <a:latin typeface="Google Sans"/>
              </a:rPr>
              <a:t>If a database is not encrypted (security), the privacy of the individuals is compromised.</a:t>
            </a:r>
          </a:p>
          <a:p>
            <a:pPr marL="12700" marR="5080"/>
            <a:r>
              <a:rPr lang="en-US" sz="1500" dirty="0">
                <a:solidFill>
                  <a:schemeClr val="accent2"/>
                </a:solidFill>
                <a:latin typeface="Google Sans"/>
              </a:rPr>
              <a:t>No Privacy = No Trust: </a:t>
            </a:r>
            <a:r>
              <a:rPr lang="en-US" sz="1500" dirty="0">
                <a:solidFill>
                  <a:schemeClr val="accent6"/>
                </a:solidFill>
                <a:latin typeface="Google Sans"/>
              </a:rPr>
              <a:t>Even if data is secure, using it without consent violates privacy, damaging reputation. </a:t>
            </a:r>
          </a:p>
          <a:p>
            <a:pPr marL="12700" marR="5080"/>
            <a:endParaRPr lang="en-US" sz="1500" dirty="0">
              <a:solidFill>
                <a:schemeClr val="accent6"/>
              </a:solidFill>
              <a:latin typeface="Google Sans"/>
            </a:endParaRPr>
          </a:p>
          <a:p>
            <a:pPr marL="12700" marR="5080"/>
            <a:r>
              <a:rPr lang="en-US" sz="1500" dirty="0">
                <a:solidFill>
                  <a:schemeClr val="accent6"/>
                </a:solidFill>
                <a:latin typeface="Google Sans"/>
              </a:rPr>
              <a:t>In summary, Data Governance sets the policies, Data Privacy determines the rules for consent and usage, and Data Security provides the tools to protect it. </a:t>
            </a:r>
          </a:p>
          <a:p>
            <a:pPr marL="12700" marR="5080"/>
            <a:endParaRPr lang="en-US" sz="1500" dirty="0">
              <a:solidFill>
                <a:schemeClr val="accent6"/>
              </a:solidFill>
              <a:latin typeface="Google Sans"/>
            </a:endParaRPr>
          </a:p>
          <a:p>
            <a:pPr marL="12700" marR="5080"/>
            <a:endParaRPr lang="en-US" sz="1500" dirty="0">
              <a:solidFill>
                <a:schemeClr val="accent6"/>
              </a:solidFill>
              <a:latin typeface="Google Sans"/>
            </a:endParaRPr>
          </a:p>
          <a:p>
            <a:pPr marL="12700" marR="5080"/>
            <a:r>
              <a:rPr lang="en-US" sz="2000" dirty="0">
                <a:solidFill>
                  <a:schemeClr val="accent2"/>
                </a:solidFill>
                <a:latin typeface="Google Sans"/>
              </a:rPr>
              <a:t>For Further Exploration</a:t>
            </a:r>
          </a:p>
          <a:p>
            <a:pPr marL="12700" marR="5080"/>
            <a:r>
              <a:rPr lang="en-IN" sz="1600" dirty="0">
                <a:hlinkClick r:id="rId2"/>
              </a:rPr>
              <a:t>Privacy Enhancing Technologies - Wikipedia</a:t>
            </a:r>
            <a:endParaRPr lang="en-IN" sz="1600" dirty="0"/>
          </a:p>
          <a:p>
            <a:pPr marL="12700" marR="5080"/>
            <a:endParaRPr lang="en-US" sz="1500" dirty="0">
              <a:solidFill>
                <a:schemeClr val="accent6"/>
              </a:solidFill>
              <a:latin typeface="Google Sans"/>
            </a:endParaRPr>
          </a:p>
        </p:txBody>
      </p:sp>
    </p:spTree>
    <p:extLst>
      <p:ext uri="{BB962C8B-B14F-4D97-AF65-F5344CB8AC3E}">
        <p14:creationId xmlns:p14="http://schemas.microsoft.com/office/powerpoint/2010/main" val="1296480737"/>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3CC4C-B7DF-5CAE-B47A-92A6D4FDF5F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B1BDA13-8889-7148-E62A-D0788A3ECE8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4BDC1F9-D3C0-9128-6FA0-52AA26263F0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C18EB7B-AFFA-8B23-EFF1-5A7DAC028BF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343FFA3-9A19-BE72-ABBF-AFA80AF357BE}"/>
              </a:ext>
            </a:extLst>
          </p:cNvPr>
          <p:cNvSpPr txBox="1">
            <a:spLocks/>
          </p:cNvSpPr>
          <p:nvPr/>
        </p:nvSpPr>
        <p:spPr>
          <a:xfrm>
            <a:off x="76200" y="697468"/>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CIA Triad vs AAA</a:t>
            </a:r>
          </a:p>
          <a:p>
            <a:pPr marL="12700" marR="5080"/>
            <a:r>
              <a:rPr lang="en-US" sz="1400" kern="0" spc="-80" dirty="0">
                <a:solidFill>
                  <a:schemeClr val="accent2"/>
                </a:solidFill>
              </a:rPr>
              <a:t>1. Core Intuition</a:t>
            </a:r>
          </a:p>
          <a:p>
            <a:pPr marL="12700" marR="5080"/>
            <a:r>
              <a:rPr lang="en-US" sz="1400" kern="0" spc="-80" dirty="0">
                <a:solidFill>
                  <a:schemeClr val="accent2"/>
                </a:solidFill>
              </a:rPr>
              <a:t>Framework	Core Question it Answers</a:t>
            </a:r>
          </a:p>
          <a:p>
            <a:pPr marL="12700" marR="5080"/>
            <a:r>
              <a:rPr lang="en-US" sz="1400" kern="0" spc="-80" dirty="0">
                <a:solidFill>
                  <a:schemeClr val="accent6"/>
                </a:solidFill>
              </a:rPr>
              <a:t>AAA	                   How do we control and observe access to systems?</a:t>
            </a:r>
          </a:p>
          <a:p>
            <a:pPr marL="12700" marR="5080"/>
            <a:r>
              <a:rPr lang="en-US" sz="1400" kern="0" spc="-80" dirty="0">
                <a:solidFill>
                  <a:schemeClr val="accent6"/>
                </a:solidFill>
              </a:rPr>
              <a:t>CIA Triad	                   What security properties must data &amp; systems preserve?</a:t>
            </a:r>
          </a:p>
          <a:p>
            <a:pPr marL="12700" marR="5080"/>
            <a:r>
              <a:rPr lang="en-US" sz="1400" kern="0" spc="-80" dirty="0">
                <a:solidFill>
                  <a:schemeClr val="accent6"/>
                </a:solidFill>
              </a:rPr>
              <a:t>AAA = “Security mechanisms &amp; processes”</a:t>
            </a:r>
          </a:p>
          <a:p>
            <a:pPr marL="12700" marR="5080"/>
            <a:r>
              <a:rPr lang="en-US" sz="1400" kern="0" spc="-80" dirty="0">
                <a:solidFill>
                  <a:schemeClr val="accent6"/>
                </a:solidFill>
              </a:rPr>
              <a:t>CIA = “Security goals”</a:t>
            </a:r>
          </a:p>
          <a:p>
            <a:pPr marL="12700" marR="5080"/>
            <a:r>
              <a:rPr lang="en-US" sz="1400" kern="0" spc="-80" dirty="0">
                <a:solidFill>
                  <a:schemeClr val="accent6"/>
                </a:solidFill>
              </a:rPr>
              <a:t>They are orthogonal, not competing frameworks.</a:t>
            </a:r>
          </a:p>
          <a:p>
            <a:pPr marL="12700" marR="5080"/>
            <a:endParaRPr lang="en-US" sz="1400" kern="0" spc="-80" dirty="0">
              <a:solidFill>
                <a:schemeClr val="accent6"/>
              </a:solidFill>
            </a:endParaRPr>
          </a:p>
          <a:p>
            <a:pPr marL="12700" marR="5080"/>
            <a:r>
              <a:rPr lang="en-US" sz="1400" kern="0" spc="-80" dirty="0">
                <a:solidFill>
                  <a:schemeClr val="accent2"/>
                </a:solidFill>
              </a:rPr>
              <a:t>2. CIA Triad – The “WHY” of Security</a:t>
            </a:r>
          </a:p>
          <a:p>
            <a:pPr marL="12700" marR="5080"/>
            <a:r>
              <a:rPr lang="en-US" sz="1400" kern="0" spc="-80" dirty="0">
                <a:solidFill>
                  <a:schemeClr val="accent6"/>
                </a:solidFill>
              </a:rPr>
              <a:t>CIA defines what must never be violated, regardless of technology.</a:t>
            </a:r>
          </a:p>
          <a:p>
            <a:pPr marL="12700" marR="5080"/>
            <a:r>
              <a:rPr lang="en-US" sz="1400" kern="0" spc="-80" dirty="0">
                <a:solidFill>
                  <a:schemeClr val="accent2"/>
                </a:solidFill>
              </a:rPr>
              <a:t>A. Confidentiality – “Who can see it?”</a:t>
            </a:r>
          </a:p>
          <a:p>
            <a:pPr marL="12700" marR="5080"/>
            <a:r>
              <a:rPr lang="en-US" sz="1400" kern="0" spc="-80" dirty="0">
                <a:solidFill>
                  <a:schemeClr val="accent2"/>
                </a:solidFill>
              </a:rPr>
              <a:t>Core Idea</a:t>
            </a:r>
          </a:p>
          <a:p>
            <a:pPr marL="12700" marR="5080"/>
            <a:r>
              <a:rPr lang="en-US" sz="1400" kern="0" spc="-80" dirty="0">
                <a:solidFill>
                  <a:schemeClr val="accent6"/>
                </a:solidFill>
              </a:rPr>
              <a:t>Prevent unauthorized disclosure of information.</a:t>
            </a:r>
          </a:p>
          <a:p>
            <a:pPr marL="12700" marR="5080"/>
            <a:r>
              <a:rPr lang="en-US" sz="1400" kern="0" spc="-80" dirty="0">
                <a:solidFill>
                  <a:schemeClr val="accent2"/>
                </a:solidFill>
              </a:rPr>
              <a:t>Techniques</a:t>
            </a:r>
          </a:p>
          <a:p>
            <a:pPr marL="12700" marR="5080"/>
            <a:r>
              <a:rPr lang="en-US" sz="1400" kern="0" spc="-80" dirty="0">
                <a:solidFill>
                  <a:schemeClr val="accent6"/>
                </a:solidFill>
              </a:rPr>
              <a:t>Encryption (at rest, in transit, in use)</a:t>
            </a:r>
          </a:p>
          <a:p>
            <a:pPr marL="12700" marR="5080"/>
            <a:r>
              <a:rPr lang="en-US" sz="1400" kern="0" spc="-80" dirty="0">
                <a:solidFill>
                  <a:schemeClr val="accent6"/>
                </a:solidFill>
              </a:rPr>
              <a:t>Access control (RBAC, ABAC)</a:t>
            </a:r>
          </a:p>
          <a:p>
            <a:pPr marL="12700" marR="5080"/>
            <a:r>
              <a:rPr lang="en-US" sz="1400" kern="0" spc="-80" dirty="0">
                <a:solidFill>
                  <a:schemeClr val="accent6"/>
                </a:solidFill>
              </a:rPr>
              <a:t>Data masking, tokenization</a:t>
            </a:r>
          </a:p>
          <a:p>
            <a:pPr marL="12700" marR="5080"/>
            <a:r>
              <a:rPr lang="en-US" sz="1400" kern="0" spc="-80" dirty="0">
                <a:solidFill>
                  <a:schemeClr val="accent6"/>
                </a:solidFill>
              </a:rPr>
              <a:t>Network isolation (VPCs, firewalls)</a:t>
            </a:r>
          </a:p>
          <a:p>
            <a:pPr marL="12700" marR="5080"/>
            <a:r>
              <a:rPr lang="en-US" sz="1400" kern="0" spc="-80" dirty="0">
                <a:solidFill>
                  <a:schemeClr val="accent6"/>
                </a:solidFill>
              </a:rPr>
              <a:t>Secrets management (Vault, KMS)</a:t>
            </a:r>
          </a:p>
        </p:txBody>
      </p:sp>
      <p:grpSp>
        <p:nvGrpSpPr>
          <p:cNvPr id="7" name="Group 6">
            <a:extLst>
              <a:ext uri="{FF2B5EF4-FFF2-40B4-BE49-F238E27FC236}">
                <a16:creationId xmlns:a16="http://schemas.microsoft.com/office/drawing/2014/main" id="{E73E13AC-EB0F-2C7B-CA87-07FC8949D2D4}"/>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F5E08F74-E5C3-640C-5B99-ABC82A64F4A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B8654F4-5EAC-3A68-EABB-828FBCAA484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198028530"/>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E6599-D429-85D4-C516-B67A428CD0D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4DD434D-150B-7657-AA86-0D657D70FE3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BC3EB87-0A3E-1803-01F5-B12BE968624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5B28857-5CE4-41E8-0559-8295F3F834C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9C9DE9B-6FAD-2ACC-A261-FC297622B9CB}"/>
              </a:ext>
            </a:extLst>
          </p:cNvPr>
          <p:cNvSpPr txBox="1">
            <a:spLocks/>
          </p:cNvSpPr>
          <p:nvPr/>
        </p:nvSpPr>
        <p:spPr>
          <a:xfrm>
            <a:off x="76200" y="697468"/>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CIA Triad vs AAA</a:t>
            </a:r>
          </a:p>
          <a:p>
            <a:pPr marL="12700" marR="5080"/>
            <a:r>
              <a:rPr lang="en-US" sz="1400" kern="0" spc="-80" dirty="0">
                <a:solidFill>
                  <a:schemeClr val="accent2"/>
                </a:solidFill>
              </a:rPr>
              <a:t>2. CIA Triad – The “WHY” of Security</a:t>
            </a:r>
          </a:p>
          <a:p>
            <a:pPr marL="12700" marR="5080"/>
            <a:r>
              <a:rPr lang="en-US" sz="1400" kern="0" spc="-80" dirty="0">
                <a:solidFill>
                  <a:schemeClr val="accent2"/>
                </a:solidFill>
              </a:rPr>
              <a:t>A. Confidentiality – “Who can see it?”</a:t>
            </a:r>
          </a:p>
          <a:p>
            <a:pPr marL="12700" marR="5080"/>
            <a:r>
              <a:rPr lang="en-US" sz="1400" kern="0" spc="-80" dirty="0">
                <a:solidFill>
                  <a:schemeClr val="accent2"/>
                </a:solidFill>
              </a:rPr>
              <a:t>Patterns</a:t>
            </a:r>
          </a:p>
          <a:p>
            <a:pPr marL="12700" marR="5080"/>
            <a:r>
              <a:rPr lang="en-US" sz="1400" kern="0" spc="-80" dirty="0">
                <a:solidFill>
                  <a:schemeClr val="accent6"/>
                </a:solidFill>
              </a:rPr>
              <a:t>Least privilege</a:t>
            </a:r>
          </a:p>
          <a:p>
            <a:pPr marL="12700" marR="5080"/>
            <a:r>
              <a:rPr lang="en-US" sz="1400" kern="0" spc="-80" dirty="0">
                <a:solidFill>
                  <a:schemeClr val="accent6"/>
                </a:solidFill>
              </a:rPr>
              <a:t>Defense in depth</a:t>
            </a:r>
          </a:p>
          <a:p>
            <a:pPr marL="12700" marR="5080"/>
            <a:r>
              <a:rPr lang="en-US" sz="1400" kern="0" spc="-80" dirty="0">
                <a:solidFill>
                  <a:schemeClr val="accent6"/>
                </a:solidFill>
              </a:rPr>
              <a:t>Need-to-know</a:t>
            </a:r>
          </a:p>
          <a:p>
            <a:pPr marL="12700" marR="5080"/>
            <a:r>
              <a:rPr lang="en-US" sz="1400" kern="0" spc="-80" dirty="0">
                <a:solidFill>
                  <a:schemeClr val="accent2"/>
                </a:solidFill>
              </a:rPr>
              <a:t>Insights</a:t>
            </a:r>
          </a:p>
          <a:p>
            <a:pPr marL="12700" marR="5080"/>
            <a:r>
              <a:rPr lang="en-US" sz="1400" kern="0" spc="-80" dirty="0">
                <a:solidFill>
                  <a:schemeClr val="accent6"/>
                </a:solidFill>
              </a:rPr>
              <a:t>Confidentiality ≠ Encryption alone</a:t>
            </a:r>
          </a:p>
          <a:p>
            <a:pPr marL="12700" marR="5080"/>
            <a:r>
              <a:rPr lang="en-US" sz="1400" kern="0" spc="-80" dirty="0">
                <a:solidFill>
                  <a:schemeClr val="accent6"/>
                </a:solidFill>
              </a:rPr>
              <a:t>Metadata leakage (logs, error messages, timings) also breaks confidentiality</a:t>
            </a:r>
          </a:p>
          <a:p>
            <a:pPr marL="12700" marR="5080"/>
            <a:r>
              <a:rPr lang="en-US" sz="1400" kern="0" spc="-80" dirty="0">
                <a:solidFill>
                  <a:schemeClr val="accent2"/>
                </a:solidFill>
              </a:rPr>
              <a:t>Gotchas</a:t>
            </a:r>
          </a:p>
          <a:p>
            <a:pPr marL="12700" marR="5080"/>
            <a:r>
              <a:rPr lang="en-US" sz="1400" kern="0" spc="-80" dirty="0">
                <a:solidFill>
                  <a:schemeClr val="accent6"/>
                </a:solidFill>
              </a:rPr>
              <a:t>❌ Over-permissive IAM roles</a:t>
            </a:r>
          </a:p>
          <a:p>
            <a:pPr marL="12700" marR="5080"/>
            <a:r>
              <a:rPr lang="en-US" sz="1400" kern="0" spc="-80" dirty="0">
                <a:solidFill>
                  <a:schemeClr val="accent6"/>
                </a:solidFill>
              </a:rPr>
              <a:t>❌ Hardcoded secrets</a:t>
            </a:r>
          </a:p>
          <a:p>
            <a:pPr marL="12700" marR="5080"/>
            <a:r>
              <a:rPr lang="en-US" sz="1400" kern="0" spc="-80" dirty="0">
                <a:solidFill>
                  <a:schemeClr val="accent6"/>
                </a:solidFill>
              </a:rPr>
              <a:t>❌ Logs exposing PII</a:t>
            </a:r>
          </a:p>
          <a:p>
            <a:pPr marL="12700" marR="5080"/>
            <a:r>
              <a:rPr lang="en-US" sz="1400" kern="0" spc="-80" dirty="0">
                <a:solidFill>
                  <a:schemeClr val="accent6"/>
                </a:solidFill>
              </a:rPr>
              <a:t>❌ Assuming TLS = full confidentiality</a:t>
            </a:r>
          </a:p>
          <a:p>
            <a:pPr marL="12700" marR="5080"/>
            <a:endParaRPr lang="en-US" sz="1400" kern="0" spc="-80" dirty="0">
              <a:solidFill>
                <a:schemeClr val="accent6"/>
              </a:solidFill>
            </a:endParaRPr>
          </a:p>
          <a:p>
            <a:pPr marL="12700" marR="5080"/>
            <a:r>
              <a:rPr lang="en-US" sz="1400" kern="0" spc="-80" dirty="0">
                <a:solidFill>
                  <a:schemeClr val="accent2"/>
                </a:solidFill>
              </a:rPr>
              <a:t>B. Integrity – “Can it be trusted?”</a:t>
            </a:r>
          </a:p>
          <a:p>
            <a:pPr marL="12700" marR="5080"/>
            <a:r>
              <a:rPr lang="en-US" sz="1400" kern="0" spc="-80" dirty="0">
                <a:solidFill>
                  <a:schemeClr val="accent2"/>
                </a:solidFill>
              </a:rPr>
              <a:t>Core Idea</a:t>
            </a:r>
          </a:p>
          <a:p>
            <a:pPr marL="12700" marR="5080"/>
            <a:r>
              <a:rPr lang="en-US" sz="1400" kern="0" spc="-80" dirty="0">
                <a:solidFill>
                  <a:schemeClr val="accent6"/>
                </a:solidFill>
              </a:rPr>
              <a:t>Ensure data is accurate, complete, and unaltered.</a:t>
            </a:r>
          </a:p>
          <a:p>
            <a:pPr marL="12700" marR="5080"/>
            <a:r>
              <a:rPr lang="en-US" sz="1400" kern="0" spc="-80" dirty="0">
                <a:solidFill>
                  <a:schemeClr val="accent2"/>
                </a:solidFill>
              </a:rPr>
              <a:t>Techniques</a:t>
            </a:r>
          </a:p>
          <a:p>
            <a:pPr marL="12700" marR="5080"/>
            <a:r>
              <a:rPr lang="en-US" sz="1400" kern="0" spc="-80" dirty="0">
                <a:solidFill>
                  <a:schemeClr val="accent6"/>
                </a:solidFill>
              </a:rPr>
              <a:t>Hashing &amp; checksums</a:t>
            </a:r>
          </a:p>
          <a:p>
            <a:pPr marL="12700" marR="5080"/>
            <a:r>
              <a:rPr lang="en-US" sz="1400" kern="0" spc="-80" dirty="0">
                <a:solidFill>
                  <a:schemeClr val="accent6"/>
                </a:solidFill>
              </a:rPr>
              <a:t>Digital signatures</a:t>
            </a:r>
          </a:p>
        </p:txBody>
      </p:sp>
      <p:grpSp>
        <p:nvGrpSpPr>
          <p:cNvPr id="7" name="Group 6">
            <a:extLst>
              <a:ext uri="{FF2B5EF4-FFF2-40B4-BE49-F238E27FC236}">
                <a16:creationId xmlns:a16="http://schemas.microsoft.com/office/drawing/2014/main" id="{CD0663D8-7D44-ED5F-2595-EB783E9BB36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D9FCF8D-02E6-2EC4-1890-232C55939C84}"/>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2AD0CC52-C101-EE83-7B78-0CD31F0E0C0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856128986"/>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7B1C8-AC1A-CC2A-4D30-FFBB82C7DD9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1883D86-827F-1A60-1052-452B1C2B380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D9190CA-AB66-54A6-15CA-0110DCB3ED1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CB06E19-726B-6A2E-B819-9C3B149B8DB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2E8E2D5-FE67-6B6F-F5C5-6233CC346FC2}"/>
              </a:ext>
            </a:extLst>
          </p:cNvPr>
          <p:cNvSpPr txBox="1">
            <a:spLocks/>
          </p:cNvSpPr>
          <p:nvPr/>
        </p:nvSpPr>
        <p:spPr>
          <a:xfrm>
            <a:off x="76200" y="697468"/>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CIA Triad vs AAA</a:t>
            </a:r>
          </a:p>
          <a:p>
            <a:pPr marL="12700" marR="5080"/>
            <a:r>
              <a:rPr lang="en-US" sz="1400" kern="0" spc="-80" dirty="0">
                <a:solidFill>
                  <a:schemeClr val="accent2"/>
                </a:solidFill>
              </a:rPr>
              <a:t>2. CIA Triad – The “WHY” of Security</a:t>
            </a:r>
          </a:p>
          <a:p>
            <a:pPr marL="12700" marR="5080"/>
            <a:r>
              <a:rPr lang="en-US" sz="1400" kern="0" spc="-80" dirty="0">
                <a:solidFill>
                  <a:schemeClr val="accent2"/>
                </a:solidFill>
              </a:rPr>
              <a:t>B. Integrity – “Can it be trusted?”</a:t>
            </a:r>
          </a:p>
          <a:p>
            <a:pPr marL="12700" marR="5080"/>
            <a:r>
              <a:rPr lang="en-US" sz="1400" kern="0" spc="-80" dirty="0">
                <a:solidFill>
                  <a:schemeClr val="accent6"/>
                </a:solidFill>
              </a:rPr>
              <a:t>Write-once storage (WORM)</a:t>
            </a:r>
          </a:p>
          <a:p>
            <a:pPr marL="12700" marR="5080"/>
            <a:r>
              <a:rPr lang="en-US" sz="1400" kern="0" spc="-80" dirty="0">
                <a:solidFill>
                  <a:schemeClr val="accent6"/>
                </a:solidFill>
              </a:rPr>
              <a:t>Database constraints</a:t>
            </a:r>
          </a:p>
          <a:p>
            <a:pPr marL="12700" marR="5080"/>
            <a:r>
              <a:rPr lang="en-US" sz="1400" kern="0" spc="-80" dirty="0">
                <a:solidFill>
                  <a:schemeClr val="accent6"/>
                </a:solidFill>
              </a:rPr>
              <a:t>Versioning &amp; immutability</a:t>
            </a:r>
          </a:p>
          <a:p>
            <a:pPr marL="12700" marR="5080"/>
            <a:r>
              <a:rPr lang="en-US" sz="1400" kern="0" spc="-80" dirty="0">
                <a:solidFill>
                  <a:schemeClr val="accent6"/>
                </a:solidFill>
              </a:rPr>
              <a:t>Code signing</a:t>
            </a:r>
          </a:p>
          <a:p>
            <a:pPr marL="12700" marR="5080"/>
            <a:r>
              <a:rPr lang="en-US" sz="1400" kern="0" spc="-80" dirty="0">
                <a:solidFill>
                  <a:schemeClr val="accent2"/>
                </a:solidFill>
              </a:rPr>
              <a:t>Patterns</a:t>
            </a:r>
          </a:p>
          <a:p>
            <a:pPr marL="12700" marR="5080"/>
            <a:r>
              <a:rPr lang="en-US" sz="1400" kern="0" spc="-80" dirty="0">
                <a:solidFill>
                  <a:schemeClr val="accent6"/>
                </a:solidFill>
              </a:rPr>
              <a:t>Immutability</a:t>
            </a:r>
          </a:p>
          <a:p>
            <a:pPr marL="12700" marR="5080"/>
            <a:r>
              <a:rPr lang="en-US" sz="1400" kern="0" spc="-80" dirty="0">
                <a:solidFill>
                  <a:schemeClr val="accent6"/>
                </a:solidFill>
              </a:rPr>
              <a:t>Tamper-evident logs</a:t>
            </a:r>
          </a:p>
          <a:p>
            <a:pPr marL="12700" marR="5080"/>
            <a:r>
              <a:rPr lang="en-US" sz="1400" kern="0" spc="-80" dirty="0">
                <a:solidFill>
                  <a:schemeClr val="accent6"/>
                </a:solidFill>
              </a:rPr>
              <a:t>Event sourcing</a:t>
            </a:r>
          </a:p>
          <a:p>
            <a:pPr marL="12700" marR="5080"/>
            <a:r>
              <a:rPr lang="en-US" sz="1400" kern="0" spc="-80" dirty="0">
                <a:solidFill>
                  <a:schemeClr val="accent2"/>
                </a:solidFill>
              </a:rPr>
              <a:t>Insights</a:t>
            </a:r>
          </a:p>
          <a:p>
            <a:pPr marL="12700" marR="5080"/>
            <a:r>
              <a:rPr lang="en-US" sz="1400" kern="0" spc="-80" dirty="0">
                <a:solidFill>
                  <a:schemeClr val="accent6"/>
                </a:solidFill>
              </a:rPr>
              <a:t>Integrity violations are often silent</a:t>
            </a:r>
          </a:p>
          <a:p>
            <a:pPr marL="12700" marR="5080"/>
            <a:r>
              <a:rPr lang="en-US" sz="1400" kern="0" spc="-80" dirty="0">
                <a:solidFill>
                  <a:schemeClr val="accent6"/>
                </a:solidFill>
              </a:rPr>
              <a:t>Insider threats affect integrity more than confidentiality</a:t>
            </a:r>
          </a:p>
          <a:p>
            <a:pPr marL="12700" marR="5080"/>
            <a:r>
              <a:rPr lang="en-US" sz="1400" kern="0" spc="-80" dirty="0">
                <a:solidFill>
                  <a:schemeClr val="accent2"/>
                </a:solidFill>
              </a:rPr>
              <a:t>Gotchas</a:t>
            </a:r>
          </a:p>
          <a:p>
            <a:pPr marL="12700" marR="5080"/>
            <a:r>
              <a:rPr lang="en-US" sz="1400" kern="0" spc="-80" dirty="0">
                <a:solidFill>
                  <a:schemeClr val="accent6"/>
                </a:solidFill>
              </a:rPr>
              <a:t>❌ No audit trail</a:t>
            </a:r>
          </a:p>
          <a:p>
            <a:pPr marL="12700" marR="5080"/>
            <a:r>
              <a:rPr lang="en-US" sz="1400" kern="0" spc="-80" dirty="0">
                <a:solidFill>
                  <a:schemeClr val="accent6"/>
                </a:solidFill>
              </a:rPr>
              <a:t>❌ Shared admin accounts</a:t>
            </a:r>
          </a:p>
          <a:p>
            <a:pPr marL="12700" marR="5080"/>
            <a:r>
              <a:rPr lang="en-US" sz="1400" kern="0" spc="-80" dirty="0">
                <a:solidFill>
                  <a:schemeClr val="accent6"/>
                </a:solidFill>
              </a:rPr>
              <a:t>❌ No validation on ingestion</a:t>
            </a:r>
          </a:p>
          <a:p>
            <a:pPr marL="12700" marR="5080"/>
            <a:r>
              <a:rPr lang="en-US" sz="1400" kern="0" spc="-80" dirty="0">
                <a:solidFill>
                  <a:schemeClr val="accent6"/>
                </a:solidFill>
              </a:rPr>
              <a:t>❌ Backups without integrity checks</a:t>
            </a:r>
          </a:p>
          <a:p>
            <a:pPr marL="12700" marR="5080"/>
            <a:endParaRPr lang="en-US" sz="1400" kern="0" spc="-80" dirty="0">
              <a:solidFill>
                <a:schemeClr val="accent6"/>
              </a:solidFill>
            </a:endParaRP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04CD81AC-311A-35E1-B55A-68612E859081}"/>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6C713453-839E-AAB4-CBEA-77E73116FDD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0D2C50E-5EFD-16D9-4763-C0F44D7F1DB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678481384"/>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15FBA-1F7A-69FF-F251-313B57B91A2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FD0C578-3620-48B6-1DF2-22F3173E0D9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A33E755-1734-D0E3-0586-3D6AF606A13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74E54A2-30CB-A1F1-4DEE-207000BE577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7C9753C-D97F-5A5D-9743-3A0C29D5B3DD}"/>
              </a:ext>
            </a:extLst>
          </p:cNvPr>
          <p:cNvSpPr txBox="1">
            <a:spLocks/>
          </p:cNvSpPr>
          <p:nvPr/>
        </p:nvSpPr>
        <p:spPr>
          <a:xfrm>
            <a:off x="76200" y="697468"/>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CIA Triad vs AAA</a:t>
            </a:r>
          </a:p>
          <a:p>
            <a:pPr marL="12700" marR="5080"/>
            <a:r>
              <a:rPr lang="en-US" sz="1400" kern="0" spc="-80" dirty="0">
                <a:solidFill>
                  <a:schemeClr val="accent2"/>
                </a:solidFill>
              </a:rPr>
              <a:t>2. CIA Triad – The “WHY” of Security</a:t>
            </a:r>
          </a:p>
          <a:p>
            <a:pPr marL="12700" marR="5080"/>
            <a:r>
              <a:rPr lang="en-US" sz="1400" kern="0" spc="-80" dirty="0">
                <a:solidFill>
                  <a:schemeClr val="accent2"/>
                </a:solidFill>
              </a:rPr>
              <a:t>C. Availability – “Is it usable when needed?”</a:t>
            </a:r>
          </a:p>
          <a:p>
            <a:pPr marL="12700" marR="5080"/>
            <a:r>
              <a:rPr lang="en-US" sz="1400" kern="0" spc="-80" dirty="0">
                <a:solidFill>
                  <a:schemeClr val="accent2"/>
                </a:solidFill>
              </a:rPr>
              <a:t>Core Idea</a:t>
            </a:r>
          </a:p>
          <a:p>
            <a:pPr marL="12700" marR="5080"/>
            <a:r>
              <a:rPr lang="en-US" sz="1400" kern="0" spc="-80" dirty="0">
                <a:solidFill>
                  <a:schemeClr val="accent6"/>
                </a:solidFill>
              </a:rPr>
              <a:t>Ensure systems &amp; data are accessible on demand.</a:t>
            </a:r>
          </a:p>
          <a:p>
            <a:pPr marL="12700" marR="5080"/>
            <a:r>
              <a:rPr lang="en-US" sz="1400" kern="0" spc="-80" dirty="0">
                <a:solidFill>
                  <a:schemeClr val="accent2"/>
                </a:solidFill>
              </a:rPr>
              <a:t>Techniques</a:t>
            </a:r>
          </a:p>
          <a:p>
            <a:pPr marL="12700" marR="5080"/>
            <a:r>
              <a:rPr lang="en-US" sz="1400" kern="0" spc="-80" dirty="0">
                <a:solidFill>
                  <a:schemeClr val="accent6"/>
                </a:solidFill>
              </a:rPr>
              <a:t>Redundancy (multi-AZ, multi-region)</a:t>
            </a:r>
          </a:p>
          <a:p>
            <a:pPr marL="12700" marR="5080"/>
            <a:r>
              <a:rPr lang="en-US" sz="1400" kern="0" spc="-80" dirty="0">
                <a:solidFill>
                  <a:schemeClr val="accent6"/>
                </a:solidFill>
              </a:rPr>
              <a:t>Load balancing</a:t>
            </a:r>
          </a:p>
          <a:p>
            <a:pPr marL="12700" marR="5080"/>
            <a:r>
              <a:rPr lang="en-US" sz="1400" kern="0" spc="-80" dirty="0">
                <a:solidFill>
                  <a:schemeClr val="accent6"/>
                </a:solidFill>
              </a:rPr>
              <a:t>Auto-scaling</a:t>
            </a:r>
          </a:p>
          <a:p>
            <a:pPr marL="12700" marR="5080"/>
            <a:r>
              <a:rPr lang="en-US" sz="1400" kern="0" spc="-80" dirty="0">
                <a:solidFill>
                  <a:schemeClr val="accent6"/>
                </a:solidFill>
              </a:rPr>
              <a:t>Rate limiting</a:t>
            </a:r>
          </a:p>
          <a:p>
            <a:pPr marL="12700" marR="5080"/>
            <a:r>
              <a:rPr lang="en-US" sz="1400" kern="0" spc="-80" dirty="0">
                <a:solidFill>
                  <a:schemeClr val="accent6"/>
                </a:solidFill>
              </a:rPr>
              <a:t>DDoS protection</a:t>
            </a:r>
          </a:p>
          <a:p>
            <a:pPr marL="12700" marR="5080"/>
            <a:r>
              <a:rPr lang="en-US" sz="1400" kern="0" spc="-80" dirty="0">
                <a:solidFill>
                  <a:schemeClr val="accent6"/>
                </a:solidFill>
              </a:rPr>
              <a:t>Backups &amp; DR</a:t>
            </a:r>
          </a:p>
          <a:p>
            <a:pPr marL="12700" marR="5080"/>
            <a:r>
              <a:rPr lang="en-US" sz="1400" kern="0" spc="-80" dirty="0">
                <a:solidFill>
                  <a:schemeClr val="accent2"/>
                </a:solidFill>
              </a:rPr>
              <a:t>Patterns</a:t>
            </a:r>
          </a:p>
          <a:p>
            <a:pPr marL="12700" marR="5080"/>
            <a:r>
              <a:rPr lang="en-US" sz="1400" kern="0" spc="-80" dirty="0">
                <a:solidFill>
                  <a:schemeClr val="accent6"/>
                </a:solidFill>
              </a:rPr>
              <a:t>Fail fast / failover</a:t>
            </a:r>
          </a:p>
          <a:p>
            <a:pPr marL="12700" marR="5080"/>
            <a:r>
              <a:rPr lang="en-US" sz="1400" kern="0" spc="-80" dirty="0">
                <a:solidFill>
                  <a:schemeClr val="accent6"/>
                </a:solidFill>
              </a:rPr>
              <a:t>Graceful degradation</a:t>
            </a:r>
          </a:p>
          <a:p>
            <a:pPr marL="12700" marR="5080"/>
            <a:r>
              <a:rPr lang="en-US" sz="1400" kern="0" spc="-80" dirty="0">
                <a:solidFill>
                  <a:schemeClr val="accent6"/>
                </a:solidFill>
              </a:rPr>
              <a:t>Bulkheads</a:t>
            </a:r>
          </a:p>
          <a:p>
            <a:pPr marL="12700" marR="5080"/>
            <a:r>
              <a:rPr lang="en-US" sz="1400" kern="0" spc="-80" dirty="0">
                <a:solidFill>
                  <a:schemeClr val="accent2"/>
                </a:solidFill>
              </a:rPr>
              <a:t>Insights</a:t>
            </a:r>
          </a:p>
          <a:p>
            <a:pPr marL="12700" marR="5080"/>
            <a:r>
              <a:rPr lang="en-US" sz="1400" kern="0" spc="-80" dirty="0">
                <a:solidFill>
                  <a:schemeClr val="accent6"/>
                </a:solidFill>
              </a:rPr>
              <a:t>Availability is often the first casualty in attacks</a:t>
            </a:r>
          </a:p>
          <a:p>
            <a:pPr marL="12700" marR="5080"/>
            <a:r>
              <a:rPr lang="en-US" sz="1400" kern="0" spc="-80" dirty="0">
                <a:solidFill>
                  <a:schemeClr val="accent6"/>
                </a:solidFill>
              </a:rPr>
              <a:t>Over-security can reduce availability</a:t>
            </a:r>
          </a:p>
          <a:p>
            <a:pPr marL="12700" marR="5080"/>
            <a:r>
              <a:rPr lang="en-US" sz="1400" kern="0" spc="-80" dirty="0">
                <a:solidFill>
                  <a:schemeClr val="accent2"/>
                </a:solidFill>
              </a:rPr>
              <a:t>Gotchas</a:t>
            </a:r>
          </a:p>
          <a:p>
            <a:pPr marL="12700" marR="5080"/>
            <a:r>
              <a:rPr lang="en-US" sz="1400" kern="0" spc="-80" dirty="0">
                <a:solidFill>
                  <a:schemeClr val="accent6"/>
                </a:solidFill>
              </a:rPr>
              <a:t>❌ Single point of failure</a:t>
            </a:r>
          </a:p>
          <a:p>
            <a:pPr marL="12700" marR="5080"/>
            <a:r>
              <a:rPr lang="en-US" sz="1400" kern="0" spc="-80" dirty="0">
                <a:solidFill>
                  <a:schemeClr val="accent6"/>
                </a:solidFill>
              </a:rPr>
              <a:t>❌ Aggressive rate limits</a:t>
            </a:r>
          </a:p>
        </p:txBody>
      </p:sp>
      <p:grpSp>
        <p:nvGrpSpPr>
          <p:cNvPr id="7" name="Group 6">
            <a:extLst>
              <a:ext uri="{FF2B5EF4-FFF2-40B4-BE49-F238E27FC236}">
                <a16:creationId xmlns:a16="http://schemas.microsoft.com/office/drawing/2014/main" id="{B375089C-DBA8-E92D-8944-69BC694CFBB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0E06B05-4042-F76F-42D6-23E8B6ADC52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C8F225D-8EF2-D56C-171E-D9AE23AACFC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158240304"/>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2832E-D17E-EBD5-CABF-8186AFFC4B0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E855F8C-9798-A57F-47F7-C0F26D065C0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04671D2-0CB5-3275-24DE-E98055D0E70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B7BC8C5-0361-3CE8-FFAB-B89EAF78779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79949C1-283D-4227-1A33-BBD2D770E957}"/>
              </a:ext>
            </a:extLst>
          </p:cNvPr>
          <p:cNvSpPr txBox="1">
            <a:spLocks/>
          </p:cNvSpPr>
          <p:nvPr/>
        </p:nvSpPr>
        <p:spPr>
          <a:xfrm>
            <a:off x="76200" y="697468"/>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CIA Triad vs AAA</a:t>
            </a:r>
          </a:p>
          <a:p>
            <a:pPr marL="12700" marR="5080"/>
            <a:r>
              <a:rPr lang="en-US" sz="1400" kern="0" spc="-80" dirty="0">
                <a:solidFill>
                  <a:schemeClr val="accent2"/>
                </a:solidFill>
              </a:rPr>
              <a:t>2. CIA Triad – The “WHY” of Security</a:t>
            </a:r>
          </a:p>
          <a:p>
            <a:pPr marL="12700" marR="5080"/>
            <a:r>
              <a:rPr lang="en-US" sz="1400" kern="0" spc="-80" dirty="0">
                <a:solidFill>
                  <a:schemeClr val="accent2"/>
                </a:solidFill>
              </a:rPr>
              <a:t>C. Availability – “Is it usable when needed?”</a:t>
            </a:r>
          </a:p>
          <a:p>
            <a:pPr marL="12700" marR="5080"/>
            <a:r>
              <a:rPr lang="en-US" sz="1400" kern="0" spc="-80" dirty="0">
                <a:solidFill>
                  <a:schemeClr val="accent2"/>
                </a:solidFill>
              </a:rPr>
              <a:t>Gotchas</a:t>
            </a:r>
          </a:p>
          <a:p>
            <a:pPr marL="12700" marR="5080"/>
            <a:r>
              <a:rPr lang="en-US" sz="1400" kern="0" spc="-80" dirty="0">
                <a:solidFill>
                  <a:schemeClr val="accent6"/>
                </a:solidFill>
              </a:rPr>
              <a:t>❌ Manual recovery steps</a:t>
            </a:r>
          </a:p>
          <a:p>
            <a:pPr marL="12700" marR="5080"/>
            <a:r>
              <a:rPr lang="en-US" sz="1400" kern="0" spc="-80" dirty="0">
                <a:solidFill>
                  <a:schemeClr val="accent6"/>
                </a:solidFill>
              </a:rPr>
              <a:t>❌ Security controls causing outages</a:t>
            </a:r>
          </a:p>
          <a:p>
            <a:pPr marL="12700" marR="5080"/>
            <a:endParaRPr lang="en-US" sz="1400" kern="0" spc="-80" dirty="0">
              <a:solidFill>
                <a:schemeClr val="accent6"/>
              </a:solidFill>
            </a:endParaRPr>
          </a:p>
          <a:p>
            <a:pPr marL="12700" marR="5080"/>
            <a:r>
              <a:rPr lang="en-US" sz="1400" kern="0" spc="-80" dirty="0">
                <a:solidFill>
                  <a:schemeClr val="accent2"/>
                </a:solidFill>
              </a:rPr>
              <a:t>3. AAA – The “HOW” of Access Security</a:t>
            </a:r>
          </a:p>
          <a:p>
            <a:pPr marL="12700" marR="5080"/>
            <a:r>
              <a:rPr lang="en-US" sz="1400" kern="0" spc="-80" dirty="0">
                <a:solidFill>
                  <a:schemeClr val="accent6"/>
                </a:solidFill>
              </a:rPr>
              <a:t>AAA governs who gets in, what they can do, and how actions are tracked.</a:t>
            </a:r>
          </a:p>
          <a:p>
            <a:pPr marL="12700" marR="5080"/>
            <a:r>
              <a:rPr lang="en-US" sz="1400" kern="0" spc="-80" dirty="0">
                <a:solidFill>
                  <a:schemeClr val="accent2"/>
                </a:solidFill>
              </a:rPr>
              <a:t>A. Authentication – “Who are you?”</a:t>
            </a:r>
          </a:p>
          <a:p>
            <a:pPr marL="12700" marR="5080"/>
            <a:r>
              <a:rPr lang="en-US" sz="1400" kern="0" spc="-80" dirty="0">
                <a:solidFill>
                  <a:schemeClr val="accent2"/>
                </a:solidFill>
              </a:rPr>
              <a:t>Core Idea</a:t>
            </a:r>
          </a:p>
          <a:p>
            <a:pPr marL="12700" marR="5080"/>
            <a:r>
              <a:rPr lang="en-US" sz="1400" kern="0" spc="-80" dirty="0">
                <a:solidFill>
                  <a:schemeClr val="accent6"/>
                </a:solidFill>
              </a:rPr>
              <a:t>Verify identity.</a:t>
            </a:r>
          </a:p>
          <a:p>
            <a:pPr marL="12700" marR="5080"/>
            <a:r>
              <a:rPr lang="en-US" sz="1400" kern="0" spc="-80" dirty="0">
                <a:solidFill>
                  <a:schemeClr val="accent2"/>
                </a:solidFill>
              </a:rPr>
              <a:t>Techniques</a:t>
            </a:r>
          </a:p>
          <a:p>
            <a:pPr marL="12700" marR="5080"/>
            <a:r>
              <a:rPr lang="en-US" sz="1400" kern="0" spc="-80" dirty="0">
                <a:solidFill>
                  <a:schemeClr val="accent6"/>
                </a:solidFill>
              </a:rPr>
              <a:t>Passwords (weakest)</a:t>
            </a:r>
          </a:p>
          <a:p>
            <a:pPr marL="12700" marR="5080"/>
            <a:r>
              <a:rPr lang="en-US" sz="1400" kern="0" spc="-80" dirty="0">
                <a:solidFill>
                  <a:schemeClr val="accent6"/>
                </a:solidFill>
              </a:rPr>
              <a:t>MFA (TOTP, FIDO2)</a:t>
            </a:r>
          </a:p>
          <a:p>
            <a:pPr marL="12700" marR="5080"/>
            <a:r>
              <a:rPr lang="en-US" sz="1400" kern="0" spc="-80" dirty="0">
                <a:solidFill>
                  <a:schemeClr val="accent6"/>
                </a:solidFill>
              </a:rPr>
              <a:t>Certificates</a:t>
            </a:r>
          </a:p>
          <a:p>
            <a:pPr marL="12700" marR="5080"/>
            <a:r>
              <a:rPr lang="en-US" sz="1400" kern="0" spc="-80" dirty="0">
                <a:solidFill>
                  <a:schemeClr val="accent6"/>
                </a:solidFill>
              </a:rPr>
              <a:t>Biometrics</a:t>
            </a:r>
          </a:p>
          <a:p>
            <a:pPr marL="12700" marR="5080"/>
            <a:r>
              <a:rPr lang="en-US" sz="1400" kern="0" spc="-80" dirty="0">
                <a:solidFill>
                  <a:schemeClr val="accent6"/>
                </a:solidFill>
              </a:rPr>
              <a:t>OAuth, OpenID Connect</a:t>
            </a:r>
          </a:p>
          <a:p>
            <a:pPr marL="12700" marR="5080"/>
            <a:r>
              <a:rPr lang="en-US" sz="1400" kern="0" spc="-80" dirty="0">
                <a:solidFill>
                  <a:schemeClr val="accent6"/>
                </a:solidFill>
              </a:rPr>
              <a:t>API keys (for services)</a:t>
            </a:r>
          </a:p>
          <a:p>
            <a:pPr marL="12700" marR="5080"/>
            <a:r>
              <a:rPr lang="en-US" sz="1400" kern="0" spc="-80" dirty="0">
                <a:solidFill>
                  <a:schemeClr val="accent2"/>
                </a:solidFill>
              </a:rPr>
              <a:t>Patterns</a:t>
            </a:r>
          </a:p>
          <a:p>
            <a:pPr marL="12700" marR="5080"/>
            <a:r>
              <a:rPr lang="en-US" sz="1400" kern="0" spc="-80" dirty="0">
                <a:solidFill>
                  <a:schemeClr val="accent6"/>
                </a:solidFill>
              </a:rPr>
              <a:t>Zero Trust authentication</a:t>
            </a:r>
          </a:p>
          <a:p>
            <a:pPr marL="12700" marR="5080"/>
            <a:r>
              <a:rPr lang="en-US" sz="1400" kern="0" spc="-80" dirty="0" err="1">
                <a:solidFill>
                  <a:schemeClr val="accent6"/>
                </a:solidFill>
              </a:rPr>
              <a:t>Passwordless</a:t>
            </a:r>
            <a:endParaRPr lang="en-US" sz="1400" kern="0" spc="-80" dirty="0">
              <a:solidFill>
                <a:schemeClr val="accent6"/>
              </a:solidFill>
            </a:endParaRPr>
          </a:p>
        </p:txBody>
      </p:sp>
      <p:grpSp>
        <p:nvGrpSpPr>
          <p:cNvPr id="7" name="Group 6">
            <a:extLst>
              <a:ext uri="{FF2B5EF4-FFF2-40B4-BE49-F238E27FC236}">
                <a16:creationId xmlns:a16="http://schemas.microsoft.com/office/drawing/2014/main" id="{368E352A-278E-6EC4-EF7E-2BAAB1A23BB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8A4A6B03-FB8F-3B36-B78F-FAE2C0F027D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3492924-64BF-49AA-80F3-E0ABD219BED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64218051"/>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C79AB-0B18-2B84-28B4-61742226C0C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ED4C9BD-21A9-0251-6911-003C416717A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75ABB32-BC77-D9A7-7848-0C04200DABE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7B410BE-322D-D76A-7D2D-AF2F62F4A70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27F9E31-A80D-0A11-D9D4-EEA57021B7E0}"/>
              </a:ext>
            </a:extLst>
          </p:cNvPr>
          <p:cNvSpPr txBox="1">
            <a:spLocks/>
          </p:cNvSpPr>
          <p:nvPr/>
        </p:nvSpPr>
        <p:spPr>
          <a:xfrm>
            <a:off x="76200" y="745153"/>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CIA Triad vs AAA</a:t>
            </a:r>
          </a:p>
          <a:p>
            <a:pPr marL="12700" marR="5080"/>
            <a:r>
              <a:rPr lang="en-US" sz="1400" kern="0" spc="-80" dirty="0">
                <a:solidFill>
                  <a:schemeClr val="accent2"/>
                </a:solidFill>
              </a:rPr>
              <a:t>3. AAA – The “HOW” of Access Security</a:t>
            </a:r>
          </a:p>
          <a:p>
            <a:pPr marL="12700" marR="5080"/>
            <a:r>
              <a:rPr lang="en-US" sz="1400" kern="0" spc="-80" dirty="0">
                <a:solidFill>
                  <a:schemeClr val="accent6"/>
                </a:solidFill>
              </a:rPr>
              <a:t>AAA governs who gets in, what they can do, and how actions are tracked.</a:t>
            </a:r>
          </a:p>
          <a:p>
            <a:pPr marL="12700" marR="5080"/>
            <a:r>
              <a:rPr lang="en-US" sz="1400" kern="0" spc="-80" dirty="0">
                <a:solidFill>
                  <a:schemeClr val="accent2"/>
                </a:solidFill>
              </a:rPr>
              <a:t>A. Authentication – “Who are you?”</a:t>
            </a:r>
          </a:p>
          <a:p>
            <a:pPr marL="12700" marR="5080"/>
            <a:r>
              <a:rPr lang="en-US" sz="1400" kern="0" spc="-80" dirty="0">
                <a:solidFill>
                  <a:schemeClr val="accent2"/>
                </a:solidFill>
              </a:rPr>
              <a:t>Patterns</a:t>
            </a:r>
          </a:p>
          <a:p>
            <a:pPr marL="12700" marR="5080"/>
            <a:r>
              <a:rPr lang="en-US" sz="1400" kern="0" spc="-80" dirty="0">
                <a:solidFill>
                  <a:schemeClr val="accent6"/>
                </a:solidFill>
              </a:rPr>
              <a:t>Continuous authentication</a:t>
            </a:r>
          </a:p>
          <a:p>
            <a:pPr marL="12700" marR="5080"/>
            <a:r>
              <a:rPr lang="en-US" sz="1400" kern="0" spc="-80" dirty="0">
                <a:solidFill>
                  <a:schemeClr val="accent6"/>
                </a:solidFill>
              </a:rPr>
              <a:t>Insights</a:t>
            </a:r>
          </a:p>
          <a:p>
            <a:pPr marL="12700" marR="5080"/>
            <a:r>
              <a:rPr lang="en-US" sz="1400" kern="0" spc="-80" dirty="0">
                <a:solidFill>
                  <a:schemeClr val="accent6"/>
                </a:solidFill>
              </a:rPr>
              <a:t>Authentication ≠ Authorization</a:t>
            </a:r>
          </a:p>
          <a:p>
            <a:pPr marL="12700" marR="5080"/>
            <a:r>
              <a:rPr lang="en-US" sz="1400" kern="0" spc="-80" dirty="0">
                <a:solidFill>
                  <a:schemeClr val="accent6"/>
                </a:solidFill>
              </a:rPr>
              <a:t>Identity is the new perimeter</a:t>
            </a:r>
          </a:p>
          <a:p>
            <a:pPr marL="12700" marR="5080"/>
            <a:r>
              <a:rPr lang="en-US" sz="1400" kern="0" spc="-80" dirty="0">
                <a:solidFill>
                  <a:schemeClr val="accent2"/>
                </a:solidFill>
              </a:rPr>
              <a:t>Gotchas</a:t>
            </a:r>
          </a:p>
          <a:p>
            <a:pPr marL="12700" marR="5080"/>
            <a:r>
              <a:rPr lang="en-US" sz="1400" kern="0" spc="-80" dirty="0">
                <a:solidFill>
                  <a:schemeClr val="accent6"/>
                </a:solidFill>
              </a:rPr>
              <a:t>❌ Long-lived credentials</a:t>
            </a:r>
          </a:p>
          <a:p>
            <a:pPr marL="12700" marR="5080"/>
            <a:r>
              <a:rPr lang="en-US" sz="1400" kern="0" spc="-80" dirty="0">
                <a:solidFill>
                  <a:schemeClr val="accent6"/>
                </a:solidFill>
              </a:rPr>
              <a:t>❌ Shared accounts</a:t>
            </a:r>
          </a:p>
          <a:p>
            <a:pPr marL="12700" marR="5080"/>
            <a:r>
              <a:rPr lang="en-US" sz="1400" kern="0" spc="-80" dirty="0">
                <a:solidFill>
                  <a:schemeClr val="accent6"/>
                </a:solidFill>
              </a:rPr>
              <a:t>❌ No MFA for privileged users</a:t>
            </a:r>
          </a:p>
          <a:p>
            <a:pPr marL="12700" marR="5080"/>
            <a:r>
              <a:rPr lang="en-US" sz="1400" kern="0" spc="-80" dirty="0">
                <a:solidFill>
                  <a:schemeClr val="accent6"/>
                </a:solidFill>
              </a:rPr>
              <a:t>❌ Authentication without device trust</a:t>
            </a:r>
          </a:p>
          <a:p>
            <a:pPr marL="12700" marR="5080"/>
            <a:r>
              <a:rPr lang="en-US" sz="1400" kern="0" spc="-80" dirty="0">
                <a:solidFill>
                  <a:schemeClr val="accent2"/>
                </a:solidFill>
              </a:rPr>
              <a:t>B. Authorization – “What can you do?”</a:t>
            </a:r>
          </a:p>
          <a:p>
            <a:pPr marL="12700" marR="5080"/>
            <a:r>
              <a:rPr lang="en-US" sz="1400" kern="0" spc="-80" dirty="0">
                <a:solidFill>
                  <a:schemeClr val="accent2"/>
                </a:solidFill>
              </a:rPr>
              <a:t>Core Idea</a:t>
            </a:r>
          </a:p>
          <a:p>
            <a:pPr marL="12700" marR="5080"/>
            <a:r>
              <a:rPr lang="en-US" sz="1400" kern="0" spc="-80" dirty="0">
                <a:solidFill>
                  <a:schemeClr val="accent6"/>
                </a:solidFill>
              </a:rPr>
              <a:t>Determine permissions after authentication.</a:t>
            </a:r>
          </a:p>
          <a:p>
            <a:pPr marL="12700" marR="5080"/>
            <a:r>
              <a:rPr lang="en-US" sz="1400" kern="0" spc="-80" dirty="0">
                <a:solidFill>
                  <a:schemeClr val="accent2"/>
                </a:solidFill>
              </a:rPr>
              <a:t>Models</a:t>
            </a:r>
          </a:p>
          <a:p>
            <a:pPr marL="12700" marR="5080"/>
            <a:r>
              <a:rPr lang="en-US" sz="1400" kern="0" spc="-80" dirty="0">
                <a:solidFill>
                  <a:schemeClr val="accent6"/>
                </a:solidFill>
              </a:rPr>
              <a:t>RBAC – Role-based</a:t>
            </a:r>
          </a:p>
          <a:p>
            <a:pPr marL="12700" marR="5080"/>
            <a:r>
              <a:rPr lang="en-US" sz="1400" kern="0" spc="-80" dirty="0">
                <a:solidFill>
                  <a:schemeClr val="accent6"/>
                </a:solidFill>
              </a:rPr>
              <a:t>ABAC – Attribute-based</a:t>
            </a:r>
          </a:p>
          <a:p>
            <a:pPr marL="12700" marR="5080"/>
            <a:r>
              <a:rPr lang="en-US" sz="1400" kern="0" spc="-80" dirty="0">
                <a:solidFill>
                  <a:schemeClr val="accent6"/>
                </a:solidFill>
              </a:rPr>
              <a:t>PBAC – Policy-based</a:t>
            </a:r>
          </a:p>
          <a:p>
            <a:pPr marL="12700" marR="5080"/>
            <a:r>
              <a:rPr lang="en-US" sz="1400" kern="0" spc="-80" dirty="0">
                <a:solidFill>
                  <a:schemeClr val="accent6"/>
                </a:solidFill>
              </a:rPr>
              <a:t>ReBAC – Relationship-based</a:t>
            </a:r>
          </a:p>
        </p:txBody>
      </p:sp>
      <p:grpSp>
        <p:nvGrpSpPr>
          <p:cNvPr id="7" name="Group 6">
            <a:extLst>
              <a:ext uri="{FF2B5EF4-FFF2-40B4-BE49-F238E27FC236}">
                <a16:creationId xmlns:a16="http://schemas.microsoft.com/office/drawing/2014/main" id="{5ED39D16-2F7E-438C-6C71-E43DC2CAAEB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F0AA5DC-9ED0-0C7A-28F0-AA94D14CB91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FBCE8C26-6A4F-599A-F81E-F8DE1828DB8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298692419"/>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19602-07D2-74D2-202D-A325DBE1812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7A56051-AFFE-BF9A-1D4A-EFB9B0594C0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D2453B2-05FD-3316-7001-EB87A8EB2DA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7718A82-F170-3BA7-446B-F59C5212EB3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17EBFA5-C14B-31A8-AF82-D6B57E1AB7FB}"/>
              </a:ext>
            </a:extLst>
          </p:cNvPr>
          <p:cNvSpPr txBox="1">
            <a:spLocks/>
          </p:cNvSpPr>
          <p:nvPr/>
        </p:nvSpPr>
        <p:spPr>
          <a:xfrm>
            <a:off x="76200" y="697468"/>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CIA Triad vs AAA</a:t>
            </a:r>
          </a:p>
          <a:p>
            <a:pPr marL="12700" marR="5080"/>
            <a:r>
              <a:rPr lang="en-US" sz="1400" kern="0" spc="-80" dirty="0">
                <a:solidFill>
                  <a:schemeClr val="accent2"/>
                </a:solidFill>
              </a:rPr>
              <a:t>3. AAA – The “HOW” of Access Security</a:t>
            </a:r>
          </a:p>
          <a:p>
            <a:pPr marL="12700" marR="5080"/>
            <a:r>
              <a:rPr lang="en-US" sz="1400" kern="0" spc="-80" dirty="0">
                <a:solidFill>
                  <a:schemeClr val="accent2"/>
                </a:solidFill>
              </a:rPr>
              <a:t>B. Authorization – “What can you do?”</a:t>
            </a:r>
          </a:p>
          <a:p>
            <a:pPr marL="12700" marR="5080"/>
            <a:r>
              <a:rPr lang="en-US" sz="1400" kern="0" spc="-80" dirty="0">
                <a:solidFill>
                  <a:schemeClr val="accent2"/>
                </a:solidFill>
              </a:rPr>
              <a:t>Patterns</a:t>
            </a:r>
          </a:p>
          <a:p>
            <a:pPr marL="12700" marR="5080"/>
            <a:r>
              <a:rPr lang="en-US" sz="1400" kern="0" spc="-80" dirty="0">
                <a:solidFill>
                  <a:schemeClr val="accent6"/>
                </a:solidFill>
              </a:rPr>
              <a:t>Least privilege</a:t>
            </a:r>
          </a:p>
          <a:p>
            <a:pPr marL="12700" marR="5080"/>
            <a:r>
              <a:rPr lang="en-US" sz="1400" kern="0" spc="-80" dirty="0">
                <a:solidFill>
                  <a:schemeClr val="accent6"/>
                </a:solidFill>
              </a:rPr>
              <a:t>Just-in-time access</a:t>
            </a:r>
          </a:p>
          <a:p>
            <a:pPr marL="12700" marR="5080"/>
            <a:r>
              <a:rPr lang="en-US" sz="1400" kern="0" spc="-80" dirty="0">
                <a:solidFill>
                  <a:schemeClr val="accent6"/>
                </a:solidFill>
              </a:rPr>
              <a:t>Policy as code</a:t>
            </a:r>
          </a:p>
          <a:p>
            <a:pPr marL="12700" marR="5080"/>
            <a:r>
              <a:rPr lang="en-US" sz="1400" kern="0" spc="-80" dirty="0">
                <a:solidFill>
                  <a:schemeClr val="accent2"/>
                </a:solidFill>
              </a:rPr>
              <a:t>Insights</a:t>
            </a:r>
          </a:p>
          <a:p>
            <a:pPr marL="12700" marR="5080"/>
            <a:r>
              <a:rPr lang="en-US" sz="1400" kern="0" spc="-80" dirty="0">
                <a:solidFill>
                  <a:schemeClr val="accent6"/>
                </a:solidFill>
              </a:rPr>
              <a:t>Authorization logic often leaks into business logic</a:t>
            </a:r>
          </a:p>
          <a:p>
            <a:pPr marL="12700" marR="5080"/>
            <a:r>
              <a:rPr lang="en-US" sz="1400" kern="0" spc="-80" dirty="0">
                <a:solidFill>
                  <a:schemeClr val="accent6"/>
                </a:solidFill>
              </a:rPr>
              <a:t>ABAC scales better than RBAC in complex systems</a:t>
            </a:r>
          </a:p>
          <a:p>
            <a:pPr marL="12700" marR="5080"/>
            <a:r>
              <a:rPr lang="en-US" sz="1400" kern="0" spc="-80" dirty="0">
                <a:solidFill>
                  <a:schemeClr val="accent2"/>
                </a:solidFill>
              </a:rPr>
              <a:t>Gotchas</a:t>
            </a:r>
          </a:p>
          <a:p>
            <a:pPr marL="12700" marR="5080"/>
            <a:r>
              <a:rPr lang="en-US" sz="1400" kern="0" spc="-80" dirty="0">
                <a:solidFill>
                  <a:schemeClr val="accent6"/>
                </a:solidFill>
              </a:rPr>
              <a:t>❌ Role explosion</a:t>
            </a:r>
          </a:p>
          <a:p>
            <a:pPr marL="12700" marR="5080"/>
            <a:r>
              <a:rPr lang="en-US" sz="1400" kern="0" spc="-80" dirty="0">
                <a:solidFill>
                  <a:schemeClr val="accent6"/>
                </a:solidFill>
              </a:rPr>
              <a:t>❌ Hardcoded permissions</a:t>
            </a:r>
          </a:p>
          <a:p>
            <a:pPr marL="12700" marR="5080"/>
            <a:r>
              <a:rPr lang="en-US" sz="1400" kern="0" spc="-80" dirty="0">
                <a:solidFill>
                  <a:schemeClr val="accent6"/>
                </a:solidFill>
              </a:rPr>
              <a:t>❌ No separation of duties</a:t>
            </a:r>
          </a:p>
          <a:p>
            <a:pPr marL="12700" marR="5080"/>
            <a:r>
              <a:rPr lang="en-US" sz="1400" kern="0" spc="-80" dirty="0">
                <a:solidFill>
                  <a:schemeClr val="accent6"/>
                </a:solidFill>
              </a:rPr>
              <a:t>❌ Privilege creep</a:t>
            </a:r>
          </a:p>
          <a:p>
            <a:pPr marL="12700" marR="5080"/>
            <a:r>
              <a:rPr lang="en-US" sz="1400" kern="0" spc="-80" dirty="0">
                <a:solidFill>
                  <a:schemeClr val="accent2"/>
                </a:solidFill>
              </a:rPr>
              <a:t>C. Accounting (Auditing) – “What happened?”</a:t>
            </a:r>
          </a:p>
          <a:p>
            <a:pPr marL="12700" marR="5080"/>
            <a:r>
              <a:rPr lang="en-US" sz="1400" kern="0" spc="-80" dirty="0">
                <a:solidFill>
                  <a:schemeClr val="accent2"/>
                </a:solidFill>
              </a:rPr>
              <a:t>Core Idea</a:t>
            </a:r>
          </a:p>
          <a:p>
            <a:pPr marL="12700" marR="5080"/>
            <a:r>
              <a:rPr lang="en-US" sz="1400" kern="0" spc="-80" dirty="0">
                <a:solidFill>
                  <a:schemeClr val="accent6"/>
                </a:solidFill>
              </a:rPr>
              <a:t>Track who did what, when, where, and how.</a:t>
            </a:r>
          </a:p>
          <a:p>
            <a:pPr marL="12700" marR="5080"/>
            <a:r>
              <a:rPr lang="en-US" sz="1400" kern="0" spc="-80" dirty="0">
                <a:solidFill>
                  <a:schemeClr val="accent2"/>
                </a:solidFill>
              </a:rPr>
              <a:t>Techniques</a:t>
            </a:r>
          </a:p>
          <a:p>
            <a:pPr marL="12700" marR="5080"/>
            <a:r>
              <a:rPr lang="en-US" sz="1400" kern="0" spc="-80" dirty="0">
                <a:solidFill>
                  <a:schemeClr val="accent6"/>
                </a:solidFill>
              </a:rPr>
              <a:t>Audit logs</a:t>
            </a:r>
          </a:p>
          <a:p>
            <a:pPr marL="12700" marR="5080"/>
            <a:r>
              <a:rPr lang="en-US" sz="1400" kern="0" spc="-80" dirty="0">
                <a:solidFill>
                  <a:schemeClr val="accent6"/>
                </a:solidFill>
              </a:rPr>
              <a:t>Access logs</a:t>
            </a:r>
          </a:p>
          <a:p>
            <a:pPr marL="12700" marR="5080"/>
            <a:r>
              <a:rPr lang="en-US" sz="1400" kern="0" spc="-80" dirty="0">
                <a:solidFill>
                  <a:schemeClr val="accent6"/>
                </a:solidFill>
              </a:rPr>
              <a:t>SIEM integration</a:t>
            </a:r>
          </a:p>
        </p:txBody>
      </p:sp>
      <p:grpSp>
        <p:nvGrpSpPr>
          <p:cNvPr id="7" name="Group 6">
            <a:extLst>
              <a:ext uri="{FF2B5EF4-FFF2-40B4-BE49-F238E27FC236}">
                <a16:creationId xmlns:a16="http://schemas.microsoft.com/office/drawing/2014/main" id="{317DF6BC-F422-CBA5-2EAE-71896BAD9501}"/>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85609E8-107E-D26F-9482-CE1C1DBE681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3FE59D1-6A5E-BC1F-EF35-497530864D7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184916106"/>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9DAE8-86BC-482F-5EEA-C5CCE582EB8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C879C76-13CB-6164-2439-FF6D2429A81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5DF4EAE-1802-E2C7-316C-3D702E82356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CB6FD17-B836-F7A9-4781-C7C7D4CF377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AD63347-DF39-9F21-FB73-1D3FF3710904}"/>
              </a:ext>
            </a:extLst>
          </p:cNvPr>
          <p:cNvSpPr txBox="1">
            <a:spLocks/>
          </p:cNvSpPr>
          <p:nvPr/>
        </p:nvSpPr>
        <p:spPr>
          <a:xfrm>
            <a:off x="76200" y="697468"/>
            <a:ext cx="8624937" cy="42473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CIA Triad vs AAA</a:t>
            </a:r>
          </a:p>
          <a:p>
            <a:pPr marL="12700" marR="5080"/>
            <a:r>
              <a:rPr lang="en-US" sz="1400" kern="0" spc="-80" dirty="0">
                <a:solidFill>
                  <a:schemeClr val="accent2"/>
                </a:solidFill>
              </a:rPr>
              <a:t>3. AAA – The “HOW” of Access Security</a:t>
            </a:r>
          </a:p>
          <a:p>
            <a:pPr marL="12700" marR="5080"/>
            <a:r>
              <a:rPr lang="en-US" sz="1400" kern="0" spc="-80" dirty="0">
                <a:solidFill>
                  <a:schemeClr val="accent2"/>
                </a:solidFill>
              </a:rPr>
              <a:t>C. Accounting (Auditing) – “What happened?”</a:t>
            </a:r>
          </a:p>
          <a:p>
            <a:pPr marL="12700" marR="5080"/>
            <a:r>
              <a:rPr lang="en-US" sz="1400" kern="0" spc="-80" dirty="0">
                <a:solidFill>
                  <a:schemeClr val="accent2"/>
                </a:solidFill>
              </a:rPr>
              <a:t>Techniques</a:t>
            </a:r>
          </a:p>
          <a:p>
            <a:pPr marL="12700" marR="5080"/>
            <a:r>
              <a:rPr lang="en-US" sz="1400" kern="0" spc="-80" dirty="0">
                <a:solidFill>
                  <a:schemeClr val="accent6"/>
                </a:solidFill>
              </a:rPr>
              <a:t>Immutable logs</a:t>
            </a:r>
          </a:p>
          <a:p>
            <a:pPr marL="12700" marR="5080"/>
            <a:r>
              <a:rPr lang="en-US" sz="1400" kern="0" spc="-80" dirty="0">
                <a:solidFill>
                  <a:schemeClr val="accent6"/>
                </a:solidFill>
              </a:rPr>
              <a:t>Session recording</a:t>
            </a:r>
          </a:p>
          <a:p>
            <a:pPr marL="12700" marR="5080"/>
            <a:r>
              <a:rPr lang="en-US" sz="1400" kern="0" spc="-80" dirty="0">
                <a:solidFill>
                  <a:schemeClr val="accent2"/>
                </a:solidFill>
              </a:rPr>
              <a:t>Patterns</a:t>
            </a:r>
          </a:p>
          <a:p>
            <a:pPr marL="12700" marR="5080"/>
            <a:r>
              <a:rPr lang="en-US" sz="1400" kern="0" spc="-80" dirty="0">
                <a:solidFill>
                  <a:schemeClr val="accent6"/>
                </a:solidFill>
              </a:rPr>
              <a:t>Non-repudiation</a:t>
            </a:r>
          </a:p>
          <a:p>
            <a:pPr marL="12700" marR="5080"/>
            <a:r>
              <a:rPr lang="en-US" sz="1400" kern="0" spc="-80" dirty="0">
                <a:solidFill>
                  <a:schemeClr val="accent6"/>
                </a:solidFill>
              </a:rPr>
              <a:t>Forensic readiness</a:t>
            </a:r>
          </a:p>
          <a:p>
            <a:pPr marL="12700" marR="5080"/>
            <a:r>
              <a:rPr lang="en-US" sz="1400" kern="0" spc="-80" dirty="0">
                <a:solidFill>
                  <a:schemeClr val="accent6"/>
                </a:solidFill>
              </a:rPr>
              <a:t>Compliance logging</a:t>
            </a:r>
          </a:p>
          <a:p>
            <a:pPr marL="12700" marR="5080"/>
            <a:r>
              <a:rPr lang="en-US" sz="1400" kern="0" spc="-80" dirty="0">
                <a:solidFill>
                  <a:schemeClr val="accent2"/>
                </a:solidFill>
              </a:rPr>
              <a:t>Insights</a:t>
            </a:r>
          </a:p>
          <a:p>
            <a:pPr marL="12700" marR="5080"/>
            <a:r>
              <a:rPr lang="en-US" sz="1400" kern="0" spc="-80" dirty="0">
                <a:solidFill>
                  <a:schemeClr val="accent6"/>
                </a:solidFill>
              </a:rPr>
              <a:t>Accounting enables Integrity &amp; Non-repudiation</a:t>
            </a:r>
          </a:p>
          <a:p>
            <a:pPr marL="12700" marR="5080"/>
            <a:r>
              <a:rPr lang="en-US" sz="1400" kern="0" spc="-80" dirty="0">
                <a:solidFill>
                  <a:schemeClr val="accent6"/>
                </a:solidFill>
              </a:rPr>
              <a:t>If it’s not logged, it didn’t happen (legally)</a:t>
            </a:r>
          </a:p>
          <a:p>
            <a:pPr marL="12700" marR="5080"/>
            <a:r>
              <a:rPr lang="en-US" sz="1400" kern="0" spc="-80" dirty="0">
                <a:solidFill>
                  <a:schemeClr val="accent2"/>
                </a:solidFill>
              </a:rPr>
              <a:t>Gotchas</a:t>
            </a:r>
          </a:p>
          <a:p>
            <a:pPr marL="12700" marR="5080"/>
            <a:r>
              <a:rPr lang="en-US" sz="1400" kern="0" spc="-80" dirty="0">
                <a:solidFill>
                  <a:schemeClr val="accent6"/>
                </a:solidFill>
              </a:rPr>
              <a:t>❌ Logs without timestamps</a:t>
            </a:r>
          </a:p>
          <a:p>
            <a:pPr marL="12700" marR="5080"/>
            <a:r>
              <a:rPr lang="en-US" sz="1400" kern="0" spc="-80" dirty="0">
                <a:solidFill>
                  <a:schemeClr val="accent6"/>
                </a:solidFill>
              </a:rPr>
              <a:t>❌ Logs not protected from tampering</a:t>
            </a:r>
          </a:p>
          <a:p>
            <a:pPr marL="12700" marR="5080"/>
            <a:r>
              <a:rPr lang="en-US" sz="1400" kern="0" spc="-80" dirty="0">
                <a:solidFill>
                  <a:schemeClr val="accent6"/>
                </a:solidFill>
              </a:rPr>
              <a:t>❌ No correlation IDs</a:t>
            </a:r>
          </a:p>
          <a:p>
            <a:pPr marL="12700" marR="5080"/>
            <a:r>
              <a:rPr lang="en-US" sz="1400" kern="0" spc="-80" dirty="0">
                <a:solidFill>
                  <a:schemeClr val="accent6"/>
                </a:solidFill>
              </a:rPr>
              <a:t>❌ Too much noise, no signal</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561EB4EF-D07C-3DAD-2B0C-1936FCE96F0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4A1C5AAB-2F74-D27B-90F9-DFB821ADBDD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CAFDD23-ECDE-57A1-B82D-4F749C046F3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017212888"/>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6C7F-AAC9-6312-B595-7F25D8B447D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9C0A0E0-389F-3A73-FA75-906725AD616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EB9B2EE-216C-B131-E6EB-962EE9185C1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C4AF9C3-4D46-A1A1-D679-C14A8308476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8C71817-E413-8348-16F5-07709B45E1E1}"/>
              </a:ext>
            </a:extLst>
          </p:cNvPr>
          <p:cNvSpPr txBox="1">
            <a:spLocks/>
          </p:cNvSpPr>
          <p:nvPr/>
        </p:nvSpPr>
        <p:spPr>
          <a:xfrm>
            <a:off x="76200" y="697468"/>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CIA Triad vs AAA</a:t>
            </a:r>
          </a:p>
          <a:p>
            <a:pPr marL="12700" marR="5080"/>
            <a:r>
              <a:rPr lang="en-US" sz="1400" kern="0" spc="-80" dirty="0">
                <a:solidFill>
                  <a:schemeClr val="accent2"/>
                </a:solidFill>
              </a:rPr>
              <a:t>4. CIA vs AAA – Direct Comparison</a:t>
            </a:r>
          </a:p>
          <a:p>
            <a:pPr marL="12700" marR="5080"/>
            <a:r>
              <a:rPr lang="en-US" sz="1400" kern="0" spc="-80" dirty="0">
                <a:solidFill>
                  <a:schemeClr val="accent2"/>
                </a:solidFill>
              </a:rPr>
              <a:t>Dimension	                    CIA	                                        AAA</a:t>
            </a:r>
          </a:p>
          <a:p>
            <a:pPr marL="12700" marR="5080"/>
            <a:r>
              <a:rPr lang="en-US" sz="1400" kern="0" spc="-80" dirty="0">
                <a:solidFill>
                  <a:schemeClr val="accent6"/>
                </a:solidFill>
              </a:rPr>
              <a:t>Nature	                    Security goals	                    Security controls</a:t>
            </a:r>
          </a:p>
          <a:p>
            <a:pPr marL="12700" marR="5080"/>
            <a:r>
              <a:rPr lang="en-US" sz="1400" kern="0" spc="-80" dirty="0">
                <a:solidFill>
                  <a:schemeClr val="accent6"/>
                </a:solidFill>
              </a:rPr>
              <a:t>Scope	                    Data &amp; systems	                    Access &amp; actions</a:t>
            </a:r>
          </a:p>
          <a:p>
            <a:pPr marL="12700" marR="5080"/>
            <a:r>
              <a:rPr lang="en-US" sz="1400" kern="0" spc="-80" dirty="0">
                <a:solidFill>
                  <a:schemeClr val="accent6"/>
                </a:solidFill>
              </a:rPr>
              <a:t>Abstract vs Concrete	 Abstract	                                       Operational</a:t>
            </a:r>
          </a:p>
          <a:p>
            <a:pPr marL="12700" marR="5080"/>
            <a:r>
              <a:rPr lang="en-US" sz="1400" kern="0" spc="-80" dirty="0">
                <a:solidFill>
                  <a:schemeClr val="accent6"/>
                </a:solidFill>
              </a:rPr>
              <a:t>Time	                    Design-time mindset	                    Runtime enforcement</a:t>
            </a:r>
          </a:p>
          <a:p>
            <a:pPr marL="12700" marR="5080"/>
            <a:r>
              <a:rPr lang="en-US" sz="1400" kern="0" spc="-80" dirty="0">
                <a:solidFill>
                  <a:schemeClr val="accent6"/>
                </a:solidFill>
              </a:rPr>
              <a:t>Failure Impact	 Breach, outage, corruption	Unauthorized access, no traceability</a:t>
            </a:r>
          </a:p>
          <a:p>
            <a:pPr marL="12700" marR="5080"/>
            <a:endParaRPr lang="en-US" sz="1400" kern="0" spc="-80" dirty="0">
              <a:solidFill>
                <a:schemeClr val="accent6"/>
              </a:solidFill>
            </a:endParaRPr>
          </a:p>
          <a:p>
            <a:pPr marL="12700" marR="5080"/>
            <a:r>
              <a:rPr lang="en-US" sz="1400" kern="0" spc="-80" dirty="0">
                <a:solidFill>
                  <a:schemeClr val="accent2"/>
                </a:solidFill>
              </a:rPr>
              <a:t>5. How CIA &amp; AAA Work Together (Critical Insight)</a:t>
            </a:r>
          </a:p>
          <a:p>
            <a:pPr marL="12700" marR="5080"/>
            <a:r>
              <a:rPr lang="en-US" sz="1400" kern="0" spc="-80" dirty="0">
                <a:solidFill>
                  <a:schemeClr val="accent2"/>
                </a:solidFill>
              </a:rPr>
              <a:t>Mapping AAA → CIA</a:t>
            </a:r>
          </a:p>
          <a:p>
            <a:pPr marL="12700" marR="5080"/>
            <a:r>
              <a:rPr lang="en-US" sz="1400" kern="0" spc="-80" dirty="0">
                <a:solidFill>
                  <a:schemeClr val="accent2"/>
                </a:solidFill>
              </a:rPr>
              <a:t>AAA Component	CIA Property It Supports</a:t>
            </a:r>
          </a:p>
          <a:p>
            <a:pPr marL="12700" marR="5080"/>
            <a:r>
              <a:rPr lang="en-US" sz="1400" kern="0" spc="-80" dirty="0">
                <a:solidFill>
                  <a:schemeClr val="accent6"/>
                </a:solidFill>
              </a:rPr>
              <a:t>Authentication	Confidentiality</a:t>
            </a:r>
          </a:p>
          <a:p>
            <a:pPr marL="12700" marR="5080"/>
            <a:r>
              <a:rPr lang="en-US" sz="1400" kern="0" spc="-80" dirty="0">
                <a:solidFill>
                  <a:schemeClr val="accent6"/>
                </a:solidFill>
              </a:rPr>
              <a:t>Authorization	Confidentiality + Integrity</a:t>
            </a:r>
          </a:p>
          <a:p>
            <a:pPr marL="12700" marR="5080"/>
            <a:r>
              <a:rPr lang="en-US" sz="1400" kern="0" spc="-80" dirty="0">
                <a:solidFill>
                  <a:schemeClr val="accent6"/>
                </a:solidFill>
              </a:rPr>
              <a:t>Accounting	Integrity + Availability (incident response)</a:t>
            </a:r>
          </a:p>
          <a:p>
            <a:pPr marL="12700" marR="5080"/>
            <a:r>
              <a:rPr lang="en-US" sz="1400" kern="0" spc="-80" dirty="0">
                <a:solidFill>
                  <a:schemeClr val="accent6"/>
                </a:solidFill>
              </a:rPr>
              <a:t>AAA is a means to achieve CIA</a:t>
            </a:r>
          </a:p>
          <a:p>
            <a:pPr marL="12700" marR="5080"/>
            <a:endParaRPr lang="en-US" sz="1400" kern="0" spc="-80" dirty="0">
              <a:solidFill>
                <a:schemeClr val="accent6"/>
              </a:solidFill>
            </a:endParaRPr>
          </a:p>
          <a:p>
            <a:pPr marL="12700" marR="5080"/>
            <a:r>
              <a:rPr lang="en-US" sz="1400" kern="0" spc="-80" dirty="0">
                <a:solidFill>
                  <a:schemeClr val="accent2"/>
                </a:solidFill>
              </a:rPr>
              <a:t>6.Advanced Patterns &amp; Modern Extensions</a:t>
            </a:r>
          </a:p>
          <a:p>
            <a:pPr marL="12700" marR="5080"/>
            <a:r>
              <a:rPr lang="en-US" sz="1400" kern="0" spc="-80" dirty="0">
                <a:solidFill>
                  <a:schemeClr val="accent2"/>
                </a:solidFill>
              </a:rPr>
              <a:t>CIA Extensions</a:t>
            </a:r>
          </a:p>
          <a:p>
            <a:pPr marL="12700" marR="5080"/>
            <a:r>
              <a:rPr lang="en-US" sz="1400" kern="0" spc="-80" dirty="0">
                <a:solidFill>
                  <a:schemeClr val="accent6"/>
                </a:solidFill>
              </a:rPr>
              <a:t>CIA + Safety (AI systems)</a:t>
            </a:r>
          </a:p>
          <a:p>
            <a:pPr marL="12700" marR="5080"/>
            <a:r>
              <a:rPr lang="en-US" sz="1400" kern="0" spc="-80" dirty="0">
                <a:solidFill>
                  <a:schemeClr val="accent6"/>
                </a:solidFill>
              </a:rPr>
              <a:t>CIA + Privacy (GDPR, DPDP Act India)</a:t>
            </a:r>
          </a:p>
          <a:p>
            <a:pPr marL="12700" marR="5080"/>
            <a:r>
              <a:rPr lang="en-US" sz="1400" kern="0" spc="-80" dirty="0">
                <a:solidFill>
                  <a:schemeClr val="accent6"/>
                </a:solidFill>
              </a:rPr>
              <a:t>Resilience &gt; Availability</a:t>
            </a:r>
          </a:p>
        </p:txBody>
      </p:sp>
      <p:grpSp>
        <p:nvGrpSpPr>
          <p:cNvPr id="7" name="Group 6">
            <a:extLst>
              <a:ext uri="{FF2B5EF4-FFF2-40B4-BE49-F238E27FC236}">
                <a16:creationId xmlns:a16="http://schemas.microsoft.com/office/drawing/2014/main" id="{A032F152-E6B8-04F3-4504-52307B3F605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944E70C1-FA8A-77C0-3C20-3F92463531B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3D0ACC7-16B5-E644-A9A1-3112E42C6F4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58084207"/>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31EED-72BF-D795-C6CE-E6D7EF5079A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7EF6D16-088C-AE73-F666-DC85B76C726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92792DD-82DF-E186-9176-E8DD4B50A82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9AD292C-C3B3-8DF1-D95F-67E1228B7E5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62A589E-5F01-6E60-315B-EFF00F508DA1}"/>
              </a:ext>
            </a:extLst>
          </p:cNvPr>
          <p:cNvSpPr txBox="1">
            <a:spLocks/>
          </p:cNvSpPr>
          <p:nvPr/>
        </p:nvSpPr>
        <p:spPr>
          <a:xfrm>
            <a:off x="76200" y="697468"/>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CIA Triad vs AAA</a:t>
            </a:r>
          </a:p>
          <a:p>
            <a:pPr marL="12700" marR="5080"/>
            <a:r>
              <a:rPr lang="en-US" sz="1400" kern="0" spc="-80" dirty="0">
                <a:solidFill>
                  <a:schemeClr val="accent2"/>
                </a:solidFill>
              </a:rPr>
              <a:t>6.Advanced Patterns &amp; Modern Extensions</a:t>
            </a:r>
          </a:p>
          <a:p>
            <a:pPr marL="12700" marR="5080"/>
            <a:r>
              <a:rPr lang="en-US" sz="1400" kern="0" spc="-80" dirty="0">
                <a:solidFill>
                  <a:schemeClr val="accent2"/>
                </a:solidFill>
              </a:rPr>
              <a:t>AAA Extensions</a:t>
            </a:r>
          </a:p>
          <a:p>
            <a:pPr marL="12700" marR="5080"/>
            <a:r>
              <a:rPr lang="en-US" sz="1400" kern="0" spc="-80" dirty="0">
                <a:solidFill>
                  <a:schemeClr val="accent2"/>
                </a:solidFill>
              </a:rPr>
              <a:t>AAAU</a:t>
            </a:r>
          </a:p>
          <a:p>
            <a:pPr marL="12700" marR="5080"/>
            <a:r>
              <a:rPr lang="en-US" sz="1400" kern="0" spc="-80" dirty="0">
                <a:solidFill>
                  <a:schemeClr val="accent6"/>
                </a:solidFill>
              </a:rPr>
              <a:t>Authentication</a:t>
            </a:r>
          </a:p>
          <a:p>
            <a:pPr marL="12700" marR="5080"/>
            <a:r>
              <a:rPr lang="en-US" sz="1400" kern="0" spc="-80" dirty="0">
                <a:solidFill>
                  <a:schemeClr val="accent6"/>
                </a:solidFill>
              </a:rPr>
              <a:t>Authorization</a:t>
            </a:r>
          </a:p>
          <a:p>
            <a:pPr marL="12700" marR="5080"/>
            <a:r>
              <a:rPr lang="en-US" sz="1400" kern="0" spc="-80" dirty="0">
                <a:solidFill>
                  <a:schemeClr val="accent6"/>
                </a:solidFill>
              </a:rPr>
              <a:t>Accounting</a:t>
            </a:r>
          </a:p>
          <a:p>
            <a:pPr marL="12700" marR="5080"/>
            <a:r>
              <a:rPr lang="en-US" sz="1400" kern="0" spc="-80" dirty="0">
                <a:solidFill>
                  <a:schemeClr val="accent6"/>
                </a:solidFill>
              </a:rPr>
              <a:t>Auditing</a:t>
            </a:r>
          </a:p>
          <a:p>
            <a:pPr marL="12700" marR="5080"/>
            <a:r>
              <a:rPr lang="en-US" sz="1400" kern="0" spc="-80" dirty="0">
                <a:solidFill>
                  <a:schemeClr val="accent6"/>
                </a:solidFill>
              </a:rPr>
              <a:t>Continuous Authorization</a:t>
            </a:r>
          </a:p>
          <a:p>
            <a:pPr marL="12700" marR="5080"/>
            <a:r>
              <a:rPr lang="en-US" sz="1400" kern="0" spc="-80" dirty="0">
                <a:solidFill>
                  <a:schemeClr val="accent6"/>
                </a:solidFill>
              </a:rPr>
              <a:t>Risk-based Authentication</a:t>
            </a:r>
          </a:p>
          <a:p>
            <a:pPr marL="12700" marR="5080"/>
            <a:r>
              <a:rPr lang="en-US" sz="1400" kern="0" spc="-80" dirty="0">
                <a:solidFill>
                  <a:schemeClr val="accent2"/>
                </a:solidFill>
              </a:rPr>
              <a:t>7. Mental Checklist</a:t>
            </a:r>
          </a:p>
          <a:p>
            <a:pPr marL="12700" marR="5080"/>
            <a:r>
              <a:rPr lang="en-US" sz="1400" kern="0" spc="-80" dirty="0">
                <a:solidFill>
                  <a:schemeClr val="accent2"/>
                </a:solidFill>
              </a:rPr>
              <a:t>When designing a system, ask:</a:t>
            </a:r>
          </a:p>
          <a:p>
            <a:pPr marL="12700" marR="5080"/>
            <a:r>
              <a:rPr lang="en-US" sz="1400" kern="0" spc="-80" dirty="0">
                <a:solidFill>
                  <a:schemeClr val="accent2"/>
                </a:solidFill>
              </a:rPr>
              <a:t>CIA First</a:t>
            </a:r>
          </a:p>
          <a:p>
            <a:pPr marL="12700" marR="5080"/>
            <a:r>
              <a:rPr lang="en-US" sz="1400" kern="0" spc="-80" dirty="0">
                <a:solidFill>
                  <a:schemeClr val="accent6"/>
                </a:solidFill>
              </a:rPr>
              <a:t>What data must be confidential?</a:t>
            </a:r>
          </a:p>
          <a:p>
            <a:pPr marL="12700" marR="5080"/>
            <a:r>
              <a:rPr lang="en-US" sz="1400" kern="0" spc="-80" dirty="0">
                <a:solidFill>
                  <a:schemeClr val="accent6"/>
                </a:solidFill>
              </a:rPr>
              <a:t>What cannot be modified?</a:t>
            </a:r>
          </a:p>
          <a:p>
            <a:pPr marL="12700" marR="5080"/>
            <a:r>
              <a:rPr lang="en-US" sz="1400" kern="0" spc="-80" dirty="0">
                <a:solidFill>
                  <a:schemeClr val="accent6"/>
                </a:solidFill>
              </a:rPr>
              <a:t>What must never go down?</a:t>
            </a:r>
          </a:p>
          <a:p>
            <a:pPr marL="12700" marR="5080"/>
            <a:r>
              <a:rPr lang="en-US" sz="1400" kern="0" spc="-80" dirty="0">
                <a:solidFill>
                  <a:schemeClr val="accent2"/>
                </a:solidFill>
              </a:rPr>
              <a:t>AAA Next</a:t>
            </a:r>
          </a:p>
          <a:p>
            <a:pPr marL="12700" marR="5080"/>
            <a:r>
              <a:rPr lang="en-US" sz="1400" kern="0" spc="-80" dirty="0">
                <a:solidFill>
                  <a:schemeClr val="accent6"/>
                </a:solidFill>
              </a:rPr>
              <a:t>Who accesses it?</a:t>
            </a:r>
          </a:p>
          <a:p>
            <a:pPr marL="12700" marR="5080"/>
            <a:r>
              <a:rPr lang="en-US" sz="1400" kern="0" spc="-80" dirty="0">
                <a:solidFill>
                  <a:schemeClr val="accent6"/>
                </a:solidFill>
              </a:rPr>
              <a:t>What actions are allowed?</a:t>
            </a:r>
          </a:p>
          <a:p>
            <a:pPr marL="12700" marR="5080"/>
            <a:r>
              <a:rPr lang="en-US" sz="1400" kern="0" spc="-80" dirty="0">
                <a:solidFill>
                  <a:schemeClr val="accent6"/>
                </a:solidFill>
              </a:rPr>
              <a:t>How do we prove it later?</a:t>
            </a:r>
          </a:p>
          <a:p>
            <a:pPr marL="12700" marR="5080"/>
            <a:r>
              <a:rPr lang="en-US" sz="1400" kern="0" spc="-80" dirty="0">
                <a:solidFill>
                  <a:schemeClr val="accent2"/>
                </a:solidFill>
              </a:rPr>
              <a:t>CIA defines the target</a:t>
            </a:r>
          </a:p>
          <a:p>
            <a:pPr marL="12700" marR="5080"/>
            <a:r>
              <a:rPr lang="en-US" sz="1400" kern="0" spc="-80" dirty="0">
                <a:solidFill>
                  <a:schemeClr val="accent2"/>
                </a:solidFill>
              </a:rPr>
              <a:t>AAA defines the control system</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700C7052-B98D-77F5-5C9D-B971349D7DC3}"/>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A34C00AD-FC0B-ACCA-EE70-CBB4433A5E6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540CE41-6971-CA16-B4E9-81D661253DB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187728438"/>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A2715B-7DF1-3546-4DCC-BA6FDCFDC88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BE30BC0-045A-2327-C130-0D39966D05C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B3CF77F-5C9C-2EA7-2BEB-9A4DFC1490F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43DF12A-CD90-8B33-243B-67FB0101977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139A4CA-8095-8E11-FB31-D4F8A4AFD4F8}"/>
              </a:ext>
            </a:extLst>
          </p:cNvPr>
          <p:cNvSpPr txBox="1">
            <a:spLocks/>
          </p:cNvSpPr>
          <p:nvPr/>
        </p:nvSpPr>
        <p:spPr>
          <a:xfrm>
            <a:off x="76200" y="745153"/>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Using Cookies &amp; Sessions, JWTs, OAuth, OIDC &amp; API Keys</a:t>
            </a:r>
          </a:p>
          <a:p>
            <a:pPr marL="12700" marR="5080"/>
            <a:r>
              <a:rPr lang="en-US" sz="1400" kern="0" spc="-80" dirty="0">
                <a:solidFill>
                  <a:schemeClr val="accent2"/>
                </a:solidFill>
              </a:rPr>
              <a:t>1. The Core Problem These Solve</a:t>
            </a:r>
          </a:p>
          <a:p>
            <a:pPr marL="12700" marR="5080"/>
            <a:r>
              <a:rPr lang="en-US" sz="1400" kern="0" spc="-80" dirty="0">
                <a:solidFill>
                  <a:schemeClr val="accent2"/>
                </a:solidFill>
              </a:rPr>
              <a:t>All of these mechanisms answer three fundamental questions:</a:t>
            </a:r>
          </a:p>
          <a:p>
            <a:pPr marL="12700" marR="5080"/>
            <a:r>
              <a:rPr lang="en-US" sz="1400" kern="0" spc="-80" dirty="0">
                <a:solidFill>
                  <a:schemeClr val="accent2"/>
                </a:solidFill>
              </a:rPr>
              <a:t>Question	                         Meaning</a:t>
            </a:r>
          </a:p>
          <a:p>
            <a:pPr marL="12700" marR="5080"/>
            <a:r>
              <a:rPr lang="en-US" sz="1400" kern="0" spc="-80" dirty="0">
                <a:solidFill>
                  <a:schemeClr val="accent6"/>
                </a:solidFill>
              </a:rPr>
              <a:t>Authentication	      Who are you?</a:t>
            </a:r>
          </a:p>
          <a:p>
            <a:pPr marL="12700" marR="5080"/>
            <a:r>
              <a:rPr lang="en-US" sz="1400" kern="0" spc="-80" dirty="0">
                <a:solidFill>
                  <a:schemeClr val="accent6"/>
                </a:solidFill>
              </a:rPr>
              <a:t>Authorization	      What are you allowed to do?</a:t>
            </a:r>
          </a:p>
          <a:p>
            <a:pPr marL="12700" marR="5080"/>
            <a:r>
              <a:rPr lang="en-US" sz="1400" kern="0" spc="-80" dirty="0">
                <a:solidFill>
                  <a:schemeClr val="accent6"/>
                </a:solidFill>
              </a:rPr>
              <a:t>Session management	      How do we remember you across requests?</a:t>
            </a:r>
          </a:p>
          <a:p>
            <a:pPr marL="12700" marR="5080"/>
            <a:r>
              <a:rPr lang="en-US" sz="1400" kern="0" spc="-80" dirty="0">
                <a:solidFill>
                  <a:schemeClr val="accent2"/>
                </a:solidFill>
              </a:rPr>
              <a:t>Different techniques optimize for:</a:t>
            </a:r>
          </a:p>
          <a:p>
            <a:pPr marL="12700" marR="5080"/>
            <a:r>
              <a:rPr lang="en-US" sz="1400" kern="0" spc="-80" dirty="0">
                <a:solidFill>
                  <a:schemeClr val="accent6"/>
                </a:solidFill>
              </a:rPr>
              <a:t>Browser vs API</a:t>
            </a:r>
          </a:p>
          <a:p>
            <a:pPr marL="12700" marR="5080"/>
            <a:r>
              <a:rPr lang="en-US" sz="1400" kern="0" spc="-80" dirty="0">
                <a:solidFill>
                  <a:schemeClr val="accent6"/>
                </a:solidFill>
              </a:rPr>
              <a:t>Stateful vs stateless</a:t>
            </a:r>
          </a:p>
          <a:p>
            <a:pPr marL="12700" marR="5080"/>
            <a:r>
              <a:rPr lang="en-US" sz="1400" kern="0" spc="-80" dirty="0">
                <a:solidFill>
                  <a:schemeClr val="accent6"/>
                </a:solidFill>
              </a:rPr>
              <a:t>First-party vs third-party access</a:t>
            </a:r>
          </a:p>
          <a:p>
            <a:pPr marL="12700" marR="5080"/>
            <a:r>
              <a:rPr lang="en-US" sz="1400" kern="0" spc="-80" dirty="0">
                <a:solidFill>
                  <a:schemeClr val="accent6"/>
                </a:solidFill>
              </a:rPr>
              <a:t>Human users vs machines</a:t>
            </a:r>
          </a:p>
          <a:p>
            <a:pPr marL="12700" marR="5080"/>
            <a:r>
              <a:rPr lang="en-US" sz="1400" kern="0" spc="-80" dirty="0">
                <a:solidFill>
                  <a:schemeClr val="accent2"/>
                </a:solidFill>
              </a:rPr>
              <a:t>2. Cookies &amp; Sessions (Classic Web Model)</a:t>
            </a:r>
          </a:p>
          <a:p>
            <a:pPr marL="12700" marR="5080"/>
            <a:r>
              <a:rPr lang="en-US" sz="1400" kern="0" spc="-80" dirty="0">
                <a:solidFill>
                  <a:schemeClr val="accent2"/>
                </a:solidFill>
              </a:rPr>
              <a:t>2.1 What They Are</a:t>
            </a:r>
          </a:p>
          <a:p>
            <a:pPr marL="12700" marR="5080"/>
            <a:r>
              <a:rPr lang="en-US" sz="1400" kern="0" spc="-80" dirty="0">
                <a:solidFill>
                  <a:schemeClr val="accent2"/>
                </a:solidFill>
              </a:rPr>
              <a:t>Cookies</a:t>
            </a:r>
          </a:p>
          <a:p>
            <a:pPr marL="12700" marR="5080"/>
            <a:r>
              <a:rPr lang="en-US" sz="1400" kern="0" spc="-80" dirty="0">
                <a:solidFill>
                  <a:schemeClr val="accent6"/>
                </a:solidFill>
              </a:rPr>
              <a:t>Small key-value pairs stored in the browser</a:t>
            </a:r>
          </a:p>
          <a:p>
            <a:pPr marL="12700" marR="5080"/>
            <a:r>
              <a:rPr lang="en-US" sz="1400" kern="0" spc="-80" dirty="0">
                <a:solidFill>
                  <a:schemeClr val="accent6"/>
                </a:solidFill>
              </a:rPr>
              <a:t>Automatically sent with every request to the same domain</a:t>
            </a:r>
          </a:p>
          <a:p>
            <a:pPr marL="12700" marR="5080"/>
            <a:r>
              <a:rPr lang="en-US" sz="1400" kern="0" spc="-80" dirty="0">
                <a:solidFill>
                  <a:schemeClr val="accent2"/>
                </a:solidFill>
              </a:rPr>
              <a:t>Sessions</a:t>
            </a:r>
          </a:p>
          <a:p>
            <a:pPr marL="12700" marR="5080"/>
            <a:r>
              <a:rPr lang="en-US" sz="1400" kern="0" spc="-80" dirty="0">
                <a:solidFill>
                  <a:schemeClr val="accent6"/>
                </a:solidFill>
              </a:rPr>
              <a:t>Server-side storage of user state</a:t>
            </a:r>
          </a:p>
          <a:p>
            <a:pPr marL="12700" marR="5080"/>
            <a:r>
              <a:rPr lang="en-US" sz="1400" kern="0" spc="-80" dirty="0">
                <a:solidFill>
                  <a:schemeClr val="accent6"/>
                </a:solidFill>
              </a:rPr>
              <a:t>Browser only stores a session ID (usually in a cookie)</a:t>
            </a:r>
          </a:p>
          <a:p>
            <a:pPr marL="12700" marR="5080"/>
            <a:r>
              <a:rPr lang="en-US" sz="1400" kern="0" spc="-80" dirty="0">
                <a:solidFill>
                  <a:schemeClr val="accent6"/>
                </a:solidFill>
              </a:rPr>
              <a:t>Browser ──(</a:t>
            </a:r>
            <a:r>
              <a:rPr lang="en-US" sz="1400" kern="0" spc="-80" dirty="0" err="1">
                <a:solidFill>
                  <a:schemeClr val="accent6"/>
                </a:solidFill>
              </a:rPr>
              <a:t>session_id</a:t>
            </a:r>
            <a:r>
              <a:rPr lang="en-US" sz="1400" kern="0" spc="-80" dirty="0">
                <a:solidFill>
                  <a:schemeClr val="accent6"/>
                </a:solidFill>
              </a:rPr>
              <a:t> cookie)──▶ Server</a:t>
            </a:r>
          </a:p>
          <a:p>
            <a:pPr marL="12700" marR="5080"/>
            <a:r>
              <a:rPr lang="en-US" sz="1400" kern="0" spc="-80" dirty="0">
                <a:solidFill>
                  <a:schemeClr val="accent6"/>
                </a:solidFill>
              </a:rPr>
              <a:t>Server ──(lookup session store)──▶ User data</a:t>
            </a:r>
          </a:p>
        </p:txBody>
      </p:sp>
      <p:grpSp>
        <p:nvGrpSpPr>
          <p:cNvPr id="7" name="Group 6">
            <a:extLst>
              <a:ext uri="{FF2B5EF4-FFF2-40B4-BE49-F238E27FC236}">
                <a16:creationId xmlns:a16="http://schemas.microsoft.com/office/drawing/2014/main" id="{7043766D-FD6C-B507-A977-59992204CB5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DB22738-3169-558B-5828-D8BCE03E683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8C413CE-F276-1827-6087-6FDB45DB5AC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843230955"/>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8A068-DD2F-2CB2-2C05-EA87F927DAE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51D1A55-4034-FAB5-C587-4F078F116AC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B956C2E-CB43-AE1A-5E9E-4F90B44F543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C1D68D6-ABA6-1781-CEB3-D5E734E41A6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35BAD24-B3D6-54AF-ED78-E26E3A9BF069}"/>
              </a:ext>
            </a:extLst>
          </p:cNvPr>
          <p:cNvSpPr txBox="1">
            <a:spLocks/>
          </p:cNvSpPr>
          <p:nvPr/>
        </p:nvSpPr>
        <p:spPr>
          <a:xfrm>
            <a:off x="76200" y="745153"/>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Using Cookies &amp; Sessions, JWTs, OAuth, OIDC &amp; API Keys</a:t>
            </a:r>
          </a:p>
          <a:p>
            <a:pPr marL="12700" marR="5080"/>
            <a:r>
              <a:rPr lang="en-US" sz="1400" kern="0" spc="-80" dirty="0">
                <a:solidFill>
                  <a:schemeClr val="accent2"/>
                </a:solidFill>
              </a:rPr>
              <a:t>2. Cookies &amp; Sessions (Classic Web Model)</a:t>
            </a:r>
          </a:p>
          <a:p>
            <a:pPr marL="12700" marR="5080"/>
            <a:r>
              <a:rPr lang="en-US" sz="1400" kern="0" spc="-80" dirty="0">
                <a:solidFill>
                  <a:schemeClr val="accent2"/>
                </a:solidFill>
              </a:rPr>
              <a:t>2.2 Key Concepts</a:t>
            </a:r>
          </a:p>
          <a:p>
            <a:pPr marL="12700" marR="5080"/>
            <a:r>
              <a:rPr lang="en-US" sz="1400" kern="0" spc="-80" dirty="0">
                <a:solidFill>
                  <a:schemeClr val="accent6"/>
                </a:solidFill>
              </a:rPr>
              <a:t>Stateful Authentication</a:t>
            </a:r>
          </a:p>
          <a:p>
            <a:pPr marL="12700" marR="5080"/>
            <a:r>
              <a:rPr lang="en-US" sz="1400" kern="0" spc="-80" dirty="0">
                <a:solidFill>
                  <a:schemeClr val="accent6"/>
                </a:solidFill>
              </a:rPr>
              <a:t>Server remembers user state</a:t>
            </a:r>
          </a:p>
          <a:p>
            <a:pPr marL="12700" marR="5080"/>
            <a:r>
              <a:rPr lang="en-US" sz="1400" kern="0" spc="-80" dirty="0">
                <a:solidFill>
                  <a:schemeClr val="accent2"/>
                </a:solidFill>
              </a:rPr>
              <a:t>Session data stored in:</a:t>
            </a:r>
          </a:p>
          <a:p>
            <a:pPr marL="12700" marR="5080"/>
            <a:r>
              <a:rPr lang="en-US" sz="1400" kern="0" spc="-80" dirty="0">
                <a:solidFill>
                  <a:schemeClr val="accent6"/>
                </a:solidFill>
              </a:rPr>
              <a:t>Memory</a:t>
            </a:r>
          </a:p>
          <a:p>
            <a:pPr marL="12700" marR="5080"/>
            <a:r>
              <a:rPr lang="en-US" sz="1400" kern="0" spc="-80" dirty="0">
                <a:solidFill>
                  <a:schemeClr val="accent6"/>
                </a:solidFill>
              </a:rPr>
              <a:t>Redis</a:t>
            </a:r>
          </a:p>
          <a:p>
            <a:pPr marL="12700" marR="5080"/>
            <a:r>
              <a:rPr lang="en-US" sz="1400" kern="0" spc="-80" dirty="0">
                <a:solidFill>
                  <a:schemeClr val="accent6"/>
                </a:solidFill>
              </a:rPr>
              <a:t>Database</a:t>
            </a:r>
          </a:p>
          <a:p>
            <a:pPr marL="12700" marR="5080"/>
            <a:endParaRPr lang="en-US" sz="1400" kern="0" spc="-80" dirty="0">
              <a:solidFill>
                <a:schemeClr val="accent6"/>
              </a:solidFill>
            </a:endParaRPr>
          </a:p>
          <a:p>
            <a:pPr marL="12700" marR="5080"/>
            <a:r>
              <a:rPr lang="en-US" sz="1400" kern="0" spc="-80" dirty="0">
                <a:solidFill>
                  <a:schemeClr val="accent2"/>
                </a:solidFill>
              </a:rPr>
              <a:t>Cookie Flags (Critical for Security)</a:t>
            </a:r>
          </a:p>
          <a:p>
            <a:pPr marL="12700" marR="5080"/>
            <a:r>
              <a:rPr lang="en-US" sz="1400" kern="0" spc="-80" dirty="0">
                <a:solidFill>
                  <a:schemeClr val="accent2"/>
                </a:solidFill>
              </a:rPr>
              <a:t>Flag	                   Purpose</a:t>
            </a:r>
          </a:p>
          <a:p>
            <a:pPr marL="12700" marR="5080"/>
            <a:r>
              <a:rPr lang="en-US" sz="1400" kern="0" spc="-80" dirty="0" err="1">
                <a:solidFill>
                  <a:schemeClr val="accent6"/>
                </a:solidFill>
              </a:rPr>
              <a:t>HttpOnly</a:t>
            </a:r>
            <a:r>
              <a:rPr lang="en-US" sz="1400" kern="0" spc="-80" dirty="0">
                <a:solidFill>
                  <a:schemeClr val="accent6"/>
                </a:solidFill>
              </a:rPr>
              <a:t>	                   Prevent JS access (XSS protection)</a:t>
            </a:r>
          </a:p>
          <a:p>
            <a:pPr marL="12700" marR="5080"/>
            <a:r>
              <a:rPr lang="en-US" sz="1400" kern="0" spc="-80" dirty="0">
                <a:solidFill>
                  <a:schemeClr val="accent6"/>
                </a:solidFill>
              </a:rPr>
              <a:t>Secure	                   HTTPS only</a:t>
            </a:r>
          </a:p>
          <a:p>
            <a:pPr marL="12700" marR="5080"/>
            <a:r>
              <a:rPr lang="en-US" sz="1400" kern="0" spc="-80" dirty="0" err="1">
                <a:solidFill>
                  <a:schemeClr val="accent6"/>
                </a:solidFill>
              </a:rPr>
              <a:t>SameSite</a:t>
            </a:r>
            <a:r>
              <a:rPr lang="en-US" sz="1400" kern="0" spc="-80" dirty="0">
                <a:solidFill>
                  <a:schemeClr val="accent6"/>
                </a:solidFill>
              </a:rPr>
              <a:t>	                   CSRF protection (Strict, Lax, None)</a:t>
            </a:r>
          </a:p>
          <a:p>
            <a:pPr marL="12700" marR="5080"/>
            <a:r>
              <a:rPr lang="en-US" sz="1400" kern="0" spc="-80" dirty="0">
                <a:solidFill>
                  <a:schemeClr val="accent6"/>
                </a:solidFill>
              </a:rPr>
              <a:t>Path / Domain	Scope restriction</a:t>
            </a:r>
          </a:p>
          <a:p>
            <a:pPr marL="12700" marR="5080"/>
            <a:endParaRPr lang="en-US" sz="1400" kern="0" spc="-80" dirty="0">
              <a:solidFill>
                <a:schemeClr val="accent6"/>
              </a:solidFill>
            </a:endParaRPr>
          </a:p>
          <a:p>
            <a:pPr marL="12700" marR="5080"/>
            <a:r>
              <a:rPr lang="en-US" sz="1400" kern="0" spc="-80" dirty="0">
                <a:solidFill>
                  <a:schemeClr val="accent2"/>
                </a:solidFill>
              </a:rPr>
              <a:t>2.3 Security Patterns</a:t>
            </a:r>
          </a:p>
          <a:p>
            <a:pPr marL="12700" marR="5080"/>
            <a:r>
              <a:rPr lang="en-US" sz="1400" kern="0" spc="-80" dirty="0">
                <a:solidFill>
                  <a:schemeClr val="accent6"/>
                </a:solidFill>
              </a:rPr>
              <a:t>CSRF Protection</a:t>
            </a:r>
          </a:p>
          <a:p>
            <a:pPr marL="12700" marR="5080"/>
            <a:r>
              <a:rPr lang="en-US" sz="1400" kern="0" spc="-80" dirty="0" err="1">
                <a:solidFill>
                  <a:schemeClr val="accent6"/>
                </a:solidFill>
              </a:rPr>
              <a:t>SameSite</a:t>
            </a:r>
            <a:r>
              <a:rPr lang="en-US" sz="1400" kern="0" spc="-80" dirty="0">
                <a:solidFill>
                  <a:schemeClr val="accent6"/>
                </a:solidFill>
              </a:rPr>
              <a:t> cookies</a:t>
            </a:r>
          </a:p>
          <a:p>
            <a:pPr marL="12700" marR="5080"/>
            <a:r>
              <a:rPr lang="en-US" sz="1400" kern="0" spc="-80" dirty="0">
                <a:solidFill>
                  <a:schemeClr val="accent6"/>
                </a:solidFill>
              </a:rPr>
              <a:t>CSRF tokens</a:t>
            </a:r>
          </a:p>
          <a:p>
            <a:pPr marL="12700" marR="5080"/>
            <a:r>
              <a:rPr lang="en-US" sz="1400" kern="0" spc="-80" dirty="0">
                <a:solidFill>
                  <a:schemeClr val="accent6"/>
                </a:solidFill>
              </a:rPr>
              <a:t>Double-submit cookies</a:t>
            </a:r>
          </a:p>
        </p:txBody>
      </p:sp>
      <p:grpSp>
        <p:nvGrpSpPr>
          <p:cNvPr id="7" name="Group 6">
            <a:extLst>
              <a:ext uri="{FF2B5EF4-FFF2-40B4-BE49-F238E27FC236}">
                <a16:creationId xmlns:a16="http://schemas.microsoft.com/office/drawing/2014/main" id="{12E6411D-55B2-A922-9DAE-E226DEB758AA}"/>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AAC5580-C3CC-E9F8-58C8-AF68328D1B4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298A067-BD21-AA9B-E440-B44B0033E65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354454545"/>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B842F-13E7-B4DC-538E-EE442B396E9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8748905-3114-2E11-3201-2A89A4ADB63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62F3E09-9E00-552F-709D-E9020A2086A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002F1EA-939A-D1EB-D463-1096E13A008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BC0B458-51AF-6820-A574-334E09FF07CB}"/>
              </a:ext>
            </a:extLst>
          </p:cNvPr>
          <p:cNvSpPr txBox="1">
            <a:spLocks/>
          </p:cNvSpPr>
          <p:nvPr/>
        </p:nvSpPr>
        <p:spPr>
          <a:xfrm>
            <a:off x="76200" y="670203"/>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Using Cookies &amp; Sessions, JWTs, OAuth, OIDC &amp; API Keys</a:t>
            </a:r>
          </a:p>
          <a:p>
            <a:pPr marL="12700" marR="5080"/>
            <a:r>
              <a:rPr lang="en-US" sz="1400" kern="0" spc="-80" dirty="0">
                <a:solidFill>
                  <a:schemeClr val="accent2"/>
                </a:solidFill>
              </a:rPr>
              <a:t>2. Cookies &amp; Sessions (Classic Web Model)</a:t>
            </a:r>
          </a:p>
          <a:p>
            <a:pPr marL="12700" marR="5080"/>
            <a:r>
              <a:rPr lang="en-US" sz="1400" kern="0" spc="-80" dirty="0">
                <a:solidFill>
                  <a:schemeClr val="accent2"/>
                </a:solidFill>
              </a:rPr>
              <a:t>2.3 Security Patterns</a:t>
            </a:r>
          </a:p>
          <a:p>
            <a:pPr marL="12700" marR="5080"/>
            <a:r>
              <a:rPr lang="en-US" sz="1400" kern="0" spc="-80" dirty="0">
                <a:solidFill>
                  <a:schemeClr val="accent6"/>
                </a:solidFill>
              </a:rPr>
              <a:t>Session Fixation Protection</a:t>
            </a:r>
          </a:p>
          <a:p>
            <a:pPr marL="12700" marR="5080"/>
            <a:r>
              <a:rPr lang="en-US" sz="1400" kern="0" spc="-80" dirty="0">
                <a:solidFill>
                  <a:schemeClr val="accent6"/>
                </a:solidFill>
              </a:rPr>
              <a:t>Rotate session ID after login</a:t>
            </a:r>
          </a:p>
          <a:p>
            <a:pPr marL="12700" marR="5080"/>
            <a:r>
              <a:rPr lang="en-US" sz="1400" kern="0" spc="-80" dirty="0">
                <a:solidFill>
                  <a:schemeClr val="accent2"/>
                </a:solidFill>
              </a:rPr>
              <a:t>Logout</a:t>
            </a:r>
          </a:p>
          <a:p>
            <a:pPr marL="12700" marR="5080"/>
            <a:r>
              <a:rPr lang="en-US" sz="1400" kern="0" spc="-80" dirty="0">
                <a:solidFill>
                  <a:schemeClr val="accent6"/>
                </a:solidFill>
              </a:rPr>
              <a:t>Server deletes session → user instantly logged out</a:t>
            </a:r>
          </a:p>
          <a:p>
            <a:pPr marL="12700" marR="5080"/>
            <a:endParaRPr lang="en-US" sz="1400" kern="0" spc="-80" dirty="0">
              <a:solidFill>
                <a:schemeClr val="accent6"/>
              </a:solidFill>
            </a:endParaRPr>
          </a:p>
          <a:p>
            <a:pPr marL="12700" marR="5080"/>
            <a:r>
              <a:rPr lang="en-US" sz="1400" kern="0" spc="-80" dirty="0">
                <a:solidFill>
                  <a:schemeClr val="accent2"/>
                </a:solidFill>
              </a:rPr>
              <a:t>2.4 Pros &amp; Cons</a:t>
            </a:r>
          </a:p>
          <a:p>
            <a:pPr marL="12700" marR="5080"/>
            <a:r>
              <a:rPr lang="en-US" sz="1400" kern="0" spc="-80" dirty="0">
                <a:solidFill>
                  <a:schemeClr val="accent2"/>
                </a:solidFill>
              </a:rPr>
              <a:t>Pros</a:t>
            </a:r>
          </a:p>
          <a:p>
            <a:pPr marL="12700" marR="5080"/>
            <a:r>
              <a:rPr lang="en-US" sz="1400" kern="0" spc="-80" dirty="0">
                <a:solidFill>
                  <a:schemeClr val="accent6"/>
                </a:solidFill>
              </a:rPr>
              <a:t>✅ Simple</a:t>
            </a:r>
          </a:p>
          <a:p>
            <a:pPr marL="12700" marR="5080"/>
            <a:r>
              <a:rPr lang="en-US" sz="1400" kern="0" spc="-80" dirty="0">
                <a:solidFill>
                  <a:schemeClr val="accent6"/>
                </a:solidFill>
              </a:rPr>
              <a:t>✅ Secure for browsers</a:t>
            </a:r>
          </a:p>
          <a:p>
            <a:pPr marL="12700" marR="5080"/>
            <a:r>
              <a:rPr lang="en-US" sz="1400" kern="0" spc="-80" dirty="0">
                <a:solidFill>
                  <a:schemeClr val="accent6"/>
                </a:solidFill>
              </a:rPr>
              <a:t>✅ Easy logout &amp; revocation</a:t>
            </a:r>
          </a:p>
          <a:p>
            <a:pPr marL="12700" marR="5080"/>
            <a:r>
              <a:rPr lang="en-US" sz="1400" kern="0" spc="-80" dirty="0">
                <a:solidFill>
                  <a:schemeClr val="accent6"/>
                </a:solidFill>
              </a:rPr>
              <a:t>✅ Natural fit for server-rendered apps</a:t>
            </a:r>
          </a:p>
          <a:p>
            <a:pPr marL="12700" marR="5080"/>
            <a:r>
              <a:rPr lang="en-US" sz="1400" kern="0" spc="-80" dirty="0">
                <a:solidFill>
                  <a:schemeClr val="accent2"/>
                </a:solidFill>
              </a:rPr>
              <a:t>Cons</a:t>
            </a:r>
          </a:p>
          <a:p>
            <a:pPr marL="12700" marR="5080"/>
            <a:r>
              <a:rPr lang="en-US" sz="1400" kern="0" spc="-80" dirty="0">
                <a:solidFill>
                  <a:schemeClr val="accent6"/>
                </a:solidFill>
              </a:rPr>
              <a:t>❌ Hard to scale (shared session store)</a:t>
            </a:r>
          </a:p>
          <a:p>
            <a:pPr marL="12700" marR="5080"/>
            <a:r>
              <a:rPr lang="en-US" sz="1400" kern="0" spc="-80" dirty="0">
                <a:solidFill>
                  <a:schemeClr val="accent6"/>
                </a:solidFill>
              </a:rPr>
              <a:t>❌ Not API-friendly</a:t>
            </a:r>
          </a:p>
          <a:p>
            <a:pPr marL="12700" marR="5080"/>
            <a:r>
              <a:rPr lang="en-US" sz="1400" kern="0" spc="-80" dirty="0">
                <a:solidFill>
                  <a:schemeClr val="accent6"/>
                </a:solidFill>
              </a:rPr>
              <a:t>❌ Poor for mobile &amp; SPAs</a:t>
            </a:r>
          </a:p>
          <a:p>
            <a:pPr marL="12700" marR="5080"/>
            <a:r>
              <a:rPr lang="en-US" sz="1400" kern="0" spc="-80" dirty="0">
                <a:solidFill>
                  <a:schemeClr val="accent6"/>
                </a:solidFill>
              </a:rPr>
              <a:t>❌ Cross-domain complexity</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A298884A-163B-9DEA-B050-159412D0F95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8F658F9B-2287-D386-AAFF-6588048F493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2EA9A6D-A0EA-26EA-A9A4-EFDF76F344D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970612376"/>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E7386-292B-896B-53E5-C37E1169C1B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2E8AB7E-146B-F96B-A9F2-0C56993779D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B825DAA-AE3C-C207-0130-C9D0F8E06A2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00311E4-59E0-FB36-06A5-80F7343A811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CEF1074D-2DF6-06AC-BB25-8D3E8BB09C6C}"/>
              </a:ext>
            </a:extLst>
          </p:cNvPr>
          <p:cNvSpPr txBox="1">
            <a:spLocks/>
          </p:cNvSpPr>
          <p:nvPr/>
        </p:nvSpPr>
        <p:spPr>
          <a:xfrm>
            <a:off x="76200" y="71884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Using Cookies &amp; Sessions, JWTs, OAuth, OIDC &amp; API Keys</a:t>
            </a:r>
          </a:p>
          <a:p>
            <a:pPr marL="12700" marR="5080"/>
            <a:r>
              <a:rPr lang="en-US" sz="1400" kern="0" spc="-80" dirty="0">
                <a:solidFill>
                  <a:schemeClr val="accent2"/>
                </a:solidFill>
              </a:rPr>
              <a:t>2. Cookies &amp; Sessions (Classic Web Model)</a:t>
            </a:r>
          </a:p>
          <a:p>
            <a:pPr marL="12700" marR="5080"/>
            <a:r>
              <a:rPr lang="en-US" sz="1400" kern="0" spc="-80" dirty="0">
                <a:solidFill>
                  <a:schemeClr val="accent2"/>
                </a:solidFill>
              </a:rPr>
              <a:t>2.5 When to Use</a:t>
            </a:r>
          </a:p>
          <a:p>
            <a:pPr marL="12700" marR="5080"/>
            <a:r>
              <a:rPr lang="en-US" sz="1400" kern="0" spc="-80" dirty="0">
                <a:solidFill>
                  <a:schemeClr val="accent6"/>
                </a:solidFill>
              </a:rPr>
              <a:t>✅ Traditional web apps</a:t>
            </a:r>
          </a:p>
          <a:p>
            <a:pPr marL="12700" marR="5080"/>
            <a:r>
              <a:rPr lang="en-US" sz="1400" kern="0" spc="-80" dirty="0">
                <a:solidFill>
                  <a:schemeClr val="accent6"/>
                </a:solidFill>
              </a:rPr>
              <a:t>✅ Internal enterprise portals</a:t>
            </a:r>
          </a:p>
          <a:p>
            <a:pPr marL="12700" marR="5080"/>
            <a:r>
              <a:rPr lang="en-US" sz="1400" kern="0" spc="-80" dirty="0">
                <a:solidFill>
                  <a:schemeClr val="accent6"/>
                </a:solidFill>
              </a:rPr>
              <a:t>✅ Server-rendered apps (Django, Rails, Spring MVC)</a:t>
            </a:r>
          </a:p>
          <a:p>
            <a:pPr marL="12700" marR="5080"/>
            <a:r>
              <a:rPr lang="en-US" sz="1400" kern="0" spc="-80" dirty="0">
                <a:solidFill>
                  <a:schemeClr val="accent6"/>
                </a:solidFill>
              </a:rPr>
              <a:t>❌ Public APIs</a:t>
            </a:r>
          </a:p>
          <a:p>
            <a:pPr marL="12700" marR="5080"/>
            <a:r>
              <a:rPr lang="en-US" sz="1400" kern="0" spc="-80" dirty="0">
                <a:solidFill>
                  <a:schemeClr val="accent6"/>
                </a:solidFill>
              </a:rPr>
              <a:t>❌ Mobile apps</a:t>
            </a:r>
          </a:p>
          <a:p>
            <a:pPr marL="12700" marR="5080"/>
            <a:r>
              <a:rPr lang="en-US" sz="1400" kern="0" spc="-80" dirty="0">
                <a:solidFill>
                  <a:schemeClr val="accent6"/>
                </a:solidFill>
              </a:rPr>
              <a:t>❌ Microservices</a:t>
            </a:r>
          </a:p>
          <a:p>
            <a:pPr marL="12700" marR="5080"/>
            <a:endParaRPr lang="en-US" sz="1400" kern="0" spc="-80" dirty="0">
              <a:solidFill>
                <a:schemeClr val="accent6"/>
              </a:solidFill>
            </a:endParaRPr>
          </a:p>
          <a:p>
            <a:pPr marL="12700" marR="5080"/>
            <a:r>
              <a:rPr lang="en-US" sz="1400" kern="0" spc="-80" dirty="0">
                <a:solidFill>
                  <a:schemeClr val="accent2"/>
                </a:solidFill>
              </a:rPr>
              <a:t>3. JWT (JSON Web Tokens)</a:t>
            </a:r>
          </a:p>
          <a:p>
            <a:pPr marL="12700" marR="5080"/>
            <a:r>
              <a:rPr lang="en-US" sz="1400" kern="0" spc="-80" dirty="0">
                <a:solidFill>
                  <a:schemeClr val="accent2"/>
                </a:solidFill>
              </a:rPr>
              <a:t>3.1 What JWT Is</a:t>
            </a:r>
          </a:p>
          <a:p>
            <a:pPr marL="12700" marR="5080"/>
            <a:r>
              <a:rPr lang="en-US" sz="1400" kern="0" spc="-80" dirty="0">
                <a:solidFill>
                  <a:schemeClr val="accent6"/>
                </a:solidFill>
              </a:rPr>
              <a:t>A self-contained, signed token that carries claims.</a:t>
            </a:r>
          </a:p>
          <a:p>
            <a:pPr marL="12700" marR="5080"/>
            <a:r>
              <a:rPr lang="en-US" sz="1400" kern="0" spc="-80" dirty="0" err="1">
                <a:solidFill>
                  <a:schemeClr val="accent6"/>
                </a:solidFill>
              </a:rPr>
              <a:t>Header.Payload.Signature</a:t>
            </a:r>
            <a:endParaRPr lang="en-US" sz="1400" kern="0" spc="-80" dirty="0">
              <a:solidFill>
                <a:schemeClr val="accent6"/>
              </a:solidFill>
            </a:endParaRPr>
          </a:p>
          <a:p>
            <a:pPr marL="12700" marR="5080"/>
            <a:r>
              <a:rPr lang="en-US" sz="1400" kern="0" spc="-80" dirty="0">
                <a:solidFill>
                  <a:schemeClr val="accent6"/>
                </a:solidFill>
              </a:rPr>
              <a:t>Example payload:</a:t>
            </a:r>
          </a:p>
          <a:p>
            <a:pPr marL="12700" marR="5080"/>
            <a:r>
              <a:rPr lang="en-US" sz="1400" kern="0" spc="-80" dirty="0">
                <a:solidFill>
                  <a:schemeClr val="accent6"/>
                </a:solidFill>
              </a:rPr>
              <a:t>{</a:t>
            </a:r>
          </a:p>
          <a:p>
            <a:pPr marL="12700" marR="5080"/>
            <a:r>
              <a:rPr lang="en-US" sz="1400" kern="0" spc="-80" dirty="0">
                <a:solidFill>
                  <a:schemeClr val="accent6"/>
                </a:solidFill>
              </a:rPr>
              <a:t>  "sub": "user123",</a:t>
            </a:r>
          </a:p>
          <a:p>
            <a:pPr marL="12700" marR="5080"/>
            <a:r>
              <a:rPr lang="en-US" sz="1400" kern="0" spc="-80" dirty="0">
                <a:solidFill>
                  <a:schemeClr val="accent6"/>
                </a:solidFill>
              </a:rPr>
              <a:t>  "role": "admin",</a:t>
            </a:r>
          </a:p>
          <a:p>
            <a:pPr marL="12700" marR="5080"/>
            <a:r>
              <a:rPr lang="en-US" sz="1400" kern="0" spc="-80" dirty="0">
                <a:solidFill>
                  <a:schemeClr val="accent6"/>
                </a:solidFill>
              </a:rPr>
              <a:t>  "exp": 1700000000</a:t>
            </a:r>
          </a:p>
          <a:p>
            <a:pPr marL="12700" marR="5080"/>
            <a:r>
              <a:rPr lang="en-US" sz="1400" kern="0" spc="-80" dirty="0">
                <a:solidFill>
                  <a:schemeClr val="accent6"/>
                </a:solidFill>
              </a:rPr>
              <a:t>}</a:t>
            </a:r>
          </a:p>
        </p:txBody>
      </p:sp>
      <p:grpSp>
        <p:nvGrpSpPr>
          <p:cNvPr id="7" name="Group 6">
            <a:extLst>
              <a:ext uri="{FF2B5EF4-FFF2-40B4-BE49-F238E27FC236}">
                <a16:creationId xmlns:a16="http://schemas.microsoft.com/office/drawing/2014/main" id="{12F5F951-51B9-D535-0338-B2D25BA4F03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2E6D02C-B2BA-B8EE-FAC4-FA80EC8A3844}"/>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07A14AD-FC66-EE0E-5696-9A9B266282B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664472073"/>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C142A-F163-4770-0387-0597F816E3B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BBB0036-A8DB-6D5D-1B09-70E5333CFFD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43F84E5-BACE-6761-6C9F-6E84B6D6A03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F44343E-C5F8-D87A-5B40-A0184FA5263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B3AF887-2981-808E-C05E-1A302FF3B52D}"/>
              </a:ext>
            </a:extLst>
          </p:cNvPr>
          <p:cNvSpPr txBox="1">
            <a:spLocks/>
          </p:cNvSpPr>
          <p:nvPr/>
        </p:nvSpPr>
        <p:spPr>
          <a:xfrm>
            <a:off x="76200" y="781883"/>
            <a:ext cx="8624937" cy="42473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Using Cookies &amp; Sessions, JWTs, OAuth, OIDC &amp; API Keys</a:t>
            </a:r>
          </a:p>
          <a:p>
            <a:pPr marL="12700" marR="5080"/>
            <a:r>
              <a:rPr lang="en-US" sz="1400" kern="0" spc="-80" dirty="0">
                <a:solidFill>
                  <a:schemeClr val="accent2"/>
                </a:solidFill>
              </a:rPr>
              <a:t>3. JWT (JSON Web Tokens)</a:t>
            </a:r>
          </a:p>
          <a:p>
            <a:pPr marL="12700" marR="5080"/>
            <a:r>
              <a:rPr lang="en-US" sz="1400" kern="0" spc="-80" dirty="0">
                <a:solidFill>
                  <a:schemeClr val="accent2"/>
                </a:solidFill>
              </a:rPr>
              <a:t>3.2 Core Ideas</a:t>
            </a:r>
          </a:p>
          <a:p>
            <a:pPr marL="12700" marR="5080"/>
            <a:r>
              <a:rPr lang="en-US" sz="1400" kern="0" spc="-80" dirty="0">
                <a:solidFill>
                  <a:schemeClr val="accent6"/>
                </a:solidFill>
              </a:rPr>
              <a:t>Stateless Authentication</a:t>
            </a:r>
          </a:p>
          <a:p>
            <a:pPr marL="12700" marR="5080"/>
            <a:r>
              <a:rPr lang="en-US" sz="1400" kern="0" spc="-80" dirty="0">
                <a:solidFill>
                  <a:schemeClr val="accent6"/>
                </a:solidFill>
              </a:rPr>
              <a:t>Server does not store session</a:t>
            </a:r>
          </a:p>
          <a:p>
            <a:pPr marL="12700" marR="5080"/>
            <a:r>
              <a:rPr lang="en-US" sz="1400" kern="0" spc="-80" dirty="0">
                <a:solidFill>
                  <a:schemeClr val="accent6"/>
                </a:solidFill>
              </a:rPr>
              <a:t>Token is validated cryptographically</a:t>
            </a:r>
          </a:p>
          <a:p>
            <a:pPr marL="12700" marR="5080"/>
            <a:r>
              <a:rPr lang="en-US" sz="1400" kern="0" spc="-80" dirty="0">
                <a:solidFill>
                  <a:schemeClr val="accent6"/>
                </a:solidFill>
              </a:rPr>
              <a:t>Token Validation</a:t>
            </a:r>
          </a:p>
          <a:p>
            <a:pPr marL="12700" marR="5080"/>
            <a:r>
              <a:rPr lang="en-US" sz="1400" kern="0" spc="-80" dirty="0">
                <a:solidFill>
                  <a:schemeClr val="accent6"/>
                </a:solidFill>
              </a:rPr>
              <a:t>HMAC (shared secret)</a:t>
            </a:r>
          </a:p>
          <a:p>
            <a:pPr marL="12700" marR="5080"/>
            <a:r>
              <a:rPr lang="en-US" sz="1400" kern="0" spc="-80" dirty="0">
                <a:solidFill>
                  <a:schemeClr val="accent6"/>
                </a:solidFill>
              </a:rPr>
              <a:t>RSA/ECDSA (public/private key)</a:t>
            </a:r>
          </a:p>
          <a:p>
            <a:pPr marL="12700" marR="5080"/>
            <a:endParaRPr lang="en-US" sz="1400" kern="0" spc="-80" dirty="0">
              <a:solidFill>
                <a:schemeClr val="accent6"/>
              </a:solidFill>
            </a:endParaRPr>
          </a:p>
          <a:p>
            <a:pPr marL="12700" marR="5080"/>
            <a:r>
              <a:rPr lang="en-US" sz="1400" kern="0" spc="-80" dirty="0">
                <a:solidFill>
                  <a:schemeClr val="accent2"/>
                </a:solidFill>
              </a:rPr>
              <a:t>3.3 Common JWT Claims</a:t>
            </a:r>
          </a:p>
          <a:p>
            <a:pPr marL="12700" marR="5080"/>
            <a:r>
              <a:rPr lang="en-US" sz="1400" kern="0" spc="-80" dirty="0">
                <a:solidFill>
                  <a:schemeClr val="accent2"/>
                </a:solidFill>
              </a:rPr>
              <a:t>Claim	Meaning</a:t>
            </a:r>
          </a:p>
          <a:p>
            <a:pPr marL="12700" marR="5080"/>
            <a:r>
              <a:rPr lang="en-US" sz="1400" kern="0" spc="-80" dirty="0">
                <a:solidFill>
                  <a:schemeClr val="accent6"/>
                </a:solidFill>
              </a:rPr>
              <a:t>sub	Subject (user id)</a:t>
            </a:r>
          </a:p>
          <a:p>
            <a:pPr marL="12700" marR="5080"/>
            <a:r>
              <a:rPr lang="en-US" sz="1400" kern="0" spc="-80" dirty="0" err="1">
                <a:solidFill>
                  <a:schemeClr val="accent6"/>
                </a:solidFill>
              </a:rPr>
              <a:t>iss</a:t>
            </a:r>
            <a:r>
              <a:rPr lang="en-US" sz="1400" kern="0" spc="-80" dirty="0">
                <a:solidFill>
                  <a:schemeClr val="accent6"/>
                </a:solidFill>
              </a:rPr>
              <a:t>	Issuer</a:t>
            </a:r>
          </a:p>
          <a:p>
            <a:pPr marL="12700" marR="5080"/>
            <a:r>
              <a:rPr lang="en-US" sz="1400" kern="0" spc="-80" dirty="0" err="1">
                <a:solidFill>
                  <a:schemeClr val="accent6"/>
                </a:solidFill>
              </a:rPr>
              <a:t>aud</a:t>
            </a:r>
            <a:r>
              <a:rPr lang="en-US" sz="1400" kern="0" spc="-80" dirty="0">
                <a:solidFill>
                  <a:schemeClr val="accent6"/>
                </a:solidFill>
              </a:rPr>
              <a:t>	Audience</a:t>
            </a:r>
          </a:p>
          <a:p>
            <a:pPr marL="12700" marR="5080"/>
            <a:r>
              <a:rPr lang="en-US" sz="1400" kern="0" spc="-80" dirty="0">
                <a:solidFill>
                  <a:schemeClr val="accent6"/>
                </a:solidFill>
              </a:rPr>
              <a:t>exp	Expiry</a:t>
            </a:r>
          </a:p>
          <a:p>
            <a:pPr marL="12700" marR="5080"/>
            <a:r>
              <a:rPr lang="en-US" sz="1400" kern="0" spc="-80" dirty="0" err="1">
                <a:solidFill>
                  <a:schemeClr val="accent6"/>
                </a:solidFill>
              </a:rPr>
              <a:t>iat</a:t>
            </a:r>
            <a:r>
              <a:rPr lang="en-US" sz="1400" kern="0" spc="-80" dirty="0">
                <a:solidFill>
                  <a:schemeClr val="accent6"/>
                </a:solidFill>
              </a:rPr>
              <a:t>	Issued at</a:t>
            </a:r>
          </a:p>
          <a:p>
            <a:pPr marL="12700" marR="5080"/>
            <a:r>
              <a:rPr lang="en-US" sz="1400" kern="0" spc="-80" dirty="0">
                <a:solidFill>
                  <a:schemeClr val="accent6"/>
                </a:solidFill>
              </a:rPr>
              <a:t>scope	Permissions</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3E8D48DA-FAF0-3136-701E-CDE8443A057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F21744BC-2912-FE64-728C-1FBDDDA3237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A5DD250-1044-3C98-26E9-06E00A5425E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935968613"/>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187A3-D8E8-1E9E-9B88-9FD6ACDE987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6A9401A-1C94-FA2D-C296-22C0D21FD4D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4A50734-B270-4571-B403-8D3882E5CD3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C740192-3592-35F2-D61C-0C1EDF98450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901EE82-0A1A-ABC1-855C-7A2A9BBE9591}"/>
              </a:ext>
            </a:extLst>
          </p:cNvPr>
          <p:cNvSpPr txBox="1">
            <a:spLocks/>
          </p:cNvSpPr>
          <p:nvPr/>
        </p:nvSpPr>
        <p:spPr>
          <a:xfrm>
            <a:off x="76200" y="755571"/>
            <a:ext cx="8624937" cy="38164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Using Cookies &amp; Sessions, JWTs, OAuth, OIDC &amp; API Keys</a:t>
            </a:r>
          </a:p>
          <a:p>
            <a:pPr marL="12700" marR="5080"/>
            <a:r>
              <a:rPr lang="en-US" sz="1400" kern="0" spc="-80" dirty="0">
                <a:solidFill>
                  <a:schemeClr val="accent2"/>
                </a:solidFill>
              </a:rPr>
              <a:t>3. JWT (JSON Web Tokens)</a:t>
            </a:r>
          </a:p>
          <a:p>
            <a:pPr marL="12700" marR="5080"/>
            <a:r>
              <a:rPr lang="en-US" sz="1400" kern="0" spc="-80" dirty="0">
                <a:solidFill>
                  <a:schemeClr val="accent2"/>
                </a:solidFill>
              </a:rPr>
              <a:t>3.4 Storage Patterns</a:t>
            </a:r>
          </a:p>
          <a:p>
            <a:pPr marL="12700" marR="5080"/>
            <a:r>
              <a:rPr lang="en-US" sz="1400" kern="0" spc="-80" dirty="0">
                <a:solidFill>
                  <a:schemeClr val="accent2"/>
                </a:solidFill>
              </a:rPr>
              <a:t>Location	                    Risk</a:t>
            </a:r>
          </a:p>
          <a:p>
            <a:pPr marL="12700" marR="5080"/>
            <a:r>
              <a:rPr lang="en-US" sz="1400" kern="0" spc="-80" dirty="0" err="1">
                <a:solidFill>
                  <a:schemeClr val="accent6"/>
                </a:solidFill>
              </a:rPr>
              <a:t>LocalStorage</a:t>
            </a:r>
            <a:r>
              <a:rPr lang="en-US" sz="1400" kern="0" spc="-80" dirty="0">
                <a:solidFill>
                  <a:schemeClr val="accent6"/>
                </a:solidFill>
              </a:rPr>
              <a:t>	❌ XSS</a:t>
            </a:r>
          </a:p>
          <a:p>
            <a:pPr marL="12700" marR="5080"/>
            <a:r>
              <a:rPr lang="en-US" sz="1400" kern="0" spc="-80" dirty="0" err="1">
                <a:solidFill>
                  <a:schemeClr val="accent6"/>
                </a:solidFill>
              </a:rPr>
              <a:t>SessionStorage</a:t>
            </a:r>
            <a:r>
              <a:rPr lang="en-US" sz="1400" kern="0" spc="-80" dirty="0">
                <a:solidFill>
                  <a:schemeClr val="accent6"/>
                </a:solidFill>
              </a:rPr>
              <a:t>	❌ XSS</a:t>
            </a:r>
          </a:p>
          <a:p>
            <a:pPr marL="12700" marR="5080"/>
            <a:r>
              <a:rPr lang="en-US" sz="1400" kern="0" spc="-80" dirty="0">
                <a:solidFill>
                  <a:schemeClr val="accent6"/>
                </a:solidFill>
              </a:rPr>
              <a:t>Memory	                    ✅ safer</a:t>
            </a:r>
          </a:p>
          <a:p>
            <a:pPr marL="12700" marR="5080"/>
            <a:r>
              <a:rPr lang="en-US" sz="1400" kern="0" spc="-80" dirty="0" err="1">
                <a:solidFill>
                  <a:schemeClr val="accent6"/>
                </a:solidFill>
              </a:rPr>
              <a:t>HttpOnly</a:t>
            </a:r>
            <a:r>
              <a:rPr lang="en-US" sz="1400" kern="0" spc="-80" dirty="0">
                <a:solidFill>
                  <a:schemeClr val="accent6"/>
                </a:solidFill>
              </a:rPr>
              <a:t> cookie	✅ recommended</a:t>
            </a:r>
          </a:p>
          <a:p>
            <a:pPr marL="12700" marR="5080"/>
            <a:endParaRPr lang="en-US" sz="1400" kern="0" spc="-80" dirty="0">
              <a:solidFill>
                <a:schemeClr val="accent6"/>
              </a:solidFill>
            </a:endParaRPr>
          </a:p>
          <a:p>
            <a:pPr marL="12700" marR="5080"/>
            <a:r>
              <a:rPr lang="en-US" sz="1400" kern="0" spc="-80" dirty="0">
                <a:solidFill>
                  <a:schemeClr val="accent2"/>
                </a:solidFill>
              </a:rPr>
              <a:t>3.5 Security Patterns</a:t>
            </a:r>
          </a:p>
          <a:p>
            <a:pPr marL="12700" marR="5080"/>
            <a:r>
              <a:rPr lang="en-US" sz="1400" kern="0" spc="-80" dirty="0">
                <a:solidFill>
                  <a:schemeClr val="accent6"/>
                </a:solidFill>
              </a:rPr>
              <a:t>Short-lived Access Tokens</a:t>
            </a:r>
          </a:p>
          <a:p>
            <a:pPr marL="12700" marR="5080"/>
            <a:r>
              <a:rPr lang="en-US" sz="1400" kern="0" spc="-80" dirty="0">
                <a:solidFill>
                  <a:schemeClr val="accent6"/>
                </a:solidFill>
              </a:rPr>
              <a:t>5–15 minutes</a:t>
            </a:r>
          </a:p>
          <a:p>
            <a:pPr marL="12700" marR="5080"/>
            <a:r>
              <a:rPr lang="en-US" sz="1400" kern="0" spc="-80" dirty="0">
                <a:solidFill>
                  <a:schemeClr val="accent6"/>
                </a:solidFill>
              </a:rPr>
              <a:t>Refresh Tokens</a:t>
            </a:r>
          </a:p>
          <a:p>
            <a:pPr marL="12700" marR="5080"/>
            <a:r>
              <a:rPr lang="en-US" sz="1400" kern="0" spc="-80" dirty="0">
                <a:solidFill>
                  <a:schemeClr val="accent6"/>
                </a:solidFill>
              </a:rPr>
              <a:t>Stored securely</a:t>
            </a:r>
          </a:p>
          <a:p>
            <a:pPr marL="12700" marR="5080"/>
            <a:r>
              <a:rPr lang="en-US" sz="1400" kern="0" spc="-80" dirty="0">
                <a:solidFill>
                  <a:schemeClr val="accent6"/>
                </a:solidFill>
              </a:rPr>
              <a:t>Used to obtain new access tokens</a:t>
            </a:r>
          </a:p>
          <a:p>
            <a:pPr marL="12700" marR="5080"/>
            <a:r>
              <a:rPr lang="en-US" sz="1400" kern="0" spc="-80" dirty="0">
                <a:solidFill>
                  <a:schemeClr val="accent6"/>
                </a:solidFill>
              </a:rPr>
              <a:t>Token Rotation</a:t>
            </a:r>
          </a:p>
          <a:p>
            <a:pPr marL="12700" marR="5080"/>
            <a:r>
              <a:rPr lang="en-US" sz="1400" kern="0" spc="-80" dirty="0">
                <a:solidFill>
                  <a:schemeClr val="accent6"/>
                </a:solidFill>
              </a:rPr>
              <a:t>Refresh token invalidated after use</a:t>
            </a:r>
          </a:p>
        </p:txBody>
      </p:sp>
      <p:grpSp>
        <p:nvGrpSpPr>
          <p:cNvPr id="7" name="Group 6">
            <a:extLst>
              <a:ext uri="{FF2B5EF4-FFF2-40B4-BE49-F238E27FC236}">
                <a16:creationId xmlns:a16="http://schemas.microsoft.com/office/drawing/2014/main" id="{ABEFFF54-7D51-888D-33BE-2A5F71B9C7B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4DD8DFE0-0899-23AE-32EF-956AE37754A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FF4CFAD5-9950-8E04-DE1D-97501F3C0E2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750008541"/>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C41473-504F-2BC3-D398-87C4B612D35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601CE67-532B-1BEF-9606-0D4E3490B18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4155B4B-7E7A-3D7D-5F4D-6283521BF1A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C4AF633-AF74-7D49-0E70-714212D0951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D6C275A-28DF-4C69-708D-44A6D42C374D}"/>
              </a:ext>
            </a:extLst>
          </p:cNvPr>
          <p:cNvSpPr txBox="1">
            <a:spLocks/>
          </p:cNvSpPr>
          <p:nvPr/>
        </p:nvSpPr>
        <p:spPr>
          <a:xfrm>
            <a:off x="76200" y="705683"/>
            <a:ext cx="8624937" cy="42473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Using Cookies &amp; Sessions, JWTs, OAuth, OIDC &amp; API Keys</a:t>
            </a:r>
          </a:p>
          <a:p>
            <a:pPr marL="12700" marR="5080"/>
            <a:r>
              <a:rPr lang="en-US" sz="1400" kern="0" spc="-80" dirty="0">
                <a:solidFill>
                  <a:schemeClr val="accent2"/>
                </a:solidFill>
              </a:rPr>
              <a:t>3. JWT (JSON Web Tokens)</a:t>
            </a:r>
          </a:p>
          <a:p>
            <a:pPr marL="12700" marR="5080"/>
            <a:r>
              <a:rPr lang="en-US" sz="1400" kern="0" spc="-80" dirty="0">
                <a:solidFill>
                  <a:schemeClr val="accent2"/>
                </a:solidFill>
              </a:rPr>
              <a:t>3.6 Pros &amp; Cons</a:t>
            </a:r>
          </a:p>
          <a:p>
            <a:pPr marL="12700" marR="5080"/>
            <a:r>
              <a:rPr lang="en-US" sz="1400" kern="0" spc="-80" dirty="0">
                <a:solidFill>
                  <a:schemeClr val="accent2"/>
                </a:solidFill>
              </a:rPr>
              <a:t>Pros</a:t>
            </a:r>
          </a:p>
          <a:p>
            <a:pPr marL="12700" marR="5080"/>
            <a:r>
              <a:rPr lang="en-US" sz="1400" kern="0" spc="-80" dirty="0">
                <a:solidFill>
                  <a:schemeClr val="accent6"/>
                </a:solidFill>
              </a:rPr>
              <a:t>✅ Stateless &amp; scalable</a:t>
            </a:r>
          </a:p>
          <a:p>
            <a:pPr marL="12700" marR="5080"/>
            <a:r>
              <a:rPr lang="en-US" sz="1400" kern="0" spc="-80" dirty="0">
                <a:solidFill>
                  <a:schemeClr val="accent6"/>
                </a:solidFill>
              </a:rPr>
              <a:t>✅ Works across domains</a:t>
            </a:r>
          </a:p>
          <a:p>
            <a:pPr marL="12700" marR="5080"/>
            <a:r>
              <a:rPr lang="en-US" sz="1400" kern="0" spc="-80" dirty="0">
                <a:solidFill>
                  <a:schemeClr val="accent6"/>
                </a:solidFill>
              </a:rPr>
              <a:t>✅ Perfect for APIs</a:t>
            </a:r>
          </a:p>
          <a:p>
            <a:pPr marL="12700" marR="5080"/>
            <a:r>
              <a:rPr lang="en-US" sz="1400" kern="0" spc="-80" dirty="0">
                <a:solidFill>
                  <a:schemeClr val="accent6"/>
                </a:solidFill>
              </a:rPr>
              <a:t>✅ Fast authorization</a:t>
            </a:r>
          </a:p>
          <a:p>
            <a:pPr marL="12700" marR="5080"/>
            <a:r>
              <a:rPr lang="en-US" sz="1400" kern="0" spc="-80" dirty="0">
                <a:solidFill>
                  <a:schemeClr val="accent2"/>
                </a:solidFill>
              </a:rPr>
              <a:t>Cons</a:t>
            </a:r>
          </a:p>
          <a:p>
            <a:pPr marL="12700" marR="5080"/>
            <a:r>
              <a:rPr lang="en-US" sz="1400" kern="0" spc="-80" dirty="0">
                <a:solidFill>
                  <a:schemeClr val="accent6"/>
                </a:solidFill>
              </a:rPr>
              <a:t>❌ Hard to revoke</a:t>
            </a:r>
          </a:p>
          <a:p>
            <a:pPr marL="12700" marR="5080"/>
            <a:r>
              <a:rPr lang="en-US" sz="1400" kern="0" spc="-80" dirty="0">
                <a:solidFill>
                  <a:schemeClr val="accent6"/>
                </a:solidFill>
              </a:rPr>
              <a:t>❌ Token leakage = access until expiry</a:t>
            </a:r>
          </a:p>
          <a:p>
            <a:pPr marL="12700" marR="5080"/>
            <a:r>
              <a:rPr lang="en-US" sz="1400" kern="0" spc="-80" dirty="0">
                <a:solidFill>
                  <a:schemeClr val="accent6"/>
                </a:solidFill>
              </a:rPr>
              <a:t>❌ Payload visible (not encrypted)</a:t>
            </a:r>
          </a:p>
          <a:p>
            <a:pPr marL="12700" marR="5080"/>
            <a:endParaRPr lang="en-US" sz="1400" kern="0" spc="-80" dirty="0">
              <a:solidFill>
                <a:schemeClr val="accent6"/>
              </a:solidFill>
            </a:endParaRPr>
          </a:p>
          <a:p>
            <a:pPr marL="12700" marR="5080"/>
            <a:r>
              <a:rPr lang="en-US" sz="1400" kern="0" spc="-80" dirty="0">
                <a:solidFill>
                  <a:schemeClr val="accent2"/>
                </a:solidFill>
              </a:rPr>
              <a:t>3.7 When to Use</a:t>
            </a:r>
          </a:p>
          <a:p>
            <a:pPr marL="12700" marR="5080"/>
            <a:r>
              <a:rPr lang="en-US" sz="1400" kern="0" spc="-80" dirty="0">
                <a:solidFill>
                  <a:schemeClr val="accent6"/>
                </a:solidFill>
              </a:rPr>
              <a:t>✅ SPAs</a:t>
            </a:r>
          </a:p>
          <a:p>
            <a:pPr marL="12700" marR="5080"/>
            <a:r>
              <a:rPr lang="en-US" sz="1400" kern="0" spc="-80" dirty="0">
                <a:solidFill>
                  <a:schemeClr val="accent6"/>
                </a:solidFill>
              </a:rPr>
              <a:t>✅ Mobile apps</a:t>
            </a:r>
          </a:p>
          <a:p>
            <a:pPr marL="12700" marR="5080"/>
            <a:r>
              <a:rPr lang="en-US" sz="1400" kern="0" spc="-80" dirty="0">
                <a:solidFill>
                  <a:schemeClr val="accent6"/>
                </a:solidFill>
              </a:rPr>
              <a:t>✅ Microservices</a:t>
            </a:r>
          </a:p>
          <a:p>
            <a:pPr marL="12700" marR="5080"/>
            <a:r>
              <a:rPr lang="en-US" sz="1400" kern="0" spc="-80" dirty="0">
                <a:solidFill>
                  <a:schemeClr val="accent6"/>
                </a:solidFill>
              </a:rPr>
              <a:t>✅ Distributed systems</a:t>
            </a:r>
          </a:p>
          <a:p>
            <a:pPr marL="12700" marR="5080"/>
            <a:r>
              <a:rPr lang="en-US" sz="1400" kern="0" spc="-80" dirty="0">
                <a:solidFill>
                  <a:schemeClr val="accent6"/>
                </a:solidFill>
              </a:rPr>
              <a:t>❌ Long-lived browser sessions without refresh strategy</a:t>
            </a:r>
          </a:p>
        </p:txBody>
      </p:sp>
      <p:grpSp>
        <p:nvGrpSpPr>
          <p:cNvPr id="9" name="Group 8">
            <a:extLst>
              <a:ext uri="{FF2B5EF4-FFF2-40B4-BE49-F238E27FC236}">
                <a16:creationId xmlns:a16="http://schemas.microsoft.com/office/drawing/2014/main" id="{07C4D3ED-B874-5456-8544-0514522288D6}"/>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BD364B0C-37A6-CB6C-3B38-AF58D54C5A3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081AB2FF-FFDD-1F05-92D9-34D99B19DD2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462238256"/>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42A80-0582-B490-CAB3-EA86789D14A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42A699F-05B9-787A-47C1-68F695AAC57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C6DEBCE-B276-4DC8-0710-9F9CB349C88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7C72ABC-A92A-AF2D-A410-564B4EB1C12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8708838-8060-9290-8D4A-AF0FE20214FF}"/>
              </a:ext>
            </a:extLst>
          </p:cNvPr>
          <p:cNvSpPr txBox="1">
            <a:spLocks/>
          </p:cNvSpPr>
          <p:nvPr/>
        </p:nvSpPr>
        <p:spPr>
          <a:xfrm>
            <a:off x="76200" y="745153"/>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Using Cookies &amp; Sessions, JWTs, OAuth, OIDC &amp; API Keys</a:t>
            </a:r>
          </a:p>
          <a:p>
            <a:pPr marL="12700" marR="5080"/>
            <a:r>
              <a:rPr lang="en-US" sz="1400" kern="0" spc="-80" dirty="0">
                <a:solidFill>
                  <a:schemeClr val="accent2"/>
                </a:solidFill>
              </a:rPr>
              <a:t>4. OAuth 2.0 (Authorization Framework)</a:t>
            </a:r>
          </a:p>
          <a:p>
            <a:pPr marL="12700" marR="5080"/>
            <a:r>
              <a:rPr lang="en-US" sz="1400" kern="0" spc="-80" dirty="0">
                <a:solidFill>
                  <a:schemeClr val="accent2"/>
                </a:solidFill>
              </a:rPr>
              <a:t>4.1 What OAuth Is (Very Important)</a:t>
            </a:r>
          </a:p>
          <a:p>
            <a:pPr marL="12700" marR="5080"/>
            <a:r>
              <a:rPr lang="en-US" sz="1400" kern="0" spc="-80" dirty="0">
                <a:solidFill>
                  <a:schemeClr val="accent6"/>
                </a:solidFill>
              </a:rPr>
              <a:t>OAuth does NOT authenticate users</a:t>
            </a:r>
          </a:p>
          <a:p>
            <a:pPr marL="12700" marR="5080"/>
            <a:r>
              <a:rPr lang="en-US" sz="1400" kern="0" spc="-80" dirty="0">
                <a:solidFill>
                  <a:schemeClr val="accent6"/>
                </a:solidFill>
              </a:rPr>
              <a:t>OAuth delegates access</a:t>
            </a:r>
          </a:p>
          <a:p>
            <a:pPr marL="12700" marR="5080"/>
            <a:r>
              <a:rPr lang="en-US" sz="1400" kern="0" spc="-80" dirty="0">
                <a:solidFill>
                  <a:schemeClr val="accent2"/>
                </a:solidFill>
              </a:rPr>
              <a:t>It answers:</a:t>
            </a:r>
          </a:p>
          <a:p>
            <a:pPr marL="12700" marR="5080"/>
            <a:r>
              <a:rPr lang="en-US" sz="1400" kern="0" spc="-80" dirty="0">
                <a:solidFill>
                  <a:schemeClr val="accent6"/>
                </a:solidFill>
              </a:rPr>
              <a:t>“Can this app access this resource on behalf of a user?”</a:t>
            </a:r>
          </a:p>
          <a:p>
            <a:pPr marL="12700" marR="5080"/>
            <a:endParaRPr lang="en-US" sz="1400" kern="0" spc="-80" dirty="0">
              <a:solidFill>
                <a:schemeClr val="accent6"/>
              </a:solidFill>
            </a:endParaRPr>
          </a:p>
          <a:p>
            <a:pPr marL="12700" marR="5080"/>
            <a:r>
              <a:rPr lang="en-US" sz="1400" kern="0" spc="-80" dirty="0">
                <a:solidFill>
                  <a:schemeClr val="accent2"/>
                </a:solidFill>
              </a:rPr>
              <a:t>4.2 Key Actors</a:t>
            </a:r>
          </a:p>
          <a:p>
            <a:pPr marL="12700" marR="5080"/>
            <a:r>
              <a:rPr lang="en-US" sz="1400" kern="0" spc="-80" dirty="0">
                <a:solidFill>
                  <a:schemeClr val="accent2"/>
                </a:solidFill>
              </a:rPr>
              <a:t>Role	                   Description</a:t>
            </a:r>
          </a:p>
          <a:p>
            <a:pPr marL="12700" marR="5080"/>
            <a:r>
              <a:rPr lang="en-US" sz="1400" kern="0" spc="-80" dirty="0">
                <a:solidFill>
                  <a:schemeClr val="accent6"/>
                </a:solidFill>
              </a:rPr>
              <a:t>Resource Owner	User</a:t>
            </a:r>
          </a:p>
          <a:p>
            <a:pPr marL="12700" marR="5080"/>
            <a:r>
              <a:rPr lang="en-US" sz="1400" kern="0" spc="-80" dirty="0">
                <a:solidFill>
                  <a:schemeClr val="accent6"/>
                </a:solidFill>
              </a:rPr>
              <a:t>Client	                    App</a:t>
            </a:r>
          </a:p>
          <a:p>
            <a:pPr marL="12700" marR="5080"/>
            <a:r>
              <a:rPr lang="en-US" sz="1400" kern="0" spc="-80" dirty="0">
                <a:solidFill>
                  <a:schemeClr val="accent6"/>
                </a:solidFill>
              </a:rPr>
              <a:t>Authorization Server	Issues tokens</a:t>
            </a:r>
          </a:p>
          <a:p>
            <a:pPr marL="12700" marR="5080"/>
            <a:r>
              <a:rPr lang="en-US" sz="1400" kern="0" spc="-80" dirty="0">
                <a:solidFill>
                  <a:schemeClr val="accent6"/>
                </a:solidFill>
              </a:rPr>
              <a:t>Resource Server	API</a:t>
            </a:r>
          </a:p>
          <a:p>
            <a:pPr marL="12700" marR="5080"/>
            <a:endParaRPr lang="en-US" sz="1400" kern="0" spc="-80" dirty="0">
              <a:solidFill>
                <a:schemeClr val="accent6"/>
              </a:solidFill>
            </a:endParaRPr>
          </a:p>
          <a:p>
            <a:pPr marL="12700" marR="5080"/>
            <a:r>
              <a:rPr lang="en-US" sz="1400" kern="0" spc="-80" dirty="0">
                <a:solidFill>
                  <a:schemeClr val="accent2"/>
                </a:solidFill>
              </a:rPr>
              <a:t>4.3 Core OAuth Flows</a:t>
            </a:r>
          </a:p>
          <a:p>
            <a:pPr marL="12700" marR="5080"/>
            <a:r>
              <a:rPr lang="en-US" sz="1400" kern="0" spc="-80" dirty="0">
                <a:solidFill>
                  <a:schemeClr val="accent2"/>
                </a:solidFill>
              </a:rPr>
              <a:t>Authorization Code Flow (Most Important)</a:t>
            </a:r>
          </a:p>
          <a:p>
            <a:pPr marL="12700" marR="5080"/>
            <a:r>
              <a:rPr lang="en-US" sz="1400" kern="0" spc="-80" dirty="0">
                <a:solidFill>
                  <a:schemeClr val="accent6"/>
                </a:solidFill>
              </a:rPr>
              <a:t>User → Auth Server → Code → Token</a:t>
            </a:r>
          </a:p>
          <a:p>
            <a:pPr marL="12700" marR="5080"/>
            <a:r>
              <a:rPr lang="en-US" sz="1400" kern="0" spc="-80" dirty="0">
                <a:solidFill>
                  <a:schemeClr val="accent6"/>
                </a:solidFill>
              </a:rPr>
              <a:t>Used by:</a:t>
            </a:r>
          </a:p>
          <a:p>
            <a:pPr marL="12700" marR="5080"/>
            <a:r>
              <a:rPr lang="en-US" sz="1400" kern="0" spc="-80" dirty="0">
                <a:solidFill>
                  <a:schemeClr val="accent6"/>
                </a:solidFill>
              </a:rPr>
              <a:t>Web apps</a:t>
            </a:r>
          </a:p>
          <a:p>
            <a:pPr marL="12700" marR="5080"/>
            <a:r>
              <a:rPr lang="en-US" sz="1400" kern="0" spc="-80" dirty="0">
                <a:solidFill>
                  <a:schemeClr val="accent6"/>
                </a:solidFill>
              </a:rPr>
              <a:t>SPAs (with PKCE)</a:t>
            </a:r>
          </a:p>
          <a:p>
            <a:pPr marL="12700" marR="5080"/>
            <a:r>
              <a:rPr lang="en-US" sz="1400" kern="0" spc="-80" dirty="0">
                <a:solidFill>
                  <a:schemeClr val="accent6"/>
                </a:solidFill>
              </a:rPr>
              <a:t>Mobile apps</a:t>
            </a:r>
          </a:p>
        </p:txBody>
      </p:sp>
      <p:grpSp>
        <p:nvGrpSpPr>
          <p:cNvPr id="7" name="Group 6">
            <a:extLst>
              <a:ext uri="{FF2B5EF4-FFF2-40B4-BE49-F238E27FC236}">
                <a16:creationId xmlns:a16="http://schemas.microsoft.com/office/drawing/2014/main" id="{901EC475-55A5-F1EC-DE9F-709A700AFD8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8ACA3BE-5113-81F4-CC09-5BED54BC9C1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7C927B7-FC1F-2551-A73E-259DC6BB735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553287525"/>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C0706-ABC1-A2D9-4E8A-7C4934B10B5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BE90249-F7B8-203E-9AC9-9BCC0A77C76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01DC000-82CA-3CE4-759D-EE3BA77C406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F08C6F4E-3A84-7D0D-7B6D-6A3262E8281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23A43EA-0613-D885-5C44-434376EC0285}"/>
              </a:ext>
            </a:extLst>
          </p:cNvPr>
          <p:cNvSpPr txBox="1">
            <a:spLocks/>
          </p:cNvSpPr>
          <p:nvPr/>
        </p:nvSpPr>
        <p:spPr>
          <a:xfrm>
            <a:off x="76200" y="821353"/>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Using Cookies &amp; Sessions, JWTs, OAuth, OIDC &amp; API Keys</a:t>
            </a:r>
          </a:p>
          <a:p>
            <a:pPr marL="12700" marR="5080"/>
            <a:r>
              <a:rPr lang="en-US" sz="1400" kern="0" spc="-80" dirty="0">
                <a:solidFill>
                  <a:schemeClr val="accent2"/>
                </a:solidFill>
              </a:rPr>
              <a:t>4. OAuth 2.0 (Authorization Framework)</a:t>
            </a:r>
          </a:p>
          <a:p>
            <a:pPr marL="12700" marR="5080"/>
            <a:r>
              <a:rPr lang="en-US" sz="1400" kern="0" spc="-80" dirty="0">
                <a:solidFill>
                  <a:schemeClr val="accent2"/>
                </a:solidFill>
              </a:rPr>
              <a:t>4.3 Core OAuth Flows</a:t>
            </a:r>
          </a:p>
          <a:p>
            <a:pPr marL="12700" marR="5080"/>
            <a:r>
              <a:rPr lang="en-US" sz="1400" kern="0" spc="-80" dirty="0">
                <a:solidFill>
                  <a:schemeClr val="accent2"/>
                </a:solidFill>
              </a:rPr>
              <a:t>Client Credentials Flow</a:t>
            </a:r>
          </a:p>
          <a:p>
            <a:pPr marL="12700" marR="5080"/>
            <a:r>
              <a:rPr lang="en-US" sz="1400" kern="0" spc="-80" dirty="0">
                <a:solidFill>
                  <a:schemeClr val="accent6"/>
                </a:solidFill>
              </a:rPr>
              <a:t>Machine-to-machine</a:t>
            </a:r>
          </a:p>
          <a:p>
            <a:pPr marL="12700" marR="5080"/>
            <a:r>
              <a:rPr lang="en-US" sz="1400" kern="0" spc="-80" dirty="0">
                <a:solidFill>
                  <a:schemeClr val="accent6"/>
                </a:solidFill>
              </a:rPr>
              <a:t>No user involved</a:t>
            </a:r>
          </a:p>
          <a:p>
            <a:pPr marL="12700" marR="5080"/>
            <a:r>
              <a:rPr lang="en-US" sz="1400" kern="0" spc="-80" dirty="0">
                <a:solidFill>
                  <a:schemeClr val="accent6"/>
                </a:solidFill>
              </a:rPr>
              <a:t>PKCE</a:t>
            </a:r>
          </a:p>
          <a:p>
            <a:pPr marL="12700" marR="5080"/>
            <a:r>
              <a:rPr lang="en-US" sz="1400" kern="0" spc="-80" dirty="0">
                <a:solidFill>
                  <a:schemeClr val="accent6"/>
                </a:solidFill>
              </a:rPr>
              <a:t>Protects public clients (SPAs, mobile)</a:t>
            </a:r>
          </a:p>
          <a:p>
            <a:pPr marL="12700" marR="5080"/>
            <a:endParaRPr lang="en-US" sz="1400" kern="0" spc="-80" dirty="0">
              <a:solidFill>
                <a:schemeClr val="accent6"/>
              </a:solidFill>
            </a:endParaRPr>
          </a:p>
          <a:p>
            <a:pPr marL="12700" marR="5080"/>
            <a:r>
              <a:rPr lang="en-US" sz="1400" kern="0" spc="-80" dirty="0">
                <a:solidFill>
                  <a:schemeClr val="accent2"/>
                </a:solidFill>
              </a:rPr>
              <a:t>4.4 OAuth Tokens</a:t>
            </a:r>
          </a:p>
          <a:p>
            <a:pPr marL="12700" marR="5080"/>
            <a:r>
              <a:rPr lang="en-US" sz="1400" kern="0" spc="-80" dirty="0">
                <a:solidFill>
                  <a:schemeClr val="accent2"/>
                </a:solidFill>
              </a:rPr>
              <a:t>Token	                   Purpose</a:t>
            </a:r>
          </a:p>
          <a:p>
            <a:pPr marL="12700" marR="5080"/>
            <a:r>
              <a:rPr lang="en-US" sz="1400" kern="0" spc="-80" dirty="0">
                <a:solidFill>
                  <a:schemeClr val="accent6"/>
                </a:solidFill>
              </a:rPr>
              <a:t>Access Token	Call APIs</a:t>
            </a:r>
          </a:p>
          <a:p>
            <a:pPr marL="12700" marR="5080"/>
            <a:r>
              <a:rPr lang="en-US" sz="1400" kern="0" spc="-80" dirty="0">
                <a:solidFill>
                  <a:schemeClr val="accent6"/>
                </a:solidFill>
              </a:rPr>
              <a:t>Refresh Token	Get new access tokens</a:t>
            </a:r>
          </a:p>
          <a:p>
            <a:pPr marL="12700" marR="5080"/>
            <a:endParaRPr lang="en-US" sz="1400" kern="0" spc="-80" dirty="0">
              <a:solidFill>
                <a:schemeClr val="accent6"/>
              </a:solidFill>
            </a:endParaRPr>
          </a:p>
          <a:p>
            <a:pPr marL="12700" marR="5080"/>
            <a:r>
              <a:rPr lang="en-US" sz="1400" kern="0" spc="-80" dirty="0">
                <a:solidFill>
                  <a:schemeClr val="accent2"/>
                </a:solidFill>
              </a:rPr>
              <a:t>4.5 OAuth Scopes</a:t>
            </a:r>
          </a:p>
          <a:p>
            <a:pPr marL="12700" marR="5080"/>
            <a:r>
              <a:rPr lang="en-US" sz="1400" kern="0" spc="-80" dirty="0">
                <a:solidFill>
                  <a:schemeClr val="accent2"/>
                </a:solidFill>
              </a:rPr>
              <a:t>Fine-grained permissions:</a:t>
            </a:r>
          </a:p>
          <a:p>
            <a:pPr marL="12700" marR="5080"/>
            <a:r>
              <a:rPr lang="en-US" sz="1400" kern="0" spc="-80" dirty="0" err="1">
                <a:solidFill>
                  <a:schemeClr val="accent6"/>
                </a:solidFill>
              </a:rPr>
              <a:t>read:profile</a:t>
            </a:r>
            <a:endParaRPr lang="en-US" sz="1400" kern="0" spc="-80" dirty="0">
              <a:solidFill>
                <a:schemeClr val="accent6"/>
              </a:solidFill>
            </a:endParaRPr>
          </a:p>
          <a:p>
            <a:pPr marL="12700" marR="5080"/>
            <a:r>
              <a:rPr lang="en-US" sz="1400" kern="0" spc="-80" dirty="0" err="1">
                <a:solidFill>
                  <a:schemeClr val="accent6"/>
                </a:solidFill>
              </a:rPr>
              <a:t>write:orders</a:t>
            </a:r>
            <a:endParaRPr lang="en-US" sz="1400" kern="0" spc="-80" dirty="0">
              <a:solidFill>
                <a:schemeClr val="accent6"/>
              </a:solidFill>
            </a:endParaRPr>
          </a:p>
          <a:p>
            <a:pPr marL="12700" marR="5080"/>
            <a:endParaRPr lang="en-US" sz="1400" kern="0" spc="-80" dirty="0">
              <a:solidFill>
                <a:schemeClr val="accent6"/>
              </a:solidFill>
            </a:endParaRPr>
          </a:p>
          <a:p>
            <a:pPr marL="12700" marR="5080"/>
            <a:r>
              <a:rPr lang="en-US" sz="1400" kern="0" spc="-80" dirty="0">
                <a:solidFill>
                  <a:schemeClr val="accent2"/>
                </a:solidFill>
              </a:rPr>
              <a:t>4.6 When to Use OAuth</a:t>
            </a:r>
          </a:p>
          <a:p>
            <a:pPr marL="12700" marR="5080"/>
            <a:r>
              <a:rPr lang="en-US" sz="1400" kern="0" spc="-80" dirty="0">
                <a:solidFill>
                  <a:schemeClr val="accent6"/>
                </a:solidFill>
              </a:rPr>
              <a:t>✅ Third-party integrations</a:t>
            </a:r>
          </a:p>
          <a:p>
            <a:pPr marL="12700" marR="5080"/>
            <a:r>
              <a:rPr lang="en-US" sz="1400" kern="0" spc="-80" dirty="0">
                <a:solidFill>
                  <a:schemeClr val="accent6"/>
                </a:solidFill>
              </a:rPr>
              <a:t>✅ Enterprise SSO</a:t>
            </a:r>
            <a:endParaRPr lang="en-US" sz="2400" kern="0" spc="-80" dirty="0">
              <a:solidFill>
                <a:schemeClr val="accent2"/>
              </a:solidFill>
            </a:endParaRPr>
          </a:p>
        </p:txBody>
      </p:sp>
      <p:grpSp>
        <p:nvGrpSpPr>
          <p:cNvPr id="7" name="Group 6">
            <a:extLst>
              <a:ext uri="{FF2B5EF4-FFF2-40B4-BE49-F238E27FC236}">
                <a16:creationId xmlns:a16="http://schemas.microsoft.com/office/drawing/2014/main" id="{E7D99641-1736-35DD-5351-07A2A5CD74C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06A541F-D7B9-7A13-EE69-B5EEA8F0171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A44D1BA-C991-DC21-A047-0F7E9360396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271389020"/>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48C2E1-A3A6-BBAB-70C7-FF993B62805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EC1E51C-F681-109B-EA82-81F63DDFA90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85FC672-9443-DD4F-63C9-3D239B96408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72BC851-4444-6D4A-AFA6-E1AE348E37D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51CC6E8-63DA-A0E0-87DD-17FDE85B371F}"/>
              </a:ext>
            </a:extLst>
          </p:cNvPr>
          <p:cNvSpPr txBox="1">
            <a:spLocks/>
          </p:cNvSpPr>
          <p:nvPr/>
        </p:nvSpPr>
        <p:spPr>
          <a:xfrm>
            <a:off x="76200" y="745153"/>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Using Cookies &amp; Sessions, JWTs, OAuth, OIDC &amp; API Keys</a:t>
            </a:r>
          </a:p>
          <a:p>
            <a:pPr marL="12700" marR="5080"/>
            <a:r>
              <a:rPr lang="en-US" sz="1400" kern="0" spc="-80" dirty="0">
                <a:solidFill>
                  <a:schemeClr val="accent2"/>
                </a:solidFill>
              </a:rPr>
              <a:t>4. OAuth 2.0 (Authorization Framework)</a:t>
            </a:r>
          </a:p>
          <a:p>
            <a:pPr marL="12700" marR="5080"/>
            <a:r>
              <a:rPr lang="en-US" sz="1400" kern="0" spc="-80" dirty="0">
                <a:solidFill>
                  <a:schemeClr val="accent2"/>
                </a:solidFill>
              </a:rPr>
              <a:t>4.6 When to Use OAuth</a:t>
            </a:r>
          </a:p>
          <a:p>
            <a:pPr marL="12700" marR="5080"/>
            <a:r>
              <a:rPr lang="en-US" sz="1400" kern="0" spc="-80" dirty="0">
                <a:solidFill>
                  <a:schemeClr val="accent6"/>
                </a:solidFill>
              </a:rPr>
              <a:t>✅ API ecosystems</a:t>
            </a:r>
          </a:p>
          <a:p>
            <a:pPr marL="12700" marR="5080"/>
            <a:r>
              <a:rPr lang="en-US" sz="1400" kern="0" spc="-80" dirty="0">
                <a:solidFill>
                  <a:schemeClr val="accent6"/>
                </a:solidFill>
              </a:rPr>
              <a:t>✅ Mobile apps</a:t>
            </a:r>
          </a:p>
          <a:p>
            <a:pPr marL="12700" marR="5080"/>
            <a:r>
              <a:rPr lang="en-US" sz="1400" kern="0" spc="-80" dirty="0">
                <a:solidFill>
                  <a:schemeClr val="accent6"/>
                </a:solidFill>
              </a:rPr>
              <a:t>✅ Delegated access</a:t>
            </a:r>
          </a:p>
          <a:p>
            <a:pPr marL="12700" marR="5080"/>
            <a:r>
              <a:rPr lang="en-US" sz="1400" kern="0" spc="-80" dirty="0">
                <a:solidFill>
                  <a:schemeClr val="accent6"/>
                </a:solidFill>
              </a:rPr>
              <a:t>❌ Simple internal auth</a:t>
            </a:r>
          </a:p>
          <a:p>
            <a:pPr marL="12700" marR="5080"/>
            <a:endParaRPr lang="en-US" sz="1400" kern="0" spc="-80" dirty="0">
              <a:solidFill>
                <a:schemeClr val="accent6"/>
              </a:solidFill>
            </a:endParaRPr>
          </a:p>
          <a:p>
            <a:pPr marL="12700" marR="5080"/>
            <a:r>
              <a:rPr lang="en-US" sz="1400" kern="0" spc="-80" dirty="0">
                <a:solidFill>
                  <a:schemeClr val="accent2"/>
                </a:solidFill>
              </a:rPr>
              <a:t>5. OpenID Connect (OIDC)</a:t>
            </a:r>
          </a:p>
          <a:p>
            <a:pPr marL="12700" marR="5080"/>
            <a:r>
              <a:rPr lang="en-US" sz="1400" kern="0" spc="-80" dirty="0">
                <a:solidFill>
                  <a:schemeClr val="accent2"/>
                </a:solidFill>
              </a:rPr>
              <a:t>5.1 What OIDC Adds</a:t>
            </a:r>
          </a:p>
          <a:p>
            <a:pPr marL="12700" marR="5080"/>
            <a:r>
              <a:rPr lang="en-US" sz="1400" kern="0" spc="-80" dirty="0">
                <a:solidFill>
                  <a:schemeClr val="accent6"/>
                </a:solidFill>
              </a:rPr>
              <a:t>OIDC = OAuth + Identity</a:t>
            </a:r>
          </a:p>
          <a:p>
            <a:pPr marL="12700" marR="5080"/>
            <a:r>
              <a:rPr lang="en-US" sz="1400" kern="0" spc="-80" dirty="0">
                <a:solidFill>
                  <a:schemeClr val="accent2"/>
                </a:solidFill>
              </a:rPr>
              <a:t>OIDC answers:</a:t>
            </a:r>
          </a:p>
          <a:p>
            <a:pPr marL="12700" marR="5080"/>
            <a:r>
              <a:rPr lang="en-US" sz="1400" kern="0" spc="-80" dirty="0">
                <a:solidFill>
                  <a:schemeClr val="accent6"/>
                </a:solidFill>
              </a:rPr>
              <a:t>“Who is the user?”</a:t>
            </a:r>
          </a:p>
          <a:p>
            <a:pPr marL="12700" marR="5080"/>
            <a:endParaRPr lang="en-US" sz="1400" kern="0" spc="-80" dirty="0">
              <a:solidFill>
                <a:schemeClr val="accent6"/>
              </a:solidFill>
            </a:endParaRPr>
          </a:p>
          <a:p>
            <a:pPr marL="12700" marR="5080"/>
            <a:r>
              <a:rPr lang="en-US" sz="1400" kern="0" spc="-80" dirty="0">
                <a:solidFill>
                  <a:schemeClr val="accent2"/>
                </a:solidFill>
              </a:rPr>
              <a:t>5.2 Key Additions</a:t>
            </a:r>
          </a:p>
          <a:p>
            <a:pPr marL="12700" marR="5080"/>
            <a:r>
              <a:rPr lang="en-US" sz="1400" kern="0" spc="-80" dirty="0">
                <a:solidFill>
                  <a:schemeClr val="accent2"/>
                </a:solidFill>
              </a:rPr>
              <a:t>ID Token (JWT)</a:t>
            </a:r>
          </a:p>
          <a:p>
            <a:pPr marL="12700" marR="5080"/>
            <a:r>
              <a:rPr lang="en-US" sz="1400" kern="0" spc="-80" dirty="0">
                <a:solidFill>
                  <a:schemeClr val="accent2"/>
                </a:solidFill>
              </a:rPr>
              <a:t>Contains identity claims:</a:t>
            </a:r>
          </a:p>
          <a:p>
            <a:pPr marL="12700" marR="5080"/>
            <a:r>
              <a:rPr lang="en-US" sz="1400" kern="0" spc="-80" dirty="0">
                <a:solidFill>
                  <a:schemeClr val="accent6"/>
                </a:solidFill>
              </a:rPr>
              <a:t>{</a:t>
            </a:r>
          </a:p>
          <a:p>
            <a:pPr marL="12700" marR="5080"/>
            <a:r>
              <a:rPr lang="en-US" sz="1400" kern="0" spc="-80" dirty="0">
                <a:solidFill>
                  <a:schemeClr val="accent6"/>
                </a:solidFill>
              </a:rPr>
              <a:t>  "sub": "123",</a:t>
            </a:r>
          </a:p>
          <a:p>
            <a:pPr marL="12700" marR="5080"/>
            <a:r>
              <a:rPr lang="en-US" sz="1400" kern="0" spc="-80" dirty="0">
                <a:solidFill>
                  <a:schemeClr val="accent6"/>
                </a:solidFill>
              </a:rPr>
              <a:t>  "email": "user@example.com",</a:t>
            </a:r>
          </a:p>
          <a:p>
            <a:pPr marL="12700" marR="5080"/>
            <a:r>
              <a:rPr lang="en-US" sz="1400" kern="0" spc="-80" dirty="0">
                <a:solidFill>
                  <a:schemeClr val="accent6"/>
                </a:solidFill>
              </a:rPr>
              <a:t>  "name": "Alice"</a:t>
            </a:r>
          </a:p>
          <a:p>
            <a:pPr marL="12700" marR="5080"/>
            <a:r>
              <a:rPr lang="en-US" sz="1400" kern="0" spc="-80" dirty="0">
                <a:solidFill>
                  <a:schemeClr val="accent6"/>
                </a:solidFill>
              </a:rPr>
              <a:t>}</a:t>
            </a:r>
            <a:endParaRPr lang="en-US" sz="2400" kern="0" spc="-80" dirty="0">
              <a:solidFill>
                <a:schemeClr val="accent2"/>
              </a:solidFill>
            </a:endParaRPr>
          </a:p>
        </p:txBody>
      </p:sp>
      <p:grpSp>
        <p:nvGrpSpPr>
          <p:cNvPr id="7" name="Group 6">
            <a:extLst>
              <a:ext uri="{FF2B5EF4-FFF2-40B4-BE49-F238E27FC236}">
                <a16:creationId xmlns:a16="http://schemas.microsoft.com/office/drawing/2014/main" id="{4A70D11F-5F6A-E042-602C-61EB34C4D851}"/>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A1F3D359-667D-784F-2BE4-C360F50E59D4}"/>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B6E587B2-41A5-D95E-19E5-3D9BF52D875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124712258"/>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05E82-38A4-A89E-F0D9-B992542727E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60789EF-3379-EDDC-F314-6C2708733C9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2133889-C0DC-6403-3645-31B0E1BA1B6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CCC77B3-D3B1-6162-4556-E461A92E0D1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701A75B-514B-6838-C9DF-D278096936DE}"/>
              </a:ext>
            </a:extLst>
          </p:cNvPr>
          <p:cNvSpPr txBox="1">
            <a:spLocks/>
          </p:cNvSpPr>
          <p:nvPr/>
        </p:nvSpPr>
        <p:spPr>
          <a:xfrm>
            <a:off x="76200" y="781883"/>
            <a:ext cx="8624937" cy="42473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Using Cookies &amp; Sessions, JWTs, OAuth, OIDC &amp; API Keys</a:t>
            </a:r>
          </a:p>
          <a:p>
            <a:pPr marL="12700" marR="5080"/>
            <a:r>
              <a:rPr lang="en-US" sz="1400" kern="0" spc="-80" dirty="0">
                <a:solidFill>
                  <a:schemeClr val="accent2"/>
                </a:solidFill>
              </a:rPr>
              <a:t>5. OpenID Connect (OIDC)</a:t>
            </a:r>
          </a:p>
          <a:p>
            <a:pPr marL="12700" marR="5080"/>
            <a:r>
              <a:rPr lang="en-US" sz="1400" kern="0" spc="-80" dirty="0">
                <a:solidFill>
                  <a:schemeClr val="accent2"/>
                </a:solidFill>
              </a:rPr>
              <a:t>5.2 Key Additions</a:t>
            </a:r>
          </a:p>
          <a:p>
            <a:pPr marL="12700" marR="5080"/>
            <a:r>
              <a:rPr lang="en-US" sz="1400" kern="0" spc="-80" dirty="0">
                <a:solidFill>
                  <a:schemeClr val="accent2"/>
                </a:solidFill>
              </a:rPr>
              <a:t>Standard Claims</a:t>
            </a:r>
          </a:p>
          <a:p>
            <a:pPr marL="12700" marR="5080"/>
            <a:r>
              <a:rPr lang="en-US" sz="1400" kern="0" spc="-80" dirty="0">
                <a:solidFill>
                  <a:schemeClr val="accent6"/>
                </a:solidFill>
              </a:rPr>
              <a:t>email</a:t>
            </a:r>
          </a:p>
          <a:p>
            <a:pPr marL="12700" marR="5080"/>
            <a:r>
              <a:rPr lang="en-US" sz="1400" kern="0" spc="-80" dirty="0">
                <a:solidFill>
                  <a:schemeClr val="accent6"/>
                </a:solidFill>
              </a:rPr>
              <a:t>name</a:t>
            </a:r>
          </a:p>
          <a:p>
            <a:pPr marL="12700" marR="5080"/>
            <a:r>
              <a:rPr lang="en-US" sz="1400" kern="0" spc="-80" dirty="0">
                <a:solidFill>
                  <a:schemeClr val="accent6"/>
                </a:solidFill>
              </a:rPr>
              <a:t>picture</a:t>
            </a:r>
          </a:p>
          <a:p>
            <a:pPr marL="12700" marR="5080"/>
            <a:r>
              <a:rPr lang="en-US" sz="1400" kern="0" spc="-80" dirty="0">
                <a:solidFill>
                  <a:schemeClr val="accent6"/>
                </a:solidFill>
              </a:rPr>
              <a:t>Locale</a:t>
            </a:r>
          </a:p>
          <a:p>
            <a:pPr marL="12700" marR="5080"/>
            <a:endParaRPr lang="en-US" sz="1400" kern="0" spc="-80" dirty="0">
              <a:solidFill>
                <a:schemeClr val="accent6"/>
              </a:solidFill>
            </a:endParaRPr>
          </a:p>
          <a:p>
            <a:pPr marL="12700" marR="5080"/>
            <a:r>
              <a:rPr lang="en-US" sz="1400" kern="0" spc="-80" dirty="0">
                <a:solidFill>
                  <a:schemeClr val="accent2"/>
                </a:solidFill>
              </a:rPr>
              <a:t>5.3 Login Flow</a:t>
            </a:r>
          </a:p>
          <a:p>
            <a:pPr marL="12700" marR="5080"/>
            <a:r>
              <a:rPr lang="en-US" sz="1400" kern="0" spc="-80" dirty="0">
                <a:solidFill>
                  <a:schemeClr val="accent6"/>
                </a:solidFill>
              </a:rPr>
              <a:t>App → OIDC Provider → Login → ID Token</a:t>
            </a:r>
          </a:p>
          <a:p>
            <a:pPr marL="12700" marR="5080"/>
            <a:endParaRPr lang="en-US" sz="1400" kern="0" spc="-80" dirty="0">
              <a:solidFill>
                <a:schemeClr val="accent6"/>
              </a:solidFill>
            </a:endParaRPr>
          </a:p>
          <a:p>
            <a:pPr marL="12700" marR="5080"/>
            <a:r>
              <a:rPr lang="en-US" sz="1400" kern="0" spc="-80" dirty="0">
                <a:solidFill>
                  <a:schemeClr val="accent2"/>
                </a:solidFill>
              </a:rPr>
              <a:t>5.4 When to Use OIDC</a:t>
            </a:r>
          </a:p>
          <a:p>
            <a:pPr marL="12700" marR="5080"/>
            <a:r>
              <a:rPr lang="en-US" sz="1400" kern="0" spc="-80" dirty="0">
                <a:solidFill>
                  <a:schemeClr val="accent6"/>
                </a:solidFill>
              </a:rPr>
              <a:t>✅ Login with Google / Azure AD / Auth0</a:t>
            </a:r>
          </a:p>
          <a:p>
            <a:pPr marL="12700" marR="5080"/>
            <a:r>
              <a:rPr lang="en-US" sz="1400" kern="0" spc="-80" dirty="0">
                <a:solidFill>
                  <a:schemeClr val="accent6"/>
                </a:solidFill>
              </a:rPr>
              <a:t>✅ Enterprise identity</a:t>
            </a:r>
          </a:p>
          <a:p>
            <a:pPr marL="12700" marR="5080"/>
            <a:r>
              <a:rPr lang="en-US" sz="1400" kern="0" spc="-80" dirty="0">
                <a:solidFill>
                  <a:schemeClr val="accent6"/>
                </a:solidFill>
              </a:rPr>
              <a:t>✅ Centralized authentication</a:t>
            </a:r>
          </a:p>
          <a:p>
            <a:pPr marL="12700" marR="5080"/>
            <a:r>
              <a:rPr lang="en-US" sz="1400" kern="0" spc="-80" dirty="0">
                <a:solidFill>
                  <a:schemeClr val="accent6"/>
                </a:solidFill>
              </a:rPr>
              <a:t>✅ SSO</a:t>
            </a:r>
          </a:p>
          <a:p>
            <a:pPr marL="12700" marR="5080"/>
            <a:r>
              <a:rPr lang="en-US" sz="1400" kern="0" spc="-80" dirty="0">
                <a:solidFill>
                  <a:schemeClr val="accent6"/>
                </a:solidFill>
              </a:rPr>
              <a:t>❌ Pure API authorization</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E8EF7ECE-7505-EA12-9E6D-C891586B5D71}"/>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6FF96A0-BC6D-EEF2-5DB2-29F967A810E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EA301F8-6793-8791-D990-1297CBA131A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666288121"/>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D49-6ECC-CEF0-122E-10ACE383C52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F7B6A76-62D7-0EC9-6186-B67A2A50990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C1B179D-12B0-629E-3106-917F7E5C017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03EF38C-7934-49E6-B62A-AFF93C16C0F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FA56D45-7423-F309-7A83-7492F834E177}"/>
              </a:ext>
            </a:extLst>
          </p:cNvPr>
          <p:cNvSpPr txBox="1">
            <a:spLocks/>
          </p:cNvSpPr>
          <p:nvPr/>
        </p:nvSpPr>
        <p:spPr>
          <a:xfrm>
            <a:off x="15240" y="74042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Using Cookies &amp; Sessions, JWTs, OAuth, OIDC &amp; API Keys</a:t>
            </a:r>
          </a:p>
          <a:p>
            <a:pPr marL="12700" marR="5080"/>
            <a:r>
              <a:rPr lang="en-US" sz="1400" kern="0" spc="-80" dirty="0">
                <a:solidFill>
                  <a:schemeClr val="accent2"/>
                </a:solidFill>
              </a:rPr>
              <a:t>6. API Keys</a:t>
            </a:r>
          </a:p>
          <a:p>
            <a:pPr marL="12700" marR="5080"/>
            <a:r>
              <a:rPr lang="en-US" sz="1400" kern="0" spc="-80" dirty="0">
                <a:solidFill>
                  <a:schemeClr val="accent2"/>
                </a:solidFill>
              </a:rPr>
              <a:t>6.1 What They Are</a:t>
            </a:r>
          </a:p>
          <a:p>
            <a:pPr marL="12700" marR="5080"/>
            <a:r>
              <a:rPr lang="en-US" sz="1400" kern="0" spc="-80" dirty="0">
                <a:solidFill>
                  <a:schemeClr val="accent6"/>
                </a:solidFill>
              </a:rPr>
              <a:t>Simple static secrets</a:t>
            </a:r>
          </a:p>
          <a:p>
            <a:pPr marL="12700" marR="5080"/>
            <a:r>
              <a:rPr lang="en-US" sz="1400" kern="0" spc="-80" dirty="0">
                <a:solidFill>
                  <a:schemeClr val="accent6"/>
                </a:solidFill>
              </a:rPr>
              <a:t>Identify applications, not users</a:t>
            </a:r>
          </a:p>
          <a:p>
            <a:pPr marL="12700" marR="5080"/>
            <a:r>
              <a:rPr lang="en-US" sz="1400" kern="0" spc="-80" dirty="0">
                <a:solidFill>
                  <a:schemeClr val="accent6"/>
                </a:solidFill>
              </a:rPr>
              <a:t>X-API-Key: abc123</a:t>
            </a:r>
          </a:p>
          <a:p>
            <a:pPr marL="12700" marR="5080"/>
            <a:endParaRPr lang="en-US" sz="1400" kern="0" spc="-80" dirty="0">
              <a:solidFill>
                <a:schemeClr val="accent6"/>
              </a:solidFill>
            </a:endParaRPr>
          </a:p>
          <a:p>
            <a:pPr marL="12700" marR="5080"/>
            <a:r>
              <a:rPr lang="en-US" sz="1400" kern="0" spc="-80" dirty="0">
                <a:solidFill>
                  <a:schemeClr val="accent2"/>
                </a:solidFill>
              </a:rPr>
              <a:t>6.2 Characteristics</a:t>
            </a:r>
          </a:p>
          <a:p>
            <a:pPr marL="12700" marR="5080"/>
            <a:r>
              <a:rPr lang="en-US" sz="1400" kern="0" spc="-80" dirty="0">
                <a:solidFill>
                  <a:schemeClr val="accent2"/>
                </a:solidFill>
              </a:rPr>
              <a:t>Aspect	                  Notes</a:t>
            </a:r>
          </a:p>
          <a:p>
            <a:pPr marL="12700" marR="5080"/>
            <a:r>
              <a:rPr lang="en-US" sz="1400" kern="0" spc="-80" dirty="0">
                <a:solidFill>
                  <a:schemeClr val="accent6"/>
                </a:solidFill>
              </a:rPr>
              <a:t>Identity	                  App / client</a:t>
            </a:r>
          </a:p>
          <a:p>
            <a:pPr marL="12700" marR="5080"/>
            <a:r>
              <a:rPr lang="en-US" sz="1400" kern="0" spc="-80" dirty="0">
                <a:solidFill>
                  <a:schemeClr val="accent6"/>
                </a:solidFill>
              </a:rPr>
              <a:t>Scope	                  Usually coarse</a:t>
            </a:r>
          </a:p>
          <a:p>
            <a:pPr marL="12700" marR="5080"/>
            <a:r>
              <a:rPr lang="en-US" sz="1400" kern="0" spc="-80" dirty="0">
                <a:solidFill>
                  <a:schemeClr val="accent6"/>
                </a:solidFill>
              </a:rPr>
              <a:t>Rotation	                  Manual</a:t>
            </a:r>
          </a:p>
          <a:p>
            <a:pPr marL="12700" marR="5080"/>
            <a:r>
              <a:rPr lang="en-US" sz="1400" kern="0" spc="-80" dirty="0">
                <a:solidFill>
                  <a:schemeClr val="accent6"/>
                </a:solidFill>
              </a:rPr>
              <a:t>Revocation                  Easy</a:t>
            </a:r>
          </a:p>
          <a:p>
            <a:pPr marL="12700" marR="5080"/>
            <a:endParaRPr lang="en-US" sz="1400" kern="0" spc="-80" dirty="0">
              <a:solidFill>
                <a:schemeClr val="accent6"/>
              </a:solidFill>
            </a:endParaRPr>
          </a:p>
          <a:p>
            <a:pPr marL="12700" marR="5080"/>
            <a:r>
              <a:rPr lang="en-US" sz="1400" kern="0" spc="-80" dirty="0">
                <a:solidFill>
                  <a:schemeClr val="accent2"/>
                </a:solidFill>
              </a:rPr>
              <a:t>6.3 Security Patterns</a:t>
            </a:r>
          </a:p>
          <a:p>
            <a:pPr marL="12700" marR="5080"/>
            <a:r>
              <a:rPr lang="en-US" sz="1400" kern="0" spc="-80" dirty="0">
                <a:solidFill>
                  <a:schemeClr val="accent6"/>
                </a:solidFill>
              </a:rPr>
              <a:t>Rate limiting</a:t>
            </a:r>
          </a:p>
          <a:p>
            <a:pPr marL="12700" marR="5080"/>
            <a:r>
              <a:rPr lang="en-US" sz="1400" kern="0" spc="-80" dirty="0">
                <a:solidFill>
                  <a:schemeClr val="accent6"/>
                </a:solidFill>
              </a:rPr>
              <a:t>IP allowlisting</a:t>
            </a:r>
          </a:p>
          <a:p>
            <a:pPr marL="12700" marR="5080"/>
            <a:r>
              <a:rPr lang="en-US" sz="1400" kern="0" spc="-80" dirty="0">
                <a:solidFill>
                  <a:schemeClr val="accent6"/>
                </a:solidFill>
              </a:rPr>
              <a:t>Key rotation</a:t>
            </a:r>
          </a:p>
          <a:p>
            <a:pPr marL="12700" marR="5080"/>
            <a:r>
              <a:rPr lang="en-US" sz="1400" kern="0" spc="-80" dirty="0">
                <a:solidFill>
                  <a:schemeClr val="accent6"/>
                </a:solidFill>
              </a:rPr>
              <a:t>Usage monitoring</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FEF4281E-4401-2740-9FC5-7011D99C31C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439A4F5-6873-E497-C6B1-02F2B5360CF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A6C51B1-39D4-D028-921D-96417D5C493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508722029"/>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1E234-57A7-2717-D06C-F3B9D8EB30A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8FD26DA-5659-8A7C-2F7C-1D17B7FD3B9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26E9D21-AC2A-28B9-D9E4-588BF5DA9AD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F59820BD-A6D6-1B5F-9459-89C478C0A7E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BD81147-4540-3C53-ECBC-27FCC58657BE}"/>
              </a:ext>
            </a:extLst>
          </p:cNvPr>
          <p:cNvSpPr txBox="1">
            <a:spLocks/>
          </p:cNvSpPr>
          <p:nvPr/>
        </p:nvSpPr>
        <p:spPr>
          <a:xfrm>
            <a:off x="76200" y="731996"/>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Using Cookies &amp; Sessions, JWTs, OAuth, OIDC &amp; API Keys</a:t>
            </a:r>
          </a:p>
          <a:p>
            <a:pPr marL="12700" marR="5080"/>
            <a:r>
              <a:rPr lang="en-US" sz="1400" kern="0" spc="-80" dirty="0">
                <a:solidFill>
                  <a:schemeClr val="accent2"/>
                </a:solidFill>
              </a:rPr>
              <a:t>6. API Keys</a:t>
            </a:r>
          </a:p>
          <a:p>
            <a:pPr marL="12700" marR="5080"/>
            <a:r>
              <a:rPr lang="en-US" sz="1400" kern="0" spc="-80" dirty="0">
                <a:solidFill>
                  <a:schemeClr val="accent2"/>
                </a:solidFill>
              </a:rPr>
              <a:t>6.4 When to Use</a:t>
            </a:r>
          </a:p>
          <a:p>
            <a:pPr marL="12700" marR="5080"/>
            <a:r>
              <a:rPr lang="en-US" sz="1400" kern="0" spc="-80" dirty="0">
                <a:solidFill>
                  <a:schemeClr val="accent6"/>
                </a:solidFill>
              </a:rPr>
              <a:t>✅ Internal APIs</a:t>
            </a:r>
          </a:p>
          <a:p>
            <a:pPr marL="12700" marR="5080"/>
            <a:r>
              <a:rPr lang="en-US" sz="1400" kern="0" spc="-80" dirty="0">
                <a:solidFill>
                  <a:schemeClr val="accent6"/>
                </a:solidFill>
              </a:rPr>
              <a:t>✅ Analytics ingestion</a:t>
            </a:r>
          </a:p>
          <a:p>
            <a:pPr marL="12700" marR="5080"/>
            <a:r>
              <a:rPr lang="en-US" sz="1400" kern="0" spc="-80" dirty="0">
                <a:solidFill>
                  <a:schemeClr val="accent6"/>
                </a:solidFill>
              </a:rPr>
              <a:t>✅ Low-risk public APIs</a:t>
            </a:r>
          </a:p>
          <a:p>
            <a:pPr marL="12700" marR="5080"/>
            <a:r>
              <a:rPr lang="en-US" sz="1400" kern="0" spc="-80" dirty="0">
                <a:solidFill>
                  <a:schemeClr val="accent6"/>
                </a:solidFill>
              </a:rPr>
              <a:t>✅ Server-to-server (low complexity)</a:t>
            </a:r>
          </a:p>
          <a:p>
            <a:pPr marL="12700" marR="5080"/>
            <a:r>
              <a:rPr lang="en-US" sz="1400" kern="0" spc="-80" dirty="0">
                <a:solidFill>
                  <a:schemeClr val="accent6"/>
                </a:solidFill>
              </a:rPr>
              <a:t>✅ Free Tiers</a:t>
            </a:r>
          </a:p>
          <a:p>
            <a:pPr marL="12700" marR="5080"/>
            <a:r>
              <a:rPr lang="en-US" sz="1400" kern="0" spc="-80" dirty="0">
                <a:solidFill>
                  <a:schemeClr val="accent6"/>
                </a:solidFill>
              </a:rPr>
              <a:t>❌ User authentication</a:t>
            </a:r>
          </a:p>
          <a:p>
            <a:pPr marL="12700" marR="5080"/>
            <a:r>
              <a:rPr lang="en-US" sz="1400" kern="0" spc="-80" dirty="0">
                <a:solidFill>
                  <a:schemeClr val="accent6"/>
                </a:solidFill>
              </a:rPr>
              <a:t>❌ High-risk access</a:t>
            </a:r>
          </a:p>
          <a:p>
            <a:pPr marL="12700" marR="5080"/>
            <a:r>
              <a:rPr lang="en-US" sz="1400" kern="0" spc="-80" dirty="0">
                <a:solidFill>
                  <a:schemeClr val="accent6"/>
                </a:solidFill>
              </a:rPr>
              <a:t>❌ Browser usage</a:t>
            </a:r>
          </a:p>
          <a:p>
            <a:pPr marL="12700" marR="5080"/>
            <a:endParaRPr lang="en-US" sz="1400" kern="0" spc="-80" dirty="0">
              <a:solidFill>
                <a:schemeClr val="accent6"/>
              </a:solidFill>
            </a:endParaRPr>
          </a:p>
          <a:p>
            <a:pPr marL="12700" marR="5080"/>
            <a:r>
              <a:rPr lang="en-US" sz="1400" kern="0" spc="-80" dirty="0">
                <a:solidFill>
                  <a:schemeClr val="accent2"/>
                </a:solidFill>
              </a:rPr>
              <a:t>7. Comparison Matrix (Quick Decision Guide)</a:t>
            </a:r>
          </a:p>
          <a:p>
            <a:pPr marL="12700" marR="5080"/>
            <a:r>
              <a:rPr lang="en-US" sz="1400" kern="0" spc="-80" dirty="0">
                <a:solidFill>
                  <a:schemeClr val="accent2"/>
                </a:solidFill>
              </a:rPr>
              <a:t>Scenario	                                       Best Choice</a:t>
            </a:r>
          </a:p>
          <a:p>
            <a:pPr marL="12700" marR="5080"/>
            <a:r>
              <a:rPr lang="en-US" sz="1400" kern="0" spc="-80" dirty="0">
                <a:solidFill>
                  <a:schemeClr val="accent6"/>
                </a:solidFill>
              </a:rPr>
              <a:t>Server-rendered web app	Cookies + Sessions</a:t>
            </a:r>
          </a:p>
          <a:p>
            <a:pPr marL="12700" marR="5080"/>
            <a:r>
              <a:rPr lang="en-US" sz="1400" kern="0" spc="-80" dirty="0">
                <a:solidFill>
                  <a:schemeClr val="accent6"/>
                </a:solidFill>
              </a:rPr>
              <a:t>SPA + backend	                   OIDC + OAuth + JWT</a:t>
            </a:r>
          </a:p>
          <a:p>
            <a:pPr marL="12700" marR="5080"/>
            <a:r>
              <a:rPr lang="en-US" sz="1400" kern="0" spc="-80" dirty="0">
                <a:solidFill>
                  <a:schemeClr val="accent6"/>
                </a:solidFill>
              </a:rPr>
              <a:t>Mobile app	                   OAuth + OIDC + JWT</a:t>
            </a:r>
          </a:p>
          <a:p>
            <a:pPr marL="12700" marR="5080"/>
            <a:r>
              <a:rPr lang="en-US" sz="1400" kern="0" spc="-80" dirty="0">
                <a:solidFill>
                  <a:schemeClr val="accent6"/>
                </a:solidFill>
              </a:rPr>
              <a:t>Microservices	                   JWT (OAuth-issued)</a:t>
            </a:r>
          </a:p>
          <a:p>
            <a:pPr marL="12700" marR="5080"/>
            <a:r>
              <a:rPr lang="en-US" sz="1400" kern="0" spc="-80" dirty="0">
                <a:solidFill>
                  <a:schemeClr val="accent6"/>
                </a:solidFill>
              </a:rPr>
              <a:t>Third-party API access	OAuth</a:t>
            </a:r>
          </a:p>
          <a:p>
            <a:pPr marL="12700" marR="5080"/>
            <a:r>
              <a:rPr lang="en-US" sz="1400" kern="0" spc="-80" dirty="0">
                <a:solidFill>
                  <a:schemeClr val="accent6"/>
                </a:solidFill>
              </a:rPr>
              <a:t>Internal service auth	                   JWT or API Keys</a:t>
            </a:r>
          </a:p>
          <a:p>
            <a:pPr marL="12700" marR="5080"/>
            <a:r>
              <a:rPr lang="en-US" sz="1400" kern="0" spc="-80" dirty="0">
                <a:solidFill>
                  <a:schemeClr val="accent6"/>
                </a:solidFill>
              </a:rPr>
              <a:t>Simple public API	                   API Keys</a:t>
            </a:r>
          </a:p>
          <a:p>
            <a:pPr marL="12700" marR="5080"/>
            <a:r>
              <a:rPr lang="en-US" sz="1400" kern="0" spc="-80" dirty="0">
                <a:solidFill>
                  <a:schemeClr val="accent6"/>
                </a:solidFill>
              </a:rPr>
              <a:t>SSO	                                       OIDC</a:t>
            </a:r>
          </a:p>
        </p:txBody>
      </p:sp>
      <p:grpSp>
        <p:nvGrpSpPr>
          <p:cNvPr id="7" name="Group 6">
            <a:extLst>
              <a:ext uri="{FF2B5EF4-FFF2-40B4-BE49-F238E27FC236}">
                <a16:creationId xmlns:a16="http://schemas.microsoft.com/office/drawing/2014/main" id="{0B206B89-233E-95D1-BB66-B42171AC1EF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56DF910-E520-78A1-474E-5A69124F147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5CF0CD4-0A71-9CE1-F14E-FAB276CD73E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842262934"/>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D7FFA-9A69-9692-937D-0109C24F21C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2F0B4B9-C75F-DEF7-72A3-E3933DBDF76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4436D10-FDB3-77FC-F7B0-125B61AE7B1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330ABA2-7E7F-9A31-6874-42D90BF94F4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D853DAE-AB3A-19F8-F1E1-6000DE2C1D6F}"/>
              </a:ext>
            </a:extLst>
          </p:cNvPr>
          <p:cNvSpPr txBox="1">
            <a:spLocks/>
          </p:cNvSpPr>
          <p:nvPr/>
        </p:nvSpPr>
        <p:spPr>
          <a:xfrm>
            <a:off x="0" y="821353"/>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Using Cookies &amp; Sessions, JWTs, OAuth, OIDC &amp; API Keys</a:t>
            </a:r>
          </a:p>
          <a:p>
            <a:pPr marL="12700" marR="5080"/>
            <a:r>
              <a:rPr lang="en-US" sz="1400" kern="0" spc="-80" dirty="0">
                <a:solidFill>
                  <a:schemeClr val="accent2"/>
                </a:solidFill>
              </a:rPr>
              <a:t>8. Common Architecture Patterns</a:t>
            </a:r>
          </a:p>
          <a:p>
            <a:pPr marL="12700" marR="5080"/>
            <a:r>
              <a:rPr lang="en-US" sz="1400" kern="0" spc="-80" dirty="0">
                <a:solidFill>
                  <a:schemeClr val="accent2"/>
                </a:solidFill>
              </a:rPr>
              <a:t>8.1 Modern Web App (Best Practice)</a:t>
            </a:r>
          </a:p>
          <a:p>
            <a:pPr marL="12700" marR="5080"/>
            <a:r>
              <a:rPr lang="en-US" sz="1400" kern="0" spc="-80" dirty="0">
                <a:solidFill>
                  <a:schemeClr val="accent6"/>
                </a:solidFill>
              </a:rPr>
              <a:t>Browser</a:t>
            </a:r>
          </a:p>
          <a:p>
            <a:pPr marL="12700" marR="5080"/>
            <a:r>
              <a:rPr lang="en-US" sz="1400" kern="0" spc="-80" dirty="0">
                <a:solidFill>
                  <a:schemeClr val="accent6"/>
                </a:solidFill>
              </a:rPr>
              <a:t> ├─ </a:t>
            </a:r>
            <a:r>
              <a:rPr lang="en-US" sz="1400" kern="0" spc="-80" dirty="0" err="1">
                <a:solidFill>
                  <a:schemeClr val="accent6"/>
                </a:solidFill>
              </a:rPr>
              <a:t>HttpOnly</a:t>
            </a:r>
            <a:r>
              <a:rPr lang="en-US" sz="1400" kern="0" spc="-80" dirty="0">
                <a:solidFill>
                  <a:schemeClr val="accent6"/>
                </a:solidFill>
              </a:rPr>
              <a:t> Cookie (access token)</a:t>
            </a:r>
          </a:p>
          <a:p>
            <a:pPr marL="12700" marR="5080"/>
            <a:r>
              <a:rPr lang="en-US" sz="1400" kern="0" spc="-80" dirty="0">
                <a:solidFill>
                  <a:schemeClr val="accent6"/>
                </a:solidFill>
              </a:rPr>
              <a:t> ├─ Refresh Token (rotated)</a:t>
            </a:r>
          </a:p>
          <a:p>
            <a:pPr marL="12700" marR="5080"/>
            <a:r>
              <a:rPr lang="en-US" sz="1400" kern="0" spc="-80" dirty="0">
                <a:solidFill>
                  <a:schemeClr val="accent6"/>
                </a:solidFill>
              </a:rPr>
              <a:t> ↓</a:t>
            </a:r>
          </a:p>
          <a:p>
            <a:pPr marL="12700" marR="5080"/>
            <a:r>
              <a:rPr lang="en-US" sz="1400" kern="0" spc="-80" dirty="0">
                <a:solidFill>
                  <a:schemeClr val="accent6"/>
                </a:solidFill>
              </a:rPr>
              <a:t>API Gateway</a:t>
            </a:r>
          </a:p>
          <a:p>
            <a:pPr marL="12700" marR="5080"/>
            <a:r>
              <a:rPr lang="en-US" sz="1400" kern="0" spc="-80" dirty="0">
                <a:solidFill>
                  <a:schemeClr val="accent6"/>
                </a:solidFill>
              </a:rPr>
              <a:t> ↓</a:t>
            </a:r>
          </a:p>
          <a:p>
            <a:pPr marL="12700" marR="5080"/>
            <a:r>
              <a:rPr lang="en-US" sz="1400" kern="0" spc="-80" dirty="0">
                <a:solidFill>
                  <a:schemeClr val="accent6"/>
                </a:solidFill>
              </a:rPr>
              <a:t>Microservices (JWT validation)</a:t>
            </a:r>
          </a:p>
          <a:p>
            <a:pPr marL="12700" marR="5080"/>
            <a:endParaRPr lang="en-US" sz="1400" kern="0" spc="-80" dirty="0">
              <a:solidFill>
                <a:schemeClr val="accent6"/>
              </a:solidFill>
            </a:endParaRPr>
          </a:p>
          <a:p>
            <a:pPr marL="12700" marR="5080"/>
            <a:r>
              <a:rPr lang="en-US" sz="1400" kern="0" spc="-80" dirty="0">
                <a:solidFill>
                  <a:schemeClr val="accent2"/>
                </a:solidFill>
              </a:rPr>
              <a:t>8.2 Enterprise SSO</a:t>
            </a:r>
          </a:p>
          <a:p>
            <a:pPr marL="12700" marR="5080"/>
            <a:r>
              <a:rPr lang="en-US" sz="1400" kern="0" spc="-80" dirty="0">
                <a:solidFill>
                  <a:schemeClr val="accent6"/>
                </a:solidFill>
              </a:rPr>
              <a:t>User → OIDC Provider → ID Token</a:t>
            </a:r>
          </a:p>
          <a:p>
            <a:pPr marL="12700" marR="5080"/>
            <a:r>
              <a:rPr lang="en-US" sz="1400" kern="0" spc="-80" dirty="0">
                <a:solidFill>
                  <a:schemeClr val="accent6"/>
                </a:solidFill>
              </a:rPr>
              <a:t>App → OAuth → Access Token → APIs</a:t>
            </a:r>
          </a:p>
          <a:p>
            <a:pPr marL="12700" marR="5080"/>
            <a:endParaRPr lang="en-US" sz="1400" kern="0" spc="-80" dirty="0">
              <a:solidFill>
                <a:schemeClr val="accent6"/>
              </a:solidFill>
            </a:endParaRPr>
          </a:p>
          <a:p>
            <a:pPr marL="12700" marR="5080"/>
            <a:r>
              <a:rPr lang="en-US" sz="1400" kern="0" spc="-80" dirty="0">
                <a:solidFill>
                  <a:schemeClr val="accent2"/>
                </a:solidFill>
              </a:rPr>
              <a:t>8.3 Machine-to-Machine</a:t>
            </a:r>
          </a:p>
          <a:p>
            <a:pPr marL="12700" marR="5080"/>
            <a:r>
              <a:rPr lang="en-US" sz="1400" kern="0" spc="-80" dirty="0">
                <a:solidFill>
                  <a:schemeClr val="accent6"/>
                </a:solidFill>
              </a:rPr>
              <a:t>Service A → OAuth Client Credentials → Service B</a:t>
            </a:r>
          </a:p>
          <a:p>
            <a:pPr marL="12700" marR="5080"/>
            <a:endParaRPr lang="en-US" sz="1400" kern="0" spc="-80" dirty="0">
              <a:solidFill>
                <a:schemeClr val="accent6"/>
              </a:solidFill>
            </a:endParaRPr>
          </a:p>
          <a:p>
            <a:pPr marL="12700" marR="5080"/>
            <a:r>
              <a:rPr lang="en-US" sz="1400" kern="0" spc="-80" dirty="0">
                <a:solidFill>
                  <a:schemeClr val="accent2"/>
                </a:solidFill>
              </a:rPr>
              <a:t>9. Key Anti-Patterns 🚫</a:t>
            </a:r>
          </a:p>
          <a:p>
            <a:pPr marL="12700" marR="5080"/>
            <a:r>
              <a:rPr lang="en-US" sz="1400" kern="0" spc="-80" dirty="0">
                <a:solidFill>
                  <a:schemeClr val="accent6"/>
                </a:solidFill>
              </a:rPr>
              <a:t>❌ JWT without expiry</a:t>
            </a:r>
          </a:p>
          <a:p>
            <a:pPr marL="12700" marR="5080"/>
            <a:r>
              <a:rPr lang="en-US" sz="1400" kern="0" spc="-80" dirty="0">
                <a:solidFill>
                  <a:schemeClr val="accent6"/>
                </a:solidFill>
              </a:rPr>
              <a:t>❌ Long-lived access tokens</a:t>
            </a:r>
          </a:p>
          <a:p>
            <a:pPr marL="12700" marR="5080"/>
            <a:r>
              <a:rPr lang="en-US" sz="1400" kern="0" spc="-80" dirty="0">
                <a:solidFill>
                  <a:schemeClr val="accent6"/>
                </a:solidFill>
              </a:rPr>
              <a:t>❌ JWT in </a:t>
            </a:r>
            <a:r>
              <a:rPr lang="en-US" sz="1400" kern="0" spc="-80" dirty="0" err="1">
                <a:solidFill>
                  <a:schemeClr val="accent6"/>
                </a:solidFill>
              </a:rPr>
              <a:t>localStorage</a:t>
            </a:r>
            <a:endParaRPr lang="en-US" sz="1400" kern="0" spc="-80" dirty="0">
              <a:solidFill>
                <a:schemeClr val="accent6"/>
              </a:solidFill>
            </a:endParaRPr>
          </a:p>
        </p:txBody>
      </p:sp>
      <p:grpSp>
        <p:nvGrpSpPr>
          <p:cNvPr id="7" name="Group 6">
            <a:extLst>
              <a:ext uri="{FF2B5EF4-FFF2-40B4-BE49-F238E27FC236}">
                <a16:creationId xmlns:a16="http://schemas.microsoft.com/office/drawing/2014/main" id="{B9915C58-5B5D-0AE3-BFFA-6586F0390DA4}"/>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084D28A-13BD-BD0E-DCB0-82DB1399B32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89C4999B-34B6-5DC3-A864-5C242535A71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830914542"/>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8D292-B513-B9A7-903E-C9D85972A98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721D48D-41AE-73F8-1BAA-AE365D39054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644DB6A-038A-48A5-94DF-231E5E71868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6A4D008-8FB4-DB70-217A-00530DE9668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20811A4-8844-2F75-CF46-1BECEB40F3E9}"/>
              </a:ext>
            </a:extLst>
          </p:cNvPr>
          <p:cNvSpPr txBox="1">
            <a:spLocks/>
          </p:cNvSpPr>
          <p:nvPr/>
        </p:nvSpPr>
        <p:spPr>
          <a:xfrm>
            <a:off x="76200" y="739438"/>
            <a:ext cx="8624937" cy="390876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Using Cookies &amp; Sessions, JWTs, OAuth, OIDC &amp; API Keys</a:t>
            </a:r>
          </a:p>
          <a:p>
            <a:pPr marL="12700" marR="5080"/>
            <a:r>
              <a:rPr lang="en-US" sz="1400" kern="0" spc="-80" dirty="0">
                <a:solidFill>
                  <a:schemeClr val="accent2"/>
                </a:solidFill>
              </a:rPr>
              <a:t>9. Key Anti-Patterns 🚫</a:t>
            </a:r>
          </a:p>
          <a:p>
            <a:pPr marL="12700" marR="5080"/>
            <a:r>
              <a:rPr lang="en-US" sz="1400" kern="0" spc="-80" dirty="0">
                <a:solidFill>
                  <a:schemeClr val="accent6"/>
                </a:solidFill>
              </a:rPr>
              <a:t>❌ OAuth without PKCE in SPAs</a:t>
            </a:r>
          </a:p>
          <a:p>
            <a:pPr marL="12700" marR="5080"/>
            <a:r>
              <a:rPr lang="en-US" sz="1400" kern="0" spc="-80" dirty="0">
                <a:solidFill>
                  <a:schemeClr val="accent6"/>
                </a:solidFill>
              </a:rPr>
              <a:t>❌ Using API keys for users</a:t>
            </a:r>
          </a:p>
          <a:p>
            <a:pPr marL="12700" marR="5080"/>
            <a:r>
              <a:rPr lang="en-US" sz="1400" kern="0" spc="-80" dirty="0">
                <a:solidFill>
                  <a:schemeClr val="accent6"/>
                </a:solidFill>
              </a:rPr>
              <a:t>❌ Rolling your own auth</a:t>
            </a:r>
          </a:p>
          <a:p>
            <a:pPr marL="12700" marR="5080"/>
            <a:endParaRPr lang="en-US" sz="1400" kern="0" spc="-80" dirty="0">
              <a:solidFill>
                <a:schemeClr val="accent6"/>
              </a:solidFill>
            </a:endParaRPr>
          </a:p>
          <a:p>
            <a:pPr marL="12700" marR="5080"/>
            <a:r>
              <a:rPr lang="en-US" sz="1400" kern="0" spc="-80" dirty="0">
                <a:solidFill>
                  <a:schemeClr val="accent2"/>
                </a:solidFill>
              </a:rPr>
              <a:t>10. Mental Model (Remember This)</a:t>
            </a:r>
          </a:p>
          <a:p>
            <a:pPr marL="12700" marR="5080"/>
            <a:r>
              <a:rPr lang="en-US" sz="1400" kern="0" spc="-80" dirty="0">
                <a:solidFill>
                  <a:schemeClr val="accent2"/>
                </a:solidFill>
              </a:rPr>
              <a:t>Tool	Purpose</a:t>
            </a:r>
          </a:p>
          <a:p>
            <a:pPr marL="12700" marR="5080"/>
            <a:r>
              <a:rPr lang="en-US" sz="1400" kern="0" spc="-80" dirty="0">
                <a:solidFill>
                  <a:schemeClr val="accent6"/>
                </a:solidFill>
              </a:rPr>
              <a:t>Cookies	Transport mechanism</a:t>
            </a:r>
          </a:p>
          <a:p>
            <a:pPr marL="12700" marR="5080"/>
            <a:r>
              <a:rPr lang="en-US" sz="1400" kern="0" spc="-80" dirty="0">
                <a:solidFill>
                  <a:schemeClr val="accent6"/>
                </a:solidFill>
              </a:rPr>
              <a:t>Sessions	Stateful auth</a:t>
            </a:r>
          </a:p>
          <a:p>
            <a:pPr marL="12700" marR="5080"/>
            <a:r>
              <a:rPr lang="en-US" sz="1400" kern="0" spc="-80" dirty="0">
                <a:solidFill>
                  <a:schemeClr val="accent6"/>
                </a:solidFill>
              </a:rPr>
              <a:t>JWT	Stateless auth</a:t>
            </a:r>
          </a:p>
          <a:p>
            <a:pPr marL="12700" marR="5080"/>
            <a:r>
              <a:rPr lang="en-US" sz="1400" kern="0" spc="-80" dirty="0">
                <a:solidFill>
                  <a:schemeClr val="accent6"/>
                </a:solidFill>
              </a:rPr>
              <a:t>OAuth	Authorization delegation</a:t>
            </a:r>
          </a:p>
          <a:p>
            <a:pPr marL="12700" marR="5080"/>
            <a:r>
              <a:rPr lang="en-US" sz="1400" kern="0" spc="-80" dirty="0">
                <a:solidFill>
                  <a:schemeClr val="accent6"/>
                </a:solidFill>
              </a:rPr>
              <a:t>OIDC	Authentication</a:t>
            </a:r>
          </a:p>
          <a:p>
            <a:pPr marL="12700" marR="5080"/>
            <a:r>
              <a:rPr lang="en-US" sz="1400" kern="0" spc="-80" dirty="0">
                <a:solidFill>
                  <a:schemeClr val="accent6"/>
                </a:solidFill>
              </a:rPr>
              <a:t>API Keys	App identification</a:t>
            </a:r>
          </a:p>
          <a:p>
            <a:pPr marL="12700" marR="5080"/>
            <a:endParaRPr lang="en-US" sz="2400" kern="0" spc="-80" dirty="0">
              <a:solidFill>
                <a:schemeClr val="accent6"/>
              </a:solidFill>
            </a:endParaRP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7BB3F239-F428-C9A5-2E3B-DE863D1B0DC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72C6261-D20A-6142-C1F6-FDE9459DB75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19D12ED8-BC6F-C42A-989A-66D762E39EE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066666681"/>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76200" y="785336"/>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 And “I” of CIA Triad(Example of Handshaking in SSL)</a:t>
            </a:r>
          </a:p>
        </p:txBody>
      </p:sp>
      <p:pic>
        <p:nvPicPr>
          <p:cNvPr id="8" name="Picture 7" descr="A screenshot of a diagram&#10;&#10;Description automatically generated">
            <a:extLst>
              <a:ext uri="{FF2B5EF4-FFF2-40B4-BE49-F238E27FC236}">
                <a16:creationId xmlns:a16="http://schemas.microsoft.com/office/drawing/2014/main" id="{EB5435BD-8C26-5BBF-B80F-ECD3D4A1E3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706" y="1178004"/>
            <a:ext cx="8520588" cy="4368999"/>
          </a:xfrm>
          <a:prstGeom prst="rect">
            <a:avLst/>
          </a:prstGeom>
        </p:spPr>
      </p:pic>
      <p:sp>
        <p:nvSpPr>
          <p:cNvPr id="7" name="object 2">
            <a:extLst>
              <a:ext uri="{FF2B5EF4-FFF2-40B4-BE49-F238E27FC236}">
                <a16:creationId xmlns:a16="http://schemas.microsoft.com/office/drawing/2014/main" id="{7BA24F63-7DB2-F989-BE50-92126E457CF2}"/>
              </a:ext>
            </a:extLst>
          </p:cNvPr>
          <p:cNvSpPr txBox="1">
            <a:spLocks/>
          </p:cNvSpPr>
          <p:nvPr/>
        </p:nvSpPr>
        <p:spPr>
          <a:xfrm>
            <a:off x="366663" y="5638800"/>
            <a:ext cx="8624937" cy="27699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800" kern="0" spc="-80" dirty="0">
                <a:solidFill>
                  <a:schemeClr val="accent2"/>
                </a:solidFill>
              </a:rPr>
              <a:t>Erratum – </a:t>
            </a:r>
            <a:r>
              <a:rPr lang="en-US" sz="1800" kern="0" spc="-80" dirty="0" err="1">
                <a:solidFill>
                  <a:schemeClr val="accent6"/>
                </a:solidFill>
              </a:rPr>
              <a:t>Dataa</a:t>
            </a:r>
            <a:r>
              <a:rPr lang="en-US" sz="1800" kern="0" spc="-80" dirty="0">
                <a:solidFill>
                  <a:schemeClr val="accent6"/>
                </a:solidFill>
              </a:rPr>
              <a:t> is a typo mistake above. Should be Data.</a:t>
            </a:r>
          </a:p>
        </p:txBody>
      </p:sp>
      <p:grpSp>
        <p:nvGrpSpPr>
          <p:cNvPr id="9" name="Group 8">
            <a:extLst>
              <a:ext uri="{FF2B5EF4-FFF2-40B4-BE49-F238E27FC236}">
                <a16:creationId xmlns:a16="http://schemas.microsoft.com/office/drawing/2014/main" id="{640B7C11-1F2E-AC41-E0C8-E35F425DB128}"/>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D9A19772-0023-F92E-7A7E-DA553A55788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88623F6E-E2C0-132B-C2F7-5C5A47968C1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546213157"/>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76200" y="670203"/>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“C” &amp; “I” of “CIA” Triad using </a:t>
            </a:r>
            <a:r>
              <a:rPr lang="en-US" sz="2400" kern="0" spc="-80" dirty="0" err="1">
                <a:solidFill>
                  <a:schemeClr val="accent2"/>
                </a:solidFill>
              </a:rPr>
              <a:t>mTLS</a:t>
            </a:r>
            <a:r>
              <a:rPr lang="en-US" sz="2400" kern="0" spc="-80" dirty="0">
                <a:solidFill>
                  <a:schemeClr val="accent2"/>
                </a:solidFill>
              </a:rPr>
              <a:t>  </a:t>
            </a:r>
          </a:p>
        </p:txBody>
      </p:sp>
      <p:pic>
        <p:nvPicPr>
          <p:cNvPr id="1026" name="Picture 2" descr="TLS Different Encryption Methods">
            <a:extLst>
              <a:ext uri="{FF2B5EF4-FFF2-40B4-BE49-F238E27FC236}">
                <a16:creationId xmlns:a16="http://schemas.microsoft.com/office/drawing/2014/main" id="{F50F0603-C6C0-AE3D-0D2A-5638DF6E1D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32" y="1078272"/>
            <a:ext cx="9144000" cy="345646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3FBDF0E-D364-C11C-646B-608769CAB63A}"/>
              </a:ext>
            </a:extLst>
          </p:cNvPr>
          <p:cNvSpPr txBox="1"/>
          <p:nvPr/>
        </p:nvSpPr>
        <p:spPr>
          <a:xfrm>
            <a:off x="-30932" y="4534733"/>
            <a:ext cx="8839200" cy="1477328"/>
          </a:xfrm>
          <a:prstGeom prst="rect">
            <a:avLst/>
          </a:prstGeom>
          <a:noFill/>
        </p:spPr>
        <p:txBody>
          <a:bodyPr wrap="square">
            <a:spAutoFit/>
          </a:bodyPr>
          <a:lstStyle/>
          <a:p>
            <a:pPr marL="12700" marR="5080"/>
            <a:r>
              <a:rPr lang="en-US" sz="1800" b="1" kern="0" spc="-80" dirty="0">
                <a:solidFill>
                  <a:schemeClr val="accent2"/>
                </a:solidFill>
              </a:rPr>
              <a:t>For Further Exploration – </a:t>
            </a:r>
          </a:p>
          <a:p>
            <a:pPr marL="12700" marR="5080"/>
            <a:r>
              <a:rPr lang="en-IN" dirty="0">
                <a:hlinkClick r:id="rId3"/>
              </a:rPr>
              <a:t>What Is </a:t>
            </a:r>
            <a:r>
              <a:rPr lang="en-IN" dirty="0" err="1">
                <a:hlinkClick r:id="rId3"/>
              </a:rPr>
              <a:t>mTLS</a:t>
            </a:r>
            <a:r>
              <a:rPr lang="en-IN" dirty="0">
                <a:hlinkClick r:id="rId3"/>
              </a:rPr>
              <a:t>?</a:t>
            </a:r>
            <a:endParaRPr lang="en-IN" dirty="0"/>
          </a:p>
          <a:p>
            <a:pPr marL="12700" marR="5080"/>
            <a:r>
              <a:rPr lang="en-US" dirty="0">
                <a:hlinkClick r:id="rId4"/>
              </a:rPr>
              <a:t>SSL vs TLS - Difference Between Communication Protocols </a:t>
            </a:r>
            <a:r>
              <a:rPr lang="en-US" dirty="0">
                <a:hlinkClick r:id="rId5"/>
              </a:rPr>
              <a:t>–</a:t>
            </a:r>
            <a:r>
              <a:rPr lang="en-US" dirty="0">
                <a:hlinkClick r:id="rId4"/>
              </a:rPr>
              <a:t> AWS</a:t>
            </a:r>
            <a:r>
              <a:rPr lang="en-US" dirty="0"/>
              <a:t> </a:t>
            </a:r>
            <a:r>
              <a:rPr lang="en-US" kern="0" spc="-80" dirty="0">
                <a:solidFill>
                  <a:schemeClr val="accent2"/>
                </a:solidFill>
                <a:hlinkClick r:id="rId5"/>
              </a:rPr>
              <a:t>   </a:t>
            </a:r>
            <a:endParaRPr lang="en-US" kern="0" spc="-80" dirty="0">
              <a:solidFill>
                <a:schemeClr val="accent2"/>
              </a:solidFill>
            </a:endParaRPr>
          </a:p>
          <a:p>
            <a:pPr marL="12700" marR="5080"/>
            <a:r>
              <a:rPr lang="en-IN" dirty="0">
                <a:hlinkClick r:id="rId5"/>
              </a:rPr>
              <a:t>GrokkingBitcoin-Ch02-Hash-Functions-and-ignatures.adoc</a:t>
            </a:r>
          </a:p>
          <a:p>
            <a:pPr marL="12700" marR="5080"/>
            <a:r>
              <a:rPr lang="en-US" dirty="0">
                <a:hlinkClick r:id="rId6"/>
              </a:rPr>
              <a:t>Implementing </a:t>
            </a:r>
            <a:r>
              <a:rPr lang="en-US" dirty="0" err="1">
                <a:hlinkClick r:id="rId6"/>
              </a:rPr>
              <a:t>mTLS</a:t>
            </a:r>
            <a:r>
              <a:rPr lang="en-US" dirty="0">
                <a:hlinkClick r:id="rId6"/>
              </a:rPr>
              <a:t> Between Two Apps Using ASP.NET - Microsoft Q&amp;A</a:t>
            </a:r>
            <a:endParaRPr lang="en-US" kern="0" spc="-80" dirty="0">
              <a:solidFill>
                <a:schemeClr val="accent2"/>
              </a:solidFill>
              <a:hlinkClick r:id="rId5"/>
            </a:endParaRPr>
          </a:p>
        </p:txBody>
      </p:sp>
      <p:grpSp>
        <p:nvGrpSpPr>
          <p:cNvPr id="7" name="Group 6">
            <a:extLst>
              <a:ext uri="{FF2B5EF4-FFF2-40B4-BE49-F238E27FC236}">
                <a16:creationId xmlns:a16="http://schemas.microsoft.com/office/drawing/2014/main" id="{6AF084D1-0847-4BBD-4C7A-87A8F0375F2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6AD7287-44DB-E2CD-A149-D90CDC0DF20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D3808AA-F01C-437E-6904-D1DAFD2EBD2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517056899"/>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D0A93-0997-9340-BEED-2B51C0357BB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3C780B6-E286-928D-534B-26698359F88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BF35FE9-0EA2-BEBA-AE26-830CB6B42FF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C72456F-32BE-868C-2C4C-7A09962A369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5E612FB-9790-99AB-D6D3-51B1739B07E2}"/>
              </a:ext>
            </a:extLst>
          </p:cNvPr>
          <p:cNvSpPr txBox="1">
            <a:spLocks/>
          </p:cNvSpPr>
          <p:nvPr/>
        </p:nvSpPr>
        <p:spPr>
          <a:xfrm>
            <a:off x="137369" y="721360"/>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355600" marR="5080" indent="-342900">
              <a:buAutoNum type="arabicPeriod"/>
            </a:pPr>
            <a:r>
              <a:rPr lang="en-US" sz="1400" kern="0" spc="-80" dirty="0">
                <a:solidFill>
                  <a:schemeClr val="accent2"/>
                </a:solidFill>
              </a:rPr>
              <a:t>UI Login (Web)</a:t>
            </a:r>
          </a:p>
          <a:p>
            <a:pPr marL="12700" marR="5080"/>
            <a:r>
              <a:rPr lang="en-US" sz="1400" kern="0" spc="-80" dirty="0">
                <a:solidFill>
                  <a:schemeClr val="accent2"/>
                </a:solidFill>
              </a:rPr>
              <a:t>Authentication</a:t>
            </a:r>
          </a:p>
          <a:p>
            <a:pPr marL="12700" marR="5080"/>
            <a:r>
              <a:rPr lang="en-US" sz="1400" kern="0" spc="-80" dirty="0">
                <a:solidFill>
                  <a:schemeClr val="accent2"/>
                </a:solidFill>
              </a:rPr>
              <a:t>      Recommended</a:t>
            </a:r>
          </a:p>
          <a:p>
            <a:pPr marL="12700" marR="5080"/>
            <a:r>
              <a:rPr lang="en-US" sz="1400" kern="0" spc="-80" dirty="0">
                <a:solidFill>
                  <a:schemeClr val="accent6"/>
                </a:solidFill>
              </a:rPr>
              <a:t>            OIDC (OpenID Connect) on top of OAuth 2.1</a:t>
            </a:r>
          </a:p>
          <a:p>
            <a:pPr marL="12700" marR="5080"/>
            <a:r>
              <a:rPr lang="en-US" sz="1400" kern="0" spc="-80" dirty="0">
                <a:solidFill>
                  <a:schemeClr val="accent6"/>
                </a:solidFill>
              </a:rPr>
              <a:t>            Authorization Code Flow with PKCE</a:t>
            </a:r>
          </a:p>
          <a:p>
            <a:pPr marL="12700" marR="5080"/>
            <a:r>
              <a:rPr lang="en-US" sz="1400" kern="0" spc="-80" dirty="0">
                <a:solidFill>
                  <a:schemeClr val="accent6"/>
                </a:solidFill>
              </a:rPr>
              <a:t>            Social/Enterprise(OIDC/SAML) IdPs: Azure AD, Auth0, Okta, </a:t>
            </a:r>
            <a:r>
              <a:rPr lang="en-US" sz="1400" kern="0" spc="-80" dirty="0" err="1">
                <a:solidFill>
                  <a:schemeClr val="accent6"/>
                </a:solidFill>
              </a:rPr>
              <a:t>Keycloak</a:t>
            </a:r>
            <a:endParaRPr lang="en-US" sz="1400" kern="0" spc="-80" dirty="0">
              <a:solidFill>
                <a:schemeClr val="accent6"/>
              </a:solidFill>
            </a:endParaRPr>
          </a:p>
          <a:p>
            <a:pPr marL="12700" marR="5080"/>
            <a:r>
              <a:rPr lang="en-US" sz="1400" kern="0" spc="-80" dirty="0">
                <a:solidFill>
                  <a:schemeClr val="accent2"/>
                </a:solidFill>
              </a:rPr>
              <a:t>      MFA</a:t>
            </a:r>
          </a:p>
          <a:p>
            <a:pPr marL="12700" marR="5080"/>
            <a:r>
              <a:rPr lang="en-US" sz="1400" kern="0" spc="-80" dirty="0">
                <a:solidFill>
                  <a:schemeClr val="accent6"/>
                </a:solidFill>
              </a:rPr>
              <a:t>            OTP, TOTP (RFC 6238), </a:t>
            </a:r>
            <a:r>
              <a:rPr lang="en-US" sz="1400" kern="0" spc="-80" dirty="0" err="1">
                <a:solidFill>
                  <a:schemeClr val="accent6"/>
                </a:solidFill>
              </a:rPr>
              <a:t>WebAuthn</a:t>
            </a:r>
            <a:r>
              <a:rPr lang="en-US" sz="1400" kern="0" spc="-80" dirty="0">
                <a:solidFill>
                  <a:schemeClr val="accent6"/>
                </a:solidFill>
              </a:rPr>
              <a:t> (FIDO2), Push-based, </a:t>
            </a:r>
            <a:r>
              <a:rPr lang="en-US" sz="1400" kern="0" spc="-80" dirty="0" err="1">
                <a:solidFill>
                  <a:schemeClr val="accent6"/>
                </a:solidFill>
              </a:rPr>
              <a:t>WebAuthn</a:t>
            </a:r>
            <a:r>
              <a:rPr lang="en-US" sz="1400" kern="0" spc="-80" dirty="0">
                <a:solidFill>
                  <a:schemeClr val="accent6"/>
                </a:solidFill>
              </a:rPr>
              <a:t> MFA</a:t>
            </a:r>
          </a:p>
          <a:p>
            <a:pPr marL="12700" marR="5080"/>
            <a:r>
              <a:rPr lang="en-US" sz="1400" kern="0" spc="-80" dirty="0">
                <a:solidFill>
                  <a:schemeClr val="accent2"/>
                </a:solidFill>
              </a:rPr>
              <a:t>      Password handling</a:t>
            </a:r>
          </a:p>
          <a:p>
            <a:pPr marL="12700" marR="5080"/>
            <a:r>
              <a:rPr lang="en-US" sz="1400" kern="0" spc="-80" dirty="0">
                <a:solidFill>
                  <a:schemeClr val="accent6"/>
                </a:solidFill>
              </a:rPr>
              <a:t>            Hash with Argon2id / </a:t>
            </a:r>
            <a:r>
              <a:rPr lang="en-US" sz="1400" kern="0" spc="-80" dirty="0" err="1">
                <a:solidFill>
                  <a:schemeClr val="accent6"/>
                </a:solidFill>
              </a:rPr>
              <a:t>bcrypt</a:t>
            </a:r>
            <a:endParaRPr lang="en-US" sz="1400" kern="0" spc="-80" dirty="0">
              <a:solidFill>
                <a:schemeClr val="accent6"/>
              </a:solidFill>
            </a:endParaRPr>
          </a:p>
          <a:p>
            <a:pPr marL="12700" marR="5080"/>
            <a:r>
              <a:rPr lang="en-US" sz="1400" kern="0" spc="-80" dirty="0">
                <a:solidFill>
                  <a:schemeClr val="accent6"/>
                </a:solidFill>
              </a:rPr>
              <a:t>            Never store plaintext or reversible encryption</a:t>
            </a:r>
          </a:p>
          <a:p>
            <a:pPr marL="12700" marR="5080"/>
            <a:endParaRPr lang="en-US" sz="1400" kern="0" spc="-80" dirty="0">
              <a:solidFill>
                <a:schemeClr val="accent6"/>
              </a:solidFill>
            </a:endParaRPr>
          </a:p>
          <a:p>
            <a:pPr marL="12700" marR="5080"/>
            <a:r>
              <a:rPr lang="en-US" sz="1400" kern="0" spc="-80" dirty="0">
                <a:solidFill>
                  <a:schemeClr val="accent2"/>
                </a:solidFill>
              </a:rPr>
              <a:t>Patterns</a:t>
            </a:r>
          </a:p>
          <a:p>
            <a:pPr marL="12700" marR="5080"/>
            <a:r>
              <a:rPr lang="en-US" sz="1400" kern="0" spc="-80" dirty="0">
                <a:solidFill>
                  <a:schemeClr val="accent6"/>
                </a:solidFill>
              </a:rPr>
              <a:t>OIDC Authorization Code + PKCE</a:t>
            </a:r>
          </a:p>
          <a:p>
            <a:pPr marL="12700" marR="5080"/>
            <a:r>
              <a:rPr lang="en-US" sz="1400" kern="0" spc="-80" dirty="0" err="1">
                <a:solidFill>
                  <a:schemeClr val="accent6"/>
                </a:solidFill>
              </a:rPr>
              <a:t>Passwordless</a:t>
            </a:r>
            <a:r>
              <a:rPr lang="en-US" sz="1400" kern="0" spc="-80" dirty="0">
                <a:solidFill>
                  <a:schemeClr val="accent6"/>
                </a:solidFill>
              </a:rPr>
              <a:t> (magic link, </a:t>
            </a:r>
            <a:r>
              <a:rPr lang="en-US" sz="1400" kern="0" spc="-80" dirty="0" err="1">
                <a:solidFill>
                  <a:schemeClr val="accent6"/>
                </a:solidFill>
              </a:rPr>
              <a:t>WebAuthn</a:t>
            </a:r>
            <a:r>
              <a:rPr lang="en-US" sz="1400" kern="0" spc="-80" dirty="0">
                <a:solidFill>
                  <a:schemeClr val="accent6"/>
                </a:solidFill>
              </a:rPr>
              <a:t>)</a:t>
            </a:r>
          </a:p>
          <a:p>
            <a:pPr marL="12700" marR="5080"/>
            <a:endParaRPr lang="en-US" sz="1400" kern="0" spc="-80" dirty="0">
              <a:solidFill>
                <a:schemeClr val="accent6"/>
              </a:solidFill>
            </a:endParaRPr>
          </a:p>
          <a:p>
            <a:pPr marL="12700" marR="5080"/>
            <a:r>
              <a:rPr lang="en-US" sz="1400" kern="0" spc="-80" dirty="0">
                <a:solidFill>
                  <a:schemeClr val="accent2"/>
                </a:solidFill>
              </a:rPr>
              <a:t>Avoid</a:t>
            </a:r>
          </a:p>
          <a:p>
            <a:pPr marL="12700" marR="5080"/>
            <a:r>
              <a:rPr lang="en-US" sz="1400" kern="0" spc="-80" dirty="0">
                <a:solidFill>
                  <a:schemeClr val="accent6"/>
                </a:solidFill>
              </a:rPr>
              <a:t>Rolling your own login</a:t>
            </a:r>
          </a:p>
          <a:p>
            <a:pPr marL="12700" marR="5080"/>
            <a:r>
              <a:rPr lang="en-US" sz="1400" kern="0" spc="-80" dirty="0">
                <a:solidFill>
                  <a:schemeClr val="accent6"/>
                </a:solidFill>
              </a:rPr>
              <a:t>Password-only auth</a:t>
            </a:r>
          </a:p>
          <a:p>
            <a:pPr marL="12700" marR="5080"/>
            <a:r>
              <a:rPr lang="en-US" sz="1400" kern="0" spc="-80" dirty="0">
                <a:solidFill>
                  <a:schemeClr val="accent6"/>
                </a:solidFill>
              </a:rPr>
              <a:t>JWT stored in </a:t>
            </a:r>
            <a:r>
              <a:rPr lang="en-US" sz="1400" kern="0" spc="-80" dirty="0" err="1">
                <a:solidFill>
                  <a:schemeClr val="accent6"/>
                </a:solidFill>
              </a:rPr>
              <a:t>localStorage</a:t>
            </a:r>
            <a:endParaRPr lang="en-US" sz="1400" kern="0" spc="-80" dirty="0">
              <a:solidFill>
                <a:schemeClr val="accent6"/>
              </a:solidFill>
            </a:endParaRP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84C9DDD6-A415-E418-9D30-A825DC95339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410F8DF0-D13E-DF5C-8C49-E09B4EB8AB2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3B2C083-719B-9BA1-6D68-A1DF15A3AC3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596580462"/>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57941-816E-D77E-7ADB-FED35DC3DC3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81CC46A-9D73-10D0-EBAC-E924A25B0BE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071DD96-513D-3DA3-59D6-3F8EC945B11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2CDDCB7-6A7B-AF8E-C656-4EBB6C598A1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EDAB8EB-1986-3E74-3B20-ED656A4DD58F}"/>
              </a:ext>
            </a:extLst>
          </p:cNvPr>
          <p:cNvSpPr txBox="1">
            <a:spLocks/>
          </p:cNvSpPr>
          <p:nvPr/>
        </p:nvSpPr>
        <p:spPr>
          <a:xfrm>
            <a:off x="76200" y="79504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1. UI Login (Web)</a:t>
            </a:r>
          </a:p>
          <a:p>
            <a:pPr marL="12700" marR="5080"/>
            <a:r>
              <a:rPr lang="en-US" sz="1400" kern="0" spc="-80" dirty="0">
                <a:solidFill>
                  <a:schemeClr val="accent2"/>
                </a:solidFill>
              </a:rPr>
              <a:t>Authorization</a:t>
            </a:r>
          </a:p>
          <a:p>
            <a:pPr marL="12700" marR="5080"/>
            <a:r>
              <a:rPr lang="en-US" sz="1400" kern="0" spc="-80" dirty="0">
                <a:solidFill>
                  <a:schemeClr val="accent6"/>
                </a:solidFill>
              </a:rPr>
              <a:t>Minimal authorization at login</a:t>
            </a:r>
          </a:p>
          <a:p>
            <a:pPr marL="12700" marR="5080"/>
            <a:r>
              <a:rPr lang="en-US" sz="1400" kern="0" spc="-80" dirty="0">
                <a:solidFill>
                  <a:schemeClr val="accent6"/>
                </a:solidFill>
              </a:rPr>
              <a:t>Login establishes identity, not permissions</a:t>
            </a:r>
          </a:p>
          <a:p>
            <a:pPr marL="12700" marR="5080"/>
            <a:r>
              <a:rPr lang="en-US" sz="1400" kern="0" spc="-80" dirty="0">
                <a:solidFill>
                  <a:schemeClr val="accent2"/>
                </a:solidFill>
              </a:rPr>
              <a:t>Attach:</a:t>
            </a:r>
          </a:p>
          <a:p>
            <a:pPr marL="12700" marR="5080"/>
            <a:r>
              <a:rPr lang="en-US" sz="1400" kern="0" spc="-80" dirty="0" err="1">
                <a:solidFill>
                  <a:schemeClr val="accent6"/>
                </a:solidFill>
              </a:rPr>
              <a:t>user_id</a:t>
            </a:r>
            <a:endParaRPr lang="en-US" sz="1400" kern="0" spc="-80" dirty="0">
              <a:solidFill>
                <a:schemeClr val="accent6"/>
              </a:solidFill>
            </a:endParaRPr>
          </a:p>
          <a:p>
            <a:pPr marL="12700" marR="5080"/>
            <a:r>
              <a:rPr lang="en-US" sz="1400" kern="0" spc="-80" dirty="0" err="1">
                <a:solidFill>
                  <a:schemeClr val="accent6"/>
                </a:solidFill>
              </a:rPr>
              <a:t>tenant_id</a:t>
            </a:r>
            <a:endParaRPr lang="en-US" sz="1400" kern="0" spc="-80" dirty="0">
              <a:solidFill>
                <a:schemeClr val="accent6"/>
              </a:solidFill>
            </a:endParaRPr>
          </a:p>
          <a:p>
            <a:pPr marL="12700" marR="5080"/>
            <a:r>
              <a:rPr lang="en-US" sz="1400" kern="0" spc="-80" dirty="0" err="1">
                <a:solidFill>
                  <a:schemeClr val="accent6"/>
                </a:solidFill>
              </a:rPr>
              <a:t>auth_time</a:t>
            </a:r>
            <a:endParaRPr lang="en-US" sz="1400" kern="0" spc="-80" dirty="0">
              <a:solidFill>
                <a:schemeClr val="accent6"/>
              </a:solidFill>
            </a:endParaRPr>
          </a:p>
          <a:p>
            <a:pPr marL="12700" marR="5080"/>
            <a:r>
              <a:rPr lang="en-US" sz="1400" kern="0" spc="-80" dirty="0">
                <a:solidFill>
                  <a:schemeClr val="accent6"/>
                </a:solidFill>
              </a:rPr>
              <a:t>Fine-grained authorization happens later (page/API level)</a:t>
            </a:r>
          </a:p>
          <a:p>
            <a:pPr marL="12700" marR="5080"/>
            <a:r>
              <a:rPr lang="en-US" sz="1400" kern="0" spc="-80" dirty="0">
                <a:solidFill>
                  <a:schemeClr val="accent2"/>
                </a:solidFill>
              </a:rPr>
              <a:t>Gotcha</a:t>
            </a:r>
          </a:p>
          <a:p>
            <a:pPr marL="12700" marR="5080"/>
            <a:r>
              <a:rPr lang="en-US" sz="1400" kern="0" spc="-80" dirty="0">
                <a:solidFill>
                  <a:schemeClr val="accent6"/>
                </a:solidFill>
              </a:rPr>
              <a:t>Trying to enforce role-based logic during login</a:t>
            </a:r>
          </a:p>
          <a:p>
            <a:pPr marL="12700" marR="5080"/>
            <a:endParaRPr lang="en-US" sz="1400" kern="0" spc="-80" dirty="0">
              <a:solidFill>
                <a:schemeClr val="accent6"/>
              </a:solidFill>
            </a:endParaRPr>
          </a:p>
          <a:p>
            <a:pPr marL="12700" marR="5080"/>
            <a:r>
              <a:rPr lang="en-US" sz="1400" kern="0" spc="-80" dirty="0">
                <a:solidFill>
                  <a:schemeClr val="accent2"/>
                </a:solidFill>
              </a:rPr>
              <a:t>Accounting (Audit)</a:t>
            </a:r>
          </a:p>
          <a:p>
            <a:pPr marL="12700" marR="5080"/>
            <a:r>
              <a:rPr lang="en-US" sz="1400" kern="0" spc="-80" dirty="0">
                <a:solidFill>
                  <a:schemeClr val="accent6"/>
                </a:solidFill>
              </a:rPr>
              <a:t>Login success/failure</a:t>
            </a:r>
          </a:p>
          <a:p>
            <a:pPr marL="12700" marR="5080"/>
            <a:r>
              <a:rPr lang="en-US" sz="1400" kern="0" spc="-80" dirty="0">
                <a:solidFill>
                  <a:schemeClr val="accent6"/>
                </a:solidFill>
              </a:rPr>
              <a:t>MFA challenge outcomes</a:t>
            </a:r>
          </a:p>
          <a:p>
            <a:pPr marL="12700" marR="5080"/>
            <a:r>
              <a:rPr lang="en-US" sz="1400" kern="0" spc="-80" dirty="0">
                <a:solidFill>
                  <a:schemeClr val="accent6"/>
                </a:solidFill>
              </a:rPr>
              <a:t>IP, device fingerprint</a:t>
            </a:r>
          </a:p>
          <a:p>
            <a:pPr marL="12700" marR="5080"/>
            <a:r>
              <a:rPr lang="en-US" sz="1400" kern="0" spc="-80" dirty="0">
                <a:solidFill>
                  <a:schemeClr val="accent2"/>
                </a:solidFill>
              </a:rPr>
              <a:t>Gotchas</a:t>
            </a:r>
          </a:p>
          <a:p>
            <a:pPr marL="12700" marR="5080"/>
            <a:r>
              <a:rPr lang="en-US" sz="1400" kern="0" spc="-80" dirty="0">
                <a:solidFill>
                  <a:schemeClr val="accent6"/>
                </a:solidFill>
              </a:rPr>
              <a:t>Logging passwords or OTPs</a:t>
            </a:r>
          </a:p>
          <a:p>
            <a:pPr marL="12700" marR="5080"/>
            <a:r>
              <a:rPr lang="en-US" sz="1400" kern="0" spc="-80" dirty="0">
                <a:solidFill>
                  <a:schemeClr val="accent6"/>
                </a:solidFill>
              </a:rPr>
              <a:t>Not separating security logs from application logs</a:t>
            </a:r>
          </a:p>
        </p:txBody>
      </p:sp>
      <p:grpSp>
        <p:nvGrpSpPr>
          <p:cNvPr id="7" name="Group 6">
            <a:extLst>
              <a:ext uri="{FF2B5EF4-FFF2-40B4-BE49-F238E27FC236}">
                <a16:creationId xmlns:a16="http://schemas.microsoft.com/office/drawing/2014/main" id="{C32BC865-201A-3FC9-2350-42CE5E1FB4B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9CF3E97C-C14D-DC6C-710B-3E3A8B7BECC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EEB956A-0FFF-E93B-66A1-5A75F9D3977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829362778"/>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0C6B0-8B52-F2F8-8A22-F3E273FCEF9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3C9BDD4-0EE9-C3D9-C502-243A01BE94A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21723AF-AAAD-704F-89CA-35D2BD9AD0F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F5DACABB-CB7C-8E16-9D44-6963372B336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D01B946-C9E7-70BF-9ED8-0C50BC3884D8}"/>
              </a:ext>
            </a:extLst>
          </p:cNvPr>
          <p:cNvSpPr txBox="1">
            <a:spLocks/>
          </p:cNvSpPr>
          <p:nvPr/>
        </p:nvSpPr>
        <p:spPr>
          <a:xfrm>
            <a:off x="76200" y="755571"/>
            <a:ext cx="8624937" cy="38164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1. UI Login (Web)</a:t>
            </a:r>
          </a:p>
          <a:p>
            <a:pPr marL="12700" marR="5080"/>
            <a:r>
              <a:rPr lang="en-US" sz="1400" kern="0" spc="-80" dirty="0">
                <a:solidFill>
                  <a:schemeClr val="accent2"/>
                </a:solidFill>
              </a:rPr>
              <a:t>Confidentiality</a:t>
            </a:r>
          </a:p>
          <a:p>
            <a:pPr marL="12700" marR="5080"/>
            <a:r>
              <a:rPr lang="en-US" sz="1400" kern="0" spc="-80" dirty="0">
                <a:solidFill>
                  <a:schemeClr val="accent6"/>
                </a:solidFill>
              </a:rPr>
              <a:t>Credentials (passwords, OTPs, tokens) must never leak</a:t>
            </a:r>
          </a:p>
          <a:p>
            <a:pPr marL="12700" marR="5080"/>
            <a:r>
              <a:rPr lang="en-US" sz="1400" kern="0" spc="-80" dirty="0">
                <a:solidFill>
                  <a:schemeClr val="accent6"/>
                </a:solidFill>
              </a:rPr>
              <a:t>User identifiers (email/phone) can leak metadata if not protected</a:t>
            </a:r>
          </a:p>
          <a:p>
            <a:pPr marL="12700" marR="5080"/>
            <a:r>
              <a:rPr lang="en-US" sz="1400" kern="0" spc="-80" dirty="0">
                <a:solidFill>
                  <a:schemeClr val="accent2"/>
                </a:solidFill>
              </a:rPr>
              <a:t>Techniques</a:t>
            </a:r>
          </a:p>
          <a:p>
            <a:pPr marL="12700" marR="5080"/>
            <a:r>
              <a:rPr lang="en-US" sz="1400" kern="0" spc="-80" dirty="0">
                <a:solidFill>
                  <a:schemeClr val="accent6"/>
                </a:solidFill>
              </a:rPr>
              <a:t>HTTPS + HSTS(TLS 1.2+ (prefer 1.3) end-to-end)</a:t>
            </a:r>
          </a:p>
          <a:p>
            <a:pPr marL="12700" marR="5080"/>
            <a:r>
              <a:rPr lang="en-US" sz="1400" kern="0" spc="-80" dirty="0">
                <a:solidFill>
                  <a:schemeClr val="accent6"/>
                </a:solidFill>
              </a:rPr>
              <a:t>Password field masking (UI-level only, not security by itself)</a:t>
            </a:r>
          </a:p>
          <a:p>
            <a:pPr marL="12700" marR="5080"/>
            <a:r>
              <a:rPr lang="en-US" sz="1400" kern="0" spc="-80" dirty="0">
                <a:solidFill>
                  <a:schemeClr val="accent6"/>
                </a:solidFill>
              </a:rPr>
              <a:t>CSP to prevent credential exfiltration</a:t>
            </a:r>
          </a:p>
          <a:p>
            <a:pPr marL="12700" marR="5080"/>
            <a:r>
              <a:rPr lang="en-US" sz="1400" kern="0" spc="-80" dirty="0">
                <a:solidFill>
                  <a:schemeClr val="accent6"/>
                </a:solidFill>
              </a:rPr>
              <a:t>Disable autocomplete where appropriate (but beware UX tradeoff)</a:t>
            </a:r>
          </a:p>
          <a:p>
            <a:pPr marL="12700" marR="5080"/>
            <a:r>
              <a:rPr lang="en-US" sz="1400" kern="0" spc="-80" dirty="0">
                <a:solidFill>
                  <a:schemeClr val="accent6"/>
                </a:solidFill>
              </a:rPr>
              <a:t>Secure cookies (</a:t>
            </a:r>
            <a:r>
              <a:rPr lang="en-US" sz="1400" kern="0" spc="-80" dirty="0" err="1">
                <a:solidFill>
                  <a:schemeClr val="accent6"/>
                </a:solidFill>
              </a:rPr>
              <a:t>HttpOnly</a:t>
            </a:r>
            <a:r>
              <a:rPr lang="en-US" sz="1400" kern="0" spc="-80" dirty="0">
                <a:solidFill>
                  <a:schemeClr val="accent6"/>
                </a:solidFill>
              </a:rPr>
              <a:t>, Secure, </a:t>
            </a:r>
            <a:r>
              <a:rPr lang="en-US" sz="1400" kern="0" spc="-80" dirty="0" err="1">
                <a:solidFill>
                  <a:schemeClr val="accent6"/>
                </a:solidFill>
              </a:rPr>
              <a:t>SameSite</a:t>
            </a:r>
            <a:r>
              <a:rPr lang="en-US" sz="1400" kern="0" spc="-80" dirty="0">
                <a:solidFill>
                  <a:schemeClr val="accent6"/>
                </a:solidFill>
              </a:rPr>
              <a:t>=Lax/Strict)</a:t>
            </a:r>
          </a:p>
          <a:p>
            <a:pPr marL="12700" marR="5080"/>
            <a:r>
              <a:rPr lang="en-US" sz="1400" kern="0" spc="-80" dirty="0">
                <a:solidFill>
                  <a:schemeClr val="accent2"/>
                </a:solidFill>
              </a:rPr>
              <a:t>Gotchas</a:t>
            </a:r>
          </a:p>
          <a:p>
            <a:pPr marL="12700" marR="5080"/>
            <a:r>
              <a:rPr lang="en-US" sz="1400" kern="0" spc="-80" dirty="0">
                <a:solidFill>
                  <a:schemeClr val="accent6"/>
                </a:solidFill>
              </a:rPr>
              <a:t>Logging form payloads at edge/CDN</a:t>
            </a:r>
          </a:p>
          <a:p>
            <a:pPr marL="12700" marR="5080"/>
            <a:r>
              <a:rPr lang="en-US" sz="1400" kern="0" spc="-80" dirty="0">
                <a:solidFill>
                  <a:schemeClr val="accent6"/>
                </a:solidFill>
              </a:rPr>
              <a:t>Third-party scripts (analytics, chat widgets) reading DOM</a:t>
            </a:r>
          </a:p>
          <a:p>
            <a:pPr marL="12700" marR="5080"/>
            <a:r>
              <a:rPr lang="en-US" sz="1400" kern="0" spc="-80" dirty="0">
                <a:solidFill>
                  <a:schemeClr val="accent6"/>
                </a:solidFill>
              </a:rPr>
              <a:t>Browser extensions stealing credentials</a:t>
            </a:r>
          </a:p>
          <a:p>
            <a:pPr marL="12700" marR="5080"/>
            <a:endParaRPr lang="en-US" sz="1400" kern="0" spc="-80" dirty="0">
              <a:solidFill>
                <a:schemeClr val="accent6"/>
              </a:solidFill>
            </a:endParaRP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CC3D9F75-F2EB-18FF-9907-178DC93F13F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39EF94C-E27D-0D10-E866-54654655118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C6BD3E1-C71A-BC07-74EC-AC24DCDF6AE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002561087"/>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B80D6-A2F8-42F7-C6C2-50BC8B1B805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3D3CFD2-E673-0117-2A93-0B163BE3D43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5E0254D-50A4-E5D2-0271-2A8E68A3242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5EEBD38-9845-BFB5-BCBB-1764D025847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52169F0-CF68-F9AB-6980-F71B7A12D826}"/>
              </a:ext>
            </a:extLst>
          </p:cNvPr>
          <p:cNvSpPr txBox="1">
            <a:spLocks/>
          </p:cNvSpPr>
          <p:nvPr/>
        </p:nvSpPr>
        <p:spPr>
          <a:xfrm>
            <a:off x="76200" y="781883"/>
            <a:ext cx="8624937" cy="42473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1. UI Login (Web)</a:t>
            </a:r>
          </a:p>
          <a:p>
            <a:pPr marL="12700" marR="5080"/>
            <a:r>
              <a:rPr lang="en-US" sz="1400" kern="0" spc="-80" dirty="0">
                <a:solidFill>
                  <a:schemeClr val="accent2"/>
                </a:solidFill>
              </a:rPr>
              <a:t>Integrity</a:t>
            </a:r>
          </a:p>
          <a:p>
            <a:pPr marL="12700" marR="5080"/>
            <a:r>
              <a:rPr lang="en-US" sz="1400" kern="0" spc="-80" dirty="0">
                <a:solidFill>
                  <a:schemeClr val="accent6"/>
                </a:solidFill>
              </a:rPr>
              <a:t>Login form must not be tampered</a:t>
            </a:r>
          </a:p>
          <a:p>
            <a:pPr marL="12700" marR="5080"/>
            <a:r>
              <a:rPr lang="en-US" sz="1400" kern="0" spc="-80" dirty="0">
                <a:solidFill>
                  <a:schemeClr val="accent6"/>
                </a:solidFill>
              </a:rPr>
              <a:t>Auth request must not be altered</a:t>
            </a:r>
          </a:p>
          <a:p>
            <a:pPr marL="12700" marR="5080"/>
            <a:r>
              <a:rPr lang="en-US" sz="1400" kern="0" spc="-80" dirty="0">
                <a:solidFill>
                  <a:schemeClr val="accent2"/>
                </a:solidFill>
              </a:rPr>
              <a:t>Techniques</a:t>
            </a:r>
          </a:p>
          <a:p>
            <a:pPr marL="12700" marR="5080"/>
            <a:r>
              <a:rPr lang="en-US" sz="1400" kern="0" spc="-80" dirty="0">
                <a:solidFill>
                  <a:schemeClr val="accent6"/>
                </a:solidFill>
              </a:rPr>
              <a:t>TLS</a:t>
            </a:r>
          </a:p>
          <a:p>
            <a:pPr marL="12700" marR="5080"/>
            <a:r>
              <a:rPr lang="en-US" sz="1400" kern="0" spc="-80" dirty="0">
                <a:solidFill>
                  <a:schemeClr val="accent6"/>
                </a:solidFill>
              </a:rPr>
              <a:t>CSRF tokens (especially for cookie-based auth)</a:t>
            </a:r>
          </a:p>
          <a:p>
            <a:pPr marL="12700" marR="5080"/>
            <a:r>
              <a:rPr lang="en-US" sz="1400" kern="0" spc="-80" dirty="0">
                <a:solidFill>
                  <a:schemeClr val="accent6"/>
                </a:solidFill>
              </a:rPr>
              <a:t>Signed requests (rare for browser login, common for SPAs with PKCE)</a:t>
            </a:r>
          </a:p>
          <a:p>
            <a:pPr marL="12700" marR="5080"/>
            <a:r>
              <a:rPr lang="en-US" sz="1400" kern="0" spc="-80" dirty="0" err="1">
                <a:solidFill>
                  <a:schemeClr val="accent6"/>
                </a:solidFill>
              </a:rPr>
              <a:t>SameSite</a:t>
            </a:r>
            <a:r>
              <a:rPr lang="en-US" sz="1400" kern="0" spc="-80" dirty="0">
                <a:solidFill>
                  <a:schemeClr val="accent6"/>
                </a:solidFill>
              </a:rPr>
              <a:t> cookies</a:t>
            </a:r>
          </a:p>
          <a:p>
            <a:pPr marL="12700" marR="5080"/>
            <a:r>
              <a:rPr lang="en-US" sz="1400" kern="0" spc="-80" dirty="0">
                <a:solidFill>
                  <a:schemeClr val="accent6"/>
                </a:solidFill>
              </a:rPr>
              <a:t>Anti-</a:t>
            </a:r>
            <a:r>
              <a:rPr lang="en-US" sz="1400" kern="0" spc="-80" dirty="0" err="1">
                <a:solidFill>
                  <a:schemeClr val="accent6"/>
                </a:solidFill>
              </a:rPr>
              <a:t>bruteforce</a:t>
            </a:r>
            <a:endParaRPr lang="en-US" sz="1400" kern="0" spc="-80" dirty="0">
              <a:solidFill>
                <a:schemeClr val="accent6"/>
              </a:solidFill>
            </a:endParaRPr>
          </a:p>
          <a:p>
            <a:pPr marL="12700" marR="5080"/>
            <a:r>
              <a:rPr lang="en-US" sz="1400" kern="0" spc="-80" dirty="0">
                <a:solidFill>
                  <a:schemeClr val="accent6"/>
                </a:solidFill>
              </a:rPr>
              <a:t>Signed ID tokens (JWT with RS256 / ES256)</a:t>
            </a:r>
          </a:p>
          <a:p>
            <a:pPr marL="12700" marR="5080"/>
            <a:r>
              <a:rPr lang="en-US" sz="1400" kern="0" spc="-80" dirty="0">
                <a:solidFill>
                  <a:schemeClr val="accent2"/>
                </a:solidFill>
              </a:rPr>
              <a:t>Gotchas</a:t>
            </a:r>
          </a:p>
          <a:p>
            <a:pPr marL="12700" marR="5080"/>
            <a:r>
              <a:rPr lang="en-US" sz="1400" kern="0" spc="-80" dirty="0">
                <a:solidFill>
                  <a:schemeClr val="accent6"/>
                </a:solidFill>
              </a:rPr>
              <a:t>CSRF ignored because “it’s login” (login CSRF exists)</a:t>
            </a:r>
          </a:p>
          <a:p>
            <a:pPr marL="12700" marR="5080"/>
            <a:r>
              <a:rPr lang="en-US" sz="1400" kern="0" spc="-80" dirty="0">
                <a:solidFill>
                  <a:schemeClr val="accent6"/>
                </a:solidFill>
              </a:rPr>
              <a:t>Replayed login responses (no nonce/state)</a:t>
            </a:r>
          </a:p>
          <a:p>
            <a:pPr marL="12700" marR="5080"/>
            <a:endParaRPr lang="en-US" sz="1400" kern="0" spc="-80" dirty="0">
              <a:solidFill>
                <a:schemeClr val="accent2"/>
              </a:solidFill>
            </a:endParaRPr>
          </a:p>
          <a:p>
            <a:pPr marL="12700" marR="5080"/>
            <a:endParaRPr lang="en-US" sz="1400" kern="0" spc="-80" dirty="0">
              <a:solidFill>
                <a:schemeClr val="accent6"/>
              </a:solidFill>
            </a:endParaRPr>
          </a:p>
          <a:p>
            <a:pPr marL="12700" marR="5080"/>
            <a:endParaRPr lang="en-US" sz="1400" kern="0" spc="-80" dirty="0">
              <a:solidFill>
                <a:schemeClr val="accent6"/>
              </a:solidFill>
            </a:endParaRP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6F3B5BD6-BD79-1497-7607-75703909ECF2}"/>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F05AC76-281E-434C-7EA5-34EFB3BACA1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E604694-2796-AFD5-B0FD-DF82299FCA5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246782915"/>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418408-06E9-50BD-24CB-30289994F1E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5F0C5A0-1892-C26D-3C7C-282A13BD19C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0450C8B-D9C2-BCF7-B8CB-24DFC3D0B5A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4CB1F30-C86C-B593-EEC0-8C6082A2E3F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9F8D216-CBA4-70C1-064C-572851AB71EA}"/>
              </a:ext>
            </a:extLst>
          </p:cNvPr>
          <p:cNvSpPr txBox="1">
            <a:spLocks/>
          </p:cNvSpPr>
          <p:nvPr/>
        </p:nvSpPr>
        <p:spPr>
          <a:xfrm>
            <a:off x="76200" y="742414"/>
            <a:ext cx="8624937" cy="360098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1. UI Login (Web)</a:t>
            </a:r>
          </a:p>
          <a:p>
            <a:pPr marL="12700" marR="5080"/>
            <a:r>
              <a:rPr lang="en-US" sz="1400" kern="0" spc="-80" dirty="0">
                <a:solidFill>
                  <a:schemeClr val="accent2"/>
                </a:solidFill>
              </a:rPr>
              <a:t>Availability</a:t>
            </a:r>
          </a:p>
          <a:p>
            <a:pPr marL="12700" marR="5080"/>
            <a:r>
              <a:rPr lang="en-US" sz="1400" kern="0" spc="-80" dirty="0">
                <a:solidFill>
                  <a:schemeClr val="accent6"/>
                </a:solidFill>
              </a:rPr>
              <a:t>Login is the highest-value DoS target</a:t>
            </a:r>
          </a:p>
          <a:p>
            <a:pPr marL="12700" marR="5080"/>
            <a:r>
              <a:rPr lang="en-US" sz="1400" kern="0" spc="-80" dirty="0">
                <a:solidFill>
                  <a:schemeClr val="accent2"/>
                </a:solidFill>
              </a:rPr>
              <a:t>Techniques</a:t>
            </a:r>
          </a:p>
          <a:p>
            <a:pPr marL="12700" marR="5080"/>
            <a:r>
              <a:rPr lang="en-US" sz="1400" kern="0" spc="-80" dirty="0">
                <a:solidFill>
                  <a:schemeClr val="accent6"/>
                </a:solidFill>
              </a:rPr>
              <a:t>Rate limiting</a:t>
            </a:r>
          </a:p>
          <a:p>
            <a:pPr marL="12700" marR="5080"/>
            <a:r>
              <a:rPr lang="en-US" sz="1400" kern="0" spc="-80" dirty="0">
                <a:solidFill>
                  <a:schemeClr val="accent6"/>
                </a:solidFill>
              </a:rPr>
              <a:t>CAPTCHA / bot detection</a:t>
            </a:r>
          </a:p>
          <a:p>
            <a:pPr marL="12700" marR="5080"/>
            <a:r>
              <a:rPr lang="en-US" sz="1400" kern="0" spc="-80" dirty="0">
                <a:solidFill>
                  <a:schemeClr val="accent6"/>
                </a:solidFill>
              </a:rPr>
              <a:t>Progressive challenges (step-up auth)</a:t>
            </a:r>
          </a:p>
          <a:p>
            <a:pPr marL="12700" marR="5080"/>
            <a:r>
              <a:rPr lang="en-US" sz="1400" kern="0" spc="-80" dirty="0">
                <a:solidFill>
                  <a:schemeClr val="accent6"/>
                </a:solidFill>
              </a:rPr>
              <a:t>Circuit breakers on IdP calls</a:t>
            </a:r>
          </a:p>
          <a:p>
            <a:pPr marL="12700" marR="5080"/>
            <a:r>
              <a:rPr lang="en-US" sz="1400" kern="0" spc="-80" dirty="0">
                <a:solidFill>
                  <a:schemeClr val="accent2"/>
                </a:solidFill>
              </a:rPr>
              <a:t>Gotchas</a:t>
            </a:r>
          </a:p>
          <a:p>
            <a:pPr marL="12700" marR="5080"/>
            <a:r>
              <a:rPr lang="en-US" sz="1400" kern="0" spc="-80" dirty="0">
                <a:solidFill>
                  <a:schemeClr val="accent6"/>
                </a:solidFill>
              </a:rPr>
              <a:t>Over-aggressive CAPTCHA blocking real users</a:t>
            </a:r>
          </a:p>
          <a:p>
            <a:pPr marL="12700" marR="5080"/>
            <a:r>
              <a:rPr lang="en-US" sz="1400" kern="0" spc="-80" dirty="0">
                <a:solidFill>
                  <a:schemeClr val="accent6"/>
                </a:solidFill>
              </a:rPr>
              <a:t>External IdP outage → total login outage</a:t>
            </a:r>
          </a:p>
          <a:p>
            <a:pPr marL="12700" marR="5080"/>
            <a:endParaRPr lang="en-US" sz="1400" kern="0" spc="-80" dirty="0">
              <a:solidFill>
                <a:schemeClr val="accent2"/>
              </a:solidFill>
            </a:endParaRPr>
          </a:p>
          <a:p>
            <a:pPr marL="12700" marR="5080"/>
            <a:endParaRPr lang="en-US" sz="1400" kern="0" spc="-80" dirty="0">
              <a:solidFill>
                <a:schemeClr val="accent6"/>
              </a:solidFill>
            </a:endParaRPr>
          </a:p>
          <a:p>
            <a:pPr marL="12700" marR="5080"/>
            <a:endParaRPr lang="en-US" sz="1400" kern="0" spc="-80" dirty="0">
              <a:solidFill>
                <a:schemeClr val="accent6"/>
              </a:solidFill>
            </a:endParaRP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2141C07C-3DBE-DAC4-9FEC-B53CDEB5857A}"/>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04F8166-AF20-5941-59F7-0C671DC4369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4CF3AB2-3678-14A4-1128-FC361C9AC17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64092145"/>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3DEAE-7836-8B2B-1B1C-CCF30A4F5EC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FB0714C-7E25-EA0E-31E0-3B1D85714FF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6B0D846-C586-F496-A832-790F4A0B160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C7CAC32-D4B7-FED7-F1C7-C564A07932C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01745B1-3629-90D1-04F8-146127E5E98E}"/>
              </a:ext>
            </a:extLst>
          </p:cNvPr>
          <p:cNvSpPr txBox="1">
            <a:spLocks/>
          </p:cNvSpPr>
          <p:nvPr/>
        </p:nvSpPr>
        <p:spPr>
          <a:xfrm>
            <a:off x="76200" y="808196"/>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2. UI Pages Other Than Login (Web App)</a:t>
            </a:r>
          </a:p>
          <a:p>
            <a:pPr marL="12700" marR="5080"/>
            <a:r>
              <a:rPr lang="en-US" sz="1400" kern="0" spc="-80" dirty="0">
                <a:solidFill>
                  <a:schemeClr val="accent2"/>
                </a:solidFill>
              </a:rPr>
              <a:t>Authentication</a:t>
            </a:r>
          </a:p>
          <a:p>
            <a:pPr marL="12700" marR="5080"/>
            <a:r>
              <a:rPr lang="en-US" sz="1400" kern="0" spc="-80" dirty="0">
                <a:solidFill>
                  <a:schemeClr val="accent6"/>
                </a:solidFill>
              </a:rPr>
              <a:t>Session-based (cookies)</a:t>
            </a:r>
          </a:p>
          <a:p>
            <a:pPr marL="12700" marR="5080"/>
            <a:r>
              <a:rPr lang="en-US" sz="1400" kern="0" spc="-80" dirty="0">
                <a:solidFill>
                  <a:schemeClr val="accent6"/>
                </a:solidFill>
              </a:rPr>
              <a:t>Token-based (SPA)</a:t>
            </a:r>
          </a:p>
          <a:p>
            <a:pPr marL="12700" marR="5080"/>
            <a:r>
              <a:rPr lang="en-US" sz="1400" kern="0" spc="-80" dirty="0">
                <a:solidFill>
                  <a:schemeClr val="accent2"/>
                </a:solidFill>
              </a:rPr>
              <a:t>Patterns</a:t>
            </a:r>
          </a:p>
          <a:p>
            <a:pPr marL="12700" marR="5080"/>
            <a:r>
              <a:rPr lang="en-US" sz="1400" kern="0" spc="-80" dirty="0">
                <a:solidFill>
                  <a:schemeClr val="accent6"/>
                </a:solidFill>
              </a:rPr>
              <a:t>Access token (short-lived)</a:t>
            </a:r>
          </a:p>
          <a:p>
            <a:pPr marL="12700" marR="5080"/>
            <a:r>
              <a:rPr lang="en-US" sz="1400" kern="0" spc="-80" dirty="0">
                <a:solidFill>
                  <a:schemeClr val="accent6"/>
                </a:solidFill>
              </a:rPr>
              <a:t>Refresh token rotation</a:t>
            </a:r>
          </a:p>
          <a:p>
            <a:pPr marL="12700" marR="5080"/>
            <a:endParaRPr lang="en-US" sz="1400" kern="0" spc="-80" dirty="0">
              <a:solidFill>
                <a:schemeClr val="accent2"/>
              </a:solidFill>
            </a:endParaRPr>
          </a:p>
          <a:p>
            <a:pPr marL="12700" marR="5080"/>
            <a:r>
              <a:rPr lang="en-US" sz="1400" kern="0" spc="-80" dirty="0">
                <a:solidFill>
                  <a:schemeClr val="accent2"/>
                </a:solidFill>
              </a:rPr>
              <a:t>Authorization</a:t>
            </a:r>
          </a:p>
          <a:p>
            <a:pPr marL="12700" marR="5080"/>
            <a:r>
              <a:rPr lang="en-US" sz="1400" kern="0" spc="-80" dirty="0">
                <a:solidFill>
                  <a:schemeClr val="accent6"/>
                </a:solidFill>
              </a:rPr>
              <a:t>Backend-enforced authorization</a:t>
            </a:r>
          </a:p>
          <a:p>
            <a:pPr marL="12700" marR="5080"/>
            <a:r>
              <a:rPr lang="en-US" sz="1400" kern="0" spc="-80" dirty="0">
                <a:solidFill>
                  <a:schemeClr val="accent6"/>
                </a:solidFill>
              </a:rPr>
              <a:t>Role-Based Access Control (RBAC)</a:t>
            </a:r>
          </a:p>
          <a:p>
            <a:pPr marL="12700" marR="5080"/>
            <a:r>
              <a:rPr lang="en-US" sz="1400" kern="0" spc="-80" dirty="0">
                <a:solidFill>
                  <a:schemeClr val="accent6"/>
                </a:solidFill>
              </a:rPr>
              <a:t>Attribute-Based Access Control (ABAC)</a:t>
            </a:r>
          </a:p>
          <a:p>
            <a:pPr marL="12700" marR="5080"/>
            <a:r>
              <a:rPr lang="en-US" sz="1400" kern="0" spc="-80" dirty="0">
                <a:solidFill>
                  <a:schemeClr val="accent6"/>
                </a:solidFill>
              </a:rPr>
              <a:t>Policy-Based Access Control (PBAC)</a:t>
            </a:r>
          </a:p>
          <a:p>
            <a:pPr marL="12700" marR="5080"/>
            <a:r>
              <a:rPr lang="en-US" sz="1400" kern="0" spc="-80" dirty="0">
                <a:solidFill>
                  <a:schemeClr val="accent2"/>
                </a:solidFill>
              </a:rPr>
              <a:t>Examples</a:t>
            </a:r>
          </a:p>
          <a:p>
            <a:pPr marL="12700" marR="5080"/>
            <a:r>
              <a:rPr lang="en-US" sz="1400" kern="0" spc="-80" dirty="0">
                <a:solidFill>
                  <a:schemeClr val="accent2"/>
                </a:solidFill>
              </a:rPr>
              <a:t>Role: </a:t>
            </a:r>
            <a:r>
              <a:rPr lang="en-US" sz="1400" kern="0" spc="-80" dirty="0">
                <a:solidFill>
                  <a:schemeClr val="accent6"/>
                </a:solidFill>
              </a:rPr>
              <a:t>admin, editor</a:t>
            </a:r>
          </a:p>
          <a:p>
            <a:pPr marL="12700" marR="5080"/>
            <a:r>
              <a:rPr lang="en-US" sz="1400" kern="0" spc="-80" dirty="0">
                <a:solidFill>
                  <a:schemeClr val="accent2"/>
                </a:solidFill>
              </a:rPr>
              <a:t>Attribute:</a:t>
            </a:r>
            <a:r>
              <a:rPr lang="en-US" sz="1400" kern="0" spc="-80" dirty="0">
                <a:solidFill>
                  <a:schemeClr val="accent6"/>
                </a:solidFill>
              </a:rPr>
              <a:t> </a:t>
            </a:r>
            <a:r>
              <a:rPr lang="en-US" sz="1400" kern="0" spc="-80" dirty="0" err="1">
                <a:solidFill>
                  <a:schemeClr val="accent6"/>
                </a:solidFill>
              </a:rPr>
              <a:t>resource.owner_id</a:t>
            </a:r>
            <a:r>
              <a:rPr lang="en-US" sz="1400" kern="0" spc="-80" dirty="0">
                <a:solidFill>
                  <a:schemeClr val="accent6"/>
                </a:solidFill>
              </a:rPr>
              <a:t> == </a:t>
            </a:r>
            <a:r>
              <a:rPr lang="en-US" sz="1400" kern="0" spc="-80" dirty="0" err="1">
                <a:solidFill>
                  <a:schemeClr val="accent6"/>
                </a:solidFill>
              </a:rPr>
              <a:t>user_id</a:t>
            </a:r>
            <a:endParaRPr lang="en-US" sz="1400" kern="0" spc="-80" dirty="0">
              <a:solidFill>
                <a:schemeClr val="accent6"/>
              </a:solidFill>
            </a:endParaRPr>
          </a:p>
          <a:p>
            <a:pPr marL="12700" marR="5080"/>
            <a:r>
              <a:rPr lang="en-US" sz="1400" kern="0" spc="-80" dirty="0">
                <a:solidFill>
                  <a:schemeClr val="accent2"/>
                </a:solidFill>
              </a:rPr>
              <a:t>Avoid</a:t>
            </a:r>
          </a:p>
          <a:p>
            <a:pPr marL="12700" marR="5080"/>
            <a:r>
              <a:rPr lang="en-US" sz="1400" kern="0" spc="-80" dirty="0">
                <a:solidFill>
                  <a:schemeClr val="accent6"/>
                </a:solidFill>
              </a:rPr>
              <a:t>Frontend-only authorization</a:t>
            </a:r>
          </a:p>
          <a:p>
            <a:pPr marL="12700" marR="5080"/>
            <a:r>
              <a:rPr lang="en-US" sz="1400" kern="0" spc="-80" dirty="0">
                <a:solidFill>
                  <a:schemeClr val="accent6"/>
                </a:solidFill>
              </a:rPr>
              <a:t>Hardcoding role checks in UI</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19F878DA-C41D-C3AD-151E-0EA84883474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5690FFF-E01C-5B6B-6FD8-7B7304D8CF7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62C0A2D3-8EED-5AB0-7F2D-68E1DBA67D3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917447444"/>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36B28-06FC-71B7-009A-37F70C7EA7A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3FBD852-D2B7-9D60-4D2E-D2D6DB3BB23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0BD7742-EB14-DA51-A103-5BDE04CAE41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E0A97F9-92D4-97C5-4CCE-7C5D67FB38A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64799AE-0614-61E8-7808-40B8EC2E026D}"/>
              </a:ext>
            </a:extLst>
          </p:cNvPr>
          <p:cNvSpPr txBox="1">
            <a:spLocks/>
          </p:cNvSpPr>
          <p:nvPr/>
        </p:nvSpPr>
        <p:spPr>
          <a:xfrm>
            <a:off x="76200" y="767492"/>
            <a:ext cx="8624937" cy="49475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2. UI Pages Other Than Login (Web App)</a:t>
            </a:r>
          </a:p>
          <a:p>
            <a:pPr marL="12700" marR="5080"/>
            <a:r>
              <a:rPr lang="en-US" sz="1350" kern="0" spc="-80" dirty="0">
                <a:solidFill>
                  <a:schemeClr val="accent2"/>
                </a:solidFill>
              </a:rPr>
              <a:t>Accounting</a:t>
            </a:r>
          </a:p>
          <a:p>
            <a:pPr marL="12700" marR="5080"/>
            <a:r>
              <a:rPr lang="en-US" sz="1350" kern="0" spc="-80" dirty="0">
                <a:solidFill>
                  <a:schemeClr val="accent6"/>
                </a:solidFill>
              </a:rPr>
              <a:t>User actions (create/update/delete)</a:t>
            </a:r>
          </a:p>
          <a:p>
            <a:pPr marL="12700" marR="5080"/>
            <a:r>
              <a:rPr lang="en-US" sz="1350" kern="0" spc="-80" dirty="0">
                <a:solidFill>
                  <a:schemeClr val="accent6"/>
                </a:solidFill>
              </a:rPr>
              <a:t>Sensitive reads</a:t>
            </a:r>
          </a:p>
          <a:p>
            <a:pPr marL="12700" marR="5080"/>
            <a:r>
              <a:rPr lang="en-US" sz="1350" kern="0" spc="-80" dirty="0">
                <a:solidFill>
                  <a:schemeClr val="accent2"/>
                </a:solidFill>
              </a:rPr>
              <a:t>Insight</a:t>
            </a:r>
          </a:p>
          <a:p>
            <a:pPr marL="12700" marR="5080"/>
            <a:r>
              <a:rPr lang="en-US" sz="1350" kern="0" spc="-80" dirty="0">
                <a:solidFill>
                  <a:schemeClr val="accent6"/>
                </a:solidFill>
              </a:rPr>
              <a:t>Read events matter for compliance (GDPR, HIPAA)</a:t>
            </a:r>
          </a:p>
          <a:p>
            <a:pPr marL="12700" marR="5080"/>
            <a:endParaRPr lang="en-US" sz="1350" kern="0" spc="-80" dirty="0">
              <a:solidFill>
                <a:schemeClr val="accent2"/>
              </a:solidFill>
            </a:endParaRPr>
          </a:p>
          <a:p>
            <a:pPr marL="12700" marR="5080"/>
            <a:r>
              <a:rPr lang="en-US" sz="1350" kern="0" spc="-80" dirty="0">
                <a:solidFill>
                  <a:schemeClr val="accent2"/>
                </a:solidFill>
              </a:rPr>
              <a:t>Confidentiality</a:t>
            </a:r>
          </a:p>
          <a:p>
            <a:pPr marL="12700" marR="5080"/>
            <a:r>
              <a:rPr lang="en-US" sz="1350" kern="0" spc="-80" dirty="0">
                <a:solidFill>
                  <a:schemeClr val="accent6"/>
                </a:solidFill>
              </a:rPr>
              <a:t>User data visibility</a:t>
            </a:r>
          </a:p>
          <a:p>
            <a:pPr marL="12700" marR="5080"/>
            <a:r>
              <a:rPr lang="en-US" sz="1350" kern="0" spc="-80" dirty="0">
                <a:solidFill>
                  <a:schemeClr val="accent6"/>
                </a:solidFill>
              </a:rPr>
              <a:t>Session/token protection</a:t>
            </a:r>
          </a:p>
          <a:p>
            <a:pPr marL="12700" marR="5080"/>
            <a:r>
              <a:rPr lang="en-US" sz="1350" kern="0" spc="-80" dirty="0">
                <a:solidFill>
                  <a:schemeClr val="accent2"/>
                </a:solidFill>
              </a:rPr>
              <a:t>Techniques</a:t>
            </a:r>
          </a:p>
          <a:p>
            <a:pPr marL="12700" marR="5080"/>
            <a:r>
              <a:rPr lang="en-US" sz="1350" kern="0" spc="-80" dirty="0">
                <a:solidFill>
                  <a:schemeClr val="accent6"/>
                </a:solidFill>
              </a:rPr>
              <a:t>TLS everywhere</a:t>
            </a:r>
          </a:p>
          <a:p>
            <a:pPr marL="12700" marR="5080"/>
            <a:r>
              <a:rPr lang="en-US" sz="1350" kern="0" spc="-80" dirty="0">
                <a:solidFill>
                  <a:schemeClr val="accent6"/>
                </a:solidFill>
              </a:rPr>
              <a:t>No sensitive data in HTML/JS</a:t>
            </a:r>
          </a:p>
          <a:p>
            <a:pPr marL="12700" marR="5080"/>
            <a:r>
              <a:rPr lang="en-US" sz="1350" kern="0" spc="-80" dirty="0">
                <a:solidFill>
                  <a:schemeClr val="accent6"/>
                </a:solidFill>
              </a:rPr>
              <a:t>Mask PII where possible</a:t>
            </a:r>
          </a:p>
          <a:p>
            <a:pPr marL="12700" marR="5080"/>
            <a:r>
              <a:rPr lang="en-US" sz="1350" kern="0" spc="-80" dirty="0">
                <a:solidFill>
                  <a:schemeClr val="accent6"/>
                </a:solidFill>
              </a:rPr>
              <a:t>Short-lived access tokens</a:t>
            </a:r>
          </a:p>
          <a:p>
            <a:pPr marL="12700" marR="5080"/>
            <a:r>
              <a:rPr lang="en-US" sz="1350" kern="0" spc="-80" dirty="0">
                <a:solidFill>
                  <a:schemeClr val="accent6"/>
                </a:solidFill>
              </a:rPr>
              <a:t>Backend-for-frontend (BFF)</a:t>
            </a:r>
          </a:p>
          <a:p>
            <a:pPr marL="12700" marR="5080"/>
            <a:r>
              <a:rPr lang="en-US" sz="1350" kern="0" spc="-80" dirty="0">
                <a:solidFill>
                  <a:schemeClr val="accent6"/>
                </a:solidFill>
              </a:rPr>
              <a:t>Token binding to session</a:t>
            </a:r>
          </a:p>
          <a:p>
            <a:pPr marL="12700" marR="5080"/>
            <a:r>
              <a:rPr lang="en-US" sz="1350" kern="0" spc="-80" dirty="0">
                <a:solidFill>
                  <a:schemeClr val="accent6"/>
                </a:solidFill>
              </a:rPr>
              <a:t>DOM-based data minimization</a:t>
            </a:r>
          </a:p>
          <a:p>
            <a:pPr marL="12700" marR="5080"/>
            <a:r>
              <a:rPr lang="en-US" sz="1350" kern="0" spc="-80" dirty="0">
                <a:solidFill>
                  <a:schemeClr val="accent2"/>
                </a:solidFill>
              </a:rPr>
              <a:t>Gotchas</a:t>
            </a:r>
          </a:p>
          <a:p>
            <a:pPr marL="12700" marR="5080"/>
            <a:r>
              <a:rPr lang="en-US" sz="1350" kern="0" spc="-80" dirty="0">
                <a:solidFill>
                  <a:schemeClr val="accent6"/>
                </a:solidFill>
              </a:rPr>
              <a:t>Tokens in </a:t>
            </a:r>
            <a:r>
              <a:rPr lang="en-US" sz="1350" kern="0" spc="-80" dirty="0" err="1">
                <a:solidFill>
                  <a:schemeClr val="accent6"/>
                </a:solidFill>
              </a:rPr>
              <a:t>localStorage</a:t>
            </a:r>
            <a:endParaRPr lang="en-US" sz="1350" kern="0" spc="-80" dirty="0">
              <a:solidFill>
                <a:schemeClr val="accent6"/>
              </a:solidFill>
            </a:endParaRPr>
          </a:p>
          <a:p>
            <a:pPr marL="12700" marR="5080"/>
            <a:r>
              <a:rPr lang="en-US" sz="1350" kern="0" spc="-80" dirty="0">
                <a:solidFill>
                  <a:schemeClr val="accent6"/>
                </a:solidFill>
              </a:rPr>
              <a:t>Over-fetching sensitive fields</a:t>
            </a:r>
          </a:p>
          <a:p>
            <a:pPr marL="12700" marR="5080"/>
            <a:r>
              <a:rPr lang="en-US" sz="1350" kern="0" spc="-80" dirty="0">
                <a:solidFill>
                  <a:schemeClr val="accent6"/>
                </a:solidFill>
              </a:rPr>
              <a:t>Exposing internal IDs in URLs</a:t>
            </a:r>
          </a:p>
        </p:txBody>
      </p:sp>
      <p:grpSp>
        <p:nvGrpSpPr>
          <p:cNvPr id="7" name="Group 6">
            <a:extLst>
              <a:ext uri="{FF2B5EF4-FFF2-40B4-BE49-F238E27FC236}">
                <a16:creationId xmlns:a16="http://schemas.microsoft.com/office/drawing/2014/main" id="{6990F79C-7897-3278-ADB4-A101EC9F9FF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8BF9C48-E242-ED85-3BE0-39EBF1800A0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6263CD29-8414-9DED-E748-F413D249EE9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767162077"/>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FD24E-678C-944C-A119-0712BC60023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C09F405-AD4F-3000-2E40-458D45CC85B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4B55E97-3D65-9128-3181-BE26DA038E6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04387F4-9682-2774-B7E7-34E90D62067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9426012-75CA-AAB4-2557-EF537D925754}"/>
              </a:ext>
            </a:extLst>
          </p:cNvPr>
          <p:cNvSpPr txBox="1">
            <a:spLocks/>
          </p:cNvSpPr>
          <p:nvPr/>
        </p:nvSpPr>
        <p:spPr>
          <a:xfrm>
            <a:off x="76200" y="831532"/>
            <a:ext cx="8624937" cy="54168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2. UI Pages Other Than Login (Web App)</a:t>
            </a:r>
          </a:p>
          <a:p>
            <a:pPr marL="12700" marR="5080"/>
            <a:r>
              <a:rPr lang="en-US" sz="1300" kern="0" spc="-80" dirty="0">
                <a:solidFill>
                  <a:schemeClr val="accent2"/>
                </a:solidFill>
              </a:rPr>
              <a:t>Integrity</a:t>
            </a:r>
          </a:p>
          <a:p>
            <a:pPr marL="12700" marR="5080"/>
            <a:r>
              <a:rPr lang="en-US" sz="1300" kern="0" spc="-80" dirty="0">
                <a:solidFill>
                  <a:schemeClr val="accent6"/>
                </a:solidFill>
              </a:rPr>
              <a:t>Prevent UI-driven data tampering</a:t>
            </a:r>
          </a:p>
          <a:p>
            <a:pPr marL="12700" marR="5080"/>
            <a:r>
              <a:rPr lang="en-US" sz="1300" kern="0" spc="-80" dirty="0">
                <a:solidFill>
                  <a:schemeClr val="accent2"/>
                </a:solidFill>
              </a:rPr>
              <a:t>Techniques</a:t>
            </a:r>
          </a:p>
          <a:p>
            <a:pPr marL="12700" marR="5080"/>
            <a:r>
              <a:rPr lang="en-US" sz="1300" kern="0" spc="-80" dirty="0">
                <a:solidFill>
                  <a:schemeClr val="accent6"/>
                </a:solidFill>
              </a:rPr>
              <a:t>Server-side validation ALWAYS</a:t>
            </a:r>
          </a:p>
          <a:p>
            <a:pPr marL="12700" marR="5080"/>
            <a:r>
              <a:rPr lang="en-US" sz="1300" kern="0" spc="-80" dirty="0">
                <a:solidFill>
                  <a:schemeClr val="accent6"/>
                </a:solidFill>
              </a:rPr>
              <a:t>Signed requests (optional)</a:t>
            </a:r>
          </a:p>
          <a:p>
            <a:pPr marL="12700" marR="5080"/>
            <a:r>
              <a:rPr lang="en-US" sz="1300" kern="0" spc="-80" dirty="0">
                <a:solidFill>
                  <a:schemeClr val="accent6"/>
                </a:solidFill>
              </a:rPr>
              <a:t>Anti-tamper headers</a:t>
            </a:r>
          </a:p>
          <a:p>
            <a:pPr marL="12700" marR="5080"/>
            <a:r>
              <a:rPr lang="en-US" sz="1300" kern="0" spc="-80" dirty="0">
                <a:solidFill>
                  <a:schemeClr val="accent6"/>
                </a:solidFill>
              </a:rPr>
              <a:t>Token validation on every request</a:t>
            </a:r>
          </a:p>
          <a:p>
            <a:pPr marL="12700" marR="5080"/>
            <a:r>
              <a:rPr lang="en-US" sz="1300" kern="0" spc="-80" dirty="0">
                <a:solidFill>
                  <a:schemeClr val="accent6"/>
                </a:solidFill>
              </a:rPr>
              <a:t>Content Security Policy (CSP)</a:t>
            </a:r>
          </a:p>
          <a:p>
            <a:pPr marL="12700" marR="5080"/>
            <a:r>
              <a:rPr lang="en-US" sz="1300" kern="0" spc="-80" dirty="0">
                <a:solidFill>
                  <a:schemeClr val="accent6"/>
                </a:solidFill>
              </a:rPr>
              <a:t>XSS prevention</a:t>
            </a:r>
          </a:p>
          <a:p>
            <a:pPr marL="12700" marR="5080"/>
            <a:r>
              <a:rPr lang="en-US" sz="1300" kern="0" spc="-80" dirty="0">
                <a:solidFill>
                  <a:schemeClr val="accent6"/>
                </a:solidFill>
              </a:rPr>
              <a:t>Output encoding</a:t>
            </a:r>
          </a:p>
          <a:p>
            <a:pPr marL="12700" marR="5080"/>
            <a:r>
              <a:rPr lang="en-US" sz="1300" kern="0" spc="-80" dirty="0">
                <a:solidFill>
                  <a:schemeClr val="accent6"/>
                </a:solidFill>
              </a:rPr>
              <a:t>No inline JS</a:t>
            </a:r>
          </a:p>
          <a:p>
            <a:pPr marL="12700" marR="5080"/>
            <a:r>
              <a:rPr lang="en-US" sz="1300" kern="0" spc="-80" dirty="0">
                <a:solidFill>
                  <a:schemeClr val="accent6"/>
                </a:solidFill>
              </a:rPr>
              <a:t>Re-authorization on state-changing operations</a:t>
            </a:r>
          </a:p>
          <a:p>
            <a:pPr marL="12700" marR="5080"/>
            <a:r>
              <a:rPr lang="en-US" sz="1300" kern="0" spc="-80" dirty="0">
                <a:solidFill>
                  <a:schemeClr val="accent2"/>
                </a:solidFill>
              </a:rPr>
              <a:t>Gotchas</a:t>
            </a:r>
          </a:p>
          <a:p>
            <a:pPr marL="12700" marR="5080"/>
            <a:r>
              <a:rPr lang="en-US" sz="1300" kern="0" spc="-80" dirty="0">
                <a:solidFill>
                  <a:schemeClr val="accent6"/>
                </a:solidFill>
              </a:rPr>
              <a:t>Trusting hidden form fields</a:t>
            </a:r>
          </a:p>
          <a:p>
            <a:pPr marL="12700" marR="5080"/>
            <a:r>
              <a:rPr lang="en-US" sz="1300" kern="0" spc="-80" dirty="0">
                <a:solidFill>
                  <a:schemeClr val="accent6"/>
                </a:solidFill>
              </a:rPr>
              <a:t>Relying on frontend role checks</a:t>
            </a:r>
          </a:p>
          <a:p>
            <a:pPr marL="12700" marR="5080"/>
            <a:endParaRPr lang="en-US" sz="1300" kern="0" spc="-80" dirty="0">
              <a:solidFill>
                <a:schemeClr val="accent6"/>
              </a:solidFill>
            </a:endParaRPr>
          </a:p>
          <a:p>
            <a:pPr marL="12700" marR="5080"/>
            <a:r>
              <a:rPr lang="en-US" sz="1300" kern="0" spc="-80" dirty="0">
                <a:solidFill>
                  <a:schemeClr val="accent2"/>
                </a:solidFill>
              </a:rPr>
              <a:t>Availability</a:t>
            </a:r>
          </a:p>
          <a:p>
            <a:pPr marL="12700" marR="5080"/>
            <a:r>
              <a:rPr lang="en-US" sz="1300" kern="0" spc="-80" dirty="0">
                <a:solidFill>
                  <a:schemeClr val="accent6"/>
                </a:solidFill>
              </a:rPr>
              <a:t>UI should degrade gracefully</a:t>
            </a:r>
          </a:p>
          <a:p>
            <a:pPr marL="12700" marR="5080"/>
            <a:r>
              <a:rPr lang="en-US" sz="1300" kern="0" spc="-80" dirty="0">
                <a:solidFill>
                  <a:schemeClr val="accent2"/>
                </a:solidFill>
              </a:rPr>
              <a:t>Techniques</a:t>
            </a:r>
          </a:p>
          <a:p>
            <a:pPr marL="12700" marR="5080"/>
            <a:r>
              <a:rPr lang="en-US" sz="1300" kern="0" spc="-80" dirty="0">
                <a:solidFill>
                  <a:schemeClr val="accent6"/>
                </a:solidFill>
              </a:rPr>
              <a:t>Cached reads</a:t>
            </a:r>
          </a:p>
          <a:p>
            <a:pPr marL="12700" marR="5080"/>
            <a:r>
              <a:rPr lang="en-US" sz="1300" kern="0" spc="-80" dirty="0">
                <a:solidFill>
                  <a:schemeClr val="accent6"/>
                </a:solidFill>
              </a:rPr>
              <a:t>Feature flags</a:t>
            </a:r>
          </a:p>
          <a:p>
            <a:pPr marL="12700" marR="5080"/>
            <a:r>
              <a:rPr lang="en-US" sz="1300" kern="0" spc="-80" dirty="0">
                <a:solidFill>
                  <a:schemeClr val="accent6"/>
                </a:solidFill>
              </a:rPr>
              <a:t>Read-only modes</a:t>
            </a:r>
          </a:p>
          <a:p>
            <a:pPr marL="12700" marR="5080"/>
            <a:endParaRPr lang="en-US" sz="1400" kern="0" spc="-80" dirty="0">
              <a:solidFill>
                <a:schemeClr val="accent6"/>
              </a:solidFill>
            </a:endParaRPr>
          </a:p>
          <a:p>
            <a:pPr marL="12700" marR="5080"/>
            <a:endParaRPr lang="en-US" sz="1400" kern="0" spc="-80" dirty="0">
              <a:solidFill>
                <a:schemeClr val="accent2"/>
              </a:solidFill>
            </a:endParaRPr>
          </a:p>
        </p:txBody>
      </p:sp>
      <p:grpSp>
        <p:nvGrpSpPr>
          <p:cNvPr id="7" name="Group 6">
            <a:extLst>
              <a:ext uri="{FF2B5EF4-FFF2-40B4-BE49-F238E27FC236}">
                <a16:creationId xmlns:a16="http://schemas.microsoft.com/office/drawing/2014/main" id="{17F8FF01-7C53-9F8F-5EC2-3F938BEFD46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99D97A1D-4EE7-35A3-9E74-0680E172312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002A23A-B896-0D92-7B3D-35207D4ADEF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647685642"/>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BD18C-70AE-B0A9-DBCF-3C7163E29BB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79BF673-B240-B1CF-48BA-CC77D8D7B0E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CE89D5A-331A-4E3C-B4FF-D87A60BF633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BE56BF7-64F2-65ED-DD1E-23D8BF83B2B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390676E-119B-7276-FB77-8DE79A7B53A3}"/>
              </a:ext>
            </a:extLst>
          </p:cNvPr>
          <p:cNvSpPr txBox="1">
            <a:spLocks/>
          </p:cNvSpPr>
          <p:nvPr/>
        </p:nvSpPr>
        <p:spPr>
          <a:xfrm>
            <a:off x="76200" y="745153"/>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3. Mobile Apps (iOS / Android)</a:t>
            </a:r>
          </a:p>
          <a:p>
            <a:pPr marL="12700" marR="5080"/>
            <a:r>
              <a:rPr lang="en-US" sz="1400" kern="0" spc="-80" dirty="0">
                <a:solidFill>
                  <a:schemeClr val="accent2"/>
                </a:solidFill>
              </a:rPr>
              <a:t>Authentication</a:t>
            </a:r>
          </a:p>
          <a:p>
            <a:pPr marL="12700" marR="5080"/>
            <a:r>
              <a:rPr lang="en-US" sz="1400" kern="0" spc="-80" dirty="0">
                <a:solidFill>
                  <a:schemeClr val="accent6"/>
                </a:solidFill>
              </a:rPr>
              <a:t>OAuth 2.1  + OIDC with PKCE</a:t>
            </a:r>
          </a:p>
          <a:p>
            <a:pPr marL="12700" marR="5080"/>
            <a:r>
              <a:rPr lang="en-US" sz="1400" kern="0" spc="-80" dirty="0">
                <a:solidFill>
                  <a:schemeClr val="accent6"/>
                </a:solidFill>
              </a:rPr>
              <a:t>Authorization Code Flow with PKCE</a:t>
            </a:r>
          </a:p>
          <a:p>
            <a:pPr marL="12700" marR="5080"/>
            <a:r>
              <a:rPr lang="en-US" sz="1400" kern="0" spc="-80" dirty="0">
                <a:solidFill>
                  <a:schemeClr val="accent6"/>
                </a:solidFill>
              </a:rPr>
              <a:t>App-bound redirect URIs</a:t>
            </a:r>
          </a:p>
          <a:p>
            <a:pPr marL="12700" marR="5080"/>
            <a:r>
              <a:rPr lang="en-US" sz="1400" kern="0" spc="-80" dirty="0">
                <a:solidFill>
                  <a:schemeClr val="accent6"/>
                </a:solidFill>
              </a:rPr>
              <a:t>Device biometrics as a UX layer, not identity</a:t>
            </a:r>
          </a:p>
          <a:p>
            <a:pPr marL="12700" marR="5080"/>
            <a:r>
              <a:rPr lang="en-US" sz="1400" kern="0" spc="-80" dirty="0">
                <a:solidFill>
                  <a:schemeClr val="accent2"/>
                </a:solidFill>
              </a:rPr>
              <a:t>Gotcha</a:t>
            </a:r>
          </a:p>
          <a:p>
            <a:pPr marL="12700" marR="5080"/>
            <a:r>
              <a:rPr lang="en-US" sz="1400" kern="0" spc="-80" dirty="0">
                <a:solidFill>
                  <a:schemeClr val="accent6"/>
                </a:solidFill>
              </a:rPr>
              <a:t>Treating </a:t>
            </a:r>
            <a:r>
              <a:rPr lang="en-US" sz="1400" kern="0" spc="-80" dirty="0" err="1">
                <a:solidFill>
                  <a:schemeClr val="accent6"/>
                </a:solidFill>
              </a:rPr>
              <a:t>FaceID</a:t>
            </a:r>
            <a:r>
              <a:rPr lang="en-US" sz="1400" kern="0" spc="-80" dirty="0">
                <a:solidFill>
                  <a:schemeClr val="accent6"/>
                </a:solidFill>
              </a:rPr>
              <a:t> as authentication instead of re-auth trigger</a:t>
            </a:r>
          </a:p>
          <a:p>
            <a:pPr marL="12700" marR="5080"/>
            <a:endParaRPr lang="en-US" sz="1400" kern="0" spc="-80" dirty="0">
              <a:solidFill>
                <a:schemeClr val="accent2"/>
              </a:solidFill>
            </a:endParaRPr>
          </a:p>
          <a:p>
            <a:pPr marL="12700" marR="5080"/>
            <a:r>
              <a:rPr lang="en-US" sz="1400" kern="0" spc="-80" dirty="0">
                <a:solidFill>
                  <a:schemeClr val="accent2"/>
                </a:solidFill>
              </a:rPr>
              <a:t>Authorization</a:t>
            </a:r>
          </a:p>
          <a:p>
            <a:pPr marL="12700" marR="5080"/>
            <a:r>
              <a:rPr lang="en-US" sz="1400" kern="0" spc="-80" dirty="0">
                <a:solidFill>
                  <a:schemeClr val="accent6"/>
                </a:solidFill>
              </a:rPr>
              <a:t>Same as web – enforced server-side</a:t>
            </a:r>
          </a:p>
          <a:p>
            <a:pPr marL="12700" marR="5080"/>
            <a:r>
              <a:rPr lang="en-US" sz="1400" kern="0" spc="-80" dirty="0">
                <a:solidFill>
                  <a:schemeClr val="accent6"/>
                </a:solidFill>
              </a:rPr>
              <a:t>Mobile-specific risk</a:t>
            </a:r>
          </a:p>
          <a:p>
            <a:pPr marL="12700" marR="5080"/>
            <a:r>
              <a:rPr lang="en-US" sz="1400" kern="0" spc="-80" dirty="0">
                <a:solidFill>
                  <a:schemeClr val="accent6"/>
                </a:solidFill>
              </a:rPr>
              <a:t>API misuse via extracted tokens</a:t>
            </a:r>
          </a:p>
          <a:p>
            <a:pPr marL="12700" marR="5080"/>
            <a:r>
              <a:rPr lang="en-US" sz="1400" kern="0" spc="-80" dirty="0">
                <a:solidFill>
                  <a:schemeClr val="accent6"/>
                </a:solidFill>
              </a:rPr>
              <a:t>Device is not trusted</a:t>
            </a:r>
          </a:p>
          <a:p>
            <a:pPr marL="12700" marR="5080"/>
            <a:r>
              <a:rPr lang="en-US" sz="1400" kern="0" spc="-80" dirty="0">
                <a:solidFill>
                  <a:schemeClr val="accent6"/>
                </a:solidFill>
              </a:rPr>
              <a:t>Treat mobile app as a public client</a:t>
            </a:r>
          </a:p>
          <a:p>
            <a:pPr marL="12700" marR="5080"/>
            <a:endParaRPr lang="en-US" sz="1400" kern="0" spc="-80" dirty="0">
              <a:solidFill>
                <a:schemeClr val="accent6"/>
              </a:solidFill>
            </a:endParaRPr>
          </a:p>
          <a:p>
            <a:pPr marL="12700" marR="5080"/>
            <a:r>
              <a:rPr lang="en-US" sz="1400" kern="0" spc="-80" dirty="0">
                <a:solidFill>
                  <a:schemeClr val="accent2"/>
                </a:solidFill>
              </a:rPr>
              <a:t>Accounting</a:t>
            </a:r>
          </a:p>
          <a:p>
            <a:pPr marL="12700" marR="5080"/>
            <a:r>
              <a:rPr lang="en-US" sz="1400" kern="0" spc="-80" dirty="0">
                <a:solidFill>
                  <a:schemeClr val="accent6"/>
                </a:solidFill>
              </a:rPr>
              <a:t>Device ID, app version</a:t>
            </a:r>
          </a:p>
          <a:p>
            <a:pPr marL="12700" marR="5080"/>
            <a:r>
              <a:rPr lang="en-US" sz="1400" kern="0" spc="-80" dirty="0">
                <a:solidFill>
                  <a:schemeClr val="accent6"/>
                </a:solidFill>
              </a:rPr>
              <a:t>Suspicious behavior signals</a:t>
            </a:r>
          </a:p>
          <a:p>
            <a:pPr marL="12700" marR="5080"/>
            <a:endParaRPr lang="en-US" sz="1400" kern="0" spc="-80" dirty="0">
              <a:solidFill>
                <a:schemeClr val="accent6"/>
              </a:solidFill>
            </a:endParaRP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939C788F-4F25-E705-E368-E378E1B45C6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93DE57DF-C481-AB6B-09EE-DC29809EE2B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C2184913-81A2-63F5-4FD7-5CF8026249E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716489094"/>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6E098E-1E43-945E-2EE9-BD66939F910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1D65E69-1E17-C17D-AB22-DA701A876F9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8C7FE20-2EC2-4E86-11B6-CE845A21828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C3933A7-55B2-2204-8E0C-8C5A010835B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797FA6F-A449-98C0-F1BB-4CEDABB07495}"/>
              </a:ext>
            </a:extLst>
          </p:cNvPr>
          <p:cNvSpPr txBox="1">
            <a:spLocks/>
          </p:cNvSpPr>
          <p:nvPr/>
        </p:nvSpPr>
        <p:spPr>
          <a:xfrm>
            <a:off x="76200" y="780395"/>
            <a:ext cx="8624937" cy="403187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3. Mobile Apps (iOS / Android)</a:t>
            </a:r>
          </a:p>
          <a:p>
            <a:pPr marL="12700" marR="5080"/>
            <a:r>
              <a:rPr lang="en-US" sz="1400" kern="0" spc="-80" dirty="0">
                <a:solidFill>
                  <a:schemeClr val="accent2"/>
                </a:solidFill>
              </a:rPr>
              <a:t>Confidentiality</a:t>
            </a:r>
          </a:p>
          <a:p>
            <a:pPr marL="12700" marR="5080"/>
            <a:r>
              <a:rPr lang="en-US" sz="1400" kern="0" spc="-80" dirty="0">
                <a:solidFill>
                  <a:schemeClr val="accent6"/>
                </a:solidFill>
              </a:rPr>
              <a:t>Device is hostile by default</a:t>
            </a:r>
          </a:p>
          <a:p>
            <a:pPr marL="12700" marR="5080"/>
            <a:r>
              <a:rPr lang="en-US" sz="1400" kern="0" spc="-80" dirty="0">
                <a:solidFill>
                  <a:schemeClr val="accent2"/>
                </a:solidFill>
              </a:rPr>
              <a:t>Techniques</a:t>
            </a:r>
          </a:p>
          <a:p>
            <a:pPr marL="12700" marR="5080"/>
            <a:r>
              <a:rPr lang="en-US" sz="1400" kern="0" spc="-80" dirty="0">
                <a:solidFill>
                  <a:schemeClr val="accent6"/>
                </a:solidFill>
              </a:rPr>
              <a:t>Secure Enclave / Keystore</a:t>
            </a:r>
          </a:p>
          <a:p>
            <a:pPr marL="12700" marR="5080"/>
            <a:r>
              <a:rPr lang="en-US" sz="1400" kern="0" spc="-80" dirty="0">
                <a:solidFill>
                  <a:schemeClr val="accent6"/>
                </a:solidFill>
              </a:rPr>
              <a:t>Biometric-protected keys</a:t>
            </a:r>
          </a:p>
          <a:p>
            <a:pPr marL="12700" marR="5080"/>
            <a:r>
              <a:rPr lang="en-US" sz="1400" kern="0" spc="-80" dirty="0">
                <a:solidFill>
                  <a:schemeClr val="accent6"/>
                </a:solidFill>
              </a:rPr>
              <a:t>TLS pinning</a:t>
            </a:r>
          </a:p>
          <a:p>
            <a:pPr marL="12700" marR="5080"/>
            <a:r>
              <a:rPr lang="en-US" sz="1400" kern="0" spc="-80" dirty="0">
                <a:solidFill>
                  <a:schemeClr val="accent6"/>
                </a:solidFill>
              </a:rPr>
              <a:t>App-level encryption</a:t>
            </a:r>
          </a:p>
          <a:p>
            <a:pPr marL="12700" marR="5080"/>
            <a:r>
              <a:rPr lang="en-US" sz="1400" kern="0" spc="-80" dirty="0">
                <a:solidFill>
                  <a:schemeClr val="accent2"/>
                </a:solidFill>
              </a:rPr>
              <a:t>Store tokens in:</a:t>
            </a:r>
          </a:p>
          <a:p>
            <a:pPr marL="12700" marR="5080"/>
            <a:r>
              <a:rPr lang="en-US" sz="1400" kern="0" spc="-80" dirty="0">
                <a:solidFill>
                  <a:schemeClr val="accent6"/>
                </a:solidFill>
              </a:rPr>
              <a:t>iOS Keychain</a:t>
            </a:r>
          </a:p>
          <a:p>
            <a:pPr marL="12700" marR="5080"/>
            <a:r>
              <a:rPr lang="en-US" sz="1400" kern="0" spc="-80" dirty="0">
                <a:solidFill>
                  <a:schemeClr val="accent6"/>
                </a:solidFill>
              </a:rPr>
              <a:t>Android Keystore</a:t>
            </a:r>
          </a:p>
          <a:p>
            <a:pPr marL="12700" marR="5080"/>
            <a:r>
              <a:rPr lang="en-US" sz="1400" kern="0" spc="-80" dirty="0">
                <a:solidFill>
                  <a:schemeClr val="accent6"/>
                </a:solidFill>
              </a:rPr>
              <a:t>Encrypt local storage (</a:t>
            </a:r>
            <a:r>
              <a:rPr lang="en-US" sz="1400" kern="0" spc="-80" dirty="0" err="1">
                <a:solidFill>
                  <a:schemeClr val="accent6"/>
                </a:solidFill>
              </a:rPr>
              <a:t>SQLCipher</a:t>
            </a:r>
            <a:r>
              <a:rPr lang="en-US" sz="1400" kern="0" spc="-80" dirty="0">
                <a:solidFill>
                  <a:schemeClr val="accent6"/>
                </a:solidFill>
              </a:rPr>
              <a:t> etc.)</a:t>
            </a:r>
          </a:p>
          <a:p>
            <a:pPr marL="12700" marR="5080"/>
            <a:r>
              <a:rPr lang="en-US" sz="1400" kern="0" spc="-80" dirty="0">
                <a:solidFill>
                  <a:schemeClr val="accent2"/>
                </a:solidFill>
              </a:rPr>
              <a:t>Gotchas</a:t>
            </a:r>
          </a:p>
          <a:p>
            <a:pPr marL="12700" marR="5080"/>
            <a:r>
              <a:rPr lang="en-US" sz="1400" kern="0" spc="-80" dirty="0">
                <a:solidFill>
                  <a:schemeClr val="accent6"/>
                </a:solidFill>
              </a:rPr>
              <a:t>Tokens stored in plaintext</a:t>
            </a:r>
          </a:p>
          <a:p>
            <a:pPr marL="12700" marR="5080"/>
            <a:r>
              <a:rPr lang="en-US" sz="1400" kern="0" spc="-80" dirty="0">
                <a:solidFill>
                  <a:schemeClr val="accent6"/>
                </a:solidFill>
              </a:rPr>
              <a:t>Rooted/jailbroken devices</a:t>
            </a:r>
          </a:p>
          <a:p>
            <a:pPr marL="12700" marR="5080"/>
            <a:r>
              <a:rPr lang="en-US" sz="1400" kern="0" spc="-80" dirty="0">
                <a:solidFill>
                  <a:schemeClr val="accent6"/>
                </a:solidFill>
              </a:rPr>
              <a:t>Debug builds in production</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F4B63553-8740-4FD7-F74F-AA71BC83977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497CA4C-6E0A-7B71-1E6D-7CA27C8FB33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CB5BA710-D222-4F8B-ACE4-D541458ED04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325333520"/>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09B54-E830-C5A4-0AB9-A5A8907B68D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14FC837-1369-7807-CF15-4237278C2B2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B16424D-4E43-AAA0-6EA8-65D6FBB1E3D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C4DE310-F219-9C25-BA99-8FDF76F4C57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0731084-FAD1-331B-FA97-8CEABBB43234}"/>
              </a:ext>
            </a:extLst>
          </p:cNvPr>
          <p:cNvSpPr txBox="1">
            <a:spLocks/>
          </p:cNvSpPr>
          <p:nvPr/>
        </p:nvSpPr>
        <p:spPr>
          <a:xfrm>
            <a:off x="76200" y="771465"/>
            <a:ext cx="8624937" cy="53245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3. Mobile Apps (iOS / Android)</a:t>
            </a:r>
          </a:p>
          <a:p>
            <a:pPr marL="12700" marR="5080"/>
            <a:r>
              <a:rPr lang="en-US" sz="1400" kern="0" spc="-80" dirty="0">
                <a:solidFill>
                  <a:schemeClr val="accent2"/>
                </a:solidFill>
              </a:rPr>
              <a:t>Integrity</a:t>
            </a:r>
          </a:p>
          <a:p>
            <a:pPr marL="12700" marR="5080"/>
            <a:r>
              <a:rPr lang="en-US" sz="1400" kern="0" spc="-80" dirty="0">
                <a:solidFill>
                  <a:schemeClr val="accent6"/>
                </a:solidFill>
              </a:rPr>
              <a:t>App binary and API calls</a:t>
            </a:r>
          </a:p>
          <a:p>
            <a:pPr marL="12700" marR="5080"/>
            <a:r>
              <a:rPr lang="en-US" sz="1400" kern="0" spc="-80" dirty="0">
                <a:solidFill>
                  <a:schemeClr val="accent2"/>
                </a:solidFill>
              </a:rPr>
              <a:t>Techniques</a:t>
            </a:r>
          </a:p>
          <a:p>
            <a:pPr marL="12700" marR="5080"/>
            <a:r>
              <a:rPr lang="en-US" sz="1400" kern="0" spc="-80" dirty="0">
                <a:solidFill>
                  <a:schemeClr val="accent6"/>
                </a:solidFill>
              </a:rPr>
              <a:t>Code signing</a:t>
            </a:r>
          </a:p>
          <a:p>
            <a:pPr marL="12700" marR="5080"/>
            <a:r>
              <a:rPr lang="en-US" sz="1400" kern="0" spc="-80" dirty="0">
                <a:solidFill>
                  <a:schemeClr val="accent6"/>
                </a:solidFill>
              </a:rPr>
              <a:t>Signed JWTs</a:t>
            </a:r>
          </a:p>
          <a:p>
            <a:pPr marL="12700" marR="5080"/>
            <a:r>
              <a:rPr lang="en-US" sz="1400" kern="0" spc="-80" dirty="0">
                <a:solidFill>
                  <a:schemeClr val="accent6"/>
                </a:solidFill>
              </a:rPr>
              <a:t>Runtime integrity checks</a:t>
            </a:r>
          </a:p>
          <a:p>
            <a:pPr marL="12700" marR="5080"/>
            <a:r>
              <a:rPr lang="en-US" sz="1400" kern="0" spc="-80" dirty="0">
                <a:solidFill>
                  <a:schemeClr val="accent6"/>
                </a:solidFill>
              </a:rPr>
              <a:t>Request signing (HMAC / JWT) - optional, high-risk apps</a:t>
            </a:r>
          </a:p>
          <a:p>
            <a:pPr marL="12700" marR="5080"/>
            <a:r>
              <a:rPr lang="en-US" sz="1400" kern="0" spc="-80" dirty="0">
                <a:solidFill>
                  <a:schemeClr val="accent6"/>
                </a:solidFill>
              </a:rPr>
              <a:t>Replay protection (nonce / timestamp)</a:t>
            </a:r>
          </a:p>
          <a:p>
            <a:pPr marL="12700" marR="5080"/>
            <a:r>
              <a:rPr lang="en-US" sz="1400" kern="0" spc="-80" dirty="0">
                <a:solidFill>
                  <a:schemeClr val="accent2"/>
                </a:solidFill>
              </a:rPr>
              <a:t>Gotchas</a:t>
            </a:r>
          </a:p>
          <a:p>
            <a:pPr marL="12700" marR="5080"/>
            <a:r>
              <a:rPr lang="en-US" sz="1400" kern="0" spc="-80" dirty="0">
                <a:solidFill>
                  <a:schemeClr val="accent6"/>
                </a:solidFill>
              </a:rPr>
              <a:t>Assuming store review = secure</a:t>
            </a:r>
          </a:p>
          <a:p>
            <a:pPr marL="12700" marR="5080"/>
            <a:r>
              <a:rPr lang="en-US" sz="1400" kern="0" spc="-80" dirty="0">
                <a:solidFill>
                  <a:schemeClr val="accent6"/>
                </a:solidFill>
              </a:rPr>
              <a:t>Ignoring reverse engineering</a:t>
            </a:r>
          </a:p>
          <a:p>
            <a:pPr marL="12700" marR="5080"/>
            <a:endParaRPr lang="en-US" sz="1400" kern="0" spc="-80" dirty="0">
              <a:solidFill>
                <a:schemeClr val="accent6"/>
              </a:solidFill>
            </a:endParaRPr>
          </a:p>
          <a:p>
            <a:pPr marL="12700" marR="5080"/>
            <a:r>
              <a:rPr lang="en-US" sz="1400" kern="0" spc="-80" dirty="0">
                <a:solidFill>
                  <a:schemeClr val="accent2"/>
                </a:solidFill>
              </a:rPr>
              <a:t>Availability</a:t>
            </a:r>
          </a:p>
          <a:p>
            <a:pPr marL="12700" marR="5080"/>
            <a:r>
              <a:rPr lang="en-US" sz="1400" kern="0" spc="-80" dirty="0">
                <a:solidFill>
                  <a:schemeClr val="accent6"/>
                </a:solidFill>
              </a:rPr>
              <a:t>Offline-first design</a:t>
            </a:r>
          </a:p>
          <a:p>
            <a:pPr marL="12700" marR="5080"/>
            <a:r>
              <a:rPr lang="en-US" sz="1400" kern="0" spc="-80" dirty="0">
                <a:solidFill>
                  <a:schemeClr val="accent2"/>
                </a:solidFill>
              </a:rPr>
              <a:t>Techniques</a:t>
            </a:r>
          </a:p>
          <a:p>
            <a:pPr marL="12700" marR="5080"/>
            <a:r>
              <a:rPr lang="en-US" sz="1400" kern="0" spc="-80" dirty="0">
                <a:solidFill>
                  <a:schemeClr val="accent6"/>
                </a:solidFill>
              </a:rPr>
              <a:t>Cached data</a:t>
            </a:r>
          </a:p>
          <a:p>
            <a:pPr marL="12700" marR="5080"/>
            <a:r>
              <a:rPr lang="en-US" sz="1400" kern="0" spc="-80" dirty="0">
                <a:solidFill>
                  <a:schemeClr val="accent6"/>
                </a:solidFill>
              </a:rPr>
              <a:t>Sync retries</a:t>
            </a:r>
          </a:p>
          <a:p>
            <a:pPr marL="12700" marR="5080"/>
            <a:r>
              <a:rPr lang="en-US" sz="1400" kern="0" spc="-80" dirty="0">
                <a:solidFill>
                  <a:schemeClr val="accent6"/>
                </a:solidFill>
              </a:rPr>
              <a:t>Graceful auth expiration handling</a:t>
            </a:r>
          </a:p>
          <a:p>
            <a:pPr marL="12700" marR="5080"/>
            <a:endParaRPr lang="en-US" sz="1400" kern="0" spc="-80" dirty="0">
              <a:solidFill>
                <a:schemeClr val="accent6"/>
              </a:solidFill>
            </a:endParaRPr>
          </a:p>
          <a:p>
            <a:pPr marL="12700" marR="5080"/>
            <a:endParaRPr lang="en-US" sz="1400" kern="0" spc="-80" dirty="0">
              <a:solidFill>
                <a:schemeClr val="accent6"/>
              </a:solidFill>
            </a:endParaRPr>
          </a:p>
          <a:p>
            <a:pPr marL="12700" marR="5080"/>
            <a:endParaRPr lang="en-US" sz="1400" kern="0" spc="-80" dirty="0">
              <a:solidFill>
                <a:schemeClr val="accent6"/>
              </a:solidFill>
            </a:endParaRPr>
          </a:p>
          <a:p>
            <a:pPr marL="12700" marR="5080"/>
            <a:endParaRPr lang="en-US" sz="1400" kern="0" spc="-80" dirty="0">
              <a:solidFill>
                <a:schemeClr val="accent2"/>
              </a:solidFill>
            </a:endParaRPr>
          </a:p>
        </p:txBody>
      </p:sp>
      <p:grpSp>
        <p:nvGrpSpPr>
          <p:cNvPr id="7" name="Group 6">
            <a:extLst>
              <a:ext uri="{FF2B5EF4-FFF2-40B4-BE49-F238E27FC236}">
                <a16:creationId xmlns:a16="http://schemas.microsoft.com/office/drawing/2014/main" id="{5D8574CC-9713-8E75-675E-E879994698B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D82FACB-A000-EF64-0D74-60BCA6EEE85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33B7D11A-38C2-9825-E5FD-7418109CC90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179911315"/>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B9726-2EE0-8511-80A2-BDB254EF67B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5F73B73-15CD-C725-DCB9-47FBBBD0093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1BC7DA3-6DE9-3C21-8AFF-681FE10CE03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1508574-4C19-0CBC-86D9-BE85688ABC9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4F99A56-89A6-A3F8-7629-116D59172C0E}"/>
              </a:ext>
            </a:extLst>
          </p:cNvPr>
          <p:cNvSpPr txBox="1">
            <a:spLocks/>
          </p:cNvSpPr>
          <p:nvPr/>
        </p:nvSpPr>
        <p:spPr>
          <a:xfrm>
            <a:off x="76200" y="670203"/>
            <a:ext cx="8624937" cy="53245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4. Internal API/Background Service → Internal Service API (Zero Trust territory)</a:t>
            </a:r>
          </a:p>
          <a:p>
            <a:pPr marL="12700" marR="5080"/>
            <a:r>
              <a:rPr lang="en-US" sz="1400" kern="0" spc="-80" dirty="0">
                <a:solidFill>
                  <a:schemeClr val="accent6"/>
                </a:solidFill>
              </a:rPr>
              <a:t>This is machine-to-machine (M2M) trust.</a:t>
            </a:r>
          </a:p>
          <a:p>
            <a:pPr marL="12700" marR="5080"/>
            <a:r>
              <a:rPr lang="en-US" sz="1400" kern="0" spc="-80" dirty="0">
                <a:solidFill>
                  <a:schemeClr val="accent2"/>
                </a:solidFill>
              </a:rPr>
              <a:t>Authentication</a:t>
            </a:r>
          </a:p>
          <a:p>
            <a:pPr marL="12700" marR="5080"/>
            <a:r>
              <a:rPr lang="en-US" sz="1400" kern="0" spc="-80" dirty="0">
                <a:solidFill>
                  <a:schemeClr val="accent6"/>
                </a:solidFill>
              </a:rPr>
              <a:t>OAuth 2.0 Client Credentials</a:t>
            </a:r>
          </a:p>
          <a:p>
            <a:pPr marL="12700" marR="5080"/>
            <a:r>
              <a:rPr lang="en-US" sz="1400" kern="0" spc="-80" dirty="0" err="1">
                <a:solidFill>
                  <a:schemeClr val="accent6"/>
                </a:solidFill>
              </a:rPr>
              <a:t>mTLS</a:t>
            </a:r>
            <a:r>
              <a:rPr lang="en-US" sz="1400" kern="0" spc="-80" dirty="0">
                <a:solidFill>
                  <a:schemeClr val="accent6"/>
                </a:solidFill>
              </a:rPr>
              <a:t> (best for zero-trust)</a:t>
            </a:r>
          </a:p>
          <a:p>
            <a:pPr marL="12700" marR="5080"/>
            <a:r>
              <a:rPr lang="en-US" sz="1400" kern="0" spc="-80" dirty="0">
                <a:solidFill>
                  <a:schemeClr val="accent6"/>
                </a:solidFill>
              </a:rPr>
              <a:t>SPIFFE/SPIRE identities in Kubernetes – workload Identity</a:t>
            </a:r>
          </a:p>
          <a:p>
            <a:pPr marL="12700" marR="5080"/>
            <a:r>
              <a:rPr lang="en-US" sz="1400" kern="0" spc="-80" dirty="0">
                <a:solidFill>
                  <a:schemeClr val="accent6"/>
                </a:solidFill>
              </a:rPr>
              <a:t>Managed identities (Azure MSI, AWS IAM)</a:t>
            </a:r>
          </a:p>
          <a:p>
            <a:pPr marL="12700" marR="5080"/>
            <a:r>
              <a:rPr lang="en-US" sz="1400" kern="0" spc="-80" dirty="0">
                <a:solidFill>
                  <a:schemeClr val="accent6"/>
                </a:solidFill>
              </a:rPr>
              <a:t>Service identity (not user)</a:t>
            </a:r>
          </a:p>
          <a:p>
            <a:pPr marL="12700" marR="5080"/>
            <a:r>
              <a:rPr lang="en-US" sz="1400" kern="0" spc="-80" dirty="0">
                <a:solidFill>
                  <a:schemeClr val="accent2"/>
                </a:solidFill>
              </a:rPr>
              <a:t>Avoid</a:t>
            </a:r>
          </a:p>
          <a:p>
            <a:pPr marL="12700" marR="5080"/>
            <a:r>
              <a:rPr lang="en-US" sz="1400" kern="0" spc="-80" dirty="0">
                <a:solidFill>
                  <a:schemeClr val="accent6"/>
                </a:solidFill>
              </a:rPr>
              <a:t>Static API keys</a:t>
            </a:r>
          </a:p>
          <a:p>
            <a:pPr marL="12700" marR="5080"/>
            <a:r>
              <a:rPr lang="en-US" sz="1400" kern="0" spc="-80" dirty="0">
                <a:solidFill>
                  <a:schemeClr val="accent6"/>
                </a:solidFill>
              </a:rPr>
              <a:t>Shared secrets in config files</a:t>
            </a:r>
          </a:p>
          <a:p>
            <a:pPr marL="12700" marR="5080"/>
            <a:endParaRPr lang="en-US" sz="1400" kern="0" spc="-80" dirty="0">
              <a:solidFill>
                <a:schemeClr val="accent6"/>
              </a:solidFill>
            </a:endParaRPr>
          </a:p>
          <a:p>
            <a:pPr marL="12700" marR="5080"/>
            <a:r>
              <a:rPr lang="en-US" sz="1400" kern="0" spc="-80" dirty="0">
                <a:solidFill>
                  <a:schemeClr val="accent2"/>
                </a:solidFill>
              </a:rPr>
              <a:t>Authorization</a:t>
            </a:r>
          </a:p>
          <a:p>
            <a:pPr marL="12700" marR="5080"/>
            <a:r>
              <a:rPr lang="en-US" sz="1400" kern="0" spc="-80" dirty="0">
                <a:solidFill>
                  <a:schemeClr val="accent6"/>
                </a:solidFill>
              </a:rPr>
              <a:t>Service identity–based authorization</a:t>
            </a:r>
          </a:p>
          <a:p>
            <a:pPr marL="12700" marR="5080"/>
            <a:r>
              <a:rPr lang="en-US" sz="1400" kern="0" spc="-80" dirty="0">
                <a:solidFill>
                  <a:schemeClr val="accent6"/>
                </a:solidFill>
              </a:rPr>
              <a:t>Service-to-service policies - service-A can call service-B:POST /settlement</a:t>
            </a:r>
          </a:p>
          <a:p>
            <a:pPr marL="12700" marR="5080"/>
            <a:r>
              <a:rPr lang="en-US" sz="1400" kern="0" spc="-80" dirty="0">
                <a:solidFill>
                  <a:schemeClr val="accent6"/>
                </a:solidFill>
              </a:rPr>
              <a:t>Least privilege</a:t>
            </a:r>
          </a:p>
          <a:p>
            <a:pPr marL="12700" marR="5080"/>
            <a:r>
              <a:rPr lang="en-US" sz="1400" kern="0" spc="-80" dirty="0">
                <a:solidFill>
                  <a:schemeClr val="accent2"/>
                </a:solidFill>
              </a:rPr>
              <a:t>Fine-grained scopes:</a:t>
            </a:r>
          </a:p>
          <a:p>
            <a:pPr marL="12700" marR="5080"/>
            <a:r>
              <a:rPr lang="en-US" sz="1400" kern="0" spc="-80" dirty="0" err="1">
                <a:solidFill>
                  <a:schemeClr val="accent6"/>
                </a:solidFill>
              </a:rPr>
              <a:t>payments.write</a:t>
            </a:r>
            <a:endParaRPr lang="en-US" sz="1400" kern="0" spc="-80" dirty="0">
              <a:solidFill>
                <a:schemeClr val="accent6"/>
              </a:solidFill>
            </a:endParaRPr>
          </a:p>
          <a:p>
            <a:pPr marL="12700" marR="5080"/>
            <a:r>
              <a:rPr lang="en-US" sz="1400" kern="0" spc="-80" dirty="0" err="1">
                <a:solidFill>
                  <a:schemeClr val="accent6"/>
                </a:solidFill>
              </a:rPr>
              <a:t>orders.read</a:t>
            </a:r>
            <a:endParaRPr lang="en-US" sz="1400" kern="0" spc="-80" dirty="0">
              <a:solidFill>
                <a:schemeClr val="accent6"/>
              </a:solidFill>
            </a:endParaRPr>
          </a:p>
          <a:p>
            <a:pPr marL="12700" marR="5080"/>
            <a:r>
              <a:rPr lang="en-US" sz="1400" kern="0" spc="-80" dirty="0">
                <a:solidFill>
                  <a:schemeClr val="accent2"/>
                </a:solidFill>
              </a:rPr>
              <a:t>Pattern</a:t>
            </a:r>
          </a:p>
          <a:p>
            <a:pPr marL="12700" marR="5080"/>
            <a:r>
              <a:rPr lang="en-US" sz="1400" kern="0" spc="-80" dirty="0">
                <a:solidFill>
                  <a:schemeClr val="accent6"/>
                </a:solidFill>
              </a:rPr>
              <a:t>“Can Service A call endpoint X of Service B?”</a:t>
            </a:r>
          </a:p>
          <a:p>
            <a:pPr marL="12700" marR="5080"/>
            <a:endParaRPr lang="en-US" sz="1400" kern="0" spc="-80" dirty="0">
              <a:solidFill>
                <a:schemeClr val="accent6"/>
              </a:solidFill>
            </a:endParaRP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808F09D6-88D5-B734-5767-9337C4397FA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5485152-3BA3-1058-7251-B5C94865479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CF20D43-9F0E-4F86-0627-BAD2F03F1DB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501448618"/>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48EE78-75C4-2D65-0A81-456685CC007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9C235D8-D1CB-3C2E-B693-65B67780CEE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AD64D48-58FD-D110-9B55-53812522250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2075A50-872B-C692-32AD-3634259F147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A08609E-F890-BAA4-5523-34CADC937E0B}"/>
              </a:ext>
            </a:extLst>
          </p:cNvPr>
          <p:cNvSpPr txBox="1">
            <a:spLocks/>
          </p:cNvSpPr>
          <p:nvPr/>
        </p:nvSpPr>
        <p:spPr>
          <a:xfrm>
            <a:off x="76200" y="781883"/>
            <a:ext cx="8624937" cy="42473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4. Internal API/Background Service → Internal Service API (Zero Trust territory)</a:t>
            </a:r>
          </a:p>
          <a:p>
            <a:pPr marL="12700" marR="5080"/>
            <a:r>
              <a:rPr lang="en-US" sz="1400" kern="0" spc="-80" dirty="0">
                <a:solidFill>
                  <a:schemeClr val="accent2"/>
                </a:solidFill>
              </a:rPr>
              <a:t>Accounting</a:t>
            </a:r>
          </a:p>
          <a:p>
            <a:pPr marL="12700" marR="5080"/>
            <a:r>
              <a:rPr lang="en-US" sz="1400" kern="0" spc="-80" dirty="0">
                <a:solidFill>
                  <a:schemeClr val="accent6"/>
                </a:solidFill>
              </a:rPr>
              <a:t>Distributed tracing</a:t>
            </a:r>
          </a:p>
          <a:p>
            <a:pPr marL="12700" marR="5080"/>
            <a:r>
              <a:rPr lang="en-US" sz="1400" kern="0" spc="-80" dirty="0">
                <a:solidFill>
                  <a:schemeClr val="accent6"/>
                </a:solidFill>
              </a:rPr>
              <a:t>Service call logs</a:t>
            </a:r>
          </a:p>
          <a:p>
            <a:pPr marL="12700" marR="5080"/>
            <a:r>
              <a:rPr lang="en-US" sz="1400" kern="0" spc="-80" dirty="0">
                <a:solidFill>
                  <a:schemeClr val="accent2"/>
                </a:solidFill>
              </a:rPr>
              <a:t>Insight</a:t>
            </a:r>
          </a:p>
          <a:p>
            <a:pPr marL="12700" marR="5080"/>
            <a:r>
              <a:rPr lang="en-US" sz="1400" kern="0" spc="-80" dirty="0">
                <a:solidFill>
                  <a:schemeClr val="accent6"/>
                </a:solidFill>
              </a:rPr>
              <a:t>Required for forensics, not just ops</a:t>
            </a:r>
          </a:p>
          <a:p>
            <a:pPr marL="12700" marR="5080"/>
            <a:endParaRPr lang="en-US" sz="1400" kern="0" spc="-80" dirty="0">
              <a:solidFill>
                <a:schemeClr val="accent2"/>
              </a:solidFill>
            </a:endParaRPr>
          </a:p>
          <a:p>
            <a:pPr marL="12700" marR="5080"/>
            <a:r>
              <a:rPr lang="en-US" sz="1400" kern="0" spc="-80" dirty="0">
                <a:solidFill>
                  <a:schemeClr val="accent2"/>
                </a:solidFill>
              </a:rPr>
              <a:t>Confidentiality</a:t>
            </a:r>
          </a:p>
          <a:p>
            <a:pPr marL="12700" marR="5080"/>
            <a:r>
              <a:rPr lang="en-US" sz="1400" kern="0" spc="-80" dirty="0">
                <a:solidFill>
                  <a:schemeClr val="accent6"/>
                </a:solidFill>
              </a:rPr>
              <a:t>Service identity must be protected</a:t>
            </a:r>
          </a:p>
          <a:p>
            <a:pPr marL="12700" marR="5080"/>
            <a:r>
              <a:rPr lang="en-US" sz="1400" kern="0" spc="-80" dirty="0">
                <a:solidFill>
                  <a:schemeClr val="accent2"/>
                </a:solidFill>
              </a:rPr>
              <a:t>Techniques</a:t>
            </a:r>
          </a:p>
          <a:p>
            <a:pPr marL="12700" marR="5080"/>
            <a:r>
              <a:rPr lang="en-US" sz="1400" kern="0" spc="-80" dirty="0" err="1">
                <a:solidFill>
                  <a:schemeClr val="accent6"/>
                </a:solidFill>
              </a:rPr>
              <a:t>mTLS</a:t>
            </a:r>
            <a:r>
              <a:rPr lang="en-US" sz="1400" kern="0" spc="-80" dirty="0">
                <a:solidFill>
                  <a:schemeClr val="accent6"/>
                </a:solidFill>
              </a:rPr>
              <a:t> everywhere(east-west traffic)</a:t>
            </a:r>
          </a:p>
          <a:p>
            <a:pPr marL="12700" marR="5080"/>
            <a:r>
              <a:rPr lang="en-US" sz="1400" kern="0" spc="-80" dirty="0">
                <a:solidFill>
                  <a:schemeClr val="accent6"/>
                </a:solidFill>
              </a:rPr>
              <a:t>Managed identities (Azure, AWS, GCP)</a:t>
            </a:r>
          </a:p>
          <a:p>
            <a:pPr marL="12700" marR="5080"/>
            <a:r>
              <a:rPr lang="en-US" sz="1400" kern="0" spc="-80" dirty="0">
                <a:solidFill>
                  <a:schemeClr val="accent6"/>
                </a:solidFill>
              </a:rPr>
              <a:t>Private networking</a:t>
            </a:r>
          </a:p>
          <a:p>
            <a:pPr marL="12700" marR="5080"/>
            <a:r>
              <a:rPr lang="en-US" sz="1400" kern="0" spc="-80" dirty="0">
                <a:solidFill>
                  <a:schemeClr val="accent6"/>
                </a:solidFill>
              </a:rPr>
              <a:t>Encrypt secrets at rest (KMS, Vault)</a:t>
            </a:r>
          </a:p>
          <a:p>
            <a:pPr marL="12700" marR="5080"/>
            <a:r>
              <a:rPr lang="en-US" sz="1400" kern="0" spc="-80" dirty="0">
                <a:solidFill>
                  <a:schemeClr val="accent2"/>
                </a:solidFill>
              </a:rPr>
              <a:t>Gotchas</a:t>
            </a:r>
          </a:p>
          <a:p>
            <a:pPr marL="12700" marR="5080"/>
            <a:r>
              <a:rPr lang="en-US" sz="1400" kern="0" spc="-80" dirty="0">
                <a:solidFill>
                  <a:schemeClr val="accent6"/>
                </a:solidFill>
              </a:rPr>
              <a:t>Shared API keys</a:t>
            </a:r>
          </a:p>
          <a:p>
            <a:pPr marL="12700" marR="5080"/>
            <a:r>
              <a:rPr lang="en-US" sz="1400" kern="0" spc="-80" dirty="0">
                <a:solidFill>
                  <a:schemeClr val="accent6"/>
                </a:solidFill>
              </a:rPr>
              <a:t>Long-lived secrets in config</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F31ABABC-2830-65AD-4B7E-2DC4002382B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D72C687-55DB-18D1-D707-9E6E61BCC7C4}"/>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28C4668-B640-C216-1245-862AB627F53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34492404"/>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0D9B1-9E58-7E8D-99CF-3603D1BD356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79B2C1A-956E-05D3-A720-F18B786BFE1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E54CA11-3E31-08A3-9A40-00D9CDAF06C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ABC53B5-4025-4584-2E42-BABC555BC39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1A43C9F-A2E3-3A9D-3F48-427EC8D5AE79}"/>
              </a:ext>
            </a:extLst>
          </p:cNvPr>
          <p:cNvSpPr txBox="1">
            <a:spLocks/>
          </p:cNvSpPr>
          <p:nvPr/>
        </p:nvSpPr>
        <p:spPr>
          <a:xfrm>
            <a:off x="76200" y="745153"/>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4. Internal API/Background Service → Internal Service API (Zero Trust territory)</a:t>
            </a:r>
          </a:p>
          <a:p>
            <a:pPr marL="12700" marR="5080"/>
            <a:r>
              <a:rPr lang="en-US" sz="1400" kern="0" spc="-80" dirty="0">
                <a:solidFill>
                  <a:schemeClr val="accent2"/>
                </a:solidFill>
              </a:rPr>
              <a:t>Integrity</a:t>
            </a:r>
          </a:p>
          <a:p>
            <a:pPr marL="12700" marR="5080"/>
            <a:r>
              <a:rPr lang="en-US" sz="1400" kern="0" spc="-80" dirty="0">
                <a:solidFill>
                  <a:schemeClr val="accent6"/>
                </a:solidFill>
              </a:rPr>
              <a:t>Prevent message tampering</a:t>
            </a:r>
          </a:p>
          <a:p>
            <a:pPr marL="12700" marR="5080"/>
            <a:r>
              <a:rPr lang="en-US" sz="1400" kern="0" spc="-80" dirty="0">
                <a:solidFill>
                  <a:schemeClr val="accent2"/>
                </a:solidFill>
              </a:rPr>
              <a:t>Techniques</a:t>
            </a:r>
          </a:p>
          <a:p>
            <a:pPr marL="12700" marR="5080"/>
            <a:r>
              <a:rPr lang="en-US" sz="1400" kern="0" spc="-80" dirty="0" err="1">
                <a:solidFill>
                  <a:schemeClr val="accent6"/>
                </a:solidFill>
              </a:rPr>
              <a:t>mTLS</a:t>
            </a:r>
            <a:r>
              <a:rPr lang="en-US" sz="1400" kern="0" spc="-80" dirty="0">
                <a:solidFill>
                  <a:schemeClr val="accent6"/>
                </a:solidFill>
              </a:rPr>
              <a:t> ensures request integrity</a:t>
            </a:r>
          </a:p>
          <a:p>
            <a:pPr marL="12700" marR="5080"/>
            <a:r>
              <a:rPr lang="en-US" sz="1400" kern="0" spc="-80" dirty="0">
                <a:solidFill>
                  <a:schemeClr val="accent6"/>
                </a:solidFill>
              </a:rPr>
              <a:t>Token audience validation</a:t>
            </a:r>
          </a:p>
          <a:p>
            <a:pPr marL="12700" marR="5080"/>
            <a:r>
              <a:rPr lang="en-US" sz="1400" kern="0" spc="-80" dirty="0">
                <a:solidFill>
                  <a:schemeClr val="accent6"/>
                </a:solidFill>
              </a:rPr>
              <a:t>Anti-replay (short-lived tokens)</a:t>
            </a:r>
          </a:p>
          <a:p>
            <a:pPr marL="12700" marR="5080"/>
            <a:r>
              <a:rPr lang="en-US" sz="1400" kern="0" spc="-80" dirty="0">
                <a:solidFill>
                  <a:schemeClr val="accent6"/>
                </a:solidFill>
              </a:rPr>
              <a:t>Signed payloads</a:t>
            </a:r>
          </a:p>
          <a:p>
            <a:pPr marL="12700" marR="5080"/>
            <a:r>
              <a:rPr lang="en-US" sz="1400" kern="0" spc="-80" dirty="0">
                <a:solidFill>
                  <a:schemeClr val="accent6"/>
                </a:solidFill>
              </a:rPr>
              <a:t>Message digests</a:t>
            </a:r>
          </a:p>
          <a:p>
            <a:pPr marL="12700" marR="5080"/>
            <a:endParaRPr lang="en-US" sz="1400" kern="0" spc="-80" dirty="0">
              <a:solidFill>
                <a:schemeClr val="accent6"/>
              </a:solidFill>
            </a:endParaRPr>
          </a:p>
          <a:p>
            <a:pPr marL="12700" marR="5080"/>
            <a:r>
              <a:rPr lang="en-US" sz="1400" kern="0" spc="-80" dirty="0">
                <a:solidFill>
                  <a:schemeClr val="accent2"/>
                </a:solidFill>
              </a:rPr>
              <a:t>Availability</a:t>
            </a:r>
          </a:p>
          <a:p>
            <a:pPr marL="12700" marR="5080"/>
            <a:r>
              <a:rPr lang="en-US" sz="1400" kern="0" spc="-80" dirty="0">
                <a:solidFill>
                  <a:schemeClr val="accent6"/>
                </a:solidFill>
              </a:rPr>
              <a:t>Blast radius control</a:t>
            </a:r>
          </a:p>
          <a:p>
            <a:pPr marL="12700" marR="5080"/>
            <a:r>
              <a:rPr lang="en-US" sz="1400" kern="0" spc="-80" dirty="0">
                <a:solidFill>
                  <a:schemeClr val="accent2"/>
                </a:solidFill>
              </a:rPr>
              <a:t>Techniques</a:t>
            </a:r>
          </a:p>
          <a:p>
            <a:pPr marL="12700" marR="5080"/>
            <a:r>
              <a:rPr lang="en-US" sz="1400" kern="0" spc="-80" dirty="0">
                <a:solidFill>
                  <a:schemeClr val="accent6"/>
                </a:solidFill>
              </a:rPr>
              <a:t>Circuit breakers</a:t>
            </a:r>
          </a:p>
          <a:p>
            <a:pPr marL="12700" marR="5080"/>
            <a:r>
              <a:rPr lang="en-US" sz="1400" kern="0" spc="-80" dirty="0">
                <a:solidFill>
                  <a:schemeClr val="accent6"/>
                </a:solidFill>
              </a:rPr>
              <a:t>Bulkheads</a:t>
            </a:r>
          </a:p>
          <a:p>
            <a:pPr marL="12700" marR="5080"/>
            <a:r>
              <a:rPr lang="en-US" sz="1400" kern="0" spc="-80" dirty="0">
                <a:solidFill>
                  <a:schemeClr val="accent6"/>
                </a:solidFill>
              </a:rPr>
              <a:t>Retry with jitter</a:t>
            </a:r>
          </a:p>
          <a:p>
            <a:pPr marL="12700" marR="5080"/>
            <a:r>
              <a:rPr lang="en-US" sz="1400" kern="0" spc="-80" dirty="0">
                <a:solidFill>
                  <a:schemeClr val="accent2"/>
                </a:solidFill>
              </a:rPr>
              <a:t>Gotcha</a:t>
            </a:r>
          </a:p>
          <a:p>
            <a:pPr marL="12700" marR="5080"/>
            <a:r>
              <a:rPr lang="en-US" sz="1400" kern="0" spc="-80" dirty="0">
                <a:solidFill>
                  <a:schemeClr val="accent6"/>
                </a:solidFill>
              </a:rPr>
              <a:t>Retry storms causing self-DoS</a:t>
            </a:r>
          </a:p>
          <a:p>
            <a:pPr marL="12700" marR="5080"/>
            <a:endParaRPr lang="en-US" sz="1400" kern="0" spc="-80" dirty="0">
              <a:solidFill>
                <a:schemeClr val="accent6"/>
              </a:solidFill>
            </a:endParaRPr>
          </a:p>
          <a:p>
            <a:pPr marL="12700" marR="5080"/>
            <a:endParaRPr lang="en-US" sz="1400" kern="0" spc="-80" dirty="0">
              <a:solidFill>
                <a:schemeClr val="accent6"/>
              </a:solidFill>
            </a:endParaRP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3A24E2DE-427F-FEF0-0CC6-15B20A46284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592659F-14D1-B792-7B20-F870E95D0BD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BFFEF07C-12BC-5BCA-E241-0F5F891B98F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621968912"/>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EA976-E0CE-6DCB-4EA7-E19BC7268AB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5586274-0BD5-F5A6-C98C-5CBC0CF1558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0DB9B76-ADDB-B2FE-A86D-8B74695C8A9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C6F264A-420B-125E-478E-727E42CF993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32CB429-52E9-78E3-4C60-56B5ADBBB85E}"/>
              </a:ext>
            </a:extLst>
          </p:cNvPr>
          <p:cNvSpPr txBox="1">
            <a:spLocks/>
          </p:cNvSpPr>
          <p:nvPr/>
        </p:nvSpPr>
        <p:spPr>
          <a:xfrm>
            <a:off x="76200" y="781883"/>
            <a:ext cx="8624937" cy="42473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5. API / Background Service → External API</a:t>
            </a:r>
          </a:p>
          <a:p>
            <a:pPr marL="12700" marR="5080"/>
            <a:r>
              <a:rPr lang="en-US" sz="1400" kern="0" spc="-80" dirty="0">
                <a:solidFill>
                  <a:schemeClr val="accent2"/>
                </a:solidFill>
              </a:rPr>
              <a:t>Authentication</a:t>
            </a:r>
          </a:p>
          <a:p>
            <a:pPr marL="12700" marR="5080"/>
            <a:r>
              <a:rPr lang="en-US" sz="1400" kern="0" spc="-80" dirty="0">
                <a:solidFill>
                  <a:schemeClr val="accent6"/>
                </a:solidFill>
              </a:rPr>
              <a:t>Depends on provider, but prefer:</a:t>
            </a:r>
          </a:p>
          <a:p>
            <a:pPr marL="12700" marR="5080"/>
            <a:r>
              <a:rPr lang="en-US" sz="1400" kern="0" spc="-80" dirty="0">
                <a:solidFill>
                  <a:schemeClr val="accent2"/>
                </a:solidFill>
              </a:rPr>
              <a:t>Best</a:t>
            </a:r>
          </a:p>
          <a:p>
            <a:pPr marL="12700" marR="5080"/>
            <a:r>
              <a:rPr lang="en-US" sz="1400" kern="0" spc="-80" dirty="0">
                <a:solidFill>
                  <a:schemeClr val="accent6"/>
                </a:solidFill>
              </a:rPr>
              <a:t>OAuth 2.0 (Client Credentials / JWT Bearer)</a:t>
            </a:r>
          </a:p>
          <a:p>
            <a:pPr marL="12700" marR="5080"/>
            <a:r>
              <a:rPr lang="en-US" sz="1400" kern="0" spc="-80" dirty="0" err="1">
                <a:solidFill>
                  <a:schemeClr val="accent6"/>
                </a:solidFill>
              </a:rPr>
              <a:t>mTLS</a:t>
            </a:r>
            <a:endParaRPr lang="en-US" sz="1400" kern="0" spc="-80" dirty="0">
              <a:solidFill>
                <a:schemeClr val="accent6"/>
              </a:solidFill>
            </a:endParaRPr>
          </a:p>
          <a:p>
            <a:pPr marL="12700" marR="5080"/>
            <a:r>
              <a:rPr lang="en-US" sz="1400" kern="0" spc="-80" dirty="0">
                <a:solidFill>
                  <a:schemeClr val="accent2"/>
                </a:solidFill>
              </a:rPr>
              <a:t>Acceptable</a:t>
            </a:r>
          </a:p>
          <a:p>
            <a:pPr marL="12700" marR="5080"/>
            <a:r>
              <a:rPr lang="en-US" sz="1400" kern="0" spc="-80" dirty="0">
                <a:solidFill>
                  <a:schemeClr val="accent6"/>
                </a:solidFill>
              </a:rPr>
              <a:t>HMAC-based signing (AWS SigV4-style)</a:t>
            </a:r>
          </a:p>
          <a:p>
            <a:pPr marL="12700" marR="5080"/>
            <a:r>
              <a:rPr lang="en-US" sz="1400" kern="0" spc="-80" dirty="0">
                <a:solidFill>
                  <a:schemeClr val="accent2"/>
                </a:solidFill>
              </a:rPr>
              <a:t>Last resort</a:t>
            </a:r>
          </a:p>
          <a:p>
            <a:pPr marL="12700" marR="5080"/>
            <a:r>
              <a:rPr lang="en-US" sz="1400" kern="0" spc="-80" dirty="0">
                <a:solidFill>
                  <a:schemeClr val="accent6"/>
                </a:solidFill>
              </a:rPr>
              <a:t>API keys (rotate aggressively)</a:t>
            </a:r>
          </a:p>
          <a:p>
            <a:pPr marL="12700" marR="5080"/>
            <a:endParaRPr lang="en-US" sz="1400" kern="0" spc="-80" dirty="0">
              <a:solidFill>
                <a:schemeClr val="accent6"/>
              </a:solidFill>
            </a:endParaRPr>
          </a:p>
          <a:p>
            <a:pPr marL="12700" marR="5080"/>
            <a:r>
              <a:rPr lang="en-US" sz="1400" kern="0" spc="-80" dirty="0">
                <a:solidFill>
                  <a:schemeClr val="accent2"/>
                </a:solidFill>
              </a:rPr>
              <a:t>Authorization</a:t>
            </a:r>
          </a:p>
          <a:p>
            <a:pPr marL="12700" marR="5080"/>
            <a:r>
              <a:rPr lang="en-US" sz="1400" kern="0" spc="-80" dirty="0">
                <a:solidFill>
                  <a:schemeClr val="accent6"/>
                </a:solidFill>
              </a:rPr>
              <a:t>Scope-based access</a:t>
            </a:r>
          </a:p>
          <a:p>
            <a:pPr marL="12700" marR="5080"/>
            <a:r>
              <a:rPr lang="en-US" sz="1400" kern="0" spc="-80" dirty="0">
                <a:solidFill>
                  <a:schemeClr val="accent6"/>
                </a:solidFill>
              </a:rPr>
              <a:t>Least privilege tokens per integration</a:t>
            </a:r>
          </a:p>
          <a:p>
            <a:pPr marL="12700" marR="5080"/>
            <a:r>
              <a:rPr lang="en-US" sz="1400" kern="0" spc="-80" dirty="0">
                <a:solidFill>
                  <a:schemeClr val="accent6"/>
                </a:solidFill>
              </a:rPr>
              <a:t>Separate credentials per environment</a:t>
            </a:r>
          </a:p>
          <a:p>
            <a:pPr marL="12700" marR="5080"/>
            <a:r>
              <a:rPr lang="en-US" sz="1400" kern="0" spc="-80" dirty="0">
                <a:solidFill>
                  <a:schemeClr val="accent2"/>
                </a:solidFill>
              </a:rPr>
              <a:t>Gotcha</a:t>
            </a:r>
          </a:p>
          <a:p>
            <a:pPr marL="12700" marR="5080"/>
            <a:r>
              <a:rPr lang="en-US" sz="1400" kern="0" spc="-80" dirty="0">
                <a:solidFill>
                  <a:schemeClr val="accent6"/>
                </a:solidFill>
              </a:rPr>
              <a:t>Over-scoped tokens</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C4DDB780-D464-BC1D-9B61-7DF5DFD2216A}"/>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E7D69F5-A887-0DD8-86C7-E33368FD54A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39E3DBB-93D3-C52F-3079-C39DF946B57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850231998"/>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81BA2-FCD9-E3C1-6655-D04594994A2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B4300F8-2F5D-5FAA-C935-E7F67B9AF31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2764BA2-2378-72A3-3B8D-01DCA638F96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6574500-0ACC-DBD9-1F87-E34CD929FF3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5D7DBFC-6E02-A7EF-E463-68726A8A452E}"/>
              </a:ext>
            </a:extLst>
          </p:cNvPr>
          <p:cNvSpPr txBox="1">
            <a:spLocks/>
          </p:cNvSpPr>
          <p:nvPr/>
        </p:nvSpPr>
        <p:spPr>
          <a:xfrm>
            <a:off x="76200" y="79504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5. API / Background Service → External API</a:t>
            </a:r>
          </a:p>
          <a:p>
            <a:pPr marL="12700" marR="5080"/>
            <a:r>
              <a:rPr lang="en-US" sz="1400" kern="0" spc="-80" dirty="0">
                <a:solidFill>
                  <a:schemeClr val="accent2"/>
                </a:solidFill>
              </a:rPr>
              <a:t>Accounting</a:t>
            </a:r>
          </a:p>
          <a:p>
            <a:pPr marL="12700" marR="5080"/>
            <a:r>
              <a:rPr lang="en-US" sz="1400" kern="0" spc="-80" dirty="0">
                <a:solidFill>
                  <a:schemeClr val="accent6"/>
                </a:solidFill>
              </a:rPr>
              <a:t>API usage tracking</a:t>
            </a:r>
          </a:p>
          <a:p>
            <a:pPr marL="12700" marR="5080"/>
            <a:r>
              <a:rPr lang="en-US" sz="1400" kern="0" spc="-80" dirty="0">
                <a:solidFill>
                  <a:schemeClr val="accent6"/>
                </a:solidFill>
              </a:rPr>
              <a:t>Cost attribution</a:t>
            </a:r>
          </a:p>
          <a:p>
            <a:pPr marL="12700" marR="5080"/>
            <a:endParaRPr lang="en-US" sz="1400" kern="0" spc="-80" dirty="0">
              <a:solidFill>
                <a:schemeClr val="accent2"/>
              </a:solidFill>
            </a:endParaRPr>
          </a:p>
          <a:p>
            <a:pPr marL="12700" marR="5080"/>
            <a:r>
              <a:rPr lang="en-US" sz="1400" kern="0" spc="-80" dirty="0">
                <a:solidFill>
                  <a:schemeClr val="accent2"/>
                </a:solidFill>
              </a:rPr>
              <a:t>Confidentiality</a:t>
            </a:r>
          </a:p>
          <a:p>
            <a:pPr marL="12700" marR="5080"/>
            <a:r>
              <a:rPr lang="en-US" sz="1400" kern="0" spc="-80" dirty="0">
                <a:solidFill>
                  <a:schemeClr val="accent6"/>
                </a:solidFill>
              </a:rPr>
              <a:t>API keys, OAuth tokens</a:t>
            </a:r>
          </a:p>
          <a:p>
            <a:pPr marL="12700" marR="5080"/>
            <a:r>
              <a:rPr lang="en-US" sz="1400" kern="0" spc="-80" dirty="0">
                <a:solidFill>
                  <a:schemeClr val="accent2"/>
                </a:solidFill>
              </a:rPr>
              <a:t>Techniques</a:t>
            </a:r>
          </a:p>
          <a:p>
            <a:pPr marL="12700" marR="5080"/>
            <a:r>
              <a:rPr lang="en-US" sz="1400" kern="0" spc="-80" dirty="0">
                <a:solidFill>
                  <a:schemeClr val="accent6"/>
                </a:solidFill>
              </a:rPr>
              <a:t>TLS</a:t>
            </a:r>
          </a:p>
          <a:p>
            <a:pPr marL="12700" marR="5080"/>
            <a:r>
              <a:rPr lang="en-US" sz="1400" kern="0" spc="-80" dirty="0">
                <a:solidFill>
                  <a:schemeClr val="accent6"/>
                </a:solidFill>
              </a:rPr>
              <a:t>Encrypt stored API secrets</a:t>
            </a:r>
          </a:p>
          <a:p>
            <a:pPr marL="12700" marR="5080"/>
            <a:r>
              <a:rPr lang="en-US" sz="1400" kern="0" spc="-80" dirty="0">
                <a:solidFill>
                  <a:schemeClr val="accent6"/>
                </a:solidFill>
              </a:rPr>
              <a:t>Secret managers</a:t>
            </a:r>
          </a:p>
          <a:p>
            <a:pPr marL="12700" marR="5080"/>
            <a:r>
              <a:rPr lang="en-US" sz="1400" kern="0" spc="-80" dirty="0">
                <a:solidFill>
                  <a:schemeClr val="accent6"/>
                </a:solidFill>
              </a:rPr>
              <a:t>Token exchange</a:t>
            </a:r>
          </a:p>
          <a:p>
            <a:pPr marL="12700" marR="5080"/>
            <a:r>
              <a:rPr lang="en-US" sz="1400" kern="0" spc="-80" dirty="0">
                <a:solidFill>
                  <a:schemeClr val="accent6"/>
                </a:solidFill>
              </a:rPr>
              <a:t>Per-tenant credentials</a:t>
            </a:r>
          </a:p>
          <a:p>
            <a:pPr marL="12700" marR="5080"/>
            <a:r>
              <a:rPr lang="en-US" sz="1400" kern="0" spc="-80" dirty="0">
                <a:solidFill>
                  <a:schemeClr val="accent2"/>
                </a:solidFill>
              </a:rPr>
              <a:t>Gotchas</a:t>
            </a:r>
          </a:p>
          <a:p>
            <a:pPr marL="12700" marR="5080"/>
            <a:r>
              <a:rPr lang="en-US" sz="1400" kern="0" spc="-80" dirty="0">
                <a:solidFill>
                  <a:schemeClr val="accent6"/>
                </a:solidFill>
              </a:rPr>
              <a:t>Hardcoded secrets</a:t>
            </a:r>
          </a:p>
          <a:p>
            <a:pPr marL="12700" marR="5080"/>
            <a:r>
              <a:rPr lang="en-US" sz="1400" kern="0" spc="-80" dirty="0">
                <a:solidFill>
                  <a:schemeClr val="accent6"/>
                </a:solidFill>
              </a:rPr>
              <a:t>One key for all customers</a:t>
            </a:r>
          </a:p>
          <a:p>
            <a:pPr marL="12700" marR="5080"/>
            <a:r>
              <a:rPr lang="en-US" sz="1400" kern="0" spc="-80" dirty="0">
                <a:solidFill>
                  <a:schemeClr val="accent6"/>
                </a:solidFill>
              </a:rPr>
              <a:t>Logging headers or payloads blindly</a:t>
            </a:r>
          </a:p>
          <a:p>
            <a:pPr marL="12700" marR="5080"/>
            <a:endParaRPr lang="en-US" sz="1400" kern="0" spc="-80" dirty="0">
              <a:solidFill>
                <a:schemeClr val="accent6"/>
              </a:solidFill>
            </a:endParaRP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B09934F6-0F45-075B-6192-1BC4405CE0B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D09C8DF-54FB-4240-F828-5B47EACB94C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1D9A7D8-E370-66F8-43D0-3B827751995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229123836"/>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A42E36-DE6F-0C61-6F87-C3910BBA6F8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4BB7CD1-DEA4-9124-A6F5-1950A12115C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C1604A4-598B-A2EB-3059-2EE74D6579F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AB66EA9-D985-40AB-1318-BB93A4599E7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00A5D2E-3D90-DBBD-56EA-7F2BFB88B588}"/>
              </a:ext>
            </a:extLst>
          </p:cNvPr>
          <p:cNvSpPr txBox="1">
            <a:spLocks/>
          </p:cNvSpPr>
          <p:nvPr/>
        </p:nvSpPr>
        <p:spPr>
          <a:xfrm>
            <a:off x="76200" y="692527"/>
            <a:ext cx="8624937" cy="403187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5. API / Background Service → External API</a:t>
            </a:r>
          </a:p>
          <a:p>
            <a:pPr marL="12700" marR="5080"/>
            <a:r>
              <a:rPr lang="en-US" sz="1400" kern="0" spc="-80" dirty="0">
                <a:solidFill>
                  <a:schemeClr val="accent2"/>
                </a:solidFill>
              </a:rPr>
              <a:t>Integrity</a:t>
            </a:r>
          </a:p>
          <a:p>
            <a:pPr marL="12700" marR="5080"/>
            <a:r>
              <a:rPr lang="en-US" sz="1400" kern="0" spc="-80" dirty="0">
                <a:solidFill>
                  <a:schemeClr val="accent6"/>
                </a:solidFill>
              </a:rPr>
              <a:t>Request signing(HMAC / RSA)</a:t>
            </a:r>
          </a:p>
          <a:p>
            <a:pPr marL="12700" marR="5080"/>
            <a:r>
              <a:rPr lang="en-US" sz="1400" kern="0" spc="-80" dirty="0">
                <a:solidFill>
                  <a:schemeClr val="accent6"/>
                </a:solidFill>
              </a:rPr>
              <a:t>Idempotency keys</a:t>
            </a:r>
          </a:p>
          <a:p>
            <a:pPr marL="12700" marR="5080"/>
            <a:r>
              <a:rPr lang="en-US" sz="1400" kern="0" spc="-80" dirty="0">
                <a:solidFill>
                  <a:schemeClr val="accent6"/>
                </a:solidFill>
              </a:rPr>
              <a:t>Verify response signatures (if supported)</a:t>
            </a:r>
          </a:p>
          <a:p>
            <a:pPr marL="12700" marR="5080"/>
            <a:r>
              <a:rPr lang="en-US" sz="1400" kern="0" spc="-80" dirty="0">
                <a:solidFill>
                  <a:schemeClr val="accent6"/>
                </a:solidFill>
              </a:rPr>
              <a:t>Webhooks verification</a:t>
            </a:r>
          </a:p>
          <a:p>
            <a:pPr marL="12700" marR="5080"/>
            <a:r>
              <a:rPr lang="en-US" sz="1400" kern="0" spc="-80" dirty="0">
                <a:solidFill>
                  <a:schemeClr val="accent2"/>
                </a:solidFill>
              </a:rPr>
              <a:t>Techniques</a:t>
            </a:r>
            <a:endParaRPr lang="en-US" sz="1400" kern="0" spc="-80" dirty="0">
              <a:solidFill>
                <a:schemeClr val="accent6"/>
              </a:solidFill>
            </a:endParaRPr>
          </a:p>
          <a:p>
            <a:pPr marL="12700" marR="5080"/>
            <a:r>
              <a:rPr lang="en-US" sz="1400" kern="0" spc="-80" dirty="0">
                <a:solidFill>
                  <a:schemeClr val="accent6"/>
                </a:solidFill>
              </a:rPr>
              <a:t>HMAC signatures</a:t>
            </a:r>
          </a:p>
          <a:p>
            <a:pPr marL="12700" marR="5080"/>
            <a:r>
              <a:rPr lang="en-US" sz="1400" kern="0" spc="-80" dirty="0">
                <a:solidFill>
                  <a:schemeClr val="accent6"/>
                </a:solidFill>
              </a:rPr>
              <a:t>Timestamp + nonce</a:t>
            </a:r>
          </a:p>
          <a:p>
            <a:pPr marL="12700" marR="5080"/>
            <a:endParaRPr lang="en-US" sz="1400" kern="0" spc="-80" dirty="0">
              <a:solidFill>
                <a:schemeClr val="accent6"/>
              </a:solidFill>
            </a:endParaRPr>
          </a:p>
          <a:p>
            <a:pPr marL="12700" marR="5080"/>
            <a:r>
              <a:rPr lang="en-US" sz="1400" kern="0" spc="-80" dirty="0">
                <a:solidFill>
                  <a:schemeClr val="accent2"/>
                </a:solidFill>
              </a:rPr>
              <a:t>Availability</a:t>
            </a:r>
          </a:p>
          <a:p>
            <a:pPr marL="12700" marR="5080"/>
            <a:r>
              <a:rPr lang="en-US" sz="1400" kern="0" spc="-80" dirty="0">
                <a:solidFill>
                  <a:schemeClr val="accent6"/>
                </a:solidFill>
              </a:rPr>
              <a:t>External dependency risk</a:t>
            </a:r>
          </a:p>
          <a:p>
            <a:pPr marL="12700" marR="5080"/>
            <a:r>
              <a:rPr lang="en-US" sz="1400" kern="0" spc="-80" dirty="0">
                <a:solidFill>
                  <a:schemeClr val="accent2"/>
                </a:solidFill>
              </a:rPr>
              <a:t>Techniques</a:t>
            </a:r>
          </a:p>
          <a:p>
            <a:pPr marL="12700" marR="5080"/>
            <a:r>
              <a:rPr lang="en-US" sz="1400" kern="0" spc="-80" dirty="0">
                <a:solidFill>
                  <a:schemeClr val="accent6"/>
                </a:solidFill>
              </a:rPr>
              <a:t>Timeouts</a:t>
            </a:r>
          </a:p>
          <a:p>
            <a:pPr marL="12700" marR="5080"/>
            <a:r>
              <a:rPr lang="en-US" sz="1400" kern="0" spc="-80" dirty="0">
                <a:solidFill>
                  <a:schemeClr val="accent6"/>
                </a:solidFill>
              </a:rPr>
              <a:t>Fallback providers</a:t>
            </a:r>
          </a:p>
          <a:p>
            <a:pPr marL="12700" marR="5080"/>
            <a:r>
              <a:rPr lang="en-US" sz="1400" kern="0" spc="-80" dirty="0">
                <a:solidFill>
                  <a:schemeClr val="accent6"/>
                </a:solidFill>
              </a:rPr>
              <a:t>Graceful degradation</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85E7AEEB-5ABC-52D9-C435-ADD9ED534AA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9F54CA4-2C3B-7359-EC31-528BC90748E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10C033A6-F018-032C-FC73-1EC6A020E66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766630321"/>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67DFC-3B43-EF18-8FE1-A9216C289F0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8436D6C-7CDD-802C-C437-45567E8C810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9EF251B-ACC7-41BD-3EF8-4318DA48E01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A1D0419-46B5-8D68-7202-9B8085EA43A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67AC2CF-142F-5FDC-8C52-8EEFE3844A44}"/>
              </a:ext>
            </a:extLst>
          </p:cNvPr>
          <p:cNvSpPr txBox="1">
            <a:spLocks/>
          </p:cNvSpPr>
          <p:nvPr/>
        </p:nvSpPr>
        <p:spPr>
          <a:xfrm>
            <a:off x="76200" y="71884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Cross-Cutting Best Practices (All 5)</a:t>
            </a:r>
          </a:p>
          <a:p>
            <a:pPr marL="12700" marR="5080"/>
            <a:r>
              <a:rPr lang="en-US" sz="1400" kern="0" spc="-80" dirty="0">
                <a:solidFill>
                  <a:schemeClr val="accent2"/>
                </a:solidFill>
              </a:rPr>
              <a:t>Token Strategy</a:t>
            </a:r>
          </a:p>
          <a:p>
            <a:pPr marL="12700" marR="5080"/>
            <a:r>
              <a:rPr lang="en-US" sz="1400" kern="0" spc="-80" dirty="0">
                <a:solidFill>
                  <a:schemeClr val="accent6"/>
                </a:solidFill>
              </a:rPr>
              <a:t>Access token: short-lived</a:t>
            </a:r>
          </a:p>
          <a:p>
            <a:pPr marL="12700" marR="5080"/>
            <a:r>
              <a:rPr lang="en-US" sz="1400" kern="0" spc="-80" dirty="0">
                <a:solidFill>
                  <a:schemeClr val="accent6"/>
                </a:solidFill>
              </a:rPr>
              <a:t>Refresh token: rotatable</a:t>
            </a:r>
          </a:p>
          <a:p>
            <a:pPr marL="12700" marR="5080"/>
            <a:r>
              <a:rPr lang="en-US" sz="1400" kern="0" spc="-80" dirty="0">
                <a:solidFill>
                  <a:schemeClr val="accent6"/>
                </a:solidFill>
              </a:rPr>
              <a:t>Audience (</a:t>
            </a:r>
            <a:r>
              <a:rPr lang="en-US" sz="1400" kern="0" spc="-80" dirty="0" err="1">
                <a:solidFill>
                  <a:schemeClr val="accent6"/>
                </a:solidFill>
              </a:rPr>
              <a:t>aud</a:t>
            </a:r>
            <a:r>
              <a:rPr lang="en-US" sz="1400" kern="0" spc="-80" dirty="0">
                <a:solidFill>
                  <a:schemeClr val="accent6"/>
                </a:solidFill>
              </a:rPr>
              <a:t>) validation</a:t>
            </a:r>
          </a:p>
          <a:p>
            <a:pPr marL="12700" marR="5080"/>
            <a:r>
              <a:rPr lang="en-US" sz="1400" kern="0" spc="-80" dirty="0">
                <a:solidFill>
                  <a:schemeClr val="accent6"/>
                </a:solidFill>
              </a:rPr>
              <a:t>Issuer (</a:t>
            </a:r>
            <a:r>
              <a:rPr lang="en-US" sz="1400" kern="0" spc="-80" dirty="0" err="1">
                <a:solidFill>
                  <a:schemeClr val="accent6"/>
                </a:solidFill>
              </a:rPr>
              <a:t>iss</a:t>
            </a:r>
            <a:r>
              <a:rPr lang="en-US" sz="1400" kern="0" spc="-80" dirty="0">
                <a:solidFill>
                  <a:schemeClr val="accent6"/>
                </a:solidFill>
              </a:rPr>
              <a:t>) validation</a:t>
            </a:r>
          </a:p>
          <a:p>
            <a:pPr marL="12700" marR="5080"/>
            <a:r>
              <a:rPr lang="en-US" sz="1400" kern="0" spc="-80" dirty="0">
                <a:solidFill>
                  <a:schemeClr val="accent2"/>
                </a:solidFill>
              </a:rPr>
              <a:t>Secrets Management</a:t>
            </a:r>
          </a:p>
          <a:p>
            <a:pPr marL="12700" marR="5080"/>
            <a:r>
              <a:rPr lang="en-US" sz="1400" kern="0" spc="-80" dirty="0">
                <a:solidFill>
                  <a:schemeClr val="accent6"/>
                </a:solidFill>
              </a:rPr>
              <a:t>Vault / KMS / Azure Key Vault</a:t>
            </a:r>
          </a:p>
          <a:p>
            <a:pPr marL="12700" marR="5080"/>
            <a:r>
              <a:rPr lang="en-US" sz="1400" kern="0" spc="-80" dirty="0">
                <a:solidFill>
                  <a:schemeClr val="accent6"/>
                </a:solidFill>
              </a:rPr>
              <a:t>Never commit secrets</a:t>
            </a:r>
          </a:p>
          <a:p>
            <a:pPr marL="12700" marR="5080"/>
            <a:r>
              <a:rPr lang="en-US" sz="1400" kern="0" spc="-80" dirty="0">
                <a:solidFill>
                  <a:schemeClr val="accent6"/>
                </a:solidFill>
              </a:rPr>
              <a:t>Automatic rotation</a:t>
            </a:r>
          </a:p>
          <a:p>
            <a:pPr marL="12700" marR="5080"/>
            <a:r>
              <a:rPr lang="en-US" sz="1400" kern="0" spc="-80" dirty="0">
                <a:solidFill>
                  <a:schemeClr val="accent2"/>
                </a:solidFill>
              </a:rPr>
              <a:t>Zero Trust Alignment</a:t>
            </a:r>
          </a:p>
          <a:p>
            <a:pPr marL="12700" marR="5080"/>
            <a:r>
              <a:rPr lang="en-US" sz="1400" kern="0" spc="-80" dirty="0">
                <a:solidFill>
                  <a:schemeClr val="accent6"/>
                </a:solidFill>
              </a:rPr>
              <a:t>Never trust UI</a:t>
            </a:r>
          </a:p>
          <a:p>
            <a:pPr marL="12700" marR="5080"/>
            <a:r>
              <a:rPr lang="en-US" sz="1400" kern="0" spc="-80" dirty="0">
                <a:solidFill>
                  <a:schemeClr val="accent6"/>
                </a:solidFill>
              </a:rPr>
              <a:t>Never trust network</a:t>
            </a:r>
          </a:p>
          <a:p>
            <a:pPr marL="12700" marR="5080"/>
            <a:r>
              <a:rPr lang="en-US" sz="1400" kern="0" spc="-80" dirty="0">
                <a:solidFill>
                  <a:schemeClr val="accent6"/>
                </a:solidFill>
              </a:rPr>
              <a:t>Identity everywhere (user, device, workload)</a:t>
            </a:r>
          </a:p>
          <a:p>
            <a:pPr marL="12700" marR="5080"/>
            <a:r>
              <a:rPr lang="en-US" sz="1400" kern="0" spc="-80" dirty="0">
                <a:solidFill>
                  <a:schemeClr val="accent2"/>
                </a:solidFill>
              </a:rPr>
              <a:t>Logging &amp; Monitoring</a:t>
            </a:r>
          </a:p>
          <a:p>
            <a:pPr marL="12700" marR="5080"/>
            <a:r>
              <a:rPr lang="en-US" sz="1400" kern="0" spc="-80" dirty="0">
                <a:solidFill>
                  <a:schemeClr val="accent6"/>
                </a:solidFill>
              </a:rPr>
              <a:t>Auth failures</a:t>
            </a:r>
          </a:p>
          <a:p>
            <a:pPr marL="12700" marR="5080"/>
            <a:r>
              <a:rPr lang="en-US" sz="1400" kern="0" spc="-80" dirty="0">
                <a:solidFill>
                  <a:schemeClr val="accent6"/>
                </a:solidFill>
              </a:rPr>
              <a:t>Token misuse</a:t>
            </a:r>
          </a:p>
          <a:p>
            <a:pPr marL="12700" marR="5080"/>
            <a:r>
              <a:rPr lang="en-US" sz="1400" kern="0" spc="-80" dirty="0">
                <a:solidFill>
                  <a:schemeClr val="accent6"/>
                </a:solidFill>
              </a:rPr>
              <a:t>Unusual API call patterns</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D9E88843-935E-3E6D-99F2-9FACCC04EC4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EE61E04-AB76-7248-69FA-AC6CF8BC33B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EEB7F42-6FF4-36DB-200A-28A0495A748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976320518"/>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2FE3B-24BE-8EBC-99D5-1945ECAEAD0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A92CF2F-26EA-4D65-B429-2EE8BBBD2A4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0302ACB-B415-14FF-B870-A5BCCA7A90B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F904F800-A677-8B72-3919-B88CCAF4A35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E7BCAB2-29BB-8D38-F8AD-17C7C6C06CAA}"/>
              </a:ext>
            </a:extLst>
          </p:cNvPr>
          <p:cNvSpPr txBox="1">
            <a:spLocks/>
          </p:cNvSpPr>
          <p:nvPr/>
        </p:nvSpPr>
        <p:spPr>
          <a:xfrm>
            <a:off x="76200" y="731996"/>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Threats &amp; Mitigations Mapping</a:t>
            </a:r>
          </a:p>
          <a:p>
            <a:pPr marL="12700" marR="5080"/>
            <a:r>
              <a:rPr lang="en-US" sz="1400" kern="0" spc="-80" dirty="0">
                <a:solidFill>
                  <a:schemeClr val="accent2"/>
                </a:solidFill>
              </a:rPr>
              <a:t>Threat	                   Mitigation</a:t>
            </a:r>
          </a:p>
          <a:p>
            <a:pPr marL="12700" marR="5080"/>
            <a:r>
              <a:rPr lang="en-US" sz="1400" kern="0" spc="-80" dirty="0">
                <a:solidFill>
                  <a:schemeClr val="accent6"/>
                </a:solidFill>
              </a:rPr>
              <a:t>Token theft	</a:t>
            </a:r>
            <a:r>
              <a:rPr lang="en-US" sz="1400" kern="0" spc="-80" dirty="0" err="1">
                <a:solidFill>
                  <a:schemeClr val="accent6"/>
                </a:solidFill>
              </a:rPr>
              <a:t>HttpOnly</a:t>
            </a:r>
            <a:r>
              <a:rPr lang="en-US" sz="1400" kern="0" spc="-80" dirty="0">
                <a:solidFill>
                  <a:schemeClr val="accent6"/>
                </a:solidFill>
              </a:rPr>
              <a:t> cookies, short TTL</a:t>
            </a:r>
          </a:p>
          <a:p>
            <a:pPr marL="12700" marR="5080"/>
            <a:r>
              <a:rPr lang="en-US" sz="1400" kern="0" spc="-80" dirty="0">
                <a:solidFill>
                  <a:schemeClr val="accent6"/>
                </a:solidFill>
              </a:rPr>
              <a:t>CSRF	                   </a:t>
            </a:r>
            <a:r>
              <a:rPr lang="en-US" sz="1400" kern="0" spc="-80" dirty="0" err="1">
                <a:solidFill>
                  <a:schemeClr val="accent6"/>
                </a:solidFill>
              </a:rPr>
              <a:t>SameSite</a:t>
            </a:r>
            <a:r>
              <a:rPr lang="en-US" sz="1400" kern="0" spc="-80" dirty="0">
                <a:solidFill>
                  <a:schemeClr val="accent6"/>
                </a:solidFill>
              </a:rPr>
              <a:t> cookies, CSRF tokens</a:t>
            </a:r>
          </a:p>
          <a:p>
            <a:pPr marL="12700" marR="5080"/>
            <a:r>
              <a:rPr lang="en-US" sz="1400" kern="0" spc="-80" dirty="0">
                <a:solidFill>
                  <a:schemeClr val="accent6"/>
                </a:solidFill>
              </a:rPr>
              <a:t>XSS	                   CSP, encoding</a:t>
            </a:r>
          </a:p>
          <a:p>
            <a:pPr marL="12700" marR="5080"/>
            <a:r>
              <a:rPr lang="en-US" sz="1400" kern="0" spc="-80" dirty="0">
                <a:solidFill>
                  <a:schemeClr val="accent6"/>
                </a:solidFill>
              </a:rPr>
              <a:t>Replay	                   Nonce, timestamp</a:t>
            </a:r>
          </a:p>
          <a:p>
            <a:pPr marL="12700" marR="5080"/>
            <a:r>
              <a:rPr lang="en-US" sz="1400" kern="0" spc="-80" dirty="0">
                <a:solidFill>
                  <a:schemeClr val="accent6"/>
                </a:solidFill>
              </a:rPr>
              <a:t>Privilege escalation	Server-side </a:t>
            </a:r>
            <a:r>
              <a:rPr lang="en-US" sz="1400" kern="0" spc="-80" dirty="0" err="1">
                <a:solidFill>
                  <a:schemeClr val="accent6"/>
                </a:solidFill>
              </a:rPr>
              <a:t>authZ</a:t>
            </a:r>
            <a:endParaRPr lang="en-US" sz="1400" kern="0" spc="-80" dirty="0">
              <a:solidFill>
                <a:schemeClr val="accent6"/>
              </a:solidFill>
            </a:endParaRPr>
          </a:p>
          <a:p>
            <a:pPr marL="12700" marR="5080"/>
            <a:r>
              <a:rPr lang="en-US" sz="1400" kern="0" spc="-80" dirty="0">
                <a:solidFill>
                  <a:schemeClr val="accent6"/>
                </a:solidFill>
              </a:rPr>
              <a:t>Man-in-the-middle	TLS + cert pinning</a:t>
            </a:r>
          </a:p>
          <a:p>
            <a:pPr marL="12700" marR="5080"/>
            <a:r>
              <a:rPr lang="en-US" sz="1400" kern="0" spc="-80" dirty="0">
                <a:solidFill>
                  <a:schemeClr val="accent6"/>
                </a:solidFill>
              </a:rPr>
              <a:t>Insider abuse	Least privilege, audit logs</a:t>
            </a:r>
          </a:p>
          <a:p>
            <a:pPr marL="12700" marR="5080"/>
            <a:endParaRPr lang="en-US" sz="1400" kern="0" spc="-80" dirty="0">
              <a:solidFill>
                <a:schemeClr val="accent6"/>
              </a:solidFill>
            </a:endParaRPr>
          </a:p>
          <a:p>
            <a:pPr marL="12700" marR="5080"/>
            <a:r>
              <a:rPr lang="en-US" sz="1400" kern="0" spc="-80" dirty="0">
                <a:solidFill>
                  <a:schemeClr val="accent2"/>
                </a:solidFill>
              </a:rPr>
              <a:t>Common Enterprise Gotchas </a:t>
            </a:r>
          </a:p>
          <a:p>
            <a:pPr marL="12700" marR="5080"/>
            <a:r>
              <a:rPr lang="en-US" sz="1400" kern="0" spc="-80" dirty="0">
                <a:solidFill>
                  <a:schemeClr val="accent6"/>
                </a:solidFill>
              </a:rPr>
              <a:t>Login is “secure”, rest of app is not</a:t>
            </a:r>
          </a:p>
          <a:p>
            <a:pPr marL="12700" marR="5080"/>
            <a:r>
              <a:rPr lang="en-US" sz="1400" kern="0" spc="-80" dirty="0">
                <a:solidFill>
                  <a:schemeClr val="accent6"/>
                </a:solidFill>
              </a:rPr>
              <a:t>Authorization logic duplicated everywhere</a:t>
            </a:r>
          </a:p>
          <a:p>
            <a:pPr marL="12700" marR="5080"/>
            <a:r>
              <a:rPr lang="en-US" sz="1400" kern="0" spc="-80" dirty="0">
                <a:solidFill>
                  <a:schemeClr val="accent6"/>
                </a:solidFill>
              </a:rPr>
              <a:t>No audit trail for reads</a:t>
            </a:r>
          </a:p>
          <a:p>
            <a:pPr marL="12700" marR="5080"/>
            <a:r>
              <a:rPr lang="en-US" sz="1400" kern="0" spc="-80" dirty="0">
                <a:solidFill>
                  <a:schemeClr val="accent6"/>
                </a:solidFill>
              </a:rPr>
              <a:t>Long-lived tokens everywhere</a:t>
            </a:r>
          </a:p>
          <a:p>
            <a:pPr marL="12700" marR="5080"/>
            <a:r>
              <a:rPr lang="en-US" sz="1400" kern="0" spc="-80" dirty="0">
                <a:solidFill>
                  <a:schemeClr val="accent6"/>
                </a:solidFill>
              </a:rPr>
              <a:t>Treating mobile apps as trusted clients</a:t>
            </a:r>
          </a:p>
          <a:p>
            <a:pPr marL="12700" marR="5080"/>
            <a:r>
              <a:rPr lang="en-US" sz="1400" kern="0" spc="-80" dirty="0">
                <a:solidFill>
                  <a:schemeClr val="accent6"/>
                </a:solidFill>
              </a:rPr>
              <a:t>Shared service credentials</a:t>
            </a:r>
          </a:p>
          <a:p>
            <a:pPr marL="12700" marR="5080"/>
            <a:endParaRPr lang="en-US" sz="1400" kern="0" spc="-80" dirty="0">
              <a:solidFill>
                <a:schemeClr val="accent6"/>
              </a:solidFill>
            </a:endParaRPr>
          </a:p>
          <a:p>
            <a:pPr marL="12700" marR="5080"/>
            <a:endParaRPr lang="en-US" sz="1400" kern="0" spc="-80" dirty="0">
              <a:solidFill>
                <a:schemeClr val="accent6"/>
              </a:solidFill>
            </a:endParaRP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4741F785-B2B2-D63D-8457-52F6EE99131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BB7556E-AB86-2B43-F139-910F5E7ED8F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292D2C6C-4C90-F003-9137-805F6A6CED5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46809346"/>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5A9A1-25F3-87F7-B28D-4B0DA83A65A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05073A0-9DF1-389A-4E55-97369ADBB2A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E7D86F8-7360-C2AE-D445-FFF91BC561A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B8CDD44-7F31-64BC-29F4-2AA5797C785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64FE599-3C7C-C1D5-4C6B-137DE0167A53}"/>
              </a:ext>
            </a:extLst>
          </p:cNvPr>
          <p:cNvSpPr txBox="1">
            <a:spLocks/>
          </p:cNvSpPr>
          <p:nvPr/>
        </p:nvSpPr>
        <p:spPr>
          <a:xfrm>
            <a:off x="76200" y="670203"/>
            <a:ext cx="8624937" cy="295465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AAA &amp; CIA for various modes of Communication</a:t>
            </a:r>
          </a:p>
          <a:p>
            <a:pPr marL="12700" marR="5080"/>
            <a:r>
              <a:rPr lang="en-US" sz="1400" kern="0" spc="-80" dirty="0">
                <a:solidFill>
                  <a:schemeClr val="accent2"/>
                </a:solidFill>
              </a:rPr>
              <a:t>Mental Model </a:t>
            </a:r>
          </a:p>
          <a:p>
            <a:pPr marL="12700" marR="5080"/>
            <a:r>
              <a:rPr lang="en-US" sz="1400" kern="0" spc="-80" dirty="0">
                <a:solidFill>
                  <a:schemeClr val="accent2"/>
                </a:solidFill>
              </a:rPr>
              <a:t>Think in parallel dimensions:</a:t>
            </a:r>
          </a:p>
          <a:p>
            <a:pPr marL="12700" marR="5080"/>
            <a:r>
              <a:rPr lang="en-US" sz="1400" kern="0" spc="-80" dirty="0">
                <a:solidFill>
                  <a:schemeClr val="accent6"/>
                </a:solidFill>
              </a:rPr>
              <a:t>WHO is calling?  → Authentication</a:t>
            </a:r>
          </a:p>
          <a:p>
            <a:pPr marL="12700" marR="5080"/>
            <a:r>
              <a:rPr lang="en-US" sz="1400" kern="0" spc="-80" dirty="0">
                <a:solidFill>
                  <a:schemeClr val="accent6"/>
                </a:solidFill>
              </a:rPr>
              <a:t>WHAT can they do? → Authorization</a:t>
            </a:r>
          </a:p>
          <a:p>
            <a:pPr marL="12700" marR="5080"/>
            <a:r>
              <a:rPr lang="en-US" sz="1400" kern="0" spc="-80" dirty="0">
                <a:solidFill>
                  <a:schemeClr val="accent6"/>
                </a:solidFill>
              </a:rPr>
              <a:t>HOW is data protected? → CIA</a:t>
            </a:r>
          </a:p>
          <a:p>
            <a:pPr marL="12700" marR="5080"/>
            <a:r>
              <a:rPr lang="en-US" sz="1400" kern="0" spc="-80" dirty="0">
                <a:solidFill>
                  <a:schemeClr val="accent6"/>
                </a:solidFill>
              </a:rPr>
              <a:t>WHAT happened? → Accounting</a:t>
            </a:r>
          </a:p>
          <a:p>
            <a:pPr marL="12700" marR="5080"/>
            <a:r>
              <a:rPr lang="en-US" sz="1400" kern="0" spc="-80" dirty="0">
                <a:solidFill>
                  <a:schemeClr val="accent6"/>
                </a:solidFill>
              </a:rPr>
              <a:t>Users → OIDC + cookies/tokens</a:t>
            </a:r>
          </a:p>
          <a:p>
            <a:pPr marL="12700" marR="5080"/>
            <a:r>
              <a:rPr lang="en-US" sz="1400" kern="0" spc="-80" dirty="0">
                <a:solidFill>
                  <a:schemeClr val="accent6"/>
                </a:solidFill>
              </a:rPr>
              <a:t>Browsers &amp; Mobile → Untrusted clients</a:t>
            </a:r>
          </a:p>
          <a:p>
            <a:pPr marL="12700" marR="5080"/>
            <a:r>
              <a:rPr lang="en-US" sz="1400" kern="0" spc="-80" dirty="0">
                <a:solidFill>
                  <a:schemeClr val="accent6"/>
                </a:solidFill>
              </a:rPr>
              <a:t>Services → </a:t>
            </a:r>
            <a:r>
              <a:rPr lang="en-US" sz="1400" kern="0" spc="-80" dirty="0" err="1">
                <a:solidFill>
                  <a:schemeClr val="accent6"/>
                </a:solidFill>
              </a:rPr>
              <a:t>mTLS</a:t>
            </a:r>
            <a:r>
              <a:rPr lang="en-US" sz="1400" kern="0" spc="-80" dirty="0">
                <a:solidFill>
                  <a:schemeClr val="accent6"/>
                </a:solidFill>
              </a:rPr>
              <a:t> + OAuth</a:t>
            </a:r>
          </a:p>
          <a:p>
            <a:pPr marL="12700" marR="5080"/>
            <a:r>
              <a:rPr lang="en-US" sz="1400" kern="0" spc="-80" dirty="0">
                <a:solidFill>
                  <a:schemeClr val="accent6"/>
                </a:solidFill>
              </a:rPr>
              <a:t>Authorization → Always server-side</a:t>
            </a:r>
          </a:p>
          <a:p>
            <a:pPr marL="12700" marR="5080"/>
            <a:r>
              <a:rPr lang="en-US" sz="1400" kern="0" spc="-80" dirty="0">
                <a:solidFill>
                  <a:schemeClr val="accent6"/>
                </a:solidFill>
              </a:rPr>
              <a:t>Secrets → Never static, never in code</a:t>
            </a:r>
          </a:p>
          <a:p>
            <a:pPr marL="12700" marR="5080"/>
            <a:r>
              <a:rPr lang="en-US" sz="1400" kern="0" spc="-80" dirty="0">
                <a:solidFill>
                  <a:schemeClr val="accent6"/>
                </a:solidFill>
              </a:rPr>
              <a:t>Every interaction surface must answer all four.</a:t>
            </a:r>
          </a:p>
        </p:txBody>
      </p:sp>
      <p:grpSp>
        <p:nvGrpSpPr>
          <p:cNvPr id="7" name="Group 6">
            <a:extLst>
              <a:ext uri="{FF2B5EF4-FFF2-40B4-BE49-F238E27FC236}">
                <a16:creationId xmlns:a16="http://schemas.microsoft.com/office/drawing/2014/main" id="{E8921B79-D8E7-34D4-B30E-3F0E56063EF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4EB2D06C-FF77-023E-E6FE-6E718C22933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125BD1B4-D942-1DE1-D6B0-9C8037FAEB4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187965156"/>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D51D6-C743-BD35-2ADA-10524B82F5C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E5A583D-E7E4-D7B9-ABEC-660A0F658E0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360B904-7A5C-8936-1940-B6023AE9A72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FB71325-CF2D-EEC4-759A-43AC3A8A9D8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F8067D-A073-435A-73B6-5877C7AC23BF}"/>
              </a:ext>
            </a:extLst>
          </p:cNvPr>
          <p:cNvSpPr txBox="1">
            <a:spLocks/>
          </p:cNvSpPr>
          <p:nvPr/>
        </p:nvSpPr>
        <p:spPr>
          <a:xfrm>
            <a:off x="76200" y="731996"/>
            <a:ext cx="8624937"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Data Encryption, Data Masking, Data Obfuscation, Data Encoding, Data Anonymization</a:t>
            </a:r>
          </a:p>
        </p:txBody>
      </p:sp>
      <p:grpSp>
        <p:nvGrpSpPr>
          <p:cNvPr id="7" name="Group 6">
            <a:extLst>
              <a:ext uri="{FF2B5EF4-FFF2-40B4-BE49-F238E27FC236}">
                <a16:creationId xmlns:a16="http://schemas.microsoft.com/office/drawing/2014/main" id="{ECF1533A-3F4C-329F-10DA-154B1AAA719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CFEF731-1E5A-BB34-8A6E-66372B267AB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BFD9C233-FC6F-F03A-0439-4146FE8BF11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pic>
        <p:nvPicPr>
          <p:cNvPr id="10" name="Picture 9">
            <a:extLst>
              <a:ext uri="{FF2B5EF4-FFF2-40B4-BE49-F238E27FC236}">
                <a16:creationId xmlns:a16="http://schemas.microsoft.com/office/drawing/2014/main" id="{C3AE0962-1466-4C51-B3C5-1799E10C41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08" y="1413113"/>
            <a:ext cx="8986520" cy="2500291"/>
          </a:xfrm>
          <a:prstGeom prst="rect">
            <a:avLst/>
          </a:prstGeom>
        </p:spPr>
      </p:pic>
      <p:pic>
        <p:nvPicPr>
          <p:cNvPr id="12" name="Picture 11">
            <a:extLst>
              <a:ext uri="{FF2B5EF4-FFF2-40B4-BE49-F238E27FC236}">
                <a16:creationId xmlns:a16="http://schemas.microsoft.com/office/drawing/2014/main" id="{1CD1F957-1F77-D5EB-D0C7-49F951AE9F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936897"/>
            <a:ext cx="8986520" cy="2006703"/>
          </a:xfrm>
          <a:prstGeom prst="rect">
            <a:avLst/>
          </a:prstGeom>
        </p:spPr>
      </p:pic>
    </p:spTree>
    <p:extLst>
      <p:ext uri="{BB962C8B-B14F-4D97-AF65-F5344CB8AC3E}">
        <p14:creationId xmlns:p14="http://schemas.microsoft.com/office/powerpoint/2010/main" val="4117050421"/>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091D4-6EBA-4632-675A-63B7962F917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E0E2D8A-CDE7-B557-2541-92524D66739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3FE7653-49AB-87D6-A38E-BC77BE77B1C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EA52599-CDBA-A9D6-2B2F-A7A5BDE8C0A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26D8010-B031-8D54-738F-4C0F19402ADD}"/>
              </a:ext>
            </a:extLst>
          </p:cNvPr>
          <p:cNvSpPr txBox="1">
            <a:spLocks/>
          </p:cNvSpPr>
          <p:nvPr/>
        </p:nvSpPr>
        <p:spPr>
          <a:xfrm>
            <a:off x="76200" y="731996"/>
            <a:ext cx="8624937" cy="51398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Data Encryption, Data Masking, Data Obfuscation, Data Encoding, Data Anonymization</a:t>
            </a:r>
          </a:p>
          <a:p>
            <a:pPr marL="12700" marR="5080"/>
            <a:r>
              <a:rPr lang="en-US" sz="1400" kern="0" spc="-80" dirty="0">
                <a:solidFill>
                  <a:schemeClr val="accent2"/>
                </a:solidFill>
              </a:rPr>
              <a:t>Unified Example: "Sandip Ray"</a:t>
            </a:r>
          </a:p>
          <a:p>
            <a:pPr marL="12700" marR="5080"/>
            <a:r>
              <a:rPr lang="en-US" sz="1400" kern="0" spc="-80" dirty="0">
                <a:solidFill>
                  <a:schemeClr val="accent6"/>
                </a:solidFill>
              </a:rPr>
              <a:t>Imagine a database entry for a user named "Sandip Ray". Here is how each method transforms that specific data point:</a:t>
            </a:r>
          </a:p>
          <a:p>
            <a:pPr marL="12700" marR="5080"/>
            <a:r>
              <a:rPr lang="en-US" sz="1400" kern="0" spc="-80" dirty="0">
                <a:solidFill>
                  <a:schemeClr val="accent2"/>
                </a:solidFill>
              </a:rPr>
              <a:t>Data Encryption: </a:t>
            </a:r>
            <a:r>
              <a:rPr lang="en-US" sz="1400" kern="0" spc="-80" dirty="0">
                <a:solidFill>
                  <a:schemeClr val="accent6"/>
                </a:solidFill>
              </a:rPr>
              <a:t>Transforms it into ciphertext like U2FsdGVkX19n.... It is unreadable without a decryption key.</a:t>
            </a:r>
          </a:p>
          <a:p>
            <a:pPr marL="12700" marR="5080"/>
            <a:r>
              <a:rPr lang="en-US" sz="1400" kern="0" spc="-80" dirty="0">
                <a:solidFill>
                  <a:schemeClr val="accent2"/>
                </a:solidFill>
              </a:rPr>
              <a:t>Data Masking:</a:t>
            </a:r>
            <a:r>
              <a:rPr lang="en-US" sz="1400" kern="0" spc="-80" dirty="0">
                <a:solidFill>
                  <a:schemeClr val="accent6"/>
                </a:solidFill>
              </a:rPr>
              <a:t> Replaces it with a realistic substitute like "</a:t>
            </a:r>
            <a:r>
              <a:rPr lang="en-US" sz="1400" kern="0" spc="-80" dirty="0" err="1">
                <a:solidFill>
                  <a:schemeClr val="accent6"/>
                </a:solidFill>
              </a:rPr>
              <a:t>Saxxxx</a:t>
            </a:r>
            <a:r>
              <a:rPr lang="en-US" sz="1400" kern="0" spc="-80" dirty="0">
                <a:solidFill>
                  <a:schemeClr val="accent6"/>
                </a:solidFill>
              </a:rPr>
              <a:t> </a:t>
            </a:r>
            <a:r>
              <a:rPr lang="en-US" sz="1400" kern="0" spc="-80" dirty="0" err="1">
                <a:solidFill>
                  <a:schemeClr val="accent6"/>
                </a:solidFill>
              </a:rPr>
              <a:t>Rxx</a:t>
            </a:r>
            <a:r>
              <a:rPr lang="en-US" sz="1400" kern="0" spc="-80" dirty="0">
                <a:solidFill>
                  <a:schemeClr val="accent6"/>
                </a:solidFill>
              </a:rPr>
              <a:t>". The format is preserved so a developer can test the "Name" field, but the real identity is hidden.</a:t>
            </a:r>
          </a:p>
          <a:p>
            <a:pPr marL="12700" marR="5080"/>
            <a:r>
              <a:rPr lang="en-US" sz="1400" kern="0" spc="-80" dirty="0">
                <a:solidFill>
                  <a:schemeClr val="accent2"/>
                </a:solidFill>
              </a:rPr>
              <a:t>Data Obfuscation: </a:t>
            </a:r>
            <a:r>
              <a:rPr lang="en-US" sz="1400" kern="0" spc="-80" dirty="0">
                <a:solidFill>
                  <a:schemeClr val="accent6"/>
                </a:solidFill>
              </a:rPr>
              <a:t>Scrambles it to something like "</a:t>
            </a:r>
            <a:r>
              <a:rPr lang="en-US" sz="1400" kern="0" spc="-80" dirty="0" err="1">
                <a:solidFill>
                  <a:schemeClr val="accent6"/>
                </a:solidFill>
              </a:rPr>
              <a:t>eoaDneJ</a:t>
            </a:r>
            <a:r>
              <a:rPr lang="en-US" sz="1400" kern="0" spc="-80" dirty="0">
                <a:solidFill>
                  <a:schemeClr val="accent6"/>
                </a:solidFill>
              </a:rPr>
              <a:t>" or replaces it with symbols like "XXXX XXX". It makes the data confusing or unusable for its original intent.</a:t>
            </a:r>
          </a:p>
          <a:p>
            <a:pPr marL="12700" marR="5080"/>
            <a:r>
              <a:rPr lang="en-US" sz="1400" kern="0" spc="-80" dirty="0">
                <a:solidFill>
                  <a:schemeClr val="accent2"/>
                </a:solidFill>
              </a:rPr>
              <a:t>Data Encoding: </a:t>
            </a:r>
            <a:r>
              <a:rPr lang="en-US" sz="1400" kern="0" spc="-80" dirty="0">
                <a:solidFill>
                  <a:schemeClr val="accent6"/>
                </a:solidFill>
              </a:rPr>
              <a:t>Converts it to a different standard, such as "SmFuZSBEb2U=" (Base64). This is not for security; anyone can decode it instantly to see "Sandip Ray".</a:t>
            </a:r>
          </a:p>
          <a:p>
            <a:pPr marL="12700" marR="5080"/>
            <a:r>
              <a:rPr lang="en-US" sz="1400" kern="0" spc="-80" dirty="0">
                <a:solidFill>
                  <a:schemeClr val="accent2"/>
                </a:solidFill>
              </a:rPr>
              <a:t>Data Anonymization:</a:t>
            </a:r>
            <a:r>
              <a:rPr lang="en-US" sz="1400" kern="0" spc="-80" dirty="0">
                <a:solidFill>
                  <a:schemeClr val="accent6"/>
                </a:solidFill>
              </a:rPr>
              <a:t> Either removes the name entirely (leaving just "[REDACTED]") or aggregates it so "Sandip Ray" becomes just "Male, Age 40-50". The link back to the specific individual is permanently broken.</a:t>
            </a:r>
          </a:p>
          <a:p>
            <a:pPr marL="12700" marR="5080"/>
            <a:endParaRPr lang="en-US" sz="1400" kern="0" spc="-80" dirty="0">
              <a:solidFill>
                <a:schemeClr val="accent6"/>
              </a:solidFill>
            </a:endParaRPr>
          </a:p>
          <a:p>
            <a:pPr marL="12700" marR="5080"/>
            <a:r>
              <a:rPr lang="en-US" sz="1400" kern="0" spc="-80" dirty="0">
                <a:solidFill>
                  <a:schemeClr val="accent2"/>
                </a:solidFill>
              </a:rPr>
              <a:t>For Further Exploration</a:t>
            </a:r>
          </a:p>
          <a:p>
            <a:pPr marL="12700" marR="5080"/>
            <a:r>
              <a:rPr lang="en-US" sz="1400" dirty="0">
                <a:hlinkClick r:id="rId2"/>
              </a:rPr>
              <a:t>How to: Use Data Protection - .NET | Microsoft Learn</a:t>
            </a:r>
            <a:endParaRPr lang="en-US" sz="1400" dirty="0"/>
          </a:p>
          <a:p>
            <a:pPr marL="12700" marR="5080"/>
            <a:r>
              <a:rPr lang="en-US" sz="1400" dirty="0">
                <a:hlinkClick r:id="rId3"/>
              </a:rPr>
              <a:t>Building a Dynamic Data Masking and Declassification Pipeline in .NET</a:t>
            </a:r>
            <a:endParaRPr lang="en-US" sz="1400" dirty="0"/>
          </a:p>
          <a:p>
            <a:pPr marL="12700" marR="5080"/>
            <a:r>
              <a:rPr lang="en-IN" sz="1400" dirty="0">
                <a:hlinkClick r:id="rId4"/>
              </a:rPr>
              <a:t>How to Obfuscate C# Code | Blog | Digital.ai</a:t>
            </a:r>
            <a:endParaRPr lang="en-IN" sz="1400" dirty="0"/>
          </a:p>
          <a:p>
            <a:pPr marL="12700" marR="5080"/>
            <a:r>
              <a:rPr lang="en-US" sz="1400" dirty="0">
                <a:hlinkClick r:id="rId5"/>
              </a:rPr>
              <a:t>Evaluating Open-source Tools for Data Masking | Blog | Tonic.ai</a:t>
            </a:r>
            <a:endParaRPr lang="en-US" sz="1400" dirty="0"/>
          </a:p>
          <a:p>
            <a:pPr marL="12700" marR="5080"/>
            <a:r>
              <a:rPr lang="en-US" sz="1400" dirty="0">
                <a:hlinkClick r:id="rId6"/>
              </a:rPr>
              <a:t>Use </a:t>
            </a:r>
            <a:r>
              <a:rPr lang="en-US" sz="1400" dirty="0" err="1">
                <a:hlinkClick r:id="rId6"/>
              </a:rPr>
              <a:t>Dotfuscator</a:t>
            </a:r>
            <a:r>
              <a:rPr lang="en-US" sz="1400">
                <a:hlinkClick r:id="rId6"/>
              </a:rPr>
              <a:t> Community to protect .NET apps - Visual Studio (Windows) | Microsoft Learn</a:t>
            </a:r>
            <a:endParaRPr lang="en-US" sz="1400" kern="0" spc="-80" dirty="0">
              <a:solidFill>
                <a:schemeClr val="accent2"/>
              </a:solidFill>
            </a:endParaRPr>
          </a:p>
        </p:txBody>
      </p:sp>
      <p:grpSp>
        <p:nvGrpSpPr>
          <p:cNvPr id="7" name="Group 6">
            <a:extLst>
              <a:ext uri="{FF2B5EF4-FFF2-40B4-BE49-F238E27FC236}">
                <a16:creationId xmlns:a16="http://schemas.microsoft.com/office/drawing/2014/main" id="{1B3F1CD8-3AB3-DAE2-9C13-88F9656C1AE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41A2B97-27EA-34A9-D7FA-8EED2DBEB83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FF7BB73-3F53-1EC3-C764-D8B6D3F78D4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214150055"/>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4E070-1F9C-FC8A-ABC8-48122EEF785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BE7B10A-7E20-B72D-7B4C-135C939EE22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69108D8-A9CC-55E2-279D-EE006270CE6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F5683BC-23A7-F5D8-3F4F-A0488117C49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B936414-FB9D-1103-BFD7-9A565602480C}"/>
              </a:ext>
            </a:extLst>
          </p:cNvPr>
          <p:cNvSpPr txBox="1">
            <a:spLocks/>
          </p:cNvSpPr>
          <p:nvPr/>
        </p:nvSpPr>
        <p:spPr>
          <a:xfrm>
            <a:off x="76200" y="731996"/>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MFA(Multi-Factor Authentication)</a:t>
            </a:r>
          </a:p>
          <a:p>
            <a:pPr marL="12700" marR="5080"/>
            <a:r>
              <a:rPr lang="en-US" sz="1400" kern="0" spc="-80" dirty="0">
                <a:solidFill>
                  <a:schemeClr val="accent2"/>
                </a:solidFill>
              </a:rPr>
              <a:t>1. What is MFA (Core Idea)</a:t>
            </a:r>
          </a:p>
          <a:p>
            <a:pPr marL="12700" marR="5080"/>
            <a:r>
              <a:rPr lang="en-US" sz="1400" kern="0" spc="-80" dirty="0">
                <a:solidFill>
                  <a:schemeClr val="accent6"/>
                </a:solidFill>
              </a:rPr>
              <a:t>MFA = Verify identity using ≥2 independent factors</a:t>
            </a:r>
          </a:p>
          <a:p>
            <a:pPr marL="12700" marR="5080"/>
            <a:r>
              <a:rPr lang="en-US" sz="1400" kern="0" spc="-80" dirty="0">
                <a:solidFill>
                  <a:schemeClr val="accent6"/>
                </a:solidFill>
              </a:rPr>
              <a:t>Even if one factor is compromised, the attacker still cannot log in.</a:t>
            </a:r>
          </a:p>
          <a:p>
            <a:pPr marL="12700" marR="5080"/>
            <a:r>
              <a:rPr lang="en-US" sz="1400" kern="0" spc="-80" dirty="0">
                <a:solidFill>
                  <a:schemeClr val="accent2"/>
                </a:solidFill>
              </a:rPr>
              <a:t>Authentication Factors (The “3 + 1” model)</a:t>
            </a:r>
          </a:p>
          <a:p>
            <a:pPr marL="12700" marR="5080"/>
            <a:r>
              <a:rPr lang="en-US" sz="1400" kern="0" spc="-80" dirty="0">
                <a:solidFill>
                  <a:schemeClr val="accent2"/>
                </a:solidFill>
              </a:rPr>
              <a:t>Factor Type	   Description	                    Examples</a:t>
            </a:r>
          </a:p>
          <a:p>
            <a:pPr marL="12700" marR="5080"/>
            <a:r>
              <a:rPr lang="en-US" sz="1400" kern="0" spc="-80" dirty="0">
                <a:solidFill>
                  <a:schemeClr val="accent6"/>
                </a:solidFill>
              </a:rPr>
              <a:t>Knowledge	   Something you know	 Password, PIN</a:t>
            </a:r>
          </a:p>
          <a:p>
            <a:pPr marL="12700" marR="5080"/>
            <a:r>
              <a:rPr lang="en-US" sz="1400" kern="0" spc="-80" dirty="0">
                <a:solidFill>
                  <a:schemeClr val="accent6"/>
                </a:solidFill>
              </a:rPr>
              <a:t>Possession	   Something you have	                    Phone, hardware key</a:t>
            </a:r>
          </a:p>
          <a:p>
            <a:pPr marL="12700" marR="5080"/>
            <a:r>
              <a:rPr lang="en-US" sz="1400" kern="0" spc="-80" dirty="0">
                <a:solidFill>
                  <a:schemeClr val="accent6"/>
                </a:solidFill>
              </a:rPr>
              <a:t>Inherence	                       Something you are	                    Fingerprint, face</a:t>
            </a:r>
          </a:p>
          <a:p>
            <a:pPr marL="12700" marR="5080"/>
            <a:r>
              <a:rPr lang="en-US" sz="1400" kern="0" spc="-80" dirty="0">
                <a:solidFill>
                  <a:schemeClr val="accent6"/>
                </a:solidFill>
              </a:rPr>
              <a:t>Context (Adaptive)	   Something about you	 Location, device, behavior</a:t>
            </a:r>
          </a:p>
          <a:p>
            <a:pPr marL="12700" marR="5080"/>
            <a:r>
              <a:rPr lang="en-US" sz="1400" kern="0" spc="-80" dirty="0">
                <a:solidFill>
                  <a:schemeClr val="accent2"/>
                </a:solidFill>
              </a:rPr>
              <a:t>True MFA requires different factor categories, not just two passwords.</a:t>
            </a:r>
          </a:p>
          <a:p>
            <a:pPr marL="12700" marR="5080"/>
            <a:endParaRPr lang="en-US" sz="1400" kern="0" spc="-80" dirty="0">
              <a:solidFill>
                <a:schemeClr val="accent6"/>
              </a:solidFill>
            </a:endParaRPr>
          </a:p>
          <a:p>
            <a:pPr marL="12700" marR="5080"/>
            <a:r>
              <a:rPr lang="en-US" sz="1400" kern="0" spc="-80" dirty="0">
                <a:solidFill>
                  <a:schemeClr val="accent2"/>
                </a:solidFill>
              </a:rPr>
              <a:t>2. Why MFA Exists </a:t>
            </a:r>
          </a:p>
          <a:p>
            <a:pPr marL="12700" marR="5080"/>
            <a:r>
              <a:rPr lang="en-US" sz="1400" kern="0" spc="-80" dirty="0">
                <a:solidFill>
                  <a:schemeClr val="accent2"/>
                </a:solidFill>
              </a:rPr>
              <a:t>MFA Mitigates</a:t>
            </a:r>
          </a:p>
          <a:p>
            <a:pPr marL="12700" marR="5080"/>
            <a:r>
              <a:rPr lang="en-US" sz="1400" kern="0" spc="-80" dirty="0">
                <a:solidFill>
                  <a:schemeClr val="accent6"/>
                </a:solidFill>
              </a:rPr>
              <a:t>Credential stuffing</a:t>
            </a:r>
          </a:p>
          <a:p>
            <a:pPr marL="12700" marR="5080"/>
            <a:r>
              <a:rPr lang="en-US" sz="1400" kern="0" spc="-80" dirty="0">
                <a:solidFill>
                  <a:schemeClr val="accent6"/>
                </a:solidFill>
              </a:rPr>
              <a:t>Phishing attacks</a:t>
            </a:r>
          </a:p>
          <a:p>
            <a:pPr marL="12700" marR="5080"/>
            <a:r>
              <a:rPr lang="en-US" sz="1400" kern="0" spc="-80" dirty="0">
                <a:solidFill>
                  <a:schemeClr val="accent6"/>
                </a:solidFill>
              </a:rPr>
              <a:t>Password reuse</a:t>
            </a:r>
          </a:p>
          <a:p>
            <a:pPr marL="12700" marR="5080"/>
            <a:r>
              <a:rPr lang="en-US" sz="1400" kern="0" spc="-80" dirty="0">
                <a:solidFill>
                  <a:schemeClr val="accent6"/>
                </a:solidFill>
              </a:rPr>
              <a:t>Brute force attacks</a:t>
            </a:r>
          </a:p>
          <a:p>
            <a:pPr marL="12700" marR="5080"/>
            <a:r>
              <a:rPr lang="en-US" sz="1400" kern="0" spc="-80" dirty="0">
                <a:solidFill>
                  <a:schemeClr val="accent6"/>
                </a:solidFill>
              </a:rPr>
              <a:t>Database leaks</a:t>
            </a:r>
          </a:p>
          <a:p>
            <a:pPr marL="12700" marR="5080"/>
            <a:r>
              <a:rPr lang="en-US" sz="1400" kern="0" spc="-80" dirty="0">
                <a:solidFill>
                  <a:schemeClr val="accent6"/>
                </a:solidFill>
              </a:rPr>
              <a:t>Keylogging (partial)</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55EF14F3-E19D-0F6C-2883-C72E22C646A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BC69F2A-6FDF-C661-1689-76FCEE1E0F9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46E6659-E73F-13A5-B673-B96B0507A16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239799929"/>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39AD6-4756-57A2-12DA-6BF7A3EA012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208AFB9-FEF6-5BBE-956D-C6559692E20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DCD5CDF-27D1-FEC2-265B-1EA8F668299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E98322C-D882-C0E2-A632-1D42D1893E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72368D3-EC58-5BFD-126C-C9C3C1F4053A}"/>
              </a:ext>
            </a:extLst>
          </p:cNvPr>
          <p:cNvSpPr txBox="1">
            <a:spLocks/>
          </p:cNvSpPr>
          <p:nvPr/>
        </p:nvSpPr>
        <p:spPr>
          <a:xfrm>
            <a:off x="76200" y="820609"/>
            <a:ext cx="8624937" cy="49705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MFA(Multi-Factor Authentication)</a:t>
            </a:r>
          </a:p>
          <a:p>
            <a:pPr marL="12700" marR="5080"/>
            <a:r>
              <a:rPr lang="en-US" sz="1300" kern="0" spc="-80" dirty="0">
                <a:solidFill>
                  <a:schemeClr val="accent2"/>
                </a:solidFill>
              </a:rPr>
              <a:t>2. Why MFA Exists </a:t>
            </a:r>
          </a:p>
          <a:p>
            <a:pPr marL="12700" marR="5080"/>
            <a:r>
              <a:rPr lang="en-US" sz="1300" kern="0" spc="-80" dirty="0">
                <a:solidFill>
                  <a:schemeClr val="accent2"/>
                </a:solidFill>
              </a:rPr>
              <a:t>MFA Does NOT Fully Stop</a:t>
            </a:r>
          </a:p>
          <a:p>
            <a:pPr marL="12700" marR="5080"/>
            <a:r>
              <a:rPr lang="en-US" sz="1300" kern="0" spc="-80" dirty="0">
                <a:solidFill>
                  <a:schemeClr val="accent6"/>
                </a:solidFill>
              </a:rPr>
              <a:t>MFA fatigue attacks</a:t>
            </a:r>
          </a:p>
          <a:p>
            <a:pPr marL="12700" marR="5080"/>
            <a:r>
              <a:rPr lang="en-US" sz="1300" kern="0" spc="-80" dirty="0">
                <a:solidFill>
                  <a:schemeClr val="accent6"/>
                </a:solidFill>
              </a:rPr>
              <a:t>Session hijacking</a:t>
            </a:r>
          </a:p>
          <a:p>
            <a:pPr marL="12700" marR="5080"/>
            <a:r>
              <a:rPr lang="en-US" sz="1300" kern="0" spc="-80" dirty="0">
                <a:solidFill>
                  <a:schemeClr val="accent6"/>
                </a:solidFill>
              </a:rPr>
              <a:t>Real-time phishing proxies</a:t>
            </a:r>
          </a:p>
          <a:p>
            <a:pPr marL="12700" marR="5080"/>
            <a:r>
              <a:rPr lang="en-US" sz="1300" kern="0" spc="-80" dirty="0">
                <a:solidFill>
                  <a:schemeClr val="accent6"/>
                </a:solidFill>
              </a:rPr>
              <a:t>Malware on trusted devices</a:t>
            </a:r>
          </a:p>
          <a:p>
            <a:pPr marL="12700" marR="5080"/>
            <a:r>
              <a:rPr lang="en-US" sz="1300" kern="0" spc="-80" dirty="0">
                <a:solidFill>
                  <a:schemeClr val="accent6"/>
                </a:solidFill>
              </a:rPr>
              <a:t>SIM-swap attacks (SMS MFA)</a:t>
            </a:r>
          </a:p>
          <a:p>
            <a:pPr marL="12700" marR="5080"/>
            <a:endParaRPr lang="en-US" sz="1300" kern="0" spc="-80" dirty="0">
              <a:solidFill>
                <a:schemeClr val="accent6"/>
              </a:solidFill>
            </a:endParaRPr>
          </a:p>
          <a:p>
            <a:pPr marL="12700" marR="5080"/>
            <a:r>
              <a:rPr lang="en-US" sz="1300" kern="0" spc="-80" dirty="0">
                <a:solidFill>
                  <a:schemeClr val="accent2"/>
                </a:solidFill>
              </a:rPr>
              <a:t>3. MFA vs 2FA vs Strong Authentication</a:t>
            </a:r>
          </a:p>
          <a:p>
            <a:pPr marL="12700" marR="5080"/>
            <a:r>
              <a:rPr lang="en-US" sz="1300" kern="0" spc="-80" dirty="0">
                <a:solidFill>
                  <a:schemeClr val="accent2"/>
                </a:solidFill>
              </a:rPr>
              <a:t>Term	                   Meaning</a:t>
            </a:r>
          </a:p>
          <a:p>
            <a:pPr marL="12700" marR="5080"/>
            <a:r>
              <a:rPr lang="en-US" sz="1300" kern="0" spc="-80" dirty="0">
                <a:solidFill>
                  <a:schemeClr val="accent6"/>
                </a:solidFill>
              </a:rPr>
              <a:t>2FA	                   Exactly 2 factors</a:t>
            </a:r>
          </a:p>
          <a:p>
            <a:pPr marL="12700" marR="5080"/>
            <a:r>
              <a:rPr lang="en-US" sz="1300" kern="0" spc="-80" dirty="0">
                <a:solidFill>
                  <a:schemeClr val="accent6"/>
                </a:solidFill>
              </a:rPr>
              <a:t>MFA	                   2 or more factors</a:t>
            </a:r>
          </a:p>
          <a:p>
            <a:pPr marL="12700" marR="5080"/>
            <a:r>
              <a:rPr lang="en-US" sz="1300" kern="0" spc="-80" dirty="0">
                <a:solidFill>
                  <a:schemeClr val="accent6"/>
                </a:solidFill>
              </a:rPr>
              <a:t>Strong Auth	MFA + cryptographic binding</a:t>
            </a:r>
          </a:p>
          <a:p>
            <a:pPr marL="12700" marR="5080"/>
            <a:r>
              <a:rPr lang="en-US" sz="1300" kern="0" spc="-80" dirty="0" err="1">
                <a:solidFill>
                  <a:schemeClr val="accent6"/>
                </a:solidFill>
              </a:rPr>
              <a:t>Passwordless</a:t>
            </a:r>
            <a:r>
              <a:rPr lang="en-US" sz="1300" kern="0" spc="-80" dirty="0">
                <a:solidFill>
                  <a:schemeClr val="accent6"/>
                </a:solidFill>
              </a:rPr>
              <a:t>	MFA without passwords</a:t>
            </a:r>
          </a:p>
          <a:p>
            <a:pPr marL="12700" marR="5080"/>
            <a:r>
              <a:rPr lang="en-US" sz="1300" kern="0" spc="-80" dirty="0" err="1">
                <a:solidFill>
                  <a:schemeClr val="accent2"/>
                </a:solidFill>
              </a:rPr>
              <a:t>Passwordless</a:t>
            </a:r>
            <a:r>
              <a:rPr lang="en-US" sz="1300" kern="0" spc="-80" dirty="0">
                <a:solidFill>
                  <a:schemeClr val="accent2"/>
                </a:solidFill>
              </a:rPr>
              <a:t> ≠ MFA replacement, but an evolution of it.</a:t>
            </a:r>
          </a:p>
          <a:p>
            <a:pPr marL="12700" marR="5080"/>
            <a:endParaRPr lang="en-US" sz="1300" kern="0" spc="-80" dirty="0">
              <a:solidFill>
                <a:schemeClr val="accent2"/>
              </a:solidFill>
            </a:endParaRPr>
          </a:p>
          <a:p>
            <a:pPr marL="12700" marR="5080"/>
            <a:r>
              <a:rPr lang="en-US" sz="1300" kern="0" spc="-80" dirty="0">
                <a:solidFill>
                  <a:schemeClr val="accent2"/>
                </a:solidFill>
              </a:rPr>
              <a:t>4. Common MFA Methods (Deep Dive)</a:t>
            </a:r>
          </a:p>
          <a:p>
            <a:pPr marL="12700" marR="5080"/>
            <a:r>
              <a:rPr lang="en-US" sz="1300" kern="0" spc="-80" dirty="0">
                <a:solidFill>
                  <a:schemeClr val="accent2"/>
                </a:solidFill>
              </a:rPr>
              <a:t>4.1 SMS / Voice OTP</a:t>
            </a:r>
          </a:p>
          <a:p>
            <a:pPr marL="12700" marR="5080"/>
            <a:r>
              <a:rPr lang="en-US" sz="1300" kern="0" spc="-80" dirty="0">
                <a:solidFill>
                  <a:schemeClr val="accent2"/>
                </a:solidFill>
              </a:rPr>
              <a:t>Flow</a:t>
            </a:r>
          </a:p>
          <a:p>
            <a:pPr marL="12700" marR="5080"/>
            <a:r>
              <a:rPr lang="en-US" sz="1300" kern="0" spc="-80" dirty="0">
                <a:solidFill>
                  <a:schemeClr val="accent6"/>
                </a:solidFill>
              </a:rPr>
              <a:t>Password → OTP via SMS → Verify</a:t>
            </a:r>
          </a:p>
          <a:p>
            <a:pPr marL="12700" marR="5080"/>
            <a:r>
              <a:rPr lang="en-US" sz="1300" kern="0" spc="-80" dirty="0">
                <a:solidFill>
                  <a:schemeClr val="accent6"/>
                </a:solidFill>
              </a:rPr>
              <a:t>✅ Simple</a:t>
            </a:r>
          </a:p>
          <a:p>
            <a:pPr marL="12700" marR="5080"/>
            <a:r>
              <a:rPr lang="en-US" sz="1300" kern="0" spc="-80" dirty="0">
                <a:solidFill>
                  <a:schemeClr val="accent6"/>
                </a:solidFill>
              </a:rPr>
              <a:t>❌ Vulnerable to SIM-swap</a:t>
            </a:r>
          </a:p>
          <a:p>
            <a:pPr marL="12700" marR="5080"/>
            <a:r>
              <a:rPr lang="en-US" sz="1300" kern="0" spc="-80" dirty="0">
                <a:solidFill>
                  <a:schemeClr val="accent6"/>
                </a:solidFill>
              </a:rPr>
              <a:t>❌ </a:t>
            </a:r>
            <a:r>
              <a:rPr lang="en-US" sz="1300" kern="0" spc="-80" dirty="0" err="1">
                <a:solidFill>
                  <a:schemeClr val="accent6"/>
                </a:solidFill>
              </a:rPr>
              <a:t>Interceptable</a:t>
            </a:r>
            <a:endParaRPr lang="en-US" sz="1300" kern="0" spc="-80" dirty="0">
              <a:solidFill>
                <a:schemeClr val="accent6"/>
              </a:solidFill>
            </a:endParaRPr>
          </a:p>
        </p:txBody>
      </p:sp>
      <p:grpSp>
        <p:nvGrpSpPr>
          <p:cNvPr id="7" name="Group 6">
            <a:extLst>
              <a:ext uri="{FF2B5EF4-FFF2-40B4-BE49-F238E27FC236}">
                <a16:creationId xmlns:a16="http://schemas.microsoft.com/office/drawing/2014/main" id="{1D2D1E43-2AF9-5D03-AE51-E13DE5153B3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C14A854-79BE-7544-17FA-B6E38CBD23D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10EC06B7-A23F-87E3-7467-2310770D614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374193662"/>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77EB1-9E1F-6553-11CB-505F0762694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A9CB330-6297-0796-981E-27F4DA208B4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4EBBFE6-C63F-A4ED-965E-292357DEF6F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6F2534A-4D8A-D354-DC7F-E0EB044ABFC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DBB7263-2DC0-2454-AC86-689BD42AB3AE}"/>
              </a:ext>
            </a:extLst>
          </p:cNvPr>
          <p:cNvSpPr txBox="1">
            <a:spLocks/>
          </p:cNvSpPr>
          <p:nvPr/>
        </p:nvSpPr>
        <p:spPr>
          <a:xfrm>
            <a:off x="76200" y="821353"/>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MFA(Multi-Factor Authentication)</a:t>
            </a:r>
          </a:p>
          <a:p>
            <a:pPr marL="12700" marR="5080"/>
            <a:r>
              <a:rPr lang="en-US" sz="1400" kern="0" spc="-80" dirty="0">
                <a:solidFill>
                  <a:schemeClr val="accent2"/>
                </a:solidFill>
              </a:rPr>
              <a:t>4. Common MFA Methods (Deep Dive)</a:t>
            </a:r>
          </a:p>
          <a:p>
            <a:pPr marL="12700" marR="5080"/>
            <a:r>
              <a:rPr lang="en-US" sz="1400" kern="0" spc="-80" dirty="0">
                <a:solidFill>
                  <a:schemeClr val="accent2"/>
                </a:solidFill>
              </a:rPr>
              <a:t>4.1 SMS / Voice OTP</a:t>
            </a:r>
          </a:p>
          <a:p>
            <a:pPr marL="12700" marR="5080"/>
            <a:r>
              <a:rPr lang="en-US" sz="1400" kern="0" spc="-80" dirty="0">
                <a:solidFill>
                  <a:schemeClr val="accent6"/>
                </a:solidFill>
              </a:rPr>
              <a:t>Security Level: ⭐⭐⭐☆</a:t>
            </a:r>
          </a:p>
          <a:p>
            <a:pPr marL="12700" marR="5080"/>
            <a:r>
              <a:rPr lang="en-US" sz="1400" kern="0" spc="-80" dirty="0">
                <a:solidFill>
                  <a:schemeClr val="accent2"/>
                </a:solidFill>
              </a:rPr>
              <a:t>Use when</a:t>
            </a:r>
          </a:p>
          <a:p>
            <a:pPr marL="12700" marR="5080"/>
            <a:r>
              <a:rPr lang="en-US" sz="1400" kern="0" spc="-80" dirty="0">
                <a:solidFill>
                  <a:schemeClr val="accent6"/>
                </a:solidFill>
              </a:rPr>
              <a:t>Low-risk consumer apps</a:t>
            </a:r>
          </a:p>
          <a:p>
            <a:pPr marL="12700" marR="5080"/>
            <a:r>
              <a:rPr lang="en-US" sz="1400" kern="0" spc="-80" dirty="0">
                <a:solidFill>
                  <a:schemeClr val="accent6"/>
                </a:solidFill>
              </a:rPr>
              <a:t>Backup factor only</a:t>
            </a:r>
          </a:p>
          <a:p>
            <a:pPr marL="12700" marR="5080"/>
            <a:endParaRPr lang="en-US" sz="1400" kern="0" spc="-80" dirty="0">
              <a:solidFill>
                <a:schemeClr val="accent6"/>
              </a:solidFill>
            </a:endParaRPr>
          </a:p>
          <a:p>
            <a:pPr marL="12700" marR="5080"/>
            <a:r>
              <a:rPr lang="en-US" sz="1400" kern="0" spc="-80" dirty="0">
                <a:solidFill>
                  <a:schemeClr val="accent2"/>
                </a:solidFill>
              </a:rPr>
              <a:t>4.2 TOTP (Time-based One-Time Password)</a:t>
            </a:r>
          </a:p>
          <a:p>
            <a:pPr marL="12700" marR="5080"/>
            <a:r>
              <a:rPr lang="en-US" sz="1400" kern="0" spc="-80" dirty="0">
                <a:solidFill>
                  <a:schemeClr val="accent6"/>
                </a:solidFill>
              </a:rPr>
              <a:t>RFC 6238</a:t>
            </a:r>
          </a:p>
          <a:p>
            <a:pPr marL="12700" marR="5080"/>
            <a:r>
              <a:rPr lang="en-US" sz="1400" kern="0" spc="-80" dirty="0">
                <a:solidFill>
                  <a:schemeClr val="accent6"/>
                </a:solidFill>
              </a:rPr>
              <a:t>Shared secret</a:t>
            </a:r>
          </a:p>
          <a:p>
            <a:pPr marL="12700" marR="5080"/>
            <a:r>
              <a:rPr lang="en-US" sz="1400" kern="0" spc="-80" dirty="0">
                <a:solidFill>
                  <a:schemeClr val="accent6"/>
                </a:solidFill>
              </a:rPr>
              <a:t>30-second rotating codes</a:t>
            </a:r>
          </a:p>
          <a:p>
            <a:pPr marL="12700" marR="5080"/>
            <a:r>
              <a:rPr lang="en-US" sz="1400" kern="0" spc="-80" dirty="0">
                <a:solidFill>
                  <a:schemeClr val="accent6"/>
                </a:solidFill>
              </a:rPr>
              <a:t>Offline capable</a:t>
            </a:r>
          </a:p>
          <a:p>
            <a:pPr marL="12700" marR="5080"/>
            <a:r>
              <a:rPr lang="en-US" sz="1400" kern="0" spc="-80" dirty="0">
                <a:solidFill>
                  <a:schemeClr val="accent2"/>
                </a:solidFill>
              </a:rPr>
              <a:t>Apps:</a:t>
            </a:r>
          </a:p>
          <a:p>
            <a:pPr marL="12700" marR="5080"/>
            <a:r>
              <a:rPr lang="en-US" sz="1400" kern="0" spc="-80" dirty="0">
                <a:solidFill>
                  <a:schemeClr val="accent6"/>
                </a:solidFill>
              </a:rPr>
              <a:t>Google Authenticator</a:t>
            </a:r>
          </a:p>
          <a:p>
            <a:pPr marL="12700" marR="5080"/>
            <a:r>
              <a:rPr lang="en-US" sz="1400" kern="0" spc="-80" dirty="0">
                <a:solidFill>
                  <a:schemeClr val="accent6"/>
                </a:solidFill>
              </a:rPr>
              <a:t>Microsoft Authenticator</a:t>
            </a:r>
          </a:p>
          <a:p>
            <a:pPr marL="12700" marR="5080"/>
            <a:r>
              <a:rPr lang="en-US" sz="1400" kern="0" spc="-80" dirty="0">
                <a:solidFill>
                  <a:schemeClr val="accent6"/>
                </a:solidFill>
              </a:rPr>
              <a:t>Authy</a:t>
            </a:r>
          </a:p>
          <a:p>
            <a:pPr marL="12700" marR="5080"/>
            <a:r>
              <a:rPr lang="en-US" sz="1400" kern="0" spc="-80" dirty="0">
                <a:solidFill>
                  <a:schemeClr val="accent6"/>
                </a:solidFill>
              </a:rPr>
              <a:t>Security Level: ⭐⭐⭐⭐☆</a:t>
            </a:r>
          </a:p>
          <a:p>
            <a:pPr marL="12700" marR="5080"/>
            <a:r>
              <a:rPr lang="en-US" sz="1400" kern="0" spc="-80" dirty="0">
                <a:solidFill>
                  <a:schemeClr val="accent2"/>
                </a:solidFill>
              </a:rPr>
              <a:t>Threats</a:t>
            </a:r>
          </a:p>
          <a:p>
            <a:pPr marL="12700" marR="5080"/>
            <a:r>
              <a:rPr lang="en-US" sz="1400" kern="0" spc="-80" dirty="0">
                <a:solidFill>
                  <a:schemeClr val="accent6"/>
                </a:solidFill>
              </a:rPr>
              <a:t>Phishing</a:t>
            </a:r>
          </a:p>
          <a:p>
            <a:pPr marL="12700" marR="5080"/>
            <a:r>
              <a:rPr lang="en-US" sz="1400" kern="0" spc="-80" dirty="0">
                <a:solidFill>
                  <a:schemeClr val="accent6"/>
                </a:solidFill>
              </a:rPr>
              <a:t>Secret leakage</a:t>
            </a:r>
          </a:p>
          <a:p>
            <a:pPr marL="12700" marR="5080"/>
            <a:r>
              <a:rPr lang="en-US" sz="1400" kern="0" spc="-80" dirty="0">
                <a:solidFill>
                  <a:schemeClr val="accent6"/>
                </a:solidFill>
              </a:rPr>
              <a:t>Clock drift</a:t>
            </a:r>
          </a:p>
        </p:txBody>
      </p:sp>
      <p:grpSp>
        <p:nvGrpSpPr>
          <p:cNvPr id="7" name="Group 6">
            <a:extLst>
              <a:ext uri="{FF2B5EF4-FFF2-40B4-BE49-F238E27FC236}">
                <a16:creationId xmlns:a16="http://schemas.microsoft.com/office/drawing/2014/main" id="{03F13DDD-F076-7439-78C8-403C5CFBD4E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FDF91140-D889-61E3-0AB9-1CB38936AB3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1D27D864-D258-BE44-7354-9F695DD38E4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217382259"/>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CE3C4-3B4E-5EFB-5906-D1B06877AD3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141F79C-3F06-05BC-FC63-3300A673480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E0C58B6-B672-B6B3-3CBA-FAB418B1D46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E50367A-FDA0-36BB-EB7B-61E2AC2F0A4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5C3EC13-AB19-17F0-0185-5C2255873447}"/>
              </a:ext>
            </a:extLst>
          </p:cNvPr>
          <p:cNvSpPr txBox="1">
            <a:spLocks/>
          </p:cNvSpPr>
          <p:nvPr/>
        </p:nvSpPr>
        <p:spPr>
          <a:xfrm>
            <a:off x="76200" y="821353"/>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MFA(Multi-Factor Authentication)</a:t>
            </a:r>
          </a:p>
          <a:p>
            <a:pPr marL="12700" marR="5080"/>
            <a:r>
              <a:rPr lang="en-US" sz="1400" kern="0" spc="-80" dirty="0">
                <a:solidFill>
                  <a:schemeClr val="accent2"/>
                </a:solidFill>
              </a:rPr>
              <a:t>4. Common MFA Methods (Deep Dive)</a:t>
            </a:r>
          </a:p>
          <a:p>
            <a:pPr marL="12700" marR="5080"/>
            <a:r>
              <a:rPr lang="en-US" sz="1400" kern="0" spc="-80" dirty="0">
                <a:solidFill>
                  <a:schemeClr val="accent2"/>
                </a:solidFill>
              </a:rPr>
              <a:t>4.3 Push Notification MFA</a:t>
            </a:r>
          </a:p>
          <a:p>
            <a:pPr marL="12700" marR="5080"/>
            <a:r>
              <a:rPr lang="en-US" sz="1400" kern="0" spc="-80" dirty="0">
                <a:solidFill>
                  <a:schemeClr val="accent2"/>
                </a:solidFill>
              </a:rPr>
              <a:t>Flow</a:t>
            </a:r>
          </a:p>
          <a:p>
            <a:pPr marL="12700" marR="5080"/>
            <a:r>
              <a:rPr lang="en-US" sz="1400" kern="0" spc="-80" dirty="0">
                <a:solidFill>
                  <a:schemeClr val="accent6"/>
                </a:solidFill>
              </a:rPr>
              <a:t>Login → Push to device → Approve</a:t>
            </a:r>
          </a:p>
          <a:p>
            <a:pPr marL="12700" marR="5080"/>
            <a:r>
              <a:rPr lang="en-US" sz="1400" kern="0" spc="-80" dirty="0">
                <a:solidFill>
                  <a:schemeClr val="accent6"/>
                </a:solidFill>
              </a:rPr>
              <a:t>✅ User-friendly</a:t>
            </a:r>
          </a:p>
          <a:p>
            <a:pPr marL="12700" marR="5080"/>
            <a:r>
              <a:rPr lang="en-US" sz="1400" kern="0" spc="-80" dirty="0">
                <a:solidFill>
                  <a:schemeClr val="accent6"/>
                </a:solidFill>
              </a:rPr>
              <a:t>❌ MFA fatigue attacks</a:t>
            </a:r>
          </a:p>
          <a:p>
            <a:pPr marL="12700" marR="5080"/>
            <a:r>
              <a:rPr lang="en-US" sz="1400" kern="0" spc="-80" dirty="0">
                <a:solidFill>
                  <a:schemeClr val="accent2"/>
                </a:solidFill>
              </a:rPr>
              <a:t>Mitigation</a:t>
            </a:r>
          </a:p>
          <a:p>
            <a:pPr marL="12700" marR="5080"/>
            <a:r>
              <a:rPr lang="en-US" sz="1400" kern="0" spc="-80" dirty="0">
                <a:solidFill>
                  <a:schemeClr val="accent6"/>
                </a:solidFill>
              </a:rPr>
              <a:t>Number matching</a:t>
            </a:r>
          </a:p>
          <a:p>
            <a:pPr marL="12700" marR="5080"/>
            <a:r>
              <a:rPr lang="en-US" sz="1400" kern="0" spc="-80" dirty="0">
                <a:solidFill>
                  <a:schemeClr val="accent6"/>
                </a:solidFill>
              </a:rPr>
              <a:t>Device binding</a:t>
            </a:r>
          </a:p>
          <a:p>
            <a:pPr marL="12700" marR="5080"/>
            <a:r>
              <a:rPr lang="en-US" sz="1400" kern="0" spc="-80" dirty="0">
                <a:solidFill>
                  <a:schemeClr val="accent6"/>
                </a:solidFill>
              </a:rPr>
              <a:t>Rate limiting</a:t>
            </a:r>
          </a:p>
          <a:p>
            <a:pPr marL="12700" marR="5080"/>
            <a:r>
              <a:rPr lang="en-US" sz="1400" kern="0" spc="-80" dirty="0">
                <a:solidFill>
                  <a:schemeClr val="accent6"/>
                </a:solidFill>
              </a:rPr>
              <a:t>Security Level: ⭐⭐⭐☆☆</a:t>
            </a:r>
          </a:p>
          <a:p>
            <a:pPr marL="12700" marR="5080"/>
            <a:r>
              <a:rPr lang="en-US" sz="1400" kern="0" spc="-80" dirty="0">
                <a:solidFill>
                  <a:schemeClr val="accent2"/>
                </a:solidFill>
              </a:rPr>
              <a:t>4.4 Hardware Security Keys (FIDO2 / U2F)</a:t>
            </a:r>
          </a:p>
          <a:p>
            <a:pPr marL="12700" marR="5080"/>
            <a:r>
              <a:rPr lang="en-US" sz="1400" kern="0" spc="-80" dirty="0">
                <a:solidFill>
                  <a:schemeClr val="accent2"/>
                </a:solidFill>
              </a:rPr>
              <a:t>Examples:</a:t>
            </a:r>
          </a:p>
          <a:p>
            <a:pPr marL="12700" marR="5080"/>
            <a:r>
              <a:rPr lang="en-US" sz="1400" kern="0" spc="-80" dirty="0">
                <a:solidFill>
                  <a:schemeClr val="accent6"/>
                </a:solidFill>
              </a:rPr>
              <a:t>YubiKey</a:t>
            </a:r>
          </a:p>
          <a:p>
            <a:pPr marL="12700" marR="5080"/>
            <a:r>
              <a:rPr lang="en-US" sz="1400" kern="0" spc="-80" dirty="0">
                <a:solidFill>
                  <a:schemeClr val="accent6"/>
                </a:solidFill>
              </a:rPr>
              <a:t>Titan Key</a:t>
            </a:r>
          </a:p>
          <a:p>
            <a:pPr marL="12700" marR="5080"/>
            <a:r>
              <a:rPr lang="en-US" sz="1400" kern="0" spc="-80" dirty="0">
                <a:solidFill>
                  <a:schemeClr val="accent6"/>
                </a:solidFill>
              </a:rPr>
              <a:t>Flow</a:t>
            </a:r>
          </a:p>
          <a:p>
            <a:pPr marL="12700" marR="5080"/>
            <a:r>
              <a:rPr lang="en-US" sz="1400" kern="0" spc="-80" dirty="0">
                <a:solidFill>
                  <a:schemeClr val="accent6"/>
                </a:solidFill>
              </a:rPr>
              <a:t>Challenge → Cryptographic signature → Verify</a:t>
            </a:r>
          </a:p>
          <a:p>
            <a:pPr marL="12700" marR="5080"/>
            <a:r>
              <a:rPr lang="en-US" sz="1400" kern="0" spc="-80" dirty="0">
                <a:solidFill>
                  <a:schemeClr val="accent6"/>
                </a:solidFill>
              </a:rPr>
              <a:t>✅ Phishing-resistant</a:t>
            </a:r>
          </a:p>
          <a:p>
            <a:pPr marL="12700" marR="5080"/>
            <a:r>
              <a:rPr lang="en-US" sz="1400" kern="0" spc="-80" dirty="0">
                <a:solidFill>
                  <a:schemeClr val="accent6"/>
                </a:solidFill>
              </a:rPr>
              <a:t>✅ No shared secrets</a:t>
            </a:r>
          </a:p>
          <a:p>
            <a:pPr marL="12700" marR="5080"/>
            <a:r>
              <a:rPr lang="en-US" sz="1400" kern="0" spc="-80" dirty="0">
                <a:solidFill>
                  <a:schemeClr val="accent6"/>
                </a:solidFill>
              </a:rPr>
              <a:t>❌ Cost, UX friction</a:t>
            </a:r>
          </a:p>
          <a:p>
            <a:pPr marL="12700" marR="5080"/>
            <a:r>
              <a:rPr lang="en-US" sz="1400" kern="0" spc="-80" dirty="0">
                <a:solidFill>
                  <a:schemeClr val="accent6"/>
                </a:solidFill>
              </a:rPr>
              <a:t>Security Level: ⭐⭐⭐⭐⭐ (Best)</a:t>
            </a:r>
          </a:p>
        </p:txBody>
      </p:sp>
      <p:grpSp>
        <p:nvGrpSpPr>
          <p:cNvPr id="7" name="Group 6">
            <a:extLst>
              <a:ext uri="{FF2B5EF4-FFF2-40B4-BE49-F238E27FC236}">
                <a16:creationId xmlns:a16="http://schemas.microsoft.com/office/drawing/2014/main" id="{AD98788B-2550-BFCB-39AF-3EE0B66391C4}"/>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14EFA03-4887-B4A2-6143-FA5DA3743E3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F170DBF-5C49-8039-EF33-08B9313DFC8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071129621"/>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285287-4696-5F53-8CAF-8C1F092171D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258EBE2-9BFD-BF65-81F6-04AEDA2EC9D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09708EA-3A43-D794-6486-F388E877941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E1F240B-AE89-B117-8275-FB02992C2C0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3BB6DC9-D487-A10E-16B4-B2789F477A3A}"/>
              </a:ext>
            </a:extLst>
          </p:cNvPr>
          <p:cNvSpPr txBox="1">
            <a:spLocks/>
          </p:cNvSpPr>
          <p:nvPr/>
        </p:nvSpPr>
        <p:spPr>
          <a:xfrm>
            <a:off x="76200" y="731996"/>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MFA(Multi-Factor Authentication)</a:t>
            </a:r>
          </a:p>
          <a:p>
            <a:pPr marL="12700" marR="5080"/>
            <a:r>
              <a:rPr lang="en-US" sz="1400" kern="0" spc="-80" dirty="0">
                <a:solidFill>
                  <a:schemeClr val="accent2"/>
                </a:solidFill>
              </a:rPr>
              <a:t>4. Common MFA Methods (Deep Dive)</a:t>
            </a:r>
          </a:p>
          <a:p>
            <a:pPr marL="12700" marR="5080"/>
            <a:r>
              <a:rPr lang="en-US" sz="1400" kern="0" spc="-80" dirty="0">
                <a:solidFill>
                  <a:schemeClr val="accent2"/>
                </a:solidFill>
              </a:rPr>
              <a:t>4.5 Biometrics</a:t>
            </a:r>
          </a:p>
          <a:p>
            <a:pPr marL="12700" marR="5080"/>
            <a:r>
              <a:rPr lang="en-US" sz="1400" kern="0" spc="-80" dirty="0">
                <a:solidFill>
                  <a:schemeClr val="accent2"/>
                </a:solidFill>
              </a:rPr>
              <a:t>Type	                   Risk</a:t>
            </a:r>
          </a:p>
          <a:p>
            <a:pPr marL="12700" marR="5080"/>
            <a:r>
              <a:rPr lang="en-US" sz="1400" kern="0" spc="-80" dirty="0">
                <a:solidFill>
                  <a:schemeClr val="accent6"/>
                </a:solidFill>
              </a:rPr>
              <a:t>Fingerprint	Medium</a:t>
            </a:r>
          </a:p>
          <a:p>
            <a:pPr marL="12700" marR="5080"/>
            <a:r>
              <a:rPr lang="en-US" sz="1400" kern="0" spc="-80" dirty="0">
                <a:solidFill>
                  <a:schemeClr val="accent6"/>
                </a:solidFill>
              </a:rPr>
              <a:t>Face ID	                   Medium</a:t>
            </a:r>
          </a:p>
          <a:p>
            <a:pPr marL="12700" marR="5080"/>
            <a:r>
              <a:rPr lang="en-US" sz="1400" kern="0" spc="-80" dirty="0">
                <a:solidFill>
                  <a:schemeClr val="accent6"/>
                </a:solidFill>
              </a:rPr>
              <a:t>Iris	                   High security</a:t>
            </a:r>
          </a:p>
          <a:p>
            <a:pPr marL="12700" marR="5080"/>
            <a:r>
              <a:rPr lang="en-US" sz="1400" kern="0" spc="-80" dirty="0">
                <a:solidFill>
                  <a:schemeClr val="accent6"/>
                </a:solidFill>
              </a:rPr>
              <a:t>⚠️ Biometrics are identifiers, not secrets</a:t>
            </a:r>
          </a:p>
          <a:p>
            <a:pPr marL="12700" marR="5080"/>
            <a:r>
              <a:rPr lang="en-US" sz="1400" kern="0" spc="-80" dirty="0">
                <a:solidFill>
                  <a:schemeClr val="accent6"/>
                </a:solidFill>
              </a:rPr>
              <a:t>⚠️ Cannot be changed if compromised</a:t>
            </a:r>
          </a:p>
          <a:p>
            <a:pPr marL="12700" marR="5080"/>
            <a:r>
              <a:rPr lang="en-US" sz="1400" kern="0" spc="-80" dirty="0">
                <a:solidFill>
                  <a:schemeClr val="accent2"/>
                </a:solidFill>
              </a:rPr>
              <a:t>Often used as:</a:t>
            </a:r>
          </a:p>
          <a:p>
            <a:pPr marL="12700" marR="5080"/>
            <a:r>
              <a:rPr lang="en-US" sz="1400" kern="0" spc="-80" dirty="0">
                <a:solidFill>
                  <a:schemeClr val="accent6"/>
                </a:solidFill>
              </a:rPr>
              <a:t>Unlock mechanism for possession factor</a:t>
            </a:r>
          </a:p>
          <a:p>
            <a:pPr marL="12700" marR="5080"/>
            <a:endParaRPr lang="en-US" sz="1400" kern="0" spc="-80" dirty="0">
              <a:solidFill>
                <a:schemeClr val="accent6"/>
              </a:solidFill>
            </a:endParaRPr>
          </a:p>
          <a:p>
            <a:pPr marL="12700" marR="5080"/>
            <a:r>
              <a:rPr lang="en-US" sz="1400" kern="0" spc="-80" dirty="0">
                <a:solidFill>
                  <a:schemeClr val="accent2"/>
                </a:solidFill>
              </a:rPr>
              <a:t>5. Adaptive / Risk-Based MFA</a:t>
            </a:r>
          </a:p>
          <a:p>
            <a:pPr marL="12700" marR="5080"/>
            <a:r>
              <a:rPr lang="en-US" sz="1400" kern="0" spc="-80" dirty="0">
                <a:solidFill>
                  <a:schemeClr val="accent6"/>
                </a:solidFill>
              </a:rPr>
              <a:t>MFA is not always required.</a:t>
            </a:r>
          </a:p>
          <a:p>
            <a:pPr marL="12700" marR="5080"/>
            <a:r>
              <a:rPr lang="en-US" sz="1400" kern="0" spc="-80" dirty="0">
                <a:solidFill>
                  <a:schemeClr val="accent6"/>
                </a:solidFill>
              </a:rPr>
              <a:t>Signals Used</a:t>
            </a:r>
          </a:p>
          <a:p>
            <a:pPr marL="12700" marR="5080"/>
            <a:r>
              <a:rPr lang="en-US" sz="1400" kern="0" spc="-80" dirty="0">
                <a:solidFill>
                  <a:schemeClr val="accent6"/>
                </a:solidFill>
              </a:rPr>
              <a:t>IP reputation</a:t>
            </a:r>
          </a:p>
          <a:p>
            <a:pPr marL="12700" marR="5080"/>
            <a:r>
              <a:rPr lang="en-US" sz="1400" kern="0" spc="-80" dirty="0">
                <a:solidFill>
                  <a:schemeClr val="accent6"/>
                </a:solidFill>
              </a:rPr>
              <a:t>Geo-velocity</a:t>
            </a:r>
          </a:p>
          <a:p>
            <a:pPr marL="12700" marR="5080"/>
            <a:r>
              <a:rPr lang="en-US" sz="1400" kern="0" spc="-80" dirty="0">
                <a:solidFill>
                  <a:schemeClr val="accent6"/>
                </a:solidFill>
              </a:rPr>
              <a:t>Device fingerprint</a:t>
            </a:r>
          </a:p>
          <a:p>
            <a:pPr marL="12700" marR="5080"/>
            <a:r>
              <a:rPr lang="en-US" sz="1400" kern="0" spc="-80" dirty="0">
                <a:solidFill>
                  <a:schemeClr val="accent6"/>
                </a:solidFill>
              </a:rPr>
              <a:t>Login time anomaly</a:t>
            </a:r>
          </a:p>
          <a:p>
            <a:pPr marL="12700" marR="5080"/>
            <a:r>
              <a:rPr lang="en-US" sz="1400" kern="0" spc="-80" dirty="0">
                <a:solidFill>
                  <a:schemeClr val="accent6"/>
                </a:solidFill>
              </a:rPr>
              <a:t>Behavioral biometrics</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CE00EB5B-DB56-B751-B98F-93519ED0976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433FBB1-DA5C-59DB-7D35-671E6F45FFF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BED78EE-08FF-B2B6-2D5C-386B370CF95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302007433"/>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BE2BB-B276-F77B-A408-AA0225DD03B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1D9EE11-5FA9-793D-E58B-71FBC1672A2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A38DFAE-B8F3-D103-70F7-8A49940BFF9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3D10F2D-D99C-C3DF-9BBC-998C4452F65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EFF6F8B-A7CC-CC6E-2CC2-D34DC51365FC}"/>
              </a:ext>
            </a:extLst>
          </p:cNvPr>
          <p:cNvSpPr txBox="1">
            <a:spLocks/>
          </p:cNvSpPr>
          <p:nvPr/>
        </p:nvSpPr>
        <p:spPr>
          <a:xfrm>
            <a:off x="76200" y="808196"/>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MFA(Multi-Factor Authentication)</a:t>
            </a:r>
          </a:p>
          <a:p>
            <a:pPr marL="12700" marR="5080"/>
            <a:r>
              <a:rPr lang="en-US" sz="1400" kern="0" spc="-80" dirty="0">
                <a:solidFill>
                  <a:schemeClr val="accent2"/>
                </a:solidFill>
              </a:rPr>
              <a:t>5. Adaptive / Risk-Based MFA</a:t>
            </a:r>
          </a:p>
          <a:p>
            <a:pPr marL="12700" marR="5080"/>
            <a:r>
              <a:rPr lang="en-US" sz="1400" kern="0" spc="-80" dirty="0">
                <a:solidFill>
                  <a:schemeClr val="accent2"/>
                </a:solidFill>
              </a:rPr>
              <a:t>Decision Engine</a:t>
            </a:r>
          </a:p>
          <a:p>
            <a:pPr marL="12700" marR="5080"/>
            <a:r>
              <a:rPr lang="en-US" sz="1400" kern="0" spc="-80" dirty="0">
                <a:solidFill>
                  <a:schemeClr val="accent6"/>
                </a:solidFill>
              </a:rPr>
              <a:t>Low risk → Password only</a:t>
            </a:r>
          </a:p>
          <a:p>
            <a:pPr marL="12700" marR="5080"/>
            <a:r>
              <a:rPr lang="en-US" sz="1400" kern="0" spc="-80" dirty="0">
                <a:solidFill>
                  <a:schemeClr val="accent6"/>
                </a:solidFill>
              </a:rPr>
              <a:t>Medium risk → MFA</a:t>
            </a:r>
          </a:p>
          <a:p>
            <a:pPr marL="12700" marR="5080"/>
            <a:r>
              <a:rPr lang="en-US" sz="1400" kern="0" spc="-80" dirty="0">
                <a:solidFill>
                  <a:schemeClr val="accent6"/>
                </a:solidFill>
              </a:rPr>
              <a:t>High risk → Step-up MFA / block</a:t>
            </a:r>
          </a:p>
          <a:p>
            <a:pPr marL="12700" marR="5080"/>
            <a:r>
              <a:rPr lang="en-US" sz="1400" kern="0" spc="-80" dirty="0">
                <a:solidFill>
                  <a:schemeClr val="accent2"/>
                </a:solidFill>
              </a:rPr>
              <a:t>Used heavily by:</a:t>
            </a:r>
          </a:p>
          <a:p>
            <a:pPr marL="12700" marR="5080"/>
            <a:r>
              <a:rPr lang="en-US" sz="1400" kern="0" spc="-80" dirty="0">
                <a:solidFill>
                  <a:schemeClr val="accent6"/>
                </a:solidFill>
              </a:rPr>
              <a:t>Google</a:t>
            </a:r>
          </a:p>
          <a:p>
            <a:pPr marL="12700" marR="5080"/>
            <a:r>
              <a:rPr lang="en-US" sz="1400" kern="0" spc="-80" dirty="0">
                <a:solidFill>
                  <a:schemeClr val="accent6"/>
                </a:solidFill>
              </a:rPr>
              <a:t>Microsoft</a:t>
            </a:r>
          </a:p>
          <a:p>
            <a:pPr marL="12700" marR="5080"/>
            <a:r>
              <a:rPr lang="en-US" sz="1400" kern="0" spc="-80" dirty="0">
                <a:solidFill>
                  <a:schemeClr val="accent6"/>
                </a:solidFill>
              </a:rPr>
              <a:t>Banks</a:t>
            </a:r>
          </a:p>
          <a:p>
            <a:pPr marL="12700" marR="5080"/>
            <a:endParaRPr lang="en-US" sz="1400" kern="0" spc="-80" dirty="0">
              <a:solidFill>
                <a:schemeClr val="accent6"/>
              </a:solidFill>
            </a:endParaRPr>
          </a:p>
          <a:p>
            <a:pPr marL="12700" marR="5080"/>
            <a:r>
              <a:rPr lang="en-US" sz="1400" kern="0" spc="-80" dirty="0">
                <a:solidFill>
                  <a:schemeClr val="accent2"/>
                </a:solidFill>
              </a:rPr>
              <a:t>6. MFA Architectural Patterns</a:t>
            </a:r>
          </a:p>
          <a:p>
            <a:pPr marL="12700" marR="5080"/>
            <a:r>
              <a:rPr lang="en-US" sz="1400" kern="0" spc="-80" dirty="0">
                <a:solidFill>
                  <a:schemeClr val="accent2"/>
                </a:solidFill>
              </a:rPr>
              <a:t>6.1 MFA in Authentication Flow</a:t>
            </a:r>
          </a:p>
          <a:p>
            <a:pPr marL="12700" marR="5080"/>
            <a:r>
              <a:rPr lang="en-US" sz="1400" kern="0" spc="-80" dirty="0">
                <a:solidFill>
                  <a:schemeClr val="accent6"/>
                </a:solidFill>
              </a:rPr>
              <a:t>User → Auth Server</a:t>
            </a:r>
          </a:p>
          <a:p>
            <a:pPr marL="12700" marR="5080"/>
            <a:r>
              <a:rPr lang="en-US" sz="1400" kern="0" spc="-80" dirty="0">
                <a:solidFill>
                  <a:schemeClr val="accent6"/>
                </a:solidFill>
              </a:rPr>
              <a:t>     → Primary Auth</a:t>
            </a:r>
          </a:p>
          <a:p>
            <a:pPr marL="12700" marR="5080"/>
            <a:r>
              <a:rPr lang="en-US" sz="1400" kern="0" spc="-80" dirty="0">
                <a:solidFill>
                  <a:schemeClr val="accent6"/>
                </a:solidFill>
              </a:rPr>
              <a:t>     → MFA Challenge</a:t>
            </a:r>
          </a:p>
          <a:p>
            <a:pPr marL="12700" marR="5080"/>
            <a:r>
              <a:rPr lang="en-US" sz="1400" kern="0" spc="-80" dirty="0">
                <a:solidFill>
                  <a:schemeClr val="accent6"/>
                </a:solidFill>
              </a:rPr>
              <a:t>     → Token Issuance</a:t>
            </a:r>
          </a:p>
          <a:p>
            <a:pPr marL="12700" marR="5080"/>
            <a:r>
              <a:rPr lang="en-US" sz="1400" kern="0" spc="-80" dirty="0">
                <a:solidFill>
                  <a:schemeClr val="accent2"/>
                </a:solidFill>
              </a:rPr>
              <a:t>MFA happens before issuing:</a:t>
            </a:r>
          </a:p>
          <a:p>
            <a:pPr marL="12700" marR="5080"/>
            <a:r>
              <a:rPr lang="en-US" sz="1400" kern="0" spc="-80" dirty="0">
                <a:solidFill>
                  <a:schemeClr val="accent6"/>
                </a:solidFill>
              </a:rPr>
              <a:t>Session cookie</a:t>
            </a:r>
          </a:p>
          <a:p>
            <a:pPr marL="12700" marR="5080"/>
            <a:r>
              <a:rPr lang="en-US" sz="1400" kern="0" spc="-80" dirty="0">
                <a:solidFill>
                  <a:schemeClr val="accent6"/>
                </a:solidFill>
              </a:rPr>
              <a:t>OAuth token</a:t>
            </a:r>
          </a:p>
          <a:p>
            <a:pPr marL="12700" marR="5080"/>
            <a:r>
              <a:rPr lang="en-US" sz="1400" kern="0" spc="-80" dirty="0">
                <a:solidFill>
                  <a:schemeClr val="accent6"/>
                </a:solidFill>
              </a:rPr>
              <a:t>JWT</a:t>
            </a:r>
          </a:p>
        </p:txBody>
      </p:sp>
      <p:grpSp>
        <p:nvGrpSpPr>
          <p:cNvPr id="7" name="Group 6">
            <a:extLst>
              <a:ext uri="{FF2B5EF4-FFF2-40B4-BE49-F238E27FC236}">
                <a16:creationId xmlns:a16="http://schemas.microsoft.com/office/drawing/2014/main" id="{E08AB557-BC57-A9D6-4046-A8D12F5325A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A0387810-CD32-4E4E-39DE-02351D40B34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EF92616-B5AB-B958-1300-835AF92FDA9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570153604"/>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3A21E-F40F-D0E9-C949-409CD344E15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99C16F2-8096-F90C-9507-F73C2EA3B08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8928FA5-9F5A-6142-7036-3AC765F3AAE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5D98981-E7B4-46B2-6E2A-D10266EC368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5003317-0259-7CF1-AE1D-9BB1D4732084}"/>
              </a:ext>
            </a:extLst>
          </p:cNvPr>
          <p:cNvSpPr txBox="1">
            <a:spLocks/>
          </p:cNvSpPr>
          <p:nvPr/>
        </p:nvSpPr>
        <p:spPr>
          <a:xfrm>
            <a:off x="76200" y="768727"/>
            <a:ext cx="8624937" cy="403187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MFA(Multi-Factor Authentication)</a:t>
            </a:r>
          </a:p>
          <a:p>
            <a:pPr marL="12700" marR="5080"/>
            <a:r>
              <a:rPr lang="en-US" sz="1400" kern="0" spc="-80" dirty="0">
                <a:solidFill>
                  <a:schemeClr val="accent2"/>
                </a:solidFill>
              </a:rPr>
              <a:t>6. MFA Architectural Patterns</a:t>
            </a:r>
          </a:p>
          <a:p>
            <a:pPr marL="12700" marR="5080"/>
            <a:r>
              <a:rPr lang="en-US" sz="1400" kern="0" spc="-80" dirty="0">
                <a:solidFill>
                  <a:schemeClr val="accent2"/>
                </a:solidFill>
              </a:rPr>
              <a:t>6.2 MFA with OAuth / OIDC</a:t>
            </a:r>
          </a:p>
          <a:p>
            <a:pPr marL="12700" marR="5080"/>
            <a:r>
              <a:rPr lang="en-US" sz="1400" kern="0" spc="-80" dirty="0">
                <a:solidFill>
                  <a:schemeClr val="accent6"/>
                </a:solidFill>
              </a:rPr>
              <a:t>Key claim:</a:t>
            </a:r>
          </a:p>
          <a:p>
            <a:pPr marL="12700" marR="5080"/>
            <a:r>
              <a:rPr lang="en-US" sz="1400" kern="0" spc="-80" dirty="0" err="1">
                <a:solidFill>
                  <a:schemeClr val="accent6"/>
                </a:solidFill>
              </a:rPr>
              <a:t>amr</a:t>
            </a:r>
            <a:r>
              <a:rPr lang="en-US" sz="1400" kern="0" spc="-80" dirty="0">
                <a:solidFill>
                  <a:schemeClr val="accent6"/>
                </a:solidFill>
              </a:rPr>
              <a:t>: ["</a:t>
            </a:r>
            <a:r>
              <a:rPr lang="en-US" sz="1400" kern="0" spc="-80" dirty="0" err="1">
                <a:solidFill>
                  <a:schemeClr val="accent6"/>
                </a:solidFill>
              </a:rPr>
              <a:t>pwd</a:t>
            </a:r>
            <a:r>
              <a:rPr lang="en-US" sz="1400" kern="0" spc="-80" dirty="0">
                <a:solidFill>
                  <a:schemeClr val="accent6"/>
                </a:solidFill>
              </a:rPr>
              <a:t>", "</a:t>
            </a:r>
            <a:r>
              <a:rPr lang="en-US" sz="1400" kern="0" spc="-80" dirty="0" err="1">
                <a:solidFill>
                  <a:schemeClr val="accent6"/>
                </a:solidFill>
              </a:rPr>
              <a:t>otp</a:t>
            </a:r>
            <a:r>
              <a:rPr lang="en-US" sz="1400" kern="0" spc="-80" dirty="0">
                <a:solidFill>
                  <a:schemeClr val="accent6"/>
                </a:solidFill>
              </a:rPr>
              <a:t>"]</a:t>
            </a:r>
          </a:p>
          <a:p>
            <a:pPr marL="12700" marR="5080"/>
            <a:r>
              <a:rPr lang="en-US" sz="1400" kern="0" spc="-80" dirty="0" err="1">
                <a:solidFill>
                  <a:schemeClr val="accent6"/>
                </a:solidFill>
              </a:rPr>
              <a:t>acr</a:t>
            </a:r>
            <a:r>
              <a:rPr lang="en-US" sz="1400" kern="0" spc="-80" dirty="0">
                <a:solidFill>
                  <a:schemeClr val="accent6"/>
                </a:solidFill>
              </a:rPr>
              <a:t>: "</a:t>
            </a:r>
            <a:r>
              <a:rPr lang="en-US" sz="1400" kern="0" spc="-80" dirty="0" err="1">
                <a:solidFill>
                  <a:schemeClr val="accent6"/>
                </a:solidFill>
              </a:rPr>
              <a:t>urn:mfa</a:t>
            </a:r>
            <a:r>
              <a:rPr lang="en-US" sz="1400" kern="0" spc="-80" dirty="0">
                <a:solidFill>
                  <a:schemeClr val="accent6"/>
                </a:solidFill>
              </a:rPr>
              <a:t>"</a:t>
            </a:r>
          </a:p>
          <a:p>
            <a:pPr marL="12700" marR="5080"/>
            <a:r>
              <a:rPr lang="en-US" sz="1400" kern="0" spc="-80" dirty="0">
                <a:solidFill>
                  <a:schemeClr val="accent2"/>
                </a:solidFill>
              </a:rPr>
              <a:t>Used to:</a:t>
            </a:r>
          </a:p>
          <a:p>
            <a:pPr marL="12700" marR="5080"/>
            <a:r>
              <a:rPr lang="en-US" sz="1400" kern="0" spc="-80" dirty="0">
                <a:solidFill>
                  <a:schemeClr val="accent6"/>
                </a:solidFill>
              </a:rPr>
              <a:t>Enforce MFA for sensitive APIs</a:t>
            </a:r>
          </a:p>
          <a:p>
            <a:pPr marL="12700" marR="5080"/>
            <a:r>
              <a:rPr lang="en-US" sz="1400" kern="0" spc="-80" dirty="0">
                <a:solidFill>
                  <a:schemeClr val="accent6"/>
                </a:solidFill>
              </a:rPr>
              <a:t>Perform step-up authentication</a:t>
            </a:r>
          </a:p>
          <a:p>
            <a:pPr marL="12700" marR="5080"/>
            <a:endParaRPr lang="en-US" sz="1400" kern="0" spc="-80" dirty="0">
              <a:solidFill>
                <a:schemeClr val="accent6"/>
              </a:solidFill>
            </a:endParaRPr>
          </a:p>
          <a:p>
            <a:pPr marL="12700" marR="5080"/>
            <a:r>
              <a:rPr lang="en-US" sz="1400" kern="0" spc="-80" dirty="0">
                <a:solidFill>
                  <a:schemeClr val="accent2"/>
                </a:solidFill>
              </a:rPr>
              <a:t>6.3 Step-Up MFA Pattern</a:t>
            </a:r>
          </a:p>
          <a:p>
            <a:pPr marL="12700" marR="5080"/>
            <a:r>
              <a:rPr lang="en-US" sz="1400" kern="0" spc="-80" dirty="0">
                <a:solidFill>
                  <a:schemeClr val="accent6"/>
                </a:solidFill>
              </a:rPr>
              <a:t>Login → Basic Access</a:t>
            </a:r>
          </a:p>
          <a:p>
            <a:pPr marL="12700" marR="5080"/>
            <a:r>
              <a:rPr lang="en-US" sz="1400" kern="0" spc="-80" dirty="0">
                <a:solidFill>
                  <a:schemeClr val="accent6"/>
                </a:solidFill>
              </a:rPr>
              <a:t>Transfer Funds → Require MFA</a:t>
            </a:r>
          </a:p>
          <a:p>
            <a:pPr marL="12700" marR="5080"/>
            <a:r>
              <a:rPr lang="en-US" sz="1400" kern="0" spc="-80" dirty="0">
                <a:solidFill>
                  <a:schemeClr val="accent6"/>
                </a:solidFill>
              </a:rPr>
              <a:t>✅ UX friendly</a:t>
            </a:r>
          </a:p>
          <a:p>
            <a:pPr marL="12700" marR="5080"/>
            <a:r>
              <a:rPr lang="en-US" sz="1400" kern="0" spc="-80" dirty="0">
                <a:solidFill>
                  <a:schemeClr val="accent6"/>
                </a:solidFill>
              </a:rPr>
              <a:t>✅ Least friction</a:t>
            </a:r>
          </a:p>
          <a:p>
            <a:pPr marL="12700" marR="5080"/>
            <a:r>
              <a:rPr lang="en-US" sz="1400" kern="0" spc="-80" dirty="0">
                <a:solidFill>
                  <a:schemeClr val="accent2"/>
                </a:solidFill>
              </a:rPr>
              <a:t>Common in:</a:t>
            </a:r>
          </a:p>
          <a:p>
            <a:pPr marL="12700" marR="5080"/>
            <a:r>
              <a:rPr lang="en-US" sz="1400" kern="0" spc="-80" dirty="0">
                <a:solidFill>
                  <a:schemeClr val="accent6"/>
                </a:solidFill>
              </a:rPr>
              <a:t>Banking</a:t>
            </a:r>
          </a:p>
          <a:p>
            <a:pPr marL="12700" marR="5080"/>
            <a:r>
              <a:rPr lang="en-US" sz="1400" kern="0" spc="-80" dirty="0">
                <a:solidFill>
                  <a:schemeClr val="accent6"/>
                </a:solidFill>
              </a:rPr>
              <a:t>Admin consoles</a:t>
            </a:r>
          </a:p>
        </p:txBody>
      </p:sp>
      <p:grpSp>
        <p:nvGrpSpPr>
          <p:cNvPr id="7" name="Group 6">
            <a:extLst>
              <a:ext uri="{FF2B5EF4-FFF2-40B4-BE49-F238E27FC236}">
                <a16:creationId xmlns:a16="http://schemas.microsoft.com/office/drawing/2014/main" id="{110B7F98-0675-F0E9-1E18-FBE54E77CA5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D1A1BD3-3067-BD1E-E083-36D1CC6D9C0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C00988BE-7A37-0229-9845-B825EA203BA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256683027"/>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AA472-22B1-AD71-F164-475DE84D70E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D4B6810-A01E-41FA-A43F-4AF42766D38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7993BCA-63F9-446B-05A2-3B8CD7F5426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6AA7A21-21D5-5803-D3C7-9DDD9C7490A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3E939732-A13A-5AFE-AB4D-07477E53D449}"/>
              </a:ext>
            </a:extLst>
          </p:cNvPr>
          <p:cNvSpPr txBox="1">
            <a:spLocks/>
          </p:cNvSpPr>
          <p:nvPr/>
        </p:nvSpPr>
        <p:spPr>
          <a:xfrm>
            <a:off x="76200" y="79504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MFA(Multi-Factor Authentication)</a:t>
            </a:r>
          </a:p>
          <a:p>
            <a:pPr marL="12700" marR="5080"/>
            <a:r>
              <a:rPr lang="en-US" sz="1400" kern="0" spc="-80" dirty="0">
                <a:solidFill>
                  <a:schemeClr val="accent2"/>
                </a:solidFill>
              </a:rPr>
              <a:t>6. MFA Architectural Patterns</a:t>
            </a:r>
          </a:p>
          <a:p>
            <a:pPr marL="12700" marR="5080"/>
            <a:r>
              <a:rPr lang="en-US" sz="1400" kern="0" spc="-80" dirty="0">
                <a:solidFill>
                  <a:schemeClr val="accent2"/>
                </a:solidFill>
              </a:rPr>
              <a:t>6.4 MFA Enforcement Models</a:t>
            </a:r>
          </a:p>
          <a:p>
            <a:pPr marL="12700" marR="5080"/>
            <a:r>
              <a:rPr lang="en-US" sz="1400" kern="0" spc="-80" dirty="0">
                <a:solidFill>
                  <a:schemeClr val="accent2"/>
                </a:solidFill>
              </a:rPr>
              <a:t>Model	                    Description</a:t>
            </a:r>
          </a:p>
          <a:p>
            <a:pPr marL="12700" marR="5080"/>
            <a:r>
              <a:rPr lang="en-US" sz="1400" kern="0" spc="-80" dirty="0">
                <a:solidFill>
                  <a:schemeClr val="accent6"/>
                </a:solidFill>
              </a:rPr>
              <a:t>Always-on	                    MFA every login</a:t>
            </a:r>
          </a:p>
          <a:p>
            <a:pPr marL="12700" marR="5080"/>
            <a:r>
              <a:rPr lang="en-US" sz="1400" kern="0" spc="-80" dirty="0">
                <a:solidFill>
                  <a:schemeClr val="accent6"/>
                </a:solidFill>
              </a:rPr>
              <a:t>Per-app	                    MFA only for sensitive apps</a:t>
            </a:r>
          </a:p>
          <a:p>
            <a:pPr marL="12700" marR="5080"/>
            <a:r>
              <a:rPr lang="en-US" sz="1400" kern="0" spc="-80" dirty="0">
                <a:solidFill>
                  <a:schemeClr val="accent6"/>
                </a:solidFill>
              </a:rPr>
              <a:t>Per-role	                    Admins must use MFA</a:t>
            </a:r>
          </a:p>
          <a:p>
            <a:pPr marL="12700" marR="5080"/>
            <a:r>
              <a:rPr lang="en-US" sz="1400" kern="0" spc="-80" dirty="0">
                <a:solidFill>
                  <a:schemeClr val="accent6"/>
                </a:solidFill>
              </a:rPr>
              <a:t>Per-transaction	 Step-up MFA</a:t>
            </a:r>
          </a:p>
          <a:p>
            <a:pPr marL="12700" marR="5080"/>
            <a:endParaRPr lang="en-US" sz="1400" kern="0" spc="-80" dirty="0">
              <a:solidFill>
                <a:schemeClr val="accent6"/>
              </a:solidFill>
            </a:endParaRPr>
          </a:p>
          <a:p>
            <a:pPr marL="12700" marR="5080"/>
            <a:r>
              <a:rPr lang="en-US" sz="1400" kern="0" spc="-80" dirty="0">
                <a:solidFill>
                  <a:schemeClr val="accent2"/>
                </a:solidFill>
              </a:rPr>
              <a:t>7. MFA Fatigue &amp; Bypass Attacks</a:t>
            </a:r>
          </a:p>
          <a:p>
            <a:pPr marL="12700" marR="5080"/>
            <a:r>
              <a:rPr lang="en-US" sz="1400" kern="0" spc="-80" dirty="0">
                <a:solidFill>
                  <a:schemeClr val="accent2"/>
                </a:solidFill>
              </a:rPr>
              <a:t>7.1 MFA Fatigue</a:t>
            </a:r>
          </a:p>
          <a:p>
            <a:pPr marL="12700" marR="5080"/>
            <a:r>
              <a:rPr lang="en-US" sz="1400" kern="0" spc="-80" dirty="0">
                <a:solidFill>
                  <a:schemeClr val="accent2"/>
                </a:solidFill>
              </a:rPr>
              <a:t>Attackers:</a:t>
            </a:r>
          </a:p>
          <a:p>
            <a:pPr marL="12700" marR="5080"/>
            <a:r>
              <a:rPr lang="en-US" sz="1400" kern="0" spc="-80" dirty="0">
                <a:solidFill>
                  <a:schemeClr val="accent6"/>
                </a:solidFill>
              </a:rPr>
              <a:t>Spam push requests</a:t>
            </a:r>
          </a:p>
          <a:p>
            <a:pPr marL="12700" marR="5080"/>
            <a:r>
              <a:rPr lang="en-US" sz="1400" kern="0" spc="-80" dirty="0">
                <a:solidFill>
                  <a:schemeClr val="accent6"/>
                </a:solidFill>
              </a:rPr>
              <a:t>User accidentally approves</a:t>
            </a:r>
          </a:p>
          <a:p>
            <a:pPr marL="12700" marR="5080"/>
            <a:r>
              <a:rPr lang="en-US" sz="1400" kern="0" spc="-80" dirty="0">
                <a:solidFill>
                  <a:schemeClr val="accent2"/>
                </a:solidFill>
              </a:rPr>
              <a:t>Defenses</a:t>
            </a:r>
          </a:p>
          <a:p>
            <a:pPr marL="12700" marR="5080"/>
            <a:r>
              <a:rPr lang="en-US" sz="1400" kern="0" spc="-80" dirty="0">
                <a:solidFill>
                  <a:schemeClr val="accent6"/>
                </a:solidFill>
              </a:rPr>
              <a:t>Number matching</a:t>
            </a:r>
          </a:p>
          <a:p>
            <a:pPr marL="12700" marR="5080"/>
            <a:r>
              <a:rPr lang="en-US" sz="1400" kern="0" spc="-80" dirty="0">
                <a:solidFill>
                  <a:schemeClr val="accent6"/>
                </a:solidFill>
              </a:rPr>
              <a:t>Push rate limiting</a:t>
            </a:r>
          </a:p>
          <a:p>
            <a:pPr marL="12700" marR="5080"/>
            <a:r>
              <a:rPr lang="en-US" sz="1400" kern="0" spc="-80" dirty="0">
                <a:solidFill>
                  <a:schemeClr val="accent6"/>
                </a:solidFill>
              </a:rPr>
              <a:t>Geo info in prompt</a:t>
            </a:r>
          </a:p>
          <a:p>
            <a:pPr marL="12700" marR="5080"/>
            <a:r>
              <a:rPr lang="en-US" sz="1400" kern="0" spc="-80" dirty="0">
                <a:solidFill>
                  <a:schemeClr val="accent6"/>
                </a:solidFill>
              </a:rPr>
              <a:t>Require biometric confirmation</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7CEFE35E-AA90-0EC2-2D30-C1B37658D47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C815584-E3A3-5333-CD20-2607B1F18B3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61EE012-B38A-3EB4-B7DD-DA4F18D0263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501578357"/>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BBE96-B6A1-BEB6-1301-EB76EBE1B20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366192B-027B-CA24-FC71-9185EE99CDF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53B86FA-1ACF-C20C-AF64-93DCA5E3C96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79D7EB5-9407-CA33-D2F4-94C3232BC7B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223C22F-97D6-17AC-3C87-6959490A7366}"/>
              </a:ext>
            </a:extLst>
          </p:cNvPr>
          <p:cNvSpPr txBox="1">
            <a:spLocks/>
          </p:cNvSpPr>
          <p:nvPr/>
        </p:nvSpPr>
        <p:spPr>
          <a:xfrm>
            <a:off x="0" y="821353"/>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MFA(Multi-Factor Authentication)</a:t>
            </a:r>
          </a:p>
          <a:p>
            <a:pPr marL="12700" marR="5080"/>
            <a:r>
              <a:rPr lang="en-US" sz="1400" kern="0" spc="-80" dirty="0">
                <a:solidFill>
                  <a:schemeClr val="accent2"/>
                </a:solidFill>
              </a:rPr>
              <a:t>7. MFA Fatigue &amp; Bypass Attacks</a:t>
            </a:r>
          </a:p>
          <a:p>
            <a:pPr marL="12700" marR="5080"/>
            <a:r>
              <a:rPr lang="en-US" sz="1400" kern="0" spc="-80" dirty="0">
                <a:solidFill>
                  <a:schemeClr val="accent2"/>
                </a:solidFill>
              </a:rPr>
              <a:t>7.2 Real-Time Phishing (</a:t>
            </a:r>
            <a:r>
              <a:rPr lang="en-US" sz="1400" kern="0" spc="-80" dirty="0" err="1">
                <a:solidFill>
                  <a:schemeClr val="accent2"/>
                </a:solidFill>
              </a:rPr>
              <a:t>Evilginx</a:t>
            </a:r>
            <a:r>
              <a:rPr lang="en-US" sz="1400" kern="0" spc="-80" dirty="0">
                <a:solidFill>
                  <a:schemeClr val="accent2"/>
                </a:solidFill>
              </a:rPr>
              <a:t>)</a:t>
            </a:r>
          </a:p>
          <a:p>
            <a:pPr marL="12700" marR="5080"/>
            <a:r>
              <a:rPr lang="en-US" sz="1400" kern="0" spc="-80" dirty="0">
                <a:solidFill>
                  <a:schemeClr val="accent6"/>
                </a:solidFill>
              </a:rPr>
              <a:t>Proxies login flow</a:t>
            </a:r>
          </a:p>
          <a:p>
            <a:pPr marL="12700" marR="5080"/>
            <a:r>
              <a:rPr lang="en-US" sz="1400" kern="0" spc="-80" dirty="0">
                <a:solidFill>
                  <a:schemeClr val="accent6"/>
                </a:solidFill>
              </a:rPr>
              <a:t>Captures MFA tokens</a:t>
            </a:r>
          </a:p>
          <a:p>
            <a:pPr marL="12700" marR="5080"/>
            <a:r>
              <a:rPr lang="en-US" sz="1400" kern="0" spc="-80" dirty="0">
                <a:solidFill>
                  <a:schemeClr val="accent6"/>
                </a:solidFill>
              </a:rPr>
              <a:t>Hijacks session cookies</a:t>
            </a:r>
          </a:p>
          <a:p>
            <a:pPr marL="12700" marR="5080"/>
            <a:r>
              <a:rPr lang="en-US" sz="1400" kern="0" spc="-80" dirty="0">
                <a:solidFill>
                  <a:schemeClr val="accent2"/>
                </a:solidFill>
              </a:rPr>
              <a:t>Defenses</a:t>
            </a:r>
          </a:p>
          <a:p>
            <a:pPr marL="12700" marR="5080"/>
            <a:r>
              <a:rPr lang="en-US" sz="1400" kern="0" spc="-80" dirty="0">
                <a:solidFill>
                  <a:schemeClr val="accent6"/>
                </a:solidFill>
              </a:rPr>
              <a:t>FIDO2 keys</a:t>
            </a:r>
          </a:p>
          <a:p>
            <a:pPr marL="12700" marR="5080"/>
            <a:r>
              <a:rPr lang="en-US" sz="1400" kern="0" spc="-80" dirty="0">
                <a:solidFill>
                  <a:schemeClr val="accent6"/>
                </a:solidFill>
              </a:rPr>
              <a:t>Token binding</a:t>
            </a:r>
          </a:p>
          <a:p>
            <a:pPr marL="12700" marR="5080"/>
            <a:r>
              <a:rPr lang="en-US" sz="1400" kern="0" spc="-80" dirty="0">
                <a:solidFill>
                  <a:schemeClr val="accent6"/>
                </a:solidFill>
              </a:rPr>
              <a:t>Short-lived sessions</a:t>
            </a:r>
          </a:p>
          <a:p>
            <a:pPr marL="12700" marR="5080"/>
            <a:endParaRPr lang="en-US" sz="1400" kern="0" spc="-80" dirty="0">
              <a:solidFill>
                <a:schemeClr val="accent6"/>
              </a:solidFill>
            </a:endParaRPr>
          </a:p>
          <a:p>
            <a:pPr marL="12700" marR="5080"/>
            <a:r>
              <a:rPr lang="en-US" sz="1400" kern="0" spc="-80" dirty="0">
                <a:solidFill>
                  <a:schemeClr val="accent2"/>
                </a:solidFill>
              </a:rPr>
              <a:t>8. MFA in Zero Trust Architecture</a:t>
            </a:r>
          </a:p>
          <a:p>
            <a:pPr marL="12700" marR="5080"/>
            <a:r>
              <a:rPr lang="en-US" sz="1400" kern="0" spc="-80" dirty="0">
                <a:solidFill>
                  <a:schemeClr val="accent2"/>
                </a:solidFill>
              </a:rPr>
              <a:t>Zero Trust assumes:</a:t>
            </a:r>
          </a:p>
          <a:p>
            <a:pPr marL="12700" marR="5080"/>
            <a:r>
              <a:rPr lang="en-US" sz="1400" kern="0" spc="-80" dirty="0">
                <a:solidFill>
                  <a:schemeClr val="accent6"/>
                </a:solidFill>
              </a:rPr>
              <a:t>Identity is the new perimeter</a:t>
            </a:r>
          </a:p>
          <a:p>
            <a:pPr marL="12700" marR="5080"/>
            <a:r>
              <a:rPr lang="en-US" sz="1400" kern="0" spc="-80" dirty="0">
                <a:solidFill>
                  <a:schemeClr val="accent2"/>
                </a:solidFill>
              </a:rPr>
              <a:t>MFA is enforced:</a:t>
            </a:r>
          </a:p>
          <a:p>
            <a:pPr marL="12700" marR="5080"/>
            <a:r>
              <a:rPr lang="en-US" sz="1400" kern="0" spc="-80" dirty="0">
                <a:solidFill>
                  <a:schemeClr val="accent6"/>
                </a:solidFill>
              </a:rPr>
              <a:t>Per request</a:t>
            </a:r>
          </a:p>
          <a:p>
            <a:pPr marL="12700" marR="5080"/>
            <a:r>
              <a:rPr lang="en-US" sz="1400" kern="0" spc="-80" dirty="0">
                <a:solidFill>
                  <a:schemeClr val="accent6"/>
                </a:solidFill>
              </a:rPr>
              <a:t>Per session</a:t>
            </a:r>
          </a:p>
          <a:p>
            <a:pPr marL="12700" marR="5080"/>
            <a:r>
              <a:rPr lang="en-US" sz="1400" kern="0" spc="-80" dirty="0">
                <a:solidFill>
                  <a:schemeClr val="accent6"/>
                </a:solidFill>
              </a:rPr>
              <a:t>Per risk level</a:t>
            </a:r>
          </a:p>
          <a:p>
            <a:pPr marL="12700" marR="5080"/>
            <a:r>
              <a:rPr lang="en-US" sz="1400" kern="0" spc="-80" dirty="0">
                <a:solidFill>
                  <a:schemeClr val="accent6"/>
                </a:solidFill>
              </a:rPr>
              <a:t>Combined with:</a:t>
            </a:r>
          </a:p>
          <a:p>
            <a:pPr marL="12700" marR="5080"/>
            <a:r>
              <a:rPr lang="en-US" sz="1400" kern="0" spc="-80" dirty="0">
                <a:solidFill>
                  <a:schemeClr val="accent6"/>
                </a:solidFill>
              </a:rPr>
              <a:t>Device posture</a:t>
            </a:r>
          </a:p>
          <a:p>
            <a:pPr marL="12700" marR="5080"/>
            <a:r>
              <a:rPr lang="en-US" sz="1400" kern="0" spc="-80" dirty="0">
                <a:solidFill>
                  <a:schemeClr val="accent6"/>
                </a:solidFill>
              </a:rPr>
              <a:t>Continuous auth</a:t>
            </a:r>
          </a:p>
          <a:p>
            <a:pPr marL="12700" marR="5080"/>
            <a:r>
              <a:rPr lang="en-US" sz="1400" kern="0" spc="-80" dirty="0">
                <a:solidFill>
                  <a:schemeClr val="accent6"/>
                </a:solidFill>
              </a:rPr>
              <a:t>Conditional access</a:t>
            </a:r>
          </a:p>
        </p:txBody>
      </p:sp>
      <p:grpSp>
        <p:nvGrpSpPr>
          <p:cNvPr id="7" name="Group 6">
            <a:extLst>
              <a:ext uri="{FF2B5EF4-FFF2-40B4-BE49-F238E27FC236}">
                <a16:creationId xmlns:a16="http://schemas.microsoft.com/office/drawing/2014/main" id="{C7A133EC-A3FF-4387-3F04-A99BB7A07E9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A089FF77-1AEF-9B6F-4E2D-810F8FABE9F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379A198-82A9-4674-516C-B8B6FAACF4C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34931777"/>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F26BA-1AFF-2B36-2020-DF9FA5A338C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2FD980A-F679-2A16-5469-CCEC64AA3E1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3948D5C-58D0-57A6-19D1-26EA9B2D9AE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604DB99-09AF-52F2-E28F-CFBA2C5B5DC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690BDA8-A671-284A-F4DF-2B9D028CEC5A}"/>
              </a:ext>
            </a:extLst>
          </p:cNvPr>
          <p:cNvSpPr txBox="1">
            <a:spLocks/>
          </p:cNvSpPr>
          <p:nvPr/>
        </p:nvSpPr>
        <p:spPr>
          <a:xfrm>
            <a:off x="76200" y="775186"/>
            <a:ext cx="8624937" cy="49398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MFA(Multi-Factor Authentication)</a:t>
            </a:r>
          </a:p>
          <a:p>
            <a:pPr marL="12700" marR="5080"/>
            <a:r>
              <a:rPr lang="en-US" sz="1350" kern="0" spc="-80" dirty="0">
                <a:solidFill>
                  <a:schemeClr val="accent2"/>
                </a:solidFill>
              </a:rPr>
              <a:t>9. MFA Recovery &amp; Backup Strategies</a:t>
            </a:r>
          </a:p>
          <a:p>
            <a:pPr marL="12700" marR="5080"/>
            <a:r>
              <a:rPr lang="en-US" sz="1350" kern="0" spc="-80" dirty="0">
                <a:solidFill>
                  <a:schemeClr val="accent2"/>
                </a:solidFill>
              </a:rPr>
              <a:t>⚠️ Most real failures happen here</a:t>
            </a:r>
          </a:p>
          <a:p>
            <a:pPr marL="12700" marR="5080"/>
            <a:r>
              <a:rPr lang="en-US" sz="1350" kern="0" spc="-80" dirty="0">
                <a:solidFill>
                  <a:schemeClr val="accent6"/>
                </a:solidFill>
              </a:rPr>
              <a:t>Safe Recovery Options</a:t>
            </a:r>
          </a:p>
          <a:p>
            <a:pPr marL="12700" marR="5080"/>
            <a:r>
              <a:rPr lang="en-US" sz="1350" kern="0" spc="-80" dirty="0">
                <a:solidFill>
                  <a:schemeClr val="accent6"/>
                </a:solidFill>
              </a:rPr>
              <a:t>Backup codes</a:t>
            </a:r>
          </a:p>
          <a:p>
            <a:pPr marL="12700" marR="5080"/>
            <a:r>
              <a:rPr lang="en-US" sz="1350" kern="0" spc="-80" dirty="0">
                <a:solidFill>
                  <a:schemeClr val="accent6"/>
                </a:solidFill>
              </a:rPr>
              <a:t>Secondary MFA device</a:t>
            </a:r>
          </a:p>
          <a:p>
            <a:pPr marL="12700" marR="5080"/>
            <a:r>
              <a:rPr lang="en-US" sz="1350" kern="0" spc="-80" dirty="0">
                <a:solidFill>
                  <a:schemeClr val="accent6"/>
                </a:solidFill>
              </a:rPr>
              <a:t>Hardware key backup</a:t>
            </a:r>
          </a:p>
          <a:p>
            <a:pPr marL="12700" marR="5080"/>
            <a:r>
              <a:rPr lang="en-US" sz="1350" kern="0" spc="-80" dirty="0">
                <a:solidFill>
                  <a:schemeClr val="accent6"/>
                </a:solidFill>
              </a:rPr>
              <a:t>Admin-assisted recovery</a:t>
            </a:r>
          </a:p>
          <a:p>
            <a:pPr marL="12700" marR="5080"/>
            <a:r>
              <a:rPr lang="en-US" sz="1350" kern="0" spc="-80" dirty="0">
                <a:solidFill>
                  <a:schemeClr val="accent6"/>
                </a:solidFill>
              </a:rPr>
              <a:t>Unsafe Practices</a:t>
            </a:r>
          </a:p>
          <a:p>
            <a:pPr marL="12700" marR="5080"/>
            <a:r>
              <a:rPr lang="en-US" sz="1350" kern="0" spc="-80" dirty="0">
                <a:solidFill>
                  <a:schemeClr val="accent6"/>
                </a:solidFill>
              </a:rPr>
              <a:t>Email-only reset</a:t>
            </a:r>
          </a:p>
          <a:p>
            <a:pPr marL="12700" marR="5080"/>
            <a:r>
              <a:rPr lang="en-US" sz="1350" kern="0" spc="-80" dirty="0">
                <a:solidFill>
                  <a:schemeClr val="accent6"/>
                </a:solidFill>
              </a:rPr>
              <a:t>SMS fallback only</a:t>
            </a:r>
          </a:p>
          <a:p>
            <a:pPr marL="12700" marR="5080"/>
            <a:r>
              <a:rPr lang="en-US" sz="1350" kern="0" spc="-80" dirty="0">
                <a:solidFill>
                  <a:schemeClr val="accent6"/>
                </a:solidFill>
              </a:rPr>
              <a:t>No audit trail</a:t>
            </a:r>
          </a:p>
          <a:p>
            <a:pPr marL="12700" marR="5080"/>
            <a:r>
              <a:rPr lang="en-US" sz="1350" kern="0" spc="-80" dirty="0">
                <a:solidFill>
                  <a:schemeClr val="accent2"/>
                </a:solidFill>
              </a:rPr>
              <a:t>10. MFA UX &amp; Human Factors</a:t>
            </a:r>
          </a:p>
          <a:p>
            <a:pPr marL="12700" marR="5080"/>
            <a:r>
              <a:rPr lang="en-US" sz="1350" kern="0" spc="-80" dirty="0">
                <a:solidFill>
                  <a:schemeClr val="accent6"/>
                </a:solidFill>
              </a:rPr>
              <a:t>Bad MFA → users disable security</a:t>
            </a:r>
          </a:p>
          <a:p>
            <a:pPr marL="12700" marR="5080"/>
            <a:r>
              <a:rPr lang="en-US" sz="1350" kern="0" spc="-80" dirty="0">
                <a:solidFill>
                  <a:schemeClr val="accent2"/>
                </a:solidFill>
              </a:rPr>
              <a:t>Good MFA UX</a:t>
            </a:r>
          </a:p>
          <a:p>
            <a:pPr marL="12700" marR="5080"/>
            <a:r>
              <a:rPr lang="en-US" sz="1350" kern="0" spc="-80" dirty="0">
                <a:solidFill>
                  <a:schemeClr val="accent6"/>
                </a:solidFill>
              </a:rPr>
              <a:t>Remember trusted devices</a:t>
            </a:r>
          </a:p>
          <a:p>
            <a:pPr marL="12700" marR="5080"/>
            <a:r>
              <a:rPr lang="en-US" sz="1350" kern="0" spc="-80" dirty="0">
                <a:solidFill>
                  <a:schemeClr val="accent6"/>
                </a:solidFill>
              </a:rPr>
              <a:t>Grace periods</a:t>
            </a:r>
          </a:p>
          <a:p>
            <a:pPr marL="12700" marR="5080"/>
            <a:r>
              <a:rPr lang="en-US" sz="1350" kern="0" spc="-80" dirty="0">
                <a:solidFill>
                  <a:schemeClr val="accent6"/>
                </a:solidFill>
              </a:rPr>
              <a:t>Clear prompts</a:t>
            </a:r>
          </a:p>
          <a:p>
            <a:pPr marL="12700" marR="5080"/>
            <a:r>
              <a:rPr lang="en-US" sz="1350" kern="0" spc="-80" dirty="0">
                <a:solidFill>
                  <a:schemeClr val="accent6"/>
                </a:solidFill>
              </a:rPr>
              <a:t>Minimal friction</a:t>
            </a:r>
          </a:p>
          <a:p>
            <a:pPr marL="12700" marR="5080"/>
            <a:r>
              <a:rPr lang="en-US" sz="1350" kern="0" spc="-80" dirty="0">
                <a:solidFill>
                  <a:schemeClr val="accent2"/>
                </a:solidFill>
              </a:rPr>
              <a:t>Bad MFA UX</a:t>
            </a:r>
          </a:p>
          <a:p>
            <a:pPr marL="12700" marR="5080"/>
            <a:r>
              <a:rPr lang="en-US" sz="1350" kern="0" spc="-80" dirty="0">
                <a:solidFill>
                  <a:schemeClr val="accent6"/>
                </a:solidFill>
              </a:rPr>
              <a:t>MFA every refresh</a:t>
            </a:r>
          </a:p>
          <a:p>
            <a:pPr marL="12700" marR="5080"/>
            <a:r>
              <a:rPr lang="en-US" sz="1350" kern="0" spc="-80" dirty="0">
                <a:solidFill>
                  <a:schemeClr val="accent6"/>
                </a:solidFill>
              </a:rPr>
              <a:t>Unclear push prompts</a:t>
            </a:r>
          </a:p>
          <a:p>
            <a:pPr marL="12700" marR="5080"/>
            <a:r>
              <a:rPr lang="en-US" sz="1350" kern="0" spc="-80" dirty="0">
                <a:solidFill>
                  <a:schemeClr val="accent6"/>
                </a:solidFill>
              </a:rPr>
              <a:t>Forced SMS OTP</a:t>
            </a:r>
          </a:p>
        </p:txBody>
      </p:sp>
      <p:grpSp>
        <p:nvGrpSpPr>
          <p:cNvPr id="7" name="Group 6">
            <a:extLst>
              <a:ext uri="{FF2B5EF4-FFF2-40B4-BE49-F238E27FC236}">
                <a16:creationId xmlns:a16="http://schemas.microsoft.com/office/drawing/2014/main" id="{804E71DF-2FD6-DB7E-6B62-6C410892637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CDDB796-8E8D-6A48-5F1F-42028383B9A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11D74F3-D22E-7312-10AD-1D3F1EE94A1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949224770"/>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53EF4-FF03-5D2C-8683-0E796C7C3C9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9025259-AFD5-272E-CF13-05976162818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3898D11-61D6-5CF6-8906-FA122E147FB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F2B4993D-42FD-30D5-72E9-BCC94AD0437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719DA0D-A484-3B49-9913-57A2E52E5C61}"/>
              </a:ext>
            </a:extLst>
          </p:cNvPr>
          <p:cNvSpPr txBox="1">
            <a:spLocks/>
          </p:cNvSpPr>
          <p:nvPr/>
        </p:nvSpPr>
        <p:spPr>
          <a:xfrm>
            <a:off x="76200" y="745153"/>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MFA(Multi-Factor Authentication)</a:t>
            </a:r>
          </a:p>
          <a:p>
            <a:pPr marL="12700" marR="5080"/>
            <a:r>
              <a:rPr lang="en-US" sz="1400" kern="0" spc="-80" dirty="0">
                <a:solidFill>
                  <a:schemeClr val="accent2"/>
                </a:solidFill>
              </a:rPr>
              <a:t>11. Enterprise MFA Best Practices</a:t>
            </a:r>
          </a:p>
          <a:p>
            <a:pPr marL="12700" marR="5080"/>
            <a:r>
              <a:rPr lang="en-US" sz="1400" kern="0" spc="-80" dirty="0">
                <a:solidFill>
                  <a:schemeClr val="accent2"/>
                </a:solidFill>
              </a:rPr>
              <a:t>✅ Enforce MFA for:</a:t>
            </a:r>
          </a:p>
          <a:p>
            <a:pPr marL="12700" marR="5080"/>
            <a:r>
              <a:rPr lang="en-US" sz="1400" kern="0" spc="-80" dirty="0">
                <a:solidFill>
                  <a:schemeClr val="accent6"/>
                </a:solidFill>
              </a:rPr>
              <a:t>Admin accounts</a:t>
            </a:r>
          </a:p>
          <a:p>
            <a:pPr marL="12700" marR="5080"/>
            <a:r>
              <a:rPr lang="en-US" sz="1400" kern="0" spc="-80" dirty="0">
                <a:solidFill>
                  <a:schemeClr val="accent6"/>
                </a:solidFill>
              </a:rPr>
              <a:t>VPN access</a:t>
            </a:r>
          </a:p>
          <a:p>
            <a:pPr marL="12700" marR="5080"/>
            <a:r>
              <a:rPr lang="en-US" sz="1400" kern="0" spc="-80" dirty="0">
                <a:solidFill>
                  <a:schemeClr val="accent6"/>
                </a:solidFill>
              </a:rPr>
              <a:t>Cloud consoles</a:t>
            </a:r>
          </a:p>
          <a:p>
            <a:pPr marL="12700" marR="5080"/>
            <a:r>
              <a:rPr lang="en-US" sz="1400" kern="0" spc="-80" dirty="0">
                <a:solidFill>
                  <a:schemeClr val="accent6"/>
                </a:solidFill>
              </a:rPr>
              <a:t>CI/CD systems</a:t>
            </a:r>
          </a:p>
          <a:p>
            <a:pPr marL="12700" marR="5080"/>
            <a:r>
              <a:rPr lang="en-US" sz="1400" kern="0" spc="-80" dirty="0">
                <a:solidFill>
                  <a:schemeClr val="accent6"/>
                </a:solidFill>
              </a:rPr>
              <a:t>Privileged APIs</a:t>
            </a:r>
          </a:p>
          <a:p>
            <a:pPr marL="12700" marR="5080"/>
            <a:r>
              <a:rPr lang="en-US" sz="1400" kern="0" spc="-80" dirty="0">
                <a:solidFill>
                  <a:schemeClr val="accent6"/>
                </a:solidFill>
              </a:rPr>
              <a:t>✅ Prefer:</a:t>
            </a:r>
          </a:p>
          <a:p>
            <a:pPr marL="12700" marR="5080"/>
            <a:r>
              <a:rPr lang="en-US" sz="1400" kern="0" spc="-80" dirty="0">
                <a:solidFill>
                  <a:schemeClr val="accent6"/>
                </a:solidFill>
              </a:rPr>
              <a:t>FIDO2 &gt; TOTP &gt; Push &gt; SMS</a:t>
            </a:r>
          </a:p>
          <a:p>
            <a:pPr marL="12700" marR="5080"/>
            <a:r>
              <a:rPr lang="en-US" sz="1400" kern="0" spc="-80" dirty="0">
                <a:solidFill>
                  <a:schemeClr val="accent6"/>
                </a:solidFill>
              </a:rPr>
              <a:t>✅ Combine with:</a:t>
            </a:r>
          </a:p>
          <a:p>
            <a:pPr marL="12700" marR="5080"/>
            <a:r>
              <a:rPr lang="en-US" sz="1400" kern="0" spc="-80" dirty="0">
                <a:solidFill>
                  <a:schemeClr val="accent6"/>
                </a:solidFill>
              </a:rPr>
              <a:t>Device trust</a:t>
            </a:r>
          </a:p>
          <a:p>
            <a:pPr marL="12700" marR="5080"/>
            <a:r>
              <a:rPr lang="en-US" sz="1400" kern="0" spc="-80" dirty="0">
                <a:solidFill>
                  <a:schemeClr val="accent6"/>
                </a:solidFill>
              </a:rPr>
              <a:t>Least privilege</a:t>
            </a:r>
          </a:p>
          <a:p>
            <a:pPr marL="12700" marR="5080"/>
            <a:r>
              <a:rPr lang="en-US" sz="1400" kern="0" spc="-80" dirty="0">
                <a:solidFill>
                  <a:schemeClr val="accent6"/>
                </a:solidFill>
              </a:rPr>
              <a:t>Short token lifetimes</a:t>
            </a:r>
          </a:p>
          <a:p>
            <a:pPr marL="12700" marR="5080"/>
            <a:endParaRPr lang="en-US" sz="1400" kern="0" spc="-80" dirty="0">
              <a:solidFill>
                <a:schemeClr val="accent6"/>
              </a:solidFill>
            </a:endParaRPr>
          </a:p>
          <a:p>
            <a:pPr marL="12700" marR="5080"/>
            <a:r>
              <a:rPr lang="en-US" sz="1400" kern="0" spc="-80" dirty="0">
                <a:solidFill>
                  <a:schemeClr val="accent2"/>
                </a:solidFill>
              </a:rPr>
              <a:t>12. MFA Compliance &amp; Standards</a:t>
            </a:r>
          </a:p>
          <a:p>
            <a:pPr marL="12700" marR="5080"/>
            <a:r>
              <a:rPr lang="en-US" sz="1400" kern="0" spc="-80" dirty="0">
                <a:solidFill>
                  <a:schemeClr val="accent2"/>
                </a:solidFill>
              </a:rPr>
              <a:t>Standard	                   Requirement</a:t>
            </a:r>
          </a:p>
          <a:p>
            <a:pPr marL="12700" marR="5080"/>
            <a:r>
              <a:rPr lang="en-US" sz="1400" kern="0" spc="-80" dirty="0">
                <a:solidFill>
                  <a:schemeClr val="accent6"/>
                </a:solidFill>
              </a:rPr>
              <a:t>PCI-DSS	                   MFA for admin access</a:t>
            </a:r>
          </a:p>
          <a:p>
            <a:pPr marL="12700" marR="5080"/>
            <a:r>
              <a:rPr lang="en-US" sz="1400" kern="0" spc="-80" dirty="0">
                <a:solidFill>
                  <a:schemeClr val="accent6"/>
                </a:solidFill>
              </a:rPr>
              <a:t>HIPAA	                   MFA recommended</a:t>
            </a:r>
          </a:p>
          <a:p>
            <a:pPr marL="12700" marR="5080"/>
            <a:r>
              <a:rPr lang="en-US" sz="1400" kern="0" spc="-80" dirty="0">
                <a:solidFill>
                  <a:schemeClr val="accent6"/>
                </a:solidFill>
              </a:rPr>
              <a:t>NIST 800-63B	MFA + AAL levels</a:t>
            </a:r>
          </a:p>
          <a:p>
            <a:pPr marL="12700" marR="5080"/>
            <a:r>
              <a:rPr lang="en-US" sz="1400" kern="0" spc="-80" dirty="0">
                <a:solidFill>
                  <a:schemeClr val="accent6"/>
                </a:solidFill>
              </a:rPr>
              <a:t>ISO 27001	                   Strong auth controls</a:t>
            </a:r>
          </a:p>
          <a:p>
            <a:pPr marL="12700" marR="5080"/>
            <a:r>
              <a:rPr lang="en-US" sz="1400" kern="0" spc="-80" dirty="0">
                <a:solidFill>
                  <a:schemeClr val="accent6"/>
                </a:solidFill>
              </a:rPr>
              <a:t>SOC2	                   MFA evidence</a:t>
            </a:r>
          </a:p>
        </p:txBody>
      </p:sp>
      <p:grpSp>
        <p:nvGrpSpPr>
          <p:cNvPr id="7" name="Group 6">
            <a:extLst>
              <a:ext uri="{FF2B5EF4-FFF2-40B4-BE49-F238E27FC236}">
                <a16:creationId xmlns:a16="http://schemas.microsoft.com/office/drawing/2014/main" id="{3C49BC4C-9B38-2367-316F-6125EA9FB7B1}"/>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3A09A0F-5A43-544A-ED93-A5EC67456EA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BDEC50E-BFEC-1F7A-5995-6989FB99221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589777406"/>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058C3-8A51-01EC-7AA1-584F8091380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CC7A852-1278-0C23-C245-7A3307F077A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CC17941-6B74-CF36-A3E0-EFAE49501D1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D3D11C6-78A2-5128-D6AB-F7207BD5FFC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83FADE3-E8FF-25AF-77A9-CECCA2B03128}"/>
              </a:ext>
            </a:extLst>
          </p:cNvPr>
          <p:cNvSpPr txBox="1">
            <a:spLocks/>
          </p:cNvSpPr>
          <p:nvPr/>
        </p:nvSpPr>
        <p:spPr>
          <a:xfrm>
            <a:off x="0" y="71884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MFA(Multi-Factor Authentication)</a:t>
            </a:r>
          </a:p>
          <a:p>
            <a:pPr marL="12700" marR="5080"/>
            <a:r>
              <a:rPr lang="en-US" sz="1400" kern="0" spc="-80" dirty="0">
                <a:solidFill>
                  <a:schemeClr val="accent2"/>
                </a:solidFill>
              </a:rPr>
              <a:t>13. MFA in Cloud Platforms</a:t>
            </a:r>
          </a:p>
          <a:p>
            <a:pPr marL="12700" marR="5080"/>
            <a:r>
              <a:rPr lang="en-US" sz="1400" kern="0" spc="-80" dirty="0">
                <a:solidFill>
                  <a:schemeClr val="accent2"/>
                </a:solidFill>
              </a:rPr>
              <a:t>Platform	MFA Tech</a:t>
            </a:r>
          </a:p>
          <a:p>
            <a:pPr marL="12700" marR="5080"/>
            <a:r>
              <a:rPr lang="en-US" sz="1400" kern="0" spc="-80" dirty="0">
                <a:solidFill>
                  <a:schemeClr val="accent6"/>
                </a:solidFill>
              </a:rPr>
              <a:t>Azure AD	Conditional Access</a:t>
            </a:r>
          </a:p>
          <a:p>
            <a:pPr marL="12700" marR="5080"/>
            <a:r>
              <a:rPr lang="en-US" sz="1400" kern="0" spc="-80" dirty="0">
                <a:solidFill>
                  <a:schemeClr val="accent6"/>
                </a:solidFill>
              </a:rPr>
              <a:t>AWS	MFA + IAM</a:t>
            </a:r>
          </a:p>
          <a:p>
            <a:pPr marL="12700" marR="5080"/>
            <a:r>
              <a:rPr lang="en-US" sz="1400" kern="0" spc="-80" dirty="0">
                <a:solidFill>
                  <a:schemeClr val="accent6"/>
                </a:solidFill>
              </a:rPr>
              <a:t>GCP	</a:t>
            </a:r>
            <a:r>
              <a:rPr lang="en-US" sz="1400" kern="0" spc="-80" dirty="0" err="1">
                <a:solidFill>
                  <a:schemeClr val="accent6"/>
                </a:solidFill>
              </a:rPr>
              <a:t>BeyondCorp</a:t>
            </a:r>
            <a:endParaRPr lang="en-US" sz="1400" kern="0" spc="-80" dirty="0">
              <a:solidFill>
                <a:schemeClr val="accent6"/>
              </a:solidFill>
            </a:endParaRPr>
          </a:p>
          <a:p>
            <a:pPr marL="12700" marR="5080"/>
            <a:r>
              <a:rPr lang="en-US" sz="1400" kern="0" spc="-80" dirty="0">
                <a:solidFill>
                  <a:schemeClr val="accent6"/>
                </a:solidFill>
              </a:rPr>
              <a:t>Okta	Adaptive MFA</a:t>
            </a:r>
          </a:p>
          <a:p>
            <a:pPr marL="12700" marR="5080"/>
            <a:r>
              <a:rPr lang="en-US" sz="1400" kern="0" spc="-80" dirty="0">
                <a:solidFill>
                  <a:schemeClr val="accent6"/>
                </a:solidFill>
              </a:rPr>
              <a:t>Auth0	Rule-based MFA</a:t>
            </a:r>
          </a:p>
          <a:p>
            <a:pPr marL="12700" marR="5080"/>
            <a:endParaRPr lang="en-US" sz="1400" kern="0" spc="-80" dirty="0">
              <a:solidFill>
                <a:schemeClr val="accent6"/>
              </a:solidFill>
            </a:endParaRPr>
          </a:p>
          <a:p>
            <a:pPr marL="12700" marR="5080"/>
            <a:r>
              <a:rPr lang="en-US" sz="1400" kern="0" spc="-80" dirty="0">
                <a:solidFill>
                  <a:schemeClr val="accent2"/>
                </a:solidFill>
              </a:rPr>
              <a:t>14. </a:t>
            </a:r>
            <a:r>
              <a:rPr lang="en-US" sz="1400" kern="0" spc="-80" dirty="0" err="1">
                <a:solidFill>
                  <a:schemeClr val="accent2"/>
                </a:solidFill>
              </a:rPr>
              <a:t>Passwordless</a:t>
            </a:r>
            <a:r>
              <a:rPr lang="en-US" sz="1400" kern="0" spc="-80" dirty="0">
                <a:solidFill>
                  <a:schemeClr val="accent2"/>
                </a:solidFill>
              </a:rPr>
              <a:t> MFA (Future Direction)</a:t>
            </a:r>
          </a:p>
          <a:p>
            <a:pPr marL="12700" marR="5080"/>
            <a:r>
              <a:rPr lang="en-US" sz="1400" kern="0" spc="-80" dirty="0">
                <a:solidFill>
                  <a:schemeClr val="accent2"/>
                </a:solidFill>
              </a:rPr>
              <a:t>Examples:</a:t>
            </a:r>
          </a:p>
          <a:p>
            <a:pPr marL="12700" marR="5080"/>
            <a:r>
              <a:rPr lang="en-US" sz="1400" kern="0" spc="-80" dirty="0">
                <a:solidFill>
                  <a:schemeClr val="accent6"/>
                </a:solidFill>
              </a:rPr>
              <a:t>Passkeys (</a:t>
            </a:r>
            <a:r>
              <a:rPr lang="en-US" sz="1400" kern="0" spc="-80" dirty="0" err="1">
                <a:solidFill>
                  <a:schemeClr val="accent6"/>
                </a:solidFill>
              </a:rPr>
              <a:t>WebAuthn</a:t>
            </a:r>
            <a:r>
              <a:rPr lang="en-US" sz="1400" kern="0" spc="-80" dirty="0">
                <a:solidFill>
                  <a:schemeClr val="accent6"/>
                </a:solidFill>
              </a:rPr>
              <a:t>)</a:t>
            </a:r>
          </a:p>
          <a:p>
            <a:pPr marL="12700" marR="5080"/>
            <a:r>
              <a:rPr lang="en-US" sz="1400" kern="0" spc="-80" dirty="0">
                <a:solidFill>
                  <a:schemeClr val="accent6"/>
                </a:solidFill>
              </a:rPr>
              <a:t>Device-bound credentials</a:t>
            </a:r>
          </a:p>
          <a:p>
            <a:pPr marL="12700" marR="5080"/>
            <a:r>
              <a:rPr lang="en-US" sz="1400" kern="0" spc="-80" dirty="0">
                <a:solidFill>
                  <a:schemeClr val="accent6"/>
                </a:solidFill>
              </a:rPr>
              <a:t>Platform authenticators</a:t>
            </a:r>
          </a:p>
          <a:p>
            <a:pPr marL="12700" marR="5080"/>
            <a:r>
              <a:rPr lang="en-US" sz="1400" kern="0" spc="-80" dirty="0">
                <a:solidFill>
                  <a:schemeClr val="accent2"/>
                </a:solidFill>
              </a:rPr>
              <a:t>Benefits:</a:t>
            </a:r>
          </a:p>
          <a:p>
            <a:pPr marL="12700" marR="5080"/>
            <a:r>
              <a:rPr lang="en-US" sz="1400" kern="0" spc="-80" dirty="0">
                <a:solidFill>
                  <a:schemeClr val="accent6"/>
                </a:solidFill>
              </a:rPr>
              <a:t>No phishing</a:t>
            </a:r>
          </a:p>
          <a:p>
            <a:pPr marL="12700" marR="5080"/>
            <a:r>
              <a:rPr lang="en-US" sz="1400" kern="0" spc="-80" dirty="0">
                <a:solidFill>
                  <a:schemeClr val="accent6"/>
                </a:solidFill>
              </a:rPr>
              <a:t>No passwords</a:t>
            </a:r>
          </a:p>
          <a:p>
            <a:pPr marL="12700" marR="5080"/>
            <a:r>
              <a:rPr lang="en-US" sz="1400" kern="0" spc="-80" dirty="0">
                <a:solidFill>
                  <a:schemeClr val="accent6"/>
                </a:solidFill>
              </a:rPr>
              <a:t>Lower breach impact</a:t>
            </a:r>
          </a:p>
          <a:p>
            <a:pPr marL="12700" marR="5080"/>
            <a:endParaRPr lang="en-US" sz="1400" kern="0" spc="-80" dirty="0">
              <a:solidFill>
                <a:schemeClr val="accent6"/>
              </a:solidFill>
            </a:endParaRP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E7FF2281-DBB2-2123-110E-8EE36E2CB3A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9635BC29-D374-EB56-08D0-69849FF2E30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F65E930-3585-5752-D455-8F746CDF3CB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772047977"/>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F4865-7B70-8590-0704-F890F362FE8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1DD41EC-689F-7DBF-0B28-FB774CE6574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721A10D-DFAD-1486-40D1-11C6E8C84E3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F26D75C-0312-9A75-25BF-E38021DAB98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C7C6E6C-5A04-2970-3786-DD8C9CEF3973}"/>
              </a:ext>
            </a:extLst>
          </p:cNvPr>
          <p:cNvSpPr txBox="1">
            <a:spLocks/>
          </p:cNvSpPr>
          <p:nvPr/>
        </p:nvSpPr>
        <p:spPr>
          <a:xfrm>
            <a:off x="0" y="779145"/>
            <a:ext cx="8624937" cy="295465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MFA(Multi-Factor Authentication)</a:t>
            </a:r>
          </a:p>
          <a:p>
            <a:pPr marL="12700" marR="5080"/>
            <a:r>
              <a:rPr lang="en-US" sz="1400" kern="0" spc="-80" dirty="0">
                <a:solidFill>
                  <a:schemeClr val="accent2"/>
                </a:solidFill>
              </a:rPr>
              <a:t>15. MFA Anti-Patterns (What NOT to Do)</a:t>
            </a:r>
          </a:p>
          <a:p>
            <a:pPr marL="12700" marR="5080"/>
            <a:r>
              <a:rPr lang="en-US" sz="1400" kern="0" spc="-80" dirty="0">
                <a:solidFill>
                  <a:schemeClr val="accent6"/>
                </a:solidFill>
              </a:rPr>
              <a:t>❌ SMS as only factor</a:t>
            </a:r>
          </a:p>
          <a:p>
            <a:pPr marL="12700" marR="5080"/>
            <a:r>
              <a:rPr lang="en-US" sz="1400" kern="0" spc="-80" dirty="0">
                <a:solidFill>
                  <a:schemeClr val="accent6"/>
                </a:solidFill>
              </a:rPr>
              <a:t>❌ MFA without recovery</a:t>
            </a:r>
          </a:p>
          <a:p>
            <a:pPr marL="12700" marR="5080"/>
            <a:r>
              <a:rPr lang="en-US" sz="1400" kern="0" spc="-80" dirty="0">
                <a:solidFill>
                  <a:schemeClr val="accent6"/>
                </a:solidFill>
              </a:rPr>
              <a:t>❌ MFA bypass for service accounts</a:t>
            </a:r>
          </a:p>
          <a:p>
            <a:pPr marL="12700" marR="5080"/>
            <a:r>
              <a:rPr lang="en-US" sz="1400" kern="0" spc="-80" dirty="0">
                <a:solidFill>
                  <a:schemeClr val="accent6"/>
                </a:solidFill>
              </a:rPr>
              <a:t>❌ Long-lived tokens after MFA</a:t>
            </a:r>
          </a:p>
          <a:p>
            <a:pPr marL="12700" marR="5080"/>
            <a:r>
              <a:rPr lang="en-US" sz="1400" kern="0" spc="-80" dirty="0">
                <a:solidFill>
                  <a:schemeClr val="accent6"/>
                </a:solidFill>
              </a:rPr>
              <a:t>❌ Shared MFA devices</a:t>
            </a:r>
          </a:p>
          <a:p>
            <a:pPr marL="12700" marR="5080"/>
            <a:endParaRPr lang="en-US" sz="1400" kern="0" spc="-80" dirty="0">
              <a:solidFill>
                <a:schemeClr val="accent6"/>
              </a:solidFill>
            </a:endParaRPr>
          </a:p>
          <a:p>
            <a:pPr marL="12700" marR="5080"/>
            <a:r>
              <a:rPr lang="en-US" sz="1400" kern="0" spc="-80" dirty="0">
                <a:solidFill>
                  <a:schemeClr val="accent2"/>
                </a:solidFill>
              </a:rPr>
              <a:t>16. Mental Model Summary</a:t>
            </a:r>
          </a:p>
          <a:p>
            <a:pPr marL="12700" marR="5080"/>
            <a:r>
              <a:rPr lang="en-US" sz="1400" kern="0" spc="-80" dirty="0">
                <a:solidFill>
                  <a:schemeClr val="accent6"/>
                </a:solidFill>
              </a:rPr>
              <a:t>Password → Weak Identity Proof</a:t>
            </a:r>
          </a:p>
          <a:p>
            <a:pPr marL="12700" marR="5080"/>
            <a:r>
              <a:rPr lang="en-US" sz="1400" kern="0" spc="-80" dirty="0">
                <a:solidFill>
                  <a:schemeClr val="accent6"/>
                </a:solidFill>
              </a:rPr>
              <a:t>MFA → Strong Identity Proof</a:t>
            </a:r>
          </a:p>
          <a:p>
            <a:pPr marL="12700" marR="5080"/>
            <a:r>
              <a:rPr lang="en-US" sz="1400" kern="0" spc="-80" dirty="0">
                <a:solidFill>
                  <a:schemeClr val="accent6"/>
                </a:solidFill>
              </a:rPr>
              <a:t>Hardware-backed MFA → Cryptographic Identity</a:t>
            </a:r>
          </a:p>
          <a:p>
            <a:pPr marL="12700" marR="5080"/>
            <a:r>
              <a:rPr lang="en-US" sz="1400" kern="0" spc="-80" dirty="0">
                <a:solidFill>
                  <a:schemeClr val="accent6"/>
                </a:solidFill>
              </a:rPr>
              <a:t>Adaptive MFA → Continuous Trust</a:t>
            </a:r>
          </a:p>
        </p:txBody>
      </p:sp>
      <p:grpSp>
        <p:nvGrpSpPr>
          <p:cNvPr id="7" name="Group 6">
            <a:extLst>
              <a:ext uri="{FF2B5EF4-FFF2-40B4-BE49-F238E27FC236}">
                <a16:creationId xmlns:a16="http://schemas.microsoft.com/office/drawing/2014/main" id="{7639F046-D457-4E35-398D-9833299BB2B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3A94447-289C-76EA-BC61-71B92CA2CF3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AB00413-9ECF-5F8D-562B-D5D996377C4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274918928"/>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61863" y="767477"/>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“2nd A” of “AAA” Triad using OAuth - Auth Code Grant Type</a:t>
            </a:r>
          </a:p>
        </p:txBody>
      </p:sp>
      <p:pic>
        <p:nvPicPr>
          <p:cNvPr id="10" name="Picture 9">
            <a:extLst>
              <a:ext uri="{FF2B5EF4-FFF2-40B4-BE49-F238E27FC236}">
                <a16:creationId xmlns:a16="http://schemas.microsoft.com/office/drawing/2014/main" id="{27DBE7DF-E6F9-DF97-47A9-E30460D388D1}"/>
              </a:ext>
            </a:extLst>
          </p:cNvPr>
          <p:cNvPicPr>
            <a:picLocks noChangeAspect="1"/>
          </p:cNvPicPr>
          <p:nvPr/>
        </p:nvPicPr>
        <p:blipFill>
          <a:blip r:embed="rId2"/>
          <a:stretch>
            <a:fillRect/>
          </a:stretch>
        </p:blipFill>
        <p:spPr>
          <a:xfrm>
            <a:off x="61863" y="1539399"/>
            <a:ext cx="8844828" cy="4369775"/>
          </a:xfrm>
          <a:prstGeom prst="rect">
            <a:avLst/>
          </a:prstGeom>
        </p:spPr>
      </p:pic>
      <p:grpSp>
        <p:nvGrpSpPr>
          <p:cNvPr id="9" name="Group 8">
            <a:extLst>
              <a:ext uri="{FF2B5EF4-FFF2-40B4-BE49-F238E27FC236}">
                <a16:creationId xmlns:a16="http://schemas.microsoft.com/office/drawing/2014/main" id="{4AEA2841-20AF-5400-98F5-5255D7AB01D2}"/>
              </a:ext>
            </a:extLst>
          </p:cNvPr>
          <p:cNvGrpSpPr/>
          <p:nvPr/>
        </p:nvGrpSpPr>
        <p:grpSpPr>
          <a:xfrm>
            <a:off x="20320" y="-30047"/>
            <a:ext cx="9123680" cy="481253"/>
            <a:chOff x="0" y="0"/>
            <a:chExt cx="8716300" cy="481253"/>
          </a:xfrm>
        </p:grpSpPr>
        <p:sp>
          <p:nvSpPr>
            <p:cNvPr id="11" name="Rectangle: Rounded Corners 10">
              <a:extLst>
                <a:ext uri="{FF2B5EF4-FFF2-40B4-BE49-F238E27FC236}">
                  <a16:creationId xmlns:a16="http://schemas.microsoft.com/office/drawing/2014/main" id="{C3F17C34-0BFE-22FE-05D2-F40FAA740E3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2" name="Rectangle: Rounded Corners 4">
              <a:extLst>
                <a:ext uri="{FF2B5EF4-FFF2-40B4-BE49-F238E27FC236}">
                  <a16:creationId xmlns:a16="http://schemas.microsoft.com/office/drawing/2014/main" id="{32A54942-ADE7-E27C-F1E7-20FF45398BE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514332875"/>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44911" y="800736"/>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“2nd A” of “AAA” Triad using OAuth -  Client Credentials Grant Type</a:t>
            </a:r>
            <a:endParaRPr lang="en-US" sz="2400" kern="0" spc="-80" dirty="0">
              <a:solidFill>
                <a:schemeClr val="accent6"/>
              </a:solidFill>
            </a:endParaRPr>
          </a:p>
        </p:txBody>
      </p:sp>
      <p:pic>
        <p:nvPicPr>
          <p:cNvPr id="8" name="Picture 7">
            <a:extLst>
              <a:ext uri="{FF2B5EF4-FFF2-40B4-BE49-F238E27FC236}">
                <a16:creationId xmlns:a16="http://schemas.microsoft.com/office/drawing/2014/main" id="{908E93D2-A4F5-CD11-CC8C-29E61E271CA0}"/>
              </a:ext>
            </a:extLst>
          </p:cNvPr>
          <p:cNvPicPr>
            <a:picLocks noChangeAspect="1"/>
          </p:cNvPicPr>
          <p:nvPr/>
        </p:nvPicPr>
        <p:blipFill>
          <a:blip r:embed="rId2"/>
          <a:stretch>
            <a:fillRect/>
          </a:stretch>
        </p:blipFill>
        <p:spPr>
          <a:xfrm>
            <a:off x="0" y="1500664"/>
            <a:ext cx="9144000" cy="4671536"/>
          </a:xfrm>
          <a:prstGeom prst="rect">
            <a:avLst/>
          </a:prstGeom>
        </p:spPr>
      </p:pic>
      <p:grpSp>
        <p:nvGrpSpPr>
          <p:cNvPr id="7" name="Group 6">
            <a:extLst>
              <a:ext uri="{FF2B5EF4-FFF2-40B4-BE49-F238E27FC236}">
                <a16:creationId xmlns:a16="http://schemas.microsoft.com/office/drawing/2014/main" id="{837CE5BB-C948-74C1-DE1E-018AF2476AA4}"/>
              </a:ext>
            </a:extLst>
          </p:cNvPr>
          <p:cNvGrpSpPr/>
          <p:nvPr/>
        </p:nvGrpSpPr>
        <p:grpSpPr>
          <a:xfrm>
            <a:off x="20320" y="-30047"/>
            <a:ext cx="9123680" cy="481253"/>
            <a:chOff x="0" y="0"/>
            <a:chExt cx="8716300" cy="481253"/>
          </a:xfrm>
        </p:grpSpPr>
        <p:sp>
          <p:nvSpPr>
            <p:cNvPr id="9" name="Rectangle: Rounded Corners 8">
              <a:extLst>
                <a:ext uri="{FF2B5EF4-FFF2-40B4-BE49-F238E27FC236}">
                  <a16:creationId xmlns:a16="http://schemas.microsoft.com/office/drawing/2014/main" id="{CE8A5C56-56F3-280C-69EB-3C0F313EF56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4A03F6B8-DE90-AF2A-9CF7-3283A8F0858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393690624"/>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76200" y="767477"/>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“2nd A” of “AAA” Triad using OAuth – Resource Owner Credentials Grant Type</a:t>
            </a:r>
            <a:endParaRPr lang="en-US" sz="2400" kern="0" spc="-80" dirty="0">
              <a:solidFill>
                <a:schemeClr val="accent6"/>
              </a:solidFill>
            </a:endParaRPr>
          </a:p>
        </p:txBody>
      </p:sp>
      <p:pic>
        <p:nvPicPr>
          <p:cNvPr id="9" name="Picture 8">
            <a:extLst>
              <a:ext uri="{FF2B5EF4-FFF2-40B4-BE49-F238E27FC236}">
                <a16:creationId xmlns:a16="http://schemas.microsoft.com/office/drawing/2014/main" id="{FCEEB288-B313-4E88-98B2-92ABC2AE7F01}"/>
              </a:ext>
            </a:extLst>
          </p:cNvPr>
          <p:cNvPicPr>
            <a:picLocks noChangeAspect="1"/>
          </p:cNvPicPr>
          <p:nvPr/>
        </p:nvPicPr>
        <p:blipFill>
          <a:blip r:embed="rId2"/>
          <a:stretch>
            <a:fillRect/>
          </a:stretch>
        </p:blipFill>
        <p:spPr>
          <a:xfrm>
            <a:off x="0" y="1511619"/>
            <a:ext cx="9144000" cy="4397556"/>
          </a:xfrm>
          <a:prstGeom prst="rect">
            <a:avLst/>
          </a:prstGeom>
        </p:spPr>
      </p:pic>
      <p:grpSp>
        <p:nvGrpSpPr>
          <p:cNvPr id="7" name="Group 6">
            <a:extLst>
              <a:ext uri="{FF2B5EF4-FFF2-40B4-BE49-F238E27FC236}">
                <a16:creationId xmlns:a16="http://schemas.microsoft.com/office/drawing/2014/main" id="{724D5864-5C73-9BB2-863A-6DE873855CE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4262BC3-D3D5-7EA7-A56D-8671B7381EE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BFE05CA9-2A91-FDDF-AD6C-8C142001BB6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51174823"/>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0" y="767477"/>
            <a:ext cx="8991600"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“2nd A” of “AAA” Triad using OAuth - Refresh Token Grant Type</a:t>
            </a:r>
            <a:r>
              <a:rPr lang="en-US" sz="2400" kern="0" spc="-80" dirty="0">
                <a:solidFill>
                  <a:schemeClr val="accent6"/>
                </a:solidFill>
              </a:rPr>
              <a:t>       </a:t>
            </a:r>
          </a:p>
        </p:txBody>
      </p:sp>
      <p:pic>
        <p:nvPicPr>
          <p:cNvPr id="9" name="Picture 8">
            <a:extLst>
              <a:ext uri="{FF2B5EF4-FFF2-40B4-BE49-F238E27FC236}">
                <a16:creationId xmlns:a16="http://schemas.microsoft.com/office/drawing/2014/main" id="{FCEEB288-B313-4E88-98B2-92ABC2AE7F01}"/>
              </a:ext>
            </a:extLst>
          </p:cNvPr>
          <p:cNvPicPr>
            <a:picLocks noChangeAspect="1"/>
          </p:cNvPicPr>
          <p:nvPr/>
        </p:nvPicPr>
        <p:blipFill>
          <a:blip r:embed="rId2"/>
          <a:stretch>
            <a:fillRect/>
          </a:stretch>
        </p:blipFill>
        <p:spPr>
          <a:xfrm>
            <a:off x="0" y="1500665"/>
            <a:ext cx="9144000" cy="4408510"/>
          </a:xfrm>
          <a:prstGeom prst="rect">
            <a:avLst/>
          </a:prstGeom>
        </p:spPr>
      </p:pic>
      <p:grpSp>
        <p:nvGrpSpPr>
          <p:cNvPr id="7" name="Group 6">
            <a:extLst>
              <a:ext uri="{FF2B5EF4-FFF2-40B4-BE49-F238E27FC236}">
                <a16:creationId xmlns:a16="http://schemas.microsoft.com/office/drawing/2014/main" id="{DC6355BC-8F91-AC38-07C9-24EB547A9D0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ED12BC0-C343-8372-A9C6-96AA472CFB4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16DF4577-4160-655C-188F-95ADC3C0D7E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982035799"/>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0" y="767477"/>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“2nd A” of “AAA” Triad using OAuth – Implicit Grant Type</a:t>
            </a:r>
            <a:r>
              <a:rPr lang="en-US" sz="2400" kern="0" spc="-80" dirty="0">
                <a:solidFill>
                  <a:schemeClr val="accent6"/>
                </a:solidFill>
              </a:rPr>
              <a:t>       </a:t>
            </a:r>
          </a:p>
        </p:txBody>
      </p:sp>
      <p:pic>
        <p:nvPicPr>
          <p:cNvPr id="1026" name="Picture 2">
            <a:extLst>
              <a:ext uri="{FF2B5EF4-FFF2-40B4-BE49-F238E27FC236}">
                <a16:creationId xmlns:a16="http://schemas.microsoft.com/office/drawing/2014/main" id="{64913A4A-C9FF-91F9-3C6E-A2E302A298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95401"/>
            <a:ext cx="9144000" cy="4613774"/>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11059302-3C49-D615-0320-62DB4B81506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E45B8CC-6C4F-BEFE-E187-BF316BF40DA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632A674-A2F6-5422-BC04-B36BADA837A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762815472"/>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0" y="767477"/>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“2nd A” of “AAA” Triad using OAuth - Device Flow Grant Type</a:t>
            </a:r>
            <a:endParaRPr lang="en-US" sz="2400" kern="0" spc="-80" dirty="0">
              <a:solidFill>
                <a:schemeClr val="accent6"/>
              </a:solidFill>
            </a:endParaRPr>
          </a:p>
        </p:txBody>
      </p:sp>
      <p:pic>
        <p:nvPicPr>
          <p:cNvPr id="2050" name="Picture 2">
            <a:extLst>
              <a:ext uri="{FF2B5EF4-FFF2-40B4-BE49-F238E27FC236}">
                <a16:creationId xmlns:a16="http://schemas.microsoft.com/office/drawing/2014/main" id="{98490278-F4D4-0322-2961-30B59F246B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00201"/>
            <a:ext cx="9144000" cy="4308974"/>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B67AAAAC-D537-C606-6A6E-0B3A4BBCCDEA}"/>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7312756-0F3B-BE7E-2235-E56A204466A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776E97E-B82A-C628-F95F-8DC2959A6F7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268900914"/>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9410F-CF2B-8BFC-C11C-9E72DF18C43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8948B91-1E8C-E6F7-B36B-6CF7A2680DD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78EB68B-8A9D-1786-A028-C05167DBD01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1783DC8-19E1-653F-EAEF-87ACB553B63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32CA350-4DEF-C6D9-DCDA-E4DF648A94A9}"/>
              </a:ext>
            </a:extLst>
          </p:cNvPr>
          <p:cNvSpPr txBox="1">
            <a:spLocks/>
          </p:cNvSpPr>
          <p:nvPr/>
        </p:nvSpPr>
        <p:spPr>
          <a:xfrm>
            <a:off x="76200" y="767477"/>
            <a:ext cx="8624937" cy="45550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OAuth Based Communication</a:t>
            </a:r>
          </a:p>
          <a:p>
            <a:pPr marL="12700" marR="5080"/>
            <a:r>
              <a:rPr lang="en-US" sz="1600" kern="0" spc="-80" dirty="0">
                <a:solidFill>
                  <a:schemeClr val="accent2"/>
                </a:solidFill>
              </a:rPr>
              <a:t>✅ 1. UI → Internal API (User → Frontend → Backend)</a:t>
            </a:r>
          </a:p>
          <a:p>
            <a:pPr marL="12700" marR="5080"/>
            <a:r>
              <a:rPr lang="en-US" sz="1600" kern="0" spc="-80" dirty="0">
                <a:solidFill>
                  <a:schemeClr val="accent6"/>
                </a:solidFill>
              </a:rPr>
              <a:t>Here the user is involved. You need flows that authenticate humans, not machines.</a:t>
            </a:r>
          </a:p>
          <a:p>
            <a:pPr marL="12700" marR="5080"/>
            <a:r>
              <a:rPr lang="en-US" sz="1600" kern="0" spc="-80" dirty="0">
                <a:solidFill>
                  <a:schemeClr val="accent2"/>
                </a:solidFill>
              </a:rPr>
              <a:t>Best OAuth Flows for UI → Internal API</a:t>
            </a:r>
          </a:p>
          <a:p>
            <a:pPr marL="12700" marR="5080"/>
            <a:r>
              <a:rPr lang="en-US" sz="1600" kern="0" spc="-80" dirty="0">
                <a:solidFill>
                  <a:schemeClr val="accent2"/>
                </a:solidFill>
              </a:rPr>
              <a:t>A. Authorization Code Flow (with PKCE) — Recommended</a:t>
            </a:r>
          </a:p>
          <a:p>
            <a:pPr marL="12700" marR="5080"/>
            <a:r>
              <a:rPr lang="en-US" sz="1600" kern="0" spc="-80" dirty="0">
                <a:solidFill>
                  <a:schemeClr val="accent6"/>
                </a:solidFill>
              </a:rPr>
              <a:t>The most secure and modern flow for SPAs, mobile apps, and web apps.</a:t>
            </a:r>
          </a:p>
          <a:p>
            <a:pPr marL="12700" marR="5080"/>
            <a:r>
              <a:rPr lang="en-US" sz="1600" kern="0" spc="-80" dirty="0">
                <a:solidFill>
                  <a:schemeClr val="accent2"/>
                </a:solidFill>
              </a:rPr>
              <a:t>Where used?</a:t>
            </a:r>
          </a:p>
          <a:p>
            <a:pPr marL="12700" marR="5080"/>
            <a:r>
              <a:rPr lang="en-US" sz="1600" kern="0" spc="-80" dirty="0">
                <a:solidFill>
                  <a:schemeClr val="accent6"/>
                </a:solidFill>
              </a:rPr>
              <a:t>React / Angular / Vue SPA</a:t>
            </a:r>
          </a:p>
          <a:p>
            <a:pPr marL="12700" marR="5080"/>
            <a:r>
              <a:rPr lang="en-US" sz="1600" kern="0" spc="-80" dirty="0">
                <a:solidFill>
                  <a:schemeClr val="accent6"/>
                </a:solidFill>
              </a:rPr>
              <a:t>Mobile apps</a:t>
            </a:r>
          </a:p>
          <a:p>
            <a:pPr marL="12700" marR="5080"/>
            <a:r>
              <a:rPr lang="en-US" sz="1600" kern="0" spc="-80" dirty="0">
                <a:solidFill>
                  <a:schemeClr val="accent6"/>
                </a:solidFill>
              </a:rPr>
              <a:t>Server-rendered apps</a:t>
            </a:r>
          </a:p>
          <a:p>
            <a:pPr marL="12700" marR="5080"/>
            <a:r>
              <a:rPr lang="en-US" sz="1600" kern="0" spc="-80" dirty="0">
                <a:solidFill>
                  <a:schemeClr val="accent2"/>
                </a:solidFill>
              </a:rPr>
              <a:t>How it works</a:t>
            </a:r>
          </a:p>
          <a:p>
            <a:pPr marL="12700" marR="5080"/>
            <a:r>
              <a:rPr lang="en-US" sz="1600" kern="0" spc="-80" dirty="0">
                <a:solidFill>
                  <a:schemeClr val="accent6"/>
                </a:solidFill>
              </a:rPr>
              <a:t>UI redirects user to OAuth provider (Azure AD, Auth0, </a:t>
            </a:r>
            <a:r>
              <a:rPr lang="en-US" sz="1600" kern="0" spc="-80" dirty="0" err="1">
                <a:solidFill>
                  <a:schemeClr val="accent6"/>
                </a:solidFill>
              </a:rPr>
              <a:t>Keycloak</a:t>
            </a:r>
            <a:r>
              <a:rPr lang="en-US" sz="1600" kern="0" spc="-80" dirty="0">
                <a:solidFill>
                  <a:schemeClr val="accent6"/>
                </a:solidFill>
              </a:rPr>
              <a:t>, Okta).</a:t>
            </a:r>
          </a:p>
          <a:p>
            <a:pPr marL="12700" marR="5080"/>
            <a:r>
              <a:rPr lang="en-US" sz="1600" kern="0" spc="-80" dirty="0">
                <a:solidFill>
                  <a:schemeClr val="accent6"/>
                </a:solidFill>
              </a:rPr>
              <a:t>User logs in.</a:t>
            </a:r>
          </a:p>
          <a:p>
            <a:pPr marL="12700" marR="5080"/>
            <a:r>
              <a:rPr lang="en-US" sz="1600" kern="0" spc="-80" dirty="0">
                <a:solidFill>
                  <a:schemeClr val="accent6"/>
                </a:solidFill>
              </a:rPr>
              <a:t>OAuth provider returns a Code.</a:t>
            </a:r>
          </a:p>
          <a:p>
            <a:pPr marL="12700" marR="5080"/>
            <a:r>
              <a:rPr lang="en-US" sz="1600" kern="0" spc="-80" dirty="0">
                <a:solidFill>
                  <a:schemeClr val="accent6"/>
                </a:solidFill>
              </a:rPr>
              <a:t>UI exchanges code + PKCE verifier → gets:</a:t>
            </a:r>
          </a:p>
          <a:p>
            <a:pPr marL="12700" marR="5080"/>
            <a:r>
              <a:rPr lang="en-US" sz="1600" kern="0" spc="-80" dirty="0">
                <a:solidFill>
                  <a:schemeClr val="accent6"/>
                </a:solidFill>
              </a:rPr>
              <a:t>ID Token (JWT) → identifies user</a:t>
            </a:r>
          </a:p>
          <a:p>
            <a:pPr marL="12700" marR="5080"/>
            <a:r>
              <a:rPr lang="en-US" sz="1600" kern="0" spc="-80" dirty="0">
                <a:solidFill>
                  <a:schemeClr val="accent6"/>
                </a:solidFill>
              </a:rPr>
              <a:t>Access Token (JWT) → calls internal APIs</a:t>
            </a:r>
          </a:p>
          <a:p>
            <a:pPr marL="12700" marR="5080"/>
            <a:r>
              <a:rPr lang="en-US" sz="1600" kern="0" spc="-80" dirty="0">
                <a:solidFill>
                  <a:schemeClr val="accent6"/>
                </a:solidFill>
              </a:rPr>
              <a:t>Refresh Token (optional)</a:t>
            </a:r>
          </a:p>
        </p:txBody>
      </p:sp>
      <p:grpSp>
        <p:nvGrpSpPr>
          <p:cNvPr id="7" name="Group 6">
            <a:extLst>
              <a:ext uri="{FF2B5EF4-FFF2-40B4-BE49-F238E27FC236}">
                <a16:creationId xmlns:a16="http://schemas.microsoft.com/office/drawing/2014/main" id="{014DE535-791B-3A04-494D-3FFA062E3781}"/>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6DF7A1B-E6D2-4BA0-0242-7026E69F583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2F7D38A4-2F1C-1C65-4762-8A3FB64BEF1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044999454"/>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85E9E-FDD6-53A9-A43A-D9C5B0C4CB8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FF347E1-0151-BE44-827A-163F4782508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5D0491B-6BB7-09A5-61EC-1EC5F0F7913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88B5F87-B9BA-5E22-A3CC-4BE51D71AAB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39BD3273-57A5-CB05-991F-B35776C7E89C}"/>
              </a:ext>
            </a:extLst>
          </p:cNvPr>
          <p:cNvSpPr txBox="1">
            <a:spLocks/>
          </p:cNvSpPr>
          <p:nvPr/>
        </p:nvSpPr>
        <p:spPr>
          <a:xfrm>
            <a:off x="61863" y="767477"/>
            <a:ext cx="8624937" cy="43088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OAuth Based Communication</a:t>
            </a:r>
          </a:p>
          <a:p>
            <a:pPr marL="12700" marR="5080"/>
            <a:r>
              <a:rPr lang="en-US" sz="1600" kern="0" spc="-80" dirty="0">
                <a:solidFill>
                  <a:schemeClr val="accent2"/>
                </a:solidFill>
              </a:rPr>
              <a:t>✅ 1. UI → Internal API (User → Frontend → Backend)</a:t>
            </a:r>
          </a:p>
          <a:p>
            <a:pPr marL="12700" marR="5080"/>
            <a:r>
              <a:rPr lang="en-US" sz="1600" kern="0" spc="-80" dirty="0">
                <a:solidFill>
                  <a:schemeClr val="accent2"/>
                </a:solidFill>
              </a:rPr>
              <a:t>A. Authorization Code Flow (with PKCE) — Recommended</a:t>
            </a:r>
          </a:p>
          <a:p>
            <a:pPr marL="12700" marR="5080"/>
            <a:r>
              <a:rPr lang="en-US" sz="1600" kern="0" spc="-80" dirty="0">
                <a:solidFill>
                  <a:schemeClr val="accent2"/>
                </a:solidFill>
              </a:rPr>
              <a:t>How it works</a:t>
            </a:r>
          </a:p>
          <a:p>
            <a:pPr marL="12700" marR="5080"/>
            <a:r>
              <a:rPr lang="en-US" sz="1600" kern="0" spc="-80" dirty="0">
                <a:solidFill>
                  <a:schemeClr val="accent2"/>
                </a:solidFill>
              </a:rPr>
              <a:t>Internal API Responsibilities</a:t>
            </a:r>
          </a:p>
          <a:p>
            <a:pPr marL="12700" marR="5080"/>
            <a:r>
              <a:rPr lang="en-US" sz="1600" kern="0" spc="-80" dirty="0">
                <a:solidFill>
                  <a:schemeClr val="accent6"/>
                </a:solidFill>
              </a:rPr>
              <a:t>Validate signature (RS256)</a:t>
            </a:r>
          </a:p>
          <a:p>
            <a:pPr marL="12700" marR="5080"/>
            <a:r>
              <a:rPr lang="en-US" sz="1600" kern="0" spc="-80" dirty="0">
                <a:solidFill>
                  <a:schemeClr val="accent6"/>
                </a:solidFill>
              </a:rPr>
              <a:t>Check expiration</a:t>
            </a:r>
          </a:p>
          <a:p>
            <a:pPr marL="12700" marR="5080"/>
            <a:r>
              <a:rPr lang="en-US" sz="1600" kern="0" spc="-80" dirty="0">
                <a:solidFill>
                  <a:schemeClr val="accent6"/>
                </a:solidFill>
              </a:rPr>
              <a:t>Enforce scopes (e.g., </a:t>
            </a:r>
            <a:r>
              <a:rPr lang="en-US" sz="1600" kern="0" spc="-80" dirty="0" err="1">
                <a:solidFill>
                  <a:schemeClr val="accent6"/>
                </a:solidFill>
              </a:rPr>
              <a:t>api.read</a:t>
            </a:r>
            <a:r>
              <a:rPr lang="en-US" sz="1600" kern="0" spc="-80" dirty="0">
                <a:solidFill>
                  <a:schemeClr val="accent6"/>
                </a:solidFill>
              </a:rPr>
              <a:t>, </a:t>
            </a:r>
            <a:r>
              <a:rPr lang="en-US" sz="1600" kern="0" spc="-80" dirty="0" err="1">
                <a:solidFill>
                  <a:schemeClr val="accent6"/>
                </a:solidFill>
              </a:rPr>
              <a:t>profile.email</a:t>
            </a:r>
            <a:r>
              <a:rPr lang="en-US" sz="1600" kern="0" spc="-80" dirty="0">
                <a:solidFill>
                  <a:schemeClr val="accent6"/>
                </a:solidFill>
              </a:rPr>
              <a:t>)</a:t>
            </a:r>
          </a:p>
          <a:p>
            <a:pPr marL="12700" marR="5080"/>
            <a:r>
              <a:rPr lang="en-US" sz="1600" kern="0" spc="-80" dirty="0">
                <a:solidFill>
                  <a:schemeClr val="accent2"/>
                </a:solidFill>
              </a:rPr>
              <a:t>Why PKCE?</a:t>
            </a:r>
          </a:p>
          <a:p>
            <a:pPr marL="12700" marR="5080"/>
            <a:r>
              <a:rPr lang="en-US" sz="1600" kern="0" spc="-80" dirty="0">
                <a:solidFill>
                  <a:schemeClr val="accent6"/>
                </a:solidFill>
              </a:rPr>
              <a:t>Prevents code interception</a:t>
            </a:r>
          </a:p>
          <a:p>
            <a:pPr marL="12700" marR="5080"/>
            <a:r>
              <a:rPr lang="en-US" sz="1600" kern="0" spc="-80" dirty="0">
                <a:solidFill>
                  <a:schemeClr val="accent6"/>
                </a:solidFill>
              </a:rPr>
              <a:t>Especially important for SPAs &amp; mobile apps</a:t>
            </a:r>
          </a:p>
          <a:p>
            <a:pPr marL="12700" marR="5080"/>
            <a:endParaRPr lang="en-US" sz="1600" kern="0" spc="-80" dirty="0">
              <a:solidFill>
                <a:schemeClr val="accent6"/>
              </a:solidFill>
            </a:endParaRPr>
          </a:p>
          <a:p>
            <a:pPr marL="12700" marR="5080"/>
            <a:r>
              <a:rPr lang="en-US" sz="1600" kern="0" spc="-80" dirty="0">
                <a:solidFill>
                  <a:schemeClr val="accent2"/>
                </a:solidFill>
              </a:rPr>
              <a:t>B. Implicit Flow (Deprecated)</a:t>
            </a:r>
          </a:p>
          <a:p>
            <a:pPr marL="12700" marR="5080"/>
            <a:r>
              <a:rPr lang="en-US" sz="1600" kern="0" spc="-80" dirty="0">
                <a:solidFill>
                  <a:schemeClr val="accent6"/>
                </a:solidFill>
              </a:rPr>
              <a:t>Used by older SPAs but should not be used now because:</a:t>
            </a:r>
          </a:p>
          <a:p>
            <a:pPr marL="12700" marR="5080"/>
            <a:r>
              <a:rPr lang="en-US" sz="1600" kern="0" spc="-80" dirty="0">
                <a:solidFill>
                  <a:schemeClr val="accent6"/>
                </a:solidFill>
              </a:rPr>
              <a:t>No refresh tokens</a:t>
            </a:r>
          </a:p>
          <a:p>
            <a:pPr marL="12700" marR="5080"/>
            <a:r>
              <a:rPr lang="en-US" sz="1600" kern="0" spc="-80" dirty="0">
                <a:solidFill>
                  <a:schemeClr val="accent6"/>
                </a:solidFill>
              </a:rPr>
              <a:t>Tokens delivered via browser URL hash</a:t>
            </a:r>
          </a:p>
          <a:p>
            <a:pPr marL="12700" marR="5080"/>
            <a:endParaRPr lang="en-US" sz="1600" kern="0" spc="-80" dirty="0">
              <a:solidFill>
                <a:schemeClr val="accent6"/>
              </a:solidFill>
            </a:endParaRPr>
          </a:p>
        </p:txBody>
      </p:sp>
      <p:grpSp>
        <p:nvGrpSpPr>
          <p:cNvPr id="7" name="Group 6">
            <a:extLst>
              <a:ext uri="{FF2B5EF4-FFF2-40B4-BE49-F238E27FC236}">
                <a16:creationId xmlns:a16="http://schemas.microsoft.com/office/drawing/2014/main" id="{8CACA2DD-DF7B-DCBA-31FE-5A1AF3472FE4}"/>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F14CDB67-A042-BDA1-5258-8B379BE456A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12CC4296-E7E6-F05B-BB96-A44C04EBBB3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430778777"/>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EE01F-FAEB-B658-2F1B-33E2138BD96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D9247BB-18A2-8509-99B6-766D19AD9DD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37CFFB3-623B-751B-5CBA-A7A46E2EB37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2C8648C-AB24-FBE9-46A7-EBAAE995CB0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6AFFA9B-A18B-9E58-FD02-FFB89BE037A0}"/>
              </a:ext>
            </a:extLst>
          </p:cNvPr>
          <p:cNvSpPr txBox="1">
            <a:spLocks/>
          </p:cNvSpPr>
          <p:nvPr/>
        </p:nvSpPr>
        <p:spPr>
          <a:xfrm>
            <a:off x="76200" y="767477"/>
            <a:ext cx="8624937" cy="56707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OAuth Based Communication</a:t>
            </a:r>
          </a:p>
          <a:p>
            <a:pPr marL="12700" marR="5080"/>
            <a:r>
              <a:rPr lang="en-US" sz="1550" kern="0" spc="-80" dirty="0">
                <a:solidFill>
                  <a:schemeClr val="accent2"/>
                </a:solidFill>
              </a:rPr>
              <a:t>✅ 1. UI → Internal API (User → Frontend → Backend)</a:t>
            </a:r>
          </a:p>
          <a:p>
            <a:pPr marL="12700" marR="5080"/>
            <a:r>
              <a:rPr lang="en-US" sz="1550" kern="0" spc="-80" dirty="0">
                <a:solidFill>
                  <a:schemeClr val="accent2"/>
                </a:solidFill>
              </a:rPr>
              <a:t>A. Authorization Code Flow (with PKCE) — Recommended</a:t>
            </a:r>
          </a:p>
          <a:p>
            <a:pPr marL="12700" marR="5080"/>
            <a:r>
              <a:rPr lang="en-US" sz="1550" kern="0" spc="-80" dirty="0">
                <a:solidFill>
                  <a:schemeClr val="accent2"/>
                </a:solidFill>
              </a:rPr>
              <a:t>C. Session + Cookie Approach (No OAuth Token in Browser)</a:t>
            </a:r>
          </a:p>
          <a:p>
            <a:pPr marL="12700" marR="5080"/>
            <a:r>
              <a:rPr lang="en-US" sz="1550" kern="0" spc="-80" dirty="0">
                <a:solidFill>
                  <a:schemeClr val="accent6"/>
                </a:solidFill>
              </a:rPr>
              <a:t>Modern alternative to avoid token exposure in browser.</a:t>
            </a:r>
          </a:p>
          <a:p>
            <a:pPr marL="12700" marR="5080"/>
            <a:r>
              <a:rPr lang="en-US" sz="1550" kern="0" spc="-80" dirty="0">
                <a:solidFill>
                  <a:schemeClr val="accent2"/>
                </a:solidFill>
              </a:rPr>
              <a:t>Flow:</a:t>
            </a:r>
          </a:p>
          <a:p>
            <a:pPr marL="12700" marR="5080"/>
            <a:r>
              <a:rPr lang="en-US" sz="1550" kern="0" spc="-80" dirty="0">
                <a:solidFill>
                  <a:schemeClr val="accent6"/>
                </a:solidFill>
              </a:rPr>
              <a:t>UI sends login request → backend performs OAuth Authorization Flow.</a:t>
            </a:r>
          </a:p>
          <a:p>
            <a:pPr marL="12700" marR="5080"/>
            <a:r>
              <a:rPr lang="en-US" sz="1550" kern="0" spc="-80" dirty="0">
                <a:solidFill>
                  <a:schemeClr val="accent6"/>
                </a:solidFill>
              </a:rPr>
              <a:t>Backend sets </a:t>
            </a:r>
            <a:r>
              <a:rPr lang="en-US" sz="1550" kern="0" spc="-80" dirty="0" err="1">
                <a:solidFill>
                  <a:schemeClr val="accent6"/>
                </a:solidFill>
              </a:rPr>
              <a:t>HttpOnly</a:t>
            </a:r>
            <a:r>
              <a:rPr lang="en-US" sz="1550" kern="0" spc="-80" dirty="0">
                <a:solidFill>
                  <a:schemeClr val="accent6"/>
                </a:solidFill>
              </a:rPr>
              <a:t> session cookie.</a:t>
            </a:r>
          </a:p>
          <a:p>
            <a:pPr marL="12700" marR="5080"/>
            <a:r>
              <a:rPr lang="en-US" sz="1550" kern="0" spc="-80" dirty="0">
                <a:solidFill>
                  <a:schemeClr val="accent6"/>
                </a:solidFill>
              </a:rPr>
              <a:t>UI calls internal APIs → cookie automatically sent.</a:t>
            </a:r>
          </a:p>
          <a:p>
            <a:pPr marL="12700" marR="5080"/>
            <a:r>
              <a:rPr lang="en-US" sz="1550" kern="0" spc="-80" dirty="0">
                <a:solidFill>
                  <a:schemeClr val="accent2"/>
                </a:solidFill>
              </a:rPr>
              <a:t>Advantage:</a:t>
            </a:r>
          </a:p>
          <a:p>
            <a:pPr marL="12700" marR="5080"/>
            <a:r>
              <a:rPr lang="en-US" sz="1550" kern="0" spc="-80" dirty="0">
                <a:solidFill>
                  <a:schemeClr val="accent6"/>
                </a:solidFill>
              </a:rPr>
              <a:t>Tokens stay server-side; browser never sees them.</a:t>
            </a:r>
          </a:p>
          <a:p>
            <a:pPr marL="12700" marR="5080"/>
            <a:r>
              <a:rPr lang="en-US" sz="1550" kern="0" spc="-80" dirty="0">
                <a:solidFill>
                  <a:schemeClr val="accent2"/>
                </a:solidFill>
              </a:rPr>
              <a:t>🔶 Typical Architecture for UI → Internal API</a:t>
            </a:r>
          </a:p>
          <a:p>
            <a:pPr marL="12700" marR="5080"/>
            <a:r>
              <a:rPr lang="en-US" sz="1550" kern="0" spc="-80" dirty="0">
                <a:solidFill>
                  <a:schemeClr val="accent6"/>
                </a:solidFill>
              </a:rPr>
              <a:t>UI (SPA/Mobile/Web)</a:t>
            </a:r>
          </a:p>
          <a:p>
            <a:pPr marL="12700" marR="5080"/>
            <a:r>
              <a:rPr lang="en-US" sz="1550" kern="0" spc="-80" dirty="0">
                <a:solidFill>
                  <a:schemeClr val="accent6"/>
                </a:solidFill>
              </a:rPr>
              <a:t>        |</a:t>
            </a:r>
          </a:p>
          <a:p>
            <a:pPr marL="12700" marR="5080"/>
            <a:r>
              <a:rPr lang="en-US" sz="1550" kern="0" spc="-80" dirty="0">
                <a:solidFill>
                  <a:schemeClr val="accent6"/>
                </a:solidFill>
              </a:rPr>
              <a:t>        |  Access Token (JWT)</a:t>
            </a:r>
          </a:p>
          <a:p>
            <a:pPr marL="12700" marR="5080"/>
            <a:r>
              <a:rPr lang="en-US" sz="1550" kern="0" spc="-80" dirty="0">
                <a:solidFill>
                  <a:schemeClr val="accent6"/>
                </a:solidFill>
              </a:rPr>
              <a:t>        v</a:t>
            </a:r>
          </a:p>
          <a:p>
            <a:pPr marL="12700" marR="5080"/>
            <a:r>
              <a:rPr lang="en-US" sz="1550" kern="0" spc="-80" dirty="0">
                <a:solidFill>
                  <a:schemeClr val="accent6"/>
                </a:solidFill>
              </a:rPr>
              <a:t>Internal API Gateway or BFF</a:t>
            </a:r>
          </a:p>
          <a:p>
            <a:pPr marL="12700" marR="5080"/>
            <a:r>
              <a:rPr lang="en-US" sz="1550" kern="0" spc="-80" dirty="0">
                <a:solidFill>
                  <a:schemeClr val="accent6"/>
                </a:solidFill>
              </a:rPr>
              <a:t>        |</a:t>
            </a:r>
          </a:p>
          <a:p>
            <a:pPr marL="12700" marR="5080"/>
            <a:r>
              <a:rPr lang="en-US" sz="1550" kern="0" spc="-80" dirty="0">
                <a:solidFill>
                  <a:schemeClr val="accent6"/>
                </a:solidFill>
              </a:rPr>
              <a:t>        -&gt; Internal Microservices</a:t>
            </a:r>
          </a:p>
          <a:p>
            <a:pPr marL="12700" marR="5080"/>
            <a:r>
              <a:rPr lang="en-US" sz="1550" kern="0" spc="-80" dirty="0">
                <a:solidFill>
                  <a:schemeClr val="accent6"/>
                </a:solidFill>
              </a:rPr>
              <a:t>Best Practice: Use a Backend For Frontend (BFF) to prevent exposing access tokens to browser.</a:t>
            </a:r>
          </a:p>
          <a:p>
            <a:pPr marL="12700" marR="5080"/>
            <a:endParaRPr lang="en-US" sz="1600" kern="0" spc="-80" dirty="0">
              <a:solidFill>
                <a:schemeClr val="accent6"/>
              </a:solidFill>
            </a:endParaRPr>
          </a:p>
          <a:p>
            <a:pPr marL="12700" marR="5080"/>
            <a:endParaRPr lang="en-US" sz="1600" kern="0" spc="-80" dirty="0">
              <a:solidFill>
                <a:schemeClr val="accent6"/>
              </a:solidFill>
            </a:endParaRPr>
          </a:p>
          <a:p>
            <a:pPr marL="12700" marR="5080"/>
            <a:endParaRPr lang="en-US" sz="1800" kern="0" spc="-80" dirty="0">
              <a:solidFill>
                <a:schemeClr val="accent2"/>
              </a:solidFill>
            </a:endParaRPr>
          </a:p>
        </p:txBody>
      </p:sp>
      <p:grpSp>
        <p:nvGrpSpPr>
          <p:cNvPr id="7" name="Group 6">
            <a:extLst>
              <a:ext uri="{FF2B5EF4-FFF2-40B4-BE49-F238E27FC236}">
                <a16:creationId xmlns:a16="http://schemas.microsoft.com/office/drawing/2014/main" id="{B39EE444-7F43-DDD5-B747-9FCABE26D26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4F27933-4504-1348-B6F6-6BEFCCB00FC4}"/>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76A90C7-9E87-A6A5-D571-33B8AF694B2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013439699"/>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63C5C-3993-D257-CA43-521D9DB2B8F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28FFB6B-3034-BED1-0D06-CA6F96B38D8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BD7C6EC-9EAF-2C38-BD3B-7D808941171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D0B3E8A-374F-39E5-5CF9-2233E91DC12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85FD709-AFCB-CFBE-5B05-E78970E37527}"/>
              </a:ext>
            </a:extLst>
          </p:cNvPr>
          <p:cNvSpPr txBox="1">
            <a:spLocks/>
          </p:cNvSpPr>
          <p:nvPr/>
        </p:nvSpPr>
        <p:spPr>
          <a:xfrm>
            <a:off x="76200" y="767477"/>
            <a:ext cx="8624937" cy="45550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OAuth Based Communication</a:t>
            </a:r>
          </a:p>
          <a:p>
            <a:pPr marL="12700" marR="5080"/>
            <a:r>
              <a:rPr lang="en-US" sz="1600" kern="0" spc="-80" dirty="0">
                <a:solidFill>
                  <a:schemeClr val="accent2"/>
                </a:solidFill>
              </a:rPr>
              <a:t>✅ 2. Internal API → Internal API (Service-to-Service Communication)</a:t>
            </a:r>
          </a:p>
          <a:p>
            <a:pPr marL="12700" marR="5080"/>
            <a:r>
              <a:rPr lang="en-US" sz="1600" kern="0" spc="-80" dirty="0">
                <a:solidFill>
                  <a:schemeClr val="accent6"/>
                </a:solidFill>
              </a:rPr>
              <a:t>This is machine-to-machine communication. No user. You need server-side OAuth flows using client credentials.</a:t>
            </a:r>
          </a:p>
          <a:p>
            <a:pPr marL="12700" marR="5080"/>
            <a:r>
              <a:rPr lang="en-US" sz="1600" kern="0" spc="-80" dirty="0">
                <a:solidFill>
                  <a:schemeClr val="accent2"/>
                </a:solidFill>
              </a:rPr>
              <a:t>Best OAuth Flows for Internal API → Internal API</a:t>
            </a:r>
          </a:p>
          <a:p>
            <a:pPr marL="12700" marR="5080"/>
            <a:endParaRPr lang="en-US" sz="1600" kern="0" spc="-80" dirty="0">
              <a:solidFill>
                <a:schemeClr val="accent6"/>
              </a:solidFill>
            </a:endParaRPr>
          </a:p>
          <a:p>
            <a:pPr marL="12700" marR="5080"/>
            <a:r>
              <a:rPr lang="en-US" sz="1600" kern="0" spc="-80" dirty="0">
                <a:solidFill>
                  <a:schemeClr val="accent2"/>
                </a:solidFill>
              </a:rPr>
              <a:t>A. Client Credentials Flow (Most Common)</a:t>
            </a:r>
          </a:p>
          <a:p>
            <a:pPr marL="12700" marR="5080"/>
            <a:r>
              <a:rPr lang="en-US" sz="1600" kern="0" spc="-80" dirty="0">
                <a:solidFill>
                  <a:schemeClr val="accent2"/>
                </a:solidFill>
              </a:rPr>
              <a:t>Each internal microservice has:</a:t>
            </a:r>
          </a:p>
          <a:p>
            <a:pPr marL="12700" marR="5080"/>
            <a:r>
              <a:rPr lang="en-US" sz="1600" kern="0" spc="-80" dirty="0">
                <a:solidFill>
                  <a:schemeClr val="accent6"/>
                </a:solidFill>
              </a:rPr>
              <a:t>Client ID</a:t>
            </a:r>
          </a:p>
          <a:p>
            <a:pPr marL="12700" marR="5080"/>
            <a:r>
              <a:rPr lang="en-US" sz="1600" kern="0" spc="-80" dirty="0">
                <a:solidFill>
                  <a:schemeClr val="accent6"/>
                </a:solidFill>
              </a:rPr>
              <a:t>Client Secret</a:t>
            </a:r>
          </a:p>
          <a:p>
            <a:pPr marL="12700" marR="5080"/>
            <a:r>
              <a:rPr lang="en-US" sz="1600" kern="0" spc="-80" dirty="0">
                <a:solidFill>
                  <a:schemeClr val="accent6"/>
                </a:solidFill>
              </a:rPr>
              <a:t>(or certificate-based authentication)</a:t>
            </a:r>
          </a:p>
          <a:p>
            <a:pPr marL="12700" marR="5080"/>
            <a:endParaRPr lang="en-US" sz="1600" kern="0" spc="-80" dirty="0">
              <a:solidFill>
                <a:schemeClr val="accent6"/>
              </a:solidFill>
            </a:endParaRPr>
          </a:p>
          <a:p>
            <a:pPr marL="12700" marR="5080"/>
            <a:r>
              <a:rPr lang="en-US" sz="1600" kern="0" spc="-80" dirty="0">
                <a:solidFill>
                  <a:schemeClr val="accent2"/>
                </a:solidFill>
              </a:rPr>
              <a:t>How it works</a:t>
            </a:r>
          </a:p>
          <a:p>
            <a:pPr marL="12700" marR="5080"/>
            <a:r>
              <a:rPr lang="en-US" sz="1600" kern="0" spc="-80" dirty="0">
                <a:solidFill>
                  <a:schemeClr val="accent6"/>
                </a:solidFill>
              </a:rPr>
              <a:t>Service A sends client credentials to OAuth server.</a:t>
            </a:r>
          </a:p>
          <a:p>
            <a:pPr marL="12700" marR="5080"/>
            <a:r>
              <a:rPr lang="en-US" sz="1600" kern="0" spc="-80" dirty="0">
                <a:solidFill>
                  <a:schemeClr val="accent6"/>
                </a:solidFill>
              </a:rPr>
              <a:t>Gets an Access Token with scopes/roles like:</a:t>
            </a:r>
          </a:p>
          <a:p>
            <a:pPr marL="12700" marR="5080"/>
            <a:r>
              <a:rPr lang="en-US" sz="1600" kern="0" spc="-80" dirty="0" err="1">
                <a:solidFill>
                  <a:schemeClr val="accent6"/>
                </a:solidFill>
              </a:rPr>
              <a:t>service.read</a:t>
            </a:r>
            <a:endParaRPr lang="en-US" sz="1600" kern="0" spc="-80" dirty="0">
              <a:solidFill>
                <a:schemeClr val="accent6"/>
              </a:solidFill>
            </a:endParaRPr>
          </a:p>
          <a:p>
            <a:pPr marL="12700" marR="5080"/>
            <a:r>
              <a:rPr lang="en-US" sz="1600" kern="0" spc="-80" dirty="0" err="1">
                <a:solidFill>
                  <a:schemeClr val="accent6"/>
                </a:solidFill>
              </a:rPr>
              <a:t>service.write</a:t>
            </a:r>
            <a:endParaRPr lang="en-US" sz="1600" kern="0" spc="-80" dirty="0">
              <a:solidFill>
                <a:schemeClr val="accent6"/>
              </a:solidFill>
            </a:endParaRPr>
          </a:p>
          <a:p>
            <a:pPr marL="12700" marR="5080"/>
            <a:r>
              <a:rPr lang="en-US" sz="1600" kern="0" spc="-80" dirty="0">
                <a:solidFill>
                  <a:schemeClr val="accent6"/>
                </a:solidFill>
              </a:rPr>
              <a:t>Service A calls Service B using bearer token.</a:t>
            </a:r>
          </a:p>
        </p:txBody>
      </p:sp>
      <p:grpSp>
        <p:nvGrpSpPr>
          <p:cNvPr id="7" name="Group 6">
            <a:extLst>
              <a:ext uri="{FF2B5EF4-FFF2-40B4-BE49-F238E27FC236}">
                <a16:creationId xmlns:a16="http://schemas.microsoft.com/office/drawing/2014/main" id="{EF114342-DD09-19F3-4201-7A30602D0D71}"/>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EFF9CA1-4781-BCF1-412E-E82F1B58786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85E48C57-4DD5-CAEE-8B23-4D35A0B661B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272463369"/>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7AE41F-BC89-F689-B96F-B3D0C20F1DA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B3AAAE9-F123-EE3C-9CDC-E0E8EB56234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852E0DF-2B26-998D-7441-22BB5B00FFF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D1951EA-BC5C-0031-437F-691B576F32F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A785354-4D3D-D107-26A2-38C35BBE1585}"/>
              </a:ext>
            </a:extLst>
          </p:cNvPr>
          <p:cNvSpPr txBox="1">
            <a:spLocks/>
          </p:cNvSpPr>
          <p:nvPr/>
        </p:nvSpPr>
        <p:spPr>
          <a:xfrm>
            <a:off x="76200" y="767477"/>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OAuth Based Communication</a:t>
            </a:r>
          </a:p>
          <a:p>
            <a:pPr marL="12700" marR="5080"/>
            <a:r>
              <a:rPr lang="en-US" sz="1600" kern="0" spc="-80" dirty="0">
                <a:solidFill>
                  <a:schemeClr val="accent2"/>
                </a:solidFill>
              </a:rPr>
              <a:t>✅ 2. Internal API → Internal API (Service-to-Service Communication)</a:t>
            </a:r>
          </a:p>
          <a:p>
            <a:pPr marL="12700" marR="5080"/>
            <a:r>
              <a:rPr lang="en-US" sz="1600" kern="0" spc="-80" dirty="0">
                <a:solidFill>
                  <a:schemeClr val="accent2"/>
                </a:solidFill>
              </a:rPr>
              <a:t>B. Token Exchange (JWT → JWT Mapping)</a:t>
            </a:r>
          </a:p>
          <a:p>
            <a:pPr marL="12700" marR="5080"/>
            <a:r>
              <a:rPr lang="en-US" sz="1600" kern="0" spc="-80" dirty="0">
                <a:solidFill>
                  <a:schemeClr val="accent2"/>
                </a:solidFill>
              </a:rPr>
              <a:t>Used when:</a:t>
            </a:r>
          </a:p>
          <a:p>
            <a:pPr marL="12700" marR="5080"/>
            <a:r>
              <a:rPr lang="en-US" sz="1600" kern="0" spc="-80" dirty="0">
                <a:solidFill>
                  <a:schemeClr val="accent6"/>
                </a:solidFill>
              </a:rPr>
              <a:t>The frontend token (user token) should not be directly forwarded to downstream APIs.</a:t>
            </a:r>
          </a:p>
          <a:p>
            <a:pPr marL="12700" marR="5080"/>
            <a:r>
              <a:rPr lang="en-US" sz="1600" kern="0" spc="-80" dirty="0">
                <a:solidFill>
                  <a:schemeClr val="accent6"/>
                </a:solidFill>
              </a:rPr>
              <a:t>Zero-trust microservice systems (e.g., Istio, Envoy).</a:t>
            </a:r>
          </a:p>
          <a:p>
            <a:pPr marL="12700" marR="5080"/>
            <a:r>
              <a:rPr lang="en-US" sz="1600" kern="0" spc="-80" dirty="0">
                <a:solidFill>
                  <a:schemeClr val="accent2"/>
                </a:solidFill>
              </a:rPr>
              <a:t>Flow:</a:t>
            </a:r>
          </a:p>
          <a:p>
            <a:pPr marL="12700" marR="5080"/>
            <a:r>
              <a:rPr lang="en-US" sz="1600" kern="0" spc="-80" dirty="0">
                <a:solidFill>
                  <a:schemeClr val="accent6"/>
                </a:solidFill>
              </a:rPr>
              <a:t>Frontend calls API Gateway with user access token.</a:t>
            </a:r>
          </a:p>
          <a:p>
            <a:pPr marL="12700" marR="5080"/>
            <a:r>
              <a:rPr lang="en-US" sz="1600" kern="0" spc="-80" dirty="0">
                <a:solidFill>
                  <a:schemeClr val="accent6"/>
                </a:solidFill>
              </a:rPr>
              <a:t>API Gateway exchanges the token for a new internal token:</a:t>
            </a:r>
          </a:p>
          <a:p>
            <a:pPr marL="12700" marR="5080"/>
            <a:r>
              <a:rPr lang="en-US" sz="1600" kern="0" spc="-80" dirty="0">
                <a:solidFill>
                  <a:schemeClr val="accent6"/>
                </a:solidFill>
              </a:rPr>
              <a:t>Removes PII</a:t>
            </a:r>
          </a:p>
          <a:p>
            <a:pPr marL="12700" marR="5080"/>
            <a:r>
              <a:rPr lang="en-US" sz="1600" kern="0" spc="-80" dirty="0">
                <a:solidFill>
                  <a:schemeClr val="accent6"/>
                </a:solidFill>
              </a:rPr>
              <a:t>Adds microservice-specific claims</a:t>
            </a:r>
          </a:p>
          <a:p>
            <a:pPr marL="12700" marR="5080"/>
            <a:r>
              <a:rPr lang="en-US" sz="1600" kern="0" spc="-80" dirty="0">
                <a:solidFill>
                  <a:schemeClr val="accent6"/>
                </a:solidFill>
              </a:rPr>
              <a:t>Gateway calls Service B with internal token.</a:t>
            </a:r>
          </a:p>
          <a:p>
            <a:pPr marL="12700" marR="5080"/>
            <a:r>
              <a:rPr lang="en-US" sz="1600" kern="0" spc="-80" dirty="0">
                <a:solidFill>
                  <a:schemeClr val="accent6"/>
                </a:solidFill>
              </a:rPr>
              <a:t>This protects:</a:t>
            </a:r>
          </a:p>
          <a:p>
            <a:pPr marL="12700" marR="5080"/>
            <a:r>
              <a:rPr lang="en-US" sz="1600" kern="0" spc="-80" dirty="0">
                <a:solidFill>
                  <a:schemeClr val="accent6"/>
                </a:solidFill>
              </a:rPr>
              <a:t>Internal API from over-exposing user claims</a:t>
            </a:r>
          </a:p>
          <a:p>
            <a:pPr marL="12700" marR="5080"/>
            <a:r>
              <a:rPr lang="en-US" sz="1600" kern="0" spc="-80" dirty="0">
                <a:solidFill>
                  <a:schemeClr val="accent6"/>
                </a:solidFill>
              </a:rPr>
              <a:t>Avoids token reuse across systems</a:t>
            </a:r>
          </a:p>
          <a:p>
            <a:pPr marL="12700" marR="5080"/>
            <a:endParaRPr lang="en-US" sz="1600" kern="0" spc="-80" dirty="0">
              <a:solidFill>
                <a:schemeClr val="accent6"/>
              </a:solidFill>
            </a:endParaRPr>
          </a:p>
          <a:p>
            <a:pPr marL="12700" marR="5080"/>
            <a:r>
              <a:rPr lang="en-US" sz="1600" kern="0" spc="-80" dirty="0">
                <a:solidFill>
                  <a:schemeClr val="accent2"/>
                </a:solidFill>
              </a:rPr>
              <a:t>C. Mutual TLS (</a:t>
            </a:r>
            <a:r>
              <a:rPr lang="en-US" sz="1600" kern="0" spc="-80" dirty="0" err="1">
                <a:solidFill>
                  <a:schemeClr val="accent2"/>
                </a:solidFill>
              </a:rPr>
              <a:t>mTLS</a:t>
            </a:r>
            <a:r>
              <a:rPr lang="en-US" sz="1600" kern="0" spc="-80" dirty="0">
                <a:solidFill>
                  <a:schemeClr val="accent2"/>
                </a:solidFill>
              </a:rPr>
              <a:t>) + OAuth</a:t>
            </a:r>
          </a:p>
          <a:p>
            <a:pPr marL="12700" marR="5080"/>
            <a:r>
              <a:rPr lang="en-US" sz="1600" kern="0" spc="-80" dirty="0">
                <a:solidFill>
                  <a:schemeClr val="accent6"/>
                </a:solidFill>
              </a:rPr>
              <a:t>Used in highly secure enterprise environments.</a:t>
            </a:r>
          </a:p>
          <a:p>
            <a:pPr marL="12700" marR="5080"/>
            <a:r>
              <a:rPr lang="en-US" sz="1600" kern="0" spc="-80" dirty="0">
                <a:solidFill>
                  <a:schemeClr val="accent2"/>
                </a:solidFill>
              </a:rPr>
              <a:t>Internal API communication uses:</a:t>
            </a:r>
          </a:p>
        </p:txBody>
      </p:sp>
      <p:grpSp>
        <p:nvGrpSpPr>
          <p:cNvPr id="7" name="Group 6">
            <a:extLst>
              <a:ext uri="{FF2B5EF4-FFF2-40B4-BE49-F238E27FC236}">
                <a16:creationId xmlns:a16="http://schemas.microsoft.com/office/drawing/2014/main" id="{2A4265A0-0681-6277-821B-271DBBE3F7B2}"/>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84755609-F650-DC2B-D939-E4ED5D7DD39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2C684AA4-6FCC-D1AB-185F-2228BEE4131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028139849"/>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EAB50-E44C-F478-FDA5-DA547E017D2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C4095A4-1CCA-EA65-46AB-DE8BC6A506C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90B0F79-B559-9CB8-D066-93E34F3EDAD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40BB879-9F81-564E-E610-F1A00FEB928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7016DC3-8525-4D8A-6D64-BE4D0B0A3034}"/>
              </a:ext>
            </a:extLst>
          </p:cNvPr>
          <p:cNvSpPr txBox="1">
            <a:spLocks/>
          </p:cNvSpPr>
          <p:nvPr/>
        </p:nvSpPr>
        <p:spPr>
          <a:xfrm>
            <a:off x="61863" y="767477"/>
            <a:ext cx="8624937" cy="40626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OAuth Based Communication</a:t>
            </a:r>
          </a:p>
          <a:p>
            <a:pPr marL="12700" marR="5080"/>
            <a:r>
              <a:rPr lang="en-US" sz="1600" kern="0" spc="-80" dirty="0">
                <a:solidFill>
                  <a:schemeClr val="accent2"/>
                </a:solidFill>
              </a:rPr>
              <a:t>✅ 2. Internal API → Internal API (Service-to-Service Communication)</a:t>
            </a:r>
          </a:p>
          <a:p>
            <a:pPr marL="12700" marR="5080"/>
            <a:r>
              <a:rPr lang="en-US" sz="1600" kern="0" spc="-80" dirty="0">
                <a:solidFill>
                  <a:schemeClr val="accent2"/>
                </a:solidFill>
              </a:rPr>
              <a:t>C. Mutual TLS (</a:t>
            </a:r>
            <a:r>
              <a:rPr lang="en-US" sz="1600" kern="0" spc="-80" dirty="0" err="1">
                <a:solidFill>
                  <a:schemeClr val="accent2"/>
                </a:solidFill>
              </a:rPr>
              <a:t>mTLS</a:t>
            </a:r>
            <a:r>
              <a:rPr lang="en-US" sz="1600" kern="0" spc="-80" dirty="0">
                <a:solidFill>
                  <a:schemeClr val="accent2"/>
                </a:solidFill>
              </a:rPr>
              <a:t>) + OAuth</a:t>
            </a:r>
          </a:p>
          <a:p>
            <a:pPr marL="12700" marR="5080"/>
            <a:r>
              <a:rPr lang="en-US" sz="1600" kern="0" spc="-80" dirty="0">
                <a:solidFill>
                  <a:schemeClr val="accent2"/>
                </a:solidFill>
              </a:rPr>
              <a:t>Internal API communication uses:</a:t>
            </a:r>
          </a:p>
          <a:p>
            <a:pPr marL="12700" marR="5080"/>
            <a:r>
              <a:rPr lang="en-US" sz="1600" kern="0" spc="-80" dirty="0">
                <a:solidFill>
                  <a:schemeClr val="accent6"/>
                </a:solidFill>
              </a:rPr>
              <a:t>OAuth access token</a:t>
            </a:r>
          </a:p>
          <a:p>
            <a:pPr marL="12700" marR="5080"/>
            <a:r>
              <a:rPr lang="en-US" sz="1600" kern="0" spc="-80" dirty="0" err="1">
                <a:solidFill>
                  <a:schemeClr val="accent6"/>
                </a:solidFill>
              </a:rPr>
              <a:t>mTLS</a:t>
            </a:r>
            <a:r>
              <a:rPr lang="en-US" sz="1600" kern="0" spc="-80" dirty="0">
                <a:solidFill>
                  <a:schemeClr val="accent6"/>
                </a:solidFill>
              </a:rPr>
              <a:t> certificate validation</a:t>
            </a:r>
          </a:p>
          <a:p>
            <a:pPr marL="12700" marR="5080"/>
            <a:r>
              <a:rPr lang="en-US" sz="1600" kern="0" spc="-80" dirty="0">
                <a:solidFill>
                  <a:schemeClr val="accent2"/>
                </a:solidFill>
              </a:rPr>
              <a:t>Often used for:</a:t>
            </a:r>
          </a:p>
          <a:p>
            <a:pPr marL="12700" marR="5080"/>
            <a:r>
              <a:rPr lang="en-US" sz="1600" kern="0" spc="-80" dirty="0">
                <a:solidFill>
                  <a:schemeClr val="accent6"/>
                </a:solidFill>
              </a:rPr>
              <a:t>Banking systems</a:t>
            </a:r>
          </a:p>
          <a:p>
            <a:pPr marL="12700" marR="5080"/>
            <a:r>
              <a:rPr lang="en-US" sz="1600" kern="0" spc="-80" dirty="0">
                <a:solidFill>
                  <a:schemeClr val="accent6"/>
                </a:solidFill>
              </a:rPr>
              <a:t>Smart meter / Grid IoT platforms</a:t>
            </a:r>
          </a:p>
          <a:p>
            <a:pPr marL="12700" marR="5080"/>
            <a:r>
              <a:rPr lang="en-US" sz="1600" kern="0" spc="-80" dirty="0">
                <a:solidFill>
                  <a:schemeClr val="accent6"/>
                </a:solidFill>
              </a:rPr>
              <a:t>Healthcare APIs</a:t>
            </a:r>
          </a:p>
          <a:p>
            <a:pPr marL="12700" marR="5080"/>
            <a:r>
              <a:rPr lang="en-US" sz="1600" kern="0" spc="-80" dirty="0">
                <a:solidFill>
                  <a:schemeClr val="accent2"/>
                </a:solidFill>
              </a:rPr>
              <a:t>🔶 Internal API → Internal API Architecture</a:t>
            </a:r>
          </a:p>
          <a:p>
            <a:pPr marL="12700" marR="5080"/>
            <a:r>
              <a:rPr lang="en-US" sz="1600" kern="0" spc="-80" dirty="0">
                <a:solidFill>
                  <a:schemeClr val="accent6"/>
                </a:solidFill>
              </a:rPr>
              <a:t>Service A  -- Client Credentials Token --&gt;  Service B</a:t>
            </a:r>
          </a:p>
          <a:p>
            <a:pPr marL="12700" marR="5080"/>
            <a:r>
              <a:rPr lang="en-US" sz="1600" kern="0" spc="-80" dirty="0">
                <a:solidFill>
                  <a:schemeClr val="accent6"/>
                </a:solidFill>
              </a:rPr>
              <a:t> |</a:t>
            </a:r>
          </a:p>
          <a:p>
            <a:pPr marL="12700" marR="5080"/>
            <a:r>
              <a:rPr lang="en-US" sz="1600" kern="0" spc="-80" dirty="0">
                <a:solidFill>
                  <a:schemeClr val="accent6"/>
                </a:solidFill>
              </a:rPr>
              <a:t> | (optional token exchange)</a:t>
            </a:r>
          </a:p>
          <a:p>
            <a:pPr marL="12700" marR="5080"/>
            <a:r>
              <a:rPr lang="en-US" sz="1600" kern="0" spc="-80" dirty="0">
                <a:solidFill>
                  <a:schemeClr val="accent6"/>
                </a:solidFill>
              </a:rPr>
              <a:t> v</a:t>
            </a:r>
          </a:p>
          <a:p>
            <a:pPr marL="12700" marR="5080"/>
            <a:r>
              <a:rPr lang="en-US" sz="1600" kern="0" spc="-80" dirty="0">
                <a:solidFill>
                  <a:schemeClr val="accent6"/>
                </a:solidFill>
              </a:rPr>
              <a:t>Identity Provider (Azure AD / Auth0 / </a:t>
            </a:r>
            <a:r>
              <a:rPr lang="en-US" sz="1600" kern="0" spc="-80" dirty="0" err="1">
                <a:solidFill>
                  <a:schemeClr val="accent6"/>
                </a:solidFill>
              </a:rPr>
              <a:t>Keycloak</a:t>
            </a:r>
            <a:r>
              <a:rPr lang="en-US" sz="1600" kern="0" spc="-80" dirty="0">
                <a:solidFill>
                  <a:schemeClr val="accent6"/>
                </a:solidFill>
              </a:rPr>
              <a:t>)</a:t>
            </a:r>
          </a:p>
        </p:txBody>
      </p:sp>
      <p:grpSp>
        <p:nvGrpSpPr>
          <p:cNvPr id="7" name="Group 6">
            <a:extLst>
              <a:ext uri="{FF2B5EF4-FFF2-40B4-BE49-F238E27FC236}">
                <a16:creationId xmlns:a16="http://schemas.microsoft.com/office/drawing/2014/main" id="{D6480B72-2F10-8DE0-3FB9-84D08C7759E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41417D5-FA3D-03A0-5A9C-DA734C95474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9E4ADB7-E2B8-43A1-937C-7866E98CCC2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399608877"/>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27920-ED94-5ABF-5C85-3FFFB14BDCC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31C0A7A-CA91-D024-F640-EF670C946B5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FF9580D-2EFC-2233-FF2A-16B17C60B41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876B454-A160-EDB6-6017-BB783E02C94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6234146-1256-3941-BD95-48CE8373D676}"/>
              </a:ext>
            </a:extLst>
          </p:cNvPr>
          <p:cNvSpPr txBox="1">
            <a:spLocks/>
          </p:cNvSpPr>
          <p:nvPr/>
        </p:nvSpPr>
        <p:spPr>
          <a:xfrm>
            <a:off x="76200" y="767477"/>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OAuth Based Communication</a:t>
            </a:r>
          </a:p>
          <a:p>
            <a:pPr marL="12700" marR="5080"/>
            <a:r>
              <a:rPr lang="en-US" sz="1600" kern="0" spc="-80" dirty="0">
                <a:solidFill>
                  <a:schemeClr val="accent2"/>
                </a:solidFill>
              </a:rPr>
              <a:t>✅ 3. Internal API → External API</a:t>
            </a:r>
          </a:p>
          <a:p>
            <a:pPr marL="12700" marR="5080"/>
            <a:r>
              <a:rPr lang="en-US" sz="1600" kern="0" spc="-80" dirty="0">
                <a:solidFill>
                  <a:schemeClr val="accent6"/>
                </a:solidFill>
              </a:rPr>
              <a:t>When your backend calls a third-party external API, the OAuth configuration depends on who is calling and who needs authentication.</a:t>
            </a:r>
          </a:p>
          <a:p>
            <a:pPr marL="12700" marR="5080"/>
            <a:endParaRPr lang="en-US" sz="1600" kern="0" spc="-80" dirty="0">
              <a:solidFill>
                <a:schemeClr val="accent6"/>
              </a:solidFill>
            </a:endParaRPr>
          </a:p>
          <a:p>
            <a:pPr marL="12700" marR="5080"/>
            <a:r>
              <a:rPr lang="en-US" sz="1600" kern="0" spc="-80" dirty="0">
                <a:solidFill>
                  <a:schemeClr val="accent2"/>
                </a:solidFill>
              </a:rPr>
              <a:t>A. Backend Calls External API on Behalf of USER</a:t>
            </a:r>
          </a:p>
          <a:p>
            <a:pPr marL="12700" marR="5080"/>
            <a:r>
              <a:rPr lang="en-US" sz="1600" kern="0" spc="-80" dirty="0">
                <a:solidFill>
                  <a:schemeClr val="accent2"/>
                </a:solidFill>
              </a:rPr>
              <a:t>Example:</a:t>
            </a:r>
          </a:p>
          <a:p>
            <a:pPr marL="12700" marR="5080"/>
            <a:r>
              <a:rPr lang="en-US" sz="1600" kern="0" spc="-80" dirty="0">
                <a:solidFill>
                  <a:schemeClr val="accent6"/>
                </a:solidFill>
              </a:rPr>
              <a:t>Internal Home Automation API calling Google Home APIs</a:t>
            </a:r>
          </a:p>
          <a:p>
            <a:pPr marL="12700" marR="5080"/>
            <a:r>
              <a:rPr lang="en-US" sz="1600" kern="0" spc="-80" dirty="0">
                <a:solidFill>
                  <a:schemeClr val="accent6"/>
                </a:solidFill>
              </a:rPr>
              <a:t>CRM calling Salesforce APIs on behalf of a user</a:t>
            </a:r>
          </a:p>
          <a:p>
            <a:pPr marL="12700" marR="5080"/>
            <a:r>
              <a:rPr lang="en-US" sz="1600" kern="0" spc="-80" dirty="0">
                <a:solidFill>
                  <a:schemeClr val="accent2"/>
                </a:solidFill>
              </a:rPr>
              <a:t>Use:</a:t>
            </a:r>
            <a:r>
              <a:rPr lang="en-US" sz="1600" kern="0" spc="-80" dirty="0">
                <a:solidFill>
                  <a:schemeClr val="accent6"/>
                </a:solidFill>
              </a:rPr>
              <a:t> OAuth Authorization Code + Refresh Token</a:t>
            </a:r>
          </a:p>
          <a:p>
            <a:pPr marL="12700" marR="5080"/>
            <a:r>
              <a:rPr lang="en-US" sz="1600" kern="0" spc="-80" dirty="0">
                <a:solidFill>
                  <a:schemeClr val="accent2"/>
                </a:solidFill>
              </a:rPr>
              <a:t>Flow:</a:t>
            </a:r>
          </a:p>
          <a:p>
            <a:pPr marL="12700" marR="5080"/>
            <a:r>
              <a:rPr lang="en-US" sz="1600" kern="0" spc="-80" dirty="0">
                <a:solidFill>
                  <a:schemeClr val="accent6"/>
                </a:solidFill>
              </a:rPr>
              <a:t>User logs into external provider (Google, GitHub, Salesforce).</a:t>
            </a:r>
          </a:p>
          <a:p>
            <a:pPr marL="12700" marR="5080"/>
            <a:r>
              <a:rPr lang="en-US" sz="1600" kern="0" spc="-80" dirty="0">
                <a:solidFill>
                  <a:schemeClr val="accent6"/>
                </a:solidFill>
              </a:rPr>
              <a:t>Internal system stores refresh token securely (Key Vault).</a:t>
            </a:r>
          </a:p>
          <a:p>
            <a:pPr marL="12700" marR="5080"/>
            <a:r>
              <a:rPr lang="en-US" sz="1600" kern="0" spc="-80" dirty="0">
                <a:solidFill>
                  <a:schemeClr val="accent6"/>
                </a:solidFill>
              </a:rPr>
              <a:t>Backend gets access token whenever needed.</a:t>
            </a:r>
          </a:p>
          <a:p>
            <a:pPr marL="12700" marR="5080"/>
            <a:r>
              <a:rPr lang="en-US" sz="1600" kern="0" spc="-80" dirty="0">
                <a:solidFill>
                  <a:schemeClr val="accent6"/>
                </a:solidFill>
              </a:rPr>
              <a:t>Calls external API using bearer token.</a:t>
            </a:r>
          </a:p>
          <a:p>
            <a:pPr marL="12700" marR="5080"/>
            <a:r>
              <a:rPr lang="en-US" sz="1600" kern="0" spc="-80" dirty="0">
                <a:solidFill>
                  <a:schemeClr val="accent6"/>
                </a:solidFill>
              </a:rPr>
              <a:t>Backend responsibilities</a:t>
            </a:r>
          </a:p>
          <a:p>
            <a:pPr marL="12700" marR="5080"/>
            <a:r>
              <a:rPr lang="en-US" sz="1600" kern="0" spc="-80" dirty="0">
                <a:solidFill>
                  <a:schemeClr val="accent6"/>
                </a:solidFill>
              </a:rPr>
              <a:t>Maintain a secure token cache</a:t>
            </a:r>
          </a:p>
          <a:p>
            <a:pPr marL="12700" marR="5080"/>
            <a:r>
              <a:rPr lang="en-US" sz="1600" kern="0" spc="-80" dirty="0">
                <a:solidFill>
                  <a:schemeClr val="accent6"/>
                </a:solidFill>
              </a:rPr>
              <a:t>Auto-refresh tokens</a:t>
            </a:r>
          </a:p>
          <a:p>
            <a:pPr marL="12700" marR="5080"/>
            <a:r>
              <a:rPr lang="en-US" sz="1600" kern="0" spc="-80" dirty="0">
                <a:solidFill>
                  <a:schemeClr val="accent6"/>
                </a:solidFill>
              </a:rPr>
              <a:t>Handle token revocation</a:t>
            </a:r>
          </a:p>
        </p:txBody>
      </p:sp>
      <p:grpSp>
        <p:nvGrpSpPr>
          <p:cNvPr id="7" name="Group 6">
            <a:extLst>
              <a:ext uri="{FF2B5EF4-FFF2-40B4-BE49-F238E27FC236}">
                <a16:creationId xmlns:a16="http://schemas.microsoft.com/office/drawing/2014/main" id="{58B81083-8645-9787-FF7D-D79C9F34E7D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646F354A-5ECD-BCDC-9002-D1969AB7A0F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23BE899-7FDA-4FC4-E75A-EC6484E6E4B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275817263"/>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2F53-2B98-6D25-8C1A-F8D1ADA9E9A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A7E5C0D-95FB-582B-438C-8E028585B9A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07E18DD-B6C4-51F2-4A84-58E29949BF3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D8F8E0C-4B24-BEA0-50C2-9C3EE3AE923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B27E9F7-DC77-0D3B-6A71-43D9ED3B16B0}"/>
              </a:ext>
            </a:extLst>
          </p:cNvPr>
          <p:cNvSpPr txBox="1">
            <a:spLocks/>
          </p:cNvSpPr>
          <p:nvPr/>
        </p:nvSpPr>
        <p:spPr>
          <a:xfrm>
            <a:off x="76200" y="778907"/>
            <a:ext cx="8624937" cy="45550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OAuth Based Communication</a:t>
            </a:r>
          </a:p>
          <a:p>
            <a:pPr marL="12700" marR="5080"/>
            <a:r>
              <a:rPr lang="en-US" sz="1600" kern="0" spc="-80" dirty="0">
                <a:solidFill>
                  <a:schemeClr val="accent2"/>
                </a:solidFill>
              </a:rPr>
              <a:t>✅ 3. Internal API → External API</a:t>
            </a:r>
          </a:p>
          <a:p>
            <a:pPr marL="12700" marR="5080"/>
            <a:r>
              <a:rPr lang="en-US" sz="1600" kern="0" spc="-80" dirty="0">
                <a:solidFill>
                  <a:schemeClr val="accent2"/>
                </a:solidFill>
              </a:rPr>
              <a:t>B. Backend Calls External API as MACHINE (no user)</a:t>
            </a:r>
          </a:p>
          <a:p>
            <a:pPr marL="12700" marR="5080"/>
            <a:r>
              <a:rPr lang="en-US" sz="1600" kern="0" spc="-80" dirty="0">
                <a:solidFill>
                  <a:schemeClr val="accent2"/>
                </a:solidFill>
              </a:rPr>
              <a:t>Example:</a:t>
            </a:r>
          </a:p>
          <a:p>
            <a:pPr marL="12700" marR="5080"/>
            <a:r>
              <a:rPr lang="en-US" sz="1600" kern="0" spc="-80" dirty="0">
                <a:solidFill>
                  <a:schemeClr val="accent6"/>
                </a:solidFill>
              </a:rPr>
              <a:t>Internal service pushing logs to Datadog</a:t>
            </a:r>
          </a:p>
          <a:p>
            <a:pPr marL="12700" marR="5080"/>
            <a:r>
              <a:rPr lang="en-US" sz="1600" kern="0" spc="-80" dirty="0">
                <a:solidFill>
                  <a:schemeClr val="accent6"/>
                </a:solidFill>
              </a:rPr>
              <a:t>Backend calling Stripe API</a:t>
            </a:r>
          </a:p>
          <a:p>
            <a:pPr marL="12700" marR="5080"/>
            <a:r>
              <a:rPr lang="en-US" sz="1600" kern="0" spc="-80" dirty="0">
                <a:solidFill>
                  <a:schemeClr val="accent6"/>
                </a:solidFill>
              </a:rPr>
              <a:t>Internal system calling </a:t>
            </a:r>
            <a:r>
              <a:rPr lang="en-US" sz="1600" kern="0" spc="-80" dirty="0" err="1">
                <a:solidFill>
                  <a:schemeClr val="accent6"/>
                </a:solidFill>
              </a:rPr>
              <a:t>Mapbox</a:t>
            </a:r>
            <a:r>
              <a:rPr lang="en-US" sz="1600" kern="0" spc="-80" dirty="0">
                <a:solidFill>
                  <a:schemeClr val="accent6"/>
                </a:solidFill>
              </a:rPr>
              <a:t> or Twilio</a:t>
            </a:r>
          </a:p>
          <a:p>
            <a:pPr marL="12700" marR="5080"/>
            <a:r>
              <a:rPr lang="en-US" sz="1600" kern="0" spc="-80" dirty="0">
                <a:solidFill>
                  <a:schemeClr val="accent2"/>
                </a:solidFill>
              </a:rPr>
              <a:t>Use: </a:t>
            </a:r>
            <a:r>
              <a:rPr lang="en-US" sz="1600" kern="0" spc="-80" dirty="0">
                <a:solidFill>
                  <a:schemeClr val="accent6"/>
                </a:solidFill>
              </a:rPr>
              <a:t>OAuth Client Credentials Flow</a:t>
            </a:r>
          </a:p>
          <a:p>
            <a:pPr marL="12700" marR="5080"/>
            <a:r>
              <a:rPr lang="en-US" sz="1600" kern="0" spc="-80" dirty="0">
                <a:solidFill>
                  <a:schemeClr val="accent6"/>
                </a:solidFill>
              </a:rPr>
              <a:t>or API Key (if provider doesn’t support OAuth)</a:t>
            </a:r>
          </a:p>
          <a:p>
            <a:pPr marL="12700" marR="5080"/>
            <a:r>
              <a:rPr lang="en-US" sz="1600" kern="0" spc="-80" dirty="0">
                <a:solidFill>
                  <a:schemeClr val="accent2"/>
                </a:solidFill>
              </a:rPr>
              <a:t>Flow:</a:t>
            </a:r>
          </a:p>
          <a:p>
            <a:pPr marL="12700" marR="5080"/>
            <a:r>
              <a:rPr lang="en-US" sz="1600" kern="0" spc="-80" dirty="0">
                <a:solidFill>
                  <a:schemeClr val="accent6"/>
                </a:solidFill>
              </a:rPr>
              <a:t>Internal API sends </a:t>
            </a:r>
            <a:r>
              <a:rPr lang="en-US" sz="1600" kern="0" spc="-80" dirty="0" err="1">
                <a:solidFill>
                  <a:schemeClr val="accent6"/>
                </a:solidFill>
              </a:rPr>
              <a:t>client_secret</a:t>
            </a:r>
            <a:r>
              <a:rPr lang="en-US" sz="1600" kern="0" spc="-80" dirty="0">
                <a:solidFill>
                  <a:schemeClr val="accent6"/>
                </a:solidFill>
              </a:rPr>
              <a:t>/</a:t>
            </a:r>
            <a:r>
              <a:rPr lang="en-US" sz="1600" kern="0" spc="-80" dirty="0" err="1">
                <a:solidFill>
                  <a:schemeClr val="accent6"/>
                </a:solidFill>
              </a:rPr>
              <a:t>client_id</a:t>
            </a:r>
            <a:r>
              <a:rPr lang="en-US" sz="1600" kern="0" spc="-80" dirty="0">
                <a:solidFill>
                  <a:schemeClr val="accent6"/>
                </a:solidFill>
              </a:rPr>
              <a:t> to external provider.</a:t>
            </a:r>
          </a:p>
          <a:p>
            <a:pPr marL="12700" marR="5080"/>
            <a:r>
              <a:rPr lang="en-US" sz="1600" kern="0" spc="-80" dirty="0">
                <a:solidFill>
                  <a:schemeClr val="accent6"/>
                </a:solidFill>
              </a:rPr>
              <a:t>Gets machine token.</a:t>
            </a:r>
          </a:p>
          <a:p>
            <a:pPr marL="12700" marR="5080"/>
            <a:r>
              <a:rPr lang="en-US" sz="1600" kern="0" spc="-80" dirty="0">
                <a:solidFill>
                  <a:schemeClr val="accent6"/>
                </a:solidFill>
              </a:rPr>
              <a:t>Calls external API.</a:t>
            </a:r>
          </a:p>
          <a:p>
            <a:pPr marL="12700" marR="5080"/>
            <a:endParaRPr lang="en-US" sz="1600" kern="0" spc="-80" dirty="0">
              <a:solidFill>
                <a:schemeClr val="accent6"/>
              </a:solidFill>
            </a:endParaRPr>
          </a:p>
          <a:p>
            <a:pPr marL="12700" marR="5080"/>
            <a:r>
              <a:rPr lang="en-US" sz="1600" kern="0" spc="-80" dirty="0">
                <a:solidFill>
                  <a:schemeClr val="accent2"/>
                </a:solidFill>
              </a:rPr>
              <a:t>C. External API Provides JWT → Your System Validates</a:t>
            </a:r>
          </a:p>
          <a:p>
            <a:pPr marL="12700" marR="5080"/>
            <a:r>
              <a:rPr lang="en-US" sz="1600" kern="0" spc="-80" dirty="0">
                <a:solidFill>
                  <a:schemeClr val="accent2"/>
                </a:solidFill>
              </a:rPr>
              <a:t>Example:</a:t>
            </a:r>
          </a:p>
          <a:p>
            <a:pPr marL="12700" marR="5080"/>
            <a:r>
              <a:rPr lang="en-US" sz="1600" kern="0" spc="-80" dirty="0">
                <a:solidFill>
                  <a:schemeClr val="accent6"/>
                </a:solidFill>
              </a:rPr>
              <a:t>Webhook systems where external system signs JWT</a:t>
            </a:r>
          </a:p>
          <a:p>
            <a:pPr marL="12700" marR="5080"/>
            <a:r>
              <a:rPr lang="en-US" sz="1600" kern="0" spc="-80" dirty="0">
                <a:solidFill>
                  <a:schemeClr val="accent6"/>
                </a:solidFill>
              </a:rPr>
              <a:t>Payment providers sending callbacks</a:t>
            </a:r>
          </a:p>
        </p:txBody>
      </p:sp>
      <p:grpSp>
        <p:nvGrpSpPr>
          <p:cNvPr id="7" name="Group 6">
            <a:extLst>
              <a:ext uri="{FF2B5EF4-FFF2-40B4-BE49-F238E27FC236}">
                <a16:creationId xmlns:a16="http://schemas.microsoft.com/office/drawing/2014/main" id="{66C2D056-166D-2141-D438-749A3CCFBA7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F4410F15-2BBC-C7AB-30CE-AC66F54DEE4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6382C255-392C-550B-F424-9AA8FBB0935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191713298"/>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3A53FD-2AB7-6809-75C3-97222096A91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D2C6391-9658-369E-5991-BFEB8382D44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404148B-1BAD-1E37-4269-E179026957A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D4731FF-6621-6DF9-B02C-01E856F9CBE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60EA477-F451-D517-4FE2-ADD43A9EF509}"/>
              </a:ext>
            </a:extLst>
          </p:cNvPr>
          <p:cNvSpPr txBox="1">
            <a:spLocks/>
          </p:cNvSpPr>
          <p:nvPr/>
        </p:nvSpPr>
        <p:spPr>
          <a:xfrm>
            <a:off x="76200" y="767477"/>
            <a:ext cx="8624937" cy="283154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OAuth Based Communication</a:t>
            </a:r>
          </a:p>
          <a:p>
            <a:pPr marL="12700" marR="5080"/>
            <a:r>
              <a:rPr lang="en-US" sz="1600" kern="0" spc="-80" dirty="0">
                <a:solidFill>
                  <a:schemeClr val="accent2"/>
                </a:solidFill>
              </a:rPr>
              <a:t>✅ 3. Internal API → External API</a:t>
            </a:r>
          </a:p>
          <a:p>
            <a:pPr marL="12700" marR="5080"/>
            <a:r>
              <a:rPr lang="en-US" sz="1600" kern="0" spc="-80" dirty="0">
                <a:solidFill>
                  <a:schemeClr val="accent2"/>
                </a:solidFill>
              </a:rPr>
              <a:t>C. External API Provides JWT → Your System Validates</a:t>
            </a:r>
          </a:p>
          <a:p>
            <a:pPr marL="12700" marR="5080"/>
            <a:r>
              <a:rPr lang="en-US" sz="1600" kern="0" spc="-80" dirty="0">
                <a:solidFill>
                  <a:schemeClr val="accent2"/>
                </a:solidFill>
              </a:rPr>
              <a:t>Flow:</a:t>
            </a:r>
          </a:p>
          <a:p>
            <a:pPr marL="12700" marR="5080"/>
            <a:r>
              <a:rPr lang="en-US" sz="1600" kern="0" spc="-80" dirty="0">
                <a:solidFill>
                  <a:schemeClr val="accent6"/>
                </a:solidFill>
              </a:rPr>
              <a:t>External provider signs JWT</a:t>
            </a:r>
          </a:p>
          <a:p>
            <a:pPr marL="12700" marR="5080"/>
            <a:r>
              <a:rPr lang="en-US" sz="1600" kern="0" spc="-80" dirty="0">
                <a:solidFill>
                  <a:schemeClr val="accent2"/>
                </a:solidFill>
              </a:rPr>
              <a:t>Your API validates:</a:t>
            </a:r>
          </a:p>
          <a:p>
            <a:pPr marL="12700" marR="5080"/>
            <a:r>
              <a:rPr lang="en-US" sz="1600" kern="0" spc="-80" dirty="0">
                <a:solidFill>
                  <a:schemeClr val="accent6"/>
                </a:solidFill>
              </a:rPr>
              <a:t>Signature</a:t>
            </a:r>
          </a:p>
          <a:p>
            <a:pPr marL="12700" marR="5080"/>
            <a:r>
              <a:rPr lang="en-US" sz="1600" kern="0" spc="-80" dirty="0">
                <a:solidFill>
                  <a:schemeClr val="accent6"/>
                </a:solidFill>
              </a:rPr>
              <a:t>Issuer</a:t>
            </a:r>
          </a:p>
          <a:p>
            <a:pPr marL="12700" marR="5080"/>
            <a:r>
              <a:rPr lang="en-US" sz="1600" kern="0" spc="-80" dirty="0">
                <a:solidFill>
                  <a:schemeClr val="accent6"/>
                </a:solidFill>
              </a:rPr>
              <a:t>Audience</a:t>
            </a:r>
          </a:p>
          <a:p>
            <a:pPr marL="12700" marR="5080"/>
            <a:r>
              <a:rPr lang="en-US" sz="1600" kern="0" spc="-80" dirty="0">
                <a:solidFill>
                  <a:schemeClr val="accent6"/>
                </a:solidFill>
              </a:rPr>
              <a:t>Claims</a:t>
            </a:r>
          </a:p>
          <a:p>
            <a:pPr marL="12700" marR="5080"/>
            <a:endParaRPr lang="en-US" sz="1600" kern="0" spc="-80" dirty="0">
              <a:solidFill>
                <a:schemeClr val="accent6"/>
              </a:solidFill>
            </a:endParaRPr>
          </a:p>
        </p:txBody>
      </p:sp>
      <p:grpSp>
        <p:nvGrpSpPr>
          <p:cNvPr id="9" name="Group 8">
            <a:extLst>
              <a:ext uri="{FF2B5EF4-FFF2-40B4-BE49-F238E27FC236}">
                <a16:creationId xmlns:a16="http://schemas.microsoft.com/office/drawing/2014/main" id="{00C93B35-C6B3-18FD-CE52-CDF60E026760}"/>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FA6587D2-4D35-5FB4-71FC-366D0E1BAD4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81FAB8A6-85A0-2D01-22DD-8C15E7956F8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275137739"/>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835AD-DB85-E60F-1A0A-6975E03F382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55F6C77-67CE-4659-703A-D3C9DF58E6F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760F84E-070F-B425-B73A-9A793590DD2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F4385-B824-8F18-3C9E-DE0FD45B8D6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A4FF88C-4B78-7CA9-88E3-611A4EE5CC96}"/>
              </a:ext>
            </a:extLst>
          </p:cNvPr>
          <p:cNvSpPr txBox="1">
            <a:spLocks/>
          </p:cNvSpPr>
          <p:nvPr/>
        </p:nvSpPr>
        <p:spPr>
          <a:xfrm>
            <a:off x="76200" y="767477"/>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OAuth Based Communication</a:t>
            </a:r>
          </a:p>
          <a:p>
            <a:pPr marL="12700" marR="5080"/>
            <a:r>
              <a:rPr lang="en-US" sz="1600" kern="0" spc="-80" dirty="0">
                <a:solidFill>
                  <a:schemeClr val="accent2"/>
                </a:solidFill>
              </a:rPr>
              <a:t>🧩 Putting Everything Together </a:t>
            </a:r>
          </a:p>
          <a:p>
            <a:pPr marL="12700" marR="5080"/>
            <a:r>
              <a:rPr lang="en-US" sz="1600" kern="0" spc="-80" dirty="0">
                <a:solidFill>
                  <a:schemeClr val="accent6"/>
                </a:solidFill>
              </a:rPr>
              <a:t>      UI / Mobile App</a:t>
            </a:r>
          </a:p>
          <a:p>
            <a:pPr marL="12700" marR="5080"/>
            <a:r>
              <a:rPr lang="en-US" sz="1600" kern="0" spc="-80" dirty="0">
                <a:solidFill>
                  <a:schemeClr val="accent6"/>
                </a:solidFill>
              </a:rPr>
              <a:t>          |</a:t>
            </a:r>
          </a:p>
          <a:p>
            <a:pPr marL="12700" marR="5080"/>
            <a:r>
              <a:rPr lang="en-US" sz="1600" kern="0" spc="-80" dirty="0">
                <a:solidFill>
                  <a:schemeClr val="accent6"/>
                </a:solidFill>
              </a:rPr>
              <a:t>          | (User Token / PKCE)</a:t>
            </a:r>
          </a:p>
          <a:p>
            <a:pPr marL="12700" marR="5080"/>
            <a:r>
              <a:rPr lang="en-US" sz="1600" kern="0" spc="-80" dirty="0">
                <a:solidFill>
                  <a:schemeClr val="accent6"/>
                </a:solidFill>
              </a:rPr>
              <a:t>          v</a:t>
            </a:r>
          </a:p>
          <a:p>
            <a:pPr marL="12700" marR="5080"/>
            <a:r>
              <a:rPr lang="en-US" sz="1600" kern="0" spc="-80" dirty="0">
                <a:solidFill>
                  <a:schemeClr val="accent6"/>
                </a:solidFill>
              </a:rPr>
              <a:t>   BFF or API Gateway</a:t>
            </a:r>
          </a:p>
          <a:p>
            <a:pPr marL="12700" marR="5080"/>
            <a:r>
              <a:rPr lang="en-US" sz="1600" kern="0" spc="-80" dirty="0">
                <a:solidFill>
                  <a:schemeClr val="accent6"/>
                </a:solidFill>
              </a:rPr>
              <a:t>          |</a:t>
            </a:r>
          </a:p>
          <a:p>
            <a:pPr marL="12700" marR="5080"/>
            <a:r>
              <a:rPr lang="en-US" sz="1600" kern="0" spc="-80" dirty="0">
                <a:solidFill>
                  <a:schemeClr val="accent6"/>
                </a:solidFill>
              </a:rPr>
              <a:t>          | Token Exchange (optional)</a:t>
            </a:r>
          </a:p>
          <a:p>
            <a:pPr marL="12700" marR="5080"/>
            <a:r>
              <a:rPr lang="en-US" sz="1600" kern="0" spc="-80" dirty="0">
                <a:solidFill>
                  <a:schemeClr val="accent6"/>
                </a:solidFill>
              </a:rPr>
              <a:t>          v</a:t>
            </a:r>
          </a:p>
          <a:p>
            <a:pPr marL="12700" marR="5080"/>
            <a:r>
              <a:rPr lang="en-US" sz="1600" kern="0" spc="-80" dirty="0">
                <a:solidFill>
                  <a:schemeClr val="accent6"/>
                </a:solidFill>
              </a:rPr>
              <a:t>──────────────────────────────────────────</a:t>
            </a:r>
          </a:p>
          <a:p>
            <a:pPr marL="12700" marR="5080"/>
            <a:r>
              <a:rPr lang="en-US" sz="1600" kern="0" spc="-80" dirty="0">
                <a:solidFill>
                  <a:schemeClr val="accent6"/>
                </a:solidFill>
              </a:rPr>
              <a:t>   Internal Microservice Layer (Zero Trust)</a:t>
            </a:r>
          </a:p>
          <a:p>
            <a:pPr marL="12700" marR="5080"/>
            <a:r>
              <a:rPr lang="en-US" sz="1600" kern="0" spc="-80" dirty="0">
                <a:solidFill>
                  <a:schemeClr val="accent6"/>
                </a:solidFill>
              </a:rPr>
              <a:t>──────────────────────────────────────────</a:t>
            </a:r>
          </a:p>
          <a:p>
            <a:pPr marL="12700" marR="5080"/>
            <a:r>
              <a:rPr lang="en-US" sz="1600" kern="0" spc="-80" dirty="0">
                <a:solidFill>
                  <a:schemeClr val="accent6"/>
                </a:solidFill>
              </a:rPr>
              <a:t>   |                |</a:t>
            </a:r>
          </a:p>
          <a:p>
            <a:pPr marL="12700" marR="5080"/>
            <a:r>
              <a:rPr lang="en-US" sz="1600" kern="0" spc="-80" dirty="0">
                <a:solidFill>
                  <a:schemeClr val="accent6"/>
                </a:solidFill>
              </a:rPr>
              <a:t>   | (Client Cred)  | (Client Cred)</a:t>
            </a:r>
          </a:p>
          <a:p>
            <a:pPr marL="12700" marR="5080"/>
            <a:r>
              <a:rPr lang="en-US" sz="1600" kern="0" spc="-80" dirty="0">
                <a:solidFill>
                  <a:schemeClr val="accent6"/>
                </a:solidFill>
              </a:rPr>
              <a:t>   v                </a:t>
            </a:r>
            <a:r>
              <a:rPr lang="en-US" sz="1600" kern="0" spc="-80" dirty="0" err="1">
                <a:solidFill>
                  <a:schemeClr val="accent6"/>
                </a:solidFill>
              </a:rPr>
              <a:t>v</a:t>
            </a:r>
            <a:endParaRPr lang="en-US" sz="1600" kern="0" spc="-80" dirty="0">
              <a:solidFill>
                <a:schemeClr val="accent6"/>
              </a:solidFill>
            </a:endParaRPr>
          </a:p>
          <a:p>
            <a:pPr marL="12700" marR="5080"/>
            <a:r>
              <a:rPr lang="en-US" sz="1600" kern="0" spc="-80" dirty="0">
                <a:solidFill>
                  <a:schemeClr val="accent6"/>
                </a:solidFill>
              </a:rPr>
              <a:t>Service A →→→→→→→→ Service B →→→→→ External API</a:t>
            </a:r>
          </a:p>
          <a:p>
            <a:pPr marL="12700" marR="5080"/>
            <a:r>
              <a:rPr lang="en-US" sz="1600" kern="0" spc="-80" dirty="0">
                <a:solidFill>
                  <a:schemeClr val="accent6"/>
                </a:solidFill>
              </a:rPr>
              <a:t>            (Machine Token / JWT)</a:t>
            </a:r>
          </a:p>
          <a:p>
            <a:pPr marL="12700" marR="5080"/>
            <a:endParaRPr lang="en-US" sz="1600" kern="0" spc="-80" dirty="0">
              <a:solidFill>
                <a:schemeClr val="accent6"/>
              </a:solidFill>
            </a:endParaRPr>
          </a:p>
        </p:txBody>
      </p:sp>
      <p:grpSp>
        <p:nvGrpSpPr>
          <p:cNvPr id="9" name="Group 8">
            <a:extLst>
              <a:ext uri="{FF2B5EF4-FFF2-40B4-BE49-F238E27FC236}">
                <a16:creationId xmlns:a16="http://schemas.microsoft.com/office/drawing/2014/main" id="{44421663-403E-49BE-3A70-F6BA20EFC85D}"/>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1FB194EF-8143-B267-DCC8-EF502BF7CEB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22E942B5-EFD1-5C27-9A50-D48C18A27B7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023748591"/>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25B77B-61FC-B6C3-C0D9-99E3C9B8E76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63E26C0-D77F-39E7-CF83-9AF8AD9DDAD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8FE1840-C490-DBCC-B24D-4ABC209A4DD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24C6128-8ECF-A849-A96E-2A621E321E2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2FEBF80-B570-F47D-D906-66BEE5CEC1E1}"/>
              </a:ext>
            </a:extLst>
          </p:cNvPr>
          <p:cNvSpPr txBox="1">
            <a:spLocks/>
          </p:cNvSpPr>
          <p:nvPr/>
        </p:nvSpPr>
        <p:spPr>
          <a:xfrm>
            <a:off x="76200" y="767477"/>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OAuth Based Communication</a:t>
            </a:r>
          </a:p>
          <a:p>
            <a:pPr marL="12700" marR="5080"/>
            <a:r>
              <a:rPr lang="en-US" sz="1480" kern="0" spc="-80" dirty="0">
                <a:solidFill>
                  <a:schemeClr val="accent2"/>
                </a:solidFill>
              </a:rPr>
              <a:t>⭐ Recommended Best Practices</a:t>
            </a:r>
          </a:p>
          <a:p>
            <a:pPr marL="12700" marR="5080"/>
            <a:r>
              <a:rPr lang="en-US" sz="1480" kern="0" spc="-80" dirty="0">
                <a:solidFill>
                  <a:schemeClr val="accent2"/>
                </a:solidFill>
              </a:rPr>
              <a:t>1. Always Prefer Authorization Code + PKCE for UI</a:t>
            </a:r>
          </a:p>
          <a:p>
            <a:pPr marL="12700" marR="5080"/>
            <a:r>
              <a:rPr lang="en-US" sz="1480" kern="0" spc="-80" dirty="0">
                <a:solidFill>
                  <a:schemeClr val="accent6"/>
                </a:solidFill>
              </a:rPr>
              <a:t>Never expose client secrets or tokens in the browser.</a:t>
            </a:r>
          </a:p>
          <a:p>
            <a:pPr marL="12700" marR="5080"/>
            <a:r>
              <a:rPr lang="en-US" sz="1480" kern="0" spc="-80" dirty="0">
                <a:solidFill>
                  <a:schemeClr val="accent2"/>
                </a:solidFill>
              </a:rPr>
              <a:t>2. Use BFF Pattern ( especially for SPAs )</a:t>
            </a:r>
          </a:p>
          <a:p>
            <a:pPr marL="12700" marR="5080"/>
            <a:r>
              <a:rPr lang="en-US" sz="1480" kern="0" spc="-80" dirty="0">
                <a:solidFill>
                  <a:schemeClr val="accent6"/>
                </a:solidFill>
              </a:rPr>
              <a:t>Tokens stay server-side → more secure.</a:t>
            </a:r>
          </a:p>
          <a:p>
            <a:pPr marL="12700" marR="5080"/>
            <a:r>
              <a:rPr lang="en-US" sz="1480" kern="0" spc="-80" dirty="0">
                <a:solidFill>
                  <a:schemeClr val="accent2"/>
                </a:solidFill>
              </a:rPr>
              <a:t>3. Use Client Credentials for Microservices</a:t>
            </a:r>
          </a:p>
          <a:p>
            <a:pPr marL="12700" marR="5080"/>
            <a:r>
              <a:rPr lang="en-US" sz="1480" kern="0" spc="-80" dirty="0">
                <a:solidFill>
                  <a:schemeClr val="accent6"/>
                </a:solidFill>
              </a:rPr>
              <a:t>Do not forward user tokens unless required.</a:t>
            </a:r>
          </a:p>
          <a:p>
            <a:pPr marL="12700" marR="5080"/>
            <a:r>
              <a:rPr lang="en-US" sz="1480" kern="0" spc="-80" dirty="0">
                <a:solidFill>
                  <a:schemeClr val="accent2"/>
                </a:solidFill>
              </a:rPr>
              <a:t>4. Rotate Client Secrets Frequently</a:t>
            </a:r>
          </a:p>
          <a:p>
            <a:pPr marL="12700" marR="5080"/>
            <a:r>
              <a:rPr lang="en-US" sz="1480" kern="0" spc="-80" dirty="0">
                <a:solidFill>
                  <a:schemeClr val="accent2"/>
                </a:solidFill>
              </a:rPr>
              <a:t>Use:</a:t>
            </a:r>
          </a:p>
          <a:p>
            <a:pPr marL="12700" marR="5080"/>
            <a:r>
              <a:rPr lang="en-US" sz="1480" kern="0" spc="-80" dirty="0">
                <a:solidFill>
                  <a:schemeClr val="accent6"/>
                </a:solidFill>
              </a:rPr>
              <a:t>Azure Key Vault</a:t>
            </a:r>
          </a:p>
          <a:p>
            <a:pPr marL="12700" marR="5080"/>
            <a:r>
              <a:rPr lang="en-US" sz="1480" kern="0" spc="-80" dirty="0">
                <a:solidFill>
                  <a:schemeClr val="accent6"/>
                </a:solidFill>
              </a:rPr>
              <a:t>AWS Secrets Manager</a:t>
            </a:r>
          </a:p>
          <a:p>
            <a:pPr marL="12700" marR="5080"/>
            <a:r>
              <a:rPr lang="en-US" sz="1480" kern="0" spc="-80" dirty="0" err="1">
                <a:solidFill>
                  <a:schemeClr val="accent6"/>
                </a:solidFill>
              </a:rPr>
              <a:t>HashiCorp</a:t>
            </a:r>
            <a:r>
              <a:rPr lang="en-US" sz="1480" kern="0" spc="-80" dirty="0">
                <a:solidFill>
                  <a:schemeClr val="accent6"/>
                </a:solidFill>
              </a:rPr>
              <a:t> Vault</a:t>
            </a:r>
          </a:p>
          <a:p>
            <a:pPr marL="12700" marR="5080"/>
            <a:r>
              <a:rPr lang="en-US" sz="1480" kern="0" spc="-80" dirty="0">
                <a:solidFill>
                  <a:schemeClr val="accent2"/>
                </a:solidFill>
              </a:rPr>
              <a:t>5. Use Token Exchange Strategy</a:t>
            </a:r>
          </a:p>
          <a:p>
            <a:pPr marL="12700" marR="5080"/>
            <a:r>
              <a:rPr lang="en-US" sz="1480" kern="0" spc="-80" dirty="0">
                <a:solidFill>
                  <a:schemeClr val="accent2"/>
                </a:solidFill>
              </a:rPr>
              <a:t>Especially in:</a:t>
            </a:r>
          </a:p>
          <a:p>
            <a:pPr marL="12700" marR="5080"/>
            <a:r>
              <a:rPr lang="en-US" sz="1480" kern="0" spc="-80" dirty="0">
                <a:solidFill>
                  <a:schemeClr val="accent6"/>
                </a:solidFill>
              </a:rPr>
              <a:t>Zero-trust networks</a:t>
            </a:r>
          </a:p>
          <a:p>
            <a:pPr marL="12700" marR="5080"/>
            <a:r>
              <a:rPr lang="en-US" sz="1480" kern="0" spc="-80" dirty="0">
                <a:solidFill>
                  <a:schemeClr val="accent6"/>
                </a:solidFill>
              </a:rPr>
              <a:t>Multi-layer microservice systems</a:t>
            </a:r>
          </a:p>
          <a:p>
            <a:pPr marL="12700" marR="5080"/>
            <a:r>
              <a:rPr lang="en-US" sz="1480" kern="0" spc="-80" dirty="0">
                <a:solidFill>
                  <a:schemeClr val="accent2"/>
                </a:solidFill>
              </a:rPr>
              <a:t>6. Prefer Short-Lived Access Tokens</a:t>
            </a:r>
          </a:p>
          <a:p>
            <a:pPr marL="12700" marR="5080"/>
            <a:r>
              <a:rPr lang="en-US" sz="1480" kern="0" spc="-80" dirty="0">
                <a:solidFill>
                  <a:schemeClr val="accent2"/>
                </a:solidFill>
              </a:rPr>
              <a:t>Example:</a:t>
            </a:r>
          </a:p>
          <a:p>
            <a:pPr marL="12700" marR="5080"/>
            <a:r>
              <a:rPr lang="en-US" sz="1480" kern="0" spc="-80" dirty="0">
                <a:solidFill>
                  <a:schemeClr val="accent6"/>
                </a:solidFill>
              </a:rPr>
              <a:t>5–15 minutes access token</a:t>
            </a:r>
          </a:p>
          <a:p>
            <a:pPr marL="12700" marR="5080"/>
            <a:r>
              <a:rPr lang="en-US" sz="1480" kern="0" spc="-80" dirty="0">
                <a:solidFill>
                  <a:schemeClr val="accent6"/>
                </a:solidFill>
              </a:rPr>
              <a:t>Refresh token stored securely (encrypted)</a:t>
            </a:r>
          </a:p>
          <a:p>
            <a:pPr marL="12700" marR="5080"/>
            <a:endParaRPr lang="en-US" sz="1600" kern="0" spc="-80" dirty="0">
              <a:solidFill>
                <a:schemeClr val="accent6"/>
              </a:solidFill>
            </a:endParaRPr>
          </a:p>
        </p:txBody>
      </p:sp>
      <p:grpSp>
        <p:nvGrpSpPr>
          <p:cNvPr id="7" name="Group 6">
            <a:extLst>
              <a:ext uri="{FF2B5EF4-FFF2-40B4-BE49-F238E27FC236}">
                <a16:creationId xmlns:a16="http://schemas.microsoft.com/office/drawing/2014/main" id="{FEE083D0-3E96-01D5-A6E4-4AF0C04653C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690AF24-928D-A71A-B912-19FA7D7A7FE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F17DE90-5102-98D9-EFF2-4FA4BA3F8CE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188037888"/>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81754" y="767477"/>
            <a:ext cx="8624937" cy="50475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“1</a:t>
            </a:r>
            <a:r>
              <a:rPr lang="en-US" sz="2400" kern="0" spc="-80" baseline="30000" dirty="0">
                <a:solidFill>
                  <a:schemeClr val="accent2"/>
                </a:solidFill>
              </a:rPr>
              <a:t>st</a:t>
            </a:r>
            <a:r>
              <a:rPr lang="en-US" sz="2400" kern="0" spc="-80" dirty="0">
                <a:solidFill>
                  <a:schemeClr val="accent2"/>
                </a:solidFill>
              </a:rPr>
              <a:t> A” of AAA using OIDC - </a:t>
            </a:r>
          </a:p>
          <a:p>
            <a:pPr marL="12700" marR="5080"/>
            <a:r>
              <a:rPr lang="en-US" sz="1600" kern="0" spc="-80" dirty="0">
                <a:solidFill>
                  <a:schemeClr val="accent2"/>
                </a:solidFill>
              </a:rPr>
              <a:t>    </a:t>
            </a:r>
            <a:r>
              <a:rPr lang="en-US" sz="1600" kern="0" spc="-80" dirty="0">
                <a:solidFill>
                  <a:schemeClr val="accent6"/>
                </a:solidFill>
              </a:rPr>
              <a:t>OpenID Connect is an extension of OAuth2 that adds an identity layer to the authorization framework. It allows a client to verify the identity of the user and </a:t>
            </a:r>
            <a:r>
              <a:rPr lang="en-US" sz="1600" kern="0" spc="-80" dirty="0">
                <a:solidFill>
                  <a:schemeClr val="tx2"/>
                </a:solidFill>
              </a:rPr>
              <a:t>obtain basic profile information</a:t>
            </a:r>
            <a:r>
              <a:rPr lang="en-US" sz="1600" kern="0" spc="-80" dirty="0">
                <a:solidFill>
                  <a:schemeClr val="accent6"/>
                </a:solidFill>
              </a:rPr>
              <a:t>. The user logs in to an identity provider (such as Google or Facebook) using OpenID Connect, and the identity provider returns an </a:t>
            </a:r>
            <a:r>
              <a:rPr lang="en-US" sz="1600" kern="0" spc="-80" dirty="0">
                <a:solidFill>
                  <a:schemeClr val="tx2"/>
                </a:solidFill>
              </a:rPr>
              <a:t>ID token</a:t>
            </a:r>
            <a:r>
              <a:rPr lang="en-US" sz="1600" kern="0" spc="-80" dirty="0">
                <a:solidFill>
                  <a:schemeClr val="accent6"/>
                </a:solidFill>
              </a:rPr>
              <a:t> to the client. The ID token is a JSON Web Token (JWT) that contains information about the user, such as their name, email, and picture. The client can also request an access token and a refresh token from the identity provider, which can be used to access other resources.</a:t>
            </a:r>
          </a:p>
          <a:p>
            <a:pPr marL="12700" marR="5080"/>
            <a:endParaRPr lang="en-US" sz="1600" kern="0" spc="-80" dirty="0">
              <a:solidFill>
                <a:schemeClr val="accent6"/>
              </a:solidFill>
            </a:endParaRPr>
          </a:p>
          <a:p>
            <a:pPr marL="12700" marR="5080"/>
            <a:r>
              <a:rPr lang="en-US" sz="1600" kern="0" spc="-80" dirty="0">
                <a:solidFill>
                  <a:schemeClr val="accent6"/>
                </a:solidFill>
              </a:rPr>
              <a:t>     OAuth2 is only concerned with </a:t>
            </a:r>
            <a:r>
              <a:rPr lang="en-US" sz="1600" kern="0" spc="-80" dirty="0">
                <a:solidFill>
                  <a:schemeClr val="tx2"/>
                </a:solidFill>
              </a:rPr>
              <a:t>standard client credentials based authorization</a:t>
            </a:r>
            <a:r>
              <a:rPr lang="en-US" sz="1600" kern="0" spc="-80" dirty="0">
                <a:solidFill>
                  <a:schemeClr val="accent6"/>
                </a:solidFill>
              </a:rPr>
              <a:t>, while OpenID Connect is </a:t>
            </a:r>
            <a:r>
              <a:rPr lang="en-US" sz="1600" kern="0" spc="-80" dirty="0">
                <a:solidFill>
                  <a:schemeClr val="tx2"/>
                </a:solidFill>
              </a:rPr>
              <a:t>also</a:t>
            </a:r>
            <a:r>
              <a:rPr lang="en-US" sz="1600" kern="0" spc="-80" dirty="0">
                <a:solidFill>
                  <a:schemeClr val="accent6"/>
                </a:solidFill>
              </a:rPr>
              <a:t> concerned with authentication(</a:t>
            </a:r>
            <a:r>
              <a:rPr lang="en-US" sz="1600" kern="0" spc="-80" dirty="0" err="1">
                <a:solidFill>
                  <a:schemeClr val="tx2"/>
                </a:solidFill>
              </a:rPr>
              <a:t>alongwith</a:t>
            </a:r>
            <a:r>
              <a:rPr lang="en-US" sz="1600" kern="0" spc="-80" dirty="0">
                <a:solidFill>
                  <a:schemeClr val="tx2"/>
                </a:solidFill>
              </a:rPr>
              <a:t> the OpenID specific </a:t>
            </a:r>
            <a:r>
              <a:rPr lang="en-US" sz="1600" kern="0" spc="-80" dirty="0" err="1">
                <a:solidFill>
                  <a:schemeClr val="tx2"/>
                </a:solidFill>
              </a:rPr>
              <a:t>AuthZ</a:t>
            </a:r>
            <a:r>
              <a:rPr lang="en-US" sz="1600" kern="0" spc="-80" dirty="0">
                <a:solidFill>
                  <a:schemeClr val="tx2"/>
                </a:solidFill>
              </a:rPr>
              <a:t> Roles/permissions</a:t>
            </a:r>
            <a:r>
              <a:rPr lang="en-US" sz="1600" kern="0" spc="-80" dirty="0">
                <a:solidFill>
                  <a:schemeClr val="accent6"/>
                </a:solidFill>
              </a:rPr>
              <a:t>). </a:t>
            </a:r>
            <a:r>
              <a:rPr lang="en-US" sz="1600" kern="0" spc="-80" dirty="0">
                <a:solidFill>
                  <a:schemeClr val="tx2"/>
                </a:solidFill>
              </a:rPr>
              <a:t>OAuth2 does not provide a standard way to obtain user information, while OpenID Connect does.</a:t>
            </a:r>
            <a:r>
              <a:rPr lang="en-US" sz="1600" kern="0" spc="-80" dirty="0">
                <a:solidFill>
                  <a:schemeClr val="accent6"/>
                </a:solidFill>
              </a:rPr>
              <a:t> </a:t>
            </a:r>
            <a:r>
              <a:rPr lang="en-US" sz="1600" kern="0" spc="-80" dirty="0">
                <a:solidFill>
                  <a:schemeClr val="tx2"/>
                </a:solidFill>
              </a:rPr>
              <a:t>OAuth2 relies on access tokens, which are opaque strings that can only be validated by the resource server, while OpenID Connect relies on ID tokens, which are self-contained and can be validated by the client.</a:t>
            </a:r>
            <a:r>
              <a:rPr lang="en-US" sz="1600" kern="0" spc="-80" dirty="0">
                <a:solidFill>
                  <a:schemeClr val="accent6"/>
                </a:solidFill>
              </a:rPr>
              <a:t> OAuth2 is more flexible and can be used for various types of applications, while OpenID Connect is more specific and </a:t>
            </a:r>
            <a:r>
              <a:rPr lang="en-US" sz="1600" kern="0" spc="-80" dirty="0">
                <a:solidFill>
                  <a:schemeClr val="tx2"/>
                </a:solidFill>
              </a:rPr>
              <a:t>can be used for single sign-on (SSO) or social login or any federation service.</a:t>
            </a:r>
          </a:p>
          <a:p>
            <a:pPr marL="12700" marR="5080"/>
            <a:r>
              <a:rPr lang="en-US" sz="1500" kern="0" spc="-80" dirty="0">
                <a:solidFill>
                  <a:schemeClr val="tx2"/>
                </a:solidFill>
              </a:rPr>
              <a:t> </a:t>
            </a:r>
            <a:r>
              <a:rPr lang="en-US" sz="1500" dirty="0">
                <a:hlinkClick r:id="rId2"/>
              </a:rPr>
              <a:t>How to validate an OpenID Connect ID token · Blog · Connect2id</a:t>
            </a:r>
            <a:r>
              <a:rPr lang="en-US" sz="1600" kern="0" spc="-80" dirty="0">
                <a:solidFill>
                  <a:schemeClr val="tx2"/>
                </a:solidFill>
              </a:rPr>
              <a:t> </a:t>
            </a:r>
          </a:p>
          <a:p>
            <a:pPr marL="12700" marR="5080"/>
            <a:endParaRPr lang="en-US" sz="1600" kern="0" spc="-80" dirty="0">
              <a:solidFill>
                <a:schemeClr val="accent6"/>
              </a:solidFill>
            </a:endParaRPr>
          </a:p>
        </p:txBody>
      </p:sp>
      <p:grpSp>
        <p:nvGrpSpPr>
          <p:cNvPr id="7" name="Group 6">
            <a:extLst>
              <a:ext uri="{FF2B5EF4-FFF2-40B4-BE49-F238E27FC236}">
                <a16:creationId xmlns:a16="http://schemas.microsoft.com/office/drawing/2014/main" id="{D2152B2C-0B5F-CA53-045F-646DA64B7FC3}"/>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371EBBD-ADD9-1FDB-E0B4-D4789BB71CF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354E9CE-A7A2-71B0-543F-449A549FC7D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841470041"/>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7245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5721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9" name="object 2">
            <a:extLst>
              <a:ext uri="{FF2B5EF4-FFF2-40B4-BE49-F238E27FC236}">
                <a16:creationId xmlns:a16="http://schemas.microsoft.com/office/drawing/2014/main" id="{AF808C92-1EBD-C20B-9798-F73E7512FB78}"/>
              </a:ext>
            </a:extLst>
          </p:cNvPr>
          <p:cNvSpPr txBox="1">
            <a:spLocks/>
          </p:cNvSpPr>
          <p:nvPr/>
        </p:nvSpPr>
        <p:spPr>
          <a:xfrm>
            <a:off x="0" y="8382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Web SSO</a:t>
            </a:r>
            <a:r>
              <a:rPr lang="en-US" sz="1500" kern="0" spc="-80" dirty="0">
                <a:solidFill>
                  <a:schemeClr val="accent2"/>
                </a:solidFill>
              </a:rPr>
              <a:t> </a:t>
            </a:r>
            <a:r>
              <a:rPr lang="en-US" sz="2400" kern="0" spc="-80" dirty="0">
                <a:solidFill>
                  <a:schemeClr val="accent2"/>
                </a:solidFill>
              </a:rPr>
              <a:t>–</a:t>
            </a:r>
            <a:r>
              <a:rPr lang="en-US" sz="1600" kern="0" spc="-80" dirty="0">
                <a:solidFill>
                  <a:schemeClr val="accent2"/>
                </a:solidFill>
              </a:rPr>
              <a:t>  </a:t>
            </a:r>
          </a:p>
        </p:txBody>
      </p:sp>
      <p:pic>
        <p:nvPicPr>
          <p:cNvPr id="1026" name="Picture 2" descr="authentication - Web SSO with external or partner applications - Stack  Overflow">
            <a:extLst>
              <a:ext uri="{FF2B5EF4-FFF2-40B4-BE49-F238E27FC236}">
                <a16:creationId xmlns:a16="http://schemas.microsoft.com/office/drawing/2014/main" id="{963B0D14-F7C1-3459-C196-8A98D363F6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276" y="1207532"/>
            <a:ext cx="8717988" cy="3138607"/>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E3E2117D-A8E2-B312-EC9D-97F5D8AAEA69}"/>
              </a:ext>
            </a:extLst>
          </p:cNvPr>
          <p:cNvSpPr txBox="1">
            <a:spLocks/>
          </p:cNvSpPr>
          <p:nvPr/>
        </p:nvSpPr>
        <p:spPr>
          <a:xfrm>
            <a:off x="113275" y="4389328"/>
            <a:ext cx="8624937" cy="15542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6"/>
                </a:solidFill>
              </a:rPr>
              <a:t>Web SSO can be used for UI based Integration of nested/cross app pages with separate domains within the same organization or with external partners.</a:t>
            </a:r>
          </a:p>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3"/>
              </a:rPr>
              <a:t>Web SSO with external or partner applications - Stack Overflow</a:t>
            </a:r>
            <a:r>
              <a:rPr lang="en-US" sz="1500" kern="0" spc="-80" dirty="0">
                <a:solidFill>
                  <a:schemeClr val="accent2"/>
                </a:solidFill>
              </a:rPr>
              <a:t> </a:t>
            </a:r>
          </a:p>
          <a:p>
            <a:pPr marL="12700" marR="5080"/>
            <a:r>
              <a:rPr lang="en-US" sz="1500" dirty="0">
                <a:hlinkClick r:id="rId4"/>
              </a:rPr>
              <a:t>How does Single Sign-On (SSO) work? - by Dr Milan </a:t>
            </a:r>
            <a:r>
              <a:rPr lang="en-US" sz="1500" dirty="0" err="1">
                <a:hlinkClick r:id="rId4"/>
              </a:rPr>
              <a:t>Milanović</a:t>
            </a:r>
            <a:r>
              <a:rPr lang="en-US" sz="1500" kern="0" spc="-80" dirty="0">
                <a:solidFill>
                  <a:schemeClr val="accent2"/>
                </a:solidFill>
              </a:rPr>
              <a:t> </a:t>
            </a:r>
          </a:p>
          <a:p>
            <a:pPr marL="12700" marR="5080"/>
            <a:r>
              <a:rPr lang="en-IN" sz="1500" dirty="0">
                <a:hlinkClick r:id="rId5"/>
              </a:rPr>
              <a:t>SSO Explained| LinkedIn</a:t>
            </a:r>
            <a:endParaRPr lang="en-IN" sz="1500" dirty="0"/>
          </a:p>
        </p:txBody>
      </p:sp>
      <p:grpSp>
        <p:nvGrpSpPr>
          <p:cNvPr id="8" name="Group 7">
            <a:extLst>
              <a:ext uri="{FF2B5EF4-FFF2-40B4-BE49-F238E27FC236}">
                <a16:creationId xmlns:a16="http://schemas.microsoft.com/office/drawing/2014/main" id="{D71B2AC3-FC51-7DD2-736E-0BB04A7AF154}"/>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87AF8804-F2D3-31B4-60B8-192590D2649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3AE25FF3-15F0-28A2-2200-7F89D983D0C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882232596"/>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0" y="767477"/>
            <a:ext cx="8624937" cy="35994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Advanced Users Management using Okta - Account Linking vs Org2Org - </a:t>
            </a:r>
          </a:p>
          <a:p>
            <a:pPr marL="12700" marR="5080"/>
            <a:r>
              <a:rPr lang="en-US" sz="1400" kern="0" spc="-80" dirty="0">
                <a:solidFill>
                  <a:schemeClr val="accent2"/>
                </a:solidFill>
              </a:rPr>
              <a:t>    </a:t>
            </a:r>
            <a:r>
              <a:rPr lang="en-US" sz="1430" kern="0" spc="-80" dirty="0">
                <a:solidFill>
                  <a:schemeClr val="accent6"/>
                </a:solidFill>
              </a:rPr>
              <a:t>Account linking &amp; Org2Org are both Okta features that can be used to connect organizations:  </a:t>
            </a:r>
          </a:p>
          <a:p>
            <a:pPr marL="12700" marR="5080"/>
            <a:r>
              <a:rPr lang="en-US" sz="1430" kern="0" spc="-80" dirty="0">
                <a:solidFill>
                  <a:srgbClr val="C00000"/>
                </a:solidFill>
              </a:rPr>
              <a:t>(Partner) Account linking</a:t>
            </a:r>
            <a:br>
              <a:rPr lang="en-US" sz="1430" kern="0" spc="-80" dirty="0">
                <a:solidFill>
                  <a:schemeClr val="accent6"/>
                </a:solidFill>
              </a:rPr>
            </a:br>
            <a:r>
              <a:rPr lang="en-US" sz="1430" kern="0" spc="-80" dirty="0">
                <a:solidFill>
                  <a:schemeClr val="accent6"/>
                </a:solidFill>
              </a:rPr>
              <a:t>Allows users to sign in to an app using multiple identity providers, and Okta links all of those profiles to a single Okta user. For example, if a user signs in to an app using a different identity provider than they used for registration, account linking can establish that the user owns both identities. This allows the user to sign in from either account. Account linking is configured at the identity provider level. </a:t>
            </a:r>
            <a:br>
              <a:rPr lang="en-US" sz="1430" kern="0" spc="-80" dirty="0">
                <a:solidFill>
                  <a:schemeClr val="accent6"/>
                </a:solidFill>
              </a:rPr>
            </a:br>
            <a:r>
              <a:rPr lang="en-US" sz="1430" kern="0" spc="-80" dirty="0">
                <a:solidFill>
                  <a:srgbClr val="C00000"/>
                </a:solidFill>
              </a:rPr>
              <a:t>Org2Org</a:t>
            </a:r>
            <a:r>
              <a:rPr lang="en-US" sz="1430" kern="0" spc="-80" dirty="0">
                <a:solidFill>
                  <a:schemeClr val="accent6"/>
                </a:solidFill>
              </a:rPr>
              <a:t>    </a:t>
            </a:r>
            <a:br>
              <a:rPr lang="en-US" sz="1430" kern="0" spc="-80" dirty="0">
                <a:solidFill>
                  <a:schemeClr val="accent6"/>
                </a:solidFill>
              </a:rPr>
            </a:br>
            <a:r>
              <a:rPr lang="en-US" sz="1430" kern="0" spc="-80" dirty="0">
                <a:solidFill>
                  <a:schemeClr val="accent6"/>
                </a:solidFill>
              </a:rPr>
              <a:t>Connects multiple source organizations to a single target organization, allowing the source organizations to push users to the target organization. It's designed for a hub and spoke configuration, where the source organizations are the spokes and the target organization is the hub. Org2Org supports Okta's IdP-initiated SSO and JIT (Just In Time) Provisioning features. When configuring the SAML IdP in the hub organization, it's recommended to disable account linking if possible.</a:t>
            </a:r>
          </a:p>
        </p:txBody>
      </p:sp>
      <p:sp>
        <p:nvSpPr>
          <p:cNvPr id="9" name="TextBox 8">
            <a:extLst>
              <a:ext uri="{FF2B5EF4-FFF2-40B4-BE49-F238E27FC236}">
                <a16:creationId xmlns:a16="http://schemas.microsoft.com/office/drawing/2014/main" id="{919024F5-4281-0D8A-6DB7-F55236C5F5C6}"/>
              </a:ext>
            </a:extLst>
          </p:cNvPr>
          <p:cNvSpPr txBox="1"/>
          <p:nvPr/>
        </p:nvSpPr>
        <p:spPr>
          <a:xfrm>
            <a:off x="-76200" y="4609237"/>
            <a:ext cx="8839200" cy="1754326"/>
          </a:xfrm>
          <a:prstGeom prst="rect">
            <a:avLst/>
          </a:prstGeom>
          <a:noFill/>
        </p:spPr>
        <p:txBody>
          <a:bodyPr wrap="square">
            <a:spAutoFit/>
          </a:bodyPr>
          <a:lstStyle/>
          <a:p>
            <a:pPr marL="12700" marR="5080"/>
            <a:r>
              <a:rPr lang="en-US" sz="1430" b="1" kern="0" spc="-80" dirty="0">
                <a:solidFill>
                  <a:srgbClr val="C00000"/>
                </a:solidFill>
                <a:latin typeface="Lucida Sans"/>
                <a:ea typeface="+mj-ea"/>
              </a:rPr>
              <a:t>For Further Exploration – </a:t>
            </a:r>
          </a:p>
          <a:p>
            <a:pPr marL="12700" marR="5080"/>
            <a:r>
              <a:rPr lang="en-IN" dirty="0">
                <a:hlinkClick r:id="rId2"/>
              </a:rPr>
              <a:t>User Account Linking</a:t>
            </a:r>
            <a:endParaRPr lang="en-IN" dirty="0"/>
          </a:p>
          <a:p>
            <a:pPr marL="12700" marR="5080"/>
            <a:r>
              <a:rPr lang="en-IN" dirty="0">
                <a:hlinkClick r:id="rId3"/>
              </a:rPr>
              <a:t>Auth0 Organizations</a:t>
            </a:r>
            <a:r>
              <a:rPr lang="en-US" kern="0" spc="-80" dirty="0">
                <a:solidFill>
                  <a:schemeClr val="accent2"/>
                </a:solidFill>
              </a:rPr>
              <a:t>  </a:t>
            </a:r>
          </a:p>
          <a:p>
            <a:pPr marL="12700" marR="5080"/>
            <a:r>
              <a:rPr lang="en-US" sz="1800" dirty="0">
                <a:hlinkClick r:id="rId4"/>
              </a:rPr>
              <a:t>Account Linking and SSO - Auth0 Community</a:t>
            </a:r>
            <a:r>
              <a:rPr lang="en-US" sz="1800" kern="0" spc="-80" dirty="0">
                <a:solidFill>
                  <a:schemeClr val="accent2"/>
                </a:solidFill>
              </a:rPr>
              <a:t> </a:t>
            </a:r>
            <a:r>
              <a:rPr lang="en-US" sz="1800" kern="0" spc="-80" dirty="0">
                <a:solidFill>
                  <a:schemeClr val="accent6"/>
                </a:solidFill>
              </a:rPr>
              <a:t>(Account Linking is more at data level while SSO is more at application level) </a:t>
            </a:r>
          </a:p>
          <a:p>
            <a:pPr marL="12700" marR="5080"/>
            <a:r>
              <a:rPr lang="en-US" kern="0" spc="-80" dirty="0">
                <a:solidFill>
                  <a:schemeClr val="accent2"/>
                </a:solidFill>
              </a:rPr>
              <a:t> </a:t>
            </a:r>
            <a:endParaRPr lang="en-US" sz="1800" kern="0" spc="-80" dirty="0">
              <a:solidFill>
                <a:schemeClr val="accent2"/>
              </a:solidFill>
            </a:endParaRPr>
          </a:p>
        </p:txBody>
      </p:sp>
      <p:grpSp>
        <p:nvGrpSpPr>
          <p:cNvPr id="7" name="Group 6">
            <a:extLst>
              <a:ext uri="{FF2B5EF4-FFF2-40B4-BE49-F238E27FC236}">
                <a16:creationId xmlns:a16="http://schemas.microsoft.com/office/drawing/2014/main" id="{4B2E4E87-6602-A97F-1695-D97201337511}"/>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6482A6A-056A-3BED-DDF2-1DF5F061A4A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8A5E9577-149B-8AF4-8DA0-503CF718D92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711724887"/>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973BB-2E65-562F-8FD0-E53CAD7CE98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200A0F6-2B49-1BC0-17FE-B9FDB1E2F38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42EA764-0CEC-63B4-9742-08B50324A2C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30265A9-7CC9-6206-27A5-C3632F4637A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A4C40A5-8FDB-ED8F-0875-4BDFDCB0EE2D}"/>
              </a:ext>
            </a:extLst>
          </p:cNvPr>
          <p:cNvSpPr txBox="1">
            <a:spLocks/>
          </p:cNvSpPr>
          <p:nvPr/>
        </p:nvSpPr>
        <p:spPr>
          <a:xfrm>
            <a:off x="0" y="767477"/>
            <a:ext cx="8624937" cy="50475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AuthN and </a:t>
            </a:r>
            <a:r>
              <a:rPr lang="en-US" sz="2400" kern="0" spc="-80" dirty="0" err="1">
                <a:solidFill>
                  <a:schemeClr val="accent2"/>
                </a:solidFill>
              </a:rPr>
              <a:t>AuthZ</a:t>
            </a:r>
            <a:r>
              <a:rPr lang="en-US" sz="2400" kern="0" spc="-80" dirty="0">
                <a:solidFill>
                  <a:schemeClr val="accent2"/>
                </a:solidFill>
              </a:rPr>
              <a:t> Providers</a:t>
            </a:r>
          </a:p>
          <a:p>
            <a:pPr marL="12700" marR="5080"/>
            <a:r>
              <a:rPr lang="en-US" sz="1600" kern="0" spc="-80" dirty="0">
                <a:solidFill>
                  <a:schemeClr val="accent6"/>
                </a:solidFill>
              </a:rPr>
              <a:t>AuthN (Authentication) providers verify a user's identity, while </a:t>
            </a:r>
            <a:r>
              <a:rPr lang="en-US" sz="1600" kern="0" spc="-80" dirty="0" err="1">
                <a:solidFill>
                  <a:schemeClr val="accent6"/>
                </a:solidFill>
              </a:rPr>
              <a:t>AuthZ</a:t>
            </a:r>
            <a:r>
              <a:rPr lang="en-US" sz="1600" kern="0" spc="-80" dirty="0">
                <a:solidFill>
                  <a:schemeClr val="accent6"/>
                </a:solidFill>
              </a:rPr>
              <a:t> (Authorization) providers determine what authenticated users are allowed to do. Popular AuthN providers include Auth0, Microsoft Entra ID, and </a:t>
            </a:r>
            <a:r>
              <a:rPr lang="en-US" sz="1600" kern="0" spc="-80" dirty="0" err="1">
                <a:solidFill>
                  <a:schemeClr val="accent6"/>
                </a:solidFill>
              </a:rPr>
              <a:t>Keycloak</a:t>
            </a:r>
            <a:r>
              <a:rPr lang="en-US" sz="1600" kern="0" spc="-80" dirty="0">
                <a:solidFill>
                  <a:schemeClr val="accent6"/>
                </a:solidFill>
              </a:rPr>
              <a:t>, which handle tasks like password validation or SSO. </a:t>
            </a:r>
            <a:r>
              <a:rPr lang="en-US" sz="1600" kern="0" spc="-80" dirty="0" err="1">
                <a:solidFill>
                  <a:schemeClr val="accent6"/>
                </a:solidFill>
              </a:rPr>
              <a:t>AuthZ</a:t>
            </a:r>
            <a:r>
              <a:rPr lang="en-US" sz="1600" kern="0" spc="-80" dirty="0">
                <a:solidFill>
                  <a:schemeClr val="accent6"/>
                </a:solidFill>
              </a:rPr>
              <a:t> providers often use models like Role-Based Access Control (RBAC) and might include systems like the Open Policy Agent (OPA) or </a:t>
            </a:r>
            <a:r>
              <a:rPr lang="en-US" sz="1600" kern="0" spc="-80" dirty="0" err="1">
                <a:solidFill>
                  <a:schemeClr val="accent6"/>
                </a:solidFill>
              </a:rPr>
              <a:t>OpenFGA</a:t>
            </a:r>
            <a:r>
              <a:rPr lang="en-US" sz="1600" kern="0" spc="-80" dirty="0">
                <a:solidFill>
                  <a:schemeClr val="accent6"/>
                </a:solidFill>
              </a:rPr>
              <a:t> to enforce permissions based on policies.</a:t>
            </a:r>
            <a:br>
              <a:rPr lang="en-US" sz="1600" kern="0" spc="-80" dirty="0">
                <a:solidFill>
                  <a:schemeClr val="accent6"/>
                </a:solidFill>
              </a:rPr>
            </a:br>
            <a:r>
              <a:rPr lang="en-US" sz="1600" kern="0" spc="-80" dirty="0">
                <a:solidFill>
                  <a:schemeClr val="accent2"/>
                </a:solidFill>
              </a:rPr>
              <a:t>AuthN (Authentication) Providers.</a:t>
            </a:r>
            <a:br>
              <a:rPr lang="en-US" sz="1600" kern="0" spc="-80" dirty="0">
                <a:solidFill>
                  <a:schemeClr val="accent6"/>
                </a:solidFill>
              </a:rPr>
            </a:br>
            <a:r>
              <a:rPr lang="en-US" sz="1600" kern="0" spc="-80" dirty="0">
                <a:solidFill>
                  <a:schemeClr val="accent6"/>
                </a:solidFill>
              </a:rPr>
              <a:t>These services focus on proving a user's identity.</a:t>
            </a:r>
            <a:br>
              <a:rPr lang="en-US" sz="1600" kern="0" spc="-80" dirty="0">
                <a:solidFill>
                  <a:schemeClr val="accent6"/>
                </a:solidFill>
              </a:rPr>
            </a:br>
            <a:r>
              <a:rPr lang="en-US" sz="1600" kern="0" spc="-80" dirty="0">
                <a:solidFill>
                  <a:schemeClr val="accent2"/>
                </a:solidFill>
              </a:rPr>
              <a:t>Purpose:</a:t>
            </a:r>
            <a:r>
              <a:rPr lang="en-US" sz="1600" kern="0" spc="-80" dirty="0">
                <a:solidFill>
                  <a:schemeClr val="accent6"/>
                </a:solidFill>
              </a:rPr>
              <a:t> To confirm that a user is who they claim to be.</a:t>
            </a:r>
            <a:br>
              <a:rPr lang="en-US" sz="1600" kern="0" spc="-80" dirty="0">
                <a:solidFill>
                  <a:schemeClr val="accent6"/>
                </a:solidFill>
              </a:rPr>
            </a:br>
            <a:r>
              <a:rPr lang="en-US" sz="1600" kern="0" spc="-80" dirty="0">
                <a:solidFill>
                  <a:schemeClr val="accent2"/>
                </a:solidFill>
              </a:rPr>
              <a:t>Methods:</a:t>
            </a:r>
            <a:r>
              <a:rPr lang="en-US" sz="1600" kern="0" spc="-80" dirty="0">
                <a:solidFill>
                  <a:schemeClr val="accent6"/>
                </a:solidFill>
              </a:rPr>
              <a:t> Often involves username and password, multi-factor authentication (MFA), biometrics, or tokens.</a:t>
            </a:r>
            <a:br>
              <a:rPr lang="en-US" sz="1600" kern="0" spc="-80" dirty="0">
                <a:solidFill>
                  <a:schemeClr val="accent6"/>
                </a:solidFill>
              </a:rPr>
            </a:br>
            <a:r>
              <a:rPr lang="en-US" sz="1600" kern="0" spc="-80" dirty="0">
                <a:solidFill>
                  <a:schemeClr val="accent2"/>
                </a:solidFill>
              </a:rPr>
              <a:t>Common Providers:</a:t>
            </a:r>
            <a:br>
              <a:rPr lang="en-US" sz="1600" kern="0" spc="-80" dirty="0">
                <a:solidFill>
                  <a:schemeClr val="accent6"/>
                </a:solidFill>
              </a:rPr>
            </a:br>
            <a:r>
              <a:rPr lang="en-US" sz="1600" kern="0" spc="-80" dirty="0">
                <a:solidFill>
                  <a:schemeClr val="accent2"/>
                </a:solidFill>
              </a:rPr>
              <a:t>Auth0:</a:t>
            </a:r>
            <a:r>
              <a:rPr lang="en-US" sz="1600" kern="0" spc="-80" dirty="0">
                <a:solidFill>
                  <a:schemeClr val="accent6"/>
                </a:solidFill>
              </a:rPr>
              <a:t> A popular platform offering authentication services and single sign-on (SSO).</a:t>
            </a:r>
            <a:br>
              <a:rPr lang="en-US" sz="1600" kern="0" spc="-80" dirty="0">
                <a:solidFill>
                  <a:schemeClr val="accent6"/>
                </a:solidFill>
              </a:rPr>
            </a:br>
            <a:r>
              <a:rPr lang="en-US" sz="1600" kern="0" spc="-80" dirty="0">
                <a:solidFill>
                  <a:schemeClr val="accent2"/>
                </a:solidFill>
              </a:rPr>
              <a:t>Microsoft Entra ID (formerly Azure AD):</a:t>
            </a:r>
            <a:r>
              <a:rPr lang="en-US" sz="1600" kern="0" spc="-80" dirty="0">
                <a:solidFill>
                  <a:schemeClr val="accent6"/>
                </a:solidFill>
              </a:rPr>
              <a:t> A comprehensive identity and access management service.</a:t>
            </a:r>
            <a:br>
              <a:rPr lang="en-US" sz="1600" kern="0" spc="-80" dirty="0">
                <a:solidFill>
                  <a:schemeClr val="accent6"/>
                </a:solidFill>
              </a:rPr>
            </a:br>
            <a:r>
              <a:rPr lang="en-US" sz="1600" kern="0" spc="-80" dirty="0" err="1">
                <a:solidFill>
                  <a:schemeClr val="accent2"/>
                </a:solidFill>
              </a:rPr>
              <a:t>Keycloak</a:t>
            </a:r>
            <a:r>
              <a:rPr lang="en-US" sz="1600" kern="0" spc="-80" dirty="0">
                <a:solidFill>
                  <a:schemeClr val="accent2"/>
                </a:solidFill>
              </a:rPr>
              <a:t>:</a:t>
            </a:r>
            <a:r>
              <a:rPr lang="en-US" sz="1600" kern="0" spc="-80" dirty="0">
                <a:solidFill>
                  <a:schemeClr val="accent6"/>
                </a:solidFill>
              </a:rPr>
              <a:t> An open-source identity and access management solution with SSO and user management features.</a:t>
            </a:r>
            <a:br>
              <a:rPr lang="en-US" sz="1600" kern="0" spc="-80" dirty="0">
                <a:solidFill>
                  <a:schemeClr val="accent6"/>
                </a:solidFill>
              </a:rPr>
            </a:br>
            <a:r>
              <a:rPr lang="en-US" sz="1600" kern="0" spc="-80" dirty="0">
                <a:solidFill>
                  <a:schemeClr val="accent2"/>
                </a:solidFill>
              </a:rPr>
              <a:t>Firebase Auth:</a:t>
            </a:r>
            <a:r>
              <a:rPr lang="en-US" sz="1600" kern="0" spc="-80" dirty="0">
                <a:solidFill>
                  <a:schemeClr val="accent6"/>
                </a:solidFill>
              </a:rPr>
              <a:t> Provides authentication services for web and mobile applications.</a:t>
            </a:r>
            <a:br>
              <a:rPr lang="en-US" sz="1600" kern="0" spc="-80" dirty="0">
                <a:solidFill>
                  <a:schemeClr val="accent6"/>
                </a:solidFill>
              </a:rPr>
            </a:br>
            <a:endParaRPr lang="en-US" sz="1600" kern="0" spc="-80" dirty="0">
              <a:solidFill>
                <a:schemeClr val="accent2"/>
              </a:solidFill>
            </a:endParaRPr>
          </a:p>
        </p:txBody>
      </p:sp>
      <p:grpSp>
        <p:nvGrpSpPr>
          <p:cNvPr id="7" name="Group 6">
            <a:extLst>
              <a:ext uri="{FF2B5EF4-FFF2-40B4-BE49-F238E27FC236}">
                <a16:creationId xmlns:a16="http://schemas.microsoft.com/office/drawing/2014/main" id="{447F3DAE-6718-2658-C524-67B71493BFA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4BAFFDDF-BD45-72CF-01D9-FCDC648209E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F88F2C94-07D3-0C6B-5C4E-3C1A07C1EC0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959881602"/>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1DCD9-04D8-C936-0BA4-B655D17BE91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6C30C5F-1729-20F1-83C4-10FA7EE0C71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D84BD94-AA86-C539-A393-A60155C91C7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DCAF85C-4799-88D0-5948-9DF2BB38BF0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C8EB733-0D11-1EA9-077C-8F9487F1D008}"/>
              </a:ext>
            </a:extLst>
          </p:cNvPr>
          <p:cNvSpPr txBox="1">
            <a:spLocks/>
          </p:cNvSpPr>
          <p:nvPr/>
        </p:nvSpPr>
        <p:spPr>
          <a:xfrm>
            <a:off x="76200" y="741802"/>
            <a:ext cx="8624937" cy="535531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AuthN and </a:t>
            </a:r>
            <a:r>
              <a:rPr lang="en-US" sz="2400" kern="0" spc="-80" dirty="0" err="1">
                <a:solidFill>
                  <a:schemeClr val="accent2"/>
                </a:solidFill>
              </a:rPr>
              <a:t>AuthZ</a:t>
            </a:r>
            <a:r>
              <a:rPr lang="en-US" sz="2400" kern="0" spc="-80" dirty="0">
                <a:solidFill>
                  <a:schemeClr val="accent2"/>
                </a:solidFill>
              </a:rPr>
              <a:t> Providers</a:t>
            </a:r>
          </a:p>
          <a:p>
            <a:pPr marL="12700" marR="5080"/>
            <a:r>
              <a:rPr lang="en-US" sz="1500" kern="0" spc="-80" dirty="0" err="1">
                <a:solidFill>
                  <a:schemeClr val="accent2"/>
                </a:solidFill>
              </a:rPr>
              <a:t>AuthZ</a:t>
            </a:r>
            <a:r>
              <a:rPr lang="en-US" sz="1500" kern="0" spc="-80" dirty="0">
                <a:solidFill>
                  <a:schemeClr val="accent2"/>
                </a:solidFill>
              </a:rPr>
              <a:t> (Authorization) Providers.</a:t>
            </a:r>
            <a:br>
              <a:rPr lang="en-US" sz="1500" kern="0" spc="-80" dirty="0">
                <a:solidFill>
                  <a:schemeClr val="accent6"/>
                </a:solidFill>
              </a:rPr>
            </a:br>
            <a:r>
              <a:rPr lang="en-US" sz="1500" kern="0" spc="-80" dirty="0">
                <a:solidFill>
                  <a:schemeClr val="accent6"/>
                </a:solidFill>
              </a:rPr>
              <a:t>These services manage what an authenticated user can access and do.</a:t>
            </a:r>
            <a:br>
              <a:rPr lang="en-US" sz="1500" kern="0" spc="-80" dirty="0">
                <a:solidFill>
                  <a:schemeClr val="accent6"/>
                </a:solidFill>
              </a:rPr>
            </a:br>
            <a:r>
              <a:rPr lang="en-US" sz="1500" kern="0" spc="-80" dirty="0">
                <a:solidFill>
                  <a:schemeClr val="accent2"/>
                </a:solidFill>
              </a:rPr>
              <a:t>Purpose:</a:t>
            </a:r>
            <a:r>
              <a:rPr lang="en-US" sz="1500" kern="0" spc="-80" dirty="0">
                <a:solidFill>
                  <a:schemeClr val="accent6"/>
                </a:solidFill>
              </a:rPr>
              <a:t> To define and enforce permissions and access rights for users.</a:t>
            </a:r>
            <a:br>
              <a:rPr lang="en-US" sz="1500" kern="0" spc="-80" dirty="0">
                <a:solidFill>
                  <a:schemeClr val="accent6"/>
                </a:solidFill>
              </a:rPr>
            </a:br>
            <a:r>
              <a:rPr lang="en-US" sz="1500" kern="0" spc="-80" dirty="0">
                <a:solidFill>
                  <a:schemeClr val="accent2"/>
                </a:solidFill>
              </a:rPr>
              <a:t>Models:</a:t>
            </a:r>
            <a:r>
              <a:rPr lang="en-US" sz="1500" kern="0" spc="-80" dirty="0">
                <a:solidFill>
                  <a:schemeClr val="accent6"/>
                </a:solidFill>
              </a:rPr>
              <a:t> Often uses models like </a:t>
            </a:r>
            <a:r>
              <a:rPr lang="en-US" sz="1500" kern="0" spc="-80" dirty="0">
                <a:solidFill>
                  <a:schemeClr val="accent2"/>
                </a:solidFill>
              </a:rPr>
              <a:t>Role-Based Access Control (RBAC), Attribute-Based Access Control (ABAC), or relationship-based access control (ReBAC)</a:t>
            </a:r>
            <a:r>
              <a:rPr lang="en-US" sz="1500" kern="0" spc="-80" dirty="0">
                <a:solidFill>
                  <a:schemeClr val="accent6"/>
                </a:solidFill>
              </a:rPr>
              <a:t>.</a:t>
            </a:r>
            <a:br>
              <a:rPr lang="en-US" sz="1500" kern="0" spc="-80" dirty="0">
                <a:solidFill>
                  <a:schemeClr val="accent6"/>
                </a:solidFill>
              </a:rPr>
            </a:br>
            <a:r>
              <a:rPr lang="en-US" sz="1500" kern="0" spc="-80" dirty="0">
                <a:solidFill>
                  <a:schemeClr val="accent2"/>
                </a:solidFill>
              </a:rPr>
              <a:t>Common Providers/Systems:</a:t>
            </a:r>
            <a:br>
              <a:rPr lang="en-US" sz="1500" kern="0" spc="-80" dirty="0">
                <a:solidFill>
                  <a:schemeClr val="accent6"/>
                </a:solidFill>
              </a:rPr>
            </a:br>
            <a:r>
              <a:rPr lang="en-US" sz="1500" kern="0" spc="-80" dirty="0">
                <a:solidFill>
                  <a:schemeClr val="accent2"/>
                </a:solidFill>
              </a:rPr>
              <a:t>Open Policy Agent (OPA):</a:t>
            </a:r>
            <a:r>
              <a:rPr lang="en-US" sz="1500" kern="0" spc="-80" dirty="0">
                <a:solidFill>
                  <a:schemeClr val="accent6"/>
                </a:solidFill>
              </a:rPr>
              <a:t> A general-purpose policy engine for enforcing authorization logic using the Rego policy language.</a:t>
            </a:r>
            <a:br>
              <a:rPr lang="en-US" sz="1500" kern="0" spc="-80" dirty="0">
                <a:solidFill>
                  <a:schemeClr val="accent6"/>
                </a:solidFill>
              </a:rPr>
            </a:br>
            <a:r>
              <a:rPr lang="en-US" sz="1500" kern="0" spc="-80" dirty="0" err="1">
                <a:solidFill>
                  <a:schemeClr val="accent2"/>
                </a:solidFill>
              </a:rPr>
              <a:t>OpenFGA</a:t>
            </a:r>
            <a:r>
              <a:rPr lang="en-US" sz="1500" kern="0" spc="-80" dirty="0">
                <a:solidFill>
                  <a:schemeClr val="accent2"/>
                </a:solidFill>
              </a:rPr>
              <a:t>: </a:t>
            </a:r>
            <a:r>
              <a:rPr lang="en-US" sz="1500" kern="0" spc="-80" dirty="0">
                <a:solidFill>
                  <a:schemeClr val="accent6"/>
                </a:solidFill>
              </a:rPr>
              <a:t>An open-source project based on Google's Zanzibar authorization system, using a relationship-based access model.</a:t>
            </a:r>
            <a:br>
              <a:rPr lang="en-US" sz="1500" kern="0" spc="-80" dirty="0">
                <a:solidFill>
                  <a:schemeClr val="accent6"/>
                </a:solidFill>
              </a:rPr>
            </a:br>
            <a:r>
              <a:rPr lang="en-US" sz="1500" kern="0" spc="-80" dirty="0">
                <a:solidFill>
                  <a:schemeClr val="accent2"/>
                </a:solidFill>
              </a:rPr>
              <a:t>Topaz: </a:t>
            </a:r>
            <a:r>
              <a:rPr lang="en-US" sz="1500" kern="0" spc="-80" dirty="0">
                <a:solidFill>
                  <a:schemeClr val="accent6"/>
                </a:solidFill>
              </a:rPr>
              <a:t>A standalone authorization system supporting both OPA policies and relationship-based access control.</a:t>
            </a:r>
            <a:br>
              <a:rPr lang="en-US" sz="1500" kern="0" spc="-80" dirty="0">
                <a:solidFill>
                  <a:schemeClr val="accent6"/>
                </a:solidFill>
              </a:rPr>
            </a:br>
            <a:r>
              <a:rPr lang="en-US" sz="1500" kern="0" spc="-80" dirty="0">
                <a:solidFill>
                  <a:schemeClr val="accent2"/>
                </a:solidFill>
              </a:rPr>
              <a:t>How they work together.</a:t>
            </a:r>
            <a:br>
              <a:rPr lang="en-US" sz="1500" kern="0" spc="-80" dirty="0">
                <a:solidFill>
                  <a:schemeClr val="accent6"/>
                </a:solidFill>
              </a:rPr>
            </a:br>
            <a:r>
              <a:rPr lang="en-US" sz="1500" kern="0" spc="-80" dirty="0">
                <a:solidFill>
                  <a:schemeClr val="accent6"/>
                </a:solidFill>
              </a:rPr>
              <a:t>AuthN and </a:t>
            </a:r>
            <a:r>
              <a:rPr lang="en-US" sz="1500" kern="0" spc="-80" dirty="0" err="1">
                <a:solidFill>
                  <a:schemeClr val="accent6"/>
                </a:solidFill>
              </a:rPr>
              <a:t>AuthZ</a:t>
            </a:r>
            <a:r>
              <a:rPr lang="en-US" sz="1500" kern="0" spc="-80" dirty="0">
                <a:solidFill>
                  <a:schemeClr val="accent6"/>
                </a:solidFill>
              </a:rPr>
              <a:t> work in tandem to secure systems:</a:t>
            </a:r>
            <a:br>
              <a:rPr lang="en-US" sz="1500" kern="0" spc="-80" dirty="0">
                <a:solidFill>
                  <a:schemeClr val="accent6"/>
                </a:solidFill>
              </a:rPr>
            </a:br>
            <a:r>
              <a:rPr lang="en-US" sz="1500" kern="0" spc="-80" dirty="0">
                <a:solidFill>
                  <a:schemeClr val="accent2"/>
                </a:solidFill>
              </a:rPr>
              <a:t>Authentication (AuthN):</a:t>
            </a:r>
            <a:r>
              <a:rPr lang="en-US" sz="1500" kern="0" spc="-80" dirty="0">
                <a:solidFill>
                  <a:schemeClr val="accent6"/>
                </a:solidFill>
              </a:rPr>
              <a:t> A user logs in, providing credentials (e.g., password, token). The AuthN provider verifies their identity.</a:t>
            </a:r>
            <a:br>
              <a:rPr lang="en-US" sz="1500" kern="0" spc="-80" dirty="0">
                <a:solidFill>
                  <a:schemeClr val="accent6"/>
                </a:solidFill>
              </a:rPr>
            </a:br>
            <a:r>
              <a:rPr lang="en-US" sz="1500" kern="0" spc="-80" dirty="0">
                <a:solidFill>
                  <a:schemeClr val="accent2"/>
                </a:solidFill>
              </a:rPr>
              <a:t>Authorization (</a:t>
            </a:r>
            <a:r>
              <a:rPr lang="en-US" sz="1500" kern="0" spc="-80" dirty="0" err="1">
                <a:solidFill>
                  <a:schemeClr val="accent2"/>
                </a:solidFill>
              </a:rPr>
              <a:t>AuthZ</a:t>
            </a:r>
            <a:r>
              <a:rPr lang="en-US" sz="1500" kern="0" spc="-80" dirty="0">
                <a:solidFill>
                  <a:schemeClr val="accent2"/>
                </a:solidFill>
              </a:rPr>
              <a:t>): </a:t>
            </a:r>
            <a:r>
              <a:rPr lang="en-US" sz="1500" kern="0" spc="-80" dirty="0">
                <a:solidFill>
                  <a:schemeClr val="accent6"/>
                </a:solidFill>
              </a:rPr>
              <a:t>Once the user is identified, the </a:t>
            </a:r>
            <a:r>
              <a:rPr lang="en-US" sz="1500" kern="0" spc="-80" dirty="0" err="1">
                <a:solidFill>
                  <a:schemeClr val="accent6"/>
                </a:solidFill>
              </a:rPr>
              <a:t>AuthZ</a:t>
            </a:r>
            <a:r>
              <a:rPr lang="en-US" sz="1500" kern="0" spc="-80" dirty="0">
                <a:solidFill>
                  <a:schemeClr val="accent6"/>
                </a:solidFill>
              </a:rPr>
              <a:t> provider uses policies to determine what resources or functions the authenticated user can access within the system. For instance, after a user logs in, the </a:t>
            </a:r>
            <a:r>
              <a:rPr lang="en-US" sz="1500" kern="0" spc="-80" dirty="0" err="1">
                <a:solidFill>
                  <a:schemeClr val="accent6"/>
                </a:solidFill>
              </a:rPr>
              <a:t>AuthZ</a:t>
            </a:r>
            <a:r>
              <a:rPr lang="en-US" sz="1500" kern="0" spc="-80" dirty="0">
                <a:solidFill>
                  <a:schemeClr val="accent6"/>
                </a:solidFill>
              </a:rPr>
              <a:t> system might grant them access to a specific project board but deny them access to others, based on their assigned role or permissions.</a:t>
            </a:r>
          </a:p>
          <a:p>
            <a:pPr marL="12700" marR="5080"/>
            <a:endParaRPr lang="en-US" sz="2400" kern="0" spc="-80" dirty="0">
              <a:solidFill>
                <a:schemeClr val="accent2"/>
              </a:solidFill>
            </a:endParaRPr>
          </a:p>
        </p:txBody>
      </p:sp>
      <p:grpSp>
        <p:nvGrpSpPr>
          <p:cNvPr id="7" name="Group 6">
            <a:extLst>
              <a:ext uri="{FF2B5EF4-FFF2-40B4-BE49-F238E27FC236}">
                <a16:creationId xmlns:a16="http://schemas.microsoft.com/office/drawing/2014/main" id="{C3B4D38C-C393-2B05-780D-0D6CC924BB2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3283310-081F-B387-A7F5-B3431B8E9D8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2B18D90-D897-D766-ED58-AA0FF2A54FC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244972887"/>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38E185-DD86-D8AD-665E-6B62B317E5C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FFF368B-9180-9C6D-E4CC-AB2FDA43D08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55B79BE-6D31-8A18-569F-6D36C43FD09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A973048-3754-162B-D6D3-B8129EA4C30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DF94E16-6BE0-F41E-545F-EB7D397C2E52}"/>
              </a:ext>
            </a:extLst>
          </p:cNvPr>
          <p:cNvSpPr txBox="1">
            <a:spLocks/>
          </p:cNvSpPr>
          <p:nvPr/>
        </p:nvSpPr>
        <p:spPr>
          <a:xfrm>
            <a:off x="76200" y="814149"/>
            <a:ext cx="8624937" cy="40626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Why AuthN and </a:t>
            </a:r>
            <a:r>
              <a:rPr lang="en-US" sz="2400" kern="0" spc="-80" dirty="0" err="1">
                <a:solidFill>
                  <a:schemeClr val="accent2"/>
                </a:solidFill>
              </a:rPr>
              <a:t>AuthZ</a:t>
            </a:r>
            <a:r>
              <a:rPr lang="en-US" sz="2400" kern="0" spc="-80" dirty="0">
                <a:solidFill>
                  <a:schemeClr val="accent2"/>
                </a:solidFill>
              </a:rPr>
              <a:t> Should be separated?</a:t>
            </a:r>
          </a:p>
          <a:p>
            <a:pPr marL="12700" marR="5080"/>
            <a:r>
              <a:rPr lang="en-US" sz="1500" kern="0" spc="-80" dirty="0">
                <a:solidFill>
                  <a:schemeClr val="accent6"/>
                </a:solidFill>
              </a:rPr>
              <a:t>AuthN (authentication) and </a:t>
            </a:r>
            <a:r>
              <a:rPr lang="en-US" sz="1500" kern="0" spc="-80" dirty="0" err="1">
                <a:solidFill>
                  <a:schemeClr val="accent6"/>
                </a:solidFill>
              </a:rPr>
              <a:t>AuthZ</a:t>
            </a:r>
            <a:r>
              <a:rPr lang="en-US" sz="1500" kern="0" spc="-80" dirty="0">
                <a:solidFill>
                  <a:schemeClr val="accent6"/>
                </a:solidFill>
              </a:rPr>
              <a:t> (authorization) should be separated from their respective providers to enhance security, simplify development, and promote adaptability. Separation creates a "separation of concerns," reducing the risk that a compromise in one area will impact the other and allowing specialized tools to be used for each distinct function, leading to a more robust and scalable identity and access management (IAM) system.</a:t>
            </a:r>
            <a:br>
              <a:rPr lang="en-US" sz="1500" kern="0" spc="-80" dirty="0">
                <a:solidFill>
                  <a:schemeClr val="accent6"/>
                </a:solidFill>
              </a:rPr>
            </a:br>
            <a:r>
              <a:rPr lang="en-US" sz="1500" kern="0" spc="-80" dirty="0">
                <a:solidFill>
                  <a:schemeClr val="accent2"/>
                </a:solidFill>
              </a:rPr>
              <a:t>Security Benefits.</a:t>
            </a:r>
            <a:br>
              <a:rPr lang="en-US" sz="1500" kern="0" spc="-80" dirty="0">
                <a:solidFill>
                  <a:schemeClr val="accent6"/>
                </a:solidFill>
              </a:rPr>
            </a:br>
            <a:r>
              <a:rPr lang="en-US" sz="1500" kern="0" spc="-80" dirty="0">
                <a:solidFill>
                  <a:schemeClr val="accent2"/>
                </a:solidFill>
              </a:rPr>
              <a:t>Reduced Risk of Compromise:</a:t>
            </a:r>
            <a:r>
              <a:rPr lang="en-US" sz="1500" kern="0" spc="-80" dirty="0">
                <a:solidFill>
                  <a:schemeClr val="accent6"/>
                </a:solidFill>
              </a:rPr>
              <a:t> By separating AuthN and </a:t>
            </a:r>
            <a:r>
              <a:rPr lang="en-US" sz="1500" kern="0" spc="-80" dirty="0" err="1">
                <a:solidFill>
                  <a:schemeClr val="accent6"/>
                </a:solidFill>
              </a:rPr>
              <a:t>AuthZ</a:t>
            </a:r>
            <a:r>
              <a:rPr lang="en-US" sz="1500" kern="0" spc="-80" dirty="0">
                <a:solidFill>
                  <a:schemeClr val="accent6"/>
                </a:solidFill>
              </a:rPr>
              <a:t>, a security breach in one system is less likely to compromise the other. If a single provider handles both, an attacker who gains access to it could control both identity verification and what the user can do.</a:t>
            </a:r>
            <a:br>
              <a:rPr lang="en-US" sz="1500" kern="0" spc="-80" dirty="0">
                <a:solidFill>
                  <a:schemeClr val="accent6"/>
                </a:solidFill>
              </a:rPr>
            </a:br>
            <a:r>
              <a:rPr lang="en-US" sz="1500" kern="0" spc="-80" dirty="0">
                <a:solidFill>
                  <a:schemeClr val="accent2"/>
                </a:solidFill>
              </a:rPr>
              <a:t>Improved Posture:</a:t>
            </a:r>
            <a:r>
              <a:rPr lang="en-US" sz="1500" kern="0" spc="-80" dirty="0">
                <a:solidFill>
                  <a:schemeClr val="accent6"/>
                </a:solidFill>
              </a:rPr>
              <a:t> A dedicated </a:t>
            </a:r>
            <a:r>
              <a:rPr lang="en-US" sz="1500" kern="0" spc="-80" dirty="0" err="1">
                <a:solidFill>
                  <a:schemeClr val="accent6"/>
                </a:solidFill>
              </a:rPr>
              <a:t>AuthZ</a:t>
            </a:r>
            <a:r>
              <a:rPr lang="en-US" sz="1500" kern="0" spc="-80" dirty="0">
                <a:solidFill>
                  <a:schemeClr val="accent6"/>
                </a:solidFill>
              </a:rPr>
              <a:t> provider or system can implement policies (like the Principle of Least Privilege) that grant only necessary permissions, minimizing the impact of any potential compromise.</a:t>
            </a:r>
            <a:br>
              <a:rPr lang="en-US" sz="1500" kern="0" spc="-80" dirty="0">
                <a:solidFill>
                  <a:schemeClr val="accent6"/>
                </a:solidFill>
              </a:rPr>
            </a:br>
            <a:r>
              <a:rPr lang="en-US" sz="1500" kern="0" spc="-80" dirty="0">
                <a:solidFill>
                  <a:schemeClr val="accent2"/>
                </a:solidFill>
              </a:rPr>
              <a:t>Development &amp; Maintenance Benefits.</a:t>
            </a:r>
            <a:br>
              <a:rPr lang="en-US" sz="1500" kern="0" spc="-80" dirty="0">
                <a:solidFill>
                  <a:schemeClr val="accent6"/>
                </a:solidFill>
              </a:rPr>
            </a:br>
            <a:r>
              <a:rPr lang="en-US" sz="1500" kern="0" spc="-80" dirty="0">
                <a:solidFill>
                  <a:schemeClr val="accent2"/>
                </a:solidFill>
              </a:rPr>
              <a:t>Simpler Codebase:</a:t>
            </a:r>
            <a:r>
              <a:rPr lang="en-US" sz="1500" kern="0" spc="-80" dirty="0">
                <a:solidFill>
                  <a:schemeClr val="accent6"/>
                </a:solidFill>
              </a:rPr>
              <a:t> Separating authentication logic from authorization logic makes the code cleaner and easier to understand, as each component has a distinct purpose.</a:t>
            </a:r>
            <a:br>
              <a:rPr lang="en-US" sz="1500" kern="0" spc="-80" dirty="0">
                <a:solidFill>
                  <a:schemeClr val="accent6"/>
                </a:solidFill>
              </a:rPr>
            </a:br>
            <a:endParaRPr lang="en-US" sz="1500" kern="0" spc="-80" dirty="0">
              <a:solidFill>
                <a:schemeClr val="accent6"/>
              </a:solidFill>
            </a:endParaRPr>
          </a:p>
        </p:txBody>
      </p:sp>
      <p:grpSp>
        <p:nvGrpSpPr>
          <p:cNvPr id="7" name="Group 6">
            <a:extLst>
              <a:ext uri="{FF2B5EF4-FFF2-40B4-BE49-F238E27FC236}">
                <a16:creationId xmlns:a16="http://schemas.microsoft.com/office/drawing/2014/main" id="{89F0D652-2BE8-C569-4520-01C5539E9812}"/>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04BBB82-F0FB-C567-7CDD-14F025B831E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E6E8941-156A-2CA7-D250-926182B28BC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567269082"/>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076A7-5891-8AD9-14BA-62A9BE180DD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D9BAE03-4DBC-9ADC-B85F-D6C4C648FD4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0D24D99-AE13-C59E-A531-65469B86379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C3C31B5-3843-BD13-B02A-DB9690AEBCA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50D72AE-4D1F-C65D-4025-2F81BAD23B25}"/>
              </a:ext>
            </a:extLst>
          </p:cNvPr>
          <p:cNvSpPr txBox="1">
            <a:spLocks/>
          </p:cNvSpPr>
          <p:nvPr/>
        </p:nvSpPr>
        <p:spPr>
          <a:xfrm>
            <a:off x="76200" y="820847"/>
            <a:ext cx="8624937" cy="33701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Why AuthN and </a:t>
            </a:r>
            <a:r>
              <a:rPr lang="en-US" sz="2400" kern="0" spc="-80" dirty="0" err="1">
                <a:solidFill>
                  <a:schemeClr val="accent2"/>
                </a:solidFill>
              </a:rPr>
              <a:t>AuthZ</a:t>
            </a:r>
            <a:r>
              <a:rPr lang="en-US" sz="2400" kern="0" spc="-80" dirty="0">
                <a:solidFill>
                  <a:schemeClr val="accent2"/>
                </a:solidFill>
              </a:rPr>
              <a:t> Should be separated?</a:t>
            </a:r>
          </a:p>
          <a:p>
            <a:pPr marL="12700" marR="5080"/>
            <a:r>
              <a:rPr lang="en-US" sz="1500" kern="0" spc="-80" dirty="0">
                <a:solidFill>
                  <a:schemeClr val="accent2"/>
                </a:solidFill>
              </a:rPr>
              <a:t>Increased Agility:</a:t>
            </a:r>
            <a:r>
              <a:rPr lang="en-US" sz="1500" kern="0" spc="-80" dirty="0">
                <a:solidFill>
                  <a:schemeClr val="accent6"/>
                </a:solidFill>
              </a:rPr>
              <a:t> Teams can update or replace the AuthN or </a:t>
            </a:r>
            <a:r>
              <a:rPr lang="en-US" sz="1500" kern="0" spc="-80" dirty="0" err="1">
                <a:solidFill>
                  <a:schemeClr val="accent6"/>
                </a:solidFill>
              </a:rPr>
              <a:t>AuthZ</a:t>
            </a:r>
            <a:r>
              <a:rPr lang="en-US" sz="1500" kern="0" spc="-80" dirty="0">
                <a:solidFill>
                  <a:schemeClr val="accent6"/>
                </a:solidFill>
              </a:rPr>
              <a:t> provider without affecting the other, making it easier to adapt to new technologies or security standards.</a:t>
            </a:r>
            <a:br>
              <a:rPr lang="en-US" sz="1500" kern="0" spc="-80" dirty="0">
                <a:solidFill>
                  <a:schemeClr val="accent6"/>
                </a:solidFill>
              </a:rPr>
            </a:br>
            <a:r>
              <a:rPr lang="en-US" sz="1500" kern="0" spc="-80" dirty="0">
                <a:solidFill>
                  <a:schemeClr val="accent2"/>
                </a:solidFill>
              </a:rPr>
              <a:t>Specialized Tooling:</a:t>
            </a:r>
            <a:r>
              <a:rPr lang="en-US" sz="1500" kern="0" spc="-80" dirty="0">
                <a:solidFill>
                  <a:schemeClr val="accent6"/>
                </a:solidFill>
              </a:rPr>
              <a:t> You can select the best tools for each function. For example, a specialized Identity Provider (IdP) can handle AuthN, while a dedicated Authorization as a Service (</a:t>
            </a:r>
            <a:r>
              <a:rPr lang="en-US" sz="1500" kern="0" spc="-80" dirty="0" err="1">
                <a:solidFill>
                  <a:schemeClr val="accent6"/>
                </a:solidFill>
              </a:rPr>
              <a:t>AaaS</a:t>
            </a:r>
            <a:r>
              <a:rPr lang="en-US" sz="1500" kern="0" spc="-80" dirty="0">
                <a:solidFill>
                  <a:schemeClr val="accent6"/>
                </a:solidFill>
              </a:rPr>
              <a:t>) can handle </a:t>
            </a:r>
            <a:r>
              <a:rPr lang="en-US" sz="1500" kern="0" spc="-80" dirty="0" err="1">
                <a:solidFill>
                  <a:schemeClr val="accent6"/>
                </a:solidFill>
              </a:rPr>
              <a:t>AuthZ</a:t>
            </a:r>
            <a:r>
              <a:rPr lang="en-US" sz="1500" kern="0" spc="-80" dirty="0">
                <a:solidFill>
                  <a:schemeClr val="accent6"/>
                </a:solidFill>
              </a:rPr>
              <a:t>.</a:t>
            </a:r>
            <a:br>
              <a:rPr lang="en-US" sz="1500" kern="0" spc="-80" dirty="0">
                <a:solidFill>
                  <a:schemeClr val="accent6"/>
                </a:solidFill>
              </a:rPr>
            </a:br>
            <a:r>
              <a:rPr lang="en-US" sz="1500" kern="0" spc="-80" dirty="0">
                <a:solidFill>
                  <a:schemeClr val="accent2"/>
                </a:solidFill>
              </a:rPr>
              <a:t>Independent Development:</a:t>
            </a:r>
            <a:r>
              <a:rPr lang="en-US" sz="1500" kern="0" spc="-80" dirty="0">
                <a:solidFill>
                  <a:schemeClr val="accent6"/>
                </a:solidFill>
              </a:rPr>
              <a:t> Developers can work on the authentication and authorization services independently, which increases development velocity and productivity.</a:t>
            </a:r>
            <a:br>
              <a:rPr lang="en-US" sz="1500" kern="0" spc="-80" dirty="0">
                <a:solidFill>
                  <a:schemeClr val="accent6"/>
                </a:solidFill>
              </a:rPr>
            </a:br>
            <a:r>
              <a:rPr lang="en-US" sz="1500" kern="0" spc="-80" dirty="0">
                <a:solidFill>
                  <a:schemeClr val="accent2"/>
                </a:solidFill>
              </a:rPr>
              <a:t>Scalability &amp; Complexity.</a:t>
            </a:r>
            <a:br>
              <a:rPr lang="en-US" sz="1500" kern="0" spc="-80" dirty="0">
                <a:solidFill>
                  <a:schemeClr val="accent6"/>
                </a:solidFill>
              </a:rPr>
            </a:br>
            <a:r>
              <a:rPr lang="en-US" sz="1500" kern="0" spc="-80" dirty="0">
                <a:solidFill>
                  <a:schemeClr val="accent2"/>
                </a:solidFill>
              </a:rPr>
              <a:t>Better Scalability:</a:t>
            </a:r>
            <a:r>
              <a:rPr lang="en-US" sz="1500" kern="0" spc="-80" dirty="0">
                <a:solidFill>
                  <a:schemeClr val="accent6"/>
                </a:solidFill>
              </a:rPr>
              <a:t> As applications grow, having separate services for authentication and authorization allows them to scale independently to meet user and resource demands.</a:t>
            </a:r>
            <a:br>
              <a:rPr lang="en-US" sz="1500" kern="0" spc="-80" dirty="0">
                <a:solidFill>
                  <a:schemeClr val="accent6"/>
                </a:solidFill>
              </a:rPr>
            </a:br>
            <a:r>
              <a:rPr lang="en-US" sz="1500" kern="0" spc="-80" dirty="0">
                <a:solidFill>
                  <a:schemeClr val="accent2"/>
                </a:solidFill>
              </a:rPr>
              <a:t>Manageable Complexity: </a:t>
            </a:r>
            <a:r>
              <a:rPr lang="en-US" sz="1500" kern="0" spc="-80" dirty="0">
                <a:solidFill>
                  <a:schemeClr val="accent6"/>
                </a:solidFill>
              </a:rPr>
              <a:t>Splitting these "cross-cutting concerns" into their own services makes the overall system easier to manage, especially in large and complex applications or microservices architecture.</a:t>
            </a:r>
          </a:p>
        </p:txBody>
      </p:sp>
      <p:grpSp>
        <p:nvGrpSpPr>
          <p:cNvPr id="7" name="Group 6">
            <a:extLst>
              <a:ext uri="{FF2B5EF4-FFF2-40B4-BE49-F238E27FC236}">
                <a16:creationId xmlns:a16="http://schemas.microsoft.com/office/drawing/2014/main" id="{E2DCCBA1-D1D3-C959-0EA2-F285D5578C3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845AF38-5231-1587-B65A-8C8C14E2983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C8FF179-C26F-8979-61F1-084E7160C74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326382924"/>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219F8-5F6A-69D6-A3B1-D7AD3198B40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3E15E28-4BD9-D28B-615C-A13E738D4EE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9824A2A-38EC-26CA-4144-FE4F1AB958F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FA4F145F-2A5C-E5EC-E57F-0A2D988C75B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C5925A0-3CB8-F58F-129C-0C73090C454C}"/>
              </a:ext>
            </a:extLst>
          </p:cNvPr>
          <p:cNvSpPr txBox="1">
            <a:spLocks/>
          </p:cNvSpPr>
          <p:nvPr/>
        </p:nvSpPr>
        <p:spPr>
          <a:xfrm>
            <a:off x="76200" y="741802"/>
            <a:ext cx="8624937"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AuthZ</a:t>
            </a:r>
            <a:r>
              <a:rPr lang="en-US" sz="2400" kern="0" spc="-80" dirty="0">
                <a:solidFill>
                  <a:schemeClr val="accent2"/>
                </a:solidFill>
              </a:rPr>
              <a:t> Providers - OPA vs </a:t>
            </a:r>
            <a:r>
              <a:rPr lang="en-US" sz="2400" kern="0" spc="-80" dirty="0" err="1">
                <a:solidFill>
                  <a:schemeClr val="accent2"/>
                </a:solidFill>
              </a:rPr>
              <a:t>OpenFGA</a:t>
            </a:r>
            <a:endParaRPr lang="en-US" sz="2400" kern="0" spc="-80" dirty="0">
              <a:solidFill>
                <a:schemeClr val="accent2"/>
              </a:solidFill>
            </a:endParaRPr>
          </a:p>
          <a:p>
            <a:pPr marL="12700" marR="5080"/>
            <a:r>
              <a:rPr lang="en-US" sz="1500" kern="0" spc="-80" dirty="0">
                <a:solidFill>
                  <a:schemeClr val="accent6"/>
                </a:solidFill>
              </a:rPr>
              <a:t>OPA is a flexible, policy-driven engine suitable for attribute-based (ABAC) or role-based (RBAC) access control, while </a:t>
            </a:r>
            <a:r>
              <a:rPr lang="en-US" sz="1500" kern="0" spc="-80" dirty="0" err="1">
                <a:solidFill>
                  <a:schemeClr val="accent6"/>
                </a:solidFill>
              </a:rPr>
              <a:t>OpenFGA</a:t>
            </a:r>
            <a:r>
              <a:rPr lang="en-US" sz="1500" kern="0" spc="-80" dirty="0">
                <a:solidFill>
                  <a:schemeClr val="accent6"/>
                </a:solidFill>
              </a:rPr>
              <a:t> is a data-driven, relationship-based authorization engine inspired by Google Zanzibar. OPA provides a universal policy language (Rego) for complex decisions and contextual awareness, whereas </a:t>
            </a:r>
            <a:r>
              <a:rPr lang="en-US" sz="1500" kern="0" spc="-80" dirty="0" err="1">
                <a:solidFill>
                  <a:schemeClr val="accent6"/>
                </a:solidFill>
              </a:rPr>
              <a:t>OpenFGA</a:t>
            </a:r>
            <a:r>
              <a:rPr lang="en-US" sz="1500" kern="0" spc="-80" dirty="0">
                <a:solidFill>
                  <a:schemeClr val="accent6"/>
                </a:solidFill>
              </a:rPr>
              <a:t> excels at modeling complex relationships like inheritance and containment for collaborative applications. </a:t>
            </a:r>
            <a:r>
              <a:rPr lang="en-US" sz="1500" kern="0" spc="-80" dirty="0" err="1">
                <a:solidFill>
                  <a:schemeClr val="accent6"/>
                </a:solidFill>
              </a:rPr>
              <a:t>OpenFGA</a:t>
            </a:r>
            <a:r>
              <a:rPr lang="en-US" sz="1500" kern="0" spc="-80" dirty="0">
                <a:solidFill>
                  <a:schemeClr val="accent6"/>
                </a:solidFill>
              </a:rPr>
              <a:t> offers built-in reverse queries, faster performance for relationship checks, and a simpler model for relationship-based scenarios, while OPA has a more mature ecosystem but can be more complex to configure.</a:t>
            </a:r>
            <a:br>
              <a:rPr lang="en-US" sz="1500" kern="0" spc="-80" dirty="0">
                <a:solidFill>
                  <a:schemeClr val="accent6"/>
                </a:solidFill>
              </a:rPr>
            </a:br>
            <a:r>
              <a:rPr lang="en-US" sz="1500" kern="0" spc="-80" dirty="0">
                <a:solidFill>
                  <a:schemeClr val="accent2"/>
                </a:solidFill>
              </a:rPr>
              <a:t>Open Policy Agent (OPA).</a:t>
            </a:r>
            <a:br>
              <a:rPr lang="en-US" sz="1500" kern="0" spc="-80" dirty="0">
                <a:solidFill>
                  <a:schemeClr val="accent6"/>
                </a:solidFill>
              </a:rPr>
            </a:br>
            <a:r>
              <a:rPr lang="en-US" sz="1500" kern="0" spc="-80" dirty="0">
                <a:solidFill>
                  <a:schemeClr val="accent2"/>
                </a:solidFill>
              </a:rPr>
              <a:t>Approach:</a:t>
            </a:r>
            <a:r>
              <a:rPr lang="en-US" sz="1500" kern="0" spc="-80" dirty="0">
                <a:solidFill>
                  <a:schemeClr val="accent6"/>
                </a:solidFill>
              </a:rPr>
              <a:t> Policy-driven, supporting Attribute-Based Access Control (ABAC) and Role-Based Access Control (RBAC).</a:t>
            </a:r>
            <a:br>
              <a:rPr lang="en-US" sz="1500" kern="0" spc="-80" dirty="0">
                <a:solidFill>
                  <a:schemeClr val="accent6"/>
                </a:solidFill>
              </a:rPr>
            </a:br>
            <a:r>
              <a:rPr lang="en-US" sz="1500" kern="0" spc="-80" dirty="0">
                <a:solidFill>
                  <a:schemeClr val="accent2"/>
                </a:solidFill>
              </a:rPr>
              <a:t>Strengths:</a:t>
            </a:r>
            <a:br>
              <a:rPr lang="en-US" sz="1500" kern="0" spc="-80" dirty="0">
                <a:solidFill>
                  <a:schemeClr val="accent6"/>
                </a:solidFill>
              </a:rPr>
            </a:br>
            <a:r>
              <a:rPr lang="en-US" sz="1500" kern="0" spc="-80" dirty="0">
                <a:solidFill>
                  <a:schemeClr val="accent2"/>
                </a:solidFill>
              </a:rPr>
              <a:t>Policy-as-Code:</a:t>
            </a:r>
            <a:r>
              <a:rPr lang="en-US" sz="1500" kern="0" spc="-80" dirty="0">
                <a:solidFill>
                  <a:schemeClr val="accent6"/>
                </a:solidFill>
              </a:rPr>
              <a:t> Uses the Rego policy language for flexible and auditable access control policies.</a:t>
            </a:r>
            <a:br>
              <a:rPr lang="en-US" sz="1500" kern="0" spc="-80" dirty="0">
                <a:solidFill>
                  <a:schemeClr val="accent6"/>
                </a:solidFill>
              </a:rPr>
            </a:br>
            <a:r>
              <a:rPr lang="en-US" sz="1500" kern="0" spc="-80" dirty="0">
                <a:solidFill>
                  <a:schemeClr val="accent2"/>
                </a:solidFill>
              </a:rPr>
              <a:t>Contextual Awareness:</a:t>
            </a:r>
            <a:r>
              <a:rPr lang="en-US" sz="1500" kern="0" spc="-80" dirty="0">
                <a:solidFill>
                  <a:schemeClr val="accent6"/>
                </a:solidFill>
              </a:rPr>
              <a:t> Policies can consider user, resource, and environmental attributes for decisions.</a:t>
            </a:r>
            <a:br>
              <a:rPr lang="en-US" sz="1500" kern="0" spc="-80" dirty="0">
                <a:solidFill>
                  <a:schemeClr val="accent6"/>
                </a:solidFill>
              </a:rPr>
            </a:br>
            <a:r>
              <a:rPr lang="en-US" sz="1500" kern="0" spc="-80" dirty="0">
                <a:solidFill>
                  <a:schemeClr val="accent2"/>
                </a:solidFill>
              </a:rPr>
              <a:t>Decentralized Management:</a:t>
            </a:r>
            <a:r>
              <a:rPr lang="en-US" sz="1500" kern="0" spc="-80" dirty="0">
                <a:solidFill>
                  <a:schemeClr val="accent6"/>
                </a:solidFill>
              </a:rPr>
              <a:t> Teams can manage policies independently.</a:t>
            </a:r>
            <a:br>
              <a:rPr lang="en-US" sz="1500" kern="0" spc="-80" dirty="0">
                <a:solidFill>
                  <a:schemeClr val="accent6"/>
                </a:solidFill>
              </a:rPr>
            </a:br>
            <a:r>
              <a:rPr lang="en-US" sz="1500" kern="0" spc="-80" dirty="0">
                <a:solidFill>
                  <a:schemeClr val="accent2"/>
                </a:solidFill>
              </a:rPr>
              <a:t>Best For:</a:t>
            </a:r>
            <a:r>
              <a:rPr lang="en-US" sz="1500" kern="0" spc="-80" dirty="0">
                <a:solidFill>
                  <a:schemeClr val="accent6"/>
                </a:solidFill>
              </a:rPr>
              <a:t> Scenarios requiring flexible, policy-driven control and rich contextual information for authorization decisions.</a:t>
            </a:r>
            <a:br>
              <a:rPr lang="en-US" sz="1500" kern="0" spc="-80" dirty="0">
                <a:solidFill>
                  <a:schemeClr val="accent6"/>
                </a:solidFill>
              </a:rPr>
            </a:br>
            <a:r>
              <a:rPr lang="en-US" sz="1500" kern="0" spc="-80" dirty="0">
                <a:solidFill>
                  <a:schemeClr val="accent2"/>
                </a:solidFill>
              </a:rPr>
              <a:t>Considerations:</a:t>
            </a:r>
            <a:r>
              <a:rPr lang="en-US" sz="1500" kern="0" spc="-80" dirty="0">
                <a:solidFill>
                  <a:schemeClr val="accent6"/>
                </a:solidFill>
              </a:rPr>
              <a:t> Can be complex to configure and may face scalability challenges in high-demand environments.</a:t>
            </a:r>
            <a:br>
              <a:rPr lang="en-US" sz="1500" kern="0" spc="-80" dirty="0">
                <a:solidFill>
                  <a:schemeClr val="accent6"/>
                </a:solidFill>
              </a:rPr>
            </a:br>
            <a:endParaRPr lang="en-US" sz="1500" kern="0" spc="-80" dirty="0">
              <a:solidFill>
                <a:schemeClr val="accent6"/>
              </a:solidFill>
            </a:endParaRPr>
          </a:p>
        </p:txBody>
      </p:sp>
      <p:grpSp>
        <p:nvGrpSpPr>
          <p:cNvPr id="7" name="Group 6">
            <a:extLst>
              <a:ext uri="{FF2B5EF4-FFF2-40B4-BE49-F238E27FC236}">
                <a16:creationId xmlns:a16="http://schemas.microsoft.com/office/drawing/2014/main" id="{99486F86-6211-9724-DE86-4AE7849D8E2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92303597-2239-8584-213D-5AECBD6E328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711580A-6441-E0D3-8920-6D2E58A3763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905643738"/>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F2F1F-30E4-A054-27E4-E3622C8225A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3B6AB5E-AF22-3E10-576C-36F7DE2564B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DC7D491-D46C-3008-0E29-CF77181684E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5E11E8C-C93F-7276-567B-4DFE98F45F7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DA4D985-31EC-4165-EF3A-7775CD2F6F13}"/>
              </a:ext>
            </a:extLst>
          </p:cNvPr>
          <p:cNvSpPr txBox="1">
            <a:spLocks/>
          </p:cNvSpPr>
          <p:nvPr/>
        </p:nvSpPr>
        <p:spPr>
          <a:xfrm>
            <a:off x="0" y="806708"/>
            <a:ext cx="8624937" cy="48320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AuthZ</a:t>
            </a:r>
            <a:r>
              <a:rPr lang="en-US" sz="2400" kern="0" spc="-80" dirty="0">
                <a:solidFill>
                  <a:schemeClr val="accent2"/>
                </a:solidFill>
              </a:rPr>
              <a:t> Providers - OPA vs </a:t>
            </a:r>
            <a:r>
              <a:rPr lang="en-US" sz="2400" kern="0" spc="-80" dirty="0" err="1">
                <a:solidFill>
                  <a:schemeClr val="accent2"/>
                </a:solidFill>
              </a:rPr>
              <a:t>OpenFGA</a:t>
            </a:r>
            <a:endParaRPr lang="en-US" sz="2400" kern="0" spc="-80" dirty="0">
              <a:solidFill>
                <a:schemeClr val="accent2"/>
              </a:solidFill>
            </a:endParaRPr>
          </a:p>
          <a:p>
            <a:pPr marL="12700" marR="5080"/>
            <a:r>
              <a:rPr lang="en-US" sz="1400" kern="0" spc="-80" dirty="0" err="1">
                <a:solidFill>
                  <a:schemeClr val="accent2"/>
                </a:solidFill>
              </a:rPr>
              <a:t>OpenFGA</a:t>
            </a:r>
            <a:r>
              <a:rPr lang="en-US" sz="1400" kern="0" spc="-80" dirty="0">
                <a:solidFill>
                  <a:schemeClr val="accent2"/>
                </a:solidFill>
              </a:rPr>
              <a:t> (Google Zanzibar).</a:t>
            </a:r>
            <a:br>
              <a:rPr lang="en-US" sz="1400" kern="0" spc="-80" dirty="0">
                <a:solidFill>
                  <a:schemeClr val="accent6"/>
                </a:solidFill>
              </a:rPr>
            </a:br>
            <a:r>
              <a:rPr lang="en-US" sz="1400" kern="0" spc="-80" dirty="0">
                <a:solidFill>
                  <a:schemeClr val="accent2"/>
                </a:solidFill>
              </a:rPr>
              <a:t>Approach: </a:t>
            </a:r>
            <a:r>
              <a:rPr lang="en-US" sz="1400" kern="0" spc="-80" dirty="0">
                <a:solidFill>
                  <a:schemeClr val="accent6"/>
                </a:solidFill>
              </a:rPr>
              <a:t>Data-driven, focusing on Relationship-Based Access Control (ReBAC). Strengths:</a:t>
            </a:r>
            <a:br>
              <a:rPr lang="en-US" sz="1400" kern="0" spc="-80" dirty="0">
                <a:solidFill>
                  <a:schemeClr val="accent6"/>
                </a:solidFill>
              </a:rPr>
            </a:br>
            <a:r>
              <a:rPr lang="en-US" sz="1400" kern="0" spc="-80" dirty="0">
                <a:solidFill>
                  <a:schemeClr val="accent2"/>
                </a:solidFill>
              </a:rPr>
              <a:t>Native Relationship Modeling:</a:t>
            </a:r>
            <a:r>
              <a:rPr lang="en-US" sz="1400" kern="0" spc="-80" dirty="0">
                <a:solidFill>
                  <a:schemeClr val="accent6"/>
                </a:solidFill>
              </a:rPr>
              <a:t> Built-in support for complex relationships like hierarchies and containment.</a:t>
            </a:r>
            <a:br>
              <a:rPr lang="en-US" sz="1400" kern="0" spc="-80" dirty="0">
                <a:solidFill>
                  <a:schemeClr val="accent6"/>
                </a:solidFill>
              </a:rPr>
            </a:br>
            <a:r>
              <a:rPr lang="en-US" sz="1400" kern="0" spc="-80" dirty="0">
                <a:solidFill>
                  <a:schemeClr val="accent2"/>
                </a:solidFill>
              </a:rPr>
              <a:t>Reverse Queries:</a:t>
            </a:r>
            <a:r>
              <a:rPr lang="en-US" sz="1400" kern="0" spc="-80" dirty="0">
                <a:solidFill>
                  <a:schemeClr val="accent6"/>
                </a:solidFill>
              </a:rPr>
              <a:t> Easily answer questions like "who has access".</a:t>
            </a:r>
            <a:br>
              <a:rPr lang="en-US" sz="1400" kern="0" spc="-80" dirty="0">
                <a:solidFill>
                  <a:schemeClr val="accent6"/>
                </a:solidFill>
              </a:rPr>
            </a:br>
            <a:r>
              <a:rPr lang="en-US" sz="1400" kern="0" spc="-80" dirty="0">
                <a:solidFill>
                  <a:schemeClr val="accent2"/>
                </a:solidFill>
              </a:rPr>
              <a:t>Intuitive Model: </a:t>
            </a:r>
            <a:r>
              <a:rPr lang="en-US" sz="1400" kern="0" spc="-80" dirty="0">
                <a:solidFill>
                  <a:schemeClr val="accent6"/>
                </a:solidFill>
              </a:rPr>
              <a:t>Simpler for relationship-heavy collaborative applications.</a:t>
            </a:r>
            <a:br>
              <a:rPr lang="en-US" sz="1400" kern="0" spc="-80" dirty="0">
                <a:solidFill>
                  <a:schemeClr val="accent6"/>
                </a:solidFill>
              </a:rPr>
            </a:br>
            <a:r>
              <a:rPr lang="en-US" sz="1400" kern="0" spc="-80" dirty="0">
                <a:solidFill>
                  <a:schemeClr val="accent2"/>
                </a:solidFill>
              </a:rPr>
              <a:t>Best For:</a:t>
            </a:r>
            <a:r>
              <a:rPr lang="en-US" sz="1400" kern="0" spc="-80" dirty="0">
                <a:solidFill>
                  <a:schemeClr val="accent6"/>
                </a:solidFill>
              </a:rPr>
              <a:t> Systems that rely heavily on complex relationships between users and resources, such as collaborative platforms. Considerations: Less suitable for use cases focused on attributes (ABAC) or simple RBAC. The ecosystem is younger than OPA's. Key Differences.</a:t>
            </a:r>
            <a:br>
              <a:rPr lang="en-US" sz="1400" kern="0" spc="-80" dirty="0">
                <a:solidFill>
                  <a:schemeClr val="accent6"/>
                </a:solidFill>
              </a:rPr>
            </a:br>
            <a:r>
              <a:rPr lang="en-US" sz="1400" kern="0" spc="-80" dirty="0">
                <a:solidFill>
                  <a:schemeClr val="accent2"/>
                </a:solidFill>
              </a:rPr>
              <a:t>Focus:</a:t>
            </a:r>
            <a:r>
              <a:rPr lang="en-US" sz="1400" kern="0" spc="-80" dirty="0">
                <a:solidFill>
                  <a:schemeClr val="accent6"/>
                </a:solidFill>
              </a:rPr>
              <a:t> OPA is a policy engine for general authorization; </a:t>
            </a:r>
            <a:r>
              <a:rPr lang="en-US" sz="1400" kern="0" spc="-80" dirty="0" err="1">
                <a:solidFill>
                  <a:schemeClr val="accent6"/>
                </a:solidFill>
              </a:rPr>
              <a:t>OpenFGA</a:t>
            </a:r>
            <a:r>
              <a:rPr lang="en-US" sz="1400" kern="0" spc="-80" dirty="0">
                <a:solidFill>
                  <a:schemeClr val="accent6"/>
                </a:solidFill>
              </a:rPr>
              <a:t> is a specialized authorization platform for relationship modeling.</a:t>
            </a:r>
            <a:br>
              <a:rPr lang="en-US" sz="1400" kern="0" spc="-80" dirty="0">
                <a:solidFill>
                  <a:schemeClr val="accent6"/>
                </a:solidFill>
              </a:rPr>
            </a:br>
            <a:r>
              <a:rPr lang="en-US" sz="1400" kern="0" spc="-80" dirty="0">
                <a:solidFill>
                  <a:schemeClr val="accent2"/>
                </a:solidFill>
              </a:rPr>
              <a:t>Data Model:</a:t>
            </a:r>
            <a:r>
              <a:rPr lang="en-US" sz="1400" kern="0" spc="-80" dirty="0">
                <a:solidFill>
                  <a:schemeClr val="accent6"/>
                </a:solidFill>
              </a:rPr>
              <a:t> OPA is flexible, using input data with policies; </a:t>
            </a:r>
            <a:r>
              <a:rPr lang="en-US" sz="1400" kern="0" spc="-80" dirty="0" err="1">
                <a:solidFill>
                  <a:schemeClr val="accent6"/>
                </a:solidFill>
              </a:rPr>
              <a:t>OpenFGA</a:t>
            </a:r>
            <a:r>
              <a:rPr lang="en-US" sz="1400" kern="0" spc="-80" dirty="0">
                <a:solidFill>
                  <a:schemeClr val="accent6"/>
                </a:solidFill>
              </a:rPr>
              <a:t> uses a predefined data model designed for relationships.</a:t>
            </a:r>
            <a:br>
              <a:rPr lang="en-US" sz="1400" kern="0" spc="-80" dirty="0">
                <a:solidFill>
                  <a:schemeClr val="accent6"/>
                </a:solidFill>
              </a:rPr>
            </a:br>
            <a:r>
              <a:rPr lang="en-US" sz="1400" kern="0" spc="-80" dirty="0">
                <a:solidFill>
                  <a:schemeClr val="accent2"/>
                </a:solidFill>
              </a:rPr>
              <a:t>Use Case Suitability: </a:t>
            </a:r>
            <a:r>
              <a:rPr lang="en-US" sz="1400" kern="0" spc="-80" dirty="0">
                <a:solidFill>
                  <a:schemeClr val="accent6"/>
                </a:solidFill>
              </a:rPr>
              <a:t>OPA is better for context-aware, policy-driven decisions. </a:t>
            </a:r>
            <a:r>
              <a:rPr lang="en-US" sz="1400" kern="0" spc="-80" dirty="0" err="1">
                <a:solidFill>
                  <a:schemeClr val="accent6"/>
                </a:solidFill>
              </a:rPr>
              <a:t>OpenFGA</a:t>
            </a:r>
            <a:r>
              <a:rPr lang="en-US" sz="1400" kern="0" spc="-80" dirty="0">
                <a:solidFill>
                  <a:schemeClr val="accent6"/>
                </a:solidFill>
              </a:rPr>
              <a:t> is superior for complex, graph-like relationship data.</a:t>
            </a:r>
          </a:p>
          <a:p>
            <a:pPr marL="12700" marR="5080"/>
            <a:r>
              <a:rPr lang="en-US" sz="1400" kern="0" spc="-80" dirty="0">
                <a:solidFill>
                  <a:schemeClr val="accent2"/>
                </a:solidFill>
              </a:rPr>
              <a:t>For Further Exploration</a:t>
            </a:r>
          </a:p>
          <a:p>
            <a:pPr marL="12700" marR="5080"/>
            <a:r>
              <a:rPr lang="en-US" sz="1100" dirty="0">
                <a:hlinkClick r:id="rId2"/>
              </a:rPr>
              <a:t>RBAC, ABAC, and ReBAC - Differences and Scenarios</a:t>
            </a:r>
            <a:endParaRPr lang="en-US" sz="1100" kern="0" spc="-80" dirty="0">
              <a:solidFill>
                <a:schemeClr val="accent2"/>
              </a:solidFill>
            </a:endParaRPr>
          </a:p>
          <a:p>
            <a:pPr marL="12700" marR="5080"/>
            <a:r>
              <a:rPr lang="en-US" sz="1100" dirty="0">
                <a:hlinkClick r:id="rId3"/>
              </a:rPr>
              <a:t>Policy Language</a:t>
            </a:r>
            <a:endParaRPr lang="en-US" sz="1100" dirty="0"/>
          </a:p>
          <a:p>
            <a:pPr marL="12700" marR="5080"/>
            <a:r>
              <a:rPr lang="en-US" sz="1100" dirty="0">
                <a:hlinkClick r:id="rId4"/>
              </a:rPr>
              <a:t>OPA-</a:t>
            </a:r>
            <a:r>
              <a:rPr lang="en-US" sz="1100" dirty="0" err="1">
                <a:hlinkClick r:id="rId4"/>
              </a:rPr>
              <a:t>Csharp</a:t>
            </a:r>
            <a:endParaRPr lang="en-US" sz="1100" dirty="0"/>
          </a:p>
          <a:p>
            <a:pPr marL="12700" marR="5080"/>
            <a:r>
              <a:rPr lang="en-IN" sz="1100" dirty="0" err="1">
                <a:hlinkClick r:id="rId5"/>
              </a:rPr>
              <a:t>OpenFGA</a:t>
            </a:r>
            <a:r>
              <a:rPr lang="en-IN" sz="1100" dirty="0">
                <a:hlinkClick r:id="rId5"/>
              </a:rPr>
              <a:t> SDK for .NET</a:t>
            </a:r>
            <a:endParaRPr lang="en-US" sz="1100" dirty="0"/>
          </a:p>
          <a:p>
            <a:pPr marL="12700" marR="5080"/>
            <a:r>
              <a:rPr lang="en-US" sz="1100" dirty="0">
                <a:hlinkClick r:id="rId6"/>
              </a:rPr>
              <a:t>Bring your own OPA server | Solo.io documentation</a:t>
            </a:r>
            <a:endParaRPr lang="en-US" sz="1100" dirty="0"/>
          </a:p>
          <a:p>
            <a:pPr marL="12700" marR="5080"/>
            <a:r>
              <a:rPr lang="en-IN" sz="1100" dirty="0">
                <a:hlinkClick r:id="rId7"/>
              </a:rPr>
              <a:t>Dynamic Authorization - Phil Windley</a:t>
            </a:r>
            <a:endParaRPr lang="en-US" sz="1100" kern="0" spc="-80" dirty="0">
              <a:solidFill>
                <a:schemeClr val="accent2"/>
              </a:solidFill>
            </a:endParaRPr>
          </a:p>
        </p:txBody>
      </p:sp>
      <p:grpSp>
        <p:nvGrpSpPr>
          <p:cNvPr id="7" name="Group 6">
            <a:extLst>
              <a:ext uri="{FF2B5EF4-FFF2-40B4-BE49-F238E27FC236}">
                <a16:creationId xmlns:a16="http://schemas.microsoft.com/office/drawing/2014/main" id="{1E3BA364-741E-FA08-D5F9-FE6C2E96D07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89200AF6-1F81-2EE1-10A5-CF4FEFA0466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6967241A-0905-4002-E8E7-71AACEA87D0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956360593"/>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1895C-2A26-6D56-477C-F96C09FD1DB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DEF84C1-FBFF-604A-393C-647C0B64A5A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7F9A872-459A-DC5E-ED7F-65445831423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72FA086-D42A-8D1E-FD08-4A4960C62AF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26AEABE-4142-4B6E-A724-E3EBCC121E6C}"/>
              </a:ext>
            </a:extLst>
          </p:cNvPr>
          <p:cNvSpPr txBox="1">
            <a:spLocks/>
          </p:cNvSpPr>
          <p:nvPr/>
        </p:nvSpPr>
        <p:spPr>
          <a:xfrm>
            <a:off x="76200" y="741802"/>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err="1">
                <a:solidFill>
                  <a:schemeClr val="accent2"/>
                </a:solidFill>
              </a:rPr>
              <a:t>AuthZ</a:t>
            </a:r>
            <a:r>
              <a:rPr lang="en-US" sz="2400" kern="0" spc="-80" dirty="0">
                <a:solidFill>
                  <a:schemeClr val="accent2"/>
                </a:solidFill>
              </a:rPr>
              <a:t> Providers - TOPAZ</a:t>
            </a:r>
          </a:p>
          <a:p>
            <a:r>
              <a:rPr lang="en-US" sz="1200" kern="0" spc="-80" dirty="0">
                <a:solidFill>
                  <a:schemeClr val="accent6"/>
                </a:solidFill>
              </a:rPr>
              <a:t>Topaz implements a hybrid authorization approach that combines elements of both Open Policy Agent (OPA) and the Google Zanzibar data model, which </a:t>
            </a:r>
            <a:r>
              <a:rPr lang="en-US" sz="1200" kern="0" spc="-80" dirty="0" err="1">
                <a:solidFill>
                  <a:schemeClr val="accent6"/>
                </a:solidFill>
              </a:rPr>
              <a:t>OpenFGA</a:t>
            </a:r>
            <a:r>
              <a:rPr lang="en-US" sz="1200" kern="0" spc="-80" dirty="0">
                <a:solidFill>
                  <a:schemeClr val="accent6"/>
                </a:solidFill>
              </a:rPr>
              <a:t> is also based on.</a:t>
            </a:r>
          </a:p>
          <a:p>
            <a:r>
              <a:rPr lang="en-US" sz="1200" kern="0" spc="-80" dirty="0">
                <a:solidFill>
                  <a:schemeClr val="accent6"/>
                </a:solidFill>
              </a:rPr>
              <a:t>OPA Integration:</a:t>
            </a:r>
            <a:br>
              <a:rPr lang="en-US" sz="1200" kern="0" spc="-80" dirty="0">
                <a:solidFill>
                  <a:schemeClr val="accent6"/>
                </a:solidFill>
              </a:rPr>
            </a:br>
            <a:r>
              <a:rPr lang="en-US" sz="1200" kern="0" spc="-80" dirty="0">
                <a:solidFill>
                  <a:schemeClr val="accent6"/>
                </a:solidFill>
              </a:rPr>
              <a:t>Topaz uses the OPA decision engine as an embedded library. This means it leverages OPA's core capabilities for policy evaluation, including full support for the Rego policy language.</a:t>
            </a:r>
            <a:br>
              <a:rPr lang="en-US" sz="1200" kern="0" spc="-80" dirty="0">
                <a:solidFill>
                  <a:schemeClr val="accent6"/>
                </a:solidFill>
              </a:rPr>
            </a:br>
            <a:r>
              <a:rPr lang="en-US" sz="1200" kern="0" spc="-80" dirty="0">
                <a:solidFill>
                  <a:schemeClr val="accent6"/>
                </a:solidFill>
              </a:rPr>
              <a:t>This allows Topaz to handle Attribute-Based Access Control (ABAC) scenarios and other policy-driven authorization logic defined in Rego.</a:t>
            </a:r>
            <a:br>
              <a:rPr lang="en-US" sz="1200" kern="0" spc="-80" dirty="0">
                <a:solidFill>
                  <a:schemeClr val="accent6"/>
                </a:solidFill>
              </a:rPr>
            </a:br>
            <a:r>
              <a:rPr lang="en-US" sz="1200" kern="0" spc="-80" dirty="0">
                <a:solidFill>
                  <a:schemeClr val="accent6"/>
                </a:solidFill>
              </a:rPr>
              <a:t>Topaz also benefits from OPA's standard query protocol, policy language, and decision log format.</a:t>
            </a:r>
          </a:p>
          <a:p>
            <a:r>
              <a:rPr lang="en-US" sz="1200" kern="0" spc="-80" dirty="0">
                <a:solidFill>
                  <a:schemeClr val="accent6"/>
                </a:solidFill>
              </a:rPr>
              <a:t>Zanzibar-Style Data Store (similar to </a:t>
            </a:r>
            <a:r>
              <a:rPr lang="en-US" sz="1200" kern="0" spc="-80" dirty="0" err="1">
                <a:solidFill>
                  <a:schemeClr val="accent6"/>
                </a:solidFill>
              </a:rPr>
              <a:t>OpenFGA</a:t>
            </a:r>
            <a:r>
              <a:rPr lang="en-US" sz="1200" kern="0" spc="-80" dirty="0">
                <a:solidFill>
                  <a:schemeClr val="accent6"/>
                </a:solidFill>
              </a:rPr>
              <a:t>):</a:t>
            </a:r>
            <a:br>
              <a:rPr lang="en-US" sz="1200" kern="0" spc="-80" dirty="0">
                <a:solidFill>
                  <a:schemeClr val="accent6"/>
                </a:solidFill>
              </a:rPr>
            </a:br>
            <a:r>
              <a:rPr lang="en-US" sz="1200" kern="0" spc="-80" dirty="0">
                <a:solidFill>
                  <a:schemeClr val="accent6"/>
                </a:solidFill>
              </a:rPr>
              <a:t>Topaz includes an embedded database that implements a Zanzibar-style directory. This directory stores subjects, relationships, and objects in a graph-like structure. This enables Topaz to handle Relationship-Based Access Control (ReBAC), where authorization decisions are based on the relationships between users, resources, and other entities.</a:t>
            </a:r>
            <a:br>
              <a:rPr lang="en-US" sz="1200" kern="0" spc="-80" dirty="0">
                <a:solidFill>
                  <a:schemeClr val="accent6"/>
                </a:solidFill>
              </a:rPr>
            </a:br>
            <a:r>
              <a:rPr lang="en-US" sz="1200" kern="0" spc="-80" dirty="0">
                <a:solidFill>
                  <a:schemeClr val="accent6"/>
                </a:solidFill>
              </a:rPr>
              <a:t>Topaz provides built-in functions, such as </a:t>
            </a:r>
            <a:r>
              <a:rPr lang="en-US" sz="1200" kern="0" spc="-80" dirty="0" err="1">
                <a:solidFill>
                  <a:schemeClr val="accent6"/>
                </a:solidFill>
              </a:rPr>
              <a:t>check_permission</a:t>
            </a:r>
            <a:r>
              <a:rPr lang="en-US" sz="1200" kern="0" spc="-80" dirty="0">
                <a:solidFill>
                  <a:schemeClr val="accent6"/>
                </a:solidFill>
              </a:rPr>
              <a:t> and </a:t>
            </a:r>
            <a:r>
              <a:rPr lang="en-US" sz="1200" kern="0" spc="-80" dirty="0" err="1">
                <a:solidFill>
                  <a:schemeClr val="accent6"/>
                </a:solidFill>
              </a:rPr>
              <a:t>check_relation</a:t>
            </a:r>
            <a:r>
              <a:rPr lang="en-US" sz="1200" kern="0" spc="-80" dirty="0">
                <a:solidFill>
                  <a:schemeClr val="accent6"/>
                </a:solidFill>
              </a:rPr>
              <a:t>, that facilitate graph traversal over this Zanzibar-style store, similar to how </a:t>
            </a:r>
            <a:r>
              <a:rPr lang="en-US" sz="1200" kern="0" spc="-80" dirty="0" err="1">
                <a:solidFill>
                  <a:schemeClr val="accent6"/>
                </a:solidFill>
              </a:rPr>
              <a:t>OpenFGA</a:t>
            </a:r>
            <a:r>
              <a:rPr lang="en-US" sz="1200" kern="0" spc="-80" dirty="0">
                <a:solidFill>
                  <a:schemeClr val="accent6"/>
                </a:solidFill>
              </a:rPr>
              <a:t> operates.</a:t>
            </a:r>
            <a:br>
              <a:rPr lang="en-US" sz="1200" kern="0" spc="-80" dirty="0">
                <a:solidFill>
                  <a:schemeClr val="accent6"/>
                </a:solidFill>
              </a:rPr>
            </a:br>
            <a:r>
              <a:rPr lang="en-US" sz="1200" kern="0" spc="-80" dirty="0">
                <a:solidFill>
                  <a:schemeClr val="accent2"/>
                </a:solidFill>
              </a:rPr>
              <a:t>In essence, Topaz provides:</a:t>
            </a:r>
            <a:br>
              <a:rPr lang="en-US" sz="1200" kern="0" spc="-80" dirty="0">
                <a:solidFill>
                  <a:schemeClr val="accent6"/>
                </a:solidFill>
              </a:rPr>
            </a:br>
            <a:r>
              <a:rPr lang="en-US" sz="1200" kern="0" spc="-80" dirty="0">
                <a:solidFill>
                  <a:schemeClr val="accent2"/>
                </a:solidFill>
              </a:rPr>
              <a:t>Policy-as-code capabilities:</a:t>
            </a:r>
            <a:r>
              <a:rPr lang="en-US" sz="1200" kern="0" spc="-80" dirty="0">
                <a:solidFill>
                  <a:schemeClr val="accent6"/>
                </a:solidFill>
              </a:rPr>
              <a:t> through its OPA integration and Rego policies.</a:t>
            </a:r>
            <a:br>
              <a:rPr lang="en-US" sz="1200" kern="0" spc="-80" dirty="0">
                <a:solidFill>
                  <a:schemeClr val="accent6"/>
                </a:solidFill>
              </a:rPr>
            </a:br>
            <a:r>
              <a:rPr lang="en-US" sz="1200" kern="0" spc="-80" dirty="0">
                <a:solidFill>
                  <a:schemeClr val="accent2"/>
                </a:solidFill>
              </a:rPr>
              <a:t>Policy-as-data capabilities:</a:t>
            </a:r>
            <a:r>
              <a:rPr lang="en-US" sz="1200" kern="0" spc="-80" dirty="0">
                <a:solidFill>
                  <a:schemeClr val="accent6"/>
                </a:solidFill>
              </a:rPr>
              <a:t> through its Zanzibar-style relationship store, allowing for fine-grained, relationship-based authorization.</a:t>
            </a:r>
            <a:br>
              <a:rPr lang="en-US" sz="1200" kern="0" spc="-80" dirty="0">
                <a:solidFill>
                  <a:schemeClr val="accent6"/>
                </a:solidFill>
              </a:rPr>
            </a:br>
            <a:r>
              <a:rPr lang="en-US" sz="1200" kern="0" spc="-80" dirty="0">
                <a:solidFill>
                  <a:schemeClr val="accent6"/>
                </a:solidFill>
              </a:rPr>
              <a:t>This combination allows Topaz to address a broad range of authorization use cases, including RBAC, ABAC, and ReBAC, within a single, self-contained solution.</a:t>
            </a:r>
          </a:p>
          <a:p>
            <a:pPr marL="12700" marR="5080"/>
            <a:r>
              <a:rPr lang="en-US" sz="1200" kern="0" spc="-80" dirty="0">
                <a:solidFill>
                  <a:schemeClr val="accent2"/>
                </a:solidFill>
              </a:rPr>
              <a:t>For Further Exploration</a:t>
            </a:r>
          </a:p>
          <a:p>
            <a:pPr marL="12700" marR="5080"/>
            <a:r>
              <a:rPr lang="en-US" sz="1200" dirty="0">
                <a:hlinkClick r:id="rId2"/>
              </a:rPr>
              <a:t>Unlocking fine-grained authorization with Topaz authorizer</a:t>
            </a:r>
            <a:endParaRPr lang="en-US" sz="1200" dirty="0"/>
          </a:p>
          <a:p>
            <a:pPr marL="12700" marR="5080"/>
            <a:r>
              <a:rPr lang="en-US" sz="1200" dirty="0">
                <a:hlinkClick r:id="rId3"/>
              </a:rPr>
              <a:t>Topaz: Cloud-native authorization for modern applications and APIs</a:t>
            </a:r>
            <a:endParaRPr lang="en-US" sz="1200" dirty="0"/>
          </a:p>
          <a:p>
            <a:pPr marL="12700" marR="5080"/>
            <a:r>
              <a:rPr lang="en-IN" sz="1200" dirty="0" err="1">
                <a:hlinkClick r:id="rId4"/>
              </a:rPr>
              <a:t>aserto</a:t>
            </a:r>
            <a:r>
              <a:rPr lang="en-IN" sz="1200" dirty="0">
                <a:hlinkClick r:id="rId4"/>
              </a:rPr>
              <a:t>-dev/</a:t>
            </a:r>
            <a:r>
              <a:rPr lang="en-IN" sz="1200" dirty="0" err="1">
                <a:hlinkClick r:id="rId4"/>
              </a:rPr>
              <a:t>aserto</a:t>
            </a:r>
            <a:r>
              <a:rPr lang="en-IN" sz="1200" dirty="0">
                <a:hlinkClick r:id="rId4"/>
              </a:rPr>
              <a:t>-dotnet: </a:t>
            </a:r>
            <a:r>
              <a:rPr lang="en-IN" sz="1200" dirty="0" err="1">
                <a:hlinkClick r:id="rId4"/>
              </a:rPr>
              <a:t>Aserto</a:t>
            </a:r>
            <a:r>
              <a:rPr lang="en-IN" sz="1200" dirty="0">
                <a:hlinkClick r:id="rId4"/>
              </a:rPr>
              <a:t> dotnet SDK</a:t>
            </a:r>
            <a:endParaRPr lang="en-US" sz="1200" kern="0" spc="-80" dirty="0">
              <a:solidFill>
                <a:schemeClr val="accent6"/>
              </a:solidFill>
            </a:endParaRPr>
          </a:p>
        </p:txBody>
      </p:sp>
      <p:grpSp>
        <p:nvGrpSpPr>
          <p:cNvPr id="7" name="Group 6">
            <a:extLst>
              <a:ext uri="{FF2B5EF4-FFF2-40B4-BE49-F238E27FC236}">
                <a16:creationId xmlns:a16="http://schemas.microsoft.com/office/drawing/2014/main" id="{6D9B4766-65E0-D5A7-F71C-480A412B5B63}"/>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B7B93EB-1B62-F3C2-0D72-813EA7439CE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69E1F7E8-D229-8FDB-39EC-C90A063B230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706666226"/>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76200" y="729020"/>
            <a:ext cx="8624937"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Threat Modelling</a:t>
            </a:r>
          </a:p>
          <a:p>
            <a:pPr marL="12700" marR="5080"/>
            <a:r>
              <a:rPr lang="en-US" sz="1500" kern="0" spc="-80" dirty="0">
                <a:solidFill>
                  <a:schemeClr val="accent2"/>
                </a:solidFill>
              </a:rPr>
              <a:t>1. What Threat Modeling Really Is (Mental Model)</a:t>
            </a:r>
          </a:p>
          <a:p>
            <a:pPr marL="12700" marR="5080"/>
            <a:r>
              <a:rPr lang="en-US" sz="1500" kern="0" spc="-80" dirty="0">
                <a:solidFill>
                  <a:schemeClr val="accent2"/>
                </a:solidFill>
              </a:rPr>
              <a:t>Simple definition</a:t>
            </a:r>
          </a:p>
          <a:p>
            <a:pPr marL="12700" marR="5080"/>
            <a:r>
              <a:rPr lang="en-US" sz="1500" kern="0" spc="-80" dirty="0">
                <a:solidFill>
                  <a:schemeClr val="accent6"/>
                </a:solidFill>
              </a:rPr>
              <a:t>Threat Modeling = structured imagination of how your system can be attacked, misused, or fail before it happens.</a:t>
            </a:r>
          </a:p>
          <a:p>
            <a:pPr marL="12700" marR="5080"/>
            <a:r>
              <a:rPr lang="en-US" sz="1500" kern="0" spc="-80" dirty="0">
                <a:solidFill>
                  <a:schemeClr val="accent2"/>
                </a:solidFill>
              </a:rPr>
              <a:t>Think of it as:</a:t>
            </a:r>
          </a:p>
          <a:p>
            <a:pPr marL="12700" marR="5080"/>
            <a:r>
              <a:rPr lang="en-US" sz="1500" kern="0" spc="-80" dirty="0">
                <a:solidFill>
                  <a:schemeClr val="accent6"/>
                </a:solidFill>
              </a:rPr>
              <a:t>Architecture review with an attacker’s brain</a:t>
            </a:r>
          </a:p>
          <a:p>
            <a:pPr marL="12700" marR="5080"/>
            <a:r>
              <a:rPr lang="en-US" sz="1500" kern="0" spc="-80" dirty="0">
                <a:solidFill>
                  <a:schemeClr val="accent6"/>
                </a:solidFill>
              </a:rPr>
              <a:t>Risk discovery, not vulnerability scanning</a:t>
            </a:r>
          </a:p>
          <a:p>
            <a:pPr marL="12700" marR="5080"/>
            <a:r>
              <a:rPr lang="en-US" sz="1500" kern="0" spc="-80" dirty="0">
                <a:solidFill>
                  <a:schemeClr val="accent6"/>
                </a:solidFill>
              </a:rPr>
              <a:t>Design-time security, not just runtime controls</a:t>
            </a:r>
          </a:p>
          <a:p>
            <a:pPr marL="12700" marR="5080"/>
            <a:r>
              <a:rPr lang="en-US" sz="1500" kern="0" spc="-80" dirty="0">
                <a:solidFill>
                  <a:schemeClr val="accent2"/>
                </a:solidFill>
              </a:rPr>
              <a:t>Core questions Threat Modeling answers</a:t>
            </a:r>
          </a:p>
          <a:p>
            <a:pPr marL="12700" marR="5080"/>
            <a:r>
              <a:rPr lang="en-US" sz="1500" kern="0" spc="-80" dirty="0">
                <a:solidFill>
                  <a:schemeClr val="accent6"/>
                </a:solidFill>
              </a:rPr>
              <a:t>What are we building?</a:t>
            </a:r>
          </a:p>
          <a:p>
            <a:pPr marL="12700" marR="5080"/>
            <a:r>
              <a:rPr lang="en-US" sz="1500" kern="0" spc="-80" dirty="0">
                <a:solidFill>
                  <a:schemeClr val="accent6"/>
                </a:solidFill>
              </a:rPr>
              <a:t>What can go wrong?</a:t>
            </a:r>
          </a:p>
          <a:p>
            <a:pPr marL="12700" marR="5080"/>
            <a:r>
              <a:rPr lang="en-US" sz="1500" kern="0" spc="-80" dirty="0">
                <a:solidFill>
                  <a:schemeClr val="accent6"/>
                </a:solidFill>
              </a:rPr>
              <a:t>What are we doing about it?</a:t>
            </a:r>
          </a:p>
          <a:p>
            <a:pPr marL="12700" marR="5080"/>
            <a:r>
              <a:rPr lang="en-US" sz="1500" kern="0" spc="-80" dirty="0">
                <a:solidFill>
                  <a:schemeClr val="accent6"/>
                </a:solidFill>
              </a:rPr>
              <a:t>Did we do a good enough job?</a:t>
            </a:r>
          </a:p>
          <a:p>
            <a:pPr marL="12700" marR="5080"/>
            <a:r>
              <a:rPr lang="en-US" sz="1500" kern="0" spc="-80" dirty="0">
                <a:solidFill>
                  <a:schemeClr val="accent2"/>
                </a:solidFill>
              </a:rPr>
              <a:t>2. Why Threat Modeling Matters (Beyond Compliance)</a:t>
            </a:r>
          </a:p>
          <a:p>
            <a:pPr marL="12700" marR="5080"/>
            <a:r>
              <a:rPr lang="en-US" sz="1500" kern="0" spc="-80" dirty="0">
                <a:solidFill>
                  <a:schemeClr val="accent2"/>
                </a:solidFill>
              </a:rPr>
              <a:t>Without Threat Modeling	With Threat Modeling</a:t>
            </a:r>
          </a:p>
          <a:p>
            <a:pPr marL="12700" marR="5080"/>
            <a:r>
              <a:rPr lang="en-US" sz="1500" kern="0" spc="-80" dirty="0">
                <a:solidFill>
                  <a:schemeClr val="accent6"/>
                </a:solidFill>
              </a:rPr>
              <a:t>Security added late	                  Security built-in</a:t>
            </a:r>
          </a:p>
          <a:p>
            <a:pPr marL="12700" marR="5080"/>
            <a:r>
              <a:rPr lang="en-US" sz="1500" kern="0" spc="-80" dirty="0">
                <a:solidFill>
                  <a:schemeClr val="accent6"/>
                </a:solidFill>
              </a:rPr>
              <a:t>Reactive patching	                  Proactive risk elimination</a:t>
            </a:r>
          </a:p>
          <a:p>
            <a:pPr marL="12700" marR="5080"/>
            <a:r>
              <a:rPr lang="en-US" sz="1500" kern="0" spc="-80" dirty="0">
                <a:solidFill>
                  <a:schemeClr val="accent6"/>
                </a:solidFill>
              </a:rPr>
              <a:t>Checklist security	                  Context-aware security</a:t>
            </a:r>
          </a:p>
          <a:p>
            <a:pPr marL="12700" marR="5080"/>
            <a:r>
              <a:rPr lang="en-US" sz="1500" kern="0" spc="-80" dirty="0">
                <a:solidFill>
                  <a:schemeClr val="accent6"/>
                </a:solidFill>
              </a:rPr>
              <a:t>Blind spots	                  Known residual risks</a:t>
            </a:r>
          </a:p>
          <a:p>
            <a:pPr marL="12700" marR="5080"/>
            <a:r>
              <a:rPr lang="en-US" sz="1500" kern="0" spc="-80" dirty="0">
                <a:solidFill>
                  <a:schemeClr val="accent6"/>
                </a:solidFill>
              </a:rPr>
              <a:t>🔑 80% of severe breaches exploit design flaws, not code bugs</a:t>
            </a:r>
          </a:p>
        </p:txBody>
      </p:sp>
      <p:grpSp>
        <p:nvGrpSpPr>
          <p:cNvPr id="7" name="Group 6">
            <a:extLst>
              <a:ext uri="{FF2B5EF4-FFF2-40B4-BE49-F238E27FC236}">
                <a16:creationId xmlns:a16="http://schemas.microsoft.com/office/drawing/2014/main" id="{98CD3927-A32D-76B2-1025-CD8413E94B8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9D6E107-32A2-D10F-7BA2-34E6D7AB667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F7D29FF-6E3E-F583-212F-249405747C9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025406838"/>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53264-9090-935C-BD08-691CF6ABF41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19A51F9-8649-ECC0-558B-D247A227E67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FCE7E27-C693-E646-479B-6F022A32A07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526AFA-1020-C9CE-18AD-E65823D6E17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B8F88E0-0134-4F74-61FD-775E6699B1DA}"/>
              </a:ext>
            </a:extLst>
          </p:cNvPr>
          <p:cNvSpPr txBox="1">
            <a:spLocks/>
          </p:cNvSpPr>
          <p:nvPr/>
        </p:nvSpPr>
        <p:spPr>
          <a:xfrm>
            <a:off x="76200" y="805220"/>
            <a:ext cx="8624937"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Threat Modelling</a:t>
            </a:r>
          </a:p>
          <a:p>
            <a:pPr marL="12700" marR="5080"/>
            <a:r>
              <a:rPr lang="en-US" sz="1500" kern="0" spc="-80" dirty="0">
                <a:solidFill>
                  <a:schemeClr val="accent2"/>
                </a:solidFill>
              </a:rPr>
              <a:t>3. Core Building Blocks of Threat Modeling</a:t>
            </a:r>
          </a:p>
          <a:p>
            <a:pPr marL="12700" marR="5080"/>
            <a:r>
              <a:rPr lang="en-US" sz="1500" kern="0" spc="-80" dirty="0">
                <a:solidFill>
                  <a:schemeClr val="accent2"/>
                </a:solidFill>
              </a:rPr>
              <a:t>3.1 Assets</a:t>
            </a:r>
          </a:p>
          <a:p>
            <a:pPr marL="12700" marR="5080"/>
            <a:r>
              <a:rPr lang="en-US" sz="1500" kern="0" spc="-80" dirty="0">
                <a:solidFill>
                  <a:schemeClr val="accent6"/>
                </a:solidFill>
              </a:rPr>
              <a:t>What you’re protecting.</a:t>
            </a:r>
          </a:p>
          <a:p>
            <a:pPr marL="12700" marR="5080"/>
            <a:r>
              <a:rPr lang="en-US" sz="1500" kern="0" spc="-80" dirty="0">
                <a:solidFill>
                  <a:schemeClr val="accent2"/>
                </a:solidFill>
              </a:rPr>
              <a:t>Examples:</a:t>
            </a:r>
          </a:p>
          <a:p>
            <a:pPr marL="12700" marR="5080"/>
            <a:r>
              <a:rPr lang="en-US" sz="1500" kern="0" spc="-80" dirty="0">
                <a:solidFill>
                  <a:schemeClr val="accent6"/>
                </a:solidFill>
              </a:rPr>
              <a:t>Customer PII</a:t>
            </a:r>
          </a:p>
          <a:p>
            <a:pPr marL="12700" marR="5080"/>
            <a:r>
              <a:rPr lang="en-US" sz="1500" kern="0" spc="-80" dirty="0">
                <a:solidFill>
                  <a:schemeClr val="accent6"/>
                </a:solidFill>
              </a:rPr>
              <a:t>Credentials / tokens</a:t>
            </a:r>
          </a:p>
          <a:p>
            <a:pPr marL="12700" marR="5080"/>
            <a:r>
              <a:rPr lang="en-US" sz="1500" kern="0" spc="-80" dirty="0">
                <a:solidFill>
                  <a:schemeClr val="accent6"/>
                </a:solidFill>
              </a:rPr>
              <a:t>Intellectual property</a:t>
            </a:r>
          </a:p>
          <a:p>
            <a:pPr marL="12700" marR="5080"/>
            <a:r>
              <a:rPr lang="en-US" sz="1500" kern="0" spc="-80" dirty="0">
                <a:solidFill>
                  <a:schemeClr val="accent6"/>
                </a:solidFill>
              </a:rPr>
              <a:t>Availability of critical systems</a:t>
            </a:r>
          </a:p>
          <a:p>
            <a:pPr marL="12700" marR="5080"/>
            <a:r>
              <a:rPr lang="en-US" sz="1500" kern="0" spc="-80" dirty="0">
                <a:solidFill>
                  <a:schemeClr val="accent6"/>
                </a:solidFill>
              </a:rPr>
              <a:t>Financial transactions</a:t>
            </a:r>
          </a:p>
          <a:p>
            <a:pPr marL="12700" marR="5080"/>
            <a:r>
              <a:rPr lang="en-US" sz="1500" kern="0" spc="-80" dirty="0">
                <a:solidFill>
                  <a:schemeClr val="accent6"/>
                </a:solidFill>
              </a:rPr>
              <a:t>Audit logs</a:t>
            </a:r>
          </a:p>
          <a:p>
            <a:pPr marL="12700" marR="5080"/>
            <a:r>
              <a:rPr lang="en-US" sz="1500" kern="0" spc="-80" dirty="0">
                <a:solidFill>
                  <a:schemeClr val="accent6"/>
                </a:solidFill>
              </a:rPr>
              <a:t>Rule: If you can’t name assets, you can’t secure the system.</a:t>
            </a:r>
          </a:p>
          <a:p>
            <a:pPr marL="12700" marR="5080"/>
            <a:r>
              <a:rPr lang="en-US" sz="1500" kern="0" spc="-80" dirty="0">
                <a:solidFill>
                  <a:schemeClr val="accent2"/>
                </a:solidFill>
              </a:rPr>
              <a:t>3.2 Actors</a:t>
            </a:r>
          </a:p>
          <a:p>
            <a:pPr marL="12700" marR="5080"/>
            <a:r>
              <a:rPr lang="en-US" sz="1500" kern="0" spc="-80" dirty="0">
                <a:solidFill>
                  <a:schemeClr val="accent6"/>
                </a:solidFill>
              </a:rPr>
              <a:t>Who interacts with the system.</a:t>
            </a:r>
          </a:p>
          <a:p>
            <a:pPr marL="12700" marR="5080"/>
            <a:r>
              <a:rPr lang="en-US" sz="1500" kern="0" spc="-80" dirty="0">
                <a:solidFill>
                  <a:schemeClr val="accent2"/>
                </a:solidFill>
              </a:rPr>
              <a:t>Types of actors</a:t>
            </a:r>
          </a:p>
          <a:p>
            <a:pPr marL="12700" marR="5080"/>
            <a:r>
              <a:rPr lang="en-US" sz="1500" kern="0" spc="-80" dirty="0">
                <a:solidFill>
                  <a:schemeClr val="accent6"/>
                </a:solidFill>
              </a:rPr>
              <a:t>Legitimate users</a:t>
            </a:r>
          </a:p>
          <a:p>
            <a:pPr marL="12700" marR="5080"/>
            <a:r>
              <a:rPr lang="en-US" sz="1500" kern="0" spc="-80" dirty="0">
                <a:solidFill>
                  <a:schemeClr val="accent6"/>
                </a:solidFill>
              </a:rPr>
              <a:t>Admins / operators</a:t>
            </a:r>
          </a:p>
          <a:p>
            <a:pPr marL="12700" marR="5080"/>
            <a:r>
              <a:rPr lang="en-US" sz="1500" kern="0" spc="-80" dirty="0">
                <a:solidFill>
                  <a:schemeClr val="accent6"/>
                </a:solidFill>
              </a:rPr>
              <a:t>External attackers</a:t>
            </a:r>
          </a:p>
          <a:p>
            <a:pPr marL="12700" marR="5080"/>
            <a:r>
              <a:rPr lang="en-US" sz="1500" kern="0" spc="-80" dirty="0">
                <a:solidFill>
                  <a:schemeClr val="accent6"/>
                </a:solidFill>
              </a:rPr>
              <a:t>Malicious insiders</a:t>
            </a:r>
          </a:p>
          <a:p>
            <a:pPr marL="12700" marR="5080"/>
            <a:r>
              <a:rPr lang="en-US" sz="1500" kern="0" spc="-80" dirty="0">
                <a:solidFill>
                  <a:schemeClr val="accent6"/>
                </a:solidFill>
              </a:rPr>
              <a:t>Automated bots</a:t>
            </a:r>
          </a:p>
          <a:p>
            <a:pPr marL="12700" marR="5080"/>
            <a:r>
              <a:rPr lang="en-US" sz="1500" kern="0" spc="-80" dirty="0">
                <a:solidFill>
                  <a:schemeClr val="accent6"/>
                </a:solidFill>
              </a:rPr>
              <a:t>Third-party systems</a:t>
            </a:r>
          </a:p>
        </p:txBody>
      </p:sp>
      <p:grpSp>
        <p:nvGrpSpPr>
          <p:cNvPr id="7" name="Group 6">
            <a:extLst>
              <a:ext uri="{FF2B5EF4-FFF2-40B4-BE49-F238E27FC236}">
                <a16:creationId xmlns:a16="http://schemas.microsoft.com/office/drawing/2014/main" id="{E0E836E5-2D1D-8957-68BB-EBE4AD0DFE8A}"/>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ECAD1E4-2FA1-91F1-2204-C9D20D06D38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10D4239-7FC6-8428-2172-82FB0B96832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329115964"/>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FA93E8-69E6-90AF-3C08-6FDCF47321F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4E9FDF0-826D-BBD1-9595-6ED0E1DC5AD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BBB7B55-95DF-C902-6347-4E70CAABBDE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BFAF8A2-8BC1-18D7-F52F-2E94259C5FA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300F38D-B3BC-20C4-C1DD-E1E329409787}"/>
              </a:ext>
            </a:extLst>
          </p:cNvPr>
          <p:cNvSpPr txBox="1">
            <a:spLocks/>
          </p:cNvSpPr>
          <p:nvPr/>
        </p:nvSpPr>
        <p:spPr>
          <a:xfrm>
            <a:off x="76200" y="733485"/>
            <a:ext cx="8624937" cy="45243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Threat Modelling</a:t>
            </a:r>
          </a:p>
          <a:p>
            <a:pPr marL="12700" marR="5080"/>
            <a:r>
              <a:rPr lang="en-US" sz="1500" kern="0" spc="-80" dirty="0">
                <a:solidFill>
                  <a:schemeClr val="accent2"/>
                </a:solidFill>
              </a:rPr>
              <a:t>3. Core Building Blocks of Threat Modeling</a:t>
            </a:r>
          </a:p>
          <a:p>
            <a:pPr marL="12700" marR="5080"/>
            <a:r>
              <a:rPr lang="en-US" sz="1500" kern="0" spc="-80" dirty="0">
                <a:solidFill>
                  <a:schemeClr val="accent2"/>
                </a:solidFill>
              </a:rPr>
              <a:t>3.2 Actors</a:t>
            </a:r>
          </a:p>
          <a:p>
            <a:pPr marL="12700" marR="5080"/>
            <a:r>
              <a:rPr lang="en-US" sz="1500" kern="0" spc="-80" dirty="0">
                <a:solidFill>
                  <a:schemeClr val="accent2"/>
                </a:solidFill>
              </a:rPr>
              <a:t>Each actor has:</a:t>
            </a:r>
          </a:p>
          <a:p>
            <a:pPr marL="12700" marR="5080"/>
            <a:r>
              <a:rPr lang="en-US" sz="1500" kern="0" spc="-80" dirty="0">
                <a:solidFill>
                  <a:schemeClr val="accent6"/>
                </a:solidFill>
              </a:rPr>
              <a:t>Capabilities</a:t>
            </a:r>
          </a:p>
          <a:p>
            <a:pPr marL="12700" marR="5080"/>
            <a:r>
              <a:rPr lang="en-US" sz="1500" kern="0" spc="-80" dirty="0">
                <a:solidFill>
                  <a:schemeClr val="accent6"/>
                </a:solidFill>
              </a:rPr>
              <a:t>Access levels</a:t>
            </a:r>
          </a:p>
          <a:p>
            <a:pPr marL="12700" marR="5080"/>
            <a:r>
              <a:rPr lang="en-US" sz="1500" kern="0" spc="-80" dirty="0">
                <a:solidFill>
                  <a:schemeClr val="accent6"/>
                </a:solidFill>
              </a:rPr>
              <a:t>Motivation</a:t>
            </a:r>
          </a:p>
          <a:p>
            <a:pPr marL="12700" marR="5080"/>
            <a:r>
              <a:rPr lang="en-US" sz="1500" kern="0" spc="-80" dirty="0">
                <a:solidFill>
                  <a:schemeClr val="accent2"/>
                </a:solidFill>
              </a:rPr>
              <a:t>3.3 Trust Boundaries (Most Important Concept)</a:t>
            </a:r>
          </a:p>
          <a:p>
            <a:pPr marL="12700" marR="5080"/>
            <a:r>
              <a:rPr lang="en-US" sz="1500" kern="0" spc="-80" dirty="0">
                <a:solidFill>
                  <a:schemeClr val="accent2"/>
                </a:solidFill>
              </a:rPr>
              <a:t>A trust boundary exists whenever:</a:t>
            </a:r>
          </a:p>
          <a:p>
            <a:pPr marL="12700" marR="5080"/>
            <a:r>
              <a:rPr lang="en-US" sz="1500" kern="0" spc="-80" dirty="0">
                <a:solidFill>
                  <a:schemeClr val="accent6"/>
                </a:solidFill>
              </a:rPr>
              <a:t>Data crosses a network</a:t>
            </a:r>
          </a:p>
          <a:p>
            <a:pPr marL="12700" marR="5080"/>
            <a:r>
              <a:rPr lang="en-US" sz="1500" kern="0" spc="-80" dirty="0">
                <a:solidFill>
                  <a:schemeClr val="accent6"/>
                </a:solidFill>
              </a:rPr>
              <a:t>Data moves between privilege levels</a:t>
            </a:r>
          </a:p>
          <a:p>
            <a:pPr marL="12700" marR="5080"/>
            <a:r>
              <a:rPr lang="en-US" sz="1500" kern="0" spc="-80" dirty="0">
                <a:solidFill>
                  <a:schemeClr val="accent6"/>
                </a:solidFill>
              </a:rPr>
              <a:t>Ownership changes (user → system → third-party)</a:t>
            </a:r>
          </a:p>
          <a:p>
            <a:pPr marL="12700" marR="5080"/>
            <a:r>
              <a:rPr lang="en-US" sz="1500" kern="0" spc="-80" dirty="0">
                <a:solidFill>
                  <a:schemeClr val="accent2"/>
                </a:solidFill>
              </a:rPr>
              <a:t>Examples:</a:t>
            </a:r>
          </a:p>
          <a:p>
            <a:pPr marL="12700" marR="5080"/>
            <a:r>
              <a:rPr lang="en-US" sz="1500" kern="0" spc="-80" dirty="0">
                <a:solidFill>
                  <a:schemeClr val="accent6"/>
                </a:solidFill>
              </a:rPr>
              <a:t>Browser → API</a:t>
            </a:r>
          </a:p>
          <a:p>
            <a:pPr marL="12700" marR="5080"/>
            <a:r>
              <a:rPr lang="en-US" sz="1500" kern="0" spc="-80" dirty="0">
                <a:solidFill>
                  <a:schemeClr val="accent6"/>
                </a:solidFill>
              </a:rPr>
              <a:t>API → Database</a:t>
            </a:r>
          </a:p>
          <a:p>
            <a:pPr marL="12700" marR="5080"/>
            <a:r>
              <a:rPr lang="en-US" sz="1500" kern="0" spc="-80" dirty="0">
                <a:solidFill>
                  <a:schemeClr val="accent6"/>
                </a:solidFill>
              </a:rPr>
              <a:t>Kubernetes pod → Cloud metadata service</a:t>
            </a:r>
          </a:p>
          <a:p>
            <a:pPr marL="12700" marR="5080"/>
            <a:r>
              <a:rPr lang="en-US" sz="1500" kern="0" spc="-80" dirty="0">
                <a:solidFill>
                  <a:schemeClr val="accent6"/>
                </a:solidFill>
              </a:rPr>
              <a:t>Internal service → External SaaS</a:t>
            </a:r>
          </a:p>
          <a:p>
            <a:pPr marL="12700" marR="5080"/>
            <a:r>
              <a:rPr lang="en-US" sz="1500" kern="0" spc="-80" dirty="0">
                <a:solidFill>
                  <a:schemeClr val="accent6"/>
                </a:solidFill>
              </a:rPr>
              <a:t>🔥 Most vulnerabilities happen at trust boundaries</a:t>
            </a:r>
          </a:p>
          <a:p>
            <a:pPr marL="12700" marR="5080"/>
            <a:endParaRPr lang="en-US" sz="1500" kern="0" spc="-80" dirty="0">
              <a:solidFill>
                <a:schemeClr val="accent6"/>
              </a:solidFill>
            </a:endParaRPr>
          </a:p>
        </p:txBody>
      </p:sp>
      <p:grpSp>
        <p:nvGrpSpPr>
          <p:cNvPr id="7" name="Group 6">
            <a:extLst>
              <a:ext uri="{FF2B5EF4-FFF2-40B4-BE49-F238E27FC236}">
                <a16:creationId xmlns:a16="http://schemas.microsoft.com/office/drawing/2014/main" id="{13BE7D48-D0A5-E444-96FE-2983A9538B4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327CAA9-09BB-2321-046F-99AD8C33089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1AB31FB-2786-CE72-7076-14F871BFBE8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563910332"/>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34AE7-C577-F749-F87D-8C540030CE8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BCA53E6-50F5-BAF3-FF55-72C3184C0C8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35767EE-5DA8-2572-37D3-82653284A10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0D8908E-C4F4-9790-121C-A8E223DD0B6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0C9C464-E584-AB8D-12C4-A86D1B9EC47C}"/>
              </a:ext>
            </a:extLst>
          </p:cNvPr>
          <p:cNvSpPr txBox="1">
            <a:spLocks/>
          </p:cNvSpPr>
          <p:nvPr/>
        </p:nvSpPr>
        <p:spPr>
          <a:xfrm>
            <a:off x="76200" y="733485"/>
            <a:ext cx="8624937" cy="45243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Threat Modelling</a:t>
            </a:r>
          </a:p>
          <a:p>
            <a:pPr marL="12700" marR="5080"/>
            <a:r>
              <a:rPr lang="en-US" sz="1500" kern="0" spc="-80" dirty="0">
                <a:solidFill>
                  <a:schemeClr val="accent2"/>
                </a:solidFill>
              </a:rPr>
              <a:t>3. Core Building Blocks of Threat Modeling</a:t>
            </a:r>
          </a:p>
          <a:p>
            <a:pPr marL="12700" marR="5080"/>
            <a:r>
              <a:rPr lang="en-US" sz="1500" kern="0" spc="-80" dirty="0">
                <a:solidFill>
                  <a:schemeClr val="accent2"/>
                </a:solidFill>
              </a:rPr>
              <a:t>3.4 Entry Points</a:t>
            </a:r>
          </a:p>
          <a:p>
            <a:pPr marL="12700" marR="5080"/>
            <a:r>
              <a:rPr lang="en-US" sz="1500" kern="0" spc="-80" dirty="0">
                <a:solidFill>
                  <a:schemeClr val="accent6"/>
                </a:solidFill>
              </a:rPr>
              <a:t>Ways attackers can interact with the system.</a:t>
            </a:r>
          </a:p>
          <a:p>
            <a:pPr marL="12700" marR="5080"/>
            <a:r>
              <a:rPr lang="en-US" sz="1500" kern="0" spc="-80" dirty="0">
                <a:solidFill>
                  <a:schemeClr val="accent2"/>
                </a:solidFill>
              </a:rPr>
              <a:t>Examples:</a:t>
            </a:r>
          </a:p>
          <a:p>
            <a:pPr marL="12700" marR="5080"/>
            <a:r>
              <a:rPr lang="en-US" sz="1500" kern="0" spc="-80" dirty="0">
                <a:solidFill>
                  <a:schemeClr val="accent6"/>
                </a:solidFill>
              </a:rPr>
              <a:t>REST APIs</a:t>
            </a:r>
          </a:p>
          <a:p>
            <a:pPr marL="12700" marR="5080"/>
            <a:r>
              <a:rPr lang="en-US" sz="1500" kern="0" spc="-80" dirty="0">
                <a:solidFill>
                  <a:schemeClr val="accent6"/>
                </a:solidFill>
              </a:rPr>
              <a:t>Message queues</a:t>
            </a:r>
          </a:p>
          <a:p>
            <a:pPr marL="12700" marR="5080"/>
            <a:r>
              <a:rPr lang="en-US" sz="1500" kern="0" spc="-80" dirty="0">
                <a:solidFill>
                  <a:schemeClr val="accent6"/>
                </a:solidFill>
              </a:rPr>
              <a:t>File uploads</a:t>
            </a:r>
          </a:p>
          <a:p>
            <a:pPr marL="12700" marR="5080"/>
            <a:r>
              <a:rPr lang="en-US" sz="1500" kern="0" spc="-80" dirty="0">
                <a:solidFill>
                  <a:schemeClr val="accent6"/>
                </a:solidFill>
              </a:rPr>
              <a:t>Webhooks</a:t>
            </a:r>
          </a:p>
          <a:p>
            <a:pPr marL="12700" marR="5080"/>
            <a:r>
              <a:rPr lang="en-US" sz="1500" kern="0" spc="-80" dirty="0">
                <a:solidFill>
                  <a:schemeClr val="accent6"/>
                </a:solidFill>
              </a:rPr>
              <a:t>Admin consoles</a:t>
            </a:r>
          </a:p>
          <a:p>
            <a:pPr marL="12700" marR="5080"/>
            <a:r>
              <a:rPr lang="en-US" sz="1500" kern="0" spc="-80" dirty="0">
                <a:solidFill>
                  <a:schemeClr val="accent6"/>
                </a:solidFill>
              </a:rPr>
              <a:t>CI/CD pipelines</a:t>
            </a:r>
          </a:p>
          <a:p>
            <a:pPr marL="12700" marR="5080"/>
            <a:endParaRPr lang="en-US" sz="1500" kern="0" spc="-80" dirty="0">
              <a:solidFill>
                <a:schemeClr val="accent6"/>
              </a:solidFill>
            </a:endParaRPr>
          </a:p>
          <a:p>
            <a:pPr marL="12700" marR="5080"/>
            <a:r>
              <a:rPr lang="en-US" sz="1500" kern="0" spc="-80" dirty="0">
                <a:solidFill>
                  <a:schemeClr val="accent2"/>
                </a:solidFill>
              </a:rPr>
              <a:t>4. Threat Modeling Process (Step-by-Step)</a:t>
            </a:r>
          </a:p>
          <a:p>
            <a:pPr marL="12700" marR="5080"/>
            <a:r>
              <a:rPr lang="en-US" sz="1500" kern="0" spc="-80" dirty="0">
                <a:solidFill>
                  <a:schemeClr val="accent2"/>
                </a:solidFill>
              </a:rPr>
              <a:t>Step 1: Define Scope</a:t>
            </a:r>
          </a:p>
          <a:p>
            <a:pPr marL="12700" marR="5080"/>
            <a:r>
              <a:rPr lang="en-US" sz="1500" kern="0" spc="-80" dirty="0">
                <a:solidFill>
                  <a:schemeClr val="accent6"/>
                </a:solidFill>
              </a:rPr>
              <a:t>Which system?</a:t>
            </a:r>
          </a:p>
          <a:p>
            <a:pPr marL="12700" marR="5080"/>
            <a:r>
              <a:rPr lang="en-US" sz="1500" kern="0" spc="-80" dirty="0">
                <a:solidFill>
                  <a:schemeClr val="accent6"/>
                </a:solidFill>
              </a:rPr>
              <a:t>Which environment? (Prod vs Dev)</a:t>
            </a:r>
          </a:p>
          <a:p>
            <a:pPr marL="12700" marR="5080"/>
            <a:r>
              <a:rPr lang="en-US" sz="1500" kern="0" spc="-80" dirty="0">
                <a:solidFill>
                  <a:schemeClr val="accent6"/>
                </a:solidFill>
              </a:rPr>
              <a:t>Which use cases?</a:t>
            </a:r>
          </a:p>
          <a:p>
            <a:pPr marL="12700" marR="5080"/>
            <a:r>
              <a:rPr lang="en-US" sz="1500" kern="0" spc="-80" dirty="0">
                <a:solidFill>
                  <a:schemeClr val="accent6"/>
                </a:solidFill>
              </a:rPr>
              <a:t>⚠️ Threat modeling everything = threat modeling nothing</a:t>
            </a:r>
          </a:p>
          <a:p>
            <a:pPr marL="12700" marR="5080"/>
            <a:endParaRPr lang="en-US" sz="1500" kern="0" spc="-80" dirty="0">
              <a:solidFill>
                <a:schemeClr val="accent6"/>
              </a:solidFill>
            </a:endParaRPr>
          </a:p>
        </p:txBody>
      </p:sp>
      <p:grpSp>
        <p:nvGrpSpPr>
          <p:cNvPr id="7" name="Group 6">
            <a:extLst>
              <a:ext uri="{FF2B5EF4-FFF2-40B4-BE49-F238E27FC236}">
                <a16:creationId xmlns:a16="http://schemas.microsoft.com/office/drawing/2014/main" id="{E1FE136C-BB64-1A56-F2D3-9D44C68AD3A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6AC79F7-47AE-DF8B-3EA7-080C2027B12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8C03351-522F-941E-C50C-1BC5801722F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509572488"/>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D77AC-F62B-FFB8-5FE1-1AE21EEB2EA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2F13A41-594E-69AD-6E7E-3466B8271A2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F0600AF-3C48-871B-4FA5-1C0C2AABCE8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F2AD6DD-96B1-8338-19B8-82C8DE07237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73A3B36-1295-2293-E232-AC5C8B204E4F}"/>
              </a:ext>
            </a:extLst>
          </p:cNvPr>
          <p:cNvSpPr txBox="1">
            <a:spLocks/>
          </p:cNvSpPr>
          <p:nvPr/>
        </p:nvSpPr>
        <p:spPr>
          <a:xfrm>
            <a:off x="76200" y="729020"/>
            <a:ext cx="8624937"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Threat Modelling</a:t>
            </a:r>
          </a:p>
          <a:p>
            <a:pPr marL="12700" marR="5080"/>
            <a:r>
              <a:rPr lang="en-US" sz="1500" kern="0" spc="-80" dirty="0">
                <a:solidFill>
                  <a:schemeClr val="accent2"/>
                </a:solidFill>
              </a:rPr>
              <a:t>4. Threat Modeling Process (Step-by-Step)</a:t>
            </a:r>
          </a:p>
          <a:p>
            <a:pPr marL="12700" marR="5080"/>
            <a:r>
              <a:rPr lang="en-US" sz="1500" kern="0" spc="-80" dirty="0">
                <a:solidFill>
                  <a:schemeClr val="accent2"/>
                </a:solidFill>
              </a:rPr>
              <a:t>Step 2: Create Architecture Diagram (Mandatory)</a:t>
            </a:r>
          </a:p>
          <a:p>
            <a:pPr marL="12700" marR="5080"/>
            <a:r>
              <a:rPr lang="en-US" sz="1500" kern="0" spc="-80" dirty="0">
                <a:solidFill>
                  <a:schemeClr val="accent2"/>
                </a:solidFill>
              </a:rPr>
              <a:t>What good diagrams show</a:t>
            </a:r>
          </a:p>
          <a:p>
            <a:pPr marL="12700" marR="5080"/>
            <a:r>
              <a:rPr lang="en-US" sz="1500" kern="0" spc="-80" dirty="0">
                <a:solidFill>
                  <a:schemeClr val="accent6"/>
                </a:solidFill>
              </a:rPr>
              <a:t>Components</a:t>
            </a:r>
          </a:p>
          <a:p>
            <a:pPr marL="12700" marR="5080"/>
            <a:r>
              <a:rPr lang="en-US" sz="1500" kern="0" spc="-80" dirty="0">
                <a:solidFill>
                  <a:schemeClr val="accent6"/>
                </a:solidFill>
              </a:rPr>
              <a:t>Data flows</a:t>
            </a:r>
          </a:p>
          <a:p>
            <a:pPr marL="12700" marR="5080"/>
            <a:r>
              <a:rPr lang="en-US" sz="1500" kern="0" spc="-80" dirty="0">
                <a:solidFill>
                  <a:schemeClr val="accent6"/>
                </a:solidFill>
              </a:rPr>
              <a:t>Trust boundaries</a:t>
            </a:r>
          </a:p>
          <a:p>
            <a:pPr marL="12700" marR="5080"/>
            <a:r>
              <a:rPr lang="en-US" sz="1500" kern="0" spc="-80" dirty="0">
                <a:solidFill>
                  <a:schemeClr val="accent6"/>
                </a:solidFill>
              </a:rPr>
              <a:t>External dependencies</a:t>
            </a:r>
          </a:p>
          <a:p>
            <a:pPr marL="12700" marR="5080"/>
            <a:r>
              <a:rPr lang="en-US" sz="1500" kern="0" spc="-80" dirty="0">
                <a:solidFill>
                  <a:schemeClr val="accent6"/>
                </a:solidFill>
              </a:rPr>
              <a:t>Identity boundaries</a:t>
            </a:r>
          </a:p>
          <a:p>
            <a:pPr marL="12700" marR="5080"/>
            <a:r>
              <a:rPr lang="en-US" sz="1500" kern="0" spc="-80" dirty="0">
                <a:solidFill>
                  <a:schemeClr val="accent2"/>
                </a:solidFill>
              </a:rPr>
              <a:t>Use simple boxes &amp; arrows — not UML art.</a:t>
            </a:r>
          </a:p>
          <a:p>
            <a:pPr marL="12700" marR="5080"/>
            <a:r>
              <a:rPr lang="en-US" sz="1500" kern="0" spc="-80" dirty="0">
                <a:solidFill>
                  <a:schemeClr val="accent2"/>
                </a:solidFill>
              </a:rPr>
              <a:t>Step 3: Identify Assets per Component</a:t>
            </a:r>
          </a:p>
          <a:p>
            <a:pPr marL="12700" marR="5080"/>
            <a:r>
              <a:rPr lang="en-US" sz="1500" kern="0" spc="-80" dirty="0">
                <a:solidFill>
                  <a:schemeClr val="accent2"/>
                </a:solidFill>
              </a:rPr>
              <a:t>Ask:</a:t>
            </a:r>
          </a:p>
          <a:p>
            <a:pPr marL="12700" marR="5080"/>
            <a:r>
              <a:rPr lang="en-US" sz="1500" kern="0" spc="-80" dirty="0">
                <a:solidFill>
                  <a:schemeClr val="accent6"/>
                </a:solidFill>
              </a:rPr>
              <a:t>What data is processed here?</a:t>
            </a:r>
          </a:p>
          <a:p>
            <a:pPr marL="12700" marR="5080"/>
            <a:r>
              <a:rPr lang="en-US" sz="1500" kern="0" spc="-80" dirty="0">
                <a:solidFill>
                  <a:schemeClr val="accent6"/>
                </a:solidFill>
              </a:rPr>
              <a:t>What happens if this is compromised?</a:t>
            </a:r>
          </a:p>
          <a:p>
            <a:pPr marL="12700" marR="5080"/>
            <a:r>
              <a:rPr lang="en-US" sz="1500" kern="0" spc="-80" dirty="0">
                <a:solidFill>
                  <a:schemeClr val="accent2"/>
                </a:solidFill>
              </a:rPr>
              <a:t>Step 4: Enumerate Threats</a:t>
            </a:r>
          </a:p>
          <a:p>
            <a:pPr marL="12700" marR="5080"/>
            <a:r>
              <a:rPr lang="en-US" sz="1500" kern="0" spc="-80" dirty="0">
                <a:solidFill>
                  <a:schemeClr val="accent6"/>
                </a:solidFill>
              </a:rPr>
              <a:t>Use structured techniques (next section).</a:t>
            </a:r>
          </a:p>
          <a:p>
            <a:pPr marL="12700" marR="5080"/>
            <a:r>
              <a:rPr lang="en-US" sz="1500" kern="0" spc="-80" dirty="0">
                <a:solidFill>
                  <a:schemeClr val="accent2"/>
                </a:solidFill>
              </a:rPr>
              <a:t>Step 5: Rate Risk</a:t>
            </a:r>
          </a:p>
          <a:p>
            <a:pPr marL="12700" marR="5080"/>
            <a:r>
              <a:rPr lang="en-US" sz="1500" kern="0" spc="-80" dirty="0">
                <a:solidFill>
                  <a:schemeClr val="accent2"/>
                </a:solidFill>
              </a:rPr>
              <a:t>Typically using:</a:t>
            </a:r>
          </a:p>
          <a:p>
            <a:pPr marL="12700" marR="5080"/>
            <a:r>
              <a:rPr lang="en-US" sz="1500" kern="0" spc="-80" dirty="0">
                <a:solidFill>
                  <a:schemeClr val="accent6"/>
                </a:solidFill>
              </a:rPr>
              <a:t>Impact × Likelihood</a:t>
            </a:r>
          </a:p>
          <a:p>
            <a:pPr marL="12700" marR="5080"/>
            <a:r>
              <a:rPr lang="en-US" sz="1500" kern="0" spc="-80" dirty="0">
                <a:solidFill>
                  <a:schemeClr val="accent6"/>
                </a:solidFill>
              </a:rPr>
              <a:t>Qualitative (High / Medium / Low)</a:t>
            </a:r>
          </a:p>
          <a:p>
            <a:pPr marL="12700" marR="5080"/>
            <a:r>
              <a:rPr lang="en-US" sz="1500" kern="0" spc="-80" dirty="0">
                <a:solidFill>
                  <a:schemeClr val="accent6"/>
                </a:solidFill>
              </a:rPr>
              <a:t>Or quantitative (FAIR model)</a:t>
            </a:r>
          </a:p>
        </p:txBody>
      </p:sp>
      <p:grpSp>
        <p:nvGrpSpPr>
          <p:cNvPr id="7" name="Group 6">
            <a:extLst>
              <a:ext uri="{FF2B5EF4-FFF2-40B4-BE49-F238E27FC236}">
                <a16:creationId xmlns:a16="http://schemas.microsoft.com/office/drawing/2014/main" id="{EB947070-37AE-67CD-208B-87EB16E3276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55A40CE-EDDA-002D-37BC-B1A61689405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1721CA7-78BB-7FD3-7455-F0447314873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574692874"/>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2D815-D5F3-A677-92EA-7A893460BA6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2F9509F-BEC8-4E26-C09C-FBB09F31E14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21BB4B0-B303-86BA-8632-B8856CC6733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99D1652-79F5-CED1-0DF4-A57077738E3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74DF7D6-A2B5-FA5A-0E1C-BB4A8D5065FC}"/>
              </a:ext>
            </a:extLst>
          </p:cNvPr>
          <p:cNvSpPr txBox="1">
            <a:spLocks/>
          </p:cNvSpPr>
          <p:nvPr/>
        </p:nvSpPr>
        <p:spPr>
          <a:xfrm>
            <a:off x="76200" y="733485"/>
            <a:ext cx="8624937" cy="45243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Threat Modelling</a:t>
            </a:r>
          </a:p>
          <a:p>
            <a:pPr marL="12700" marR="5080"/>
            <a:r>
              <a:rPr lang="en-US" sz="1500" kern="0" spc="-80" dirty="0">
                <a:solidFill>
                  <a:schemeClr val="accent2"/>
                </a:solidFill>
              </a:rPr>
              <a:t>4. Threat Modeling Process (Step-by-Step)</a:t>
            </a:r>
          </a:p>
          <a:p>
            <a:pPr marL="12700" marR="5080"/>
            <a:r>
              <a:rPr lang="en-US" sz="1500" kern="0" spc="-80" dirty="0">
                <a:solidFill>
                  <a:schemeClr val="accent2"/>
                </a:solidFill>
              </a:rPr>
              <a:t>Step 6: Define Mitigations</a:t>
            </a:r>
          </a:p>
          <a:p>
            <a:pPr marL="12700" marR="5080"/>
            <a:r>
              <a:rPr lang="en-US" sz="1500" kern="0" spc="-80" dirty="0">
                <a:solidFill>
                  <a:schemeClr val="accent6"/>
                </a:solidFill>
              </a:rPr>
              <a:t>Prevent</a:t>
            </a:r>
          </a:p>
          <a:p>
            <a:pPr marL="12700" marR="5080"/>
            <a:r>
              <a:rPr lang="en-US" sz="1500" kern="0" spc="-80" dirty="0">
                <a:solidFill>
                  <a:schemeClr val="accent6"/>
                </a:solidFill>
              </a:rPr>
              <a:t>Detect</a:t>
            </a:r>
          </a:p>
          <a:p>
            <a:pPr marL="12700" marR="5080"/>
            <a:r>
              <a:rPr lang="en-US" sz="1500" kern="0" spc="-80" dirty="0">
                <a:solidFill>
                  <a:schemeClr val="accent6"/>
                </a:solidFill>
              </a:rPr>
              <a:t>Respond</a:t>
            </a:r>
          </a:p>
          <a:p>
            <a:pPr marL="12700" marR="5080"/>
            <a:r>
              <a:rPr lang="en-US" sz="1500" kern="0" spc="-80" dirty="0">
                <a:solidFill>
                  <a:schemeClr val="accent6"/>
                </a:solidFill>
              </a:rPr>
              <a:t>Recover</a:t>
            </a:r>
          </a:p>
          <a:p>
            <a:pPr marL="12700" marR="5080"/>
            <a:r>
              <a:rPr lang="en-US" sz="1500" kern="0" spc="-80" dirty="0">
                <a:solidFill>
                  <a:schemeClr val="accent2"/>
                </a:solidFill>
              </a:rPr>
              <a:t>Step 7: Document Residual Risk</a:t>
            </a:r>
          </a:p>
          <a:p>
            <a:pPr marL="12700" marR="5080"/>
            <a:r>
              <a:rPr lang="en-US" sz="1500" kern="0" spc="-80" dirty="0">
                <a:solidFill>
                  <a:schemeClr val="accent6"/>
                </a:solidFill>
              </a:rPr>
              <a:t>“We know this risk exists, and we accept it.”</a:t>
            </a:r>
          </a:p>
          <a:p>
            <a:pPr marL="12700" marR="5080"/>
            <a:endParaRPr lang="en-US" sz="1500" kern="0" spc="-80" dirty="0">
              <a:solidFill>
                <a:schemeClr val="accent6"/>
              </a:solidFill>
            </a:endParaRPr>
          </a:p>
          <a:p>
            <a:pPr marL="12700" marR="5080"/>
            <a:r>
              <a:rPr lang="en-US" sz="1500" kern="0" spc="-80" dirty="0">
                <a:solidFill>
                  <a:schemeClr val="accent2"/>
                </a:solidFill>
              </a:rPr>
              <a:t>5. Threat Enumeration Techniques (Very Important)</a:t>
            </a:r>
          </a:p>
          <a:p>
            <a:pPr marL="12700" marR="5080"/>
            <a:r>
              <a:rPr lang="en-US" sz="1500" kern="0" spc="-80" dirty="0">
                <a:solidFill>
                  <a:schemeClr val="accent2"/>
                </a:solidFill>
              </a:rPr>
              <a:t>5.1 STRIDE (Most Popular)</a:t>
            </a:r>
          </a:p>
          <a:p>
            <a:pPr marL="12700" marR="5080"/>
            <a:r>
              <a:rPr lang="en-US" sz="1500" kern="0" spc="-80" dirty="0">
                <a:solidFill>
                  <a:schemeClr val="accent2"/>
                </a:solidFill>
              </a:rPr>
              <a:t>Letter	Threat	                                    Intuition</a:t>
            </a:r>
          </a:p>
          <a:p>
            <a:pPr marL="12700" marR="5080"/>
            <a:r>
              <a:rPr lang="en-US" sz="1500" kern="0" spc="-80" dirty="0">
                <a:solidFill>
                  <a:schemeClr val="accent6"/>
                </a:solidFill>
              </a:rPr>
              <a:t>S	Spoofing	                                    Pretending to be someone else</a:t>
            </a:r>
          </a:p>
          <a:p>
            <a:pPr marL="12700" marR="5080"/>
            <a:r>
              <a:rPr lang="en-US" sz="1500" kern="0" spc="-80" dirty="0">
                <a:solidFill>
                  <a:schemeClr val="accent6"/>
                </a:solidFill>
              </a:rPr>
              <a:t>T	Tampering	                  Modifying data or code</a:t>
            </a:r>
          </a:p>
          <a:p>
            <a:pPr marL="12700" marR="5080"/>
            <a:r>
              <a:rPr lang="en-US" sz="1500" kern="0" spc="-80" dirty="0">
                <a:solidFill>
                  <a:schemeClr val="accent6"/>
                </a:solidFill>
              </a:rPr>
              <a:t>R	Repudiation	                  Denying actions</a:t>
            </a:r>
          </a:p>
          <a:p>
            <a:pPr marL="12700" marR="5080"/>
            <a:r>
              <a:rPr lang="en-US" sz="1500" kern="0" spc="-80" dirty="0">
                <a:solidFill>
                  <a:schemeClr val="accent6"/>
                </a:solidFill>
              </a:rPr>
              <a:t>I	Information Disclosure	Data leakage</a:t>
            </a:r>
          </a:p>
          <a:p>
            <a:pPr marL="12700" marR="5080"/>
            <a:r>
              <a:rPr lang="en-US" sz="1500" kern="0" spc="-80" dirty="0">
                <a:solidFill>
                  <a:schemeClr val="accent6"/>
                </a:solidFill>
              </a:rPr>
              <a:t>D	Denial of Service	                  Making system unavailable</a:t>
            </a:r>
          </a:p>
          <a:p>
            <a:pPr marL="12700" marR="5080"/>
            <a:r>
              <a:rPr lang="en-US" sz="1500" kern="0" spc="-80" dirty="0">
                <a:solidFill>
                  <a:schemeClr val="accent6"/>
                </a:solidFill>
              </a:rPr>
              <a:t>E	Elevation of Privilege	Gaining more access</a:t>
            </a:r>
          </a:p>
        </p:txBody>
      </p:sp>
      <p:grpSp>
        <p:nvGrpSpPr>
          <p:cNvPr id="7" name="Group 6">
            <a:extLst>
              <a:ext uri="{FF2B5EF4-FFF2-40B4-BE49-F238E27FC236}">
                <a16:creationId xmlns:a16="http://schemas.microsoft.com/office/drawing/2014/main" id="{09CB1CD5-23FA-D535-707D-1B97FA1B1CF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411A836-73A7-54F6-E0CE-40971CC6A1E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CB481504-01C1-C1CF-461A-2CDEE204A8B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329238897"/>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7D082-6917-B8C7-3239-C07A95609A9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4EC5DC0-EF36-9F5E-FD00-E66C5C855AD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41F00F9-DBA8-67A8-114A-5474464DC16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37BF701-D9CB-7948-917A-D6A11DC2979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CAAEB776-EBF6-23ED-B006-137793879819}"/>
              </a:ext>
            </a:extLst>
          </p:cNvPr>
          <p:cNvSpPr txBox="1">
            <a:spLocks/>
          </p:cNvSpPr>
          <p:nvPr/>
        </p:nvSpPr>
        <p:spPr>
          <a:xfrm>
            <a:off x="76200" y="809685"/>
            <a:ext cx="8624937" cy="45243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Threat Modelling</a:t>
            </a:r>
          </a:p>
          <a:p>
            <a:pPr marL="12700" marR="5080"/>
            <a:r>
              <a:rPr lang="en-US" sz="1500" kern="0" spc="-80" dirty="0">
                <a:solidFill>
                  <a:schemeClr val="accent2"/>
                </a:solidFill>
              </a:rPr>
              <a:t>5. Threat Enumeration Techniques (Very Important)</a:t>
            </a:r>
          </a:p>
          <a:p>
            <a:pPr marL="12700" marR="5080"/>
            <a:r>
              <a:rPr lang="en-US" sz="1500" kern="0" spc="-80" dirty="0">
                <a:solidFill>
                  <a:schemeClr val="accent2"/>
                </a:solidFill>
              </a:rPr>
              <a:t>5.1 STRIDE (Most Popular)</a:t>
            </a:r>
          </a:p>
          <a:p>
            <a:pPr marL="12700" marR="5080"/>
            <a:r>
              <a:rPr lang="en-US" sz="1500" kern="0" spc="-80" dirty="0">
                <a:solidFill>
                  <a:schemeClr val="accent2"/>
                </a:solidFill>
              </a:rPr>
              <a:t>STRIDE-by-Component approach</a:t>
            </a:r>
          </a:p>
          <a:p>
            <a:pPr marL="12700" marR="5080"/>
            <a:r>
              <a:rPr lang="en-US" sz="1500" kern="0" spc="-80" dirty="0">
                <a:solidFill>
                  <a:schemeClr val="accent2"/>
                </a:solidFill>
              </a:rPr>
              <a:t>For each component, ask:</a:t>
            </a:r>
          </a:p>
          <a:p>
            <a:pPr marL="12700" marR="5080"/>
            <a:r>
              <a:rPr lang="en-US" sz="1500" kern="0" spc="-80" dirty="0">
                <a:solidFill>
                  <a:schemeClr val="accent6"/>
                </a:solidFill>
              </a:rPr>
              <a:t>Can identity be spoofed?</a:t>
            </a:r>
          </a:p>
          <a:p>
            <a:pPr marL="12700" marR="5080"/>
            <a:r>
              <a:rPr lang="en-US" sz="1500" kern="0" spc="-80" dirty="0">
                <a:solidFill>
                  <a:schemeClr val="accent6"/>
                </a:solidFill>
              </a:rPr>
              <a:t>Can data be modified?</a:t>
            </a:r>
          </a:p>
          <a:p>
            <a:pPr marL="12700" marR="5080"/>
            <a:r>
              <a:rPr lang="en-US" sz="1500" kern="0" spc="-80" dirty="0">
                <a:solidFill>
                  <a:schemeClr val="accent6"/>
                </a:solidFill>
              </a:rPr>
              <a:t>Can actions go unlogged?</a:t>
            </a:r>
          </a:p>
          <a:p>
            <a:pPr marL="12700" marR="5080"/>
            <a:r>
              <a:rPr lang="en-US" sz="1500" kern="0" spc="-80" dirty="0">
                <a:solidFill>
                  <a:schemeClr val="accent6"/>
                </a:solidFill>
              </a:rPr>
              <a:t>Can data leak?</a:t>
            </a:r>
          </a:p>
          <a:p>
            <a:pPr marL="12700" marR="5080"/>
            <a:r>
              <a:rPr lang="en-US" sz="1500" kern="0" spc="-80" dirty="0">
                <a:solidFill>
                  <a:schemeClr val="accent6"/>
                </a:solidFill>
              </a:rPr>
              <a:t>Can it be overwhelmed?</a:t>
            </a:r>
          </a:p>
          <a:p>
            <a:pPr marL="12700" marR="5080"/>
            <a:r>
              <a:rPr lang="en-US" sz="1500" kern="0" spc="-80" dirty="0">
                <a:solidFill>
                  <a:schemeClr val="accent6"/>
                </a:solidFill>
              </a:rPr>
              <a:t>Can privileges be escalated?</a:t>
            </a:r>
          </a:p>
          <a:p>
            <a:pPr marL="12700" marR="5080"/>
            <a:r>
              <a:rPr lang="en-US" sz="1500" kern="0" spc="-80" dirty="0">
                <a:solidFill>
                  <a:schemeClr val="accent2"/>
                </a:solidFill>
              </a:rPr>
              <a:t>5.2 Data Flow–Based Threat Modeling</a:t>
            </a:r>
          </a:p>
          <a:p>
            <a:pPr marL="12700" marR="5080"/>
            <a:r>
              <a:rPr lang="en-US" sz="1500" kern="0" spc="-80" dirty="0">
                <a:solidFill>
                  <a:schemeClr val="accent6"/>
                </a:solidFill>
              </a:rPr>
              <a:t>Apply STRIDE to each data flow, not just components.</a:t>
            </a:r>
          </a:p>
          <a:p>
            <a:pPr marL="12700" marR="5080"/>
            <a:r>
              <a:rPr lang="en-US" sz="1500" kern="0" spc="-80" dirty="0">
                <a:solidFill>
                  <a:schemeClr val="accent2"/>
                </a:solidFill>
              </a:rPr>
              <a:t>Example:</a:t>
            </a:r>
          </a:p>
          <a:p>
            <a:pPr marL="12700" marR="5080"/>
            <a:r>
              <a:rPr lang="en-US" sz="1500" kern="0" spc="-80" dirty="0">
                <a:solidFill>
                  <a:schemeClr val="accent6"/>
                </a:solidFill>
              </a:rPr>
              <a:t>Browser → API → DB</a:t>
            </a:r>
          </a:p>
          <a:p>
            <a:pPr marL="12700" marR="5080"/>
            <a:r>
              <a:rPr lang="en-US" sz="1500" kern="0" spc="-80" dirty="0">
                <a:solidFill>
                  <a:schemeClr val="accent6"/>
                </a:solidFill>
              </a:rPr>
              <a:t>Each arrow is a potential attack surface.</a:t>
            </a:r>
          </a:p>
          <a:p>
            <a:pPr marL="12700" marR="5080"/>
            <a:r>
              <a:rPr lang="en-US" sz="1500" kern="0" spc="-80" dirty="0">
                <a:solidFill>
                  <a:schemeClr val="accent2"/>
                </a:solidFill>
              </a:rPr>
              <a:t>5.3 Attack Trees</a:t>
            </a:r>
          </a:p>
          <a:p>
            <a:pPr marL="12700" marR="5080"/>
            <a:r>
              <a:rPr lang="en-US" sz="1500" kern="0" spc="-80" dirty="0">
                <a:solidFill>
                  <a:schemeClr val="accent6"/>
                </a:solidFill>
              </a:rPr>
              <a:t>Hierarchical breakdown of attacks.</a:t>
            </a:r>
          </a:p>
          <a:p>
            <a:pPr marL="12700" marR="5080"/>
            <a:endParaRPr lang="en-US" sz="1500" kern="0" spc="-80" dirty="0">
              <a:solidFill>
                <a:schemeClr val="accent6"/>
              </a:solidFill>
            </a:endParaRPr>
          </a:p>
        </p:txBody>
      </p:sp>
      <p:grpSp>
        <p:nvGrpSpPr>
          <p:cNvPr id="7" name="Group 6">
            <a:extLst>
              <a:ext uri="{FF2B5EF4-FFF2-40B4-BE49-F238E27FC236}">
                <a16:creationId xmlns:a16="http://schemas.microsoft.com/office/drawing/2014/main" id="{16FDB46A-629A-CDDE-8652-D83D9671678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36D945D-06CF-C16E-0D72-35E61F6AAC7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B97C98BA-A874-0DFA-B3FB-BE82CEB1096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617132999"/>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B86D4-8C2E-B958-5351-FF1B5065556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74AA4D6-F986-462D-40E7-5154DC089FD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706388D-F283-A266-FB3A-A8860EBA7F6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FCFF01F-A93A-9E02-8C55-8AB405F33C8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C012DEA7-6A0F-F590-9D1F-3BAEF5592EF4}"/>
              </a:ext>
            </a:extLst>
          </p:cNvPr>
          <p:cNvSpPr txBox="1">
            <a:spLocks/>
          </p:cNvSpPr>
          <p:nvPr/>
        </p:nvSpPr>
        <p:spPr>
          <a:xfrm>
            <a:off x="76200" y="809685"/>
            <a:ext cx="8624937" cy="45243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Threat Modelling</a:t>
            </a:r>
          </a:p>
          <a:p>
            <a:pPr marL="12700" marR="5080"/>
            <a:r>
              <a:rPr lang="en-US" sz="1500" kern="0" spc="-80" dirty="0">
                <a:solidFill>
                  <a:schemeClr val="accent2"/>
                </a:solidFill>
              </a:rPr>
              <a:t>5. Threat Enumeration Techniques (Very Important)</a:t>
            </a:r>
          </a:p>
          <a:p>
            <a:pPr marL="12700" marR="5080"/>
            <a:r>
              <a:rPr lang="en-US" sz="1500" kern="0" spc="-80" dirty="0">
                <a:solidFill>
                  <a:schemeClr val="accent2"/>
                </a:solidFill>
              </a:rPr>
              <a:t>5.3 Attack Trees</a:t>
            </a:r>
          </a:p>
          <a:p>
            <a:pPr marL="12700" marR="5080"/>
            <a:r>
              <a:rPr lang="en-US" sz="1500" kern="0" spc="-80" dirty="0">
                <a:solidFill>
                  <a:schemeClr val="accent6"/>
                </a:solidFill>
              </a:rPr>
              <a:t>Steal Customer Data</a:t>
            </a:r>
          </a:p>
          <a:p>
            <a:pPr marL="12700" marR="5080"/>
            <a:r>
              <a:rPr lang="en-US" sz="1500" kern="0" spc="-80" dirty="0">
                <a:solidFill>
                  <a:schemeClr val="accent6"/>
                </a:solidFill>
              </a:rPr>
              <a:t>├── Exploit API</a:t>
            </a:r>
          </a:p>
          <a:p>
            <a:pPr marL="12700" marR="5080"/>
            <a:r>
              <a:rPr lang="en-US" sz="1500" kern="0" spc="-80" dirty="0">
                <a:solidFill>
                  <a:schemeClr val="accent6"/>
                </a:solidFill>
              </a:rPr>
              <a:t>│   ├── Broken Auth</a:t>
            </a:r>
          </a:p>
          <a:p>
            <a:pPr marL="12700" marR="5080"/>
            <a:r>
              <a:rPr lang="en-US" sz="1500" kern="0" spc="-80" dirty="0">
                <a:solidFill>
                  <a:schemeClr val="accent6"/>
                </a:solidFill>
              </a:rPr>
              <a:t>│   └── Injection</a:t>
            </a:r>
          </a:p>
          <a:p>
            <a:pPr marL="12700" marR="5080"/>
            <a:r>
              <a:rPr lang="en-US" sz="1500" kern="0" spc="-80" dirty="0">
                <a:solidFill>
                  <a:schemeClr val="accent6"/>
                </a:solidFill>
              </a:rPr>
              <a:t>└── Compromise DB</a:t>
            </a:r>
          </a:p>
          <a:p>
            <a:pPr marL="12700" marR="5080"/>
            <a:r>
              <a:rPr lang="en-US" sz="1500" kern="0" spc="-80" dirty="0">
                <a:solidFill>
                  <a:schemeClr val="accent6"/>
                </a:solidFill>
              </a:rPr>
              <a:t>    ├── Stolen Credentials</a:t>
            </a:r>
          </a:p>
          <a:p>
            <a:pPr marL="12700" marR="5080"/>
            <a:r>
              <a:rPr lang="en-US" sz="1500" kern="0" spc="-80" dirty="0">
                <a:solidFill>
                  <a:schemeClr val="accent6"/>
                </a:solidFill>
              </a:rPr>
              <a:t>    └── Network Access</a:t>
            </a:r>
          </a:p>
          <a:p>
            <a:pPr marL="12700" marR="5080"/>
            <a:r>
              <a:rPr lang="en-US" sz="1500" kern="0" spc="-80" dirty="0">
                <a:solidFill>
                  <a:schemeClr val="accent6"/>
                </a:solidFill>
              </a:rPr>
              <a:t>Good for complex, high-risk systems.</a:t>
            </a:r>
          </a:p>
          <a:p>
            <a:pPr marL="12700" marR="5080"/>
            <a:endParaRPr lang="en-US" sz="1500" kern="0" spc="-80" dirty="0">
              <a:solidFill>
                <a:schemeClr val="accent6"/>
              </a:solidFill>
            </a:endParaRPr>
          </a:p>
          <a:p>
            <a:pPr marL="12700" marR="5080"/>
            <a:r>
              <a:rPr lang="en-US" sz="1500" kern="0" spc="-80" dirty="0">
                <a:solidFill>
                  <a:schemeClr val="accent2"/>
                </a:solidFill>
              </a:rPr>
              <a:t>5.4 Kill Chain / MITRE ATT&amp;CK Mapping</a:t>
            </a:r>
          </a:p>
          <a:p>
            <a:pPr marL="12700" marR="5080"/>
            <a:r>
              <a:rPr lang="en-US" sz="1500" kern="0" spc="-80" dirty="0">
                <a:solidFill>
                  <a:schemeClr val="accent2"/>
                </a:solidFill>
              </a:rPr>
              <a:t>Maps threats to:</a:t>
            </a:r>
          </a:p>
          <a:p>
            <a:pPr marL="12700" marR="5080"/>
            <a:r>
              <a:rPr lang="en-US" sz="1500" kern="0" spc="-80" dirty="0">
                <a:solidFill>
                  <a:schemeClr val="accent6"/>
                </a:solidFill>
              </a:rPr>
              <a:t>Recon</a:t>
            </a:r>
          </a:p>
          <a:p>
            <a:pPr marL="12700" marR="5080"/>
            <a:r>
              <a:rPr lang="en-US" sz="1500" kern="0" spc="-80" dirty="0">
                <a:solidFill>
                  <a:schemeClr val="accent6"/>
                </a:solidFill>
              </a:rPr>
              <a:t>Initial Access</a:t>
            </a:r>
          </a:p>
          <a:p>
            <a:pPr marL="12700" marR="5080"/>
            <a:r>
              <a:rPr lang="en-US" sz="1500" kern="0" spc="-80" dirty="0">
                <a:solidFill>
                  <a:schemeClr val="accent6"/>
                </a:solidFill>
              </a:rPr>
              <a:t>Lateral Movement</a:t>
            </a:r>
          </a:p>
          <a:p>
            <a:pPr marL="12700" marR="5080"/>
            <a:r>
              <a:rPr lang="en-US" sz="1500" kern="0" spc="-80" dirty="0">
                <a:solidFill>
                  <a:schemeClr val="accent6"/>
                </a:solidFill>
              </a:rPr>
              <a:t>Exfiltration</a:t>
            </a:r>
          </a:p>
          <a:p>
            <a:pPr marL="12700" marR="5080"/>
            <a:r>
              <a:rPr lang="en-US" sz="1500" kern="0" spc="-80" dirty="0">
                <a:solidFill>
                  <a:schemeClr val="accent6"/>
                </a:solidFill>
              </a:rPr>
              <a:t>Very useful for SOC &amp; detection planning.</a:t>
            </a:r>
          </a:p>
        </p:txBody>
      </p:sp>
      <p:grpSp>
        <p:nvGrpSpPr>
          <p:cNvPr id="7" name="Group 6">
            <a:extLst>
              <a:ext uri="{FF2B5EF4-FFF2-40B4-BE49-F238E27FC236}">
                <a16:creationId xmlns:a16="http://schemas.microsoft.com/office/drawing/2014/main" id="{EA1BF884-6BD4-1F2C-08D7-2B74FB05834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9D15A7E3-78B4-8C96-6E9B-1D8AEA9F5E3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2176CFAB-37AD-BC8F-A123-8E73D39A3DA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49167284"/>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AF6B01-F507-5A30-AD3A-E9288983245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35803A5-6892-C855-1C9A-AD61B24AA56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0283343-A1AE-0B1D-06E0-E198877467F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814B461-E9B0-2BDD-279D-B3165AB5742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5466E98-D0B9-311F-E521-1BD67E784130}"/>
              </a:ext>
            </a:extLst>
          </p:cNvPr>
          <p:cNvSpPr txBox="1">
            <a:spLocks/>
          </p:cNvSpPr>
          <p:nvPr/>
        </p:nvSpPr>
        <p:spPr>
          <a:xfrm>
            <a:off x="76200" y="807452"/>
            <a:ext cx="8624937" cy="47551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Threat Modelling</a:t>
            </a:r>
          </a:p>
          <a:p>
            <a:pPr marL="12700" marR="5080"/>
            <a:r>
              <a:rPr lang="en-US" sz="1500" kern="0" spc="-80" dirty="0">
                <a:solidFill>
                  <a:schemeClr val="accent2"/>
                </a:solidFill>
              </a:rPr>
              <a:t>5. Threat Enumeration Techniques (Very Important)</a:t>
            </a:r>
          </a:p>
          <a:p>
            <a:pPr marL="12700" marR="5080"/>
            <a:r>
              <a:rPr lang="en-US" sz="1500" kern="0" spc="-80" dirty="0">
                <a:solidFill>
                  <a:schemeClr val="accent2"/>
                </a:solidFill>
              </a:rPr>
              <a:t>5.5 Abuse Cases (Inverted Use Cases)</a:t>
            </a:r>
          </a:p>
          <a:p>
            <a:pPr marL="12700" marR="5080"/>
            <a:r>
              <a:rPr lang="en-US" sz="1500" kern="0" spc="-80" dirty="0">
                <a:solidFill>
                  <a:schemeClr val="accent2"/>
                </a:solidFill>
              </a:rPr>
              <a:t>Normal use case:</a:t>
            </a:r>
          </a:p>
          <a:p>
            <a:pPr marL="12700" marR="5080"/>
            <a:r>
              <a:rPr lang="en-US" sz="1500" kern="0" spc="-80" dirty="0">
                <a:solidFill>
                  <a:schemeClr val="accent6"/>
                </a:solidFill>
              </a:rPr>
              <a:t>User uploads a profile image</a:t>
            </a:r>
          </a:p>
          <a:p>
            <a:pPr marL="12700" marR="5080"/>
            <a:r>
              <a:rPr lang="en-US" sz="1500" kern="0" spc="-80" dirty="0">
                <a:solidFill>
                  <a:schemeClr val="accent2"/>
                </a:solidFill>
              </a:rPr>
              <a:t>Abuse case:</a:t>
            </a:r>
          </a:p>
          <a:p>
            <a:pPr marL="12700" marR="5080"/>
            <a:r>
              <a:rPr lang="en-US" sz="1500" kern="0" spc="-80" dirty="0">
                <a:solidFill>
                  <a:schemeClr val="accent6"/>
                </a:solidFill>
              </a:rPr>
              <a:t>User uploads a 5GB ZIP bomb disguised as an image</a:t>
            </a:r>
          </a:p>
          <a:p>
            <a:pPr marL="12700" marR="5080"/>
            <a:endParaRPr lang="en-US" sz="1500" kern="0" spc="-80" dirty="0">
              <a:solidFill>
                <a:schemeClr val="accent6"/>
              </a:solidFill>
            </a:endParaRPr>
          </a:p>
          <a:p>
            <a:pPr marL="12700" marR="5080"/>
            <a:r>
              <a:rPr lang="en-US" sz="1500" kern="0" spc="-80" dirty="0">
                <a:solidFill>
                  <a:schemeClr val="accent2"/>
                </a:solidFill>
              </a:rPr>
              <a:t>6. Risk Assessment Techniques</a:t>
            </a:r>
          </a:p>
          <a:p>
            <a:pPr marL="12700" marR="5080"/>
            <a:r>
              <a:rPr lang="en-US" sz="1500" kern="0" spc="-80" dirty="0">
                <a:solidFill>
                  <a:schemeClr val="accent2"/>
                </a:solidFill>
              </a:rPr>
              <a:t>6.1 Simple Risk Matrix</a:t>
            </a:r>
          </a:p>
          <a:p>
            <a:pPr marL="12700" marR="5080"/>
            <a:r>
              <a:rPr lang="en-US" sz="1500" kern="0" spc="-80" dirty="0">
                <a:solidFill>
                  <a:schemeClr val="accent2"/>
                </a:solidFill>
              </a:rPr>
              <a:t>Impact	Likelihood	Risk</a:t>
            </a:r>
          </a:p>
          <a:p>
            <a:pPr marL="12700" marR="5080"/>
            <a:r>
              <a:rPr lang="en-US" sz="1500" kern="0" spc="-80" dirty="0">
                <a:solidFill>
                  <a:schemeClr val="accent6"/>
                </a:solidFill>
              </a:rPr>
              <a:t>High	High	                  🔴</a:t>
            </a:r>
          </a:p>
          <a:p>
            <a:pPr marL="12700" marR="5080"/>
            <a:r>
              <a:rPr lang="en-US" sz="1500" kern="0" spc="-80" dirty="0">
                <a:solidFill>
                  <a:schemeClr val="accent6"/>
                </a:solidFill>
              </a:rPr>
              <a:t>High	Low	                  🟠</a:t>
            </a:r>
          </a:p>
          <a:p>
            <a:pPr marL="12700" marR="5080"/>
            <a:r>
              <a:rPr lang="en-US" sz="1500" kern="0" spc="-80" dirty="0">
                <a:solidFill>
                  <a:schemeClr val="accent6"/>
                </a:solidFill>
              </a:rPr>
              <a:t>Low	High	                  🟠</a:t>
            </a:r>
          </a:p>
          <a:p>
            <a:pPr marL="12700" marR="5080"/>
            <a:r>
              <a:rPr lang="en-US" sz="1500" kern="0" spc="-80" dirty="0">
                <a:solidFill>
                  <a:schemeClr val="accent6"/>
                </a:solidFill>
              </a:rPr>
              <a:t>Low	Low	                  🟢</a:t>
            </a:r>
          </a:p>
          <a:p>
            <a:pPr marL="12700" marR="5080"/>
            <a:r>
              <a:rPr lang="en-US" sz="1500" kern="0" spc="-80" dirty="0">
                <a:solidFill>
                  <a:schemeClr val="accent2"/>
                </a:solidFill>
              </a:rPr>
              <a:t>6.2 FAIR (Factor Analysis of Information Risk)</a:t>
            </a:r>
          </a:p>
          <a:p>
            <a:pPr marL="12700" marR="5080"/>
            <a:r>
              <a:rPr lang="en-US" sz="1500" kern="0" spc="-80" dirty="0">
                <a:solidFill>
                  <a:schemeClr val="accent2"/>
                </a:solidFill>
              </a:rPr>
              <a:t>Quantifies:</a:t>
            </a:r>
          </a:p>
          <a:p>
            <a:pPr marL="12700" marR="5080"/>
            <a:r>
              <a:rPr lang="en-US" sz="1500" kern="0" spc="-80" dirty="0">
                <a:solidFill>
                  <a:schemeClr val="accent6"/>
                </a:solidFill>
              </a:rPr>
              <a:t>Loss event frequency</a:t>
            </a:r>
          </a:p>
          <a:p>
            <a:pPr marL="12700" marR="5080"/>
            <a:r>
              <a:rPr lang="en-US" sz="1500" kern="0" spc="-80" dirty="0">
                <a:solidFill>
                  <a:schemeClr val="accent6"/>
                </a:solidFill>
              </a:rPr>
              <a:t>Loss magnitude</a:t>
            </a:r>
          </a:p>
          <a:p>
            <a:pPr marL="12700" marR="5080"/>
            <a:r>
              <a:rPr lang="en-US" sz="1500" kern="0" spc="-80" dirty="0">
                <a:solidFill>
                  <a:schemeClr val="accent6"/>
                </a:solidFill>
              </a:rPr>
              <a:t>Used in enterprise &amp; cyber insurance contexts.</a:t>
            </a:r>
          </a:p>
        </p:txBody>
      </p:sp>
      <p:grpSp>
        <p:nvGrpSpPr>
          <p:cNvPr id="7" name="Group 6">
            <a:extLst>
              <a:ext uri="{FF2B5EF4-FFF2-40B4-BE49-F238E27FC236}">
                <a16:creationId xmlns:a16="http://schemas.microsoft.com/office/drawing/2014/main" id="{E1C6D1C1-11F4-C1A5-4F47-9250CD4BAD74}"/>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EC04EAD-2F3B-36F9-57AF-9EC62B2EBB1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3268E3EA-F0D6-B2A6-9BD3-B42D9281AF4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289205517"/>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0A638-22BE-7F37-305D-320F1FC11FF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5EEAFB4-05F4-A03C-D20A-76DED618C9F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7EBE7C6-9D34-0496-E193-9033F74E82D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85E3DA3-5A72-1FCE-70EB-C389EAF74C4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3C7F221D-F36E-02ED-F10B-E16C0674F97A}"/>
              </a:ext>
            </a:extLst>
          </p:cNvPr>
          <p:cNvSpPr txBox="1">
            <a:spLocks/>
          </p:cNvSpPr>
          <p:nvPr/>
        </p:nvSpPr>
        <p:spPr>
          <a:xfrm>
            <a:off x="76200" y="745153"/>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Threat Modelling</a:t>
            </a:r>
          </a:p>
          <a:p>
            <a:pPr marL="12700" marR="5080"/>
            <a:r>
              <a:rPr lang="en-US" sz="1400" kern="0" spc="-80" dirty="0">
                <a:solidFill>
                  <a:schemeClr val="accent2"/>
                </a:solidFill>
              </a:rPr>
              <a:t>7. Mitigation Patterns (Very Practical)</a:t>
            </a:r>
          </a:p>
          <a:p>
            <a:pPr marL="12700" marR="5080"/>
            <a:r>
              <a:rPr lang="en-US" sz="1400" kern="0" spc="-80" dirty="0">
                <a:solidFill>
                  <a:schemeClr val="accent2"/>
                </a:solidFill>
              </a:rPr>
              <a:t>7.1 Identity &amp; Access Patterns</a:t>
            </a:r>
          </a:p>
          <a:p>
            <a:pPr marL="12700" marR="5080"/>
            <a:r>
              <a:rPr lang="en-US" sz="1400" kern="0" spc="-80" dirty="0">
                <a:solidFill>
                  <a:schemeClr val="accent6"/>
                </a:solidFill>
              </a:rPr>
              <a:t>Strong authentication (MFA)</a:t>
            </a:r>
          </a:p>
          <a:p>
            <a:pPr marL="12700" marR="5080"/>
            <a:r>
              <a:rPr lang="en-US" sz="1400" kern="0" spc="-80" dirty="0">
                <a:solidFill>
                  <a:schemeClr val="accent6"/>
                </a:solidFill>
              </a:rPr>
              <a:t>Least privilege</a:t>
            </a:r>
          </a:p>
          <a:p>
            <a:pPr marL="12700" marR="5080"/>
            <a:r>
              <a:rPr lang="en-US" sz="1400" kern="0" spc="-80" dirty="0">
                <a:solidFill>
                  <a:schemeClr val="accent6"/>
                </a:solidFill>
              </a:rPr>
              <a:t>Zero Trust</a:t>
            </a:r>
          </a:p>
          <a:p>
            <a:pPr marL="12700" marR="5080"/>
            <a:r>
              <a:rPr lang="en-US" sz="1400" kern="0" spc="-80" dirty="0">
                <a:solidFill>
                  <a:schemeClr val="accent6"/>
                </a:solidFill>
              </a:rPr>
              <a:t>Service identity (</a:t>
            </a:r>
            <a:r>
              <a:rPr lang="en-US" sz="1400" kern="0" spc="-80" dirty="0" err="1">
                <a:solidFill>
                  <a:schemeClr val="accent6"/>
                </a:solidFill>
              </a:rPr>
              <a:t>mTLS</a:t>
            </a:r>
            <a:r>
              <a:rPr lang="en-US" sz="1400" kern="0" spc="-80" dirty="0">
                <a:solidFill>
                  <a:schemeClr val="accent6"/>
                </a:solidFill>
              </a:rPr>
              <a:t>, workload identity)</a:t>
            </a:r>
          </a:p>
          <a:p>
            <a:pPr marL="12700" marR="5080"/>
            <a:r>
              <a:rPr lang="en-US" sz="1400" kern="0" spc="-80" dirty="0">
                <a:solidFill>
                  <a:schemeClr val="accent2"/>
                </a:solidFill>
              </a:rPr>
              <a:t>7.2 Data Protection Patterns</a:t>
            </a:r>
          </a:p>
          <a:p>
            <a:pPr marL="12700" marR="5080"/>
            <a:r>
              <a:rPr lang="en-US" sz="1400" kern="0" spc="-80" dirty="0">
                <a:solidFill>
                  <a:schemeClr val="accent6"/>
                </a:solidFill>
              </a:rPr>
              <a:t>Encryption at rest &amp; in transit</a:t>
            </a:r>
          </a:p>
          <a:p>
            <a:pPr marL="12700" marR="5080"/>
            <a:r>
              <a:rPr lang="en-US" sz="1400" kern="0" spc="-80" dirty="0">
                <a:solidFill>
                  <a:schemeClr val="accent6"/>
                </a:solidFill>
              </a:rPr>
              <a:t>Tokenization</a:t>
            </a:r>
          </a:p>
          <a:p>
            <a:pPr marL="12700" marR="5080"/>
            <a:r>
              <a:rPr lang="en-US" sz="1400" kern="0" spc="-80" dirty="0">
                <a:solidFill>
                  <a:schemeClr val="accent6"/>
                </a:solidFill>
              </a:rPr>
              <a:t>Data classification</a:t>
            </a:r>
          </a:p>
          <a:p>
            <a:pPr marL="12700" marR="5080"/>
            <a:r>
              <a:rPr lang="en-US" sz="1400" kern="0" spc="-80" dirty="0">
                <a:solidFill>
                  <a:schemeClr val="accent6"/>
                </a:solidFill>
              </a:rPr>
              <a:t>Secrets management (Vault, KMS)</a:t>
            </a:r>
          </a:p>
          <a:p>
            <a:pPr marL="12700" marR="5080"/>
            <a:r>
              <a:rPr lang="en-US" sz="1400" kern="0" spc="-80" dirty="0">
                <a:solidFill>
                  <a:schemeClr val="accent2"/>
                </a:solidFill>
              </a:rPr>
              <a:t>7.3 Network Security Patterns</a:t>
            </a:r>
          </a:p>
          <a:p>
            <a:pPr marL="12700" marR="5080"/>
            <a:r>
              <a:rPr lang="en-US" sz="1400" kern="0" spc="-80" dirty="0">
                <a:solidFill>
                  <a:schemeClr val="accent6"/>
                </a:solidFill>
              </a:rPr>
              <a:t>Network segmentation</a:t>
            </a:r>
          </a:p>
          <a:p>
            <a:pPr marL="12700" marR="5080"/>
            <a:r>
              <a:rPr lang="en-US" sz="1400" kern="0" spc="-80" dirty="0">
                <a:solidFill>
                  <a:schemeClr val="accent6"/>
                </a:solidFill>
              </a:rPr>
              <a:t>Private endpoints</a:t>
            </a:r>
          </a:p>
          <a:p>
            <a:pPr marL="12700" marR="5080"/>
            <a:r>
              <a:rPr lang="en-US" sz="1400" kern="0" spc="-80" dirty="0">
                <a:solidFill>
                  <a:schemeClr val="accent6"/>
                </a:solidFill>
              </a:rPr>
              <a:t>WAF</a:t>
            </a:r>
          </a:p>
          <a:p>
            <a:pPr marL="12700" marR="5080"/>
            <a:r>
              <a:rPr lang="en-US" sz="1400" kern="0" spc="-80" dirty="0">
                <a:solidFill>
                  <a:schemeClr val="accent6"/>
                </a:solidFill>
              </a:rPr>
              <a:t>Rate limiting</a:t>
            </a:r>
          </a:p>
          <a:p>
            <a:pPr marL="12700" marR="5080"/>
            <a:r>
              <a:rPr lang="en-US" sz="1400" kern="0" spc="-80" dirty="0">
                <a:solidFill>
                  <a:schemeClr val="accent2"/>
                </a:solidFill>
              </a:rPr>
              <a:t>7.4 Application Security Patterns</a:t>
            </a:r>
          </a:p>
          <a:p>
            <a:pPr marL="12700" marR="5080"/>
            <a:r>
              <a:rPr lang="en-US" sz="1400" kern="0" spc="-80" dirty="0">
                <a:solidFill>
                  <a:schemeClr val="accent6"/>
                </a:solidFill>
              </a:rPr>
              <a:t>Input validation</a:t>
            </a:r>
          </a:p>
          <a:p>
            <a:pPr marL="12700" marR="5080"/>
            <a:r>
              <a:rPr lang="en-US" sz="1400" kern="0" spc="-80" dirty="0">
                <a:solidFill>
                  <a:schemeClr val="accent6"/>
                </a:solidFill>
              </a:rPr>
              <a:t>Output encoding</a:t>
            </a:r>
          </a:p>
          <a:p>
            <a:pPr marL="12700" marR="5080"/>
            <a:r>
              <a:rPr lang="en-US" sz="1400" kern="0" spc="-80" dirty="0">
                <a:solidFill>
                  <a:schemeClr val="accent6"/>
                </a:solidFill>
              </a:rPr>
              <a:t>Secure defaults</a:t>
            </a:r>
          </a:p>
          <a:p>
            <a:pPr marL="12700" marR="5080"/>
            <a:r>
              <a:rPr lang="en-US" sz="1400" kern="0" spc="-80" dirty="0">
                <a:solidFill>
                  <a:schemeClr val="accent6"/>
                </a:solidFill>
              </a:rPr>
              <a:t>Fail closed, not open</a:t>
            </a:r>
            <a:endParaRPr lang="en-US" sz="1500" kern="0" spc="-80" dirty="0">
              <a:solidFill>
                <a:schemeClr val="accent6"/>
              </a:solidFill>
            </a:endParaRPr>
          </a:p>
        </p:txBody>
      </p:sp>
      <p:grpSp>
        <p:nvGrpSpPr>
          <p:cNvPr id="7" name="Group 6">
            <a:extLst>
              <a:ext uri="{FF2B5EF4-FFF2-40B4-BE49-F238E27FC236}">
                <a16:creationId xmlns:a16="http://schemas.microsoft.com/office/drawing/2014/main" id="{FD1B96AF-9BBE-196F-2020-0489D33C6B0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4F79AC65-55EF-918F-89A4-BC568AEF177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1922EDB-3F24-CE12-C1FC-AB3BB63E384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382095097"/>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FF7CB-813F-46E3-5037-97D13F37EF3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3594B15-21B8-D069-BA6D-73B16F0AFC9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FC5C8D9-A376-5B28-B827-B1587303EC0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6B854EC-0BB2-EE8C-FCE2-86EC6BF9CCD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7DAD7B5-CFF9-6FA1-C34D-68444768AE5C}"/>
              </a:ext>
            </a:extLst>
          </p:cNvPr>
          <p:cNvSpPr txBox="1">
            <a:spLocks/>
          </p:cNvSpPr>
          <p:nvPr/>
        </p:nvSpPr>
        <p:spPr>
          <a:xfrm>
            <a:off x="76200" y="745153"/>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Threat Modelling</a:t>
            </a:r>
          </a:p>
          <a:p>
            <a:pPr marL="12700" marR="5080"/>
            <a:r>
              <a:rPr lang="en-US" sz="1400" kern="0" spc="-80" dirty="0">
                <a:solidFill>
                  <a:schemeClr val="accent2"/>
                </a:solidFill>
              </a:rPr>
              <a:t>7. Mitigation Patterns (Very Practical)</a:t>
            </a:r>
          </a:p>
          <a:p>
            <a:pPr marL="12700" marR="5080"/>
            <a:r>
              <a:rPr lang="en-US" sz="1400" kern="0" spc="-80" dirty="0">
                <a:solidFill>
                  <a:schemeClr val="accent2"/>
                </a:solidFill>
              </a:rPr>
              <a:t>7.5 Detection &amp; Response Patterns</a:t>
            </a:r>
          </a:p>
          <a:p>
            <a:pPr marL="12700" marR="5080"/>
            <a:r>
              <a:rPr lang="en-US" sz="1400" kern="0" spc="-80" dirty="0">
                <a:solidFill>
                  <a:schemeClr val="accent6"/>
                </a:solidFill>
              </a:rPr>
              <a:t>Centralized logging</a:t>
            </a:r>
          </a:p>
          <a:p>
            <a:pPr marL="12700" marR="5080"/>
            <a:r>
              <a:rPr lang="en-US" sz="1400" kern="0" spc="-80" dirty="0">
                <a:solidFill>
                  <a:schemeClr val="accent6"/>
                </a:solidFill>
              </a:rPr>
              <a:t>Audit trails</a:t>
            </a:r>
          </a:p>
          <a:p>
            <a:pPr marL="12700" marR="5080"/>
            <a:r>
              <a:rPr lang="en-US" sz="1400" kern="0" spc="-80" dirty="0">
                <a:solidFill>
                  <a:schemeClr val="accent6"/>
                </a:solidFill>
              </a:rPr>
              <a:t>Anomaly detection</a:t>
            </a:r>
          </a:p>
          <a:p>
            <a:pPr marL="12700" marR="5080"/>
            <a:r>
              <a:rPr lang="en-US" sz="1400" kern="0" spc="-80" dirty="0">
                <a:solidFill>
                  <a:schemeClr val="accent6"/>
                </a:solidFill>
              </a:rPr>
              <a:t>Incident runbooks</a:t>
            </a:r>
          </a:p>
          <a:p>
            <a:pPr marL="12700" marR="5080"/>
            <a:r>
              <a:rPr lang="en-US" sz="1400" kern="0" spc="-80" dirty="0">
                <a:solidFill>
                  <a:schemeClr val="accent2"/>
                </a:solidFill>
              </a:rPr>
              <a:t>8. Threat Modeling Patterns by Architecture</a:t>
            </a:r>
          </a:p>
          <a:p>
            <a:pPr marL="12700" marR="5080"/>
            <a:r>
              <a:rPr lang="en-US" sz="1400" kern="0" spc="-80" dirty="0">
                <a:solidFill>
                  <a:schemeClr val="accent2"/>
                </a:solidFill>
              </a:rPr>
              <a:t>8.1 Web Applications</a:t>
            </a:r>
          </a:p>
          <a:p>
            <a:pPr marL="12700" marR="5080"/>
            <a:r>
              <a:rPr lang="en-US" sz="1400" kern="0" spc="-80" dirty="0">
                <a:solidFill>
                  <a:schemeClr val="accent2"/>
                </a:solidFill>
              </a:rPr>
              <a:t>Key threats:</a:t>
            </a:r>
          </a:p>
          <a:p>
            <a:pPr marL="12700" marR="5080"/>
            <a:r>
              <a:rPr lang="en-US" sz="1400" kern="0" spc="-80" dirty="0">
                <a:solidFill>
                  <a:schemeClr val="accent6"/>
                </a:solidFill>
              </a:rPr>
              <a:t>XSS, CSRF, SSRF</a:t>
            </a:r>
          </a:p>
          <a:p>
            <a:pPr marL="12700" marR="5080"/>
            <a:r>
              <a:rPr lang="en-US" sz="1400" kern="0" spc="-80" dirty="0">
                <a:solidFill>
                  <a:schemeClr val="accent6"/>
                </a:solidFill>
              </a:rPr>
              <a:t>Auth bypass</a:t>
            </a:r>
          </a:p>
          <a:p>
            <a:pPr marL="12700" marR="5080"/>
            <a:r>
              <a:rPr lang="en-US" sz="1400" kern="0" spc="-80" dirty="0">
                <a:solidFill>
                  <a:schemeClr val="accent6"/>
                </a:solidFill>
              </a:rPr>
              <a:t>Session fixation</a:t>
            </a:r>
          </a:p>
          <a:p>
            <a:pPr marL="12700" marR="5080"/>
            <a:r>
              <a:rPr lang="en-US" sz="1400" kern="0" spc="-80" dirty="0">
                <a:solidFill>
                  <a:schemeClr val="accent2"/>
                </a:solidFill>
              </a:rPr>
              <a:t>8.2 Microservices</a:t>
            </a:r>
          </a:p>
          <a:p>
            <a:pPr marL="12700" marR="5080"/>
            <a:r>
              <a:rPr lang="en-US" sz="1400" kern="0" spc="-80" dirty="0">
                <a:solidFill>
                  <a:schemeClr val="accent2"/>
                </a:solidFill>
              </a:rPr>
              <a:t>Key threats:</a:t>
            </a:r>
          </a:p>
          <a:p>
            <a:pPr marL="12700" marR="5080"/>
            <a:r>
              <a:rPr lang="en-US" sz="1400" kern="0" spc="-80" dirty="0">
                <a:solidFill>
                  <a:schemeClr val="accent6"/>
                </a:solidFill>
              </a:rPr>
              <a:t>Service-to-service auth</a:t>
            </a:r>
          </a:p>
          <a:p>
            <a:pPr marL="12700" marR="5080"/>
            <a:r>
              <a:rPr lang="en-US" sz="1400" kern="0" spc="-80" dirty="0">
                <a:solidFill>
                  <a:schemeClr val="accent6"/>
                </a:solidFill>
              </a:rPr>
              <a:t>Lateral movement</a:t>
            </a:r>
          </a:p>
          <a:p>
            <a:pPr marL="12700" marR="5080"/>
            <a:r>
              <a:rPr lang="en-US" sz="1400" kern="0" spc="-80" dirty="0">
                <a:solidFill>
                  <a:schemeClr val="accent6"/>
                </a:solidFill>
              </a:rPr>
              <a:t>Insecure service discovery</a:t>
            </a:r>
          </a:p>
          <a:p>
            <a:pPr marL="12700" marR="5080"/>
            <a:r>
              <a:rPr lang="en-US" sz="1400" kern="0" spc="-80" dirty="0">
                <a:solidFill>
                  <a:schemeClr val="accent6"/>
                </a:solidFill>
              </a:rPr>
              <a:t>Mitigations:</a:t>
            </a:r>
          </a:p>
          <a:p>
            <a:pPr marL="12700" marR="5080"/>
            <a:r>
              <a:rPr lang="en-US" sz="1400" kern="0" spc="-80" dirty="0" err="1">
                <a:solidFill>
                  <a:schemeClr val="accent6"/>
                </a:solidFill>
              </a:rPr>
              <a:t>mTLS</a:t>
            </a:r>
            <a:endParaRPr lang="en-US" sz="1400" kern="0" spc="-80" dirty="0">
              <a:solidFill>
                <a:schemeClr val="accent6"/>
              </a:solidFill>
            </a:endParaRPr>
          </a:p>
          <a:p>
            <a:pPr marL="12700" marR="5080"/>
            <a:r>
              <a:rPr lang="en-US" sz="1400" kern="0" spc="-80" dirty="0">
                <a:solidFill>
                  <a:schemeClr val="accent6"/>
                </a:solidFill>
              </a:rPr>
              <a:t>Network policies</a:t>
            </a:r>
          </a:p>
          <a:p>
            <a:pPr marL="12700" marR="5080"/>
            <a:r>
              <a:rPr lang="en-US" sz="1400" kern="0" spc="-80" dirty="0">
                <a:solidFill>
                  <a:schemeClr val="accent6"/>
                </a:solidFill>
              </a:rPr>
              <a:t>Zero Trust</a:t>
            </a:r>
          </a:p>
        </p:txBody>
      </p:sp>
      <p:grpSp>
        <p:nvGrpSpPr>
          <p:cNvPr id="7" name="Group 6">
            <a:extLst>
              <a:ext uri="{FF2B5EF4-FFF2-40B4-BE49-F238E27FC236}">
                <a16:creationId xmlns:a16="http://schemas.microsoft.com/office/drawing/2014/main" id="{BAD911A8-649B-8386-0F3D-01C561EDA23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06D6A1E-5989-D702-11DD-1DDDD414227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85A1B3E-C517-7768-7D5A-6AD7D4AE935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77357064"/>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FA5EC-CE10-86B2-0A39-0DC5ACB19DA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FC84263-F07F-683D-069E-64A83C667AF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8957063-6506-FB38-815B-048CFA3FC43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BB0DFF0-9208-730E-EE9D-D8EFEE12014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56F7066-47EB-5721-9999-F8BC3BF9D954}"/>
              </a:ext>
            </a:extLst>
          </p:cNvPr>
          <p:cNvSpPr txBox="1">
            <a:spLocks/>
          </p:cNvSpPr>
          <p:nvPr/>
        </p:nvSpPr>
        <p:spPr>
          <a:xfrm>
            <a:off x="76200" y="748873"/>
            <a:ext cx="8624937" cy="450892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Threat Modelling</a:t>
            </a:r>
          </a:p>
          <a:p>
            <a:pPr marL="12700" marR="5080"/>
            <a:r>
              <a:rPr lang="en-US" sz="1400" kern="0" spc="-80" dirty="0">
                <a:solidFill>
                  <a:schemeClr val="accent2"/>
                </a:solidFill>
              </a:rPr>
              <a:t>8. Threat Modeling Patterns by Architecture</a:t>
            </a:r>
          </a:p>
          <a:p>
            <a:pPr marL="12700" marR="5080"/>
            <a:r>
              <a:rPr lang="en-US" sz="1500" kern="0" spc="-80" dirty="0">
                <a:solidFill>
                  <a:schemeClr val="accent2"/>
                </a:solidFill>
              </a:rPr>
              <a:t>8.3 Cloud-Native Systems</a:t>
            </a:r>
          </a:p>
          <a:p>
            <a:pPr marL="12700" marR="5080"/>
            <a:r>
              <a:rPr lang="en-US" sz="1500" kern="0" spc="-80" dirty="0">
                <a:solidFill>
                  <a:schemeClr val="accent2"/>
                </a:solidFill>
              </a:rPr>
              <a:t>Key threats:</a:t>
            </a:r>
          </a:p>
          <a:p>
            <a:pPr marL="12700" marR="5080"/>
            <a:r>
              <a:rPr lang="en-US" sz="1500" kern="0" spc="-80" dirty="0">
                <a:solidFill>
                  <a:schemeClr val="accent6"/>
                </a:solidFill>
              </a:rPr>
              <a:t>IAM misconfiguration</a:t>
            </a:r>
          </a:p>
          <a:p>
            <a:pPr marL="12700" marR="5080"/>
            <a:r>
              <a:rPr lang="en-US" sz="1500" kern="0" spc="-80" dirty="0">
                <a:solidFill>
                  <a:schemeClr val="accent6"/>
                </a:solidFill>
              </a:rPr>
              <a:t>Metadata service abuse</a:t>
            </a:r>
          </a:p>
          <a:p>
            <a:pPr marL="12700" marR="5080"/>
            <a:r>
              <a:rPr lang="en-US" sz="1500" kern="0" spc="-80" dirty="0">
                <a:solidFill>
                  <a:schemeClr val="accent6"/>
                </a:solidFill>
              </a:rPr>
              <a:t>Public storage exposure</a:t>
            </a:r>
          </a:p>
          <a:p>
            <a:pPr marL="12700" marR="5080"/>
            <a:r>
              <a:rPr lang="en-US" sz="1500" kern="0" spc="-80" dirty="0">
                <a:solidFill>
                  <a:schemeClr val="accent2"/>
                </a:solidFill>
              </a:rPr>
              <a:t>8.4 CI/CD Pipelines</a:t>
            </a:r>
          </a:p>
          <a:p>
            <a:pPr marL="12700" marR="5080"/>
            <a:r>
              <a:rPr lang="en-US" sz="1500" kern="0" spc="-80" dirty="0">
                <a:solidFill>
                  <a:schemeClr val="accent2"/>
                </a:solidFill>
              </a:rPr>
              <a:t>Key threats:</a:t>
            </a:r>
          </a:p>
          <a:p>
            <a:pPr marL="12700" marR="5080"/>
            <a:r>
              <a:rPr lang="en-US" sz="1500" kern="0" spc="-80" dirty="0">
                <a:solidFill>
                  <a:schemeClr val="accent6"/>
                </a:solidFill>
              </a:rPr>
              <a:t>Supply chain attacks</a:t>
            </a:r>
          </a:p>
          <a:p>
            <a:pPr marL="12700" marR="5080"/>
            <a:r>
              <a:rPr lang="en-US" sz="1500" kern="0" spc="-80" dirty="0">
                <a:solidFill>
                  <a:schemeClr val="accent6"/>
                </a:solidFill>
              </a:rPr>
              <a:t>Secret leakage</a:t>
            </a:r>
          </a:p>
          <a:p>
            <a:pPr marL="12700" marR="5080"/>
            <a:r>
              <a:rPr lang="en-US" sz="1500" kern="0" spc="-80" dirty="0">
                <a:solidFill>
                  <a:schemeClr val="accent6"/>
                </a:solidFill>
              </a:rPr>
              <a:t>Malicious dependencies</a:t>
            </a:r>
          </a:p>
          <a:p>
            <a:pPr marL="12700" marR="5080"/>
            <a:r>
              <a:rPr lang="en-US" sz="1500" kern="0" spc="-80" dirty="0">
                <a:solidFill>
                  <a:schemeClr val="accent2"/>
                </a:solidFill>
              </a:rPr>
              <a:t>8.5 Data Platforms</a:t>
            </a:r>
          </a:p>
          <a:p>
            <a:pPr marL="12700" marR="5080"/>
            <a:r>
              <a:rPr lang="en-US" sz="1500" kern="0" spc="-80" dirty="0">
                <a:solidFill>
                  <a:schemeClr val="accent2"/>
                </a:solidFill>
              </a:rPr>
              <a:t>Key threats:</a:t>
            </a:r>
          </a:p>
          <a:p>
            <a:pPr marL="12700" marR="5080"/>
            <a:r>
              <a:rPr lang="en-US" sz="1500" kern="0" spc="-80" dirty="0">
                <a:solidFill>
                  <a:schemeClr val="accent6"/>
                </a:solidFill>
              </a:rPr>
              <a:t>Unauthorized access</a:t>
            </a:r>
          </a:p>
          <a:p>
            <a:pPr marL="12700" marR="5080"/>
            <a:r>
              <a:rPr lang="en-US" sz="1500" kern="0" spc="-80" dirty="0">
                <a:solidFill>
                  <a:schemeClr val="accent6"/>
                </a:solidFill>
              </a:rPr>
              <a:t>Data poisoning</a:t>
            </a:r>
          </a:p>
          <a:p>
            <a:pPr marL="12700" marR="5080"/>
            <a:r>
              <a:rPr lang="en-US" sz="1500" kern="0" spc="-80" dirty="0">
                <a:solidFill>
                  <a:schemeClr val="accent6"/>
                </a:solidFill>
              </a:rPr>
              <a:t>Inference attacks</a:t>
            </a: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grpSp>
        <p:nvGrpSpPr>
          <p:cNvPr id="7" name="Group 6">
            <a:extLst>
              <a:ext uri="{FF2B5EF4-FFF2-40B4-BE49-F238E27FC236}">
                <a16:creationId xmlns:a16="http://schemas.microsoft.com/office/drawing/2014/main" id="{D3805B46-4235-45C2-DF6E-4BB8F576F6F2}"/>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F5992266-64B8-0850-0013-9AF64DB144B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68175B91-8DF8-E989-1C7E-96031D66DF6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705400000"/>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8B3A2-5534-5AC1-FBB3-C7C5E1FC5E4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30E709F-86B0-7771-9C0E-3DAD712BEE0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6352AF0-4CEA-14F1-6BB2-31ECE586742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7B7B5B9-B89E-EF9F-EB48-0BE01B555A6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3454177-AD58-4350-CD6B-2CDF2E1CAC39}"/>
              </a:ext>
            </a:extLst>
          </p:cNvPr>
          <p:cNvSpPr txBox="1">
            <a:spLocks/>
          </p:cNvSpPr>
          <p:nvPr/>
        </p:nvSpPr>
        <p:spPr>
          <a:xfrm>
            <a:off x="76200" y="729020"/>
            <a:ext cx="8624937"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Threat Modelling</a:t>
            </a:r>
          </a:p>
          <a:p>
            <a:pPr marL="12700" marR="5080"/>
            <a:r>
              <a:rPr lang="en-US" sz="1500" kern="0" spc="-80" dirty="0">
                <a:solidFill>
                  <a:schemeClr val="accent2"/>
                </a:solidFill>
              </a:rPr>
              <a:t>9. Threat Modeling in SDLC (Shift Left)</a:t>
            </a:r>
          </a:p>
          <a:p>
            <a:pPr marL="12700" marR="5080"/>
            <a:r>
              <a:rPr lang="en-US" sz="1500" kern="0" spc="-80" dirty="0">
                <a:solidFill>
                  <a:schemeClr val="accent2"/>
                </a:solidFill>
              </a:rPr>
              <a:t>Phase	                  Threat Modeling Role</a:t>
            </a:r>
          </a:p>
          <a:p>
            <a:pPr marL="12700" marR="5080"/>
            <a:r>
              <a:rPr lang="en-US" sz="1500" kern="0" spc="-80" dirty="0">
                <a:solidFill>
                  <a:schemeClr val="accent6"/>
                </a:solidFill>
              </a:rPr>
              <a:t>Design	                  Primary</a:t>
            </a:r>
          </a:p>
          <a:p>
            <a:pPr marL="12700" marR="5080"/>
            <a:r>
              <a:rPr lang="en-US" sz="1500" kern="0" spc="-80" dirty="0">
                <a:solidFill>
                  <a:schemeClr val="accent6"/>
                </a:solidFill>
              </a:rPr>
              <a:t>Development	Validate assumptions</a:t>
            </a:r>
          </a:p>
          <a:p>
            <a:pPr marL="12700" marR="5080"/>
            <a:r>
              <a:rPr lang="en-US" sz="1500" kern="0" spc="-80" dirty="0">
                <a:solidFill>
                  <a:schemeClr val="accent6"/>
                </a:solidFill>
              </a:rPr>
              <a:t>Testing	                  Abuse testing</a:t>
            </a:r>
          </a:p>
          <a:p>
            <a:pPr marL="12700" marR="5080"/>
            <a:r>
              <a:rPr lang="en-US" sz="1500" kern="0" spc="-80" dirty="0">
                <a:solidFill>
                  <a:schemeClr val="accent6"/>
                </a:solidFill>
              </a:rPr>
              <a:t>Deployment	Configuration review</a:t>
            </a:r>
          </a:p>
          <a:p>
            <a:pPr marL="12700" marR="5080"/>
            <a:r>
              <a:rPr lang="en-US" sz="1500" kern="0" spc="-80" dirty="0">
                <a:solidFill>
                  <a:schemeClr val="accent6"/>
                </a:solidFill>
              </a:rPr>
              <a:t>Operations	Living threat model</a:t>
            </a:r>
          </a:p>
          <a:p>
            <a:pPr marL="12700" marR="5080"/>
            <a:r>
              <a:rPr lang="en-US" sz="1500" kern="0" spc="-80" dirty="0">
                <a:solidFill>
                  <a:schemeClr val="accent6"/>
                </a:solidFill>
              </a:rPr>
              <a:t>🔁 Threat models must evolve with architecture</a:t>
            </a:r>
          </a:p>
          <a:p>
            <a:pPr marL="12700" marR="5080"/>
            <a:endParaRPr lang="en-US" sz="1500" kern="0" spc="-80" dirty="0">
              <a:solidFill>
                <a:schemeClr val="accent6"/>
              </a:solidFill>
            </a:endParaRPr>
          </a:p>
          <a:p>
            <a:pPr marL="12700" marR="5080"/>
            <a:r>
              <a:rPr lang="en-US" sz="1500" kern="0" spc="-80" dirty="0">
                <a:solidFill>
                  <a:schemeClr val="accent2"/>
                </a:solidFill>
              </a:rPr>
              <a:t>10. Tools for Threat Modeling</a:t>
            </a:r>
          </a:p>
          <a:p>
            <a:pPr marL="12700" marR="5080"/>
            <a:r>
              <a:rPr lang="en-US" sz="1500" kern="0" spc="-80" dirty="0">
                <a:solidFill>
                  <a:schemeClr val="accent6"/>
                </a:solidFill>
              </a:rPr>
              <a:t>Diagram-based</a:t>
            </a:r>
          </a:p>
          <a:p>
            <a:pPr marL="12700" marR="5080"/>
            <a:r>
              <a:rPr lang="en-US" sz="1500" kern="0" spc="-80" dirty="0">
                <a:solidFill>
                  <a:schemeClr val="accent6"/>
                </a:solidFill>
              </a:rPr>
              <a:t>Microsoft Threat Modeling Tool</a:t>
            </a:r>
          </a:p>
          <a:p>
            <a:pPr marL="12700" marR="5080"/>
            <a:r>
              <a:rPr lang="en-US" sz="1500" kern="0" spc="-80" dirty="0">
                <a:solidFill>
                  <a:schemeClr val="accent6"/>
                </a:solidFill>
              </a:rPr>
              <a:t>OWASP Threat Dragon</a:t>
            </a:r>
          </a:p>
          <a:p>
            <a:pPr marL="12700" marR="5080"/>
            <a:r>
              <a:rPr lang="en-US" sz="1500" kern="0" spc="-80" dirty="0" err="1">
                <a:solidFill>
                  <a:schemeClr val="accent6"/>
                </a:solidFill>
              </a:rPr>
              <a:t>IriusRisk</a:t>
            </a:r>
            <a:endParaRPr lang="en-US" sz="1500" kern="0" spc="-80" dirty="0">
              <a:solidFill>
                <a:schemeClr val="accent6"/>
              </a:solidFill>
            </a:endParaRPr>
          </a:p>
          <a:p>
            <a:pPr marL="12700" marR="5080"/>
            <a:r>
              <a:rPr lang="en-US" sz="1500" kern="0" spc="-80" dirty="0">
                <a:solidFill>
                  <a:schemeClr val="accent6"/>
                </a:solidFill>
              </a:rPr>
              <a:t>Knowledge-based</a:t>
            </a:r>
          </a:p>
          <a:p>
            <a:pPr marL="12700" marR="5080"/>
            <a:r>
              <a:rPr lang="en-US" sz="1500" kern="0" spc="-80" dirty="0">
                <a:solidFill>
                  <a:schemeClr val="accent6"/>
                </a:solidFill>
              </a:rPr>
              <a:t>STRIDE cheat sheets</a:t>
            </a:r>
          </a:p>
          <a:p>
            <a:pPr marL="12700" marR="5080"/>
            <a:r>
              <a:rPr lang="en-US" sz="1500" kern="0" spc="-80" dirty="0">
                <a:solidFill>
                  <a:schemeClr val="accent6"/>
                </a:solidFill>
              </a:rPr>
              <a:t>MITRE ATT&amp;CK</a:t>
            </a:r>
          </a:p>
          <a:p>
            <a:pPr marL="12700" marR="5080"/>
            <a:r>
              <a:rPr lang="en-US" sz="1500" kern="0" spc="-80" dirty="0">
                <a:solidFill>
                  <a:schemeClr val="accent6"/>
                </a:solidFill>
              </a:rPr>
              <a:t>Lightweight</a:t>
            </a:r>
          </a:p>
          <a:p>
            <a:pPr marL="12700" marR="5080"/>
            <a:r>
              <a:rPr lang="en-US" sz="1500" kern="0" spc="-80" dirty="0">
                <a:solidFill>
                  <a:schemeClr val="accent6"/>
                </a:solidFill>
              </a:rPr>
              <a:t>Whiteboard + checklist</a:t>
            </a:r>
          </a:p>
          <a:p>
            <a:pPr marL="12700" marR="5080"/>
            <a:r>
              <a:rPr lang="en-US" sz="1500" kern="0" spc="-80" dirty="0">
                <a:solidFill>
                  <a:schemeClr val="accent6"/>
                </a:solidFill>
              </a:rPr>
              <a:t>Architecture review sessions</a:t>
            </a:r>
          </a:p>
        </p:txBody>
      </p:sp>
      <p:grpSp>
        <p:nvGrpSpPr>
          <p:cNvPr id="7" name="Group 6">
            <a:extLst>
              <a:ext uri="{FF2B5EF4-FFF2-40B4-BE49-F238E27FC236}">
                <a16:creationId xmlns:a16="http://schemas.microsoft.com/office/drawing/2014/main" id="{7EDCE19F-65C5-DD29-BD52-8BEE6D2D4F4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476999B-F5BB-03EF-9E91-F1AF44BC0C2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5E6465D-4469-28CD-EC1B-46A46D12ED8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381324110"/>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3A512-5232-A879-B84B-8C6B227F37B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B03673F-7B5D-329E-B09E-627AD1894D9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46430F4-4ACA-B3CB-B4BD-D081A2902FA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BEABEC7-260D-5430-4B24-FCF671952CB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27601DB-3337-1C6C-118A-2FDF8722BCCD}"/>
              </a:ext>
            </a:extLst>
          </p:cNvPr>
          <p:cNvSpPr txBox="1">
            <a:spLocks/>
          </p:cNvSpPr>
          <p:nvPr/>
        </p:nvSpPr>
        <p:spPr>
          <a:xfrm>
            <a:off x="76200" y="807452"/>
            <a:ext cx="8624937" cy="47551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Threat Modelling</a:t>
            </a:r>
          </a:p>
          <a:p>
            <a:pPr marL="12700" marR="5080"/>
            <a:r>
              <a:rPr lang="en-US" sz="1500" kern="0" spc="-80" dirty="0">
                <a:solidFill>
                  <a:schemeClr val="accent2"/>
                </a:solidFill>
              </a:rPr>
              <a:t>11. Common Anti-Patterns</a:t>
            </a:r>
          </a:p>
          <a:p>
            <a:pPr marL="12700" marR="5080"/>
            <a:r>
              <a:rPr lang="en-US" sz="1500" kern="0" spc="-80" dirty="0">
                <a:solidFill>
                  <a:schemeClr val="accent6"/>
                </a:solidFill>
              </a:rPr>
              <a:t>❌ Treating it as a one-time exercise</a:t>
            </a:r>
          </a:p>
          <a:p>
            <a:pPr marL="12700" marR="5080"/>
            <a:r>
              <a:rPr lang="en-US" sz="1500" kern="0" spc="-80" dirty="0">
                <a:solidFill>
                  <a:schemeClr val="accent6"/>
                </a:solidFill>
              </a:rPr>
              <a:t>❌ Over-detailing diagrams</a:t>
            </a:r>
          </a:p>
          <a:p>
            <a:pPr marL="12700" marR="5080"/>
            <a:r>
              <a:rPr lang="en-US" sz="1500" kern="0" spc="-80" dirty="0">
                <a:solidFill>
                  <a:schemeClr val="accent6"/>
                </a:solidFill>
              </a:rPr>
              <a:t>❌ Ignoring operational threats</a:t>
            </a:r>
          </a:p>
          <a:p>
            <a:pPr marL="12700" marR="5080"/>
            <a:r>
              <a:rPr lang="en-US" sz="1500" kern="0" spc="-80" dirty="0">
                <a:solidFill>
                  <a:schemeClr val="accent6"/>
                </a:solidFill>
              </a:rPr>
              <a:t>❌ No ownership of mitigations</a:t>
            </a:r>
          </a:p>
          <a:p>
            <a:pPr marL="12700" marR="5080"/>
            <a:r>
              <a:rPr lang="en-US" sz="1500" kern="0" spc="-80" dirty="0">
                <a:solidFill>
                  <a:schemeClr val="accent6"/>
                </a:solidFill>
              </a:rPr>
              <a:t>❌ Not revisiting after changes</a:t>
            </a:r>
          </a:p>
          <a:p>
            <a:pPr marL="12700" marR="5080"/>
            <a:endParaRPr lang="en-US" sz="1500" kern="0" spc="-80" dirty="0">
              <a:solidFill>
                <a:schemeClr val="accent6"/>
              </a:solidFill>
            </a:endParaRPr>
          </a:p>
          <a:p>
            <a:pPr marL="12700" marR="5080"/>
            <a:r>
              <a:rPr lang="en-US" sz="1500" kern="0" spc="-80" dirty="0">
                <a:solidFill>
                  <a:schemeClr val="accent2"/>
                </a:solidFill>
              </a:rPr>
              <a:t>12. How to Do Threat Modeling in 90 Minutes (Practical Playbook)</a:t>
            </a:r>
          </a:p>
          <a:p>
            <a:pPr marL="12700" marR="5080"/>
            <a:r>
              <a:rPr lang="en-US" sz="1500" kern="0" spc="-80" dirty="0">
                <a:solidFill>
                  <a:schemeClr val="accent6"/>
                </a:solidFill>
              </a:rPr>
              <a:t>15 min – Draw architecture</a:t>
            </a:r>
          </a:p>
          <a:p>
            <a:pPr marL="12700" marR="5080"/>
            <a:r>
              <a:rPr lang="en-US" sz="1500" kern="0" spc="-80" dirty="0">
                <a:solidFill>
                  <a:schemeClr val="accent6"/>
                </a:solidFill>
              </a:rPr>
              <a:t>15 min – Identify assets &amp; trust boundaries</a:t>
            </a:r>
          </a:p>
          <a:p>
            <a:pPr marL="12700" marR="5080"/>
            <a:r>
              <a:rPr lang="en-US" sz="1500" kern="0" spc="-80" dirty="0">
                <a:solidFill>
                  <a:schemeClr val="accent6"/>
                </a:solidFill>
              </a:rPr>
              <a:t>30 min – STRIDE per component</a:t>
            </a:r>
          </a:p>
          <a:p>
            <a:pPr marL="12700" marR="5080"/>
            <a:r>
              <a:rPr lang="en-US" sz="1500" kern="0" spc="-80" dirty="0">
                <a:solidFill>
                  <a:schemeClr val="accent6"/>
                </a:solidFill>
              </a:rPr>
              <a:t>20 min – Prioritize top 5 risks</a:t>
            </a:r>
          </a:p>
          <a:p>
            <a:pPr marL="12700" marR="5080"/>
            <a:r>
              <a:rPr lang="en-US" sz="1500" kern="0" spc="-80" dirty="0">
                <a:solidFill>
                  <a:schemeClr val="accent6"/>
                </a:solidFill>
              </a:rPr>
              <a:t>10 min – Assign mitigations</a:t>
            </a:r>
          </a:p>
          <a:p>
            <a:pPr marL="12700" marR="5080"/>
            <a:endParaRPr lang="en-US" sz="1500" kern="0" spc="-80" dirty="0">
              <a:solidFill>
                <a:schemeClr val="accent6"/>
              </a:solidFill>
            </a:endParaRPr>
          </a:p>
          <a:p>
            <a:pPr marL="12700" marR="5080"/>
            <a:r>
              <a:rPr lang="en-US" sz="1500" kern="0" spc="-80" dirty="0">
                <a:solidFill>
                  <a:schemeClr val="accent2"/>
                </a:solidFill>
              </a:rPr>
              <a:t>13. Golden Principles to Remember</a:t>
            </a:r>
          </a:p>
          <a:p>
            <a:pPr marL="12700" marR="5080"/>
            <a:r>
              <a:rPr lang="en-US" sz="1500" kern="0" spc="-80" dirty="0">
                <a:solidFill>
                  <a:schemeClr val="accent6"/>
                </a:solidFill>
              </a:rPr>
              <a:t>Threat modeling is about questions, not answers</a:t>
            </a:r>
          </a:p>
          <a:p>
            <a:pPr marL="12700" marR="5080"/>
            <a:r>
              <a:rPr lang="en-US" sz="1500" kern="0" spc="-80" dirty="0">
                <a:solidFill>
                  <a:schemeClr val="accent6"/>
                </a:solidFill>
              </a:rPr>
              <a:t>Trust boundaries define security</a:t>
            </a:r>
          </a:p>
          <a:p>
            <a:pPr marL="12700" marR="5080"/>
            <a:r>
              <a:rPr lang="en-US" sz="1500" kern="0" spc="-80" dirty="0">
                <a:solidFill>
                  <a:schemeClr val="accent6"/>
                </a:solidFill>
              </a:rPr>
              <a:t>Design flaws cost 10× more to fix later</a:t>
            </a:r>
          </a:p>
          <a:p>
            <a:pPr marL="12700" marR="5080"/>
            <a:r>
              <a:rPr lang="en-US" sz="1500" kern="0" spc="-80" dirty="0">
                <a:solidFill>
                  <a:schemeClr val="accent6"/>
                </a:solidFill>
              </a:rPr>
              <a:t>Every architecture change changes the threat model</a:t>
            </a:r>
          </a:p>
        </p:txBody>
      </p:sp>
      <p:grpSp>
        <p:nvGrpSpPr>
          <p:cNvPr id="7" name="Group 6">
            <a:extLst>
              <a:ext uri="{FF2B5EF4-FFF2-40B4-BE49-F238E27FC236}">
                <a16:creationId xmlns:a16="http://schemas.microsoft.com/office/drawing/2014/main" id="{FA3039AE-71CB-DC79-17B5-B7E6F56000A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29F3510-1541-E5B4-DFE3-382497E477F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3CDCB0F-FE7F-CD6A-AD4A-E268714846F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803853010"/>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5C14E-20CF-D47A-8AE3-4E2E89F2FDF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B768737-9D27-BB40-021C-1A799DD16D7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E9DC28C-17B2-4C7B-718E-5CDDCEF6DD0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FBE9E537-8903-C0DA-4F98-92687FACC18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060E440-AF81-2C23-BD55-746ABD5411FE}"/>
              </a:ext>
            </a:extLst>
          </p:cNvPr>
          <p:cNvSpPr txBox="1">
            <a:spLocks/>
          </p:cNvSpPr>
          <p:nvPr/>
        </p:nvSpPr>
        <p:spPr>
          <a:xfrm>
            <a:off x="76200" y="692259"/>
            <a:ext cx="8624937" cy="90794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Threat Modelling</a:t>
            </a:r>
          </a:p>
          <a:p>
            <a:pPr marL="12700" marR="5080"/>
            <a:r>
              <a:rPr lang="en-US" sz="1700" kern="0" spc="-80" dirty="0">
                <a:solidFill>
                  <a:schemeClr val="accent2"/>
                </a:solidFill>
              </a:rPr>
              <a:t> For Further Exploration</a:t>
            </a:r>
          </a:p>
          <a:p>
            <a:pPr marL="12700" marR="5080"/>
            <a:r>
              <a:rPr lang="en-US" sz="1700" kern="0" spc="-80" dirty="0">
                <a:solidFill>
                  <a:schemeClr val="accent2"/>
                </a:solidFill>
              </a:rPr>
              <a:t> </a:t>
            </a:r>
            <a:r>
              <a:rPr lang="en-US" sz="1800" dirty="0">
                <a:hlinkClick r:id="rId2"/>
              </a:rPr>
              <a:t>Awesome-Threat-Modelling</a:t>
            </a:r>
            <a:endParaRPr lang="en-US" sz="1700" kern="0" spc="-80" dirty="0">
              <a:solidFill>
                <a:schemeClr val="accent2"/>
              </a:solidFill>
            </a:endParaRPr>
          </a:p>
        </p:txBody>
      </p:sp>
      <p:grpSp>
        <p:nvGrpSpPr>
          <p:cNvPr id="7" name="Group 6">
            <a:extLst>
              <a:ext uri="{FF2B5EF4-FFF2-40B4-BE49-F238E27FC236}">
                <a16:creationId xmlns:a16="http://schemas.microsoft.com/office/drawing/2014/main" id="{68DBF07B-EEFF-40F4-8203-4A89D79C3974}"/>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C8AAD22-2C67-224B-0E41-6269ADDA953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9C8567D-C7D5-E811-02A8-A4FEED515DC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328803012"/>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290463" y="670203"/>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Zero Trust </a:t>
            </a:r>
          </a:p>
        </p:txBody>
      </p:sp>
      <p:pic>
        <p:nvPicPr>
          <p:cNvPr id="8" name="Picture 7">
            <a:extLst>
              <a:ext uri="{FF2B5EF4-FFF2-40B4-BE49-F238E27FC236}">
                <a16:creationId xmlns:a16="http://schemas.microsoft.com/office/drawing/2014/main" id="{9BAF189A-4B77-12A5-0FF1-0D99771DFE81}"/>
              </a:ext>
            </a:extLst>
          </p:cNvPr>
          <p:cNvPicPr>
            <a:picLocks noChangeAspect="1"/>
          </p:cNvPicPr>
          <p:nvPr/>
        </p:nvPicPr>
        <p:blipFill>
          <a:blip r:embed="rId2"/>
          <a:stretch>
            <a:fillRect/>
          </a:stretch>
        </p:blipFill>
        <p:spPr>
          <a:xfrm>
            <a:off x="228600" y="1078271"/>
            <a:ext cx="8686800" cy="4830904"/>
          </a:xfrm>
          <a:prstGeom prst="rect">
            <a:avLst/>
          </a:prstGeom>
        </p:spPr>
      </p:pic>
      <p:grpSp>
        <p:nvGrpSpPr>
          <p:cNvPr id="7" name="Group 6">
            <a:extLst>
              <a:ext uri="{FF2B5EF4-FFF2-40B4-BE49-F238E27FC236}">
                <a16:creationId xmlns:a16="http://schemas.microsoft.com/office/drawing/2014/main" id="{40782B28-230B-37F4-41AC-94FA69CAEF48}"/>
              </a:ext>
            </a:extLst>
          </p:cNvPr>
          <p:cNvGrpSpPr/>
          <p:nvPr/>
        </p:nvGrpSpPr>
        <p:grpSpPr>
          <a:xfrm>
            <a:off x="20320" y="-30047"/>
            <a:ext cx="9123680" cy="481253"/>
            <a:chOff x="0" y="0"/>
            <a:chExt cx="8716300" cy="481253"/>
          </a:xfrm>
        </p:grpSpPr>
        <p:sp>
          <p:nvSpPr>
            <p:cNvPr id="9" name="Rectangle: Rounded Corners 8">
              <a:extLst>
                <a:ext uri="{FF2B5EF4-FFF2-40B4-BE49-F238E27FC236}">
                  <a16:creationId xmlns:a16="http://schemas.microsoft.com/office/drawing/2014/main" id="{51B562E0-3661-AF3A-FD04-CD9FFAE6490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401F5C6F-47AF-2B2F-2AC4-4EB1B21C280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372959447"/>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0BD71-E71F-328D-8A88-5F736EE2D7F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2EA85F7-1721-0891-1D2F-BFDF157D60A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643752B-B69D-5848-B3C3-F70866C754F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EB8BFBC-F1EF-0246-FA36-5E8DAFD3CAA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F28D708-2E7C-BA03-73EA-60F2FD131A26}"/>
              </a:ext>
            </a:extLst>
          </p:cNvPr>
          <p:cNvSpPr txBox="1">
            <a:spLocks/>
          </p:cNvSpPr>
          <p:nvPr/>
        </p:nvSpPr>
        <p:spPr>
          <a:xfrm>
            <a:off x="76200" y="781883"/>
            <a:ext cx="8624937" cy="42473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Zero Trust – </a:t>
            </a:r>
          </a:p>
          <a:p>
            <a:pPr marL="12700" marR="5080"/>
            <a:r>
              <a:rPr lang="en-US" sz="1400" kern="0" spc="-80" dirty="0">
                <a:solidFill>
                  <a:schemeClr val="accent2"/>
                </a:solidFill>
              </a:rPr>
              <a:t>Zero Trust Security is a security model built on one core idea:</a:t>
            </a:r>
          </a:p>
          <a:p>
            <a:pPr marL="12700" marR="5080"/>
            <a:r>
              <a:rPr lang="en-US" sz="1400" kern="0" spc="-80" dirty="0">
                <a:solidFill>
                  <a:schemeClr val="accent6"/>
                </a:solidFill>
              </a:rPr>
              <a:t>Never trust anything by default — always verify, explicitly and continuously.</a:t>
            </a:r>
          </a:p>
          <a:p>
            <a:pPr marL="12700" marR="5080"/>
            <a:r>
              <a:rPr lang="en-US" sz="1400" kern="0" spc="-80" dirty="0">
                <a:solidFill>
                  <a:schemeClr val="accent6"/>
                </a:solidFill>
              </a:rPr>
              <a:t>It rejects the old assumption that “inside the network = trusted”.</a:t>
            </a:r>
          </a:p>
          <a:p>
            <a:pPr marL="12700" marR="5080"/>
            <a:r>
              <a:rPr lang="en-US" sz="1400" kern="0" spc="-80" dirty="0">
                <a:solidFill>
                  <a:schemeClr val="accent2"/>
                </a:solidFill>
              </a:rPr>
              <a:t>1. Why Zero Trust emerged (the problem it solves)</a:t>
            </a:r>
          </a:p>
          <a:p>
            <a:pPr marL="12700" marR="5080"/>
            <a:r>
              <a:rPr lang="en-US" sz="1400" kern="0" spc="-80" dirty="0">
                <a:solidFill>
                  <a:schemeClr val="accent2"/>
                </a:solidFill>
              </a:rPr>
              <a:t>Traditional (Perimeter-based) Security</a:t>
            </a:r>
          </a:p>
          <a:p>
            <a:pPr marL="12700" marR="5080"/>
            <a:r>
              <a:rPr lang="en-US" sz="1400" kern="0" spc="-80" dirty="0">
                <a:solidFill>
                  <a:schemeClr val="accent6"/>
                </a:solidFill>
              </a:rPr>
              <a:t>Internet (Untrusted) → Firewall → Internal Network (Trusted)</a:t>
            </a:r>
          </a:p>
          <a:p>
            <a:pPr marL="12700" marR="5080"/>
            <a:r>
              <a:rPr lang="en-US" sz="1400" kern="0" spc="-80" dirty="0">
                <a:solidFill>
                  <a:schemeClr val="accent2"/>
                </a:solidFill>
              </a:rPr>
              <a:t>Assumptions:</a:t>
            </a:r>
          </a:p>
          <a:p>
            <a:pPr marL="12700" marR="5080"/>
            <a:r>
              <a:rPr lang="en-US" sz="1400" kern="0" spc="-80" dirty="0">
                <a:solidFill>
                  <a:schemeClr val="accent6"/>
                </a:solidFill>
              </a:rPr>
              <a:t>Attackers are outside</a:t>
            </a:r>
          </a:p>
          <a:p>
            <a:pPr marL="12700" marR="5080"/>
            <a:r>
              <a:rPr lang="en-US" sz="1400" kern="0" spc="-80" dirty="0">
                <a:solidFill>
                  <a:schemeClr val="accent6"/>
                </a:solidFill>
              </a:rPr>
              <a:t>Users/devices inside are safe</a:t>
            </a:r>
          </a:p>
          <a:p>
            <a:pPr marL="12700" marR="5080"/>
            <a:r>
              <a:rPr lang="en-US" sz="1400" kern="0" spc="-80" dirty="0">
                <a:solidFill>
                  <a:schemeClr val="accent6"/>
                </a:solidFill>
              </a:rPr>
              <a:t>One-time authentication is enough</a:t>
            </a:r>
          </a:p>
          <a:p>
            <a:pPr marL="12700" marR="5080"/>
            <a:r>
              <a:rPr lang="en-US" sz="1400" kern="0" spc="-80" dirty="0">
                <a:solidFill>
                  <a:schemeClr val="accent2"/>
                </a:solidFill>
              </a:rPr>
              <a:t>Reality today:</a:t>
            </a:r>
          </a:p>
          <a:p>
            <a:pPr marL="12700" marR="5080"/>
            <a:r>
              <a:rPr lang="en-US" sz="1400" kern="0" spc="-80" dirty="0">
                <a:solidFill>
                  <a:schemeClr val="accent6"/>
                </a:solidFill>
              </a:rPr>
              <a:t>Cloud &amp; SaaS → no clear perimeter</a:t>
            </a:r>
          </a:p>
          <a:p>
            <a:pPr marL="12700" marR="5080"/>
            <a:r>
              <a:rPr lang="en-US" sz="1400" kern="0" spc="-80" dirty="0">
                <a:solidFill>
                  <a:schemeClr val="accent6"/>
                </a:solidFill>
              </a:rPr>
              <a:t>Remote work &amp; BYOD</a:t>
            </a:r>
          </a:p>
          <a:p>
            <a:pPr marL="12700" marR="5080"/>
            <a:r>
              <a:rPr lang="en-US" sz="1400" kern="0" spc="-80" dirty="0">
                <a:solidFill>
                  <a:schemeClr val="accent6"/>
                </a:solidFill>
              </a:rPr>
              <a:t>Credential theft (phishing)</a:t>
            </a:r>
          </a:p>
          <a:p>
            <a:pPr marL="12700" marR="5080"/>
            <a:r>
              <a:rPr lang="en-US" sz="1400" kern="0" spc="-80" dirty="0">
                <a:solidFill>
                  <a:schemeClr val="accent6"/>
                </a:solidFill>
              </a:rPr>
              <a:t>Insider threats</a:t>
            </a:r>
          </a:p>
          <a:p>
            <a:pPr marL="12700" marR="5080"/>
            <a:r>
              <a:rPr lang="en-US" sz="1400" kern="0" spc="-80" dirty="0">
                <a:solidFill>
                  <a:schemeClr val="accent6"/>
                </a:solidFill>
              </a:rPr>
              <a:t>Lateral movement after breach</a:t>
            </a:r>
          </a:p>
          <a:p>
            <a:pPr marL="12700" marR="5080"/>
            <a:r>
              <a:rPr lang="en-US" sz="1400" kern="0" spc="-80" dirty="0">
                <a:solidFill>
                  <a:schemeClr val="accent6"/>
                </a:solidFill>
              </a:rPr>
              <a:t>👉 Once an attacker gets inside, they roam freely.</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4AC5B3AE-11F9-B6F5-62F5-3C6BDB4C3CD3}"/>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FB85B3C-62B1-CAA0-5C31-51FD960CF42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B640913-46D4-2436-C288-DF381A7C99A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715494538"/>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94605-DBD3-ABB0-7765-7FC1CF05D91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062ABAD-4A7A-9C81-8565-7CEEB03E51B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8DD0117-F268-B2AD-B78A-66474CA7B26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43BAC36-1C43-2431-3133-1FE80620C4C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A6CD21A-4B74-80C2-8453-3A0367F0C402}"/>
              </a:ext>
            </a:extLst>
          </p:cNvPr>
          <p:cNvSpPr txBox="1">
            <a:spLocks/>
          </p:cNvSpPr>
          <p:nvPr/>
        </p:nvSpPr>
        <p:spPr>
          <a:xfrm>
            <a:off x="76200" y="808196"/>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Zero Trust – </a:t>
            </a:r>
          </a:p>
          <a:p>
            <a:pPr marL="12700" marR="5080"/>
            <a:r>
              <a:rPr lang="en-US" sz="1400" kern="0" spc="-80" dirty="0">
                <a:solidFill>
                  <a:schemeClr val="accent2"/>
                </a:solidFill>
              </a:rPr>
              <a:t>2. Zero Trust mental model</a:t>
            </a:r>
          </a:p>
          <a:p>
            <a:pPr marL="12700" marR="5080"/>
            <a:r>
              <a:rPr lang="en-US" sz="1400" kern="0" spc="-80" dirty="0">
                <a:solidFill>
                  <a:schemeClr val="accent6"/>
                </a:solidFill>
              </a:rPr>
              <a:t>User / Device / Service</a:t>
            </a:r>
          </a:p>
          <a:p>
            <a:pPr marL="12700" marR="5080"/>
            <a:r>
              <a:rPr lang="en-US" sz="1400" kern="0" spc="-80" dirty="0">
                <a:solidFill>
                  <a:schemeClr val="accent6"/>
                </a:solidFill>
              </a:rPr>
              <a:t>        ↓</a:t>
            </a:r>
          </a:p>
          <a:p>
            <a:pPr marL="12700" marR="5080"/>
            <a:r>
              <a:rPr lang="en-US" sz="1400" kern="0" spc="-80" dirty="0">
                <a:solidFill>
                  <a:schemeClr val="accent6"/>
                </a:solidFill>
              </a:rPr>
              <a:t>[Verify identity + device + context]</a:t>
            </a:r>
          </a:p>
          <a:p>
            <a:pPr marL="12700" marR="5080"/>
            <a:r>
              <a:rPr lang="en-US" sz="1400" kern="0" spc="-80" dirty="0">
                <a:solidFill>
                  <a:schemeClr val="accent6"/>
                </a:solidFill>
              </a:rPr>
              <a:t>        ↓</a:t>
            </a:r>
          </a:p>
          <a:p>
            <a:pPr marL="12700" marR="5080"/>
            <a:r>
              <a:rPr lang="en-US" sz="1400" kern="0" spc="-80" dirty="0">
                <a:solidFill>
                  <a:schemeClr val="accent6"/>
                </a:solidFill>
              </a:rPr>
              <a:t>[Authorize minimum required access]</a:t>
            </a:r>
          </a:p>
          <a:p>
            <a:pPr marL="12700" marR="5080"/>
            <a:r>
              <a:rPr lang="en-US" sz="1400" kern="0" spc="-80" dirty="0">
                <a:solidFill>
                  <a:schemeClr val="accent6"/>
                </a:solidFill>
              </a:rPr>
              <a:t>        ↓</a:t>
            </a:r>
          </a:p>
          <a:p>
            <a:pPr marL="12700" marR="5080"/>
            <a:r>
              <a:rPr lang="en-US" sz="1400" kern="0" spc="-80" dirty="0">
                <a:solidFill>
                  <a:schemeClr val="accent6"/>
                </a:solidFill>
              </a:rPr>
              <a:t>[Continuously re-evaluate]</a:t>
            </a:r>
          </a:p>
          <a:p>
            <a:pPr marL="12700" marR="5080"/>
            <a:endParaRPr lang="en-US" sz="1400" kern="0" spc="-80" dirty="0">
              <a:solidFill>
                <a:schemeClr val="accent6"/>
              </a:solidFill>
            </a:endParaRPr>
          </a:p>
          <a:p>
            <a:pPr marL="12700" marR="5080"/>
            <a:r>
              <a:rPr lang="en-US" sz="1400" kern="0" spc="-80" dirty="0">
                <a:solidFill>
                  <a:schemeClr val="accent2"/>
                </a:solidFill>
              </a:rPr>
              <a:t>Key shift</a:t>
            </a:r>
          </a:p>
          <a:p>
            <a:pPr marL="12700" marR="5080"/>
            <a:r>
              <a:rPr lang="en-US" sz="1400" kern="0" spc="-80" dirty="0">
                <a:solidFill>
                  <a:schemeClr val="accent2"/>
                </a:solidFill>
              </a:rPr>
              <a:t>Old model	                                       Zero Trust</a:t>
            </a:r>
          </a:p>
          <a:p>
            <a:pPr marL="12700" marR="5080"/>
            <a:r>
              <a:rPr lang="en-US" sz="1400" kern="0" spc="-80" dirty="0">
                <a:solidFill>
                  <a:schemeClr val="accent6"/>
                </a:solidFill>
              </a:rPr>
              <a:t>Trust network location	Trust nothing</a:t>
            </a:r>
          </a:p>
          <a:p>
            <a:pPr marL="12700" marR="5080"/>
            <a:r>
              <a:rPr lang="en-US" sz="1400" kern="0" spc="-80" dirty="0">
                <a:solidFill>
                  <a:schemeClr val="accent6"/>
                </a:solidFill>
              </a:rPr>
              <a:t>Authenticate once	                   Authenticate continuously</a:t>
            </a:r>
          </a:p>
          <a:p>
            <a:pPr marL="12700" marR="5080"/>
            <a:r>
              <a:rPr lang="en-US" sz="1400" kern="0" spc="-80" dirty="0">
                <a:solidFill>
                  <a:schemeClr val="accent6"/>
                </a:solidFill>
              </a:rPr>
              <a:t>Broad access	                   Least privilege</a:t>
            </a:r>
          </a:p>
          <a:p>
            <a:pPr marL="12700" marR="5080"/>
            <a:r>
              <a:rPr lang="en-US" sz="1400" kern="0" spc="-80" dirty="0">
                <a:solidFill>
                  <a:schemeClr val="accent6"/>
                </a:solidFill>
              </a:rPr>
              <a:t>Flat network	                   Micro-segmentation</a:t>
            </a:r>
          </a:p>
          <a:p>
            <a:pPr marL="12700" marR="5080"/>
            <a:endParaRPr lang="en-US" sz="1400" kern="0" spc="-80" dirty="0">
              <a:solidFill>
                <a:schemeClr val="accent6"/>
              </a:solidFill>
            </a:endParaRPr>
          </a:p>
          <a:p>
            <a:pPr marL="12700" marR="5080"/>
            <a:r>
              <a:rPr lang="en-US" sz="1400" kern="0" spc="-80" dirty="0">
                <a:solidFill>
                  <a:schemeClr val="accent2"/>
                </a:solidFill>
              </a:rPr>
              <a:t>3. Core principles of Zero Trust</a:t>
            </a:r>
          </a:p>
          <a:p>
            <a:pPr marL="12700" marR="5080"/>
            <a:r>
              <a:rPr lang="en-US" sz="1400" kern="0" spc="-80" dirty="0">
                <a:solidFill>
                  <a:schemeClr val="accent2"/>
                </a:solidFill>
              </a:rPr>
              <a:t>1️⃣ Verify Explicitly</a:t>
            </a:r>
          </a:p>
          <a:p>
            <a:pPr marL="12700" marR="5080"/>
            <a:r>
              <a:rPr lang="en-US" sz="1400" kern="0" spc="-80" dirty="0">
                <a:solidFill>
                  <a:schemeClr val="accent6"/>
                </a:solidFill>
              </a:rPr>
              <a:t>Every access request is evaluated using multiple signals:</a:t>
            </a:r>
          </a:p>
          <a:p>
            <a:pPr marL="12700" marR="5080"/>
            <a:r>
              <a:rPr lang="en-US" sz="1400" kern="0" spc="-80" dirty="0">
                <a:solidFill>
                  <a:schemeClr val="accent6"/>
                </a:solidFill>
              </a:rPr>
              <a:t>User identity (SSO, MFA)</a:t>
            </a:r>
          </a:p>
        </p:txBody>
      </p:sp>
      <p:grpSp>
        <p:nvGrpSpPr>
          <p:cNvPr id="7" name="Group 6">
            <a:extLst>
              <a:ext uri="{FF2B5EF4-FFF2-40B4-BE49-F238E27FC236}">
                <a16:creationId xmlns:a16="http://schemas.microsoft.com/office/drawing/2014/main" id="{4BA60E96-5E01-B907-3465-88D554B787B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FBE40544-C37D-6B4B-D04E-D7E7F3BD910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6124C59C-8A5C-2A7D-B2E9-F043EA1C6FE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062775612"/>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DE959-B81E-102A-ADF2-393DCD1ECD7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C664E2F-3FB2-BCB0-C618-972B8667337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AA2207F-2537-23B7-3B95-D39521BF45C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4650D24-B1D0-3A3E-1ADE-4407E26FD32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603CA48-363D-6F9E-055E-57F45F145D23}"/>
              </a:ext>
            </a:extLst>
          </p:cNvPr>
          <p:cNvSpPr txBox="1">
            <a:spLocks/>
          </p:cNvSpPr>
          <p:nvPr/>
        </p:nvSpPr>
        <p:spPr>
          <a:xfrm>
            <a:off x="76200" y="745153"/>
            <a:ext cx="8624937" cy="452431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Zero Trust – </a:t>
            </a:r>
          </a:p>
          <a:p>
            <a:pPr marL="12700" marR="5080"/>
            <a:r>
              <a:rPr lang="en-US" sz="1350" kern="0" spc="-80" dirty="0">
                <a:solidFill>
                  <a:schemeClr val="accent2"/>
                </a:solidFill>
              </a:rPr>
              <a:t>3. Core principles of Zero Trust</a:t>
            </a:r>
          </a:p>
          <a:p>
            <a:pPr marL="12700" marR="5080"/>
            <a:r>
              <a:rPr lang="en-US" sz="1350" kern="0" spc="-80" dirty="0">
                <a:solidFill>
                  <a:schemeClr val="accent2"/>
                </a:solidFill>
              </a:rPr>
              <a:t>3️⃣ Assume Breach</a:t>
            </a:r>
          </a:p>
          <a:p>
            <a:pPr marL="12700" marR="5080"/>
            <a:r>
              <a:rPr lang="en-US" sz="1350" kern="0" spc="-80" dirty="0">
                <a:solidFill>
                  <a:schemeClr val="accent6"/>
                </a:solidFill>
              </a:rPr>
              <a:t>Design systems as if the attacker is already inside.</a:t>
            </a:r>
          </a:p>
          <a:p>
            <a:pPr marL="12700" marR="5080"/>
            <a:r>
              <a:rPr lang="en-US" sz="1350" kern="0" spc="-80" dirty="0">
                <a:solidFill>
                  <a:schemeClr val="accent6"/>
                </a:solidFill>
              </a:rPr>
              <a:t>No implicit trust between services</a:t>
            </a:r>
          </a:p>
          <a:p>
            <a:pPr marL="12700" marR="5080"/>
            <a:r>
              <a:rPr lang="en-US" sz="1350" kern="0" spc="-80" dirty="0">
                <a:solidFill>
                  <a:schemeClr val="accent6"/>
                </a:solidFill>
              </a:rPr>
              <a:t>Every service authenticates every other service</a:t>
            </a:r>
          </a:p>
          <a:p>
            <a:pPr marL="12700" marR="5080"/>
            <a:r>
              <a:rPr lang="en-US" sz="1350" kern="0" spc="-80" dirty="0">
                <a:solidFill>
                  <a:schemeClr val="accent6"/>
                </a:solidFill>
              </a:rPr>
              <a:t>Strong monitoring &amp; anomaly detection</a:t>
            </a:r>
          </a:p>
          <a:p>
            <a:pPr marL="12700" marR="5080"/>
            <a:endParaRPr lang="en-US" sz="1350" kern="0" spc="-80" dirty="0">
              <a:solidFill>
                <a:schemeClr val="accent6"/>
              </a:solidFill>
            </a:endParaRPr>
          </a:p>
          <a:p>
            <a:pPr marL="12700" marR="5080"/>
            <a:r>
              <a:rPr lang="en-US" sz="1350" kern="0" spc="-80" dirty="0">
                <a:solidFill>
                  <a:schemeClr val="accent2"/>
                </a:solidFill>
              </a:rPr>
              <a:t>4. Zero Trust architecture layers</a:t>
            </a:r>
          </a:p>
          <a:p>
            <a:pPr marL="12700" marR="5080"/>
            <a:r>
              <a:rPr lang="en-US" sz="1350" kern="0" spc="-80" dirty="0">
                <a:solidFill>
                  <a:schemeClr val="accent2"/>
                </a:solidFill>
              </a:rPr>
              <a:t>🔐 Identity (new perimeter)</a:t>
            </a:r>
          </a:p>
          <a:p>
            <a:pPr marL="12700" marR="5080"/>
            <a:r>
              <a:rPr lang="en-US" sz="1350" kern="0" spc="-80" dirty="0">
                <a:solidFill>
                  <a:schemeClr val="accent6"/>
                </a:solidFill>
              </a:rPr>
              <a:t>Identity replaces network boundary.</a:t>
            </a:r>
          </a:p>
          <a:p>
            <a:pPr marL="12700" marR="5080"/>
            <a:r>
              <a:rPr lang="en-US" sz="1350" kern="0" spc="-80" dirty="0">
                <a:solidFill>
                  <a:schemeClr val="accent6"/>
                </a:solidFill>
              </a:rPr>
              <a:t>SSO (Azure AD, Okta)</a:t>
            </a:r>
          </a:p>
          <a:p>
            <a:pPr marL="12700" marR="5080"/>
            <a:r>
              <a:rPr lang="en-US" sz="1350" kern="0" spc="-80" dirty="0">
                <a:solidFill>
                  <a:schemeClr val="accent6"/>
                </a:solidFill>
              </a:rPr>
              <a:t>MFA / </a:t>
            </a:r>
            <a:r>
              <a:rPr lang="en-US" sz="1350" kern="0" spc="-80" dirty="0" err="1">
                <a:solidFill>
                  <a:schemeClr val="accent6"/>
                </a:solidFill>
              </a:rPr>
              <a:t>Passwordless</a:t>
            </a:r>
            <a:endParaRPr lang="en-US" sz="1350" kern="0" spc="-80" dirty="0">
              <a:solidFill>
                <a:schemeClr val="accent6"/>
              </a:solidFill>
            </a:endParaRPr>
          </a:p>
          <a:p>
            <a:pPr marL="12700" marR="5080"/>
            <a:r>
              <a:rPr lang="en-US" sz="1350" kern="0" spc="-80" dirty="0">
                <a:solidFill>
                  <a:schemeClr val="accent6"/>
                </a:solidFill>
              </a:rPr>
              <a:t>Device identity</a:t>
            </a:r>
          </a:p>
          <a:p>
            <a:pPr marL="12700" marR="5080"/>
            <a:r>
              <a:rPr lang="en-US" sz="1350" kern="0" spc="-80" dirty="0">
                <a:solidFill>
                  <a:schemeClr val="accent6"/>
                </a:solidFill>
              </a:rPr>
              <a:t>“Identity is the new firewall”</a:t>
            </a:r>
          </a:p>
          <a:p>
            <a:pPr marL="12700" marR="5080"/>
            <a:r>
              <a:rPr lang="en-US" sz="1350" kern="0" spc="-80" dirty="0">
                <a:solidFill>
                  <a:schemeClr val="accent6"/>
                </a:solidFill>
              </a:rPr>
              <a:t>🖥 Device Trust</a:t>
            </a:r>
          </a:p>
          <a:p>
            <a:pPr marL="12700" marR="5080"/>
            <a:r>
              <a:rPr lang="en-US" sz="1350" kern="0" spc="-80" dirty="0">
                <a:solidFill>
                  <a:schemeClr val="accent6"/>
                </a:solidFill>
              </a:rPr>
              <a:t>Is the device trustworthy?</a:t>
            </a:r>
          </a:p>
          <a:p>
            <a:pPr marL="12700" marR="5080"/>
            <a:r>
              <a:rPr lang="en-US" sz="1350" kern="0" spc="-80" dirty="0">
                <a:solidFill>
                  <a:schemeClr val="accent2"/>
                </a:solidFill>
              </a:rPr>
              <a:t>Checks:</a:t>
            </a:r>
          </a:p>
          <a:p>
            <a:pPr marL="12700" marR="5080"/>
            <a:r>
              <a:rPr lang="en-US" sz="1350" kern="0" spc="-80" dirty="0">
                <a:solidFill>
                  <a:schemeClr val="accent6"/>
                </a:solidFill>
              </a:rPr>
              <a:t>OS version</a:t>
            </a:r>
          </a:p>
          <a:p>
            <a:pPr marL="12700" marR="5080"/>
            <a:r>
              <a:rPr lang="en-US" sz="1350" kern="0" spc="-80" dirty="0">
                <a:solidFill>
                  <a:schemeClr val="accent6"/>
                </a:solidFill>
              </a:rPr>
              <a:t>Encryption enabled</a:t>
            </a:r>
          </a:p>
          <a:p>
            <a:pPr marL="12700" marR="5080"/>
            <a:r>
              <a:rPr lang="en-US" sz="1350" kern="0" spc="-80" dirty="0">
                <a:solidFill>
                  <a:schemeClr val="accent6"/>
                </a:solidFill>
              </a:rPr>
              <a:t>Antivirus / EDR</a:t>
            </a:r>
          </a:p>
        </p:txBody>
      </p:sp>
      <p:grpSp>
        <p:nvGrpSpPr>
          <p:cNvPr id="7" name="Group 6">
            <a:extLst>
              <a:ext uri="{FF2B5EF4-FFF2-40B4-BE49-F238E27FC236}">
                <a16:creationId xmlns:a16="http://schemas.microsoft.com/office/drawing/2014/main" id="{704167FE-3DDA-BE79-8B8A-84EF874B2C7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0C25AA7-BE81-4CCF-0C5F-5E738B516CA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2A6CF9D-5FCE-BACC-CC77-5FE54F6D575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218648463"/>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7F834-DCEB-1A6B-F350-E00963D8E8B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A749AD8-C5AD-E0D5-939C-46B352CA595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5E3A092-80BF-C7FB-5501-FE6A51C89D2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A23CC60-8B28-6B72-0039-3725ED2024E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833131A-F30C-DB1D-C8F6-123718EA5965}"/>
              </a:ext>
            </a:extLst>
          </p:cNvPr>
          <p:cNvSpPr txBox="1">
            <a:spLocks/>
          </p:cNvSpPr>
          <p:nvPr/>
        </p:nvSpPr>
        <p:spPr>
          <a:xfrm>
            <a:off x="76200" y="781883"/>
            <a:ext cx="8624937" cy="42473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Zero Trust – </a:t>
            </a:r>
          </a:p>
          <a:p>
            <a:pPr marL="12700" marR="5080"/>
            <a:r>
              <a:rPr lang="en-US" sz="1400" kern="0" spc="-80" dirty="0">
                <a:solidFill>
                  <a:schemeClr val="accent2"/>
                </a:solidFill>
              </a:rPr>
              <a:t>4. Zero Trust architecture layers</a:t>
            </a:r>
          </a:p>
          <a:p>
            <a:pPr marL="12700" marR="5080"/>
            <a:r>
              <a:rPr lang="en-US" sz="1400" kern="0" spc="-80" dirty="0">
                <a:solidFill>
                  <a:schemeClr val="accent2"/>
                </a:solidFill>
              </a:rPr>
              <a:t>Checks:</a:t>
            </a:r>
          </a:p>
          <a:p>
            <a:pPr marL="12700" marR="5080"/>
            <a:r>
              <a:rPr lang="en-US" sz="1400" kern="0" spc="-80" dirty="0">
                <a:solidFill>
                  <a:schemeClr val="accent6"/>
                </a:solidFill>
              </a:rPr>
              <a:t>Jailbroken / rooted?</a:t>
            </a:r>
          </a:p>
          <a:p>
            <a:pPr marL="12700" marR="5080"/>
            <a:r>
              <a:rPr lang="en-US" sz="1400" kern="0" spc="-80" dirty="0">
                <a:solidFill>
                  <a:schemeClr val="accent2"/>
                </a:solidFill>
              </a:rPr>
              <a:t>Example</a:t>
            </a:r>
          </a:p>
          <a:p>
            <a:pPr marL="12700" marR="5080"/>
            <a:r>
              <a:rPr lang="en-US" sz="1400" kern="0" spc="-80" dirty="0">
                <a:solidFill>
                  <a:schemeClr val="accent6"/>
                </a:solidFill>
              </a:rPr>
              <a:t>Access allowed only from compliant devices</a:t>
            </a:r>
          </a:p>
          <a:p>
            <a:pPr marL="12700" marR="5080"/>
            <a:r>
              <a:rPr lang="en-US" sz="1400" kern="0" spc="-80" dirty="0">
                <a:solidFill>
                  <a:schemeClr val="accent2"/>
                </a:solidFill>
              </a:rPr>
              <a:t>🌐 Network (micro-segmentation)</a:t>
            </a:r>
          </a:p>
          <a:p>
            <a:pPr marL="12700" marR="5080"/>
            <a:r>
              <a:rPr lang="en-US" sz="1400" kern="0" spc="-80" dirty="0">
                <a:solidFill>
                  <a:schemeClr val="accent6"/>
                </a:solidFill>
              </a:rPr>
              <a:t>Break the network into small, isolated zones.</a:t>
            </a:r>
          </a:p>
          <a:p>
            <a:pPr marL="12700" marR="5080"/>
            <a:r>
              <a:rPr lang="en-US" sz="1400" kern="0" spc="-80" dirty="0">
                <a:solidFill>
                  <a:schemeClr val="accent6"/>
                </a:solidFill>
              </a:rPr>
              <a:t>East–west traffic is restricted</a:t>
            </a:r>
          </a:p>
          <a:p>
            <a:pPr marL="12700" marR="5080"/>
            <a:r>
              <a:rPr lang="en-US" sz="1400" kern="0" spc="-80" dirty="0">
                <a:solidFill>
                  <a:schemeClr val="accent6"/>
                </a:solidFill>
              </a:rPr>
              <a:t>No broad subnet trust</a:t>
            </a:r>
          </a:p>
          <a:p>
            <a:pPr marL="12700" marR="5080"/>
            <a:r>
              <a:rPr lang="en-US" sz="1400" kern="0" spc="-80" dirty="0">
                <a:solidFill>
                  <a:schemeClr val="accent2"/>
                </a:solidFill>
              </a:rPr>
              <a:t>Example</a:t>
            </a:r>
          </a:p>
          <a:p>
            <a:pPr marL="12700" marR="5080"/>
            <a:r>
              <a:rPr lang="en-US" sz="1400" kern="0" spc="-80" dirty="0">
                <a:solidFill>
                  <a:schemeClr val="accent6"/>
                </a:solidFill>
              </a:rPr>
              <a:t>Frontend → API → DB</a:t>
            </a:r>
          </a:p>
          <a:p>
            <a:pPr marL="12700" marR="5080"/>
            <a:r>
              <a:rPr lang="en-US" sz="1400" kern="0" spc="-80" dirty="0">
                <a:solidFill>
                  <a:schemeClr val="accent6"/>
                </a:solidFill>
              </a:rPr>
              <a:t>Each hop authenticated &amp; authorized</a:t>
            </a:r>
          </a:p>
          <a:p>
            <a:pPr marL="12700" marR="5080"/>
            <a:r>
              <a:rPr lang="en-US" sz="1400" kern="0" spc="-80" dirty="0">
                <a:solidFill>
                  <a:schemeClr val="accent2"/>
                </a:solidFill>
              </a:rPr>
              <a:t>📦 Application &amp; Workload</a:t>
            </a:r>
          </a:p>
          <a:p>
            <a:pPr marL="12700" marR="5080"/>
            <a:r>
              <a:rPr lang="en-US" sz="1400" kern="0" spc="-80" dirty="0">
                <a:solidFill>
                  <a:schemeClr val="accent2"/>
                </a:solidFill>
              </a:rPr>
              <a:t>Applies to:</a:t>
            </a:r>
          </a:p>
          <a:p>
            <a:pPr marL="12700" marR="5080"/>
            <a:r>
              <a:rPr lang="en-US" sz="1400" kern="0" spc="-80" dirty="0">
                <a:solidFill>
                  <a:schemeClr val="accent6"/>
                </a:solidFill>
              </a:rPr>
              <a:t>Microservices</a:t>
            </a:r>
          </a:p>
          <a:p>
            <a:pPr marL="12700" marR="5080"/>
            <a:r>
              <a:rPr lang="en-US" sz="1400" kern="0" spc="-80" dirty="0">
                <a:solidFill>
                  <a:schemeClr val="accent6"/>
                </a:solidFill>
              </a:rPr>
              <a:t>APIs</a:t>
            </a:r>
          </a:p>
          <a:p>
            <a:pPr marL="12700" marR="5080"/>
            <a:r>
              <a:rPr lang="en-US" sz="1400" kern="0" spc="-80" dirty="0">
                <a:solidFill>
                  <a:schemeClr val="accent6"/>
                </a:solidFill>
              </a:rPr>
              <a:t>Containers</a:t>
            </a:r>
          </a:p>
          <a:p>
            <a:pPr marL="12700" marR="5080"/>
            <a:r>
              <a:rPr lang="en-US" sz="1400" kern="0" spc="-80" dirty="0">
                <a:solidFill>
                  <a:schemeClr val="accent6"/>
                </a:solidFill>
              </a:rPr>
              <a:t>Serverless</a:t>
            </a:r>
          </a:p>
        </p:txBody>
      </p:sp>
      <p:grpSp>
        <p:nvGrpSpPr>
          <p:cNvPr id="7" name="Group 6">
            <a:extLst>
              <a:ext uri="{FF2B5EF4-FFF2-40B4-BE49-F238E27FC236}">
                <a16:creationId xmlns:a16="http://schemas.microsoft.com/office/drawing/2014/main" id="{81E222A3-0BCC-C36B-A7C3-5691DA855DE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FC01CECF-DF09-8F88-7567-804045E04BC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C93DB9CE-6FE4-FB96-093C-5FD9BC785D6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440168180"/>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0B5F4-8F62-F4A5-99BC-F6F4F02D45E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49A7952-CB56-9FF9-11DC-D1C85B699D2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2A53F3C-4DBA-3B54-BD60-370FF7E6824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3A6FCA4-090A-0D97-EEF0-353FF6BE576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C5F7A232-93E3-EF43-E95E-02262CAABCAD}"/>
              </a:ext>
            </a:extLst>
          </p:cNvPr>
          <p:cNvSpPr txBox="1">
            <a:spLocks/>
          </p:cNvSpPr>
          <p:nvPr/>
        </p:nvSpPr>
        <p:spPr>
          <a:xfrm>
            <a:off x="76200" y="731996"/>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Zero Trust - </a:t>
            </a:r>
          </a:p>
          <a:p>
            <a:pPr marL="12700" marR="5080"/>
            <a:r>
              <a:rPr lang="en-US" sz="1400" kern="0" spc="-80" dirty="0">
                <a:solidFill>
                  <a:schemeClr val="accent2"/>
                </a:solidFill>
              </a:rPr>
              <a:t>4. Zero Trust architecture layers</a:t>
            </a:r>
          </a:p>
          <a:p>
            <a:pPr marL="12700" marR="5080"/>
            <a:r>
              <a:rPr lang="en-US" sz="1400" kern="0" spc="-80" dirty="0">
                <a:solidFill>
                  <a:schemeClr val="accent2"/>
                </a:solidFill>
              </a:rPr>
              <a:t>📦 Application &amp; Workload</a:t>
            </a:r>
          </a:p>
          <a:p>
            <a:pPr marL="12700" marR="5080"/>
            <a:r>
              <a:rPr lang="en-US" sz="1400" kern="0" spc="-80" dirty="0">
                <a:solidFill>
                  <a:schemeClr val="accent2"/>
                </a:solidFill>
              </a:rPr>
              <a:t>Techniques</a:t>
            </a:r>
          </a:p>
          <a:p>
            <a:pPr marL="12700" marR="5080"/>
            <a:r>
              <a:rPr lang="en-US" sz="1400" kern="0" spc="-80" dirty="0" err="1">
                <a:solidFill>
                  <a:schemeClr val="accent6"/>
                </a:solidFill>
              </a:rPr>
              <a:t>mTLS</a:t>
            </a:r>
            <a:r>
              <a:rPr lang="en-US" sz="1400" kern="0" spc="-80" dirty="0">
                <a:solidFill>
                  <a:schemeClr val="accent6"/>
                </a:solidFill>
              </a:rPr>
              <a:t> between services</a:t>
            </a:r>
          </a:p>
          <a:p>
            <a:pPr marL="12700" marR="5080"/>
            <a:r>
              <a:rPr lang="en-US" sz="1400" kern="0" spc="-80" dirty="0">
                <a:solidFill>
                  <a:schemeClr val="accent6"/>
                </a:solidFill>
              </a:rPr>
              <a:t>Service identity (SPIFFE)</a:t>
            </a:r>
          </a:p>
          <a:p>
            <a:pPr marL="12700" marR="5080"/>
            <a:r>
              <a:rPr lang="en-US" sz="1400" kern="0" spc="-80" dirty="0">
                <a:solidFill>
                  <a:schemeClr val="accent6"/>
                </a:solidFill>
              </a:rPr>
              <a:t>Zero Trust API gateways</a:t>
            </a:r>
          </a:p>
          <a:p>
            <a:pPr marL="12700" marR="5080"/>
            <a:r>
              <a:rPr lang="en-US" sz="1400" kern="0" spc="-80" dirty="0">
                <a:solidFill>
                  <a:schemeClr val="accent2"/>
                </a:solidFill>
              </a:rPr>
              <a:t>📊 Data Protection</a:t>
            </a:r>
          </a:p>
          <a:p>
            <a:pPr marL="12700" marR="5080"/>
            <a:r>
              <a:rPr lang="en-US" sz="1400" kern="0" spc="-80" dirty="0">
                <a:solidFill>
                  <a:schemeClr val="accent6"/>
                </a:solidFill>
              </a:rPr>
              <a:t>Encrypt data at rest &amp; in transit</a:t>
            </a:r>
          </a:p>
          <a:p>
            <a:pPr marL="12700" marR="5080"/>
            <a:r>
              <a:rPr lang="en-US" sz="1400" kern="0" spc="-80" dirty="0">
                <a:solidFill>
                  <a:schemeClr val="accent6"/>
                </a:solidFill>
              </a:rPr>
              <a:t>Data classification</a:t>
            </a:r>
          </a:p>
          <a:p>
            <a:pPr marL="12700" marR="5080"/>
            <a:r>
              <a:rPr lang="en-US" sz="1400" kern="0" spc="-80" dirty="0">
                <a:solidFill>
                  <a:schemeClr val="accent6"/>
                </a:solidFill>
              </a:rPr>
              <a:t>Access policies tied to data sensitivity</a:t>
            </a:r>
          </a:p>
          <a:p>
            <a:pPr marL="12700" marR="5080"/>
            <a:endParaRPr lang="en-US" sz="1400" kern="0" spc="-80" dirty="0">
              <a:solidFill>
                <a:schemeClr val="accent6"/>
              </a:solidFill>
            </a:endParaRPr>
          </a:p>
          <a:p>
            <a:pPr marL="12700" marR="5080"/>
            <a:r>
              <a:rPr lang="en-US" sz="1400" kern="0" spc="-80" dirty="0">
                <a:solidFill>
                  <a:schemeClr val="accent2"/>
                </a:solidFill>
              </a:rPr>
              <a:t>5. Zero Trust vs “Zero Trust Network Access (ZTNA)”</a:t>
            </a:r>
          </a:p>
          <a:p>
            <a:pPr marL="12700" marR="5080"/>
            <a:r>
              <a:rPr lang="en-US" sz="1400" kern="0" spc="-80" dirty="0">
                <a:solidFill>
                  <a:schemeClr val="accent2"/>
                </a:solidFill>
              </a:rPr>
              <a:t>⚠️ Common confusion</a:t>
            </a:r>
          </a:p>
          <a:p>
            <a:pPr marL="12700" marR="5080"/>
            <a:r>
              <a:rPr lang="en-US" sz="1400" kern="0" spc="-80" dirty="0">
                <a:solidFill>
                  <a:schemeClr val="accent2"/>
                </a:solidFill>
              </a:rPr>
              <a:t>Term	      Meaning</a:t>
            </a:r>
          </a:p>
          <a:p>
            <a:pPr marL="12700" marR="5080"/>
            <a:r>
              <a:rPr lang="en-US" sz="1400" kern="0" spc="-80" dirty="0">
                <a:solidFill>
                  <a:schemeClr val="accent6"/>
                </a:solidFill>
              </a:rPr>
              <a:t>Zero Trust	      Security philosophy / model</a:t>
            </a:r>
          </a:p>
          <a:p>
            <a:pPr marL="12700" marR="5080"/>
            <a:r>
              <a:rPr lang="en-US" sz="1400" kern="0" spc="-80" dirty="0">
                <a:solidFill>
                  <a:schemeClr val="accent6"/>
                </a:solidFill>
              </a:rPr>
              <a:t>ZTNA	      A product pattern replacing VPN</a:t>
            </a:r>
          </a:p>
          <a:p>
            <a:pPr marL="12700" marR="5080"/>
            <a:r>
              <a:rPr lang="en-US" sz="1400" kern="0" spc="-80" dirty="0">
                <a:solidFill>
                  <a:schemeClr val="accent2"/>
                </a:solidFill>
              </a:rPr>
              <a:t>ZTNA</a:t>
            </a:r>
          </a:p>
          <a:p>
            <a:pPr marL="12700" marR="5080"/>
            <a:r>
              <a:rPr lang="en-US" sz="1400" kern="0" spc="-80" dirty="0">
                <a:solidFill>
                  <a:schemeClr val="accent6"/>
                </a:solidFill>
              </a:rPr>
              <a:t>No full network access</a:t>
            </a:r>
          </a:p>
          <a:p>
            <a:pPr marL="12700" marR="5080"/>
            <a:r>
              <a:rPr lang="en-US" sz="1400" kern="0" spc="-80" dirty="0">
                <a:solidFill>
                  <a:schemeClr val="accent6"/>
                </a:solidFill>
              </a:rPr>
              <a:t>App-level access only</a:t>
            </a:r>
          </a:p>
          <a:p>
            <a:pPr marL="12700" marR="5080"/>
            <a:r>
              <a:rPr lang="en-US" sz="1400" kern="0" spc="-80" dirty="0">
                <a:solidFill>
                  <a:schemeClr val="accent6"/>
                </a:solidFill>
              </a:rPr>
              <a:t>Invisible apps to unauthorized users</a:t>
            </a:r>
          </a:p>
        </p:txBody>
      </p:sp>
      <p:grpSp>
        <p:nvGrpSpPr>
          <p:cNvPr id="7" name="Group 6">
            <a:extLst>
              <a:ext uri="{FF2B5EF4-FFF2-40B4-BE49-F238E27FC236}">
                <a16:creationId xmlns:a16="http://schemas.microsoft.com/office/drawing/2014/main" id="{34764E2F-073A-8559-8D8F-5B1D6321976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C110F8E-0E0C-2BE5-6203-2DA2AB88F55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BA71665-69BF-8645-0B81-EEFD939DA27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203748952"/>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C2514-673E-4F71-BCA0-7ED552D3970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6524DEF-EF34-E41B-D1EE-0B0AF22C5CC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BE8548B-5E9C-7BA8-31C3-1D6194075DE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DFAC54F-1E77-75DC-04F1-087CD97E531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35F9730-9B8E-5BA9-606A-ECE875B0CE60}"/>
              </a:ext>
            </a:extLst>
          </p:cNvPr>
          <p:cNvSpPr txBox="1">
            <a:spLocks/>
          </p:cNvSpPr>
          <p:nvPr/>
        </p:nvSpPr>
        <p:spPr>
          <a:xfrm>
            <a:off x="76200" y="755571"/>
            <a:ext cx="8624937" cy="38164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Zero Trust – </a:t>
            </a:r>
          </a:p>
          <a:p>
            <a:pPr marL="12700" marR="5080"/>
            <a:r>
              <a:rPr lang="en-US" sz="1400" kern="0" spc="-80" dirty="0">
                <a:solidFill>
                  <a:schemeClr val="accent2"/>
                </a:solidFill>
              </a:rPr>
              <a:t>5. Zero Trust vs “Zero Trust Network Access (ZTNA)”</a:t>
            </a:r>
          </a:p>
          <a:p>
            <a:pPr marL="12700" marR="5080"/>
            <a:r>
              <a:rPr lang="en-US" sz="1400" kern="0" spc="-80" dirty="0">
                <a:solidFill>
                  <a:schemeClr val="accent2"/>
                </a:solidFill>
              </a:rPr>
              <a:t>VPN</a:t>
            </a:r>
          </a:p>
          <a:p>
            <a:pPr marL="12700" marR="5080"/>
            <a:r>
              <a:rPr lang="en-US" sz="1400" kern="0" spc="-80" dirty="0">
                <a:solidFill>
                  <a:schemeClr val="accent6"/>
                </a:solidFill>
              </a:rPr>
              <a:t>User → Full internal network</a:t>
            </a:r>
          </a:p>
          <a:p>
            <a:pPr marL="12700" marR="5080"/>
            <a:r>
              <a:rPr lang="en-US" sz="1400" kern="0" spc="-80" dirty="0">
                <a:solidFill>
                  <a:schemeClr val="accent2"/>
                </a:solidFill>
              </a:rPr>
              <a:t>ZTNA</a:t>
            </a:r>
          </a:p>
          <a:p>
            <a:pPr marL="12700" marR="5080"/>
            <a:r>
              <a:rPr lang="en-US" sz="1400" kern="0" spc="-80" dirty="0">
                <a:solidFill>
                  <a:schemeClr val="accent6"/>
                </a:solidFill>
              </a:rPr>
              <a:t>User → Specific app only</a:t>
            </a:r>
          </a:p>
          <a:p>
            <a:pPr marL="12700" marR="5080"/>
            <a:endParaRPr lang="en-US" sz="1400" kern="0" spc="-80" dirty="0">
              <a:solidFill>
                <a:schemeClr val="accent6"/>
              </a:solidFill>
            </a:endParaRPr>
          </a:p>
          <a:p>
            <a:pPr marL="12700" marR="5080"/>
            <a:r>
              <a:rPr lang="en-US" sz="1400" kern="0" spc="-80" dirty="0">
                <a:solidFill>
                  <a:schemeClr val="accent2"/>
                </a:solidFill>
              </a:rPr>
              <a:t>6. Zero Trust access flow (step-by-step)</a:t>
            </a:r>
          </a:p>
          <a:p>
            <a:pPr marL="12700" marR="5080"/>
            <a:r>
              <a:rPr lang="en-US" sz="1400" kern="0" spc="-80" dirty="0">
                <a:solidFill>
                  <a:schemeClr val="accent6"/>
                </a:solidFill>
              </a:rPr>
              <a:t>User requests resource</a:t>
            </a:r>
          </a:p>
          <a:p>
            <a:pPr marL="12700" marR="5080"/>
            <a:r>
              <a:rPr lang="en-US" sz="1400" kern="0" spc="-80" dirty="0">
                <a:solidFill>
                  <a:schemeClr val="accent6"/>
                </a:solidFill>
              </a:rPr>
              <a:t>Identity verified (MFA)</a:t>
            </a:r>
          </a:p>
          <a:p>
            <a:pPr marL="12700" marR="5080"/>
            <a:r>
              <a:rPr lang="en-US" sz="1400" kern="0" spc="-80" dirty="0">
                <a:solidFill>
                  <a:schemeClr val="accent6"/>
                </a:solidFill>
              </a:rPr>
              <a:t>Device posture checked</a:t>
            </a:r>
          </a:p>
          <a:p>
            <a:pPr marL="12700" marR="5080"/>
            <a:r>
              <a:rPr lang="en-US" sz="1400" kern="0" spc="-80" dirty="0">
                <a:solidFill>
                  <a:schemeClr val="accent6"/>
                </a:solidFill>
              </a:rPr>
              <a:t>Context evaluated (location, time)</a:t>
            </a:r>
          </a:p>
          <a:p>
            <a:pPr marL="12700" marR="5080"/>
            <a:r>
              <a:rPr lang="en-US" sz="1400" kern="0" spc="-80" dirty="0">
                <a:solidFill>
                  <a:schemeClr val="accent6"/>
                </a:solidFill>
              </a:rPr>
              <a:t>Policy decision made</a:t>
            </a:r>
          </a:p>
          <a:p>
            <a:pPr marL="12700" marR="5080"/>
            <a:r>
              <a:rPr lang="en-US" sz="1400" kern="0" spc="-80" dirty="0">
                <a:solidFill>
                  <a:schemeClr val="accent6"/>
                </a:solidFill>
              </a:rPr>
              <a:t>Access granted with least privilege</a:t>
            </a:r>
          </a:p>
          <a:p>
            <a:pPr marL="12700" marR="5080"/>
            <a:r>
              <a:rPr lang="en-US" sz="1400" kern="0" spc="-80" dirty="0">
                <a:solidFill>
                  <a:schemeClr val="accent6"/>
                </a:solidFill>
              </a:rPr>
              <a:t>Continuous monitoring</a:t>
            </a:r>
          </a:p>
          <a:p>
            <a:pPr marL="12700" marR="5080"/>
            <a:r>
              <a:rPr lang="en-US" sz="1400" kern="0" spc="-80" dirty="0">
                <a:solidFill>
                  <a:schemeClr val="accent6"/>
                </a:solidFill>
              </a:rPr>
              <a:t>Revoke if risk increases</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6E6323F6-84C7-5715-5BB2-BCBE0CA3CDC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3C3F5D5-592C-6777-338E-FEB2864CB27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10A0B94B-AF10-1B09-FF28-6DCCEF64BD3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652910069"/>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BB08C-3F64-2B63-2C16-43C98A32F71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CCCF9A8-18FD-E231-3F02-6316346168E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63E9B60-7372-3D66-3146-566999CB47F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C19ABCB-1D94-133E-3C9F-D7A9B56BC0D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2221D19-87D9-2FBD-FD79-45754416FBB6}"/>
              </a:ext>
            </a:extLst>
          </p:cNvPr>
          <p:cNvSpPr txBox="1">
            <a:spLocks/>
          </p:cNvSpPr>
          <p:nvPr/>
        </p:nvSpPr>
        <p:spPr>
          <a:xfrm>
            <a:off x="76200" y="743664"/>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Zero Trust – </a:t>
            </a:r>
          </a:p>
          <a:p>
            <a:pPr marL="12700" marR="5080"/>
            <a:r>
              <a:rPr lang="en-US" sz="1400" kern="0" spc="-80" dirty="0">
                <a:solidFill>
                  <a:schemeClr val="accent2"/>
                </a:solidFill>
              </a:rPr>
              <a:t>7. Zero Trust policies (examples)</a:t>
            </a:r>
          </a:p>
          <a:p>
            <a:pPr marL="12700" marR="5080"/>
            <a:r>
              <a:rPr lang="en-US" sz="1400" kern="0" spc="-80" dirty="0">
                <a:solidFill>
                  <a:schemeClr val="accent2"/>
                </a:solidFill>
              </a:rPr>
              <a:t>Conditional access</a:t>
            </a:r>
          </a:p>
          <a:p>
            <a:pPr marL="12700" marR="5080"/>
            <a:r>
              <a:rPr lang="en-US" sz="1400" kern="0" spc="-80" dirty="0">
                <a:solidFill>
                  <a:schemeClr val="accent6"/>
                </a:solidFill>
              </a:rPr>
              <a:t>IF user = admin</a:t>
            </a:r>
          </a:p>
          <a:p>
            <a:pPr marL="12700" marR="5080"/>
            <a:r>
              <a:rPr lang="en-US" sz="1400" kern="0" spc="-80" dirty="0">
                <a:solidFill>
                  <a:schemeClr val="accent6"/>
                </a:solidFill>
              </a:rPr>
              <a:t>AND device = compliant</a:t>
            </a:r>
          </a:p>
          <a:p>
            <a:pPr marL="12700" marR="5080"/>
            <a:r>
              <a:rPr lang="en-US" sz="1400" kern="0" spc="-80" dirty="0">
                <a:solidFill>
                  <a:schemeClr val="accent6"/>
                </a:solidFill>
              </a:rPr>
              <a:t>AND location = corporate</a:t>
            </a:r>
          </a:p>
          <a:p>
            <a:pPr marL="12700" marR="5080"/>
            <a:r>
              <a:rPr lang="en-US" sz="1400" kern="0" spc="-80" dirty="0">
                <a:solidFill>
                  <a:schemeClr val="accent6"/>
                </a:solidFill>
              </a:rPr>
              <a:t>THEN allow</a:t>
            </a:r>
          </a:p>
          <a:p>
            <a:pPr marL="12700" marR="5080"/>
            <a:r>
              <a:rPr lang="en-US" sz="1400" kern="0" spc="-80" dirty="0">
                <a:solidFill>
                  <a:schemeClr val="accent6"/>
                </a:solidFill>
              </a:rPr>
              <a:t>ELSE deny</a:t>
            </a:r>
          </a:p>
          <a:p>
            <a:pPr marL="12700" marR="5080"/>
            <a:r>
              <a:rPr lang="en-US" sz="1400" kern="0" spc="-80" dirty="0">
                <a:solidFill>
                  <a:schemeClr val="accent2"/>
                </a:solidFill>
              </a:rPr>
              <a:t>Service-to-service</a:t>
            </a:r>
          </a:p>
          <a:p>
            <a:pPr marL="12700" marR="5080"/>
            <a:r>
              <a:rPr lang="en-US" sz="1400" kern="0" spc="-80" dirty="0">
                <a:solidFill>
                  <a:schemeClr val="accent6"/>
                </a:solidFill>
              </a:rPr>
              <a:t>Service A can call Service B</a:t>
            </a:r>
          </a:p>
          <a:p>
            <a:pPr marL="12700" marR="5080"/>
            <a:r>
              <a:rPr lang="en-US" sz="1400" kern="0" spc="-80" dirty="0">
                <a:solidFill>
                  <a:schemeClr val="accent6"/>
                </a:solidFill>
              </a:rPr>
              <a:t>ONLY via </a:t>
            </a:r>
            <a:r>
              <a:rPr lang="en-US" sz="1400" kern="0" spc="-80" dirty="0" err="1">
                <a:solidFill>
                  <a:schemeClr val="accent6"/>
                </a:solidFill>
              </a:rPr>
              <a:t>mTLS</a:t>
            </a:r>
            <a:endParaRPr lang="en-US" sz="1400" kern="0" spc="-80" dirty="0">
              <a:solidFill>
                <a:schemeClr val="accent6"/>
              </a:solidFill>
            </a:endParaRPr>
          </a:p>
          <a:p>
            <a:pPr marL="12700" marR="5080"/>
            <a:r>
              <a:rPr lang="en-US" sz="1400" kern="0" spc="-80" dirty="0">
                <a:solidFill>
                  <a:schemeClr val="accent6"/>
                </a:solidFill>
              </a:rPr>
              <a:t>ONLY for specific APIs</a:t>
            </a:r>
          </a:p>
          <a:p>
            <a:pPr marL="12700" marR="5080"/>
            <a:endParaRPr lang="en-US" sz="1400" kern="0" spc="-80" dirty="0">
              <a:solidFill>
                <a:schemeClr val="accent6"/>
              </a:solidFill>
            </a:endParaRPr>
          </a:p>
          <a:p>
            <a:pPr marL="12700" marR="5080"/>
            <a:r>
              <a:rPr lang="en-US" sz="1400" kern="0" spc="-80" dirty="0">
                <a:solidFill>
                  <a:schemeClr val="accent2"/>
                </a:solidFill>
              </a:rPr>
              <a:t>8. Zero Trust in cloud &amp; Kubernetes (important)</a:t>
            </a:r>
          </a:p>
          <a:p>
            <a:pPr marL="12700" marR="5080"/>
            <a:r>
              <a:rPr lang="en-US" sz="1400" kern="0" spc="-80" dirty="0">
                <a:solidFill>
                  <a:schemeClr val="accent2"/>
                </a:solidFill>
              </a:rPr>
              <a:t>How Zero Trust applies to AKS:</a:t>
            </a:r>
          </a:p>
          <a:p>
            <a:pPr marL="12700" marR="5080"/>
            <a:r>
              <a:rPr lang="en-US" sz="1400" kern="0" spc="-80" dirty="0">
                <a:solidFill>
                  <a:schemeClr val="accent6"/>
                </a:solidFill>
              </a:rPr>
              <a:t>Identity</a:t>
            </a:r>
          </a:p>
          <a:p>
            <a:pPr marL="12700" marR="5080"/>
            <a:r>
              <a:rPr lang="en-US" sz="1400" kern="0" spc="-80" dirty="0">
                <a:solidFill>
                  <a:schemeClr val="accent6"/>
                </a:solidFill>
              </a:rPr>
              <a:t>Managed Identities</a:t>
            </a:r>
          </a:p>
          <a:p>
            <a:pPr marL="12700" marR="5080"/>
            <a:r>
              <a:rPr lang="en-US" sz="1400" kern="0" spc="-80" dirty="0">
                <a:solidFill>
                  <a:schemeClr val="accent6"/>
                </a:solidFill>
              </a:rPr>
              <a:t>Azure AD Workload Identity</a:t>
            </a:r>
          </a:p>
          <a:p>
            <a:pPr marL="12700" marR="5080"/>
            <a:r>
              <a:rPr lang="en-US" sz="1400" kern="0" spc="-80" dirty="0">
                <a:solidFill>
                  <a:schemeClr val="accent6"/>
                </a:solidFill>
              </a:rPr>
              <a:t>Network</a:t>
            </a:r>
          </a:p>
          <a:p>
            <a:pPr marL="12700" marR="5080"/>
            <a:r>
              <a:rPr lang="en-US" sz="1400" kern="0" spc="-80" dirty="0">
                <a:solidFill>
                  <a:schemeClr val="accent6"/>
                </a:solidFill>
              </a:rPr>
              <a:t>Private endpoints</a:t>
            </a:r>
          </a:p>
          <a:p>
            <a:pPr marL="12700" marR="5080"/>
            <a:r>
              <a:rPr lang="en-US" sz="1400" kern="0" spc="-80" dirty="0">
                <a:solidFill>
                  <a:schemeClr val="accent6"/>
                </a:solidFill>
              </a:rPr>
              <a:t>No public Ips</a:t>
            </a:r>
          </a:p>
        </p:txBody>
      </p:sp>
      <p:grpSp>
        <p:nvGrpSpPr>
          <p:cNvPr id="7" name="Group 6">
            <a:extLst>
              <a:ext uri="{FF2B5EF4-FFF2-40B4-BE49-F238E27FC236}">
                <a16:creationId xmlns:a16="http://schemas.microsoft.com/office/drawing/2014/main" id="{C2600464-6D86-F61F-CF6D-AC26C112826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06F8D02-4CBD-FD2C-E7ED-B57FEA9AF65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FDFA9AF2-2171-DD20-89B4-BE835121B4D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822956956"/>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E01A3-DBC1-8053-644E-3AE1708EC45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AF6DA5B-A500-0B18-D354-92F66D2AEA9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162061D-4CE7-14D9-9A7F-FDE6A1FA0E8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456FDEB-D4E0-222F-136D-C1951FE9488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73C2695-0FE1-67F2-940B-1B8EF9BF3BCA}"/>
              </a:ext>
            </a:extLst>
          </p:cNvPr>
          <p:cNvSpPr txBox="1">
            <a:spLocks/>
          </p:cNvSpPr>
          <p:nvPr/>
        </p:nvSpPr>
        <p:spPr>
          <a:xfrm>
            <a:off x="76200" y="768727"/>
            <a:ext cx="8624937" cy="403187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Zero Trust – </a:t>
            </a:r>
          </a:p>
          <a:p>
            <a:pPr marL="12700" marR="5080"/>
            <a:r>
              <a:rPr lang="en-US" sz="1400" kern="0" spc="-80" dirty="0">
                <a:solidFill>
                  <a:schemeClr val="accent2"/>
                </a:solidFill>
              </a:rPr>
              <a:t>8. Zero Trust in cloud &amp; Kubernetes (important)</a:t>
            </a:r>
          </a:p>
          <a:p>
            <a:pPr marL="12700" marR="5080"/>
            <a:r>
              <a:rPr lang="en-US" sz="1400" kern="0" spc="-80" dirty="0">
                <a:solidFill>
                  <a:schemeClr val="accent2"/>
                </a:solidFill>
              </a:rPr>
              <a:t>How Zero Trust applies to AKS:</a:t>
            </a:r>
          </a:p>
          <a:p>
            <a:pPr marL="12700" marR="5080"/>
            <a:r>
              <a:rPr lang="en-US" sz="1400" kern="0" spc="-80" dirty="0">
                <a:solidFill>
                  <a:schemeClr val="accent2"/>
                </a:solidFill>
              </a:rPr>
              <a:t>Network policies</a:t>
            </a:r>
          </a:p>
          <a:p>
            <a:pPr marL="12700" marR="5080"/>
            <a:r>
              <a:rPr lang="en-US" sz="1400" kern="0" spc="-80" dirty="0">
                <a:solidFill>
                  <a:schemeClr val="accent6"/>
                </a:solidFill>
              </a:rPr>
              <a:t>Service communication</a:t>
            </a:r>
          </a:p>
          <a:p>
            <a:pPr marL="12700" marR="5080"/>
            <a:r>
              <a:rPr lang="en-US" sz="1400" kern="0" spc="-80" dirty="0" err="1">
                <a:solidFill>
                  <a:schemeClr val="accent6"/>
                </a:solidFill>
              </a:rPr>
              <a:t>mTLS</a:t>
            </a:r>
            <a:r>
              <a:rPr lang="en-US" sz="1400" kern="0" spc="-80" dirty="0">
                <a:solidFill>
                  <a:schemeClr val="accent6"/>
                </a:solidFill>
              </a:rPr>
              <a:t> via service mesh (Istio/</a:t>
            </a:r>
            <a:r>
              <a:rPr lang="en-US" sz="1400" kern="0" spc="-80" dirty="0" err="1">
                <a:solidFill>
                  <a:schemeClr val="accent6"/>
                </a:solidFill>
              </a:rPr>
              <a:t>Linkerd</a:t>
            </a:r>
            <a:r>
              <a:rPr lang="en-US" sz="1400" kern="0" spc="-80" dirty="0">
                <a:solidFill>
                  <a:schemeClr val="accent6"/>
                </a:solidFill>
              </a:rPr>
              <a:t>)</a:t>
            </a:r>
          </a:p>
          <a:p>
            <a:pPr marL="12700" marR="5080"/>
            <a:r>
              <a:rPr lang="en-US" sz="1400" kern="0" spc="-80" dirty="0">
                <a:solidFill>
                  <a:schemeClr val="accent6"/>
                </a:solidFill>
              </a:rPr>
              <a:t>Explicit allow policies</a:t>
            </a:r>
          </a:p>
          <a:p>
            <a:pPr marL="12700" marR="5080"/>
            <a:r>
              <a:rPr lang="en-US" sz="1400" kern="0" spc="-80" dirty="0">
                <a:solidFill>
                  <a:schemeClr val="accent2"/>
                </a:solidFill>
              </a:rPr>
              <a:t>Messaging</a:t>
            </a:r>
          </a:p>
          <a:p>
            <a:pPr marL="12700" marR="5080"/>
            <a:r>
              <a:rPr lang="en-US" sz="1400" kern="0" spc="-80" dirty="0">
                <a:solidFill>
                  <a:schemeClr val="accent6"/>
                </a:solidFill>
              </a:rPr>
              <a:t>Service Bus access via identity, not keys</a:t>
            </a:r>
          </a:p>
          <a:p>
            <a:pPr marL="12700" marR="5080"/>
            <a:r>
              <a:rPr lang="en-US" sz="1400" kern="0" spc="-80" dirty="0">
                <a:solidFill>
                  <a:schemeClr val="accent6"/>
                </a:solidFill>
              </a:rPr>
              <a:t>Fine-grained permissions per consumer</a:t>
            </a:r>
          </a:p>
          <a:p>
            <a:pPr marL="12700" marR="5080"/>
            <a:endParaRPr lang="en-US" sz="1400" kern="0" spc="-80" dirty="0">
              <a:solidFill>
                <a:schemeClr val="accent6"/>
              </a:solidFill>
            </a:endParaRPr>
          </a:p>
          <a:p>
            <a:pPr marL="12700" marR="5080"/>
            <a:r>
              <a:rPr lang="en-US" sz="1400" kern="0" spc="-80" dirty="0">
                <a:solidFill>
                  <a:schemeClr val="accent2"/>
                </a:solidFill>
              </a:rPr>
              <a:t>9. Common misconceptions</a:t>
            </a:r>
          </a:p>
          <a:p>
            <a:pPr marL="12700" marR="5080"/>
            <a:r>
              <a:rPr lang="en-US" sz="1400" kern="0" spc="-80" dirty="0">
                <a:solidFill>
                  <a:schemeClr val="accent6"/>
                </a:solidFill>
              </a:rPr>
              <a:t>❌ “Zero Trust = no trust at all”</a:t>
            </a:r>
          </a:p>
          <a:p>
            <a:pPr marL="12700" marR="5080"/>
            <a:r>
              <a:rPr lang="en-US" sz="1400" kern="0" spc="-80" dirty="0">
                <a:solidFill>
                  <a:schemeClr val="accent6"/>
                </a:solidFill>
              </a:rPr>
              <a:t>✅ It means dynamic, evidence-based trust</a:t>
            </a:r>
          </a:p>
          <a:p>
            <a:pPr marL="12700" marR="5080"/>
            <a:r>
              <a:rPr lang="en-US" sz="1400" kern="0" spc="-80" dirty="0">
                <a:solidFill>
                  <a:schemeClr val="accent6"/>
                </a:solidFill>
              </a:rPr>
              <a:t>❌ “Just buy a ZTNA tool”</a:t>
            </a:r>
          </a:p>
          <a:p>
            <a:pPr marL="12700" marR="5080"/>
            <a:r>
              <a:rPr lang="en-US" sz="1400" kern="0" spc="-80" dirty="0">
                <a:solidFill>
                  <a:schemeClr val="accent6"/>
                </a:solidFill>
              </a:rPr>
              <a:t>✅ Requires architecture + culture change</a:t>
            </a:r>
          </a:p>
          <a:p>
            <a:pPr marL="12700" marR="5080"/>
            <a:r>
              <a:rPr lang="en-US" sz="1400" kern="0" spc="-80" dirty="0">
                <a:solidFill>
                  <a:schemeClr val="accent6"/>
                </a:solidFill>
              </a:rPr>
              <a:t>❌ “Zero Trust slows everything”</a:t>
            </a:r>
          </a:p>
          <a:p>
            <a:pPr marL="12700" marR="5080"/>
            <a:r>
              <a:rPr lang="en-US" sz="1400" kern="0" spc="-80" dirty="0">
                <a:solidFill>
                  <a:schemeClr val="accent6"/>
                </a:solidFill>
              </a:rPr>
              <a:t>✅ Properly designed → safer and scalable</a:t>
            </a:r>
          </a:p>
        </p:txBody>
      </p:sp>
      <p:grpSp>
        <p:nvGrpSpPr>
          <p:cNvPr id="7" name="Group 6">
            <a:extLst>
              <a:ext uri="{FF2B5EF4-FFF2-40B4-BE49-F238E27FC236}">
                <a16:creationId xmlns:a16="http://schemas.microsoft.com/office/drawing/2014/main" id="{85FE78E8-F7C5-2A94-0380-4B1C45CC064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3FCC538-E9D4-74BC-83A2-B485E9CEF3A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B637CA6-63A9-C013-E0FD-27A92EE975B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966842831"/>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AFC39-4AE6-1E5C-12AF-FAC68879C07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325A6F5-22F0-2D59-66D3-96FF30A8BEF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5E38BB6-741B-0655-6F16-2079AF71168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186FBF2-CAFB-5EF2-3B55-80E312E280A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8D6E424-B9B4-E241-5052-9C74B8D23F39}"/>
              </a:ext>
            </a:extLst>
          </p:cNvPr>
          <p:cNvSpPr txBox="1">
            <a:spLocks/>
          </p:cNvSpPr>
          <p:nvPr/>
        </p:nvSpPr>
        <p:spPr>
          <a:xfrm>
            <a:off x="76200" y="745153"/>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Zero Trust – </a:t>
            </a:r>
          </a:p>
          <a:p>
            <a:pPr marL="12700" marR="5080"/>
            <a:r>
              <a:rPr lang="en-US" sz="1400" kern="0" spc="-80" dirty="0">
                <a:solidFill>
                  <a:schemeClr val="accent2"/>
                </a:solidFill>
              </a:rPr>
              <a:t>10. Benefits vs trade-offs</a:t>
            </a:r>
          </a:p>
          <a:p>
            <a:pPr marL="12700" marR="5080"/>
            <a:r>
              <a:rPr lang="en-US" sz="1400" kern="0" spc="-80" dirty="0">
                <a:solidFill>
                  <a:schemeClr val="accent2"/>
                </a:solidFill>
              </a:rPr>
              <a:t>Benefits</a:t>
            </a:r>
          </a:p>
          <a:p>
            <a:pPr marL="12700" marR="5080"/>
            <a:r>
              <a:rPr lang="en-US" sz="1400" kern="0" spc="-80" dirty="0">
                <a:solidFill>
                  <a:schemeClr val="accent6"/>
                </a:solidFill>
              </a:rPr>
              <a:t>Reduced blast radius</a:t>
            </a:r>
          </a:p>
          <a:p>
            <a:pPr marL="12700" marR="5080"/>
            <a:r>
              <a:rPr lang="en-US" sz="1400" kern="0" spc="-80" dirty="0">
                <a:solidFill>
                  <a:schemeClr val="accent6"/>
                </a:solidFill>
              </a:rPr>
              <a:t>Strong defense against credential theft</a:t>
            </a:r>
          </a:p>
          <a:p>
            <a:pPr marL="12700" marR="5080"/>
            <a:r>
              <a:rPr lang="en-US" sz="1400" kern="0" spc="-80" dirty="0">
                <a:solidFill>
                  <a:schemeClr val="accent6"/>
                </a:solidFill>
              </a:rPr>
              <a:t>Better cloud-native security</a:t>
            </a:r>
          </a:p>
          <a:p>
            <a:pPr marL="12700" marR="5080"/>
            <a:r>
              <a:rPr lang="en-US" sz="1400" kern="0" spc="-80" dirty="0">
                <a:solidFill>
                  <a:schemeClr val="accent6"/>
                </a:solidFill>
              </a:rPr>
              <a:t>Auditable access</a:t>
            </a:r>
          </a:p>
          <a:p>
            <a:pPr marL="12700" marR="5080"/>
            <a:r>
              <a:rPr lang="en-US" sz="1400" kern="0" spc="-80" dirty="0">
                <a:solidFill>
                  <a:schemeClr val="accent2"/>
                </a:solidFill>
              </a:rPr>
              <a:t>Trade-offs</a:t>
            </a:r>
          </a:p>
          <a:p>
            <a:pPr marL="12700" marR="5080"/>
            <a:r>
              <a:rPr lang="en-US" sz="1400" kern="0" spc="-80" dirty="0">
                <a:solidFill>
                  <a:schemeClr val="accent6"/>
                </a:solidFill>
              </a:rPr>
              <a:t>Initial complexity</a:t>
            </a:r>
          </a:p>
          <a:p>
            <a:pPr marL="12700" marR="5080"/>
            <a:r>
              <a:rPr lang="en-US" sz="1400" kern="0" spc="-80" dirty="0">
                <a:solidFill>
                  <a:schemeClr val="accent6"/>
                </a:solidFill>
              </a:rPr>
              <a:t>Policy design effort</a:t>
            </a:r>
          </a:p>
          <a:p>
            <a:pPr marL="12700" marR="5080"/>
            <a:r>
              <a:rPr lang="en-US" sz="1400" kern="0" spc="-80" dirty="0">
                <a:solidFill>
                  <a:schemeClr val="accent6"/>
                </a:solidFill>
              </a:rPr>
              <a:t>Requires maturity in identity &amp; observability</a:t>
            </a:r>
          </a:p>
          <a:p>
            <a:pPr marL="12700" marR="5080"/>
            <a:endParaRPr lang="en-US" sz="1400" kern="0" spc="-80" dirty="0">
              <a:solidFill>
                <a:schemeClr val="accent6"/>
              </a:solidFill>
            </a:endParaRPr>
          </a:p>
          <a:p>
            <a:pPr marL="12700" marR="5080"/>
            <a:r>
              <a:rPr lang="en-US" sz="1400" kern="0" spc="-80" dirty="0">
                <a:solidFill>
                  <a:schemeClr val="accent2"/>
                </a:solidFill>
              </a:rPr>
              <a:t>11. How Zero Trust maps to OWASP &amp; modern threats</a:t>
            </a:r>
          </a:p>
          <a:p>
            <a:pPr marL="12700" marR="5080"/>
            <a:r>
              <a:rPr lang="en-US" sz="1400" kern="0" spc="-80" dirty="0">
                <a:solidFill>
                  <a:schemeClr val="accent2"/>
                </a:solidFill>
              </a:rPr>
              <a:t>Threat	                                 Zero Trust mitigation</a:t>
            </a:r>
          </a:p>
          <a:p>
            <a:pPr marL="12700" marR="5080"/>
            <a:r>
              <a:rPr lang="en-US" sz="1400" kern="0" spc="-80" dirty="0">
                <a:solidFill>
                  <a:schemeClr val="accent6"/>
                </a:solidFill>
              </a:rPr>
              <a:t>Credential theft	              MFA + device trust</a:t>
            </a:r>
          </a:p>
          <a:p>
            <a:pPr marL="12700" marR="5080"/>
            <a:r>
              <a:rPr lang="en-US" sz="1400" kern="0" spc="-80" dirty="0">
                <a:solidFill>
                  <a:schemeClr val="accent6"/>
                </a:solidFill>
              </a:rPr>
              <a:t>Lateral movement	              Micro-segmentation</a:t>
            </a:r>
          </a:p>
          <a:p>
            <a:pPr marL="12700" marR="5080"/>
            <a:r>
              <a:rPr lang="en-US" sz="1400" kern="0" spc="-80" dirty="0">
                <a:solidFill>
                  <a:schemeClr val="accent6"/>
                </a:solidFill>
              </a:rPr>
              <a:t>API abuse	                                 Per-request auth</a:t>
            </a:r>
          </a:p>
          <a:p>
            <a:pPr marL="12700" marR="5080"/>
            <a:r>
              <a:rPr lang="en-US" sz="1400" kern="0" spc="-80" dirty="0">
                <a:solidFill>
                  <a:schemeClr val="accent6"/>
                </a:solidFill>
              </a:rPr>
              <a:t>Insider threats	              Least privilege + logging</a:t>
            </a:r>
          </a:p>
          <a:p>
            <a:pPr marL="12700" marR="5080"/>
            <a:endParaRPr lang="en-US" sz="1400" kern="0" spc="-80" dirty="0">
              <a:solidFill>
                <a:schemeClr val="accent6"/>
              </a:solidFill>
            </a:endParaRPr>
          </a:p>
          <a:p>
            <a:pPr marL="12700" marR="5080"/>
            <a:r>
              <a:rPr lang="en-US" sz="1400" kern="0" spc="-80" dirty="0">
                <a:solidFill>
                  <a:schemeClr val="accent2"/>
                </a:solidFill>
              </a:rPr>
              <a:t>12. One-line summary</a:t>
            </a:r>
          </a:p>
          <a:p>
            <a:pPr marL="12700" marR="5080"/>
            <a:r>
              <a:rPr lang="en-US" sz="1400" kern="0" spc="-80" dirty="0">
                <a:solidFill>
                  <a:schemeClr val="accent6"/>
                </a:solidFill>
              </a:rPr>
              <a:t>Zero Trust is not a tool, it’s a mindset: verify every access, minimize trust, and continuously adapt.</a:t>
            </a:r>
          </a:p>
          <a:p>
            <a:pPr algn="l"/>
            <a:r>
              <a:rPr lang="en-US" sz="1400" kern="0" spc="-80" dirty="0">
                <a:solidFill>
                  <a:schemeClr val="accent6"/>
                </a:solidFill>
              </a:rPr>
              <a:t>       </a:t>
            </a:r>
          </a:p>
        </p:txBody>
      </p:sp>
      <p:grpSp>
        <p:nvGrpSpPr>
          <p:cNvPr id="7" name="Group 6">
            <a:extLst>
              <a:ext uri="{FF2B5EF4-FFF2-40B4-BE49-F238E27FC236}">
                <a16:creationId xmlns:a16="http://schemas.microsoft.com/office/drawing/2014/main" id="{8020E8CD-C8C1-76B0-2A31-CCA94297F07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8C72C3A-73BB-C991-1632-C22C1462EFF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0389B94-3AEC-F5E5-1F33-6CD940F47AF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37091597"/>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B089A-1608-69B1-8A67-9AE254CE92B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61EA755-C061-C1D2-BC2C-F4A1D12754A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829D8E4-E709-5B65-18D4-C7C0F721990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72A9215-E009-4AD4-428F-55819FDA26D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A78BEA1-1F03-C697-D04C-B7E92BB31C19}"/>
              </a:ext>
            </a:extLst>
          </p:cNvPr>
          <p:cNvSpPr txBox="1">
            <a:spLocks/>
          </p:cNvSpPr>
          <p:nvPr/>
        </p:nvSpPr>
        <p:spPr>
          <a:xfrm>
            <a:off x="152400" y="79504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Zero Trust(CIA, AAA Mapping) – </a:t>
            </a:r>
          </a:p>
          <a:p>
            <a:pPr marL="12700" marR="5080"/>
            <a:r>
              <a:rPr lang="en-US" sz="1400" kern="0" spc="-80" dirty="0">
                <a:solidFill>
                  <a:schemeClr val="accent6"/>
                </a:solidFill>
              </a:rPr>
              <a:t>Zero Trust is not a product and not a network model — it is a policy-driven security philosophy.</a:t>
            </a:r>
          </a:p>
          <a:p>
            <a:pPr marL="12700" marR="5080"/>
            <a:r>
              <a:rPr lang="en-US" sz="1400" kern="0" spc="-80" dirty="0">
                <a:solidFill>
                  <a:schemeClr val="accent2"/>
                </a:solidFill>
              </a:rPr>
              <a:t>1. High-Level Mapping</a:t>
            </a:r>
          </a:p>
          <a:p>
            <a:pPr marL="12700" marR="5080"/>
            <a:r>
              <a:rPr lang="en-US" sz="1400" kern="0" spc="-80" dirty="0">
                <a:solidFill>
                  <a:schemeClr val="accent2"/>
                </a:solidFill>
              </a:rPr>
              <a:t>Layer	   Purpose	                                       Role</a:t>
            </a:r>
          </a:p>
          <a:p>
            <a:pPr marL="12700" marR="5080"/>
            <a:r>
              <a:rPr lang="en-US" sz="1400" kern="0" spc="-80" dirty="0">
                <a:solidFill>
                  <a:schemeClr val="accent6"/>
                </a:solidFill>
              </a:rPr>
              <a:t>CIA	   Security objectives	                    What must never fail</a:t>
            </a:r>
          </a:p>
          <a:p>
            <a:pPr marL="12700" marR="5080"/>
            <a:r>
              <a:rPr lang="en-US" sz="1400" kern="0" spc="-80" dirty="0">
                <a:solidFill>
                  <a:schemeClr val="accent6"/>
                </a:solidFill>
              </a:rPr>
              <a:t>AAA	   Access control system	How access is decided &amp; tracked</a:t>
            </a:r>
          </a:p>
          <a:p>
            <a:pPr marL="12700" marR="5080"/>
            <a:r>
              <a:rPr lang="en-US" sz="1400" kern="0" spc="-80" dirty="0">
                <a:solidFill>
                  <a:schemeClr val="accent6"/>
                </a:solidFill>
              </a:rPr>
              <a:t>Zero Trust	   Operating model	                    How CIA &amp; AAA are enforced continuously</a:t>
            </a:r>
          </a:p>
          <a:p>
            <a:pPr marL="12700" marR="5080"/>
            <a:r>
              <a:rPr lang="en-US" sz="1400" kern="0" spc="-80" dirty="0">
                <a:solidFill>
                  <a:schemeClr val="accent2"/>
                </a:solidFill>
              </a:rPr>
              <a:t>Zero Trust = CIA goals enforced using AAA continuously</a:t>
            </a:r>
          </a:p>
          <a:p>
            <a:pPr marL="12700" marR="5080"/>
            <a:endParaRPr lang="en-US" sz="1400" kern="0" spc="-80" dirty="0">
              <a:solidFill>
                <a:schemeClr val="accent6"/>
              </a:solidFill>
            </a:endParaRPr>
          </a:p>
          <a:p>
            <a:pPr marL="12700" marR="5080"/>
            <a:r>
              <a:rPr lang="en-US" sz="1400" kern="0" spc="-80" dirty="0">
                <a:solidFill>
                  <a:schemeClr val="accent2"/>
                </a:solidFill>
              </a:rPr>
              <a:t>2. CIA → Zero Trust Mapping</a:t>
            </a:r>
          </a:p>
          <a:p>
            <a:pPr marL="12700" marR="5080"/>
            <a:r>
              <a:rPr lang="en-US" sz="1400" kern="0" spc="-80" dirty="0">
                <a:solidFill>
                  <a:schemeClr val="accent2"/>
                </a:solidFill>
              </a:rPr>
              <a:t>A. Confidentiality in Zero Trust</a:t>
            </a:r>
          </a:p>
          <a:p>
            <a:pPr marL="12700" marR="5080"/>
            <a:r>
              <a:rPr lang="en-US" sz="1400" kern="0" spc="-80" dirty="0">
                <a:solidFill>
                  <a:schemeClr val="accent6"/>
                </a:solidFill>
              </a:rPr>
              <a:t>Zero Trust Principle</a:t>
            </a:r>
          </a:p>
          <a:p>
            <a:pPr marL="12700" marR="5080"/>
            <a:r>
              <a:rPr lang="en-US" sz="1400" kern="0" spc="-80" dirty="0">
                <a:solidFill>
                  <a:schemeClr val="accent6"/>
                </a:solidFill>
              </a:rPr>
              <a:t>Assume breach – protect data everywhere</a:t>
            </a:r>
          </a:p>
          <a:p>
            <a:pPr marL="12700" marR="5080"/>
            <a:r>
              <a:rPr lang="en-US" sz="1400" kern="0" spc="-80" dirty="0">
                <a:solidFill>
                  <a:schemeClr val="accent2"/>
                </a:solidFill>
              </a:rPr>
              <a:t>How Confidentiality is Enforced</a:t>
            </a:r>
          </a:p>
          <a:p>
            <a:pPr marL="12700" marR="5080"/>
            <a:r>
              <a:rPr lang="en-US" sz="1400" kern="0" spc="-80" dirty="0">
                <a:solidFill>
                  <a:schemeClr val="accent2"/>
                </a:solidFill>
              </a:rPr>
              <a:t>Zero Trust Control	                                       CIA Mapping</a:t>
            </a:r>
          </a:p>
          <a:p>
            <a:pPr marL="12700" marR="5080"/>
            <a:r>
              <a:rPr lang="en-US" sz="1400" kern="0" spc="-80" dirty="0">
                <a:solidFill>
                  <a:schemeClr val="accent6"/>
                </a:solidFill>
              </a:rPr>
              <a:t>Identity-centric access	                                       Prevents unauthorized data access</a:t>
            </a:r>
          </a:p>
          <a:p>
            <a:pPr marL="12700" marR="5080"/>
            <a:r>
              <a:rPr lang="en-US" sz="1400" kern="0" spc="-80" dirty="0">
                <a:solidFill>
                  <a:schemeClr val="accent6"/>
                </a:solidFill>
              </a:rPr>
              <a:t>Strong authentication (MFA, certs)	Confidentiality</a:t>
            </a:r>
          </a:p>
          <a:p>
            <a:pPr marL="12700" marR="5080"/>
            <a:r>
              <a:rPr lang="en-US" sz="1400" kern="0" spc="-80" dirty="0">
                <a:solidFill>
                  <a:schemeClr val="accent6"/>
                </a:solidFill>
              </a:rPr>
              <a:t>Device posture checks	                   Confidentiality</a:t>
            </a:r>
          </a:p>
          <a:p>
            <a:pPr marL="12700" marR="5080"/>
            <a:r>
              <a:rPr lang="en-US" sz="1400" kern="0" spc="-80" dirty="0">
                <a:solidFill>
                  <a:schemeClr val="accent6"/>
                </a:solidFill>
              </a:rPr>
              <a:t>Micro-segmentation	                                       Confidentiality</a:t>
            </a:r>
          </a:p>
          <a:p>
            <a:pPr marL="12700" marR="5080"/>
            <a:r>
              <a:rPr lang="en-US" sz="1400" kern="0" spc="-80" dirty="0">
                <a:solidFill>
                  <a:schemeClr val="accent6"/>
                </a:solidFill>
              </a:rPr>
              <a:t>Encryption everywhere	                   Confidentiality</a:t>
            </a:r>
          </a:p>
        </p:txBody>
      </p:sp>
      <p:grpSp>
        <p:nvGrpSpPr>
          <p:cNvPr id="7" name="Group 6">
            <a:extLst>
              <a:ext uri="{FF2B5EF4-FFF2-40B4-BE49-F238E27FC236}">
                <a16:creationId xmlns:a16="http://schemas.microsoft.com/office/drawing/2014/main" id="{2F2D19CD-C60D-D2ED-F43E-B2AE86757BB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86A64051-6693-2088-751B-F5B0C57EC2B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F3F7360A-8F0D-A2EA-7945-BC7F4A06AAA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055259390"/>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CB7B9-F9F4-760E-EB72-5D2E7ED5400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D8C8ABE-1CE0-B49C-3313-70C7AB8D415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7143A24-08CC-D3F6-39E2-5AE5AEB9DCD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FCCFBCF-6087-8797-9027-481818B12FB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71BD1B9-2004-1DED-5D55-796E24135CA1}"/>
              </a:ext>
            </a:extLst>
          </p:cNvPr>
          <p:cNvSpPr txBox="1">
            <a:spLocks/>
          </p:cNvSpPr>
          <p:nvPr/>
        </p:nvSpPr>
        <p:spPr>
          <a:xfrm>
            <a:off x="76200" y="79504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Zero Trust(CIA, AAA Mapping) – </a:t>
            </a:r>
          </a:p>
          <a:p>
            <a:pPr marL="12700" marR="5080"/>
            <a:r>
              <a:rPr lang="en-US" sz="1400" kern="0" spc="-80" dirty="0">
                <a:solidFill>
                  <a:schemeClr val="accent2"/>
                </a:solidFill>
              </a:rPr>
              <a:t>2. CIA → Zero Trust Mapping</a:t>
            </a:r>
          </a:p>
          <a:p>
            <a:pPr marL="12700" marR="5080"/>
            <a:r>
              <a:rPr lang="en-US" sz="1400" kern="0" spc="-80" dirty="0">
                <a:solidFill>
                  <a:schemeClr val="accent2"/>
                </a:solidFill>
              </a:rPr>
              <a:t>A. Confidentiality in Zero Trust</a:t>
            </a:r>
          </a:p>
          <a:p>
            <a:pPr marL="12700" marR="5080"/>
            <a:r>
              <a:rPr lang="en-US" sz="1400" kern="0" spc="-80" dirty="0">
                <a:solidFill>
                  <a:schemeClr val="accent2"/>
                </a:solidFill>
              </a:rPr>
              <a:t>Key Insight</a:t>
            </a:r>
          </a:p>
          <a:p>
            <a:pPr marL="12700" marR="5080"/>
            <a:r>
              <a:rPr lang="en-US" sz="1400" kern="0" spc="-80" dirty="0">
                <a:solidFill>
                  <a:schemeClr val="accent6"/>
                </a:solidFill>
              </a:rPr>
              <a:t>Confidentiality moves from:</a:t>
            </a:r>
          </a:p>
          <a:p>
            <a:pPr marL="12700" marR="5080"/>
            <a:r>
              <a:rPr lang="en-US" sz="1400" kern="0" spc="-80" dirty="0">
                <a:solidFill>
                  <a:schemeClr val="accent6"/>
                </a:solidFill>
              </a:rPr>
              <a:t>“Protect the network” → “Protect the data &amp; identity”</a:t>
            </a:r>
          </a:p>
          <a:p>
            <a:pPr marL="12700" marR="5080"/>
            <a:r>
              <a:rPr lang="en-US" sz="1400" kern="0" spc="-80" dirty="0">
                <a:solidFill>
                  <a:schemeClr val="accent2"/>
                </a:solidFill>
              </a:rPr>
              <a:t>Gotchas</a:t>
            </a:r>
          </a:p>
          <a:p>
            <a:pPr marL="12700" marR="5080"/>
            <a:r>
              <a:rPr lang="en-US" sz="1400" kern="0" spc="-80" dirty="0">
                <a:solidFill>
                  <a:schemeClr val="accent6"/>
                </a:solidFill>
              </a:rPr>
              <a:t>❌ VPN ≠ Zero Trust</a:t>
            </a:r>
          </a:p>
          <a:p>
            <a:pPr marL="12700" marR="5080"/>
            <a:r>
              <a:rPr lang="en-US" sz="1400" kern="0" spc="-80" dirty="0">
                <a:solidFill>
                  <a:schemeClr val="accent6"/>
                </a:solidFill>
              </a:rPr>
              <a:t>❌ Encryption without identity checks</a:t>
            </a:r>
          </a:p>
          <a:p>
            <a:pPr marL="12700" marR="5080"/>
            <a:r>
              <a:rPr lang="en-US" sz="1400" kern="0" spc="-80" dirty="0">
                <a:solidFill>
                  <a:schemeClr val="accent6"/>
                </a:solidFill>
              </a:rPr>
              <a:t>❌ Trusting internal traffic</a:t>
            </a:r>
          </a:p>
          <a:p>
            <a:pPr marL="12700" marR="5080"/>
            <a:r>
              <a:rPr lang="en-US" sz="1400" kern="0" spc="-80" dirty="0">
                <a:solidFill>
                  <a:schemeClr val="accent2"/>
                </a:solidFill>
              </a:rPr>
              <a:t>B. Integrity in Zero Trust</a:t>
            </a:r>
          </a:p>
          <a:p>
            <a:pPr marL="12700" marR="5080"/>
            <a:r>
              <a:rPr lang="en-US" sz="1400" kern="0" spc="-80" dirty="0">
                <a:solidFill>
                  <a:schemeClr val="accent2"/>
                </a:solidFill>
              </a:rPr>
              <a:t>Zero Trust Principle</a:t>
            </a:r>
          </a:p>
          <a:p>
            <a:pPr marL="12700" marR="5080"/>
            <a:r>
              <a:rPr lang="en-US" sz="1400" kern="0" spc="-80" dirty="0">
                <a:solidFill>
                  <a:schemeClr val="accent6"/>
                </a:solidFill>
              </a:rPr>
              <a:t>Trust nothing, verify continuously</a:t>
            </a:r>
          </a:p>
          <a:p>
            <a:pPr marL="12700" marR="5080"/>
            <a:r>
              <a:rPr lang="en-US" sz="1400" kern="0" spc="-80" dirty="0">
                <a:solidFill>
                  <a:schemeClr val="accent2"/>
                </a:solidFill>
              </a:rPr>
              <a:t>How Integrity is Enforced</a:t>
            </a:r>
          </a:p>
          <a:p>
            <a:pPr marL="12700" marR="5080"/>
            <a:r>
              <a:rPr lang="en-US" sz="1400" kern="0" spc="-80" dirty="0">
                <a:solidFill>
                  <a:schemeClr val="accent2"/>
                </a:solidFill>
              </a:rPr>
              <a:t>Zero Trust Control	                   CIA Mapping</a:t>
            </a:r>
          </a:p>
          <a:p>
            <a:pPr marL="12700" marR="5080"/>
            <a:r>
              <a:rPr lang="en-US" sz="1400" kern="0" spc="-80" dirty="0">
                <a:solidFill>
                  <a:schemeClr val="accent6"/>
                </a:solidFill>
              </a:rPr>
              <a:t>Continuous authorization	Prevents unauthorized modification</a:t>
            </a:r>
          </a:p>
          <a:p>
            <a:pPr marL="12700" marR="5080"/>
            <a:r>
              <a:rPr lang="en-US" sz="1400" kern="0" spc="-80" dirty="0">
                <a:solidFill>
                  <a:schemeClr val="accent6"/>
                </a:solidFill>
              </a:rPr>
              <a:t>Strong policy evaluation	Integrity</a:t>
            </a:r>
          </a:p>
          <a:p>
            <a:pPr marL="12700" marR="5080"/>
            <a:r>
              <a:rPr lang="en-US" sz="1400" kern="0" spc="-80" dirty="0">
                <a:solidFill>
                  <a:schemeClr val="accent6"/>
                </a:solidFill>
              </a:rPr>
              <a:t>Signed workloads &amp; images	Integrity</a:t>
            </a:r>
          </a:p>
          <a:p>
            <a:pPr marL="12700" marR="5080"/>
            <a:r>
              <a:rPr lang="en-US" sz="1400" kern="0" spc="-80" dirty="0">
                <a:solidFill>
                  <a:schemeClr val="accent6"/>
                </a:solidFill>
              </a:rPr>
              <a:t>Immutable infrastructure	Integrity</a:t>
            </a:r>
          </a:p>
          <a:p>
            <a:pPr marL="12700" marR="5080"/>
            <a:r>
              <a:rPr lang="en-US" sz="1400" kern="0" spc="-80" dirty="0">
                <a:solidFill>
                  <a:schemeClr val="accent6"/>
                </a:solidFill>
              </a:rPr>
              <a:t>Tamper-proof logs	                    Integrity</a:t>
            </a:r>
          </a:p>
        </p:txBody>
      </p:sp>
      <p:grpSp>
        <p:nvGrpSpPr>
          <p:cNvPr id="7" name="Group 6">
            <a:extLst>
              <a:ext uri="{FF2B5EF4-FFF2-40B4-BE49-F238E27FC236}">
                <a16:creationId xmlns:a16="http://schemas.microsoft.com/office/drawing/2014/main" id="{163C93DB-EC6E-3C70-E8C9-0311AECED5D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4E881222-B89F-8717-C638-EA0E3B48696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56E2047-85A8-F482-F787-469B13DFB35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079647322"/>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C6B75-3DE5-EB58-2F1F-B580AD66911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22A6EA-D000-B73A-DEB2-C20450A9C5B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5398DAC-91BE-56C7-3D6A-FB836EF09F7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410A7AF-E160-C61B-38F6-31E70BB8BFF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AE4BF99-5E08-F5A7-0A6E-1825E9281EF6}"/>
              </a:ext>
            </a:extLst>
          </p:cNvPr>
          <p:cNvSpPr txBox="1">
            <a:spLocks/>
          </p:cNvSpPr>
          <p:nvPr/>
        </p:nvSpPr>
        <p:spPr>
          <a:xfrm>
            <a:off x="76200" y="71884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Zero Trust(CIA, AAA Mapping) – </a:t>
            </a:r>
          </a:p>
          <a:p>
            <a:pPr marL="12700" marR="5080"/>
            <a:r>
              <a:rPr lang="en-US" sz="1400" kern="0" spc="-80" dirty="0">
                <a:solidFill>
                  <a:schemeClr val="accent2"/>
                </a:solidFill>
              </a:rPr>
              <a:t>2. CIA → Zero Trust Mapping</a:t>
            </a:r>
          </a:p>
          <a:p>
            <a:pPr marL="12700" marR="5080"/>
            <a:r>
              <a:rPr lang="en-US" sz="1400" kern="0" spc="-80" dirty="0">
                <a:solidFill>
                  <a:schemeClr val="accent2"/>
                </a:solidFill>
              </a:rPr>
              <a:t>B. Integrity in Zero Trust</a:t>
            </a:r>
          </a:p>
          <a:p>
            <a:pPr marL="12700" marR="5080"/>
            <a:r>
              <a:rPr lang="en-US" sz="1400" kern="0" spc="-80" dirty="0">
                <a:solidFill>
                  <a:schemeClr val="accent2"/>
                </a:solidFill>
              </a:rPr>
              <a:t>Key Insight</a:t>
            </a:r>
          </a:p>
          <a:p>
            <a:pPr marL="12700" marR="5080"/>
            <a:r>
              <a:rPr lang="en-US" sz="1400" kern="0" spc="-80" dirty="0">
                <a:solidFill>
                  <a:schemeClr val="accent6"/>
                </a:solidFill>
              </a:rPr>
              <a:t>Integrity in Zero Trust is continuous, not one-time.</a:t>
            </a:r>
          </a:p>
          <a:p>
            <a:pPr marL="12700" marR="5080"/>
            <a:r>
              <a:rPr lang="en-US" sz="1400" kern="0" spc="-80" dirty="0">
                <a:solidFill>
                  <a:schemeClr val="accent2"/>
                </a:solidFill>
              </a:rPr>
              <a:t>Gotchas</a:t>
            </a:r>
          </a:p>
          <a:p>
            <a:pPr marL="12700" marR="5080"/>
            <a:r>
              <a:rPr lang="en-US" sz="1400" kern="0" spc="-80" dirty="0">
                <a:solidFill>
                  <a:schemeClr val="accent6"/>
                </a:solidFill>
              </a:rPr>
              <a:t>❌ One-time auth at session start</a:t>
            </a:r>
          </a:p>
          <a:p>
            <a:pPr marL="12700" marR="5080"/>
            <a:r>
              <a:rPr lang="en-US" sz="1400" kern="0" spc="-80" dirty="0">
                <a:solidFill>
                  <a:schemeClr val="accent6"/>
                </a:solidFill>
              </a:rPr>
              <a:t>❌ Shared admin identities</a:t>
            </a:r>
          </a:p>
          <a:p>
            <a:pPr marL="12700" marR="5080"/>
            <a:r>
              <a:rPr lang="en-US" sz="1400" kern="0" spc="-80" dirty="0">
                <a:solidFill>
                  <a:schemeClr val="accent6"/>
                </a:solidFill>
              </a:rPr>
              <a:t>❌ No runtime validation</a:t>
            </a:r>
          </a:p>
          <a:p>
            <a:pPr marL="12700" marR="5080"/>
            <a:endParaRPr lang="en-US" sz="1400" kern="0" spc="-80" dirty="0">
              <a:solidFill>
                <a:schemeClr val="accent6"/>
              </a:solidFill>
            </a:endParaRPr>
          </a:p>
          <a:p>
            <a:pPr marL="12700" marR="5080"/>
            <a:r>
              <a:rPr lang="en-US" sz="1400" kern="0" spc="-80" dirty="0">
                <a:solidFill>
                  <a:schemeClr val="accent2"/>
                </a:solidFill>
              </a:rPr>
              <a:t>C. Availability in Zero Trust</a:t>
            </a:r>
          </a:p>
          <a:p>
            <a:pPr marL="12700" marR="5080"/>
            <a:r>
              <a:rPr lang="en-US" sz="1400" kern="0" spc="-80" dirty="0">
                <a:solidFill>
                  <a:schemeClr val="accent2"/>
                </a:solidFill>
              </a:rPr>
              <a:t>Zero Trust Principle</a:t>
            </a:r>
          </a:p>
          <a:p>
            <a:pPr marL="12700" marR="5080"/>
            <a:r>
              <a:rPr lang="en-US" sz="1400" kern="0" spc="-80" dirty="0">
                <a:solidFill>
                  <a:schemeClr val="accent6"/>
                </a:solidFill>
              </a:rPr>
              <a:t>Secure systems without breaking them</a:t>
            </a:r>
          </a:p>
          <a:p>
            <a:pPr marL="12700" marR="5080"/>
            <a:r>
              <a:rPr lang="en-US" sz="1400" kern="0" spc="-80" dirty="0">
                <a:solidFill>
                  <a:schemeClr val="accent2"/>
                </a:solidFill>
              </a:rPr>
              <a:t>How Availability is Enforced</a:t>
            </a:r>
          </a:p>
          <a:p>
            <a:pPr marL="12700" marR="5080"/>
            <a:r>
              <a:rPr lang="en-US" sz="1400" kern="0" spc="-80" dirty="0">
                <a:solidFill>
                  <a:schemeClr val="accent2"/>
                </a:solidFill>
              </a:rPr>
              <a:t>Zero Trust Control	                      CIA Mapping</a:t>
            </a:r>
          </a:p>
          <a:p>
            <a:pPr marL="12700" marR="5080"/>
            <a:r>
              <a:rPr lang="en-US" sz="1400" kern="0" spc="-80" dirty="0">
                <a:solidFill>
                  <a:schemeClr val="accent6"/>
                </a:solidFill>
              </a:rPr>
              <a:t>Fine-grained access	                      Prevents abuse-driven outages</a:t>
            </a:r>
          </a:p>
          <a:p>
            <a:pPr marL="12700" marR="5080"/>
            <a:r>
              <a:rPr lang="en-US" sz="1400" kern="0" spc="-80" dirty="0">
                <a:solidFill>
                  <a:schemeClr val="accent6"/>
                </a:solidFill>
              </a:rPr>
              <a:t>Rate limiting	                      Availability</a:t>
            </a:r>
          </a:p>
          <a:p>
            <a:pPr marL="12700" marR="5080"/>
            <a:r>
              <a:rPr lang="en-US" sz="1400" kern="0" spc="-80" dirty="0">
                <a:solidFill>
                  <a:schemeClr val="accent6"/>
                </a:solidFill>
              </a:rPr>
              <a:t>Blast-radius reduction	                      Availability</a:t>
            </a:r>
          </a:p>
          <a:p>
            <a:pPr marL="12700" marR="5080"/>
            <a:r>
              <a:rPr lang="en-US" sz="1400" kern="0" spc="-80" dirty="0">
                <a:solidFill>
                  <a:schemeClr val="accent6"/>
                </a:solidFill>
              </a:rPr>
              <a:t>Automated remediation	   Availability</a:t>
            </a:r>
          </a:p>
          <a:p>
            <a:pPr marL="12700" marR="5080"/>
            <a:r>
              <a:rPr lang="en-US" sz="1400" kern="0" spc="-80" dirty="0">
                <a:solidFill>
                  <a:schemeClr val="accent6"/>
                </a:solidFill>
              </a:rPr>
              <a:t>Resilience by design	                      Availability</a:t>
            </a:r>
          </a:p>
        </p:txBody>
      </p:sp>
      <p:grpSp>
        <p:nvGrpSpPr>
          <p:cNvPr id="7" name="Group 6">
            <a:extLst>
              <a:ext uri="{FF2B5EF4-FFF2-40B4-BE49-F238E27FC236}">
                <a16:creationId xmlns:a16="http://schemas.microsoft.com/office/drawing/2014/main" id="{99075554-9B8D-8A88-9999-6ACEE5A6641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577EB01-0B43-1B60-BEFB-57A074EB9C1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9EF2FB9-5CAF-6722-2C3A-3984E4ADC2A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271871397"/>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BC915-6F6D-A601-F48F-9C853D956A2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ED0420C-4FDE-125B-4B66-A83FBE9A280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5429ED6-0EC6-53A8-3374-3101CC71452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79CA85A-4131-09BB-BB2D-029FEC768F5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AE4AFC8-7A77-EFEA-2486-AFE1046D324C}"/>
              </a:ext>
            </a:extLst>
          </p:cNvPr>
          <p:cNvSpPr txBox="1">
            <a:spLocks/>
          </p:cNvSpPr>
          <p:nvPr/>
        </p:nvSpPr>
        <p:spPr>
          <a:xfrm>
            <a:off x="0" y="821353"/>
            <a:ext cx="8624937" cy="48936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Zero Trust(CIA, AAA Mapping) – </a:t>
            </a:r>
          </a:p>
          <a:p>
            <a:pPr marL="12700" marR="5080"/>
            <a:r>
              <a:rPr lang="en-US" sz="1400" kern="0" spc="-80" dirty="0">
                <a:solidFill>
                  <a:schemeClr val="accent2"/>
                </a:solidFill>
              </a:rPr>
              <a:t>2. CIA → Zero Trust Mapping</a:t>
            </a:r>
          </a:p>
          <a:p>
            <a:pPr marL="12700" marR="5080"/>
            <a:r>
              <a:rPr lang="en-US" sz="1400" kern="0" spc="-80" dirty="0">
                <a:solidFill>
                  <a:schemeClr val="accent2"/>
                </a:solidFill>
              </a:rPr>
              <a:t>C. Availability in Zero Trust</a:t>
            </a:r>
          </a:p>
          <a:p>
            <a:pPr marL="12700" marR="5080"/>
            <a:r>
              <a:rPr lang="en-US" sz="1400" kern="0" spc="-80" dirty="0">
                <a:solidFill>
                  <a:schemeClr val="accent2"/>
                </a:solidFill>
              </a:rPr>
              <a:t>Key Insight</a:t>
            </a:r>
          </a:p>
          <a:p>
            <a:pPr marL="12700" marR="5080"/>
            <a:r>
              <a:rPr lang="en-US" sz="1400" kern="0" spc="-80" dirty="0">
                <a:solidFill>
                  <a:schemeClr val="accent6"/>
                </a:solidFill>
              </a:rPr>
              <a:t>Zero Trust reduces availability risk by limiting blast radius, not just adding redundancy.</a:t>
            </a:r>
          </a:p>
          <a:p>
            <a:pPr marL="12700" marR="5080"/>
            <a:r>
              <a:rPr lang="en-US" sz="1400" kern="0" spc="-80" dirty="0">
                <a:solidFill>
                  <a:schemeClr val="accent2"/>
                </a:solidFill>
              </a:rPr>
              <a:t>Gotchas</a:t>
            </a:r>
          </a:p>
          <a:p>
            <a:pPr marL="12700" marR="5080"/>
            <a:r>
              <a:rPr lang="en-US" sz="1400" kern="0" spc="-80" dirty="0">
                <a:solidFill>
                  <a:schemeClr val="accent6"/>
                </a:solidFill>
              </a:rPr>
              <a:t>❌ Over-strict policies blocking traffic</a:t>
            </a:r>
          </a:p>
          <a:p>
            <a:pPr marL="12700" marR="5080"/>
            <a:r>
              <a:rPr lang="en-US" sz="1400" kern="0" spc="-80" dirty="0">
                <a:solidFill>
                  <a:schemeClr val="accent6"/>
                </a:solidFill>
              </a:rPr>
              <a:t>❌ Identity provider as SPOF</a:t>
            </a:r>
          </a:p>
          <a:p>
            <a:pPr marL="12700" marR="5080"/>
            <a:r>
              <a:rPr lang="en-US" sz="1400" kern="0" spc="-80" dirty="0">
                <a:solidFill>
                  <a:schemeClr val="accent6"/>
                </a:solidFill>
              </a:rPr>
              <a:t>❌ Security tools causing outages</a:t>
            </a:r>
          </a:p>
          <a:p>
            <a:pPr marL="12700" marR="5080"/>
            <a:r>
              <a:rPr lang="en-US" sz="1400" kern="0" spc="-80" dirty="0">
                <a:solidFill>
                  <a:schemeClr val="accent2"/>
                </a:solidFill>
              </a:rPr>
              <a:t>3. AAA → Zero Trust Mapping (Core of ZTA)</a:t>
            </a:r>
          </a:p>
          <a:p>
            <a:pPr marL="12700" marR="5080"/>
            <a:r>
              <a:rPr lang="en-US" sz="1400" kern="0" spc="-80" dirty="0">
                <a:solidFill>
                  <a:schemeClr val="accent2"/>
                </a:solidFill>
              </a:rPr>
              <a:t>A. Authentication in Zero Trust</a:t>
            </a:r>
          </a:p>
          <a:p>
            <a:pPr marL="12700" marR="5080"/>
            <a:r>
              <a:rPr lang="en-US" sz="1400" kern="0" spc="-80" dirty="0">
                <a:solidFill>
                  <a:schemeClr val="accent2"/>
                </a:solidFill>
              </a:rPr>
              <a:t>Traditional</a:t>
            </a:r>
          </a:p>
          <a:p>
            <a:pPr marL="12700" marR="5080"/>
            <a:r>
              <a:rPr lang="en-US" sz="1400" kern="0" spc="-80" dirty="0">
                <a:solidFill>
                  <a:schemeClr val="accent6"/>
                </a:solidFill>
              </a:rPr>
              <a:t>Authenticate once → trust session</a:t>
            </a:r>
          </a:p>
          <a:p>
            <a:pPr marL="12700" marR="5080"/>
            <a:r>
              <a:rPr lang="en-US" sz="1400" kern="0" spc="-80" dirty="0">
                <a:solidFill>
                  <a:schemeClr val="accent2"/>
                </a:solidFill>
              </a:rPr>
              <a:t>Zero Trust</a:t>
            </a:r>
          </a:p>
          <a:p>
            <a:pPr marL="12700" marR="5080"/>
            <a:r>
              <a:rPr lang="en-US" sz="1400" kern="0" spc="-80" dirty="0">
                <a:solidFill>
                  <a:schemeClr val="accent6"/>
                </a:solidFill>
              </a:rPr>
              <a:t>Authenticate continuously</a:t>
            </a:r>
          </a:p>
          <a:p>
            <a:pPr marL="12700" marR="5080"/>
            <a:r>
              <a:rPr lang="en-US" sz="1400" kern="0" spc="-80" dirty="0">
                <a:solidFill>
                  <a:schemeClr val="accent2"/>
                </a:solidFill>
              </a:rPr>
              <a:t>Zero Trust Mechanism	AAA</a:t>
            </a:r>
          </a:p>
          <a:p>
            <a:pPr marL="12700" marR="5080"/>
            <a:r>
              <a:rPr lang="en-US" sz="1400" kern="0" spc="-80" dirty="0">
                <a:solidFill>
                  <a:schemeClr val="accent6"/>
                </a:solidFill>
              </a:rPr>
              <a:t>MFA everywhere	                   Authentication</a:t>
            </a:r>
          </a:p>
          <a:p>
            <a:pPr marL="12700" marR="5080"/>
            <a:r>
              <a:rPr lang="en-US" sz="1400" kern="0" spc="-80" dirty="0">
                <a:solidFill>
                  <a:schemeClr val="accent6"/>
                </a:solidFill>
              </a:rPr>
              <a:t>Device identity	                   Authentication</a:t>
            </a:r>
          </a:p>
          <a:p>
            <a:pPr marL="12700" marR="5080"/>
            <a:r>
              <a:rPr lang="en-US" sz="1400" kern="0" spc="-80" dirty="0">
                <a:solidFill>
                  <a:schemeClr val="accent6"/>
                </a:solidFill>
              </a:rPr>
              <a:t>Workload identity	                   Authentication</a:t>
            </a:r>
          </a:p>
          <a:p>
            <a:pPr marL="12700" marR="5080"/>
            <a:r>
              <a:rPr lang="en-US" sz="1400" kern="0" spc="-80" dirty="0">
                <a:solidFill>
                  <a:schemeClr val="accent6"/>
                </a:solidFill>
              </a:rPr>
              <a:t>Certificate-based auth	                   Authentication</a:t>
            </a:r>
          </a:p>
          <a:p>
            <a:pPr marL="12700" marR="5080"/>
            <a:r>
              <a:rPr lang="en-US" sz="1400" kern="0" spc="-80" dirty="0">
                <a:solidFill>
                  <a:schemeClr val="accent6"/>
                </a:solidFill>
              </a:rPr>
              <a:t>Risk-based auth	                   Authentication</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01903A27-EF61-7D5F-20AA-1274F5B9E5E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5EA9246-D1F9-B520-B75E-C71E977D3B9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FA0CFDB-AEAF-3A8E-7508-EDA891EFAE6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838895454"/>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7933E-B786-B630-2F9F-C15C93AB0CF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9D96108-0398-6CB5-2D64-9D242710114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7EDBD5E-E741-411C-53C1-BFDB777A7DE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B121D8F-1DC5-E36A-B40F-3378E2707BB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C928FAAB-FE3D-F587-0874-BE6ED8959331}"/>
              </a:ext>
            </a:extLst>
          </p:cNvPr>
          <p:cNvSpPr txBox="1">
            <a:spLocks/>
          </p:cNvSpPr>
          <p:nvPr/>
        </p:nvSpPr>
        <p:spPr>
          <a:xfrm>
            <a:off x="76200" y="705683"/>
            <a:ext cx="8624937" cy="42473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Zero Trust(CIA, AAA Mapping) – </a:t>
            </a:r>
          </a:p>
          <a:p>
            <a:pPr marL="12700" marR="5080"/>
            <a:r>
              <a:rPr lang="en-US" sz="1400" kern="0" spc="-80" dirty="0">
                <a:solidFill>
                  <a:schemeClr val="accent2"/>
                </a:solidFill>
              </a:rPr>
              <a:t>3. AAA → Zero Trust Mapping (Core of ZTA)</a:t>
            </a:r>
          </a:p>
          <a:p>
            <a:pPr marL="12700" marR="5080"/>
            <a:r>
              <a:rPr lang="en-US" sz="1400" kern="0" spc="-80" dirty="0">
                <a:solidFill>
                  <a:schemeClr val="accent2"/>
                </a:solidFill>
              </a:rPr>
              <a:t>A. Authentication in Zero Trust</a:t>
            </a:r>
          </a:p>
          <a:p>
            <a:pPr marL="12700" marR="5080"/>
            <a:r>
              <a:rPr lang="en-US" sz="1400" kern="0" spc="-80" dirty="0">
                <a:solidFill>
                  <a:schemeClr val="accent2"/>
                </a:solidFill>
              </a:rPr>
              <a:t>Insight</a:t>
            </a:r>
          </a:p>
          <a:p>
            <a:pPr marL="12700" marR="5080"/>
            <a:r>
              <a:rPr lang="en-US" sz="1400" kern="0" spc="-80" dirty="0">
                <a:solidFill>
                  <a:schemeClr val="accent6"/>
                </a:solidFill>
              </a:rPr>
              <a:t>Identity = User + Device + Context</a:t>
            </a:r>
          </a:p>
          <a:p>
            <a:pPr marL="12700" marR="5080"/>
            <a:endParaRPr lang="en-US" sz="1400" kern="0" spc="-80" dirty="0">
              <a:solidFill>
                <a:schemeClr val="accent6"/>
              </a:solidFill>
            </a:endParaRPr>
          </a:p>
          <a:p>
            <a:pPr marL="12700" marR="5080"/>
            <a:r>
              <a:rPr lang="en-US" sz="1400" kern="0" spc="-80" dirty="0">
                <a:solidFill>
                  <a:schemeClr val="accent2"/>
                </a:solidFill>
              </a:rPr>
              <a:t>B. Authorization in Zero Trust</a:t>
            </a:r>
          </a:p>
          <a:p>
            <a:pPr marL="12700" marR="5080"/>
            <a:r>
              <a:rPr lang="en-US" sz="1400" kern="0" spc="-80" dirty="0">
                <a:solidFill>
                  <a:schemeClr val="accent2"/>
                </a:solidFill>
              </a:rPr>
              <a:t>Traditional</a:t>
            </a:r>
          </a:p>
          <a:p>
            <a:pPr marL="12700" marR="5080"/>
            <a:r>
              <a:rPr lang="en-US" sz="1400" kern="0" spc="-80" dirty="0">
                <a:solidFill>
                  <a:schemeClr val="accent6"/>
                </a:solidFill>
              </a:rPr>
              <a:t>Role-based, static permissions</a:t>
            </a:r>
          </a:p>
          <a:p>
            <a:pPr marL="12700" marR="5080"/>
            <a:r>
              <a:rPr lang="en-US" sz="1400" kern="0" spc="-80" dirty="0">
                <a:solidFill>
                  <a:schemeClr val="accent2"/>
                </a:solidFill>
              </a:rPr>
              <a:t>Zero Trust</a:t>
            </a:r>
          </a:p>
          <a:p>
            <a:pPr marL="12700" marR="5080"/>
            <a:r>
              <a:rPr lang="en-US" sz="1400" kern="0" spc="-80" dirty="0">
                <a:solidFill>
                  <a:schemeClr val="accent6"/>
                </a:solidFill>
              </a:rPr>
              <a:t>Policy-driven, dynamic authorization</a:t>
            </a:r>
          </a:p>
          <a:p>
            <a:pPr marL="12700" marR="5080"/>
            <a:r>
              <a:rPr lang="en-US" sz="1400" kern="0" spc="-80" dirty="0">
                <a:solidFill>
                  <a:schemeClr val="accent2"/>
                </a:solidFill>
              </a:rPr>
              <a:t>Zero Trust Mechanism	AAA</a:t>
            </a:r>
          </a:p>
          <a:p>
            <a:pPr marL="12700" marR="5080"/>
            <a:r>
              <a:rPr lang="en-US" sz="1400" kern="0" spc="-80" dirty="0">
                <a:solidFill>
                  <a:schemeClr val="accent6"/>
                </a:solidFill>
              </a:rPr>
              <a:t>ABAC / PBAC	                   Authorization</a:t>
            </a:r>
          </a:p>
          <a:p>
            <a:pPr marL="12700" marR="5080"/>
            <a:r>
              <a:rPr lang="en-US" sz="1400" kern="0" spc="-80" dirty="0">
                <a:solidFill>
                  <a:schemeClr val="accent6"/>
                </a:solidFill>
              </a:rPr>
              <a:t>Context-aware policies	Authorization</a:t>
            </a:r>
          </a:p>
          <a:p>
            <a:pPr marL="12700" marR="5080"/>
            <a:r>
              <a:rPr lang="en-US" sz="1400" kern="0" spc="-80" dirty="0">
                <a:solidFill>
                  <a:schemeClr val="accent6"/>
                </a:solidFill>
              </a:rPr>
              <a:t>Just-in-time access	                   Authorization</a:t>
            </a:r>
          </a:p>
          <a:p>
            <a:pPr marL="12700" marR="5080"/>
            <a:r>
              <a:rPr lang="en-US" sz="1400" kern="0" spc="-80" dirty="0">
                <a:solidFill>
                  <a:schemeClr val="accent6"/>
                </a:solidFill>
              </a:rPr>
              <a:t>Micro-segmentation	                   Authorization</a:t>
            </a:r>
          </a:p>
          <a:p>
            <a:pPr marL="12700" marR="5080"/>
            <a:r>
              <a:rPr lang="en-US" sz="1400" kern="0" spc="-80" dirty="0">
                <a:solidFill>
                  <a:schemeClr val="accent6"/>
                </a:solidFill>
              </a:rPr>
              <a:t>Continuous re-evaluation              Authorization</a:t>
            </a:r>
          </a:p>
          <a:p>
            <a:pPr marL="12700" marR="5080"/>
            <a:r>
              <a:rPr lang="en-US" sz="1400" kern="0" spc="-80" dirty="0">
                <a:solidFill>
                  <a:schemeClr val="accent2"/>
                </a:solidFill>
              </a:rPr>
              <a:t>Insight</a:t>
            </a:r>
          </a:p>
          <a:p>
            <a:pPr marL="12700" marR="5080"/>
            <a:r>
              <a:rPr lang="en-US" sz="1400" kern="0" spc="-80" dirty="0">
                <a:solidFill>
                  <a:schemeClr val="accent6"/>
                </a:solidFill>
              </a:rPr>
              <a:t>Authorization is never final in Zero Trust.</a:t>
            </a:r>
          </a:p>
        </p:txBody>
      </p:sp>
      <p:grpSp>
        <p:nvGrpSpPr>
          <p:cNvPr id="7" name="Group 6">
            <a:extLst>
              <a:ext uri="{FF2B5EF4-FFF2-40B4-BE49-F238E27FC236}">
                <a16:creationId xmlns:a16="http://schemas.microsoft.com/office/drawing/2014/main" id="{BBD12FE3-577F-6B63-0A0A-38303C06FEEA}"/>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B9309FD-89EA-A7CA-5776-17F5F604005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3D1AC04-F3D6-44FF-231A-C7C522AB995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978483964"/>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705DD-B0E4-1CF8-949D-8D77786597F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B1D0854-7558-B8A1-C418-39B66350B51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9074CF1-E817-E834-B1EA-81F33D781A9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E9BB36F-66F4-B9FE-36DF-068820E1849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FC8AD7A-CF0B-8D33-01A8-D47C2E7758CA}"/>
              </a:ext>
            </a:extLst>
          </p:cNvPr>
          <p:cNvSpPr txBox="1">
            <a:spLocks/>
          </p:cNvSpPr>
          <p:nvPr/>
        </p:nvSpPr>
        <p:spPr>
          <a:xfrm>
            <a:off x="76200" y="781883"/>
            <a:ext cx="8624937" cy="42473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Zero Trust(CIA, AAA Mapping) – </a:t>
            </a:r>
          </a:p>
          <a:p>
            <a:pPr marL="12700" marR="5080"/>
            <a:r>
              <a:rPr lang="en-US" sz="1400" kern="0" spc="-80" dirty="0">
                <a:solidFill>
                  <a:schemeClr val="accent2"/>
                </a:solidFill>
              </a:rPr>
              <a:t>3. AAA → Zero Trust Mapping (Core of ZTA)</a:t>
            </a:r>
          </a:p>
          <a:p>
            <a:pPr marL="12700" marR="5080"/>
            <a:r>
              <a:rPr lang="en-US" sz="1400" kern="0" spc="-80" dirty="0">
                <a:solidFill>
                  <a:schemeClr val="accent2"/>
                </a:solidFill>
              </a:rPr>
              <a:t>C. Accounting in Zero Trust</a:t>
            </a:r>
          </a:p>
          <a:p>
            <a:pPr marL="12700" marR="5080"/>
            <a:r>
              <a:rPr lang="en-US" sz="1400" kern="0" spc="-80" dirty="0">
                <a:solidFill>
                  <a:schemeClr val="accent2"/>
                </a:solidFill>
              </a:rPr>
              <a:t>Traditional</a:t>
            </a:r>
          </a:p>
          <a:p>
            <a:pPr marL="12700" marR="5080"/>
            <a:r>
              <a:rPr lang="en-US" sz="1400" kern="0" spc="-80" dirty="0">
                <a:solidFill>
                  <a:schemeClr val="accent6"/>
                </a:solidFill>
              </a:rPr>
              <a:t>Logs exist (maybe)</a:t>
            </a:r>
          </a:p>
          <a:p>
            <a:pPr marL="12700" marR="5080"/>
            <a:r>
              <a:rPr lang="en-US" sz="1400" kern="0" spc="-80" dirty="0">
                <a:solidFill>
                  <a:schemeClr val="accent2"/>
                </a:solidFill>
              </a:rPr>
              <a:t>Zero Trust</a:t>
            </a:r>
          </a:p>
          <a:p>
            <a:pPr marL="12700" marR="5080"/>
            <a:r>
              <a:rPr lang="en-US" sz="1400" kern="0" spc="-80" dirty="0">
                <a:solidFill>
                  <a:schemeClr val="accent6"/>
                </a:solidFill>
              </a:rPr>
              <a:t>Everything is observable</a:t>
            </a:r>
          </a:p>
          <a:p>
            <a:pPr marL="12700" marR="5080"/>
            <a:r>
              <a:rPr lang="en-US" sz="1400" kern="0" spc="-80" dirty="0">
                <a:solidFill>
                  <a:schemeClr val="accent2"/>
                </a:solidFill>
              </a:rPr>
              <a:t>Zero Trust Mechanism	AAA</a:t>
            </a:r>
          </a:p>
          <a:p>
            <a:pPr marL="12700" marR="5080"/>
            <a:r>
              <a:rPr lang="en-US" sz="1400" kern="0" spc="-80" dirty="0">
                <a:solidFill>
                  <a:schemeClr val="accent6"/>
                </a:solidFill>
              </a:rPr>
              <a:t>Centralized logging	                   Accounting</a:t>
            </a:r>
          </a:p>
          <a:p>
            <a:pPr marL="12700" marR="5080"/>
            <a:r>
              <a:rPr lang="en-US" sz="1400" kern="0" spc="-80" dirty="0">
                <a:solidFill>
                  <a:schemeClr val="accent6"/>
                </a:solidFill>
              </a:rPr>
              <a:t>Immutable audit trails	                   Accounting</a:t>
            </a:r>
          </a:p>
          <a:p>
            <a:pPr marL="12700" marR="5080"/>
            <a:r>
              <a:rPr lang="en-US" sz="1400" kern="0" spc="-80" dirty="0">
                <a:solidFill>
                  <a:schemeClr val="accent6"/>
                </a:solidFill>
              </a:rPr>
              <a:t>Correlation IDs	                   Accounting</a:t>
            </a:r>
          </a:p>
          <a:p>
            <a:pPr marL="12700" marR="5080"/>
            <a:r>
              <a:rPr lang="en-US" sz="1400" kern="0" spc="-80" dirty="0">
                <a:solidFill>
                  <a:schemeClr val="accent6"/>
                </a:solidFill>
              </a:rPr>
              <a:t>SIEM/SOAR	                   Accounting</a:t>
            </a:r>
          </a:p>
          <a:p>
            <a:pPr marL="12700" marR="5080"/>
            <a:r>
              <a:rPr lang="en-US" sz="1400" kern="0" spc="-80" dirty="0">
                <a:solidFill>
                  <a:schemeClr val="accent6"/>
                </a:solidFill>
              </a:rPr>
              <a:t>Session recording	                   Accounting</a:t>
            </a:r>
          </a:p>
          <a:p>
            <a:pPr marL="12700" marR="5080"/>
            <a:r>
              <a:rPr lang="en-US" sz="1400" kern="0" spc="-80" dirty="0">
                <a:solidFill>
                  <a:schemeClr val="accent2"/>
                </a:solidFill>
              </a:rPr>
              <a:t>Insight</a:t>
            </a:r>
          </a:p>
          <a:p>
            <a:pPr marL="12700" marR="5080"/>
            <a:r>
              <a:rPr lang="en-US" sz="1400" kern="0" spc="-80" dirty="0">
                <a:solidFill>
                  <a:schemeClr val="accent6"/>
                </a:solidFill>
              </a:rPr>
              <a:t>Accounting enables detection, response, and trust revocation.</a:t>
            </a:r>
          </a:p>
          <a:p>
            <a:pPr marL="12700" marR="5080"/>
            <a:endParaRPr lang="en-US" sz="1400" kern="0" spc="-80" dirty="0">
              <a:solidFill>
                <a:schemeClr val="accent6"/>
              </a:solidFill>
            </a:endParaRPr>
          </a:p>
          <a:p>
            <a:pPr marL="12700" marR="5080"/>
            <a:endParaRPr lang="en-US" sz="1400" kern="0" spc="-80" dirty="0">
              <a:solidFill>
                <a:schemeClr val="accent6"/>
              </a:solidFill>
            </a:endParaRPr>
          </a:p>
          <a:p>
            <a:pPr marL="12700" marR="5080"/>
            <a:endParaRPr lang="en-US" sz="1400" kern="0" spc="-80" dirty="0">
              <a:solidFill>
                <a:schemeClr val="accent6"/>
              </a:solidFill>
            </a:endParaRP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B30101BA-C1FA-2B56-9315-30B326DE793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4C1397A-12FC-9828-C21F-A505258ED83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8A623401-E1F6-54EF-9CDB-76F85B102B1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512394718"/>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5F3AE-73E8-D262-847B-B51344AE6DD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BEE72DA-5CFE-167A-7FCF-F496FCFB0D6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4D761AF-2206-8DE1-C9F2-B7487A8BEA8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F6805DE9-BCD8-0197-5965-B23C4CC263D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F92EC19-3188-2221-D027-C4BD73DE9A4A}"/>
              </a:ext>
            </a:extLst>
          </p:cNvPr>
          <p:cNvSpPr txBox="1">
            <a:spLocks/>
          </p:cNvSpPr>
          <p:nvPr/>
        </p:nvSpPr>
        <p:spPr>
          <a:xfrm>
            <a:off x="76200" y="755571"/>
            <a:ext cx="8624937" cy="38164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Zero Trust(CIA, AAA Mapping) – </a:t>
            </a:r>
          </a:p>
          <a:p>
            <a:pPr marL="12700" marR="5080"/>
            <a:r>
              <a:rPr lang="en-US" sz="1400" kern="0" spc="-80" dirty="0">
                <a:solidFill>
                  <a:schemeClr val="accent2"/>
                </a:solidFill>
              </a:rPr>
              <a:t>4. Continuous Loop – The Zero Trust Control Cycle</a:t>
            </a:r>
          </a:p>
          <a:p>
            <a:pPr marL="12700" marR="5080"/>
            <a:r>
              <a:rPr lang="en-US" sz="1400" kern="0" spc="-80" dirty="0">
                <a:solidFill>
                  <a:schemeClr val="accent6"/>
                </a:solidFill>
              </a:rPr>
              <a:t>Request</a:t>
            </a:r>
          </a:p>
          <a:p>
            <a:pPr marL="12700" marR="5080"/>
            <a:r>
              <a:rPr lang="en-US" sz="1400" kern="0" spc="-80" dirty="0">
                <a:solidFill>
                  <a:schemeClr val="accent6"/>
                </a:solidFill>
              </a:rPr>
              <a:t>  ↓</a:t>
            </a:r>
          </a:p>
          <a:p>
            <a:pPr marL="12700" marR="5080"/>
            <a:r>
              <a:rPr lang="en-US" sz="1400" kern="0" spc="-80" dirty="0">
                <a:solidFill>
                  <a:schemeClr val="accent6"/>
                </a:solidFill>
              </a:rPr>
              <a:t>Authenticate (AAA)</a:t>
            </a:r>
          </a:p>
          <a:p>
            <a:pPr marL="12700" marR="5080"/>
            <a:r>
              <a:rPr lang="en-US" sz="1400" kern="0" spc="-80" dirty="0">
                <a:solidFill>
                  <a:schemeClr val="accent6"/>
                </a:solidFill>
              </a:rPr>
              <a:t>  ↓</a:t>
            </a:r>
          </a:p>
          <a:p>
            <a:pPr marL="12700" marR="5080"/>
            <a:r>
              <a:rPr lang="en-US" sz="1400" kern="0" spc="-80" dirty="0">
                <a:solidFill>
                  <a:schemeClr val="accent6"/>
                </a:solidFill>
              </a:rPr>
              <a:t>Authorize (AAA)</a:t>
            </a:r>
          </a:p>
          <a:p>
            <a:pPr marL="12700" marR="5080"/>
            <a:r>
              <a:rPr lang="en-US" sz="1400" kern="0" spc="-80" dirty="0">
                <a:solidFill>
                  <a:schemeClr val="accent6"/>
                </a:solidFill>
              </a:rPr>
              <a:t>  ↓</a:t>
            </a:r>
          </a:p>
          <a:p>
            <a:pPr marL="12700" marR="5080"/>
            <a:r>
              <a:rPr lang="en-US" sz="1400" kern="0" spc="-80" dirty="0">
                <a:solidFill>
                  <a:schemeClr val="accent6"/>
                </a:solidFill>
              </a:rPr>
              <a:t>Allow Limited Access</a:t>
            </a:r>
          </a:p>
          <a:p>
            <a:pPr marL="12700" marR="5080"/>
            <a:r>
              <a:rPr lang="en-US" sz="1400" kern="0" spc="-80" dirty="0">
                <a:solidFill>
                  <a:schemeClr val="accent6"/>
                </a:solidFill>
              </a:rPr>
              <a:t>  ↓</a:t>
            </a:r>
          </a:p>
          <a:p>
            <a:pPr marL="12700" marR="5080"/>
            <a:r>
              <a:rPr lang="en-US" sz="1400" kern="0" spc="-80" dirty="0">
                <a:solidFill>
                  <a:schemeClr val="accent6"/>
                </a:solidFill>
              </a:rPr>
              <a:t>Monitor &amp; Log (Accounting)</a:t>
            </a:r>
          </a:p>
          <a:p>
            <a:pPr marL="12700" marR="5080"/>
            <a:r>
              <a:rPr lang="en-US" sz="1400" kern="0" spc="-80" dirty="0">
                <a:solidFill>
                  <a:schemeClr val="accent6"/>
                </a:solidFill>
              </a:rPr>
              <a:t>  ↓</a:t>
            </a:r>
          </a:p>
          <a:p>
            <a:pPr marL="12700" marR="5080"/>
            <a:r>
              <a:rPr lang="en-US" sz="1400" kern="0" spc="-80" dirty="0">
                <a:solidFill>
                  <a:schemeClr val="accent6"/>
                </a:solidFill>
              </a:rPr>
              <a:t>Re-evaluate Trust</a:t>
            </a:r>
          </a:p>
          <a:p>
            <a:pPr marL="12700" marR="5080"/>
            <a:r>
              <a:rPr lang="en-US" sz="1400" kern="0" spc="-80" dirty="0">
                <a:solidFill>
                  <a:schemeClr val="accent6"/>
                </a:solidFill>
              </a:rPr>
              <a:t>  ↓</a:t>
            </a:r>
          </a:p>
          <a:p>
            <a:pPr marL="12700" marR="5080"/>
            <a:r>
              <a:rPr lang="en-US" sz="1400" kern="0" spc="-80" dirty="0">
                <a:solidFill>
                  <a:schemeClr val="accent6"/>
                </a:solidFill>
              </a:rPr>
              <a:t>Adapt / Revoke / Continue</a:t>
            </a:r>
          </a:p>
          <a:p>
            <a:pPr marL="12700" marR="5080"/>
            <a:r>
              <a:rPr lang="en-US" sz="1400" kern="0" spc="-80" dirty="0">
                <a:solidFill>
                  <a:schemeClr val="accent6"/>
                </a:solidFill>
              </a:rPr>
              <a:t>CIA goals are preserved at every iteration</a:t>
            </a:r>
          </a:p>
          <a:p>
            <a:pPr marL="12700" marR="5080"/>
            <a:endParaRPr lang="en-US" sz="1400" kern="0" spc="-80" dirty="0">
              <a:solidFill>
                <a:schemeClr val="accent6"/>
              </a:solidFill>
            </a:endParaRPr>
          </a:p>
        </p:txBody>
      </p:sp>
      <p:grpSp>
        <p:nvGrpSpPr>
          <p:cNvPr id="7" name="Group 6">
            <a:extLst>
              <a:ext uri="{FF2B5EF4-FFF2-40B4-BE49-F238E27FC236}">
                <a16:creationId xmlns:a16="http://schemas.microsoft.com/office/drawing/2014/main" id="{B08C1436-FCFE-0640-57E5-747197F2CB1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501B57A-B6D9-DB81-80BE-3689492C24C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3964A3F9-725C-771F-1C2D-89B8AC825F8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043681890"/>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7A6EC-F173-8A7F-E1D3-6362EEEB3B9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75CEA3C-9638-E9E7-2D8D-BE3C6137F0F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FBAD587-8B42-C86B-FC92-21BD5E516FD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1E97B74-250D-E98D-0DE4-D7E1875469E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D7EF23B-1703-004A-98F5-F3EC1C72F138}"/>
              </a:ext>
            </a:extLst>
          </p:cNvPr>
          <p:cNvSpPr txBox="1">
            <a:spLocks/>
          </p:cNvSpPr>
          <p:nvPr/>
        </p:nvSpPr>
        <p:spPr>
          <a:xfrm>
            <a:off x="0" y="792540"/>
            <a:ext cx="8624937" cy="15696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Zero Trust(CIA, AAA Mapping) – </a:t>
            </a:r>
          </a:p>
          <a:p>
            <a:pPr algn="l"/>
            <a:r>
              <a:rPr lang="en-US" sz="1600" kern="0" spc="-80" dirty="0">
                <a:solidFill>
                  <a:schemeClr val="accent2"/>
                </a:solidFill>
              </a:rPr>
              <a:t>    For Further Exploration</a:t>
            </a:r>
          </a:p>
          <a:p>
            <a:pPr algn="l"/>
            <a:r>
              <a:rPr lang="en-US" sz="1600" kern="0" spc="-80" dirty="0">
                <a:solidFill>
                  <a:schemeClr val="accent6"/>
                </a:solidFill>
              </a:rPr>
              <a:t>    </a:t>
            </a:r>
            <a:r>
              <a:rPr lang="en-US" sz="1500" dirty="0">
                <a:hlinkClick r:id="rId2"/>
              </a:rPr>
              <a:t>What is Zero Trust Security? Principles of the Zero Trust Model | CrowdStrike</a:t>
            </a:r>
            <a:endParaRPr lang="en-US" sz="1500" dirty="0"/>
          </a:p>
          <a:p>
            <a:pPr algn="l"/>
            <a:r>
              <a:rPr lang="en-US" sz="1500" kern="0" spc="-80" dirty="0">
                <a:solidFill>
                  <a:schemeClr val="accent6"/>
                </a:solidFill>
              </a:rPr>
              <a:t>    </a:t>
            </a:r>
            <a:r>
              <a:rPr lang="en-US" sz="1500" dirty="0">
                <a:hlinkClick r:id="rId3"/>
              </a:rPr>
              <a:t>Zero Trust Model - Modern Security Architecture | Microsoft Security</a:t>
            </a:r>
            <a:endParaRPr lang="en-US" sz="1500" dirty="0"/>
          </a:p>
          <a:p>
            <a:pPr algn="l"/>
            <a:r>
              <a:rPr lang="en-US" sz="1500" kern="0" spc="-80" dirty="0">
                <a:solidFill>
                  <a:schemeClr val="accent6"/>
                </a:solidFill>
              </a:rPr>
              <a:t>    </a:t>
            </a:r>
            <a:r>
              <a:rPr lang="en-US" sz="1500" dirty="0">
                <a:hlinkClick r:id="rId4"/>
              </a:rPr>
              <a:t>Zero Trust Security - a Cautious move | LinkedIn</a:t>
            </a:r>
            <a:endParaRPr lang="en-US" sz="1500" dirty="0"/>
          </a:p>
          <a:p>
            <a:r>
              <a:rPr lang="en-US" sz="1500" kern="0" spc="-80" dirty="0">
                <a:solidFill>
                  <a:schemeClr val="accent6"/>
                </a:solidFill>
              </a:rPr>
              <a:t>    </a:t>
            </a:r>
            <a:r>
              <a:rPr lang="en-US" sz="1600" dirty="0">
                <a:hlinkClick r:id="rId5"/>
              </a:rPr>
              <a:t>Awesome-Zero-Trust</a:t>
            </a:r>
            <a:endParaRPr lang="en-US" sz="1500" kern="0" spc="-80" dirty="0">
              <a:solidFill>
                <a:schemeClr val="accent6"/>
              </a:solidFill>
            </a:endParaRPr>
          </a:p>
        </p:txBody>
      </p:sp>
      <p:grpSp>
        <p:nvGrpSpPr>
          <p:cNvPr id="7" name="Group 6">
            <a:extLst>
              <a:ext uri="{FF2B5EF4-FFF2-40B4-BE49-F238E27FC236}">
                <a16:creationId xmlns:a16="http://schemas.microsoft.com/office/drawing/2014/main" id="{107B4D52-2FE1-A58E-CE6F-8108A6C4FA13}"/>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4FBB931-33E7-925C-09B5-54270BBA80A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9ABEE81-348D-73BA-AF20-683A8636394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247145800"/>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CE8C7-5F78-91D9-E0A9-332483B2CC5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6B109B9-63D8-0D8A-541D-12444DEE2D4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60543A0-BC4F-063A-D679-EE0A5913E9C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0E142E6-33E7-7EF3-FDE4-856F235E4F9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6B525C8-F466-3844-819F-03E14A39662A}"/>
              </a:ext>
            </a:extLst>
          </p:cNvPr>
          <p:cNvSpPr txBox="1">
            <a:spLocks/>
          </p:cNvSpPr>
          <p:nvPr/>
        </p:nvSpPr>
        <p:spPr>
          <a:xfrm>
            <a:off x="290463" y="670203"/>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Secure SDLC –</a:t>
            </a:r>
            <a:r>
              <a:rPr lang="en-US" sz="2400" kern="0" spc="-80" dirty="0">
                <a:solidFill>
                  <a:schemeClr val="accent6"/>
                </a:solidFill>
              </a:rPr>
              <a:t> </a:t>
            </a:r>
            <a:r>
              <a:rPr lang="en-US" sz="2400" kern="0" spc="-80" dirty="0">
                <a:solidFill>
                  <a:schemeClr val="accent2"/>
                </a:solidFill>
              </a:rPr>
              <a:t> </a:t>
            </a:r>
          </a:p>
        </p:txBody>
      </p:sp>
      <p:sp>
        <p:nvSpPr>
          <p:cNvPr id="8" name="object 2">
            <a:extLst>
              <a:ext uri="{FF2B5EF4-FFF2-40B4-BE49-F238E27FC236}">
                <a16:creationId xmlns:a16="http://schemas.microsoft.com/office/drawing/2014/main" id="{34E08819-56C4-9FE7-3602-DF6824B488E6}"/>
              </a:ext>
            </a:extLst>
          </p:cNvPr>
          <p:cNvSpPr txBox="1">
            <a:spLocks/>
          </p:cNvSpPr>
          <p:nvPr/>
        </p:nvSpPr>
        <p:spPr>
          <a:xfrm>
            <a:off x="76200" y="4189274"/>
            <a:ext cx="8624937" cy="175432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2"/>
              </a:rPr>
              <a:t>Secure Software Development Life Cycle Explained | Black Duck Blog</a:t>
            </a:r>
            <a:endParaRPr lang="en-US" sz="1500" dirty="0"/>
          </a:p>
          <a:p>
            <a:pPr marL="12700" marR="5080"/>
            <a:r>
              <a:rPr lang="en-US" sz="1500" dirty="0">
                <a:hlinkClick r:id="rId3"/>
              </a:rPr>
              <a:t>What the Sec is </a:t>
            </a:r>
            <a:r>
              <a:rPr lang="en-US" sz="1500" dirty="0" err="1">
                <a:hlinkClick r:id="rId3"/>
              </a:rPr>
              <a:t>DevSecOps</a:t>
            </a:r>
            <a:r>
              <a:rPr lang="en-US" sz="1500" dirty="0">
                <a:hlinkClick r:id="rId3"/>
              </a:rPr>
              <a:t>? | </a:t>
            </a:r>
            <a:r>
              <a:rPr lang="en-US" sz="1500" dirty="0" err="1">
                <a:hlinkClick r:id="rId3"/>
              </a:rPr>
              <a:t>Accelera</a:t>
            </a:r>
            <a:endParaRPr lang="en-US" sz="1500" dirty="0"/>
          </a:p>
          <a:p>
            <a:pPr marL="12700" marR="5080"/>
            <a:r>
              <a:rPr lang="en-US" sz="1500" kern="0" spc="-80" dirty="0">
                <a:solidFill>
                  <a:schemeClr val="accent6"/>
                </a:solidFill>
              </a:rPr>
              <a:t>N.B. – </a:t>
            </a:r>
            <a:r>
              <a:rPr lang="en-US" sz="1500" kern="0" spc="-80" dirty="0" err="1">
                <a:solidFill>
                  <a:schemeClr val="accent6"/>
                </a:solidFill>
              </a:rPr>
              <a:t>DevSecOps</a:t>
            </a:r>
            <a:r>
              <a:rPr lang="en-US" sz="1500" kern="0" spc="-80" dirty="0">
                <a:solidFill>
                  <a:schemeClr val="accent6"/>
                </a:solidFill>
              </a:rPr>
              <a:t> pertains to securing every component in the DevOps pipeline including </a:t>
            </a:r>
            <a:r>
              <a:rPr lang="en-US" sz="1500" kern="0" spc="-80" dirty="0" err="1">
                <a:solidFill>
                  <a:schemeClr val="accent6"/>
                </a:solidFill>
              </a:rPr>
              <a:t>IaC</a:t>
            </a:r>
            <a:r>
              <a:rPr lang="en-US" sz="1500" kern="0" spc="-80" dirty="0">
                <a:solidFill>
                  <a:schemeClr val="accent6"/>
                </a:solidFill>
              </a:rPr>
              <a:t>, </a:t>
            </a:r>
            <a:r>
              <a:rPr lang="en-US" sz="1500" kern="0" spc="-80" dirty="0" err="1">
                <a:solidFill>
                  <a:schemeClr val="accent6"/>
                </a:solidFill>
              </a:rPr>
              <a:t>CaC</a:t>
            </a:r>
            <a:r>
              <a:rPr lang="en-US" sz="1500" kern="0" spc="-80" dirty="0">
                <a:solidFill>
                  <a:schemeClr val="accent6"/>
                </a:solidFill>
              </a:rPr>
              <a:t>, the pipeline itself, configs, Docker, K8s </a:t>
            </a:r>
            <a:r>
              <a:rPr lang="en-US" sz="1500" kern="0" spc="-80" dirty="0" err="1">
                <a:solidFill>
                  <a:schemeClr val="accent6"/>
                </a:solidFill>
              </a:rPr>
              <a:t>etc</a:t>
            </a:r>
            <a:r>
              <a:rPr lang="en-US" sz="1500" kern="0" spc="-80" dirty="0">
                <a:solidFill>
                  <a:schemeClr val="accent6"/>
                </a:solidFill>
              </a:rPr>
              <a:t> and running SAST/DAST/SCA </a:t>
            </a:r>
            <a:r>
              <a:rPr lang="en-US" sz="1500" kern="0" spc="-80" dirty="0" err="1">
                <a:solidFill>
                  <a:schemeClr val="accent6"/>
                </a:solidFill>
              </a:rPr>
              <a:t>etc</a:t>
            </a:r>
            <a:r>
              <a:rPr lang="en-US" sz="1500" kern="0" spc="-80" dirty="0">
                <a:solidFill>
                  <a:schemeClr val="accent6"/>
                </a:solidFill>
              </a:rPr>
              <a:t> tools (&amp; relevant reporting with integration with Jira) from the pipeline itself to identify security loopholes in app code as well.  </a:t>
            </a:r>
            <a:r>
              <a:rPr lang="en-US" sz="1500" kern="0" spc="-80" dirty="0">
                <a:solidFill>
                  <a:schemeClr val="accent2"/>
                </a:solidFill>
              </a:rPr>
              <a:t> </a:t>
            </a:r>
          </a:p>
        </p:txBody>
      </p:sp>
      <p:pic>
        <p:nvPicPr>
          <p:cNvPr id="1026" name="Picture 2" descr="Secure SDLC: A Look at the Secure Software Development Life Cycle">
            <a:extLst>
              <a:ext uri="{FF2B5EF4-FFF2-40B4-BE49-F238E27FC236}">
                <a16:creationId xmlns:a16="http://schemas.microsoft.com/office/drawing/2014/main" id="{C739D4D5-67AE-1CA0-41F8-CBB272E1564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039535"/>
            <a:ext cx="9067800" cy="3303865"/>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96BA278F-E148-01D7-1B6C-2FE24302CD01}"/>
              </a:ext>
            </a:extLst>
          </p:cNvPr>
          <p:cNvGrpSpPr/>
          <p:nvPr/>
        </p:nvGrpSpPr>
        <p:grpSpPr>
          <a:xfrm>
            <a:off x="20320" y="-30047"/>
            <a:ext cx="9123680" cy="481253"/>
            <a:chOff x="0" y="0"/>
            <a:chExt cx="8716300" cy="481253"/>
          </a:xfrm>
        </p:grpSpPr>
        <p:sp>
          <p:nvSpPr>
            <p:cNvPr id="9" name="Rectangle: Rounded Corners 8">
              <a:extLst>
                <a:ext uri="{FF2B5EF4-FFF2-40B4-BE49-F238E27FC236}">
                  <a16:creationId xmlns:a16="http://schemas.microsoft.com/office/drawing/2014/main" id="{3A6EA640-BA09-0254-22F2-FA4EABEC4A8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111D1916-D53A-E216-3D36-9B6155231E0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738629649"/>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76200" y="451692"/>
            <a:ext cx="8624937" cy="554921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1100" kern="0" spc="-80" dirty="0">
              <a:solidFill>
                <a:schemeClr val="accent2"/>
              </a:solidFill>
            </a:endParaRPr>
          </a:p>
          <a:p>
            <a:pPr marL="12700" marR="5080"/>
            <a:endParaRPr lang="en-US" sz="1100" kern="0" spc="-80" dirty="0">
              <a:solidFill>
                <a:schemeClr val="accent2"/>
              </a:solidFill>
            </a:endParaRPr>
          </a:p>
          <a:p>
            <a:pPr marL="12700" marR="5080"/>
            <a:r>
              <a:rPr lang="en-US" sz="2000" kern="0" spc="-80" dirty="0">
                <a:solidFill>
                  <a:schemeClr val="accent2"/>
                </a:solidFill>
              </a:rPr>
              <a:t>For Further Exploration – </a:t>
            </a:r>
          </a:p>
          <a:p>
            <a:pPr marL="12700" marR="5080"/>
            <a:r>
              <a:rPr lang="en-US" sz="1180" dirty="0">
                <a:hlinkClick r:id="rId3"/>
              </a:rPr>
              <a:t>The Nuts and Bolts of OAuth 2.0 | Udemy</a:t>
            </a:r>
            <a:r>
              <a:rPr lang="en-US" sz="1180" kern="0" spc="-80" dirty="0">
                <a:solidFill>
                  <a:schemeClr val="accent2"/>
                </a:solidFill>
              </a:rPr>
              <a:t> </a:t>
            </a:r>
          </a:p>
          <a:p>
            <a:pPr marL="12700" marR="5080"/>
            <a:r>
              <a:rPr lang="en-US" sz="1180" dirty="0">
                <a:hlinkClick r:id="rId4"/>
              </a:rPr>
              <a:t>Oauth2, scopes and user roles - Stack Overflow</a:t>
            </a:r>
            <a:r>
              <a:rPr lang="en-US" sz="1180" kern="0" spc="-80" dirty="0">
                <a:solidFill>
                  <a:schemeClr val="accent2"/>
                </a:solidFill>
              </a:rPr>
              <a:t> (Think in terms of User Roles, User Scopes &amp; API scopes mappings)</a:t>
            </a:r>
          </a:p>
          <a:p>
            <a:pPr marL="12700" marR="5080"/>
            <a:r>
              <a:rPr lang="en-US" sz="1180" dirty="0">
                <a:hlinkClick r:id="rId5"/>
              </a:rPr>
              <a:t>EP120: What do version numbers mean?</a:t>
            </a:r>
            <a:r>
              <a:rPr lang="en-US" sz="1180" kern="0" spc="-80" dirty="0">
                <a:solidFill>
                  <a:schemeClr val="accent2"/>
                </a:solidFill>
              </a:rPr>
              <a:t> </a:t>
            </a:r>
          </a:p>
          <a:p>
            <a:pPr marL="12700" marR="5080"/>
            <a:r>
              <a:rPr lang="en-US" sz="1180" dirty="0">
                <a:hlinkClick r:id="rId6"/>
              </a:rPr>
              <a:t>Creating your own Global Identity Provider — Part I | by Danny García Hernández | Medium</a:t>
            </a:r>
            <a:endParaRPr lang="en-US" sz="1180" dirty="0"/>
          </a:p>
          <a:p>
            <a:pPr marL="12700" marR="5080"/>
            <a:r>
              <a:rPr lang="en-US" sz="1180" dirty="0">
                <a:hlinkClick r:id="rId7"/>
              </a:rPr>
              <a:t>Implement authorization by grant type | Okta Developer</a:t>
            </a:r>
            <a:endParaRPr lang="en-US" sz="1180" dirty="0"/>
          </a:p>
          <a:p>
            <a:pPr marL="12700" marR="5080"/>
            <a:r>
              <a:rPr lang="en-US" sz="1180" dirty="0">
                <a:hlinkClick r:id="rId8"/>
              </a:rPr>
              <a:t>Impersonation Approaches with OAuth and OpenID Connect | </a:t>
            </a:r>
            <a:r>
              <a:rPr lang="en-US" sz="1180" dirty="0" err="1">
                <a:hlinkClick r:id="rId8"/>
              </a:rPr>
              <a:t>Curity</a:t>
            </a:r>
            <a:endParaRPr lang="en-US" sz="1180" dirty="0"/>
          </a:p>
          <a:p>
            <a:pPr marL="12700" marR="5080"/>
            <a:r>
              <a:rPr lang="en-US" sz="1180" dirty="0">
                <a:hlinkClick r:id="rId9"/>
              </a:rPr>
              <a:t>Software Design Challenge: How to implement Impersonation with AUTH0 - </a:t>
            </a:r>
            <a:r>
              <a:rPr lang="en-US" sz="1180" dirty="0" err="1">
                <a:hlinkClick r:id="rId9"/>
              </a:rPr>
              <a:t>Leverture</a:t>
            </a:r>
            <a:endParaRPr lang="en-US" sz="1180" dirty="0"/>
          </a:p>
          <a:p>
            <a:pPr marL="12700" marR="5080"/>
            <a:r>
              <a:rPr lang="en-US" sz="1180" dirty="0">
                <a:hlinkClick r:id="rId10"/>
              </a:rPr>
              <a:t>Complete-List-Oauth-Grants</a:t>
            </a:r>
            <a:endParaRPr lang="en-US" sz="1180" dirty="0"/>
          </a:p>
          <a:p>
            <a:pPr marL="12700" marR="5080"/>
            <a:r>
              <a:rPr lang="en-US" sz="1180" dirty="0">
                <a:hlinkClick r:id="rId11"/>
              </a:rPr>
              <a:t>Free Security </a:t>
            </a:r>
            <a:r>
              <a:rPr lang="en-US" sz="1180" dirty="0" err="1">
                <a:hlinkClick r:id="rId11"/>
              </a:rPr>
              <a:t>EBooks</a:t>
            </a:r>
            <a:r>
              <a:rPr lang="en-US" sz="1180" dirty="0">
                <a:hlinkClick r:id="rId11"/>
              </a:rPr>
              <a:t> | </a:t>
            </a:r>
            <a:r>
              <a:rPr lang="en-US" sz="1180" dirty="0" err="1">
                <a:hlinkClick r:id="rId11"/>
              </a:rPr>
              <a:t>Syncfusion</a:t>
            </a:r>
            <a:endParaRPr lang="en-US" sz="1180" dirty="0"/>
          </a:p>
          <a:p>
            <a:pPr marL="12700" marR="5080"/>
            <a:r>
              <a:rPr lang="en-IN" sz="1180" dirty="0">
                <a:hlinkClick r:id="rId12"/>
              </a:rPr>
              <a:t>Authorization Methods | Ping Identity</a:t>
            </a:r>
            <a:endParaRPr lang="en-IN" sz="1180" dirty="0"/>
          </a:p>
          <a:p>
            <a:pPr marL="12700" marR="5080"/>
            <a:r>
              <a:rPr lang="en-IN" sz="1180" dirty="0">
                <a:hlinkClick r:id="rId13"/>
              </a:rPr>
              <a:t>Microservices Security in Action</a:t>
            </a:r>
            <a:endParaRPr lang="en-IN" sz="1180" dirty="0"/>
          </a:p>
          <a:p>
            <a:pPr marL="12700" marR="5080"/>
            <a:r>
              <a:rPr lang="en-US" sz="1180" dirty="0">
                <a:hlinkClick r:id="rId14"/>
              </a:rPr>
              <a:t>Advanced API Security: OAuth 2.0 and Beyond | SpringerLink</a:t>
            </a:r>
            <a:endParaRPr lang="en-US" sz="1180" dirty="0"/>
          </a:p>
          <a:p>
            <a:pPr marL="12700" marR="5080"/>
            <a:r>
              <a:rPr lang="en-US" sz="1180" dirty="0">
                <a:hlinkClick r:id="rId15"/>
              </a:rPr>
              <a:t>OAuth Patterns and Anti-Patterns - </a:t>
            </a:r>
            <a:r>
              <a:rPr lang="en-US" sz="1180" dirty="0" err="1">
                <a:hlinkClick r:id="rId15"/>
              </a:rPr>
              <a:t>DZone</a:t>
            </a:r>
            <a:r>
              <a:rPr lang="en-US" sz="1180" dirty="0">
                <a:hlinkClick r:id="rId15"/>
              </a:rPr>
              <a:t> </a:t>
            </a:r>
            <a:r>
              <a:rPr lang="en-US" sz="1180" dirty="0" err="1">
                <a:hlinkClick r:id="rId15"/>
              </a:rPr>
              <a:t>Refcardz</a:t>
            </a:r>
            <a:endParaRPr lang="en-US" sz="1180" dirty="0"/>
          </a:p>
          <a:p>
            <a:pPr marL="12700" marR="5080"/>
            <a:r>
              <a:rPr lang="en-US" sz="1180" dirty="0">
                <a:hlinkClick r:id="rId16"/>
              </a:rPr>
              <a:t>A SAML Whitepaper: How to Study and Learn SAML</a:t>
            </a:r>
            <a:endParaRPr lang="en-US" sz="1180" dirty="0"/>
          </a:p>
          <a:p>
            <a:pPr marL="12700" marR="5080"/>
            <a:r>
              <a:rPr lang="en-US" sz="1180" dirty="0">
                <a:hlinkClick r:id="rId17"/>
              </a:rPr>
              <a:t>Data Masking vs. Data Encryption: How Do They Differ?</a:t>
            </a:r>
            <a:endParaRPr lang="en-US" sz="1180" dirty="0"/>
          </a:p>
          <a:p>
            <a:pPr marL="12700" marR="5080"/>
            <a:r>
              <a:rPr lang="en-US" sz="1180" dirty="0">
                <a:hlinkClick r:id="rId18"/>
              </a:rPr>
              <a:t>Data Masking vs Tokenization | Understand the Difference</a:t>
            </a:r>
            <a:endParaRPr lang="en-US" sz="1180" dirty="0"/>
          </a:p>
          <a:p>
            <a:pPr marL="12700" marR="5080"/>
            <a:r>
              <a:rPr lang="en-US" sz="1180" dirty="0">
                <a:hlinkClick r:id="rId19"/>
              </a:rPr>
              <a:t>Data Masking: 8 Techniques and How to Implement Them Successfully - Satori</a:t>
            </a:r>
            <a:endParaRPr lang="en-US" sz="1180" dirty="0"/>
          </a:p>
          <a:p>
            <a:pPr marL="12700" marR="5080"/>
            <a:r>
              <a:rPr lang="en-US" sz="1180" dirty="0" err="1">
                <a:hlinkClick r:id="rId20"/>
              </a:rPr>
              <a:t>Keycloak.ASPNet.Angular</a:t>
            </a:r>
            <a:r>
              <a:rPr lang="en-US" sz="1180" dirty="0">
                <a:hlinkClick r:id="rId20"/>
              </a:rPr>
              <a:t>: How to: ASP.NET Core with OAuth2 (</a:t>
            </a:r>
            <a:r>
              <a:rPr lang="en-US" sz="1180" dirty="0" err="1">
                <a:hlinkClick r:id="rId20"/>
              </a:rPr>
              <a:t>Keycloak</a:t>
            </a:r>
            <a:r>
              <a:rPr lang="en-US" sz="1180" dirty="0">
                <a:hlinkClick r:id="rId20"/>
              </a:rPr>
              <a:t>) and Angular</a:t>
            </a:r>
            <a:endParaRPr lang="en-US" sz="1180" dirty="0"/>
          </a:p>
          <a:p>
            <a:pPr marL="12700" marR="5080"/>
            <a:r>
              <a:rPr lang="en-US" sz="1180" dirty="0">
                <a:hlinkClick r:id="rId21"/>
              </a:rPr>
              <a:t>Implementing Multifactor Authentication | Security | Print</a:t>
            </a:r>
            <a:endParaRPr lang="en-US" sz="1180" dirty="0"/>
          </a:p>
          <a:p>
            <a:pPr marL="12700" marR="5080"/>
            <a:r>
              <a:rPr lang="en-US" sz="1180" dirty="0">
                <a:hlinkClick r:id="rId22"/>
              </a:rPr>
              <a:t>Identity Management with Biometrics | Security | Print</a:t>
            </a:r>
            <a:endParaRPr lang="en-US" sz="1180" dirty="0"/>
          </a:p>
          <a:p>
            <a:pPr marL="12700" marR="5080"/>
            <a:r>
              <a:rPr lang="en-US" sz="1180" dirty="0">
                <a:hlinkClick r:id="rId23"/>
              </a:rPr>
              <a:t>Difference between PII, PHI, and PCI – </a:t>
            </a:r>
            <a:r>
              <a:rPr lang="en-US" sz="1180" dirty="0" err="1">
                <a:hlinkClick r:id="rId23"/>
              </a:rPr>
              <a:t>Sprinto</a:t>
            </a:r>
            <a:endParaRPr lang="en-US" sz="1180" dirty="0"/>
          </a:p>
          <a:p>
            <a:pPr marL="12700" marR="5080"/>
            <a:r>
              <a:rPr lang="en-US" sz="1180" dirty="0">
                <a:hlinkClick r:id="rId24"/>
              </a:rPr>
              <a:t>A Guide to Types of Sensitive Information | </a:t>
            </a:r>
            <a:r>
              <a:rPr lang="en-US" sz="1180" dirty="0" err="1">
                <a:hlinkClick r:id="rId24"/>
              </a:rPr>
              <a:t>BigID</a:t>
            </a:r>
            <a:endParaRPr lang="en-US" sz="1180" dirty="0"/>
          </a:p>
          <a:p>
            <a:pPr marL="12700" marR="5080"/>
            <a:r>
              <a:rPr lang="en-US" sz="1180" dirty="0">
                <a:hlinkClick r:id="rId25"/>
              </a:rPr>
              <a:t>What is the difference between JOSE, JWA, JWE, JWK, JWS and JWT? - Stack Overflow</a:t>
            </a:r>
            <a:endParaRPr lang="en-US" sz="1180" dirty="0"/>
          </a:p>
          <a:p>
            <a:pPr marL="12700" marR="5080"/>
            <a:r>
              <a:rPr lang="en-IN" sz="1180" dirty="0">
                <a:hlinkClick r:id="rId26"/>
              </a:rPr>
              <a:t>Jose-</a:t>
            </a:r>
            <a:r>
              <a:rPr lang="en-IN" sz="1180" dirty="0" err="1">
                <a:hlinkClick r:id="rId26"/>
              </a:rPr>
              <a:t>Jwt</a:t>
            </a:r>
            <a:endParaRPr lang="en-IN" sz="1180" dirty="0"/>
          </a:p>
          <a:p>
            <a:pPr marL="12700" marR="5080"/>
            <a:r>
              <a:rPr lang="en-IN" sz="1180" dirty="0">
                <a:hlinkClick r:id="rId27"/>
              </a:rPr>
              <a:t>PCI DSS - Azure Compliance | Microsoft Learn</a:t>
            </a:r>
            <a:endParaRPr lang="en-IN" sz="1180" dirty="0"/>
          </a:p>
          <a:p>
            <a:pPr marL="12700" marR="5080"/>
            <a:r>
              <a:rPr lang="en-IN" sz="1180" dirty="0">
                <a:hlinkClick r:id="rId28"/>
              </a:rPr>
              <a:t>PCI 3D Secure (PCI 3DS) | </a:t>
            </a:r>
            <a:r>
              <a:rPr lang="en-IN" sz="1180" dirty="0" err="1">
                <a:hlinkClick r:id="rId28"/>
              </a:rPr>
              <a:t>CompliancePoint</a:t>
            </a:r>
            <a:endParaRPr lang="en-IN" sz="1180" dirty="0"/>
          </a:p>
          <a:p>
            <a:pPr marL="12700" marR="5080"/>
            <a:r>
              <a:rPr lang="en-US" sz="1180" dirty="0">
                <a:hlinkClick r:id="rId29"/>
              </a:rPr>
              <a:t>Architecture of an AKS regulated cluster for PCI-DSS 3.2.1 - Azure Architecture Center | Microsoft Learn</a:t>
            </a:r>
            <a:r>
              <a:rPr lang="en-US" sz="1180" kern="0" spc="-80" dirty="0">
                <a:solidFill>
                  <a:schemeClr val="accent2"/>
                </a:solidFill>
              </a:rPr>
              <a:t>   </a:t>
            </a:r>
          </a:p>
        </p:txBody>
      </p:sp>
      <p:grpSp>
        <p:nvGrpSpPr>
          <p:cNvPr id="7" name="Group 6">
            <a:extLst>
              <a:ext uri="{FF2B5EF4-FFF2-40B4-BE49-F238E27FC236}">
                <a16:creationId xmlns:a16="http://schemas.microsoft.com/office/drawing/2014/main" id="{39581E08-56B8-1C8A-C3A2-56C347F8A7B1}"/>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853905AB-F182-0711-3AD2-DA6D10A6D38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C835F47-0135-DC6B-2556-C3872F1D9EF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181104012"/>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DE467-D705-6F43-BD75-5D640F27694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9E37E27-E85A-E309-A5AB-AA925AD1AA3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298397D-A216-2532-3B46-EA09BA7BDD1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66094F5-4FB2-3DE7-31F5-C76E04CF64B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C3D60DB0-5663-BB8F-F774-4D1B75B932F2}"/>
              </a:ext>
            </a:extLst>
          </p:cNvPr>
          <p:cNvSpPr txBox="1">
            <a:spLocks/>
          </p:cNvSpPr>
          <p:nvPr/>
        </p:nvSpPr>
        <p:spPr>
          <a:xfrm>
            <a:off x="76200" y="478334"/>
            <a:ext cx="8624937" cy="56938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000" kern="0" spc="-80" dirty="0">
                <a:solidFill>
                  <a:schemeClr val="accent2"/>
                </a:solidFill>
              </a:rPr>
              <a:t>For Further Exploration –</a:t>
            </a:r>
          </a:p>
          <a:p>
            <a:pPr marL="12700" marR="5080"/>
            <a:r>
              <a:rPr lang="en-IN" sz="1200" dirty="0">
                <a:hlinkClick r:id="rId3"/>
              </a:rPr>
              <a:t>Microsoft identity platform and OAuth 2.0 Resource Owner Password Credentials</a:t>
            </a:r>
            <a:endParaRPr lang="en-IN" sz="1200" dirty="0"/>
          </a:p>
          <a:p>
            <a:pPr marL="12700" marR="5080"/>
            <a:r>
              <a:rPr lang="en-US" sz="1200" dirty="0">
                <a:hlinkClick r:id="rId4"/>
              </a:rPr>
              <a:t>Azure AD vs Azure AD B2C vs Azure AD B2B - Stack Overflow</a:t>
            </a:r>
            <a:endParaRPr lang="en-US" sz="1200" dirty="0"/>
          </a:p>
          <a:p>
            <a:pPr marL="12700" marR="5080"/>
            <a:r>
              <a:rPr lang="en-IN" sz="1200" dirty="0">
                <a:hlinkClick r:id="rId5"/>
              </a:rPr>
              <a:t>Microsoft identity platform overview - Microsoft identity platform | Microsoft Learn</a:t>
            </a:r>
            <a:r>
              <a:rPr lang="en-US" sz="1200" kern="0" spc="-80" dirty="0">
                <a:solidFill>
                  <a:schemeClr val="accent2"/>
                </a:solidFill>
              </a:rPr>
              <a:t> </a:t>
            </a:r>
          </a:p>
          <a:p>
            <a:pPr marL="12700" marR="5080"/>
            <a:r>
              <a:rPr lang="en-IN" sz="1200" dirty="0">
                <a:hlinkClick r:id="rId6"/>
              </a:rPr>
              <a:t>Microsoft Security Development Lifecycle</a:t>
            </a:r>
            <a:r>
              <a:rPr lang="en-US" sz="1200" kern="0" spc="-80" dirty="0">
                <a:solidFill>
                  <a:schemeClr val="accent2"/>
                </a:solidFill>
              </a:rPr>
              <a:t> </a:t>
            </a:r>
          </a:p>
          <a:p>
            <a:pPr marL="12700" marR="5080"/>
            <a:r>
              <a:rPr lang="en-US" sz="1200" dirty="0">
                <a:hlinkClick r:id="rId7"/>
              </a:rPr>
              <a:t>New name for Azure Active Directory - Microsoft Entra | Microsoft Learn</a:t>
            </a:r>
            <a:endParaRPr lang="en-US" sz="1200" dirty="0"/>
          </a:p>
          <a:p>
            <a:pPr marL="12700" marR="5080"/>
            <a:r>
              <a:rPr lang="en-US" sz="1200" dirty="0">
                <a:hlinkClick r:id="rId8"/>
              </a:rPr>
              <a:t>Apps &amp; service principals in Microsoft Entra ID - Microsoft identity platform | Microsoft Learn</a:t>
            </a:r>
            <a:r>
              <a:rPr lang="en-US" sz="1200" kern="0" spc="-80" dirty="0">
                <a:solidFill>
                  <a:schemeClr val="accent2"/>
                </a:solidFill>
              </a:rPr>
              <a:t> </a:t>
            </a:r>
          </a:p>
          <a:p>
            <a:pPr marL="12700" marR="5080"/>
            <a:r>
              <a:rPr lang="en-US" sz="1200" dirty="0">
                <a:hlinkClick r:id="rId9"/>
              </a:rPr>
              <a:t>What's the Difference Between Azure Service Principal vs. Managed Identity? | </a:t>
            </a:r>
            <a:r>
              <a:rPr lang="en-US" sz="1200" dirty="0" err="1">
                <a:hlinkClick r:id="rId9"/>
              </a:rPr>
              <a:t>Atmosera</a:t>
            </a:r>
            <a:endParaRPr lang="en-US" sz="1200" dirty="0"/>
          </a:p>
          <a:p>
            <a:pPr marL="12700" marR="5080"/>
            <a:r>
              <a:rPr lang="en-US" sz="1200" dirty="0">
                <a:hlinkClick r:id="rId10"/>
              </a:rPr>
              <a:t>Creating Azure Service Principals or Managed Identities &amp; Granting them Access | by Cherie | Medium</a:t>
            </a:r>
            <a:endParaRPr lang="en-US" sz="1200" dirty="0"/>
          </a:p>
          <a:p>
            <a:pPr marL="12700" marR="5080"/>
            <a:r>
              <a:rPr lang="en-US" sz="1200" dirty="0">
                <a:hlinkClick r:id="rId11"/>
              </a:rPr>
              <a:t>Service to Service Auth with Azure AD, MSI &amp; OAuth 2.0 (Step by Step) | by Danny Shemesh | Medium</a:t>
            </a:r>
            <a:endParaRPr lang="en-US" sz="1200" dirty="0"/>
          </a:p>
          <a:p>
            <a:pPr marL="12700" marR="5080"/>
            <a:r>
              <a:rPr lang="en-US" sz="1200" dirty="0">
                <a:hlinkClick r:id="rId12"/>
              </a:rPr>
              <a:t>Configure an app's publisher domain - Microsoft identity platform | Microsoft Learn</a:t>
            </a:r>
            <a:r>
              <a:rPr lang="en-US" sz="1200" kern="0" spc="-80" dirty="0">
                <a:solidFill>
                  <a:schemeClr val="accent2"/>
                </a:solidFill>
              </a:rPr>
              <a:t> </a:t>
            </a:r>
          </a:p>
          <a:p>
            <a:pPr marL="12700" marR="5080"/>
            <a:r>
              <a:rPr lang="en-IN" sz="1200" dirty="0">
                <a:hlinkClick r:id="rId13"/>
              </a:rPr>
              <a:t>Password-based authentication with Microsoft Entra ID - Microsoft Entra | Microsoft Learn</a:t>
            </a:r>
            <a:r>
              <a:rPr lang="en-US" sz="1200" kern="0" spc="-80" dirty="0">
                <a:solidFill>
                  <a:schemeClr val="accent2"/>
                </a:solidFill>
              </a:rPr>
              <a:t> </a:t>
            </a:r>
          </a:p>
          <a:p>
            <a:pPr marL="12700" marR="5080"/>
            <a:r>
              <a:rPr lang="en-US" sz="1200" dirty="0">
                <a:hlinkClick r:id="rId14"/>
              </a:rPr>
              <a:t>Integrated Windows Authentication | Microsoft Learn</a:t>
            </a:r>
            <a:r>
              <a:rPr lang="en-US" sz="1200" kern="0" spc="-80" dirty="0">
                <a:solidFill>
                  <a:schemeClr val="accent2"/>
                </a:solidFill>
              </a:rPr>
              <a:t> </a:t>
            </a:r>
          </a:p>
          <a:p>
            <a:pPr marL="12700" marR="5080"/>
            <a:r>
              <a:rPr lang="en-US" sz="1200" dirty="0">
                <a:hlinkClick r:id="rId15"/>
              </a:rPr>
              <a:t>Download A Guide to Claims-Based Identity and Access Control, Second Edition</a:t>
            </a:r>
            <a:endParaRPr lang="en-US" sz="1200" kern="0" spc="-80" dirty="0">
              <a:solidFill>
                <a:schemeClr val="accent2"/>
              </a:solidFill>
            </a:endParaRPr>
          </a:p>
          <a:p>
            <a:pPr marL="12700" marR="5080"/>
            <a:r>
              <a:rPr lang="en-US" sz="1200" dirty="0">
                <a:hlinkClick r:id="rId16"/>
              </a:rPr>
              <a:t>OpenID Connect (OIDC) on the Microsoft identity platform - Microsoft identity platform | Microsoft Learn</a:t>
            </a:r>
            <a:r>
              <a:rPr lang="en-US" sz="1200" kern="0" spc="-80" dirty="0">
                <a:solidFill>
                  <a:schemeClr val="accent2"/>
                </a:solidFill>
              </a:rPr>
              <a:t> </a:t>
            </a:r>
          </a:p>
          <a:p>
            <a:pPr marL="12700" marR="5080"/>
            <a:r>
              <a:rPr lang="en-IN" sz="1200" dirty="0">
                <a:hlinkClick r:id="rId17"/>
              </a:rPr>
              <a:t>Graph Explorer | Try Microsoft Graph APIs - Microsoft Graph</a:t>
            </a:r>
            <a:r>
              <a:rPr lang="en-US" sz="1200" kern="0" spc="-80" dirty="0">
                <a:solidFill>
                  <a:schemeClr val="accent2"/>
                </a:solidFill>
              </a:rPr>
              <a:t>  </a:t>
            </a:r>
          </a:p>
          <a:p>
            <a:pPr marL="12700" marR="5080"/>
            <a:r>
              <a:rPr lang="en-IN" sz="1200" dirty="0">
                <a:hlinkClick r:id="rId18"/>
              </a:rPr>
              <a:t>MSGraph-</a:t>
            </a:r>
            <a:r>
              <a:rPr lang="en-IN" sz="1200" dirty="0" err="1">
                <a:hlinkClick r:id="rId18"/>
              </a:rPr>
              <a:t>sdk</a:t>
            </a:r>
            <a:r>
              <a:rPr lang="en-IN" sz="1200" dirty="0">
                <a:hlinkClick r:id="rId18"/>
              </a:rPr>
              <a:t>-design</a:t>
            </a:r>
            <a:endParaRPr lang="en-IN" sz="1200" dirty="0"/>
          </a:p>
          <a:p>
            <a:pPr marL="12700" marR="5080"/>
            <a:r>
              <a:rPr lang="en-US" sz="1200" dirty="0">
                <a:hlinkClick r:id="rId19"/>
              </a:rPr>
              <a:t>What is Azure Active Directory B2C? | Microsoft Learn</a:t>
            </a:r>
            <a:r>
              <a:rPr lang="en-US" sz="1200" kern="0" spc="-80" dirty="0">
                <a:solidFill>
                  <a:schemeClr val="accent2"/>
                </a:solidFill>
              </a:rPr>
              <a:t>    </a:t>
            </a:r>
          </a:p>
          <a:p>
            <a:pPr marL="12700" marR="5080"/>
            <a:r>
              <a:rPr lang="en-US" sz="1200" dirty="0">
                <a:hlinkClick r:id="rId20"/>
              </a:rPr>
              <a:t>Billing model for Azure Active Directory B2C | Microsoft Learn</a:t>
            </a:r>
            <a:r>
              <a:rPr lang="en-US" sz="1200" kern="0" spc="-80" dirty="0">
                <a:solidFill>
                  <a:schemeClr val="accent2"/>
                </a:solidFill>
              </a:rPr>
              <a:t>  </a:t>
            </a:r>
          </a:p>
          <a:p>
            <a:pPr marL="12700" marR="5080"/>
            <a:r>
              <a:rPr lang="en-US" sz="1200" dirty="0">
                <a:hlinkClick r:id="rId21"/>
              </a:rPr>
              <a:t>Manage resources with Microsoft Graph - Azure AD B2C | Microsoft Learn</a:t>
            </a:r>
            <a:r>
              <a:rPr lang="en-US" sz="1200" kern="0" spc="-80" dirty="0">
                <a:solidFill>
                  <a:schemeClr val="accent2"/>
                </a:solidFill>
              </a:rPr>
              <a:t>  </a:t>
            </a:r>
          </a:p>
          <a:p>
            <a:pPr marL="12700" marR="5080"/>
            <a:r>
              <a:rPr lang="en-US" sz="1200" dirty="0">
                <a:hlinkClick r:id="rId22"/>
              </a:rPr>
              <a:t>Enable custom domains in Azure Active Directory B2C - Azure AD B2C | Microsoft Learn</a:t>
            </a:r>
            <a:r>
              <a:rPr lang="en-US" sz="1200" kern="0" spc="-80" dirty="0">
                <a:solidFill>
                  <a:schemeClr val="accent2"/>
                </a:solidFill>
              </a:rPr>
              <a:t>  </a:t>
            </a:r>
          </a:p>
          <a:p>
            <a:pPr marL="12700" marR="5080"/>
            <a:r>
              <a:rPr lang="en-US" sz="1200" dirty="0">
                <a:hlinkClick r:id="rId23"/>
              </a:rPr>
              <a:t>Developer notes for user flows and custom policies - Azure AD B2C | Microsoft Learn</a:t>
            </a:r>
            <a:r>
              <a:rPr lang="en-US" sz="1200" kern="0" spc="-80" dirty="0">
                <a:solidFill>
                  <a:schemeClr val="accent2"/>
                </a:solidFill>
              </a:rPr>
              <a:t>   </a:t>
            </a:r>
          </a:p>
          <a:p>
            <a:pPr marL="12700" marR="5080"/>
            <a:r>
              <a:rPr lang="en-US" sz="1200" dirty="0" err="1">
                <a:hlinkClick r:id="rId24"/>
              </a:rPr>
              <a:t>TrustFrameworkPolicy</a:t>
            </a:r>
            <a:r>
              <a:rPr lang="en-US" sz="1200" dirty="0">
                <a:hlinkClick r:id="rId24"/>
              </a:rPr>
              <a:t> - Azure Active Directory B2C | Microsoft Learn</a:t>
            </a:r>
            <a:endParaRPr lang="en-US" sz="1200" dirty="0"/>
          </a:p>
          <a:p>
            <a:pPr marL="12700" marR="5080"/>
            <a:r>
              <a:rPr lang="en-US" sz="1200" dirty="0">
                <a:hlinkClick r:id="rId25"/>
              </a:rPr>
              <a:t>User migration approaches - Azure AD B2C | Microsoft Learn</a:t>
            </a:r>
            <a:endParaRPr lang="en-US" sz="1200" dirty="0"/>
          </a:p>
          <a:p>
            <a:pPr marL="12700" marR="5080"/>
            <a:r>
              <a:rPr lang="en-US" sz="1200" dirty="0">
                <a:hlinkClick r:id="rId26"/>
              </a:rPr>
              <a:t>Azure AD B2C custom policy solutions and samples.</a:t>
            </a:r>
            <a:r>
              <a:rPr lang="en-US" sz="1200" kern="0" spc="-80" dirty="0">
                <a:solidFill>
                  <a:schemeClr val="accent2"/>
                </a:solidFill>
              </a:rPr>
              <a:t>   </a:t>
            </a:r>
          </a:p>
          <a:p>
            <a:pPr marL="12700" marR="5080"/>
            <a:r>
              <a:rPr lang="en-IN" sz="1200" dirty="0">
                <a:hlinkClick r:id="rId27"/>
              </a:rPr>
              <a:t>Error code reference - Azure AD B2C | Microsoft Learn</a:t>
            </a:r>
            <a:r>
              <a:rPr lang="en-US" sz="1200" kern="0" spc="-80" dirty="0">
                <a:solidFill>
                  <a:schemeClr val="accent2"/>
                </a:solidFill>
              </a:rPr>
              <a:t>   </a:t>
            </a:r>
          </a:p>
          <a:p>
            <a:pPr marL="12700" marR="5080"/>
            <a:r>
              <a:rPr lang="en-US" sz="1200" dirty="0">
                <a:hlinkClick r:id="rId28"/>
              </a:rPr>
              <a:t>External Collaboration with Azure AD B2B Succinctly</a:t>
            </a:r>
            <a:r>
              <a:rPr lang="en-US" sz="1200" kern="0" spc="-80" dirty="0">
                <a:solidFill>
                  <a:schemeClr val="accent2"/>
                </a:solidFill>
              </a:rPr>
              <a:t> </a:t>
            </a:r>
          </a:p>
          <a:p>
            <a:pPr marL="12700" marR="5080"/>
            <a:endParaRPr lang="en-US" sz="1100" kern="0" spc="-80" dirty="0">
              <a:solidFill>
                <a:schemeClr val="accent2"/>
              </a:solidFill>
            </a:endParaRPr>
          </a:p>
        </p:txBody>
      </p:sp>
      <p:grpSp>
        <p:nvGrpSpPr>
          <p:cNvPr id="7" name="Group 6">
            <a:extLst>
              <a:ext uri="{FF2B5EF4-FFF2-40B4-BE49-F238E27FC236}">
                <a16:creationId xmlns:a16="http://schemas.microsoft.com/office/drawing/2014/main" id="{862900DF-622E-7978-348C-D30167026AC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43C156FA-8675-A409-1C04-99970A125A1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B45A8E2-01C1-634F-4833-33F3005B4F8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224206721"/>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0839B-6593-9359-F9D2-CEB2211BF08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BFFAC96-42E8-44B4-6759-7B21D35AEC8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2FF8A64-4B97-13DC-AB1B-C113EADCDD3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7EA9135-98A1-BABB-5D8C-3A005658B25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E2E81E8-1D3E-A4C6-3C34-FEBAFBB0EAE8}"/>
              </a:ext>
            </a:extLst>
          </p:cNvPr>
          <p:cNvSpPr txBox="1">
            <a:spLocks/>
          </p:cNvSpPr>
          <p:nvPr/>
        </p:nvSpPr>
        <p:spPr>
          <a:xfrm>
            <a:off x="0" y="792807"/>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OWASP Top 10</a:t>
            </a:r>
          </a:p>
          <a:p>
            <a:pPr marL="12700" marR="5080"/>
            <a:r>
              <a:rPr lang="en-US" sz="1500" kern="0" spc="-80" dirty="0">
                <a:solidFill>
                  <a:schemeClr val="accent2"/>
                </a:solidFill>
              </a:rPr>
              <a:t>What OWASP Top 10 Really Is</a:t>
            </a:r>
          </a:p>
          <a:p>
            <a:pPr marL="12700" marR="5080"/>
            <a:r>
              <a:rPr lang="en-US" sz="1500" kern="0" spc="-80" dirty="0">
                <a:solidFill>
                  <a:schemeClr val="accent6"/>
                </a:solidFill>
              </a:rPr>
              <a:t>OWASP Top 10 ≠ list of bugs</a:t>
            </a:r>
          </a:p>
          <a:p>
            <a:pPr marL="12700" marR="5080"/>
            <a:r>
              <a:rPr lang="en-US" sz="1500" kern="0" spc="-80" dirty="0">
                <a:solidFill>
                  <a:schemeClr val="accent2"/>
                </a:solidFill>
              </a:rPr>
              <a:t>It is a list of systemic failure patterns in:</a:t>
            </a:r>
          </a:p>
          <a:p>
            <a:pPr marL="12700" marR="5080"/>
            <a:r>
              <a:rPr lang="en-US" sz="1500" kern="0" spc="-80" dirty="0">
                <a:solidFill>
                  <a:schemeClr val="accent6"/>
                </a:solidFill>
              </a:rPr>
              <a:t>Authentication</a:t>
            </a:r>
          </a:p>
          <a:p>
            <a:pPr marL="12700" marR="5080"/>
            <a:r>
              <a:rPr lang="en-US" sz="1500" kern="0" spc="-80" dirty="0">
                <a:solidFill>
                  <a:schemeClr val="accent6"/>
                </a:solidFill>
              </a:rPr>
              <a:t>Authorization</a:t>
            </a:r>
          </a:p>
          <a:p>
            <a:pPr marL="12700" marR="5080"/>
            <a:r>
              <a:rPr lang="en-US" sz="1500" kern="0" spc="-80" dirty="0">
                <a:solidFill>
                  <a:schemeClr val="accent6"/>
                </a:solidFill>
              </a:rPr>
              <a:t>Input handling</a:t>
            </a:r>
          </a:p>
          <a:p>
            <a:pPr marL="12700" marR="5080"/>
            <a:r>
              <a:rPr lang="en-US" sz="1500" kern="0" spc="-80" dirty="0">
                <a:solidFill>
                  <a:schemeClr val="accent6"/>
                </a:solidFill>
              </a:rPr>
              <a:t>Trust boundaries</a:t>
            </a:r>
          </a:p>
          <a:p>
            <a:pPr marL="12700" marR="5080"/>
            <a:r>
              <a:rPr lang="en-US" sz="1500" kern="0" spc="-80" dirty="0">
                <a:solidFill>
                  <a:schemeClr val="accent6"/>
                </a:solidFill>
              </a:rPr>
              <a:t>Configuration</a:t>
            </a:r>
          </a:p>
          <a:p>
            <a:pPr marL="12700" marR="5080"/>
            <a:r>
              <a:rPr lang="en-US" sz="1500" kern="0" spc="-80" dirty="0">
                <a:solidFill>
                  <a:schemeClr val="accent6"/>
                </a:solidFill>
              </a:rPr>
              <a:t>Dependency management</a:t>
            </a:r>
          </a:p>
          <a:p>
            <a:pPr marL="12700" marR="5080"/>
            <a:r>
              <a:rPr lang="en-US" sz="1500" kern="0" spc="-80" dirty="0">
                <a:solidFill>
                  <a:schemeClr val="accent6"/>
                </a:solidFill>
              </a:rPr>
              <a:t>Observability</a:t>
            </a:r>
          </a:p>
          <a:p>
            <a:pPr marL="12700" marR="5080"/>
            <a:r>
              <a:rPr lang="en-US" sz="1500" kern="0" spc="-80" dirty="0">
                <a:solidFill>
                  <a:schemeClr val="accent6"/>
                </a:solidFill>
              </a:rPr>
              <a:t>Think of it as “how software breaks when assumptions fail.”</a:t>
            </a:r>
          </a:p>
          <a:p>
            <a:pPr marL="12700" marR="5080"/>
            <a:endParaRPr lang="en-US" sz="1500" kern="0" spc="-80" dirty="0">
              <a:solidFill>
                <a:schemeClr val="accent6"/>
              </a:solidFill>
            </a:endParaRPr>
          </a:p>
          <a:p>
            <a:pPr marL="12700" marR="5080"/>
            <a:r>
              <a:rPr lang="en-US" sz="1500" kern="0" spc="-80" dirty="0">
                <a:solidFill>
                  <a:schemeClr val="accent2"/>
                </a:solidFill>
              </a:rPr>
              <a:t>1️⃣ A01 – Broken Access Control</a:t>
            </a:r>
          </a:p>
          <a:p>
            <a:pPr marL="12700" marR="5080"/>
            <a:r>
              <a:rPr lang="en-US" sz="1500" kern="0" spc="-80" dirty="0">
                <a:solidFill>
                  <a:schemeClr val="accent2"/>
                </a:solidFill>
              </a:rPr>
              <a:t>Core Idea</a:t>
            </a:r>
          </a:p>
          <a:p>
            <a:pPr marL="12700" marR="5080"/>
            <a:r>
              <a:rPr lang="en-US" sz="1500" kern="0" spc="-80" dirty="0">
                <a:solidFill>
                  <a:schemeClr val="accent6"/>
                </a:solidFill>
              </a:rPr>
              <a:t>Users can do things they are not allowed to do</a:t>
            </a:r>
          </a:p>
          <a:p>
            <a:pPr marL="12700" marR="5080"/>
            <a:r>
              <a:rPr lang="en-US" sz="1500" kern="0" spc="-80" dirty="0">
                <a:solidFill>
                  <a:schemeClr val="accent6"/>
                </a:solidFill>
              </a:rPr>
              <a:t>This is the #1 real-world breach cause.</a:t>
            </a:r>
          </a:p>
          <a:p>
            <a:pPr marL="12700" marR="5080"/>
            <a:r>
              <a:rPr lang="en-US" sz="1500" kern="0" spc="-80" dirty="0">
                <a:solidFill>
                  <a:schemeClr val="accent2"/>
                </a:solidFill>
              </a:rPr>
              <a:t>Intuition</a:t>
            </a:r>
          </a:p>
          <a:p>
            <a:pPr marL="12700" marR="5080"/>
            <a:r>
              <a:rPr lang="en-US" sz="1500" kern="0" spc="-80" dirty="0">
                <a:solidFill>
                  <a:schemeClr val="accent6"/>
                </a:solidFill>
              </a:rPr>
              <a:t>Your system answers:</a:t>
            </a:r>
          </a:p>
          <a:p>
            <a:pPr marL="12700" marR="5080"/>
            <a:r>
              <a:rPr lang="en-US" sz="1500" kern="0" spc="-80" dirty="0">
                <a:solidFill>
                  <a:schemeClr val="accent6"/>
                </a:solidFill>
              </a:rPr>
              <a:t>“Are you logged in?”</a:t>
            </a:r>
          </a:p>
        </p:txBody>
      </p:sp>
      <p:grpSp>
        <p:nvGrpSpPr>
          <p:cNvPr id="7" name="Group 6">
            <a:extLst>
              <a:ext uri="{FF2B5EF4-FFF2-40B4-BE49-F238E27FC236}">
                <a16:creationId xmlns:a16="http://schemas.microsoft.com/office/drawing/2014/main" id="{328FED28-7EB9-FE56-61B5-2A4CCBEDEC0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F5FE099-A907-49F5-2EDD-6E1184295B4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20B89C4-64E3-10ED-2256-E9AD87DD646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4895795"/>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71F22-763D-4BD4-F8D5-A3DE7D1DC0C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0F785E9-A86B-AA5A-9033-776CD1A1366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95E5363-14CA-7D85-4D08-F2D692064C0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E7A02D9-3113-1290-2DC1-56A76DE8A10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344C8D9-CA39-F051-F371-93A759517EFC}"/>
              </a:ext>
            </a:extLst>
          </p:cNvPr>
          <p:cNvSpPr txBox="1">
            <a:spLocks/>
          </p:cNvSpPr>
          <p:nvPr/>
        </p:nvSpPr>
        <p:spPr>
          <a:xfrm>
            <a:off x="76200" y="71884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OWASP Top 10</a:t>
            </a:r>
          </a:p>
          <a:p>
            <a:pPr marL="12700" marR="5080"/>
            <a:r>
              <a:rPr lang="en-US" sz="1500" kern="0" spc="-80" dirty="0">
                <a:solidFill>
                  <a:schemeClr val="accent2"/>
                </a:solidFill>
              </a:rPr>
              <a:t>1️⃣ A01 – Broken Access Control</a:t>
            </a:r>
          </a:p>
          <a:p>
            <a:pPr marL="12700" marR="5080"/>
            <a:r>
              <a:rPr lang="en-US" sz="1500" kern="0" spc="-80" dirty="0">
                <a:solidFill>
                  <a:schemeClr val="accent2"/>
                </a:solidFill>
              </a:rPr>
              <a:t>But forgets to ask:</a:t>
            </a:r>
          </a:p>
          <a:p>
            <a:pPr marL="12700" marR="5080"/>
            <a:r>
              <a:rPr lang="en-US" sz="1500" kern="0" spc="-80" dirty="0">
                <a:solidFill>
                  <a:schemeClr val="accent6"/>
                </a:solidFill>
              </a:rPr>
              <a:t>“Are you allowed to do this?”</a:t>
            </a:r>
          </a:p>
          <a:p>
            <a:pPr marL="12700" marR="5080"/>
            <a:r>
              <a:rPr lang="en-US" sz="1500" kern="0" spc="-80" dirty="0">
                <a:solidFill>
                  <a:schemeClr val="accent2"/>
                </a:solidFill>
              </a:rPr>
              <a:t>Common Patterns</a:t>
            </a:r>
          </a:p>
          <a:p>
            <a:pPr marL="12700" marR="5080"/>
            <a:r>
              <a:rPr lang="en-US" sz="1500" kern="0" spc="-80" dirty="0">
                <a:solidFill>
                  <a:schemeClr val="accent6"/>
                </a:solidFill>
              </a:rPr>
              <a:t>Missing authorization checks</a:t>
            </a:r>
          </a:p>
          <a:p>
            <a:pPr marL="12700" marR="5080"/>
            <a:r>
              <a:rPr lang="en-US" sz="1500" kern="0" spc="-80" dirty="0">
                <a:solidFill>
                  <a:schemeClr val="accent6"/>
                </a:solidFill>
              </a:rPr>
              <a:t>Client-side enforced permissions</a:t>
            </a:r>
          </a:p>
          <a:p>
            <a:pPr marL="12700" marR="5080"/>
            <a:r>
              <a:rPr lang="en-US" sz="1500" kern="0" spc="-80" dirty="0">
                <a:solidFill>
                  <a:schemeClr val="accent6"/>
                </a:solidFill>
              </a:rPr>
              <a:t>Insecure Direct Object References (IDOR)</a:t>
            </a:r>
          </a:p>
          <a:p>
            <a:pPr marL="12700" marR="5080"/>
            <a:r>
              <a:rPr lang="en-US" sz="1500" kern="0" spc="-80" dirty="0">
                <a:solidFill>
                  <a:schemeClr val="accent6"/>
                </a:solidFill>
              </a:rPr>
              <a:t>Mass assignment (PATCH /user { "role": "admin" })</a:t>
            </a:r>
          </a:p>
          <a:p>
            <a:pPr marL="12700" marR="5080"/>
            <a:r>
              <a:rPr lang="en-US" sz="1500" kern="0" spc="-80" dirty="0">
                <a:solidFill>
                  <a:schemeClr val="accent6"/>
                </a:solidFill>
              </a:rPr>
              <a:t>URL manipulation (/admin, /user/1234)</a:t>
            </a:r>
          </a:p>
          <a:p>
            <a:pPr marL="12700" marR="5080"/>
            <a:r>
              <a:rPr lang="en-US" sz="1500" kern="0" spc="-80" dirty="0">
                <a:solidFill>
                  <a:schemeClr val="accent2"/>
                </a:solidFill>
              </a:rPr>
              <a:t>Attack Example</a:t>
            </a:r>
          </a:p>
          <a:p>
            <a:pPr marL="12700" marR="5080"/>
            <a:r>
              <a:rPr lang="en-US" sz="1500" kern="0" spc="-80" dirty="0">
                <a:solidFill>
                  <a:schemeClr val="accent6"/>
                </a:solidFill>
              </a:rPr>
              <a:t>GET /</a:t>
            </a:r>
            <a:r>
              <a:rPr lang="en-US" sz="1500" kern="0" spc="-80" dirty="0" err="1">
                <a:solidFill>
                  <a:schemeClr val="accent6"/>
                </a:solidFill>
              </a:rPr>
              <a:t>api</a:t>
            </a:r>
            <a:r>
              <a:rPr lang="en-US" sz="1500" kern="0" spc="-80" dirty="0">
                <a:solidFill>
                  <a:schemeClr val="accent6"/>
                </a:solidFill>
              </a:rPr>
              <a:t>/orders/9876</a:t>
            </a:r>
          </a:p>
          <a:p>
            <a:pPr marL="12700" marR="5080"/>
            <a:r>
              <a:rPr lang="en-US" sz="1500" kern="0" spc="-80" dirty="0">
                <a:solidFill>
                  <a:schemeClr val="accent6"/>
                </a:solidFill>
              </a:rPr>
              <a:t>User changes:</a:t>
            </a:r>
          </a:p>
          <a:p>
            <a:pPr marL="12700" marR="5080"/>
            <a:r>
              <a:rPr lang="en-US" sz="1500" kern="0" spc="-80" dirty="0">
                <a:solidFill>
                  <a:schemeClr val="accent6"/>
                </a:solidFill>
              </a:rPr>
              <a:t>GET /</a:t>
            </a:r>
            <a:r>
              <a:rPr lang="en-US" sz="1500" kern="0" spc="-80" dirty="0" err="1">
                <a:solidFill>
                  <a:schemeClr val="accent6"/>
                </a:solidFill>
              </a:rPr>
              <a:t>api</a:t>
            </a:r>
            <a:r>
              <a:rPr lang="en-US" sz="1500" kern="0" spc="-80" dirty="0">
                <a:solidFill>
                  <a:schemeClr val="accent6"/>
                </a:solidFill>
              </a:rPr>
              <a:t>/orders/9877</a:t>
            </a:r>
          </a:p>
          <a:p>
            <a:pPr marL="12700" marR="5080"/>
            <a:r>
              <a:rPr lang="en-US" sz="1500" kern="0" spc="-80" dirty="0">
                <a:solidFill>
                  <a:schemeClr val="accent6"/>
                </a:solidFill>
              </a:rPr>
              <a:t>→ gets someone else’s order</a:t>
            </a:r>
          </a:p>
          <a:p>
            <a:pPr marL="12700" marR="5080"/>
            <a:r>
              <a:rPr lang="en-US" sz="1500" kern="0" spc="-80" dirty="0">
                <a:solidFill>
                  <a:schemeClr val="accent2"/>
                </a:solidFill>
              </a:rPr>
              <a:t>Why It Happens</a:t>
            </a:r>
          </a:p>
          <a:p>
            <a:pPr marL="12700" marR="5080"/>
            <a:r>
              <a:rPr lang="en-US" sz="1500" kern="0" spc="-80" dirty="0">
                <a:solidFill>
                  <a:schemeClr val="accent6"/>
                </a:solidFill>
              </a:rPr>
              <a:t>Devs assume frontend hides forbidden actions</a:t>
            </a:r>
          </a:p>
          <a:p>
            <a:pPr marL="12700" marR="5080"/>
            <a:r>
              <a:rPr lang="en-US" sz="1500" kern="0" spc="-80" dirty="0">
                <a:solidFill>
                  <a:schemeClr val="accent6"/>
                </a:solidFill>
              </a:rPr>
              <a:t>Authorization logic scattered across code</a:t>
            </a:r>
          </a:p>
          <a:p>
            <a:pPr marL="12700" marR="5080"/>
            <a:r>
              <a:rPr lang="en-US" sz="1500" kern="0" spc="-80" dirty="0">
                <a:solidFill>
                  <a:schemeClr val="accent6"/>
                </a:solidFill>
              </a:rPr>
              <a:t>Role checks instead of resource ownership checks</a:t>
            </a:r>
          </a:p>
        </p:txBody>
      </p:sp>
      <p:grpSp>
        <p:nvGrpSpPr>
          <p:cNvPr id="7" name="Group 6">
            <a:extLst>
              <a:ext uri="{FF2B5EF4-FFF2-40B4-BE49-F238E27FC236}">
                <a16:creationId xmlns:a16="http://schemas.microsoft.com/office/drawing/2014/main" id="{926F1045-0CA8-B4E6-4F80-F55C417F99C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9E606DC4-4688-DE54-74D0-B8A190775D9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C17E7F9-C688-7A26-FEEA-53786B18ECF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675481155"/>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BD58C-E396-925D-060E-8BF784CE564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92B5556-0917-9C35-1286-4FC6AF8FB3DB}"/>
              </a:ext>
            </a:extLst>
          </p:cNvPr>
          <p:cNvSpPr/>
          <p:nvPr/>
        </p:nvSpPr>
        <p:spPr>
          <a:xfrm>
            <a:off x="1756803" y="648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0DCAA7D-0188-5958-9ED5-056462992C9E}"/>
              </a:ext>
            </a:extLst>
          </p:cNvPr>
          <p:cNvSpPr/>
          <p:nvPr/>
        </p:nvSpPr>
        <p:spPr>
          <a:xfrm>
            <a:off x="1756803" y="4959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5F30579-3558-C42B-9840-A063968D5C9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FE8693C-3ECC-CB86-90CA-F985505CA97E}"/>
              </a:ext>
            </a:extLst>
          </p:cNvPr>
          <p:cNvSpPr txBox="1">
            <a:spLocks/>
          </p:cNvSpPr>
          <p:nvPr/>
        </p:nvSpPr>
        <p:spPr>
          <a:xfrm>
            <a:off x="0" y="866775"/>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OWASP Top 10</a:t>
            </a:r>
          </a:p>
          <a:p>
            <a:pPr marL="12700" marR="5080"/>
            <a:r>
              <a:rPr lang="en-US" sz="1500" kern="0" spc="-80" dirty="0">
                <a:solidFill>
                  <a:schemeClr val="accent2"/>
                </a:solidFill>
              </a:rPr>
              <a:t>1️⃣ A01 – Broken Access Control</a:t>
            </a:r>
          </a:p>
          <a:p>
            <a:pPr marL="12700" marR="5080"/>
            <a:r>
              <a:rPr lang="en-US" sz="1500" kern="0" spc="-80" dirty="0">
                <a:solidFill>
                  <a:schemeClr val="accent2"/>
                </a:solidFill>
              </a:rPr>
              <a:t>Prevention Patterns</a:t>
            </a:r>
          </a:p>
          <a:p>
            <a:pPr marL="12700" marR="5080"/>
            <a:r>
              <a:rPr lang="en-US" sz="1500" kern="0" spc="-80" dirty="0">
                <a:solidFill>
                  <a:schemeClr val="accent6"/>
                </a:solidFill>
              </a:rPr>
              <a:t>Deny by default</a:t>
            </a:r>
          </a:p>
          <a:p>
            <a:pPr marL="12700" marR="5080"/>
            <a:r>
              <a:rPr lang="en-US" sz="1500" kern="0" spc="-80" dirty="0">
                <a:solidFill>
                  <a:schemeClr val="accent6"/>
                </a:solidFill>
              </a:rPr>
              <a:t>Centralized authorization middleware</a:t>
            </a:r>
          </a:p>
          <a:p>
            <a:pPr marL="12700" marR="5080"/>
            <a:r>
              <a:rPr lang="en-US" sz="1500" kern="0" spc="-80" dirty="0">
                <a:solidFill>
                  <a:schemeClr val="accent6"/>
                </a:solidFill>
              </a:rPr>
              <a:t>Attribute-Based Access Control (ABAC)</a:t>
            </a:r>
          </a:p>
          <a:p>
            <a:pPr marL="12700" marR="5080"/>
            <a:r>
              <a:rPr lang="en-US" sz="1500" kern="0" spc="-80" dirty="0">
                <a:solidFill>
                  <a:schemeClr val="accent6"/>
                </a:solidFill>
              </a:rPr>
              <a:t>Policy engines (OPA, Cedar)</a:t>
            </a:r>
          </a:p>
          <a:p>
            <a:pPr marL="12700" marR="5080"/>
            <a:r>
              <a:rPr lang="en-US" sz="1500" kern="0" spc="-80" dirty="0">
                <a:solidFill>
                  <a:schemeClr val="accent6"/>
                </a:solidFill>
              </a:rPr>
              <a:t>Ownership checks at DB level</a:t>
            </a:r>
          </a:p>
          <a:p>
            <a:pPr marL="12700" marR="5080"/>
            <a:endParaRPr lang="en-US" sz="1500" kern="0" spc="-80" dirty="0">
              <a:solidFill>
                <a:schemeClr val="accent6"/>
              </a:solidFill>
            </a:endParaRPr>
          </a:p>
          <a:p>
            <a:pPr marL="12700" marR="5080"/>
            <a:r>
              <a:rPr lang="en-US" sz="1500" kern="0" spc="-80" dirty="0">
                <a:solidFill>
                  <a:schemeClr val="accent2"/>
                </a:solidFill>
              </a:rPr>
              <a:t>2️⃣ A02 – Cryptographic Failures</a:t>
            </a:r>
          </a:p>
          <a:p>
            <a:pPr marL="12700" marR="5080"/>
            <a:r>
              <a:rPr lang="en-US" sz="1500" kern="0" spc="-80" dirty="0">
                <a:solidFill>
                  <a:schemeClr val="accent2"/>
                </a:solidFill>
              </a:rPr>
              <a:t>Core Idea</a:t>
            </a:r>
          </a:p>
          <a:p>
            <a:pPr marL="12700" marR="5080"/>
            <a:r>
              <a:rPr lang="en-US" sz="1500" kern="0" spc="-80" dirty="0">
                <a:solidFill>
                  <a:schemeClr val="accent6"/>
                </a:solidFill>
              </a:rPr>
              <a:t>Sensitive data is exposed due to weak or missing crypto</a:t>
            </a:r>
          </a:p>
          <a:p>
            <a:pPr marL="12700" marR="5080"/>
            <a:r>
              <a:rPr lang="en-US" sz="1500" kern="0" spc="-80" dirty="0">
                <a:solidFill>
                  <a:schemeClr val="accent2"/>
                </a:solidFill>
              </a:rPr>
              <a:t>Intuition</a:t>
            </a:r>
          </a:p>
          <a:p>
            <a:pPr marL="12700" marR="5080"/>
            <a:r>
              <a:rPr lang="en-US" sz="1500" kern="0" spc="-80" dirty="0">
                <a:solidFill>
                  <a:schemeClr val="accent6"/>
                </a:solidFill>
              </a:rPr>
              <a:t>It’s not “encryption missing” — it’s encryption misused.</a:t>
            </a:r>
          </a:p>
          <a:p>
            <a:pPr marL="12700" marR="5080"/>
            <a:r>
              <a:rPr lang="en-US" sz="1500" kern="0" spc="-80" dirty="0">
                <a:solidFill>
                  <a:schemeClr val="accent2"/>
                </a:solidFill>
              </a:rPr>
              <a:t>Common Failures</a:t>
            </a:r>
          </a:p>
          <a:p>
            <a:pPr marL="12700" marR="5080"/>
            <a:r>
              <a:rPr lang="en-US" sz="1500" kern="0" spc="-80" dirty="0">
                <a:solidFill>
                  <a:schemeClr val="accent6"/>
                </a:solidFill>
              </a:rPr>
              <a:t>Plaintext passwords</a:t>
            </a:r>
          </a:p>
          <a:p>
            <a:pPr marL="12700" marR="5080"/>
            <a:r>
              <a:rPr lang="en-US" sz="1500" kern="0" spc="-80" dirty="0">
                <a:solidFill>
                  <a:schemeClr val="accent6"/>
                </a:solidFill>
              </a:rPr>
              <a:t>Weak hashing (MD5, SHA1)</a:t>
            </a:r>
          </a:p>
          <a:p>
            <a:pPr marL="12700" marR="5080"/>
            <a:r>
              <a:rPr lang="en-US" sz="1500" kern="0" spc="-80" dirty="0">
                <a:solidFill>
                  <a:schemeClr val="accent6"/>
                </a:solidFill>
              </a:rPr>
              <a:t>No salt</a:t>
            </a:r>
          </a:p>
          <a:p>
            <a:pPr marL="12700" marR="5080"/>
            <a:r>
              <a:rPr lang="en-US" sz="1500" kern="0" spc="-80" dirty="0">
                <a:solidFill>
                  <a:schemeClr val="accent6"/>
                </a:solidFill>
              </a:rPr>
              <a:t>Hardcoded keys</a:t>
            </a:r>
          </a:p>
          <a:p>
            <a:pPr marL="12700" marR="5080"/>
            <a:r>
              <a:rPr lang="en-US" sz="1500" kern="0" spc="-80" dirty="0">
                <a:solidFill>
                  <a:schemeClr val="accent6"/>
                </a:solidFill>
              </a:rPr>
              <a:t>TLS misconfigurations</a:t>
            </a:r>
          </a:p>
          <a:p>
            <a:pPr marL="12700" marR="5080"/>
            <a:r>
              <a:rPr lang="en-US" sz="1500" kern="0" spc="-80" dirty="0">
                <a:solidFill>
                  <a:schemeClr val="accent6"/>
                </a:solidFill>
              </a:rPr>
              <a:t>Encrypting data but leaking keys</a:t>
            </a:r>
          </a:p>
        </p:txBody>
      </p:sp>
      <p:grpSp>
        <p:nvGrpSpPr>
          <p:cNvPr id="7" name="Group 6">
            <a:extLst>
              <a:ext uri="{FF2B5EF4-FFF2-40B4-BE49-F238E27FC236}">
                <a16:creationId xmlns:a16="http://schemas.microsoft.com/office/drawing/2014/main" id="{6ED9BF4B-56EA-C075-D72E-5F137233350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969D954-7FDD-DDDE-C960-E523F7073AA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4CB28BF-B1BF-F07C-411B-4214FB49FFB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642785504"/>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89D2D-C7F3-8072-E294-1E4EDF67EA3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0A374F4-2316-9C7E-C1B5-87EBC39CA79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A250B14-8357-6981-D7CA-57FDEBE33E9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2140E2B-A248-9D37-7EB0-6DB1AD07B43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99A6247-96F8-F2A8-4F07-AE696AFBEF17}"/>
              </a:ext>
            </a:extLst>
          </p:cNvPr>
          <p:cNvSpPr txBox="1">
            <a:spLocks/>
          </p:cNvSpPr>
          <p:nvPr/>
        </p:nvSpPr>
        <p:spPr>
          <a:xfrm>
            <a:off x="76200" y="788343"/>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OWASP Top 10</a:t>
            </a:r>
          </a:p>
          <a:p>
            <a:pPr marL="12700" marR="5080"/>
            <a:r>
              <a:rPr lang="en-US" sz="1500" kern="0" spc="-80" dirty="0">
                <a:solidFill>
                  <a:schemeClr val="accent2"/>
                </a:solidFill>
              </a:rPr>
              <a:t>2️⃣ A02 – Cryptographic Failures</a:t>
            </a:r>
          </a:p>
          <a:p>
            <a:pPr marL="12700" marR="5080"/>
            <a:r>
              <a:rPr lang="en-US" sz="1500" kern="0" spc="-80" dirty="0">
                <a:solidFill>
                  <a:schemeClr val="accent2"/>
                </a:solidFill>
              </a:rPr>
              <a:t>Attack Example</a:t>
            </a:r>
          </a:p>
          <a:p>
            <a:pPr marL="12700" marR="5080"/>
            <a:r>
              <a:rPr lang="en-US" sz="1500" kern="0" spc="-80" dirty="0">
                <a:solidFill>
                  <a:schemeClr val="accent6"/>
                </a:solidFill>
              </a:rPr>
              <a:t>Database breach → passwords cracked offline</a:t>
            </a:r>
          </a:p>
          <a:p>
            <a:pPr marL="12700" marR="5080"/>
            <a:r>
              <a:rPr lang="en-US" sz="1500" kern="0" spc="-80" dirty="0">
                <a:solidFill>
                  <a:schemeClr val="accent6"/>
                </a:solidFill>
              </a:rPr>
              <a:t>MITM attack due to weak TLS</a:t>
            </a:r>
          </a:p>
          <a:p>
            <a:pPr marL="12700" marR="5080"/>
            <a:r>
              <a:rPr lang="en-US" sz="1500" kern="0" spc="-80" dirty="0">
                <a:solidFill>
                  <a:schemeClr val="accent2"/>
                </a:solidFill>
              </a:rPr>
              <a:t>Correct Patterns</a:t>
            </a:r>
          </a:p>
          <a:p>
            <a:pPr marL="12700" marR="5080"/>
            <a:r>
              <a:rPr lang="en-US" sz="1500" kern="0" spc="-80" dirty="0">
                <a:solidFill>
                  <a:schemeClr val="accent6"/>
                </a:solidFill>
              </a:rPr>
              <a:t>Passwords → </a:t>
            </a:r>
            <a:r>
              <a:rPr lang="en-US" sz="1500" kern="0" spc="-80" dirty="0" err="1">
                <a:solidFill>
                  <a:schemeClr val="accent6"/>
                </a:solidFill>
              </a:rPr>
              <a:t>bcrypt</a:t>
            </a:r>
            <a:r>
              <a:rPr lang="en-US" sz="1500" kern="0" spc="-80" dirty="0">
                <a:solidFill>
                  <a:schemeClr val="accent6"/>
                </a:solidFill>
              </a:rPr>
              <a:t> / Argon2</a:t>
            </a:r>
          </a:p>
          <a:p>
            <a:pPr marL="12700" marR="5080"/>
            <a:r>
              <a:rPr lang="en-US" sz="1500" kern="0" spc="-80" dirty="0">
                <a:solidFill>
                  <a:schemeClr val="accent6"/>
                </a:solidFill>
              </a:rPr>
              <a:t>Keys → Vault / KMS</a:t>
            </a:r>
          </a:p>
          <a:p>
            <a:pPr marL="12700" marR="5080"/>
            <a:r>
              <a:rPr lang="en-US" sz="1500" kern="0" spc="-80" dirty="0">
                <a:solidFill>
                  <a:schemeClr val="accent6"/>
                </a:solidFill>
              </a:rPr>
              <a:t>TLS everywhere</a:t>
            </a:r>
          </a:p>
          <a:p>
            <a:pPr marL="12700" marR="5080"/>
            <a:r>
              <a:rPr lang="en-US" sz="1500" kern="0" spc="-80" dirty="0">
                <a:solidFill>
                  <a:schemeClr val="accent6"/>
                </a:solidFill>
              </a:rPr>
              <a:t>Encrypt data at rest + in transit</a:t>
            </a:r>
          </a:p>
          <a:p>
            <a:pPr marL="12700" marR="5080"/>
            <a:r>
              <a:rPr lang="en-US" sz="1500" kern="0" spc="-80" dirty="0">
                <a:solidFill>
                  <a:schemeClr val="accent6"/>
                </a:solidFill>
              </a:rPr>
              <a:t>Rotate secrets</a:t>
            </a:r>
          </a:p>
          <a:p>
            <a:pPr marL="12700" marR="5080"/>
            <a:r>
              <a:rPr lang="en-US" sz="1500" kern="0" spc="-80" dirty="0">
                <a:solidFill>
                  <a:schemeClr val="accent2"/>
                </a:solidFill>
              </a:rPr>
              <a:t>Rule of Thumb</a:t>
            </a:r>
          </a:p>
          <a:p>
            <a:pPr marL="12700" marR="5080"/>
            <a:r>
              <a:rPr lang="en-US" sz="1500" kern="0" spc="-80" dirty="0">
                <a:solidFill>
                  <a:schemeClr val="accent6"/>
                </a:solidFill>
              </a:rPr>
              <a:t>Never invent crypto. Use proven libraries.</a:t>
            </a:r>
          </a:p>
          <a:p>
            <a:pPr marL="12700" marR="5080"/>
            <a:endParaRPr lang="en-US" sz="1500" kern="0" spc="-80" dirty="0">
              <a:solidFill>
                <a:schemeClr val="accent6"/>
              </a:solidFill>
            </a:endParaRPr>
          </a:p>
          <a:p>
            <a:pPr marL="12700" marR="5080"/>
            <a:r>
              <a:rPr lang="en-US" sz="1500" kern="0" spc="-80" dirty="0">
                <a:solidFill>
                  <a:schemeClr val="accent2"/>
                </a:solidFill>
              </a:rPr>
              <a:t>3️⃣ A03 – Injection</a:t>
            </a:r>
          </a:p>
          <a:p>
            <a:pPr marL="12700" marR="5080"/>
            <a:r>
              <a:rPr lang="en-US" sz="1500" kern="0" spc="-80" dirty="0">
                <a:solidFill>
                  <a:schemeClr val="accent2"/>
                </a:solidFill>
              </a:rPr>
              <a:t>Core Idea</a:t>
            </a:r>
          </a:p>
          <a:p>
            <a:pPr marL="12700" marR="5080"/>
            <a:r>
              <a:rPr lang="en-US" sz="1500" kern="0" spc="-80" dirty="0">
                <a:solidFill>
                  <a:schemeClr val="accent6"/>
                </a:solidFill>
              </a:rPr>
              <a:t>Untrusted input becomes executable code</a:t>
            </a:r>
          </a:p>
          <a:p>
            <a:pPr marL="12700" marR="5080"/>
            <a:r>
              <a:rPr lang="en-US" sz="1500" kern="0" spc="-80" dirty="0">
                <a:solidFill>
                  <a:schemeClr val="accent2"/>
                </a:solidFill>
              </a:rPr>
              <a:t>Intuition</a:t>
            </a:r>
          </a:p>
          <a:p>
            <a:pPr marL="12700" marR="5080"/>
            <a:r>
              <a:rPr lang="en-US" sz="1500" kern="0" spc="-80" dirty="0">
                <a:solidFill>
                  <a:schemeClr val="accent6"/>
                </a:solidFill>
              </a:rPr>
              <a:t>Your system thinks:</a:t>
            </a:r>
          </a:p>
          <a:p>
            <a:pPr marL="12700" marR="5080"/>
            <a:r>
              <a:rPr lang="en-US" sz="1500" kern="0" spc="-80" dirty="0">
                <a:solidFill>
                  <a:schemeClr val="accent6"/>
                </a:solidFill>
              </a:rPr>
              <a:t>“This is data”</a:t>
            </a:r>
          </a:p>
          <a:p>
            <a:pPr marL="12700" marR="5080"/>
            <a:r>
              <a:rPr lang="en-US" sz="1500" kern="0" spc="-80" dirty="0">
                <a:solidFill>
                  <a:schemeClr val="accent6"/>
                </a:solidFill>
              </a:rPr>
              <a:t>The database thinks:</a:t>
            </a:r>
          </a:p>
          <a:p>
            <a:pPr marL="12700" marR="5080"/>
            <a:r>
              <a:rPr lang="en-US" sz="1500" kern="0" spc="-80" dirty="0">
                <a:solidFill>
                  <a:schemeClr val="accent6"/>
                </a:solidFill>
              </a:rPr>
              <a:t>“This is code”</a:t>
            </a:r>
          </a:p>
        </p:txBody>
      </p:sp>
      <p:grpSp>
        <p:nvGrpSpPr>
          <p:cNvPr id="7" name="Group 6">
            <a:extLst>
              <a:ext uri="{FF2B5EF4-FFF2-40B4-BE49-F238E27FC236}">
                <a16:creationId xmlns:a16="http://schemas.microsoft.com/office/drawing/2014/main" id="{5AA64877-E8BB-A2BF-E05A-829473C900B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CCF7183-CDD8-8814-54C0-0AB56789ACA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C6ED9F9D-3095-6286-A650-0F412D8CA53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682744594"/>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FDC97-A990-52F4-F298-E588ED20195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2DBC7EB-7912-8E86-4BC3-449B965EA2E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8A94C81-1DC4-F7B6-6A2F-B603B267CCC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0F972A0-136B-E0C4-55FD-B77D074A09F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E1A7E56-1DA3-CB77-6496-56BA50738DBF}"/>
              </a:ext>
            </a:extLst>
          </p:cNvPr>
          <p:cNvSpPr txBox="1">
            <a:spLocks/>
          </p:cNvSpPr>
          <p:nvPr/>
        </p:nvSpPr>
        <p:spPr>
          <a:xfrm>
            <a:off x="0" y="71884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OWASP Top 10</a:t>
            </a:r>
          </a:p>
          <a:p>
            <a:pPr marL="12700" marR="5080"/>
            <a:r>
              <a:rPr lang="en-US" sz="1500" kern="0" spc="-80" dirty="0">
                <a:solidFill>
                  <a:schemeClr val="accent2"/>
                </a:solidFill>
              </a:rPr>
              <a:t>3️⃣ A03 – Injection</a:t>
            </a:r>
          </a:p>
          <a:p>
            <a:pPr marL="12700" marR="5080"/>
            <a:r>
              <a:rPr lang="en-US" sz="1500" kern="0" spc="-80" dirty="0">
                <a:solidFill>
                  <a:schemeClr val="accent2"/>
                </a:solidFill>
              </a:rPr>
              <a:t>Types</a:t>
            </a:r>
          </a:p>
          <a:p>
            <a:pPr marL="12700" marR="5080"/>
            <a:r>
              <a:rPr lang="en-US" sz="1500" kern="0" spc="-80" dirty="0">
                <a:solidFill>
                  <a:schemeClr val="accent6"/>
                </a:solidFill>
              </a:rPr>
              <a:t>SQL Injection</a:t>
            </a:r>
          </a:p>
          <a:p>
            <a:pPr marL="12700" marR="5080"/>
            <a:r>
              <a:rPr lang="en-US" sz="1500" kern="0" spc="-80" dirty="0">
                <a:solidFill>
                  <a:schemeClr val="accent6"/>
                </a:solidFill>
              </a:rPr>
              <a:t>NoSQL Injection</a:t>
            </a:r>
          </a:p>
          <a:p>
            <a:pPr marL="12700" marR="5080"/>
            <a:r>
              <a:rPr lang="en-US" sz="1500" kern="0" spc="-80" dirty="0">
                <a:solidFill>
                  <a:schemeClr val="accent6"/>
                </a:solidFill>
              </a:rPr>
              <a:t>OS Command Injection</a:t>
            </a:r>
          </a:p>
          <a:p>
            <a:pPr marL="12700" marR="5080"/>
            <a:r>
              <a:rPr lang="en-US" sz="1500" kern="0" spc="-80" dirty="0">
                <a:solidFill>
                  <a:schemeClr val="accent6"/>
                </a:solidFill>
              </a:rPr>
              <a:t>LDAP Injection</a:t>
            </a:r>
          </a:p>
          <a:p>
            <a:pPr marL="12700" marR="5080"/>
            <a:r>
              <a:rPr lang="en-US" sz="1500" kern="0" spc="-80" dirty="0">
                <a:solidFill>
                  <a:schemeClr val="accent6"/>
                </a:solidFill>
              </a:rPr>
              <a:t>Expression Language Injection</a:t>
            </a:r>
          </a:p>
          <a:p>
            <a:pPr marL="12700" marR="5080"/>
            <a:r>
              <a:rPr lang="en-US" sz="1500" kern="0" spc="-80" dirty="0">
                <a:solidFill>
                  <a:schemeClr val="accent2"/>
                </a:solidFill>
              </a:rPr>
              <a:t>Example</a:t>
            </a:r>
          </a:p>
          <a:p>
            <a:pPr marL="12700" marR="5080"/>
            <a:r>
              <a:rPr lang="en-US" sz="1500" kern="0" spc="-80" dirty="0">
                <a:solidFill>
                  <a:schemeClr val="accent6"/>
                </a:solidFill>
              </a:rPr>
              <a:t>SELECT * FROM users WHERE name = 'admin' --'</a:t>
            </a:r>
          </a:p>
          <a:p>
            <a:pPr marL="12700" marR="5080"/>
            <a:r>
              <a:rPr lang="en-US" sz="1500" kern="0" spc="-80" dirty="0">
                <a:solidFill>
                  <a:schemeClr val="accent2"/>
                </a:solidFill>
              </a:rPr>
              <a:t>Root Cause</a:t>
            </a:r>
          </a:p>
          <a:p>
            <a:pPr marL="12700" marR="5080"/>
            <a:r>
              <a:rPr lang="en-US" sz="1500" kern="0" spc="-80" dirty="0">
                <a:solidFill>
                  <a:schemeClr val="accent6"/>
                </a:solidFill>
              </a:rPr>
              <a:t>String concatenation</a:t>
            </a:r>
          </a:p>
          <a:p>
            <a:pPr marL="12700" marR="5080"/>
            <a:r>
              <a:rPr lang="en-US" sz="1500" kern="0" spc="-80" dirty="0">
                <a:solidFill>
                  <a:schemeClr val="accent6"/>
                </a:solidFill>
              </a:rPr>
              <a:t>Dynamic query building</a:t>
            </a:r>
          </a:p>
          <a:p>
            <a:pPr marL="12700" marR="5080"/>
            <a:r>
              <a:rPr lang="en-US" sz="1500" kern="0" spc="-80" dirty="0">
                <a:solidFill>
                  <a:schemeClr val="accent6"/>
                </a:solidFill>
              </a:rPr>
              <a:t>Lack of parameterization</a:t>
            </a:r>
          </a:p>
          <a:p>
            <a:pPr marL="12700" marR="5080"/>
            <a:r>
              <a:rPr lang="en-US" sz="1500" kern="0" spc="-80" dirty="0">
                <a:solidFill>
                  <a:schemeClr val="accent2"/>
                </a:solidFill>
              </a:rPr>
              <a:t>Prevention</a:t>
            </a:r>
          </a:p>
          <a:p>
            <a:pPr marL="12700" marR="5080"/>
            <a:r>
              <a:rPr lang="en-US" sz="1500" kern="0" spc="-80" dirty="0">
                <a:solidFill>
                  <a:schemeClr val="accent6"/>
                </a:solidFill>
              </a:rPr>
              <a:t>Parameterized queries</a:t>
            </a:r>
          </a:p>
          <a:p>
            <a:pPr marL="12700" marR="5080"/>
            <a:r>
              <a:rPr lang="en-US" sz="1500" kern="0" spc="-80" dirty="0">
                <a:solidFill>
                  <a:schemeClr val="accent6"/>
                </a:solidFill>
              </a:rPr>
              <a:t>ORM safeguards</a:t>
            </a:r>
          </a:p>
          <a:p>
            <a:pPr marL="12700" marR="5080"/>
            <a:r>
              <a:rPr lang="en-US" sz="1500" kern="0" spc="-80" dirty="0">
                <a:solidFill>
                  <a:schemeClr val="accent6"/>
                </a:solidFill>
              </a:rPr>
              <a:t>Input validation (allowlists)</a:t>
            </a:r>
          </a:p>
          <a:p>
            <a:pPr marL="12700" marR="5080"/>
            <a:r>
              <a:rPr lang="en-US" sz="1500" kern="0" spc="-80" dirty="0">
                <a:solidFill>
                  <a:schemeClr val="accent6"/>
                </a:solidFill>
              </a:rPr>
              <a:t>Escaping as last resort</a:t>
            </a:r>
          </a:p>
        </p:txBody>
      </p:sp>
      <p:grpSp>
        <p:nvGrpSpPr>
          <p:cNvPr id="7" name="Group 6">
            <a:extLst>
              <a:ext uri="{FF2B5EF4-FFF2-40B4-BE49-F238E27FC236}">
                <a16:creationId xmlns:a16="http://schemas.microsoft.com/office/drawing/2014/main" id="{834FA8A7-6488-7596-8BBB-6834E5588DB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AAD269F4-4205-3727-B641-115BFA81C46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279AAF5-8E43-2764-B499-B8D43789928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129108448"/>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0AFAC-0820-E598-6518-07F95B4379D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9215736-3F0B-BC9C-216A-4D19DCB6D3F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574EE95-E5DF-A44C-DFC6-01F458D3D78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D348FF5-F10B-886B-C5B5-E3D27E6D997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2CE4C18-D3C7-FF94-A897-61F9D07045E9}"/>
              </a:ext>
            </a:extLst>
          </p:cNvPr>
          <p:cNvSpPr txBox="1">
            <a:spLocks/>
          </p:cNvSpPr>
          <p:nvPr/>
        </p:nvSpPr>
        <p:spPr>
          <a:xfrm>
            <a:off x="0" y="79504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OWASP Top 10</a:t>
            </a:r>
          </a:p>
          <a:p>
            <a:pPr marL="12700" marR="5080"/>
            <a:r>
              <a:rPr lang="en-US" sz="1500" kern="0" spc="-80" dirty="0">
                <a:solidFill>
                  <a:schemeClr val="accent2"/>
                </a:solidFill>
              </a:rPr>
              <a:t>4️⃣ A04 – Insecure Design</a:t>
            </a:r>
          </a:p>
          <a:p>
            <a:pPr marL="12700" marR="5080"/>
            <a:r>
              <a:rPr lang="en-US" sz="1500" kern="0" spc="-80" dirty="0">
                <a:solidFill>
                  <a:schemeClr val="accent2"/>
                </a:solidFill>
              </a:rPr>
              <a:t>Core Idea</a:t>
            </a:r>
          </a:p>
          <a:p>
            <a:pPr marL="12700" marR="5080"/>
            <a:r>
              <a:rPr lang="en-US" sz="1500" kern="0" spc="-80" dirty="0">
                <a:solidFill>
                  <a:schemeClr val="accent6"/>
                </a:solidFill>
              </a:rPr>
              <a:t>The system is insecure by architecture</a:t>
            </a:r>
          </a:p>
          <a:p>
            <a:pPr marL="12700" marR="5080"/>
            <a:r>
              <a:rPr lang="en-US" sz="1500" kern="0" spc="-80" dirty="0">
                <a:solidFill>
                  <a:schemeClr val="accent2"/>
                </a:solidFill>
              </a:rPr>
              <a:t>Intuition</a:t>
            </a:r>
          </a:p>
          <a:p>
            <a:pPr marL="12700" marR="5080"/>
            <a:r>
              <a:rPr lang="en-US" sz="1500" kern="0" spc="-80" dirty="0">
                <a:solidFill>
                  <a:schemeClr val="accent6"/>
                </a:solidFill>
              </a:rPr>
              <a:t>Even perfect code can’t fix a bad design.</a:t>
            </a:r>
          </a:p>
          <a:p>
            <a:pPr marL="12700" marR="5080"/>
            <a:r>
              <a:rPr lang="en-US" sz="1500" kern="0" spc="-80" dirty="0">
                <a:solidFill>
                  <a:schemeClr val="accent2"/>
                </a:solidFill>
              </a:rPr>
              <a:t>Examples</a:t>
            </a:r>
          </a:p>
          <a:p>
            <a:pPr marL="12700" marR="5080"/>
            <a:r>
              <a:rPr lang="en-US" sz="1500" kern="0" spc="-80" dirty="0">
                <a:solidFill>
                  <a:schemeClr val="accent6"/>
                </a:solidFill>
              </a:rPr>
              <a:t>No rate limiting → brute force</a:t>
            </a:r>
          </a:p>
          <a:p>
            <a:pPr marL="12700" marR="5080"/>
            <a:r>
              <a:rPr lang="en-US" sz="1500" kern="0" spc="-80" dirty="0">
                <a:solidFill>
                  <a:schemeClr val="accent6"/>
                </a:solidFill>
              </a:rPr>
              <a:t>No abuse case analysis</a:t>
            </a:r>
          </a:p>
          <a:p>
            <a:pPr marL="12700" marR="5080"/>
            <a:r>
              <a:rPr lang="en-US" sz="1500" kern="0" spc="-80" dirty="0">
                <a:solidFill>
                  <a:schemeClr val="accent6"/>
                </a:solidFill>
              </a:rPr>
              <a:t>Trusting internal services blindly</a:t>
            </a:r>
          </a:p>
          <a:p>
            <a:pPr marL="12700" marR="5080"/>
            <a:r>
              <a:rPr lang="en-US" sz="1500" kern="0" spc="-80" dirty="0">
                <a:solidFill>
                  <a:schemeClr val="accent6"/>
                </a:solidFill>
              </a:rPr>
              <a:t>Single-factor auth for sensitive actions</a:t>
            </a:r>
          </a:p>
          <a:p>
            <a:pPr marL="12700" marR="5080"/>
            <a:r>
              <a:rPr lang="en-US" sz="1500" kern="0" spc="-80" dirty="0">
                <a:solidFill>
                  <a:schemeClr val="accent2"/>
                </a:solidFill>
              </a:rPr>
              <a:t>This Is NOT</a:t>
            </a:r>
          </a:p>
          <a:p>
            <a:pPr marL="12700" marR="5080"/>
            <a:r>
              <a:rPr lang="en-US" sz="1500" kern="0" spc="-80" dirty="0">
                <a:solidFill>
                  <a:schemeClr val="accent6"/>
                </a:solidFill>
              </a:rPr>
              <a:t>A coding bug</a:t>
            </a:r>
          </a:p>
          <a:p>
            <a:pPr marL="12700" marR="5080"/>
            <a:r>
              <a:rPr lang="en-US" sz="1500" kern="0" spc="-80" dirty="0">
                <a:solidFill>
                  <a:schemeClr val="accent6"/>
                </a:solidFill>
              </a:rPr>
              <a:t>A library issue</a:t>
            </a:r>
          </a:p>
          <a:p>
            <a:pPr marL="12700" marR="5080"/>
            <a:r>
              <a:rPr lang="en-US" sz="1500" kern="0" spc="-80" dirty="0">
                <a:solidFill>
                  <a:schemeClr val="accent2"/>
                </a:solidFill>
              </a:rPr>
              <a:t>Prevention Techniques</a:t>
            </a:r>
          </a:p>
          <a:p>
            <a:pPr marL="12700" marR="5080"/>
            <a:r>
              <a:rPr lang="en-US" sz="1500" kern="0" spc="-80" dirty="0">
                <a:solidFill>
                  <a:schemeClr val="accent6"/>
                </a:solidFill>
              </a:rPr>
              <a:t>Threat modeling (STRIDE)</a:t>
            </a:r>
          </a:p>
          <a:p>
            <a:pPr marL="12700" marR="5080"/>
            <a:r>
              <a:rPr lang="en-US" sz="1500" kern="0" spc="-80" dirty="0">
                <a:solidFill>
                  <a:schemeClr val="accent6"/>
                </a:solidFill>
              </a:rPr>
              <a:t>Abuse-case-driven design</a:t>
            </a:r>
          </a:p>
          <a:p>
            <a:pPr marL="12700" marR="5080"/>
            <a:r>
              <a:rPr lang="en-US" sz="1500" kern="0" spc="-80" dirty="0">
                <a:solidFill>
                  <a:schemeClr val="accent6"/>
                </a:solidFill>
              </a:rPr>
              <a:t>Security requirements early</a:t>
            </a:r>
          </a:p>
          <a:p>
            <a:pPr marL="12700" marR="5080"/>
            <a:r>
              <a:rPr lang="en-US" sz="1500" kern="0" spc="-80" dirty="0">
                <a:solidFill>
                  <a:schemeClr val="accent6"/>
                </a:solidFill>
              </a:rPr>
              <a:t>Defense in depth</a:t>
            </a:r>
          </a:p>
        </p:txBody>
      </p:sp>
      <p:grpSp>
        <p:nvGrpSpPr>
          <p:cNvPr id="7" name="Group 6">
            <a:extLst>
              <a:ext uri="{FF2B5EF4-FFF2-40B4-BE49-F238E27FC236}">
                <a16:creationId xmlns:a16="http://schemas.microsoft.com/office/drawing/2014/main" id="{FAB0AD98-B12F-8ADE-2BA5-546D3DD4E2D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8C37935-7CFD-AF6C-3473-19B613D7D9E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7348C5A-B37A-105F-F552-E606E7C7AD3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913333863"/>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5A168-E752-F7B0-26B2-A7FBE030E87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1816C2C-9BFF-D1B6-7603-595036EAEE8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67534E1-0DE9-7291-4043-1D377562BCF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F77D5B24-C48F-42BD-0541-B31C32A71EE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0C3929B3-5252-06A5-6B3A-A46B9C18A5F2}"/>
              </a:ext>
            </a:extLst>
          </p:cNvPr>
          <p:cNvSpPr txBox="1">
            <a:spLocks/>
          </p:cNvSpPr>
          <p:nvPr/>
        </p:nvSpPr>
        <p:spPr>
          <a:xfrm>
            <a:off x="76200" y="79504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OWASP Top 10</a:t>
            </a:r>
          </a:p>
          <a:p>
            <a:pPr marL="12700" marR="5080"/>
            <a:r>
              <a:rPr lang="en-US" sz="1500" kern="0" spc="-80" dirty="0">
                <a:solidFill>
                  <a:schemeClr val="accent2"/>
                </a:solidFill>
              </a:rPr>
              <a:t>5️⃣ A05 – Security Misconfiguration</a:t>
            </a:r>
          </a:p>
          <a:p>
            <a:pPr marL="12700" marR="5080"/>
            <a:r>
              <a:rPr lang="en-US" sz="1500" kern="0" spc="-80" dirty="0">
                <a:solidFill>
                  <a:schemeClr val="accent2"/>
                </a:solidFill>
              </a:rPr>
              <a:t>Core Idea</a:t>
            </a:r>
          </a:p>
          <a:p>
            <a:pPr marL="12700" marR="5080"/>
            <a:r>
              <a:rPr lang="en-US" sz="1500" kern="0" spc="-80" dirty="0">
                <a:solidFill>
                  <a:schemeClr val="accent6"/>
                </a:solidFill>
              </a:rPr>
              <a:t>The system is secure in theory, insecure in practice</a:t>
            </a:r>
          </a:p>
          <a:p>
            <a:pPr marL="12700" marR="5080"/>
            <a:r>
              <a:rPr lang="en-US" sz="1500" kern="0" spc="-80" dirty="0">
                <a:solidFill>
                  <a:schemeClr val="accent6"/>
                </a:solidFill>
              </a:rPr>
              <a:t>Common </a:t>
            </a:r>
            <a:r>
              <a:rPr lang="en-US" sz="1500" kern="0" spc="-80" dirty="0" err="1">
                <a:solidFill>
                  <a:schemeClr val="accent6"/>
                </a:solidFill>
              </a:rPr>
              <a:t>Misconfigs</a:t>
            </a:r>
            <a:endParaRPr lang="en-US" sz="1500" kern="0" spc="-80" dirty="0">
              <a:solidFill>
                <a:schemeClr val="accent6"/>
              </a:solidFill>
            </a:endParaRPr>
          </a:p>
          <a:p>
            <a:pPr marL="12700" marR="5080"/>
            <a:r>
              <a:rPr lang="en-US" sz="1500" kern="0" spc="-80" dirty="0">
                <a:solidFill>
                  <a:schemeClr val="accent6"/>
                </a:solidFill>
              </a:rPr>
              <a:t>Default passwords</a:t>
            </a:r>
          </a:p>
          <a:p>
            <a:pPr marL="12700" marR="5080"/>
            <a:r>
              <a:rPr lang="en-US" sz="1500" kern="0" spc="-80" dirty="0">
                <a:solidFill>
                  <a:schemeClr val="accent6"/>
                </a:solidFill>
              </a:rPr>
              <a:t>Debug mode enabled</a:t>
            </a:r>
          </a:p>
          <a:p>
            <a:pPr marL="12700" marR="5080"/>
            <a:r>
              <a:rPr lang="en-US" sz="1500" kern="0" spc="-80" dirty="0">
                <a:solidFill>
                  <a:schemeClr val="accent6"/>
                </a:solidFill>
              </a:rPr>
              <a:t>Open admin consoles</a:t>
            </a:r>
          </a:p>
          <a:p>
            <a:pPr marL="12700" marR="5080"/>
            <a:r>
              <a:rPr lang="en-US" sz="1500" kern="0" spc="-80" dirty="0">
                <a:solidFill>
                  <a:schemeClr val="accent6"/>
                </a:solidFill>
              </a:rPr>
              <a:t>Overly permissive CORS</a:t>
            </a:r>
          </a:p>
          <a:p>
            <a:pPr marL="12700" marR="5080"/>
            <a:r>
              <a:rPr lang="en-US" sz="1500" kern="0" spc="-80" dirty="0">
                <a:solidFill>
                  <a:schemeClr val="accent6"/>
                </a:solidFill>
              </a:rPr>
              <a:t>Exposed cloud storage</a:t>
            </a:r>
          </a:p>
          <a:p>
            <a:pPr marL="12700" marR="5080"/>
            <a:r>
              <a:rPr lang="en-US" sz="1500" kern="0" spc="-80" dirty="0">
                <a:solidFill>
                  <a:schemeClr val="accent6"/>
                </a:solidFill>
              </a:rPr>
              <a:t>Stack traces in prod</a:t>
            </a:r>
          </a:p>
          <a:p>
            <a:pPr marL="12700" marR="5080"/>
            <a:r>
              <a:rPr lang="en-US" sz="1500" kern="0" spc="-80" dirty="0">
                <a:solidFill>
                  <a:schemeClr val="accent2"/>
                </a:solidFill>
              </a:rPr>
              <a:t>Attack Reality</a:t>
            </a:r>
          </a:p>
          <a:p>
            <a:pPr marL="12700" marR="5080"/>
            <a:r>
              <a:rPr lang="en-US" sz="1500" kern="0" spc="-80" dirty="0">
                <a:solidFill>
                  <a:schemeClr val="accent6"/>
                </a:solidFill>
              </a:rPr>
              <a:t>Most attackers don’t “hack” — they log in.</a:t>
            </a:r>
          </a:p>
          <a:p>
            <a:pPr marL="12700" marR="5080"/>
            <a:r>
              <a:rPr lang="en-US" sz="1500" kern="0" spc="-80" dirty="0">
                <a:solidFill>
                  <a:schemeClr val="accent2"/>
                </a:solidFill>
              </a:rPr>
              <a:t>Prevention</a:t>
            </a:r>
          </a:p>
          <a:p>
            <a:pPr marL="12700" marR="5080"/>
            <a:r>
              <a:rPr lang="en-US" sz="1500" kern="0" spc="-80" dirty="0">
                <a:solidFill>
                  <a:schemeClr val="accent6"/>
                </a:solidFill>
              </a:rPr>
              <a:t>Secure defaults</a:t>
            </a:r>
          </a:p>
          <a:p>
            <a:pPr marL="12700" marR="5080"/>
            <a:r>
              <a:rPr lang="en-US" sz="1500" kern="0" spc="-80" dirty="0">
                <a:solidFill>
                  <a:schemeClr val="accent6"/>
                </a:solidFill>
              </a:rPr>
              <a:t>Infrastructure as Code</a:t>
            </a:r>
          </a:p>
          <a:p>
            <a:pPr marL="12700" marR="5080"/>
            <a:r>
              <a:rPr lang="en-US" sz="1500" kern="0" spc="-80" dirty="0">
                <a:solidFill>
                  <a:schemeClr val="accent6"/>
                </a:solidFill>
              </a:rPr>
              <a:t>Automated hardening</a:t>
            </a:r>
          </a:p>
          <a:p>
            <a:pPr marL="12700" marR="5080"/>
            <a:r>
              <a:rPr lang="en-US" sz="1500" kern="0" spc="-80" dirty="0">
                <a:solidFill>
                  <a:schemeClr val="accent6"/>
                </a:solidFill>
              </a:rPr>
              <a:t>Config scanning</a:t>
            </a:r>
          </a:p>
          <a:p>
            <a:pPr marL="12700" marR="5080"/>
            <a:r>
              <a:rPr lang="en-US" sz="1500" kern="0" spc="-80" dirty="0">
                <a:solidFill>
                  <a:schemeClr val="accent6"/>
                </a:solidFill>
              </a:rPr>
              <a:t>Disable unused features</a:t>
            </a:r>
          </a:p>
        </p:txBody>
      </p:sp>
      <p:grpSp>
        <p:nvGrpSpPr>
          <p:cNvPr id="7" name="Group 6">
            <a:extLst>
              <a:ext uri="{FF2B5EF4-FFF2-40B4-BE49-F238E27FC236}">
                <a16:creationId xmlns:a16="http://schemas.microsoft.com/office/drawing/2014/main" id="{09ED59C1-CD81-A0C8-8B3B-17817837531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BA62EB7-47C3-2CF0-C421-C90B02B1389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BA2806E-9D16-D5C6-2D61-333C8455C88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93633251"/>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7D19D-FC50-78EC-E34B-8FA1DCBA34B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4F1630D-E80E-79AA-1702-3A2286D121E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9FE8B99-A598-D721-9DBD-45FC5FEC99C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FB098947-1606-10E7-04A0-A74A45D0F58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B310C97-DA57-DB77-DC27-BBC414A31DB7}"/>
              </a:ext>
            </a:extLst>
          </p:cNvPr>
          <p:cNvSpPr txBox="1">
            <a:spLocks/>
          </p:cNvSpPr>
          <p:nvPr/>
        </p:nvSpPr>
        <p:spPr>
          <a:xfrm>
            <a:off x="76200" y="792807"/>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OWASP Top 10</a:t>
            </a:r>
          </a:p>
          <a:p>
            <a:pPr marL="12700" marR="5080"/>
            <a:r>
              <a:rPr lang="en-US" sz="1500" kern="0" spc="-80" dirty="0">
                <a:solidFill>
                  <a:schemeClr val="accent2"/>
                </a:solidFill>
              </a:rPr>
              <a:t>6️⃣ A06 – Vulnerable and Outdated Components</a:t>
            </a:r>
          </a:p>
          <a:p>
            <a:pPr marL="12700" marR="5080"/>
            <a:r>
              <a:rPr lang="en-US" sz="1500" kern="0" spc="-80" dirty="0">
                <a:solidFill>
                  <a:schemeClr val="accent2"/>
                </a:solidFill>
              </a:rPr>
              <a:t>Core Idea</a:t>
            </a:r>
          </a:p>
          <a:p>
            <a:pPr marL="12700" marR="5080"/>
            <a:r>
              <a:rPr lang="en-US" sz="1500" kern="0" spc="-80" dirty="0">
                <a:solidFill>
                  <a:schemeClr val="accent6"/>
                </a:solidFill>
              </a:rPr>
              <a:t>You trust third-party code that is broken</a:t>
            </a:r>
          </a:p>
          <a:p>
            <a:pPr marL="12700" marR="5080"/>
            <a:r>
              <a:rPr lang="en-US" sz="1500" kern="0" spc="-80" dirty="0">
                <a:solidFill>
                  <a:schemeClr val="accent2"/>
                </a:solidFill>
              </a:rPr>
              <a:t>Intuition</a:t>
            </a:r>
          </a:p>
          <a:p>
            <a:pPr marL="12700" marR="5080"/>
            <a:r>
              <a:rPr lang="en-US" sz="1500" kern="0" spc="-80" dirty="0">
                <a:solidFill>
                  <a:schemeClr val="accent6"/>
                </a:solidFill>
              </a:rPr>
              <a:t>Your system’s security = weakest dependency</a:t>
            </a:r>
          </a:p>
          <a:p>
            <a:pPr marL="12700" marR="5080"/>
            <a:r>
              <a:rPr lang="en-US" sz="1500" kern="0" spc="-80" dirty="0">
                <a:solidFill>
                  <a:schemeClr val="accent2"/>
                </a:solidFill>
              </a:rPr>
              <a:t>Examples</a:t>
            </a:r>
          </a:p>
          <a:p>
            <a:pPr marL="12700" marR="5080"/>
            <a:r>
              <a:rPr lang="en-US" sz="1500" kern="0" spc="-80" dirty="0">
                <a:solidFill>
                  <a:schemeClr val="accent6"/>
                </a:solidFill>
              </a:rPr>
              <a:t>Log4Shell</a:t>
            </a:r>
          </a:p>
          <a:p>
            <a:pPr marL="12700" marR="5080"/>
            <a:r>
              <a:rPr lang="en-US" sz="1500" kern="0" spc="-80" dirty="0">
                <a:solidFill>
                  <a:schemeClr val="accent6"/>
                </a:solidFill>
              </a:rPr>
              <a:t>Old OpenSSL</a:t>
            </a:r>
          </a:p>
          <a:p>
            <a:pPr marL="12700" marR="5080"/>
            <a:r>
              <a:rPr lang="en-US" sz="1500" kern="0" spc="-80" dirty="0">
                <a:solidFill>
                  <a:schemeClr val="accent6"/>
                </a:solidFill>
              </a:rPr>
              <a:t>Unpatched frameworks</a:t>
            </a:r>
          </a:p>
          <a:p>
            <a:pPr marL="12700" marR="5080"/>
            <a:r>
              <a:rPr lang="en-US" sz="1500" kern="0" spc="-80" dirty="0">
                <a:solidFill>
                  <a:schemeClr val="accent2"/>
                </a:solidFill>
              </a:rPr>
              <a:t>Why It’s Hard</a:t>
            </a:r>
          </a:p>
          <a:p>
            <a:pPr marL="12700" marR="5080"/>
            <a:r>
              <a:rPr lang="en-US" sz="1500" kern="0" spc="-80" dirty="0">
                <a:solidFill>
                  <a:schemeClr val="accent6"/>
                </a:solidFill>
              </a:rPr>
              <a:t>Transitive dependencies</a:t>
            </a:r>
          </a:p>
          <a:p>
            <a:pPr marL="12700" marR="5080"/>
            <a:r>
              <a:rPr lang="en-US" sz="1500" kern="0" spc="-80" dirty="0">
                <a:solidFill>
                  <a:schemeClr val="accent6"/>
                </a:solidFill>
              </a:rPr>
              <a:t>Lack of visibility</a:t>
            </a:r>
          </a:p>
          <a:p>
            <a:pPr marL="12700" marR="5080"/>
            <a:r>
              <a:rPr lang="en-US" sz="1500" kern="0" spc="-80" dirty="0">
                <a:solidFill>
                  <a:schemeClr val="accent6"/>
                </a:solidFill>
              </a:rPr>
              <a:t>Fear of upgrades</a:t>
            </a:r>
          </a:p>
          <a:p>
            <a:pPr marL="12700" marR="5080"/>
            <a:r>
              <a:rPr lang="en-US" sz="1500" kern="0" spc="-80" dirty="0">
                <a:solidFill>
                  <a:schemeClr val="accent2"/>
                </a:solidFill>
              </a:rPr>
              <a:t>Prevention</a:t>
            </a:r>
          </a:p>
          <a:p>
            <a:pPr marL="12700" marR="5080"/>
            <a:r>
              <a:rPr lang="en-US" sz="1500" kern="0" spc="-80" dirty="0">
                <a:solidFill>
                  <a:schemeClr val="accent6"/>
                </a:solidFill>
              </a:rPr>
              <a:t>SBOM (Software Bill of Materials)</a:t>
            </a:r>
          </a:p>
          <a:p>
            <a:pPr marL="12700" marR="5080"/>
            <a:r>
              <a:rPr lang="en-US" sz="1500" kern="0" spc="-80" dirty="0">
                <a:solidFill>
                  <a:schemeClr val="accent6"/>
                </a:solidFill>
              </a:rPr>
              <a:t>Dependency scanning</a:t>
            </a:r>
          </a:p>
          <a:p>
            <a:pPr marL="12700" marR="5080"/>
            <a:r>
              <a:rPr lang="en-US" sz="1500" kern="0" spc="-80" dirty="0">
                <a:solidFill>
                  <a:schemeClr val="accent6"/>
                </a:solidFill>
              </a:rPr>
              <a:t>Regular patch cycles</a:t>
            </a:r>
          </a:p>
          <a:p>
            <a:pPr marL="12700" marR="5080"/>
            <a:r>
              <a:rPr lang="en-US" sz="1500" kern="0" spc="-80" dirty="0">
                <a:solidFill>
                  <a:schemeClr val="accent6"/>
                </a:solidFill>
              </a:rPr>
              <a:t>Minimal dependencies</a:t>
            </a:r>
          </a:p>
          <a:p>
            <a:pPr marL="12700" marR="5080"/>
            <a:endParaRPr lang="en-US" sz="1500" kern="0" spc="-80" dirty="0">
              <a:solidFill>
                <a:schemeClr val="accent6"/>
              </a:solidFill>
            </a:endParaRPr>
          </a:p>
        </p:txBody>
      </p:sp>
      <p:grpSp>
        <p:nvGrpSpPr>
          <p:cNvPr id="7" name="Group 6">
            <a:extLst>
              <a:ext uri="{FF2B5EF4-FFF2-40B4-BE49-F238E27FC236}">
                <a16:creationId xmlns:a16="http://schemas.microsoft.com/office/drawing/2014/main" id="{44ECA096-7335-BFA9-7307-D6B9FF0C5CA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AA44981-CDF8-F09C-3D3A-FD58B82FB74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126B94A-FB1D-E1B6-1DF4-D5209AC9CC3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037520000"/>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5E539-A64C-A8C3-FB43-866DFD32D7A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B30198E-B672-9E56-3225-86FBA2783DC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DA8B00C-06FC-16A5-1AD6-DC8822E7748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F56E10A-322B-3CE7-D0B6-0504F44CC8B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90EAC55-9B0C-FBF1-C5C0-424D66516CEC}"/>
              </a:ext>
            </a:extLst>
          </p:cNvPr>
          <p:cNvSpPr txBox="1">
            <a:spLocks/>
          </p:cNvSpPr>
          <p:nvPr/>
        </p:nvSpPr>
        <p:spPr>
          <a:xfrm>
            <a:off x="76200" y="716607"/>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OWASP Top 10</a:t>
            </a:r>
          </a:p>
          <a:p>
            <a:pPr marL="12700" marR="5080"/>
            <a:r>
              <a:rPr lang="en-US" sz="1500" kern="0" spc="-80" dirty="0">
                <a:solidFill>
                  <a:schemeClr val="accent2"/>
                </a:solidFill>
              </a:rPr>
              <a:t>7️⃣ A07 – Identification &amp; Authentication Failures</a:t>
            </a:r>
          </a:p>
          <a:p>
            <a:pPr marL="12700" marR="5080"/>
            <a:r>
              <a:rPr lang="en-US" sz="1500" kern="0" spc="-80" dirty="0">
                <a:solidFill>
                  <a:schemeClr val="accent2"/>
                </a:solidFill>
              </a:rPr>
              <a:t>Core Idea</a:t>
            </a:r>
          </a:p>
          <a:p>
            <a:pPr marL="12700" marR="5080"/>
            <a:r>
              <a:rPr lang="en-US" sz="1500" kern="0" spc="-80" dirty="0">
                <a:solidFill>
                  <a:schemeClr val="accent6"/>
                </a:solidFill>
              </a:rPr>
              <a:t>The system doesn’t really know who you are</a:t>
            </a:r>
          </a:p>
          <a:p>
            <a:pPr marL="12700" marR="5080"/>
            <a:r>
              <a:rPr lang="en-US" sz="1500" kern="0" spc="-80" dirty="0">
                <a:solidFill>
                  <a:schemeClr val="accent2"/>
                </a:solidFill>
              </a:rPr>
              <a:t>Examples</a:t>
            </a:r>
          </a:p>
          <a:p>
            <a:pPr marL="12700" marR="5080"/>
            <a:r>
              <a:rPr lang="en-US" sz="1500" kern="0" spc="-80" dirty="0">
                <a:solidFill>
                  <a:schemeClr val="accent6"/>
                </a:solidFill>
              </a:rPr>
              <a:t>Weak passwords</a:t>
            </a:r>
          </a:p>
          <a:p>
            <a:pPr marL="12700" marR="5080"/>
            <a:r>
              <a:rPr lang="en-US" sz="1500" kern="0" spc="-80" dirty="0">
                <a:solidFill>
                  <a:schemeClr val="accent6"/>
                </a:solidFill>
              </a:rPr>
              <a:t>No MFA</a:t>
            </a:r>
          </a:p>
          <a:p>
            <a:pPr marL="12700" marR="5080"/>
            <a:r>
              <a:rPr lang="en-US" sz="1500" kern="0" spc="-80" dirty="0">
                <a:solidFill>
                  <a:schemeClr val="accent6"/>
                </a:solidFill>
              </a:rPr>
              <a:t>Session fixation</a:t>
            </a:r>
          </a:p>
          <a:p>
            <a:pPr marL="12700" marR="5080"/>
            <a:r>
              <a:rPr lang="en-US" sz="1500" kern="0" spc="-80" dirty="0">
                <a:solidFill>
                  <a:schemeClr val="accent6"/>
                </a:solidFill>
              </a:rPr>
              <a:t>JWT misuse</a:t>
            </a:r>
          </a:p>
          <a:p>
            <a:pPr marL="12700" marR="5080"/>
            <a:r>
              <a:rPr lang="en-US" sz="1500" kern="0" spc="-80" dirty="0">
                <a:solidFill>
                  <a:schemeClr val="accent6"/>
                </a:solidFill>
              </a:rPr>
              <a:t>Token reuse</a:t>
            </a:r>
          </a:p>
          <a:p>
            <a:pPr marL="12700" marR="5080"/>
            <a:r>
              <a:rPr lang="en-US" sz="1500" kern="0" spc="-80" dirty="0">
                <a:solidFill>
                  <a:schemeClr val="accent6"/>
                </a:solidFill>
              </a:rPr>
              <a:t>Common JWT Mistakes</a:t>
            </a:r>
          </a:p>
          <a:p>
            <a:pPr marL="12700" marR="5080"/>
            <a:r>
              <a:rPr lang="en-US" sz="1500" kern="0" spc="-80" dirty="0">
                <a:solidFill>
                  <a:schemeClr val="accent6"/>
                </a:solidFill>
              </a:rPr>
              <a:t>No expiration</a:t>
            </a:r>
          </a:p>
          <a:p>
            <a:pPr marL="12700" marR="5080"/>
            <a:r>
              <a:rPr lang="en-US" sz="1500" kern="0" spc="-80" dirty="0">
                <a:solidFill>
                  <a:schemeClr val="accent6"/>
                </a:solidFill>
              </a:rPr>
              <a:t>Long-lived access tokens</a:t>
            </a:r>
          </a:p>
          <a:p>
            <a:pPr marL="12700" marR="5080"/>
            <a:r>
              <a:rPr lang="en-US" sz="1500" kern="0" spc="-80" dirty="0">
                <a:solidFill>
                  <a:schemeClr val="accent6"/>
                </a:solidFill>
              </a:rPr>
              <a:t>No audience validation</a:t>
            </a:r>
          </a:p>
          <a:p>
            <a:pPr marL="12700" marR="5080"/>
            <a:r>
              <a:rPr lang="en-US" sz="1500" kern="0" spc="-80" dirty="0">
                <a:solidFill>
                  <a:schemeClr val="accent2"/>
                </a:solidFill>
              </a:rPr>
              <a:t>Prevention</a:t>
            </a:r>
          </a:p>
          <a:p>
            <a:pPr marL="12700" marR="5080"/>
            <a:r>
              <a:rPr lang="en-US" sz="1500" kern="0" spc="-80" dirty="0">
                <a:solidFill>
                  <a:schemeClr val="accent6"/>
                </a:solidFill>
              </a:rPr>
              <a:t>MFA</a:t>
            </a:r>
          </a:p>
          <a:p>
            <a:pPr marL="12700" marR="5080"/>
            <a:r>
              <a:rPr lang="en-US" sz="1500" kern="0" spc="-80" dirty="0">
                <a:solidFill>
                  <a:schemeClr val="accent6"/>
                </a:solidFill>
              </a:rPr>
              <a:t>Short-lived tokens</a:t>
            </a:r>
          </a:p>
          <a:p>
            <a:pPr marL="12700" marR="5080"/>
            <a:r>
              <a:rPr lang="en-US" sz="1500" kern="0" spc="-80" dirty="0">
                <a:solidFill>
                  <a:schemeClr val="accent6"/>
                </a:solidFill>
              </a:rPr>
              <a:t>Secure session storage</a:t>
            </a:r>
          </a:p>
          <a:p>
            <a:pPr marL="12700" marR="5080"/>
            <a:r>
              <a:rPr lang="en-US" sz="1500" kern="0" spc="-80" dirty="0">
                <a:solidFill>
                  <a:schemeClr val="accent6"/>
                </a:solidFill>
              </a:rPr>
              <a:t>Proper logout invalidation</a:t>
            </a:r>
          </a:p>
          <a:p>
            <a:pPr marL="12700" marR="5080"/>
            <a:r>
              <a:rPr lang="en-US" sz="1500" kern="0" spc="-80" dirty="0">
                <a:solidFill>
                  <a:schemeClr val="accent6"/>
                </a:solidFill>
              </a:rPr>
              <a:t>Rate limiting login attempts</a:t>
            </a:r>
          </a:p>
        </p:txBody>
      </p:sp>
      <p:grpSp>
        <p:nvGrpSpPr>
          <p:cNvPr id="7" name="Group 6">
            <a:extLst>
              <a:ext uri="{FF2B5EF4-FFF2-40B4-BE49-F238E27FC236}">
                <a16:creationId xmlns:a16="http://schemas.microsoft.com/office/drawing/2014/main" id="{44876A42-742A-BBE6-9039-093B8B0EBFC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01EA241-2147-D1B9-CB79-870050F01E9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6D55D64-7A71-455F-4A38-77C18F4AAFC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194475565"/>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034DF-985D-2F6D-75D2-0D084224D0A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F6773EE-4DC4-C9D6-8CAF-D6627408585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5429BD8-7E8E-7547-7628-29DEED369F6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5E870CA-D540-47DF-E0B8-5C174239DF8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C61321C5-C4C1-320B-B38E-E1CC6110BFDF}"/>
              </a:ext>
            </a:extLst>
          </p:cNvPr>
          <p:cNvSpPr txBox="1">
            <a:spLocks/>
          </p:cNvSpPr>
          <p:nvPr/>
        </p:nvSpPr>
        <p:spPr>
          <a:xfrm>
            <a:off x="76200" y="792807"/>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OWASP Top 10</a:t>
            </a:r>
          </a:p>
          <a:p>
            <a:pPr marL="12700" marR="5080"/>
            <a:r>
              <a:rPr lang="en-US" sz="1500" kern="0" spc="-80" dirty="0">
                <a:solidFill>
                  <a:schemeClr val="accent2"/>
                </a:solidFill>
              </a:rPr>
              <a:t>8️⃣ A08 – Software and Data Integrity Failures</a:t>
            </a:r>
          </a:p>
          <a:p>
            <a:pPr marL="12700" marR="5080"/>
            <a:r>
              <a:rPr lang="en-US" sz="1500" kern="0" spc="-80" dirty="0">
                <a:solidFill>
                  <a:schemeClr val="accent2"/>
                </a:solidFill>
              </a:rPr>
              <a:t>Core Idea</a:t>
            </a:r>
          </a:p>
          <a:p>
            <a:pPr marL="12700" marR="5080"/>
            <a:r>
              <a:rPr lang="en-US" sz="1500" kern="0" spc="-80" dirty="0">
                <a:solidFill>
                  <a:schemeClr val="accent6"/>
                </a:solidFill>
              </a:rPr>
              <a:t>You execute code or data you shouldn’t trust</a:t>
            </a:r>
          </a:p>
          <a:p>
            <a:pPr marL="12700" marR="5080"/>
            <a:r>
              <a:rPr lang="en-US" sz="1500" kern="0" spc="-80" dirty="0">
                <a:solidFill>
                  <a:schemeClr val="accent2"/>
                </a:solidFill>
              </a:rPr>
              <a:t>Examples</a:t>
            </a:r>
          </a:p>
          <a:p>
            <a:pPr marL="12700" marR="5080"/>
            <a:r>
              <a:rPr lang="en-US" sz="1500" kern="0" spc="-80" dirty="0">
                <a:solidFill>
                  <a:schemeClr val="accent6"/>
                </a:solidFill>
              </a:rPr>
              <a:t>CI/CD pipeline compromise</a:t>
            </a:r>
          </a:p>
          <a:p>
            <a:pPr marL="12700" marR="5080"/>
            <a:r>
              <a:rPr lang="en-US" sz="1500" kern="0" spc="-80" dirty="0">
                <a:solidFill>
                  <a:schemeClr val="accent6"/>
                </a:solidFill>
              </a:rPr>
              <a:t>Unsigned updates</a:t>
            </a:r>
          </a:p>
          <a:p>
            <a:pPr marL="12700" marR="5080"/>
            <a:r>
              <a:rPr lang="en-US" sz="1500" kern="0" spc="-80" dirty="0">
                <a:solidFill>
                  <a:schemeClr val="accent6"/>
                </a:solidFill>
              </a:rPr>
              <a:t>Insecure deserialization</a:t>
            </a:r>
          </a:p>
          <a:p>
            <a:pPr marL="12700" marR="5080"/>
            <a:r>
              <a:rPr lang="en-US" sz="1500" kern="0" spc="-80" dirty="0">
                <a:solidFill>
                  <a:schemeClr val="accent2"/>
                </a:solidFill>
              </a:rPr>
              <a:t>Attack Example</a:t>
            </a:r>
          </a:p>
          <a:p>
            <a:pPr marL="12700" marR="5080"/>
            <a:r>
              <a:rPr lang="en-US" sz="1500" kern="0" spc="-80" dirty="0">
                <a:solidFill>
                  <a:schemeClr val="accent6"/>
                </a:solidFill>
              </a:rPr>
              <a:t>Malicious package update</a:t>
            </a:r>
          </a:p>
          <a:p>
            <a:pPr marL="12700" marR="5080"/>
            <a:r>
              <a:rPr lang="en-US" sz="1500" kern="0" spc="-80" dirty="0">
                <a:solidFill>
                  <a:schemeClr val="accent6"/>
                </a:solidFill>
              </a:rPr>
              <a:t>Tampered deployment artifact</a:t>
            </a:r>
          </a:p>
          <a:p>
            <a:pPr marL="12700" marR="5080"/>
            <a:r>
              <a:rPr lang="en-US" sz="1500" kern="0" spc="-80" dirty="0">
                <a:solidFill>
                  <a:schemeClr val="accent2"/>
                </a:solidFill>
              </a:rPr>
              <a:t>Prevention</a:t>
            </a:r>
          </a:p>
          <a:p>
            <a:pPr marL="12700" marR="5080"/>
            <a:r>
              <a:rPr lang="en-US" sz="1500" kern="0" spc="-80" dirty="0">
                <a:solidFill>
                  <a:schemeClr val="accent6"/>
                </a:solidFill>
              </a:rPr>
              <a:t>Code signing</a:t>
            </a:r>
          </a:p>
          <a:p>
            <a:pPr marL="12700" marR="5080"/>
            <a:r>
              <a:rPr lang="en-US" sz="1500" kern="0" spc="-80" dirty="0">
                <a:solidFill>
                  <a:schemeClr val="accent6"/>
                </a:solidFill>
              </a:rPr>
              <a:t>Checksums</a:t>
            </a:r>
          </a:p>
          <a:p>
            <a:pPr marL="12700" marR="5080"/>
            <a:r>
              <a:rPr lang="en-US" sz="1500" kern="0" spc="-80" dirty="0">
                <a:solidFill>
                  <a:schemeClr val="accent6"/>
                </a:solidFill>
              </a:rPr>
              <a:t>Immutable infrastructure</a:t>
            </a:r>
          </a:p>
          <a:p>
            <a:pPr marL="12700" marR="5080"/>
            <a:r>
              <a:rPr lang="en-US" sz="1500" kern="0" spc="-80" dirty="0">
                <a:solidFill>
                  <a:schemeClr val="accent6"/>
                </a:solidFill>
              </a:rPr>
              <a:t>Zero-trust pipelines</a:t>
            </a:r>
          </a:p>
          <a:p>
            <a:pPr marL="12700" marR="5080"/>
            <a:endParaRPr lang="en-US" sz="1500" kern="0" spc="-80" dirty="0">
              <a:solidFill>
                <a:schemeClr val="accent6"/>
              </a:solidFill>
            </a:endParaRPr>
          </a:p>
          <a:p>
            <a:pPr marL="12700" marR="5080"/>
            <a:r>
              <a:rPr lang="en-US" sz="1500" kern="0" spc="-80" dirty="0">
                <a:solidFill>
                  <a:schemeClr val="accent2"/>
                </a:solidFill>
              </a:rPr>
              <a:t>9️⃣ A09 – Security Logging &amp; Monitoring Failures</a:t>
            </a:r>
          </a:p>
          <a:p>
            <a:pPr marL="12700" marR="5080"/>
            <a:r>
              <a:rPr lang="en-US" sz="1500" kern="0" spc="-80" dirty="0">
                <a:solidFill>
                  <a:schemeClr val="accent2"/>
                </a:solidFill>
              </a:rPr>
              <a:t>Core Idea</a:t>
            </a:r>
          </a:p>
          <a:p>
            <a:pPr marL="12700" marR="5080"/>
            <a:r>
              <a:rPr lang="en-US" sz="1500" kern="0" spc="-80" dirty="0">
                <a:solidFill>
                  <a:schemeClr val="accent6"/>
                </a:solidFill>
              </a:rPr>
              <a:t>Attacks happen, but you don’t notice</a:t>
            </a:r>
          </a:p>
        </p:txBody>
      </p:sp>
      <p:grpSp>
        <p:nvGrpSpPr>
          <p:cNvPr id="7" name="Group 6">
            <a:extLst>
              <a:ext uri="{FF2B5EF4-FFF2-40B4-BE49-F238E27FC236}">
                <a16:creationId xmlns:a16="http://schemas.microsoft.com/office/drawing/2014/main" id="{680DDD1C-4522-878D-9108-117120857F84}"/>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22D4AC8-8687-D74E-9239-4E54398E7D5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1DCAC20-8BE5-443E-DF58-48349A3DAA0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910191921"/>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2B15EA-AD97-0E1F-6ED3-5BA45C652C3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16A4A5A-BF44-2CA8-2931-0C0FE10F0CB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D10B571-9545-E48A-6F6B-70354625909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5755346-33DB-456A-7C59-6902B88DDBC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0D8391C-8EAC-15AA-E567-2F2DE06BF5F9}"/>
              </a:ext>
            </a:extLst>
          </p:cNvPr>
          <p:cNvSpPr txBox="1">
            <a:spLocks/>
          </p:cNvSpPr>
          <p:nvPr/>
        </p:nvSpPr>
        <p:spPr>
          <a:xfrm>
            <a:off x="76200" y="716607"/>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OWASP Top 10</a:t>
            </a:r>
          </a:p>
          <a:p>
            <a:pPr marL="12700" marR="5080"/>
            <a:r>
              <a:rPr lang="en-US" sz="1500" kern="0" spc="-80" dirty="0">
                <a:solidFill>
                  <a:schemeClr val="accent2"/>
                </a:solidFill>
              </a:rPr>
              <a:t>9️⃣ A09 – Security Logging &amp; Monitoring Failures</a:t>
            </a:r>
          </a:p>
          <a:p>
            <a:pPr marL="12700" marR="5080"/>
            <a:r>
              <a:rPr lang="en-US" sz="1500" kern="0" spc="-80" dirty="0">
                <a:solidFill>
                  <a:schemeClr val="accent2"/>
                </a:solidFill>
              </a:rPr>
              <a:t>Reality</a:t>
            </a:r>
          </a:p>
          <a:p>
            <a:pPr marL="12700" marR="5080"/>
            <a:r>
              <a:rPr lang="en-US" sz="1500" kern="0" spc="-80" dirty="0">
                <a:solidFill>
                  <a:schemeClr val="accent6"/>
                </a:solidFill>
              </a:rPr>
              <a:t>Most breaches are detected months later.</a:t>
            </a:r>
          </a:p>
          <a:p>
            <a:pPr marL="12700" marR="5080"/>
            <a:r>
              <a:rPr lang="en-US" sz="1500" kern="0" spc="-80" dirty="0">
                <a:solidFill>
                  <a:schemeClr val="accent6"/>
                </a:solidFill>
              </a:rPr>
              <a:t>Missing Signals</a:t>
            </a:r>
          </a:p>
          <a:p>
            <a:pPr marL="12700" marR="5080"/>
            <a:r>
              <a:rPr lang="en-US" sz="1500" kern="0" spc="-80" dirty="0">
                <a:solidFill>
                  <a:schemeClr val="accent6"/>
                </a:solidFill>
              </a:rPr>
              <a:t>No login failure logs</a:t>
            </a:r>
          </a:p>
          <a:p>
            <a:pPr marL="12700" marR="5080"/>
            <a:r>
              <a:rPr lang="en-US" sz="1500" kern="0" spc="-80" dirty="0">
                <a:solidFill>
                  <a:schemeClr val="accent6"/>
                </a:solidFill>
              </a:rPr>
              <a:t>No alerting</a:t>
            </a:r>
          </a:p>
          <a:p>
            <a:pPr marL="12700" marR="5080"/>
            <a:r>
              <a:rPr lang="en-US" sz="1500" kern="0" spc="-80" dirty="0">
                <a:solidFill>
                  <a:schemeClr val="accent6"/>
                </a:solidFill>
              </a:rPr>
              <a:t>Logs without context</a:t>
            </a:r>
          </a:p>
          <a:p>
            <a:pPr marL="12700" marR="5080"/>
            <a:r>
              <a:rPr lang="en-US" sz="1500" kern="0" spc="-80" dirty="0">
                <a:solidFill>
                  <a:schemeClr val="accent6"/>
                </a:solidFill>
              </a:rPr>
              <a:t>No correlation</a:t>
            </a:r>
          </a:p>
          <a:p>
            <a:pPr marL="12700" marR="5080"/>
            <a:r>
              <a:rPr lang="en-US" sz="1500" kern="0" spc="-80" dirty="0">
                <a:solidFill>
                  <a:schemeClr val="accent2"/>
                </a:solidFill>
              </a:rPr>
              <a:t>Prevention</a:t>
            </a:r>
          </a:p>
          <a:p>
            <a:pPr marL="12700" marR="5080"/>
            <a:r>
              <a:rPr lang="en-US" sz="1500" kern="0" spc="-80" dirty="0">
                <a:solidFill>
                  <a:schemeClr val="accent6"/>
                </a:solidFill>
              </a:rPr>
              <a:t>Centralized logging</a:t>
            </a:r>
          </a:p>
          <a:p>
            <a:pPr marL="12700" marR="5080"/>
            <a:r>
              <a:rPr lang="en-US" sz="1500" kern="0" spc="-80" dirty="0">
                <a:solidFill>
                  <a:schemeClr val="accent6"/>
                </a:solidFill>
              </a:rPr>
              <a:t>SIEM</a:t>
            </a:r>
          </a:p>
          <a:p>
            <a:pPr marL="12700" marR="5080"/>
            <a:r>
              <a:rPr lang="en-US" sz="1500" kern="0" spc="-80" dirty="0">
                <a:solidFill>
                  <a:schemeClr val="accent6"/>
                </a:solidFill>
              </a:rPr>
              <a:t>Alerting on anomalies</a:t>
            </a:r>
          </a:p>
          <a:p>
            <a:pPr marL="12700" marR="5080"/>
            <a:r>
              <a:rPr lang="en-US" sz="1500" kern="0" spc="-80" dirty="0">
                <a:solidFill>
                  <a:schemeClr val="accent6"/>
                </a:solidFill>
              </a:rPr>
              <a:t>Incident response playbooks</a:t>
            </a:r>
          </a:p>
          <a:p>
            <a:pPr marL="12700" marR="5080"/>
            <a:endParaRPr lang="en-US" sz="1500" kern="0" spc="-80" dirty="0">
              <a:solidFill>
                <a:schemeClr val="accent6"/>
              </a:solidFill>
            </a:endParaRPr>
          </a:p>
          <a:p>
            <a:pPr marL="12700" marR="5080"/>
            <a:r>
              <a:rPr lang="en-US" sz="1500" kern="0" spc="-80" dirty="0">
                <a:solidFill>
                  <a:schemeClr val="accent2"/>
                </a:solidFill>
              </a:rPr>
              <a:t>🔟 A10 – Server-Side Request Forgery (SSRF)</a:t>
            </a:r>
          </a:p>
          <a:p>
            <a:pPr marL="12700" marR="5080"/>
            <a:r>
              <a:rPr lang="en-US" sz="1500" kern="0" spc="-80" dirty="0">
                <a:solidFill>
                  <a:schemeClr val="accent2"/>
                </a:solidFill>
              </a:rPr>
              <a:t>Core Idea</a:t>
            </a:r>
          </a:p>
          <a:p>
            <a:pPr marL="12700" marR="5080"/>
            <a:r>
              <a:rPr lang="en-US" sz="1500" kern="0" spc="-80" dirty="0">
                <a:solidFill>
                  <a:schemeClr val="accent6"/>
                </a:solidFill>
              </a:rPr>
              <a:t>Attacker makes your server attack itself</a:t>
            </a:r>
          </a:p>
          <a:p>
            <a:pPr marL="12700" marR="5080"/>
            <a:r>
              <a:rPr lang="en-US" sz="1500" kern="0" spc="-80" dirty="0">
                <a:solidFill>
                  <a:schemeClr val="accent2"/>
                </a:solidFill>
              </a:rPr>
              <a:t>Intuition</a:t>
            </a:r>
          </a:p>
          <a:p>
            <a:pPr marL="12700" marR="5080"/>
            <a:r>
              <a:rPr lang="en-US" sz="1500" kern="0" spc="-80" dirty="0">
                <a:solidFill>
                  <a:schemeClr val="accent6"/>
                </a:solidFill>
              </a:rPr>
              <a:t>Your server becomes a proxy.</a:t>
            </a:r>
          </a:p>
        </p:txBody>
      </p:sp>
      <p:grpSp>
        <p:nvGrpSpPr>
          <p:cNvPr id="7" name="Group 6">
            <a:extLst>
              <a:ext uri="{FF2B5EF4-FFF2-40B4-BE49-F238E27FC236}">
                <a16:creationId xmlns:a16="http://schemas.microsoft.com/office/drawing/2014/main" id="{F76BF747-D591-86BE-6049-47F39CE2DED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12CF5F9-1B16-0168-B9D0-FB1AC49C168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381C5F7F-78EA-1AB2-9FF8-D7BEE7F76A0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131210582"/>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86797-3A96-B0D5-CAAB-B3F0E5B7986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AAEDE92-31A8-2423-3915-F8BD25F6DC0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065C0B1-5B02-C822-6E95-69A80EF3C41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42D8FFA-8F17-C712-3FA2-B63DEDE973E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FF2E280-51EF-092C-4A5F-00E2CE9B3D13}"/>
              </a:ext>
            </a:extLst>
          </p:cNvPr>
          <p:cNvSpPr txBox="1">
            <a:spLocks/>
          </p:cNvSpPr>
          <p:nvPr/>
        </p:nvSpPr>
        <p:spPr>
          <a:xfrm>
            <a:off x="76200" y="714375"/>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OWASP Top 10</a:t>
            </a:r>
          </a:p>
          <a:p>
            <a:pPr marL="12700" marR="5080"/>
            <a:r>
              <a:rPr lang="en-US" sz="1500" kern="0" spc="-80" dirty="0">
                <a:solidFill>
                  <a:schemeClr val="accent2"/>
                </a:solidFill>
              </a:rPr>
              <a:t>🔟 A10 – Server-Side Request Forgery (SSRF)</a:t>
            </a:r>
          </a:p>
          <a:p>
            <a:pPr marL="12700" marR="5080"/>
            <a:r>
              <a:rPr lang="en-US" sz="1500" kern="0" spc="-80" dirty="0">
                <a:solidFill>
                  <a:schemeClr val="accent2"/>
                </a:solidFill>
              </a:rPr>
              <a:t>Example</a:t>
            </a:r>
          </a:p>
          <a:p>
            <a:pPr marL="12700" marR="5080"/>
            <a:r>
              <a:rPr lang="en-US" sz="1500" kern="0" spc="-80" dirty="0">
                <a:solidFill>
                  <a:schemeClr val="accent6"/>
                </a:solidFill>
              </a:rPr>
              <a:t>POST /</a:t>
            </a:r>
            <a:r>
              <a:rPr lang="en-US" sz="1500" kern="0" spc="-80" dirty="0" err="1">
                <a:solidFill>
                  <a:schemeClr val="accent6"/>
                </a:solidFill>
              </a:rPr>
              <a:t>fetch?url</a:t>
            </a:r>
            <a:r>
              <a:rPr lang="en-US" sz="1500" kern="0" spc="-80" dirty="0">
                <a:solidFill>
                  <a:schemeClr val="accent6"/>
                </a:solidFill>
              </a:rPr>
              <a:t>=http://169.254.169.254</a:t>
            </a:r>
          </a:p>
          <a:p>
            <a:pPr marL="12700" marR="5080"/>
            <a:r>
              <a:rPr lang="en-US" sz="1500" kern="0" spc="-80" dirty="0">
                <a:solidFill>
                  <a:schemeClr val="accent6"/>
                </a:solidFill>
              </a:rPr>
              <a:t>→ cloud metadata leaked</a:t>
            </a:r>
          </a:p>
          <a:p>
            <a:pPr marL="12700" marR="5080"/>
            <a:r>
              <a:rPr lang="en-US" sz="1500" kern="0" spc="-80" dirty="0">
                <a:solidFill>
                  <a:schemeClr val="accent2"/>
                </a:solidFill>
              </a:rPr>
              <a:t>Where It Happens</a:t>
            </a:r>
          </a:p>
          <a:p>
            <a:pPr marL="12700" marR="5080"/>
            <a:r>
              <a:rPr lang="en-US" sz="1500" kern="0" spc="-80" dirty="0">
                <a:solidFill>
                  <a:schemeClr val="accent6"/>
                </a:solidFill>
              </a:rPr>
              <a:t>URL fetchers</a:t>
            </a:r>
          </a:p>
          <a:p>
            <a:pPr marL="12700" marR="5080"/>
            <a:r>
              <a:rPr lang="en-US" sz="1500" kern="0" spc="-80" dirty="0">
                <a:solidFill>
                  <a:schemeClr val="accent6"/>
                </a:solidFill>
              </a:rPr>
              <a:t>Webhooks</a:t>
            </a:r>
          </a:p>
          <a:p>
            <a:pPr marL="12700" marR="5080"/>
            <a:r>
              <a:rPr lang="en-US" sz="1500" kern="0" spc="-80" dirty="0">
                <a:solidFill>
                  <a:schemeClr val="accent6"/>
                </a:solidFill>
              </a:rPr>
              <a:t>PDF generators</a:t>
            </a:r>
          </a:p>
          <a:p>
            <a:pPr marL="12700" marR="5080"/>
            <a:r>
              <a:rPr lang="en-US" sz="1500" kern="0" spc="-80" dirty="0">
                <a:solidFill>
                  <a:schemeClr val="accent6"/>
                </a:solidFill>
              </a:rPr>
              <a:t>Image fetch services</a:t>
            </a:r>
          </a:p>
          <a:p>
            <a:pPr marL="12700" marR="5080"/>
            <a:r>
              <a:rPr lang="en-US" sz="1500" kern="0" spc="-80" dirty="0">
                <a:solidFill>
                  <a:schemeClr val="accent2"/>
                </a:solidFill>
              </a:rPr>
              <a:t>Prevention</a:t>
            </a:r>
          </a:p>
          <a:p>
            <a:pPr marL="12700" marR="5080"/>
            <a:r>
              <a:rPr lang="en-US" sz="1500" kern="0" spc="-80" dirty="0">
                <a:solidFill>
                  <a:schemeClr val="accent6"/>
                </a:solidFill>
              </a:rPr>
              <a:t>Allowlist destinations</a:t>
            </a:r>
          </a:p>
          <a:p>
            <a:pPr marL="12700" marR="5080"/>
            <a:r>
              <a:rPr lang="en-US" sz="1500" kern="0" spc="-80" dirty="0">
                <a:solidFill>
                  <a:schemeClr val="accent6"/>
                </a:solidFill>
              </a:rPr>
              <a:t>Block internal IP ranges</a:t>
            </a:r>
          </a:p>
          <a:p>
            <a:pPr marL="12700" marR="5080"/>
            <a:r>
              <a:rPr lang="en-US" sz="1500" kern="0" spc="-80" dirty="0">
                <a:solidFill>
                  <a:schemeClr val="accent6"/>
                </a:solidFill>
              </a:rPr>
              <a:t>Metadata service protections</a:t>
            </a:r>
          </a:p>
          <a:p>
            <a:pPr marL="12700" marR="5080"/>
            <a:r>
              <a:rPr lang="en-US" sz="1500" kern="0" spc="-80" dirty="0">
                <a:solidFill>
                  <a:schemeClr val="accent6"/>
                </a:solidFill>
              </a:rPr>
              <a:t>Network-level isolation</a:t>
            </a:r>
          </a:p>
          <a:p>
            <a:pPr marL="12700" marR="5080"/>
            <a:endParaRPr lang="en-US" sz="1500" kern="0" spc="-80" dirty="0">
              <a:solidFill>
                <a:schemeClr val="accent6"/>
              </a:solidFill>
            </a:endParaRPr>
          </a:p>
          <a:p>
            <a:pPr marL="12700" marR="5080"/>
            <a:r>
              <a:rPr lang="en-US" sz="1500" kern="0" spc="-80" dirty="0">
                <a:solidFill>
                  <a:schemeClr val="accent2"/>
                </a:solidFill>
              </a:rPr>
              <a:t>How OWASP Maps to Real Systems</a:t>
            </a:r>
          </a:p>
          <a:p>
            <a:pPr marL="12700" marR="5080"/>
            <a:r>
              <a:rPr lang="en-US" sz="1500" kern="0" spc="-80" dirty="0">
                <a:solidFill>
                  <a:schemeClr val="accent2"/>
                </a:solidFill>
              </a:rPr>
              <a:t>Layer	   Typical OWASP Failures</a:t>
            </a:r>
          </a:p>
          <a:p>
            <a:pPr marL="12700" marR="5080"/>
            <a:r>
              <a:rPr lang="en-US" sz="1500" kern="0" spc="-80" dirty="0">
                <a:solidFill>
                  <a:schemeClr val="accent6"/>
                </a:solidFill>
              </a:rPr>
              <a:t>Frontend	    IDOR, Mass assignment</a:t>
            </a:r>
          </a:p>
          <a:p>
            <a:pPr marL="12700" marR="5080"/>
            <a:r>
              <a:rPr lang="en-US" sz="1500" kern="0" spc="-80" dirty="0">
                <a:solidFill>
                  <a:schemeClr val="accent6"/>
                </a:solidFill>
              </a:rPr>
              <a:t>API	    Broken auth, Injection</a:t>
            </a:r>
          </a:p>
          <a:p>
            <a:pPr marL="12700" marR="5080"/>
            <a:r>
              <a:rPr lang="en-US" sz="1500" kern="0" spc="-80" dirty="0">
                <a:solidFill>
                  <a:schemeClr val="accent6"/>
                </a:solidFill>
              </a:rPr>
              <a:t>DB	    Injection, crypto</a:t>
            </a:r>
          </a:p>
        </p:txBody>
      </p:sp>
      <p:grpSp>
        <p:nvGrpSpPr>
          <p:cNvPr id="7" name="Group 6">
            <a:extLst>
              <a:ext uri="{FF2B5EF4-FFF2-40B4-BE49-F238E27FC236}">
                <a16:creationId xmlns:a16="http://schemas.microsoft.com/office/drawing/2014/main" id="{211D4231-E371-1CB9-6C14-72BDDCCB16D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0632088-724C-2D45-AE17-C148989EF43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E5020C6-5DDE-CCA8-A304-0CC577CCAC5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659903187"/>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CB88A-9C52-62E7-3776-DB31847B617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9AB3879-6A4D-AC95-0BE9-CDF4100CDAB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1506244-7AD3-D24D-EC88-38CB4B93693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C01D945-3F26-011B-1316-6603655D103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F581125-94BA-F265-F94E-F051BD30FAFE}"/>
              </a:ext>
            </a:extLst>
          </p:cNvPr>
          <p:cNvSpPr txBox="1">
            <a:spLocks/>
          </p:cNvSpPr>
          <p:nvPr/>
        </p:nvSpPr>
        <p:spPr>
          <a:xfrm>
            <a:off x="76200" y="732234"/>
            <a:ext cx="8624937" cy="30777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OWASP Top 10</a:t>
            </a:r>
          </a:p>
          <a:p>
            <a:pPr marL="12700" marR="5080"/>
            <a:r>
              <a:rPr lang="en-US" sz="1500" kern="0" spc="-80" dirty="0">
                <a:solidFill>
                  <a:schemeClr val="accent2"/>
                </a:solidFill>
              </a:rPr>
              <a:t>How OWASP Maps to Real Systems</a:t>
            </a:r>
          </a:p>
          <a:p>
            <a:pPr marL="12700" marR="5080"/>
            <a:r>
              <a:rPr lang="en-US" sz="1500" kern="0" spc="-80" dirty="0">
                <a:solidFill>
                  <a:schemeClr val="accent2"/>
                </a:solidFill>
              </a:rPr>
              <a:t>Layer	                  Typical OWASP Failures</a:t>
            </a:r>
          </a:p>
          <a:p>
            <a:pPr marL="12700" marR="5080"/>
            <a:r>
              <a:rPr lang="en-US" sz="1500" kern="0" spc="-80" dirty="0">
                <a:solidFill>
                  <a:schemeClr val="accent6"/>
                </a:solidFill>
              </a:rPr>
              <a:t>Cloud	                  SSRF, </a:t>
            </a:r>
            <a:r>
              <a:rPr lang="en-US" sz="1500" kern="0" spc="-80" dirty="0" err="1">
                <a:solidFill>
                  <a:schemeClr val="accent6"/>
                </a:solidFill>
              </a:rPr>
              <a:t>misconfig</a:t>
            </a:r>
            <a:endParaRPr lang="en-US" sz="1500" kern="0" spc="-80" dirty="0">
              <a:solidFill>
                <a:schemeClr val="accent6"/>
              </a:solidFill>
            </a:endParaRPr>
          </a:p>
          <a:p>
            <a:pPr marL="12700" marR="5080"/>
            <a:r>
              <a:rPr lang="en-US" sz="1500" kern="0" spc="-80" dirty="0">
                <a:solidFill>
                  <a:schemeClr val="accent6"/>
                </a:solidFill>
              </a:rPr>
              <a:t>CI/CD	                  Integrity failures</a:t>
            </a:r>
          </a:p>
          <a:p>
            <a:pPr marL="12700" marR="5080"/>
            <a:r>
              <a:rPr lang="en-US" sz="1500" kern="0" spc="-80" dirty="0">
                <a:solidFill>
                  <a:schemeClr val="accent6"/>
                </a:solidFill>
              </a:rPr>
              <a:t>Observability	Logging failures</a:t>
            </a:r>
          </a:p>
          <a:p>
            <a:pPr marL="12700" marR="5080"/>
            <a:endParaRPr lang="en-US" sz="1500" kern="0" spc="-80" dirty="0">
              <a:solidFill>
                <a:schemeClr val="accent6"/>
              </a:solidFill>
            </a:endParaRPr>
          </a:p>
          <a:p>
            <a:pPr marL="12700" marR="5080"/>
            <a:r>
              <a:rPr lang="en-US" sz="1500" kern="0" spc="-80" dirty="0">
                <a:solidFill>
                  <a:schemeClr val="accent2"/>
                </a:solidFill>
              </a:rPr>
              <a:t>Mental Model to Remember OWASP</a:t>
            </a:r>
          </a:p>
          <a:p>
            <a:pPr marL="12700" marR="5080"/>
            <a:r>
              <a:rPr lang="en-US" sz="1500" kern="0" spc="-80" dirty="0">
                <a:solidFill>
                  <a:schemeClr val="accent6"/>
                </a:solidFill>
              </a:rPr>
              <a:t>The 4 Big Failure Classes</a:t>
            </a:r>
          </a:p>
          <a:p>
            <a:pPr marL="12700" marR="5080"/>
            <a:r>
              <a:rPr lang="en-US" sz="1500" kern="0" spc="-80" dirty="0">
                <a:solidFill>
                  <a:schemeClr val="accent6"/>
                </a:solidFill>
              </a:rPr>
              <a:t>Trusting users too much</a:t>
            </a:r>
          </a:p>
          <a:p>
            <a:pPr marL="12700" marR="5080"/>
            <a:r>
              <a:rPr lang="en-US" sz="1500" kern="0" spc="-80" dirty="0">
                <a:solidFill>
                  <a:schemeClr val="accent6"/>
                </a:solidFill>
              </a:rPr>
              <a:t>Trusting data too much</a:t>
            </a:r>
          </a:p>
          <a:p>
            <a:pPr marL="12700" marR="5080"/>
            <a:r>
              <a:rPr lang="en-US" sz="1500" kern="0" spc="-80" dirty="0">
                <a:solidFill>
                  <a:schemeClr val="accent6"/>
                </a:solidFill>
              </a:rPr>
              <a:t>Trusting dependencies too much</a:t>
            </a:r>
          </a:p>
          <a:p>
            <a:pPr marL="12700" marR="5080"/>
            <a:r>
              <a:rPr lang="en-US" sz="1500" kern="0" spc="-80" dirty="0">
                <a:solidFill>
                  <a:schemeClr val="accent6"/>
                </a:solidFill>
              </a:rPr>
              <a:t>Not watching your system</a:t>
            </a:r>
          </a:p>
        </p:txBody>
      </p:sp>
      <p:grpSp>
        <p:nvGrpSpPr>
          <p:cNvPr id="7" name="Group 6">
            <a:extLst>
              <a:ext uri="{FF2B5EF4-FFF2-40B4-BE49-F238E27FC236}">
                <a16:creationId xmlns:a16="http://schemas.microsoft.com/office/drawing/2014/main" id="{A57881DD-534A-A015-E76C-684E1723FE5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0896084-4636-D567-76FA-6261ED02FDB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3BA7536-098A-F5A3-2240-7DAFC97F87B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279669964"/>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A69B0-4C1E-0F89-B913-B0EE08201DB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1039309-FAA4-1A42-3EDC-15876B0BB08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298BC7C-8122-248C-FA26-EB903922937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06DC555-F48B-3387-4328-68C84DB853E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24847E1-73DC-50FF-0EAB-3F039E690967}"/>
              </a:ext>
            </a:extLst>
          </p:cNvPr>
          <p:cNvSpPr txBox="1">
            <a:spLocks/>
          </p:cNvSpPr>
          <p:nvPr/>
        </p:nvSpPr>
        <p:spPr>
          <a:xfrm>
            <a:off x="0" y="712143"/>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Input Validation and </a:t>
            </a:r>
            <a:r>
              <a:rPr lang="en-US" sz="2000" kern="0" spc="-80" dirty="0" err="1">
                <a:solidFill>
                  <a:schemeClr val="accent2"/>
                </a:solidFill>
              </a:rPr>
              <a:t>Sanitisation</a:t>
            </a:r>
            <a:endParaRPr lang="en-US" sz="2000" kern="0" spc="-80" dirty="0">
              <a:solidFill>
                <a:schemeClr val="accent2"/>
              </a:solidFill>
            </a:endParaRPr>
          </a:p>
          <a:p>
            <a:pPr marL="12700" marR="5080"/>
            <a:r>
              <a:rPr lang="en-US" sz="1500" kern="0" spc="-80" dirty="0">
                <a:solidFill>
                  <a:schemeClr val="accent6"/>
                </a:solidFill>
              </a:rPr>
              <a:t>Input validation and </a:t>
            </a:r>
            <a:r>
              <a:rPr lang="en-US" sz="1500" kern="0" spc="-80" dirty="0" err="1">
                <a:solidFill>
                  <a:schemeClr val="accent6"/>
                </a:solidFill>
              </a:rPr>
              <a:t>sanitisation</a:t>
            </a:r>
            <a:r>
              <a:rPr lang="en-US" sz="1500" kern="0" spc="-80" dirty="0">
                <a:solidFill>
                  <a:schemeClr val="accent6"/>
                </a:solidFill>
              </a:rPr>
              <a:t> are foundational security controls. Almost every serious vulnerability (SQLi, XSS, command injection, path traversal, deserialization bugs) starts with untrusted input being used unsafely.</a:t>
            </a:r>
          </a:p>
          <a:p>
            <a:pPr marL="12700" marR="5080"/>
            <a:r>
              <a:rPr lang="en-US" sz="1500" kern="0" spc="-80" dirty="0">
                <a:solidFill>
                  <a:schemeClr val="accent2"/>
                </a:solidFill>
              </a:rPr>
              <a:t>Think of this as answering two questions for every input:</a:t>
            </a:r>
          </a:p>
          <a:p>
            <a:pPr marL="12700" marR="5080"/>
            <a:r>
              <a:rPr lang="en-US" sz="1500" kern="0" spc="-80" dirty="0">
                <a:solidFill>
                  <a:schemeClr val="accent6"/>
                </a:solidFill>
              </a:rPr>
              <a:t>Is this input allowed? → Validation</a:t>
            </a:r>
          </a:p>
          <a:p>
            <a:pPr marL="12700" marR="5080"/>
            <a:r>
              <a:rPr lang="en-US" sz="1500" kern="0" spc="-80" dirty="0">
                <a:solidFill>
                  <a:schemeClr val="accent6"/>
                </a:solidFill>
              </a:rPr>
              <a:t>How should this input be made safe for use? → </a:t>
            </a:r>
            <a:r>
              <a:rPr lang="en-US" sz="1500" kern="0" spc="-80" dirty="0" err="1">
                <a:solidFill>
                  <a:schemeClr val="accent6"/>
                </a:solidFill>
              </a:rPr>
              <a:t>Sanitisation</a:t>
            </a:r>
            <a:r>
              <a:rPr lang="en-US" sz="1500" kern="0" spc="-80" dirty="0">
                <a:solidFill>
                  <a:schemeClr val="accent6"/>
                </a:solidFill>
              </a:rPr>
              <a:t> / Encoding</a:t>
            </a:r>
          </a:p>
          <a:p>
            <a:pPr marL="12700" marR="5080"/>
            <a:endParaRPr lang="en-US" sz="1500" kern="0" spc="-80" dirty="0">
              <a:solidFill>
                <a:schemeClr val="accent6"/>
              </a:solidFill>
            </a:endParaRPr>
          </a:p>
          <a:p>
            <a:pPr marL="12700" marR="5080"/>
            <a:r>
              <a:rPr lang="en-US" sz="1500" kern="0" spc="-80" dirty="0">
                <a:solidFill>
                  <a:schemeClr val="accent2"/>
                </a:solidFill>
              </a:rPr>
              <a:t>1. Core Definitions (Clear Distinction)</a:t>
            </a:r>
          </a:p>
          <a:p>
            <a:pPr marL="12700" marR="5080"/>
            <a:r>
              <a:rPr lang="en-US" sz="1500" kern="0" spc="-80" dirty="0">
                <a:solidFill>
                  <a:schemeClr val="accent2"/>
                </a:solidFill>
              </a:rPr>
              <a:t>✅ Input Validation</a:t>
            </a:r>
          </a:p>
          <a:p>
            <a:pPr marL="12700" marR="5080"/>
            <a:r>
              <a:rPr lang="en-US" sz="1500" kern="0" spc="-80" dirty="0">
                <a:solidFill>
                  <a:schemeClr val="accent6"/>
                </a:solidFill>
              </a:rPr>
              <a:t>Deciding whether input is acceptable or not</a:t>
            </a:r>
          </a:p>
          <a:p>
            <a:pPr marL="12700" marR="5080"/>
            <a:r>
              <a:rPr lang="en-US" sz="1500" kern="0" spc="-80" dirty="0">
                <a:solidFill>
                  <a:schemeClr val="accent6"/>
                </a:solidFill>
              </a:rPr>
              <a:t>Reject bad input</a:t>
            </a:r>
          </a:p>
          <a:p>
            <a:pPr marL="12700" marR="5080"/>
            <a:r>
              <a:rPr lang="en-US" sz="1500" kern="0" spc="-80" dirty="0">
                <a:solidFill>
                  <a:schemeClr val="accent6"/>
                </a:solidFill>
              </a:rPr>
              <a:t>Based on business rules and data expectations</a:t>
            </a:r>
          </a:p>
          <a:p>
            <a:pPr marL="12700" marR="5080"/>
            <a:r>
              <a:rPr lang="en-US" sz="1500" kern="0" spc="-80" dirty="0">
                <a:solidFill>
                  <a:schemeClr val="accent6"/>
                </a:solidFill>
              </a:rPr>
              <a:t>Happens before processing</a:t>
            </a:r>
          </a:p>
          <a:p>
            <a:pPr marL="12700" marR="5080"/>
            <a:r>
              <a:rPr lang="en-US" sz="1500" kern="0" spc="-80" dirty="0">
                <a:solidFill>
                  <a:schemeClr val="accent2"/>
                </a:solidFill>
              </a:rPr>
              <a:t>Example</a:t>
            </a:r>
          </a:p>
          <a:p>
            <a:pPr marL="12700" marR="5080"/>
            <a:r>
              <a:rPr lang="en-US" sz="1500" kern="0" spc="-80" dirty="0">
                <a:solidFill>
                  <a:schemeClr val="accent6"/>
                </a:solidFill>
              </a:rPr>
              <a:t>Age must be an integer between 0 and 120</a:t>
            </a:r>
          </a:p>
          <a:p>
            <a:pPr marL="12700" marR="5080"/>
            <a:r>
              <a:rPr lang="en-US" sz="1500" kern="0" spc="-80" dirty="0">
                <a:solidFill>
                  <a:schemeClr val="accent6"/>
                </a:solidFill>
              </a:rPr>
              <a:t>Email must follow RFC-like structure</a:t>
            </a:r>
          </a:p>
          <a:p>
            <a:pPr marL="12700" marR="5080"/>
            <a:r>
              <a:rPr lang="en-US" sz="1500" kern="0" spc="-80" dirty="0">
                <a:solidFill>
                  <a:schemeClr val="accent6"/>
                </a:solidFill>
              </a:rPr>
              <a:t>Username must be 3–20 alphanumeric characters</a:t>
            </a: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grpSp>
        <p:nvGrpSpPr>
          <p:cNvPr id="9" name="Group 8">
            <a:extLst>
              <a:ext uri="{FF2B5EF4-FFF2-40B4-BE49-F238E27FC236}">
                <a16:creationId xmlns:a16="http://schemas.microsoft.com/office/drawing/2014/main" id="{16B3D530-B5EB-B02E-7E0A-83718A7728E9}"/>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62C11AFC-F11F-E421-D988-B12F17417CF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522E1A35-14CB-29ED-C6E2-0CA493ECC15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670436889"/>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8395B-911B-4B77-64FD-8461024A7D9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94A8317-4E0C-9F78-875C-2830526D414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5EC923C-D330-0355-4709-FB8171C67F3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697DCF8-18FB-6496-CE35-D7E007BEC3F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54A3359-380D-F4F9-586F-074F920AA1F5}"/>
              </a:ext>
            </a:extLst>
          </p:cNvPr>
          <p:cNvSpPr txBox="1">
            <a:spLocks/>
          </p:cNvSpPr>
          <p:nvPr/>
        </p:nvSpPr>
        <p:spPr>
          <a:xfrm>
            <a:off x="76200" y="71884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Input Validation and </a:t>
            </a:r>
            <a:r>
              <a:rPr lang="en-US" sz="2000" kern="0" spc="-80" dirty="0" err="1">
                <a:solidFill>
                  <a:schemeClr val="accent2"/>
                </a:solidFill>
              </a:rPr>
              <a:t>Sanitisation</a:t>
            </a:r>
            <a:endParaRPr lang="en-US" sz="2000" kern="0" spc="-80" dirty="0">
              <a:solidFill>
                <a:schemeClr val="accent2"/>
              </a:solidFill>
            </a:endParaRPr>
          </a:p>
          <a:p>
            <a:pPr marL="12700" marR="5080"/>
            <a:r>
              <a:rPr lang="en-US" sz="1500" kern="0" spc="-80" dirty="0">
                <a:solidFill>
                  <a:schemeClr val="accent2"/>
                </a:solidFill>
              </a:rPr>
              <a:t>1. Core Definitions (Clear Distinction)</a:t>
            </a:r>
          </a:p>
          <a:p>
            <a:pPr marL="12700" marR="5080"/>
            <a:r>
              <a:rPr lang="en-US" sz="1500" kern="0" spc="-80" dirty="0">
                <a:solidFill>
                  <a:schemeClr val="accent2"/>
                </a:solidFill>
              </a:rPr>
              <a:t>🧼 Input </a:t>
            </a:r>
            <a:r>
              <a:rPr lang="en-US" sz="1500" kern="0" spc="-80" dirty="0" err="1">
                <a:solidFill>
                  <a:schemeClr val="accent2"/>
                </a:solidFill>
              </a:rPr>
              <a:t>Sanitisation</a:t>
            </a:r>
            <a:r>
              <a:rPr lang="en-US" sz="1500" kern="0" spc="-80" dirty="0">
                <a:solidFill>
                  <a:schemeClr val="accent2"/>
                </a:solidFill>
              </a:rPr>
              <a:t> (or Encoding)</a:t>
            </a:r>
          </a:p>
          <a:p>
            <a:pPr marL="12700" marR="5080"/>
            <a:r>
              <a:rPr lang="en-US" sz="1500" kern="0" spc="-80" dirty="0">
                <a:solidFill>
                  <a:schemeClr val="accent6"/>
                </a:solidFill>
              </a:rPr>
              <a:t>Transforming input so it is safe in a specific context</a:t>
            </a:r>
          </a:p>
          <a:p>
            <a:pPr marL="12700" marR="5080"/>
            <a:r>
              <a:rPr lang="en-US" sz="1500" kern="0" spc="-80" dirty="0">
                <a:solidFill>
                  <a:schemeClr val="accent6"/>
                </a:solidFill>
              </a:rPr>
              <a:t>Does not decide if input is valid</a:t>
            </a:r>
          </a:p>
          <a:p>
            <a:pPr marL="12700" marR="5080"/>
            <a:r>
              <a:rPr lang="en-US" sz="1500" kern="0" spc="-80" dirty="0">
                <a:solidFill>
                  <a:schemeClr val="accent2"/>
                </a:solidFill>
              </a:rPr>
              <a:t>Makes input safe for:</a:t>
            </a:r>
          </a:p>
          <a:p>
            <a:pPr marL="12700" marR="5080"/>
            <a:r>
              <a:rPr lang="en-US" sz="1500" kern="0" spc="-80" dirty="0">
                <a:solidFill>
                  <a:schemeClr val="accent6"/>
                </a:solidFill>
              </a:rPr>
              <a:t>SQL</a:t>
            </a:r>
          </a:p>
          <a:p>
            <a:pPr marL="12700" marR="5080"/>
            <a:r>
              <a:rPr lang="en-US" sz="1500" kern="0" spc="-80" dirty="0">
                <a:solidFill>
                  <a:schemeClr val="accent6"/>
                </a:solidFill>
              </a:rPr>
              <a:t>HTML</a:t>
            </a:r>
          </a:p>
          <a:p>
            <a:pPr marL="12700" marR="5080"/>
            <a:r>
              <a:rPr lang="en-US" sz="1500" kern="0" spc="-80" dirty="0">
                <a:solidFill>
                  <a:schemeClr val="accent6"/>
                </a:solidFill>
              </a:rPr>
              <a:t>JavaScript</a:t>
            </a:r>
          </a:p>
          <a:p>
            <a:pPr marL="12700" marR="5080"/>
            <a:r>
              <a:rPr lang="en-US" sz="1500" kern="0" spc="-80" dirty="0">
                <a:solidFill>
                  <a:schemeClr val="accent6"/>
                </a:solidFill>
              </a:rPr>
              <a:t>Shell</a:t>
            </a:r>
          </a:p>
          <a:p>
            <a:pPr marL="12700" marR="5080"/>
            <a:r>
              <a:rPr lang="en-US" sz="1500" kern="0" spc="-80" dirty="0">
                <a:solidFill>
                  <a:schemeClr val="accent6"/>
                </a:solidFill>
              </a:rPr>
              <a:t>URLs</a:t>
            </a:r>
          </a:p>
          <a:p>
            <a:pPr marL="12700" marR="5080"/>
            <a:r>
              <a:rPr lang="en-US" sz="1500" kern="0" spc="-80" dirty="0">
                <a:solidFill>
                  <a:schemeClr val="accent6"/>
                </a:solidFill>
              </a:rPr>
              <a:t>Example</a:t>
            </a:r>
          </a:p>
          <a:p>
            <a:pPr marL="12700" marR="5080"/>
            <a:r>
              <a:rPr lang="en-US" sz="1500" kern="0" spc="-80" dirty="0">
                <a:solidFill>
                  <a:schemeClr val="accent6"/>
                </a:solidFill>
              </a:rPr>
              <a:t>&lt;script&gt;alert(1)&lt;/script&gt;</a:t>
            </a:r>
          </a:p>
          <a:p>
            <a:pPr marL="12700" marR="5080"/>
            <a:r>
              <a:rPr lang="en-US" sz="1500" kern="0" spc="-80" dirty="0">
                <a:solidFill>
                  <a:schemeClr val="accent6"/>
                </a:solidFill>
              </a:rPr>
              <a:t>↓</a:t>
            </a:r>
          </a:p>
          <a:p>
            <a:pPr marL="12700" marR="5080"/>
            <a:r>
              <a:rPr lang="en-US" sz="1500" kern="0" spc="-80" dirty="0">
                <a:solidFill>
                  <a:schemeClr val="accent6"/>
                </a:solidFill>
              </a:rPr>
              <a:t>&amp;</a:t>
            </a:r>
            <a:r>
              <a:rPr lang="en-US" sz="1500" kern="0" spc="-80" dirty="0" err="1">
                <a:solidFill>
                  <a:schemeClr val="accent6"/>
                </a:solidFill>
              </a:rPr>
              <a:t>lt;script&amp;gt;alert</a:t>
            </a:r>
            <a:r>
              <a:rPr lang="en-US" sz="1500" kern="0" spc="-80" dirty="0">
                <a:solidFill>
                  <a:schemeClr val="accent6"/>
                </a:solidFill>
              </a:rPr>
              <a:t>(1)&amp;</a:t>
            </a:r>
            <a:r>
              <a:rPr lang="en-US" sz="1500" kern="0" spc="-80" dirty="0" err="1">
                <a:solidFill>
                  <a:schemeClr val="accent6"/>
                </a:solidFill>
              </a:rPr>
              <a:t>lt</a:t>
            </a:r>
            <a:r>
              <a:rPr lang="en-US" sz="1500" kern="0" spc="-80" dirty="0">
                <a:solidFill>
                  <a:schemeClr val="accent6"/>
                </a:solidFill>
              </a:rPr>
              <a:t>;/</a:t>
            </a:r>
            <a:r>
              <a:rPr lang="en-US" sz="1500" kern="0" spc="-80" dirty="0" err="1">
                <a:solidFill>
                  <a:schemeClr val="accent6"/>
                </a:solidFill>
              </a:rPr>
              <a:t>script&amp;gt</a:t>
            </a:r>
            <a:r>
              <a:rPr lang="en-US" sz="1500" kern="0" spc="-80" dirty="0">
                <a:solidFill>
                  <a:schemeClr val="accent6"/>
                </a:solidFill>
              </a:rPr>
              <a:t>;</a:t>
            </a:r>
          </a:p>
          <a:p>
            <a:pPr marL="12700" marR="5080"/>
            <a:r>
              <a:rPr lang="en-US" sz="1500" kern="0" spc="-80" dirty="0">
                <a:solidFill>
                  <a:schemeClr val="accent6"/>
                </a:solidFill>
              </a:rPr>
              <a:t>⚠️ Validation ≠ </a:t>
            </a:r>
            <a:r>
              <a:rPr lang="en-US" sz="1500" kern="0" spc="-80" dirty="0" err="1">
                <a:solidFill>
                  <a:schemeClr val="accent6"/>
                </a:solidFill>
              </a:rPr>
              <a:t>Sanitisation</a:t>
            </a:r>
            <a:endParaRPr lang="en-US" sz="1500" kern="0" spc="-80" dirty="0">
              <a:solidFill>
                <a:schemeClr val="accent6"/>
              </a:solidFill>
            </a:endParaRPr>
          </a:p>
          <a:p>
            <a:pPr marL="12700" marR="5080"/>
            <a:r>
              <a:rPr lang="en-US" sz="1500" kern="0" spc="-80" dirty="0">
                <a:solidFill>
                  <a:schemeClr val="accent6"/>
                </a:solidFill>
              </a:rPr>
              <a:t>Validation answers “Should I accept this?”</a:t>
            </a:r>
          </a:p>
          <a:p>
            <a:pPr marL="12700" marR="5080"/>
            <a:r>
              <a:rPr lang="en-US" sz="1500" kern="0" spc="-80" dirty="0" err="1">
                <a:solidFill>
                  <a:schemeClr val="accent6"/>
                </a:solidFill>
              </a:rPr>
              <a:t>Sanitisation</a:t>
            </a:r>
            <a:r>
              <a:rPr lang="en-US" sz="1500" kern="0" spc="-80" dirty="0">
                <a:solidFill>
                  <a:schemeClr val="accent6"/>
                </a:solidFill>
              </a:rPr>
              <a:t> answers “How do I safely use this?”</a:t>
            </a:r>
          </a:p>
          <a:p>
            <a:pPr marL="12700" marR="5080"/>
            <a:r>
              <a:rPr lang="en-US" sz="1500" kern="0" spc="-80" dirty="0">
                <a:solidFill>
                  <a:schemeClr val="accent6"/>
                </a:solidFill>
              </a:rPr>
              <a:t>You usually need both.</a:t>
            </a:r>
          </a:p>
        </p:txBody>
      </p:sp>
      <p:grpSp>
        <p:nvGrpSpPr>
          <p:cNvPr id="7" name="Group 6">
            <a:extLst>
              <a:ext uri="{FF2B5EF4-FFF2-40B4-BE49-F238E27FC236}">
                <a16:creationId xmlns:a16="http://schemas.microsoft.com/office/drawing/2014/main" id="{BDBD4AE4-3F9C-B23B-B694-973786E1781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5727FDE-6A45-69E9-5512-6A562CAFFE0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9B8D6F0-849D-927A-5BAA-746622EAD93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271285118"/>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0BFA08-2659-0C0B-B796-01C0A9A594F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282A37A-F45B-C934-6227-D37EC32D9D4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6E2C2C0-2B41-6F74-A8ED-1E0437D6461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58C4278-8712-9FFC-CF11-27172712261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2660E08-0199-A458-9395-5074723DFD4A}"/>
              </a:ext>
            </a:extLst>
          </p:cNvPr>
          <p:cNvSpPr txBox="1">
            <a:spLocks/>
          </p:cNvSpPr>
          <p:nvPr/>
        </p:nvSpPr>
        <p:spPr>
          <a:xfrm>
            <a:off x="76200" y="790575"/>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Input Validation and </a:t>
            </a:r>
            <a:r>
              <a:rPr lang="en-US" sz="2000" kern="0" spc="-80" dirty="0" err="1">
                <a:solidFill>
                  <a:schemeClr val="accent2"/>
                </a:solidFill>
              </a:rPr>
              <a:t>Sanitisation</a:t>
            </a:r>
            <a:endParaRPr lang="en-US" sz="2000" kern="0" spc="-80" dirty="0">
              <a:solidFill>
                <a:schemeClr val="accent2"/>
              </a:solidFill>
            </a:endParaRPr>
          </a:p>
          <a:p>
            <a:pPr marL="12700" marR="5080"/>
            <a:r>
              <a:rPr lang="en-US" sz="1500" kern="0" spc="-80" dirty="0">
                <a:solidFill>
                  <a:schemeClr val="accent2"/>
                </a:solidFill>
              </a:rPr>
              <a:t>2. Why Input Is Dangerous (Threat Model)</a:t>
            </a:r>
          </a:p>
          <a:p>
            <a:pPr marL="12700" marR="5080"/>
            <a:r>
              <a:rPr lang="en-US" sz="1500" kern="0" spc="-80" dirty="0">
                <a:solidFill>
                  <a:schemeClr val="accent6"/>
                </a:solidFill>
              </a:rPr>
              <a:t>Sources of Untrusted Input</a:t>
            </a:r>
          </a:p>
          <a:p>
            <a:pPr marL="12700" marR="5080"/>
            <a:r>
              <a:rPr lang="en-US" sz="1500" kern="0" spc="-80" dirty="0">
                <a:solidFill>
                  <a:schemeClr val="accent6"/>
                </a:solidFill>
              </a:rPr>
              <a:t>HTTP headers</a:t>
            </a:r>
          </a:p>
          <a:p>
            <a:pPr marL="12700" marR="5080"/>
            <a:r>
              <a:rPr lang="en-US" sz="1500" kern="0" spc="-80" dirty="0">
                <a:solidFill>
                  <a:schemeClr val="accent6"/>
                </a:solidFill>
              </a:rPr>
              <a:t>Query parameters</a:t>
            </a:r>
          </a:p>
          <a:p>
            <a:pPr marL="12700" marR="5080"/>
            <a:r>
              <a:rPr lang="en-US" sz="1500" kern="0" spc="-80" dirty="0">
                <a:solidFill>
                  <a:schemeClr val="accent6"/>
                </a:solidFill>
              </a:rPr>
              <a:t>Request body (JSON, XML)</a:t>
            </a:r>
          </a:p>
          <a:p>
            <a:pPr marL="12700" marR="5080"/>
            <a:r>
              <a:rPr lang="en-US" sz="1500" kern="0" spc="-80" dirty="0">
                <a:solidFill>
                  <a:schemeClr val="accent6"/>
                </a:solidFill>
              </a:rPr>
              <a:t>Cookies</a:t>
            </a:r>
          </a:p>
          <a:p>
            <a:pPr marL="12700" marR="5080"/>
            <a:r>
              <a:rPr lang="en-US" sz="1500" kern="0" spc="-80" dirty="0">
                <a:solidFill>
                  <a:schemeClr val="accent6"/>
                </a:solidFill>
              </a:rPr>
              <a:t>File uploads</a:t>
            </a:r>
          </a:p>
          <a:p>
            <a:pPr marL="12700" marR="5080"/>
            <a:r>
              <a:rPr lang="en-US" sz="1500" kern="0" spc="-80" dirty="0" err="1">
                <a:solidFill>
                  <a:schemeClr val="accent6"/>
                </a:solidFill>
              </a:rPr>
              <a:t>WebSockets</a:t>
            </a:r>
            <a:endParaRPr lang="en-US" sz="1500" kern="0" spc="-80" dirty="0">
              <a:solidFill>
                <a:schemeClr val="accent6"/>
              </a:solidFill>
            </a:endParaRPr>
          </a:p>
          <a:p>
            <a:pPr marL="12700" marR="5080"/>
            <a:r>
              <a:rPr lang="en-US" sz="1500" kern="0" spc="-80" dirty="0">
                <a:solidFill>
                  <a:schemeClr val="accent6"/>
                </a:solidFill>
              </a:rPr>
              <a:t>Environment variables</a:t>
            </a:r>
          </a:p>
          <a:p>
            <a:pPr marL="12700" marR="5080"/>
            <a:r>
              <a:rPr lang="en-US" sz="1500" kern="0" spc="-80" dirty="0">
                <a:solidFill>
                  <a:schemeClr val="accent6"/>
                </a:solidFill>
              </a:rPr>
              <a:t>Database fields (yes, DB data can be poisoned)</a:t>
            </a:r>
          </a:p>
          <a:p>
            <a:pPr marL="12700" marR="5080"/>
            <a:r>
              <a:rPr lang="en-US" sz="1500" kern="0" spc="-80" dirty="0">
                <a:solidFill>
                  <a:schemeClr val="accent2"/>
                </a:solidFill>
              </a:rPr>
              <a:t>Rule:</a:t>
            </a:r>
          </a:p>
          <a:p>
            <a:pPr marL="12700" marR="5080"/>
            <a:r>
              <a:rPr lang="en-US" sz="1500" kern="0" spc="-80" dirty="0">
                <a:solidFill>
                  <a:schemeClr val="accent6"/>
                </a:solidFill>
              </a:rPr>
              <a:t>All input is untrusted unless proven otherwise</a:t>
            </a:r>
          </a:p>
          <a:p>
            <a:pPr marL="12700" marR="5080"/>
            <a:r>
              <a:rPr lang="en-US" sz="1500" kern="0" spc="-80" dirty="0">
                <a:solidFill>
                  <a:schemeClr val="accent2"/>
                </a:solidFill>
              </a:rPr>
              <a:t>3. Validation Strategies</a:t>
            </a:r>
          </a:p>
          <a:p>
            <a:pPr marL="12700" marR="5080"/>
            <a:r>
              <a:rPr lang="en-US" sz="1500" kern="0" spc="-80" dirty="0">
                <a:solidFill>
                  <a:schemeClr val="accent2"/>
                </a:solidFill>
              </a:rPr>
              <a:t>3.1 Allowlist vs Blocklist</a:t>
            </a:r>
          </a:p>
          <a:p>
            <a:pPr marL="12700" marR="5080"/>
            <a:r>
              <a:rPr lang="en-US" sz="1500" kern="0" spc="-80" dirty="0">
                <a:solidFill>
                  <a:schemeClr val="accent6"/>
                </a:solidFill>
              </a:rPr>
              <a:t>❌ Blocklist (Bad)</a:t>
            </a:r>
          </a:p>
          <a:p>
            <a:pPr marL="12700" marR="5080"/>
            <a:r>
              <a:rPr lang="en-US" sz="1500" kern="0" spc="-80" dirty="0">
                <a:solidFill>
                  <a:schemeClr val="accent6"/>
                </a:solidFill>
              </a:rPr>
              <a:t>Reject input containing: &lt;script&gt;, DROP, --, ../</a:t>
            </a:r>
          </a:p>
          <a:p>
            <a:pPr marL="12700" marR="5080"/>
            <a:r>
              <a:rPr lang="en-US" sz="1500" kern="0" spc="-80" dirty="0">
                <a:solidFill>
                  <a:schemeClr val="accent2"/>
                </a:solidFill>
              </a:rPr>
              <a:t>Why it fails:</a:t>
            </a:r>
          </a:p>
          <a:p>
            <a:pPr marL="12700" marR="5080"/>
            <a:r>
              <a:rPr lang="en-US" sz="1500" kern="0" spc="-80" dirty="0">
                <a:solidFill>
                  <a:schemeClr val="accent6"/>
                </a:solidFill>
              </a:rPr>
              <a:t>Infinite bypasses</a:t>
            </a:r>
          </a:p>
          <a:p>
            <a:pPr marL="12700" marR="5080"/>
            <a:r>
              <a:rPr lang="en-US" sz="1500" kern="0" spc="-80" dirty="0">
                <a:solidFill>
                  <a:schemeClr val="accent6"/>
                </a:solidFill>
              </a:rPr>
              <a:t>Encoding tricks</a:t>
            </a:r>
          </a:p>
          <a:p>
            <a:pPr marL="12700" marR="5080"/>
            <a:r>
              <a:rPr lang="en-US" sz="1500" kern="0" spc="-80" dirty="0">
                <a:solidFill>
                  <a:schemeClr val="accent6"/>
                </a:solidFill>
              </a:rPr>
              <a:t>New attack patterns</a:t>
            </a:r>
          </a:p>
        </p:txBody>
      </p:sp>
      <p:grpSp>
        <p:nvGrpSpPr>
          <p:cNvPr id="7" name="Group 6">
            <a:extLst>
              <a:ext uri="{FF2B5EF4-FFF2-40B4-BE49-F238E27FC236}">
                <a16:creationId xmlns:a16="http://schemas.microsoft.com/office/drawing/2014/main" id="{4A257C57-C743-63AD-3D38-949C1F0D74B4}"/>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F4C9AF2-CFC1-8E21-508B-6532CF8DCBA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F1E5C490-2F36-E8EB-4A11-52A0A341AF8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101940409"/>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BF54C-DA62-E9EB-4C47-4021615D189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28E8A3B-4D4B-5EA1-98A4-B85ADFFC43B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E6ACAB4-861F-A0D3-02BC-A76A819F077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C6284BF-2749-C3B5-82FA-C76847DD99B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1C6E77B-E3BB-E037-812B-35137D984E15}"/>
              </a:ext>
            </a:extLst>
          </p:cNvPr>
          <p:cNvSpPr txBox="1">
            <a:spLocks/>
          </p:cNvSpPr>
          <p:nvPr/>
        </p:nvSpPr>
        <p:spPr>
          <a:xfrm>
            <a:off x="76200" y="790575"/>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Input Validation and </a:t>
            </a:r>
            <a:r>
              <a:rPr lang="en-US" sz="2000" kern="0" spc="-80" dirty="0" err="1">
                <a:solidFill>
                  <a:schemeClr val="accent2"/>
                </a:solidFill>
              </a:rPr>
              <a:t>Sanitisation</a:t>
            </a:r>
            <a:endParaRPr lang="en-US" sz="2000" kern="0" spc="-80" dirty="0">
              <a:solidFill>
                <a:schemeClr val="accent2"/>
              </a:solidFill>
            </a:endParaRPr>
          </a:p>
          <a:p>
            <a:pPr marL="12700" marR="5080"/>
            <a:r>
              <a:rPr lang="en-US" sz="1500" kern="0" spc="-80" dirty="0">
                <a:solidFill>
                  <a:schemeClr val="accent2"/>
                </a:solidFill>
              </a:rPr>
              <a:t>3. Validation Strategies</a:t>
            </a:r>
          </a:p>
          <a:p>
            <a:pPr marL="12700" marR="5080"/>
            <a:r>
              <a:rPr lang="en-US" sz="1500" kern="0" spc="-80" dirty="0">
                <a:solidFill>
                  <a:schemeClr val="accent2"/>
                </a:solidFill>
              </a:rPr>
              <a:t>3.1 Allowlist vs Blocklist</a:t>
            </a:r>
          </a:p>
          <a:p>
            <a:pPr marL="12700" marR="5080"/>
            <a:r>
              <a:rPr lang="en-US" sz="1500" kern="0" spc="-80" dirty="0">
                <a:solidFill>
                  <a:schemeClr val="accent2"/>
                </a:solidFill>
              </a:rPr>
              <a:t>✅ Allowlist (Correct)</a:t>
            </a:r>
          </a:p>
          <a:p>
            <a:pPr marL="12700" marR="5080"/>
            <a:r>
              <a:rPr lang="en-US" sz="1500" kern="0" spc="-80" dirty="0">
                <a:solidFill>
                  <a:schemeClr val="accent6"/>
                </a:solidFill>
              </a:rPr>
              <a:t>Accept only: [a-zA-Z0-9_]{3,20}</a:t>
            </a:r>
          </a:p>
          <a:p>
            <a:pPr marL="12700" marR="5080"/>
            <a:r>
              <a:rPr lang="en-US" sz="1500" kern="0" spc="-80" dirty="0">
                <a:solidFill>
                  <a:schemeClr val="accent2"/>
                </a:solidFill>
              </a:rPr>
              <a:t>Why it works:</a:t>
            </a:r>
          </a:p>
          <a:p>
            <a:pPr marL="12700" marR="5080"/>
            <a:r>
              <a:rPr lang="en-US" sz="1500" kern="0" spc="-80" dirty="0">
                <a:solidFill>
                  <a:schemeClr val="accent6"/>
                </a:solidFill>
              </a:rPr>
              <a:t>Finite, predictable</a:t>
            </a:r>
          </a:p>
          <a:p>
            <a:pPr marL="12700" marR="5080"/>
            <a:r>
              <a:rPr lang="en-US" sz="1500" kern="0" spc="-80" dirty="0">
                <a:solidFill>
                  <a:schemeClr val="accent6"/>
                </a:solidFill>
              </a:rPr>
              <a:t>Matches business intent</a:t>
            </a:r>
          </a:p>
          <a:p>
            <a:pPr marL="12700" marR="5080"/>
            <a:r>
              <a:rPr lang="en-US" sz="1500" kern="0" spc="-80" dirty="0">
                <a:solidFill>
                  <a:schemeClr val="accent2"/>
                </a:solidFill>
              </a:rPr>
              <a:t>Golden Rule</a:t>
            </a:r>
          </a:p>
          <a:p>
            <a:pPr marL="12700" marR="5080"/>
            <a:r>
              <a:rPr lang="en-US" sz="1500" kern="0" spc="-80" dirty="0">
                <a:solidFill>
                  <a:schemeClr val="accent6"/>
                </a:solidFill>
              </a:rPr>
              <a:t>Define what is allowed, reject everything else</a:t>
            </a:r>
          </a:p>
          <a:p>
            <a:pPr marL="12700" marR="5080"/>
            <a:endParaRPr lang="en-US" sz="1500" kern="0" spc="-80" dirty="0">
              <a:solidFill>
                <a:schemeClr val="accent6"/>
              </a:solidFill>
            </a:endParaRPr>
          </a:p>
          <a:p>
            <a:pPr marL="12700" marR="5080"/>
            <a:r>
              <a:rPr lang="en-US" sz="1500" kern="0" spc="-80" dirty="0">
                <a:solidFill>
                  <a:schemeClr val="accent2"/>
                </a:solidFill>
              </a:rPr>
              <a:t>3.2 Types of Validation</a:t>
            </a:r>
          </a:p>
          <a:p>
            <a:pPr marL="12700" marR="5080"/>
            <a:r>
              <a:rPr lang="en-US" sz="1500" kern="0" spc="-80" dirty="0">
                <a:solidFill>
                  <a:schemeClr val="accent2"/>
                </a:solidFill>
              </a:rPr>
              <a:t>1️⃣ Type Validation</a:t>
            </a:r>
          </a:p>
          <a:p>
            <a:pPr marL="12700" marR="5080"/>
            <a:r>
              <a:rPr lang="en-US" sz="1500" kern="0" spc="-80" dirty="0">
                <a:solidFill>
                  <a:schemeClr val="accent6"/>
                </a:solidFill>
              </a:rPr>
              <a:t>Expected: integer</a:t>
            </a:r>
          </a:p>
          <a:p>
            <a:pPr marL="12700" marR="5080"/>
            <a:r>
              <a:rPr lang="en-US" sz="1500" kern="0" spc="-80" dirty="0">
                <a:solidFill>
                  <a:schemeClr val="accent6"/>
                </a:solidFill>
              </a:rPr>
              <a:t>Received: "</a:t>
            </a:r>
            <a:r>
              <a:rPr lang="en-US" sz="1500" kern="0" spc="-80" dirty="0" err="1">
                <a:solidFill>
                  <a:schemeClr val="accent6"/>
                </a:solidFill>
              </a:rPr>
              <a:t>abc</a:t>
            </a:r>
            <a:r>
              <a:rPr lang="en-US" sz="1500" kern="0" spc="-80" dirty="0">
                <a:solidFill>
                  <a:schemeClr val="accent6"/>
                </a:solidFill>
              </a:rPr>
              <a:t>"</a:t>
            </a:r>
          </a:p>
          <a:p>
            <a:pPr marL="12700" marR="5080"/>
            <a:r>
              <a:rPr lang="en-US" sz="1500" kern="0" spc="-80" dirty="0">
                <a:solidFill>
                  <a:schemeClr val="accent6"/>
                </a:solidFill>
              </a:rPr>
              <a:t>→ Reject</a:t>
            </a:r>
          </a:p>
          <a:p>
            <a:pPr marL="12700" marR="5080"/>
            <a:r>
              <a:rPr lang="en-US" sz="1500" kern="0" spc="-80" dirty="0">
                <a:solidFill>
                  <a:schemeClr val="accent2"/>
                </a:solidFill>
              </a:rPr>
              <a:t>2️⃣ Length Validation</a:t>
            </a:r>
          </a:p>
          <a:p>
            <a:pPr marL="12700" marR="5080"/>
            <a:r>
              <a:rPr lang="en-US" sz="1500" kern="0" spc="-80" dirty="0">
                <a:solidFill>
                  <a:schemeClr val="accent6"/>
                </a:solidFill>
              </a:rPr>
              <a:t>Password: min 12 chars, max 128 chars</a:t>
            </a:r>
          </a:p>
          <a:p>
            <a:pPr marL="12700" marR="5080"/>
            <a:r>
              <a:rPr lang="en-US" sz="1500" kern="0" spc="-80" dirty="0">
                <a:solidFill>
                  <a:schemeClr val="accent6"/>
                </a:solidFill>
              </a:rPr>
              <a:t>Prevents:</a:t>
            </a:r>
          </a:p>
          <a:p>
            <a:pPr marL="12700" marR="5080"/>
            <a:r>
              <a:rPr lang="en-US" sz="1500" kern="0" spc="-80" dirty="0">
                <a:solidFill>
                  <a:schemeClr val="accent6"/>
                </a:solidFill>
              </a:rPr>
              <a:t>Buffer overflow</a:t>
            </a:r>
          </a:p>
          <a:p>
            <a:pPr marL="12700" marR="5080"/>
            <a:r>
              <a:rPr lang="en-US" sz="1500" kern="0" spc="-80" dirty="0">
                <a:solidFill>
                  <a:schemeClr val="accent6"/>
                </a:solidFill>
              </a:rPr>
              <a:t>DoS via huge payloads</a:t>
            </a:r>
          </a:p>
        </p:txBody>
      </p:sp>
      <p:grpSp>
        <p:nvGrpSpPr>
          <p:cNvPr id="7" name="Group 6">
            <a:extLst>
              <a:ext uri="{FF2B5EF4-FFF2-40B4-BE49-F238E27FC236}">
                <a16:creationId xmlns:a16="http://schemas.microsoft.com/office/drawing/2014/main" id="{C1A2D1FE-F47F-EE81-CC48-FA5B4672CE4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6683FCD-C734-DD01-25E0-3A498587847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EFDDDCE-375F-519E-3496-794B4020AE4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906173952"/>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ABAA7-7EE4-FDA1-AB94-C2E8A023E27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D0FF6AC-DA2B-B4AC-B956-B41C7300A99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35F8E3A-8265-8DB3-1568-67B900E704C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5C75A7B-D6B4-4A3B-E993-6A824C2FA05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CF791B4-0811-7853-6CA6-EC50B9F43CE3}"/>
              </a:ext>
            </a:extLst>
          </p:cNvPr>
          <p:cNvSpPr txBox="1">
            <a:spLocks/>
          </p:cNvSpPr>
          <p:nvPr/>
        </p:nvSpPr>
        <p:spPr>
          <a:xfrm>
            <a:off x="76200" y="712143"/>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Input Validation and </a:t>
            </a:r>
            <a:r>
              <a:rPr lang="en-US" sz="2000" kern="0" spc="-80" dirty="0" err="1">
                <a:solidFill>
                  <a:schemeClr val="accent2"/>
                </a:solidFill>
              </a:rPr>
              <a:t>Sanitisation</a:t>
            </a:r>
            <a:endParaRPr lang="en-US" sz="2000" kern="0" spc="-80" dirty="0">
              <a:solidFill>
                <a:schemeClr val="accent2"/>
              </a:solidFill>
            </a:endParaRPr>
          </a:p>
          <a:p>
            <a:pPr marL="12700" marR="5080"/>
            <a:r>
              <a:rPr lang="en-US" sz="1500" kern="0" spc="-80" dirty="0">
                <a:solidFill>
                  <a:schemeClr val="accent2"/>
                </a:solidFill>
              </a:rPr>
              <a:t>3. Validation Strategies</a:t>
            </a:r>
          </a:p>
          <a:p>
            <a:pPr marL="12700" marR="5080"/>
            <a:r>
              <a:rPr lang="en-US" sz="1500" kern="0" spc="-80" dirty="0">
                <a:solidFill>
                  <a:schemeClr val="accent2"/>
                </a:solidFill>
              </a:rPr>
              <a:t>3.2 Types of Validation</a:t>
            </a:r>
          </a:p>
          <a:p>
            <a:pPr marL="12700" marR="5080"/>
            <a:r>
              <a:rPr lang="en-US" sz="1500" kern="0" spc="-80" dirty="0">
                <a:solidFill>
                  <a:schemeClr val="accent2"/>
                </a:solidFill>
              </a:rPr>
              <a:t>3️⃣ Range Validation</a:t>
            </a:r>
          </a:p>
          <a:p>
            <a:pPr marL="12700" marR="5080"/>
            <a:r>
              <a:rPr lang="en-US" sz="1500" kern="0" spc="-80" dirty="0">
                <a:solidFill>
                  <a:schemeClr val="accent6"/>
                </a:solidFill>
              </a:rPr>
              <a:t>Price must be between 0 and 10,000</a:t>
            </a:r>
          </a:p>
          <a:p>
            <a:pPr marL="12700" marR="5080"/>
            <a:r>
              <a:rPr lang="en-US" sz="1500" kern="0" spc="-80" dirty="0">
                <a:solidFill>
                  <a:schemeClr val="accent2"/>
                </a:solidFill>
              </a:rPr>
              <a:t>4️⃣ Format Validation</a:t>
            </a:r>
          </a:p>
          <a:p>
            <a:pPr marL="12700" marR="5080"/>
            <a:r>
              <a:rPr lang="en-US" sz="1500" kern="0" spc="-80" dirty="0">
                <a:solidFill>
                  <a:schemeClr val="accent2"/>
                </a:solidFill>
              </a:rPr>
              <a:t>Regex</a:t>
            </a:r>
          </a:p>
          <a:p>
            <a:pPr marL="12700" marR="5080"/>
            <a:r>
              <a:rPr lang="en-US" sz="1500" kern="0" spc="-80" dirty="0">
                <a:solidFill>
                  <a:schemeClr val="accent6"/>
                </a:solidFill>
              </a:rPr>
              <a:t>Parsers (preferred)</a:t>
            </a:r>
          </a:p>
          <a:p>
            <a:pPr marL="12700" marR="5080"/>
            <a:r>
              <a:rPr lang="en-US" sz="1500" kern="0" spc="-80" dirty="0">
                <a:solidFill>
                  <a:schemeClr val="accent2"/>
                </a:solidFill>
              </a:rPr>
              <a:t>Example</a:t>
            </a:r>
          </a:p>
          <a:p>
            <a:pPr marL="12700" marR="5080"/>
            <a:r>
              <a:rPr lang="en-US" sz="1500" kern="0" spc="-80" dirty="0">
                <a:solidFill>
                  <a:schemeClr val="accent6"/>
                </a:solidFill>
              </a:rPr>
              <a:t>^[a-zA-Z0-9._%+-]+@[a-zA-Z0-9.-]+\.[a-z]{2,}$</a:t>
            </a:r>
          </a:p>
          <a:p>
            <a:pPr marL="12700" marR="5080"/>
            <a:r>
              <a:rPr lang="en-US" sz="1500" kern="0" spc="-80" dirty="0">
                <a:solidFill>
                  <a:schemeClr val="accent2"/>
                </a:solidFill>
              </a:rPr>
              <a:t>5️⃣ Business Rule Validation (Often Missed)</a:t>
            </a:r>
          </a:p>
          <a:p>
            <a:pPr marL="12700" marR="5080"/>
            <a:r>
              <a:rPr lang="en-US" sz="1500" kern="0" spc="-80" dirty="0">
                <a:solidFill>
                  <a:schemeClr val="accent6"/>
                </a:solidFill>
              </a:rPr>
              <a:t>User cannot transfer more money than balance</a:t>
            </a:r>
          </a:p>
          <a:p>
            <a:pPr marL="12700" marR="5080"/>
            <a:r>
              <a:rPr lang="en-US" sz="1500" kern="0" spc="-80" dirty="0">
                <a:solidFill>
                  <a:schemeClr val="accent6"/>
                </a:solidFill>
              </a:rPr>
              <a:t>Discount cannot exceed 50%</a:t>
            </a:r>
          </a:p>
          <a:p>
            <a:pPr marL="12700" marR="5080"/>
            <a:r>
              <a:rPr lang="en-US" sz="1500" kern="0" spc="-80" dirty="0">
                <a:solidFill>
                  <a:schemeClr val="accent6"/>
                </a:solidFill>
              </a:rPr>
              <a:t>User role cannot be "admin"</a:t>
            </a:r>
          </a:p>
          <a:p>
            <a:pPr marL="12700" marR="5080"/>
            <a:r>
              <a:rPr lang="en-US" sz="1500" kern="0" spc="-80" dirty="0">
                <a:solidFill>
                  <a:schemeClr val="accent6"/>
                </a:solidFill>
              </a:rPr>
              <a:t>Many real-world breaches happen here.</a:t>
            </a:r>
          </a:p>
          <a:p>
            <a:pPr marL="12700" marR="5080"/>
            <a:endParaRPr lang="en-US" sz="1500" kern="0" spc="-80" dirty="0">
              <a:solidFill>
                <a:schemeClr val="accent6"/>
              </a:solidFill>
            </a:endParaRPr>
          </a:p>
          <a:p>
            <a:pPr marL="12700" marR="5080"/>
            <a:r>
              <a:rPr lang="en-US" sz="1500" kern="0" spc="-80" dirty="0">
                <a:solidFill>
                  <a:schemeClr val="accent2"/>
                </a:solidFill>
              </a:rPr>
              <a:t>3.3 Where to Validate</a:t>
            </a:r>
          </a:p>
          <a:p>
            <a:pPr marL="12700" marR="5080"/>
            <a:r>
              <a:rPr lang="en-US" sz="1500" kern="0" spc="-80" dirty="0">
                <a:solidFill>
                  <a:schemeClr val="accent2"/>
                </a:solidFill>
              </a:rPr>
              <a:t>✅ Client-side</a:t>
            </a:r>
          </a:p>
          <a:p>
            <a:pPr marL="12700" marR="5080"/>
            <a:r>
              <a:rPr lang="en-US" sz="1500" kern="0" spc="-80" dirty="0">
                <a:solidFill>
                  <a:schemeClr val="accent6"/>
                </a:solidFill>
              </a:rPr>
              <a:t>UX improvement</a:t>
            </a:r>
          </a:p>
          <a:p>
            <a:pPr marL="12700" marR="5080"/>
            <a:r>
              <a:rPr lang="en-US" sz="1500" kern="0" spc="-80" dirty="0">
                <a:solidFill>
                  <a:schemeClr val="accent6"/>
                </a:solidFill>
              </a:rPr>
              <a:t>Faster feedback</a:t>
            </a:r>
          </a:p>
          <a:p>
            <a:pPr marL="12700" marR="5080"/>
            <a:r>
              <a:rPr lang="en-US" sz="1500" kern="0" spc="-80" dirty="0">
                <a:solidFill>
                  <a:schemeClr val="accent6"/>
                </a:solidFill>
              </a:rPr>
              <a:t>❌ Never trust it</a:t>
            </a:r>
          </a:p>
          <a:p>
            <a:pPr marL="12700" marR="5080"/>
            <a:endParaRPr lang="en-US" sz="1500" kern="0" spc="-80" dirty="0">
              <a:solidFill>
                <a:schemeClr val="accent6"/>
              </a:solidFill>
            </a:endParaRPr>
          </a:p>
        </p:txBody>
      </p:sp>
      <p:grpSp>
        <p:nvGrpSpPr>
          <p:cNvPr id="7" name="Group 6">
            <a:extLst>
              <a:ext uri="{FF2B5EF4-FFF2-40B4-BE49-F238E27FC236}">
                <a16:creationId xmlns:a16="http://schemas.microsoft.com/office/drawing/2014/main" id="{31B385BF-4523-D566-BC75-6D5025F254B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8107B488-98D1-713F-22F2-7CD76A6F154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7C414E6-7BAC-4543-7419-0A594CF9E6A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512804524"/>
      </p:ext>
    </p:extLst>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2A0C6-065E-134B-7158-E2FAA88EF8F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D79C954-EA28-0649-C524-8BA4E8BAF12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2A7BF08-6C27-F0E8-F450-C077EC9D055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9B53780-47DF-9BF8-1289-65D1C928A4C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08AC6BE-25CF-8F37-38F6-5A87D2037033}"/>
              </a:ext>
            </a:extLst>
          </p:cNvPr>
          <p:cNvSpPr txBox="1">
            <a:spLocks/>
          </p:cNvSpPr>
          <p:nvPr/>
        </p:nvSpPr>
        <p:spPr>
          <a:xfrm>
            <a:off x="76200" y="795040"/>
            <a:ext cx="8624937" cy="44627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Input Validation and </a:t>
            </a:r>
            <a:r>
              <a:rPr lang="en-US" sz="2000" kern="0" spc="-80" dirty="0" err="1">
                <a:solidFill>
                  <a:schemeClr val="accent2"/>
                </a:solidFill>
              </a:rPr>
              <a:t>Sanitisation</a:t>
            </a:r>
            <a:endParaRPr lang="en-US" sz="2000" kern="0" spc="-80" dirty="0">
              <a:solidFill>
                <a:schemeClr val="accent2"/>
              </a:solidFill>
            </a:endParaRPr>
          </a:p>
          <a:p>
            <a:pPr marL="12700" marR="5080"/>
            <a:r>
              <a:rPr lang="en-US" sz="1500" kern="0" spc="-80" dirty="0">
                <a:solidFill>
                  <a:schemeClr val="accent2"/>
                </a:solidFill>
              </a:rPr>
              <a:t>3. Validation Strategies</a:t>
            </a:r>
          </a:p>
          <a:p>
            <a:pPr marL="12700" marR="5080"/>
            <a:r>
              <a:rPr lang="en-US" sz="1500" kern="0" spc="-80" dirty="0">
                <a:solidFill>
                  <a:schemeClr val="accent2"/>
                </a:solidFill>
              </a:rPr>
              <a:t>3.3 Where to Validate</a:t>
            </a:r>
          </a:p>
          <a:p>
            <a:pPr marL="12700" marR="5080"/>
            <a:r>
              <a:rPr lang="en-US" sz="1500" kern="0" spc="-80" dirty="0">
                <a:solidFill>
                  <a:schemeClr val="accent2"/>
                </a:solidFill>
              </a:rPr>
              <a:t>✅ Server-side (Mandatory)</a:t>
            </a:r>
          </a:p>
          <a:p>
            <a:pPr marL="12700" marR="5080"/>
            <a:r>
              <a:rPr lang="en-US" sz="1500" kern="0" spc="-80" dirty="0">
                <a:solidFill>
                  <a:schemeClr val="accent6"/>
                </a:solidFill>
              </a:rPr>
              <a:t>Final authority</a:t>
            </a:r>
          </a:p>
          <a:p>
            <a:pPr marL="12700" marR="5080"/>
            <a:r>
              <a:rPr lang="en-US" sz="1500" kern="0" spc="-80" dirty="0">
                <a:solidFill>
                  <a:schemeClr val="accent6"/>
                </a:solidFill>
              </a:rPr>
              <a:t>Must be enforced</a:t>
            </a:r>
          </a:p>
          <a:p>
            <a:pPr marL="12700" marR="5080"/>
            <a:r>
              <a:rPr lang="en-US" sz="1500" kern="0" spc="-80" dirty="0">
                <a:solidFill>
                  <a:schemeClr val="accent2"/>
                </a:solidFill>
              </a:rPr>
              <a:t>🏆 Best Practice</a:t>
            </a:r>
          </a:p>
          <a:p>
            <a:pPr marL="12700" marR="5080"/>
            <a:r>
              <a:rPr lang="en-US" sz="1500" kern="0" spc="-80" dirty="0">
                <a:solidFill>
                  <a:schemeClr val="accent6"/>
                </a:solidFill>
              </a:rPr>
              <a:t>Validate as early as possible and as close to the boundary as possible</a:t>
            </a:r>
          </a:p>
          <a:p>
            <a:pPr marL="12700" marR="5080"/>
            <a:endParaRPr lang="en-US" sz="1500" kern="0" spc="-80" dirty="0">
              <a:solidFill>
                <a:schemeClr val="accent6"/>
              </a:solidFill>
            </a:endParaRPr>
          </a:p>
          <a:p>
            <a:pPr marL="12700" marR="5080"/>
            <a:r>
              <a:rPr lang="en-US" sz="1500" kern="0" spc="-80" dirty="0">
                <a:solidFill>
                  <a:schemeClr val="accent2"/>
                </a:solidFill>
              </a:rPr>
              <a:t>4. </a:t>
            </a:r>
            <a:r>
              <a:rPr lang="en-US" sz="1500" kern="0" spc="-80" dirty="0" err="1">
                <a:solidFill>
                  <a:schemeClr val="accent2"/>
                </a:solidFill>
              </a:rPr>
              <a:t>Sanitisation</a:t>
            </a:r>
            <a:r>
              <a:rPr lang="en-US" sz="1500" kern="0" spc="-80" dirty="0">
                <a:solidFill>
                  <a:schemeClr val="accent2"/>
                </a:solidFill>
              </a:rPr>
              <a:t> / Encoding (Context Matters)</a:t>
            </a:r>
          </a:p>
          <a:p>
            <a:pPr marL="12700" marR="5080"/>
            <a:r>
              <a:rPr lang="en-US" sz="1500" kern="0" spc="-80" dirty="0" err="1">
                <a:solidFill>
                  <a:schemeClr val="accent6"/>
                </a:solidFill>
              </a:rPr>
              <a:t>Sanitisation</a:t>
            </a:r>
            <a:r>
              <a:rPr lang="en-US" sz="1500" kern="0" spc="-80" dirty="0">
                <a:solidFill>
                  <a:schemeClr val="accent6"/>
                </a:solidFill>
              </a:rPr>
              <a:t> is context-specific.</a:t>
            </a:r>
          </a:p>
          <a:p>
            <a:pPr marL="12700" marR="5080"/>
            <a:r>
              <a:rPr lang="en-US" sz="1500" kern="0" spc="-80" dirty="0">
                <a:solidFill>
                  <a:schemeClr val="accent2"/>
                </a:solidFill>
              </a:rPr>
              <a:t>Context	    Correct Defense</a:t>
            </a:r>
          </a:p>
          <a:p>
            <a:pPr marL="12700" marR="5080"/>
            <a:r>
              <a:rPr lang="en-US" sz="1500" kern="0" spc="-80" dirty="0">
                <a:solidFill>
                  <a:schemeClr val="accent6"/>
                </a:solidFill>
              </a:rPr>
              <a:t>SQL	    Parameterized queries</a:t>
            </a:r>
          </a:p>
          <a:p>
            <a:pPr marL="12700" marR="5080"/>
            <a:r>
              <a:rPr lang="en-US" sz="1500" kern="0" spc="-80" dirty="0">
                <a:solidFill>
                  <a:schemeClr val="accent6"/>
                </a:solidFill>
              </a:rPr>
              <a:t>HTML	    HTML entity encoding</a:t>
            </a:r>
          </a:p>
          <a:p>
            <a:pPr marL="12700" marR="5080"/>
            <a:r>
              <a:rPr lang="en-US" sz="1500" kern="0" spc="-80" dirty="0">
                <a:solidFill>
                  <a:schemeClr val="accent6"/>
                </a:solidFill>
              </a:rPr>
              <a:t>JS	    JavaScript escaping</a:t>
            </a:r>
          </a:p>
          <a:p>
            <a:pPr marL="12700" marR="5080"/>
            <a:r>
              <a:rPr lang="en-US" sz="1500" kern="0" spc="-80" dirty="0">
                <a:solidFill>
                  <a:schemeClr val="accent6"/>
                </a:solidFill>
              </a:rPr>
              <a:t>URL	    URL encoding</a:t>
            </a:r>
          </a:p>
          <a:p>
            <a:pPr marL="12700" marR="5080"/>
            <a:r>
              <a:rPr lang="en-US" sz="1500" kern="0" spc="-80" dirty="0">
                <a:solidFill>
                  <a:schemeClr val="accent6"/>
                </a:solidFill>
              </a:rPr>
              <a:t>Shell	    Argument escaping</a:t>
            </a:r>
          </a:p>
          <a:p>
            <a:pPr marL="12700" marR="5080"/>
            <a:r>
              <a:rPr lang="en-US" sz="1500" kern="0" spc="-80" dirty="0">
                <a:solidFill>
                  <a:schemeClr val="accent6"/>
                </a:solidFill>
              </a:rPr>
              <a:t>File paths	    Canonicalization</a:t>
            </a:r>
          </a:p>
          <a:p>
            <a:pPr marL="12700" marR="5080"/>
            <a:endParaRPr lang="en-US" sz="1500" kern="0" spc="-80" dirty="0">
              <a:solidFill>
                <a:schemeClr val="accent6"/>
              </a:solidFill>
            </a:endParaRPr>
          </a:p>
        </p:txBody>
      </p:sp>
      <p:grpSp>
        <p:nvGrpSpPr>
          <p:cNvPr id="7" name="Group 6">
            <a:extLst>
              <a:ext uri="{FF2B5EF4-FFF2-40B4-BE49-F238E27FC236}">
                <a16:creationId xmlns:a16="http://schemas.microsoft.com/office/drawing/2014/main" id="{076BE3F4-CEF7-6A87-E304-CBCE6D1F4B6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F3D000CC-6818-0EA8-9AA1-2864886E481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74D73F8-7040-0862-D610-E92AE69BE45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9430909"/>
      </p:ext>
    </p:extLst>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BD1EC-8546-99D8-0CAF-DA95258D7CE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FE0EB70-32CA-42C6-C82E-3EA8C82CB7B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9555E74-00C9-195A-B904-C749E56E3C7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3193DAC-0DF5-5DA2-DC1B-664880BE5C4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848B15E-01DC-5BF4-339E-75D7A7408B4F}"/>
              </a:ext>
            </a:extLst>
          </p:cNvPr>
          <p:cNvSpPr txBox="1">
            <a:spLocks/>
          </p:cNvSpPr>
          <p:nvPr/>
        </p:nvSpPr>
        <p:spPr>
          <a:xfrm>
            <a:off x="152400" y="790575"/>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Input Validation and </a:t>
            </a:r>
            <a:r>
              <a:rPr lang="en-US" sz="2000" kern="0" spc="-80" dirty="0" err="1">
                <a:solidFill>
                  <a:schemeClr val="accent2"/>
                </a:solidFill>
              </a:rPr>
              <a:t>Sanitisation</a:t>
            </a:r>
            <a:endParaRPr lang="en-US" sz="2000" kern="0" spc="-80" dirty="0">
              <a:solidFill>
                <a:schemeClr val="accent2"/>
              </a:solidFill>
            </a:endParaRPr>
          </a:p>
          <a:p>
            <a:pPr marL="12700" marR="5080"/>
            <a:r>
              <a:rPr lang="en-US" sz="1500" kern="0" spc="-80" dirty="0">
                <a:solidFill>
                  <a:schemeClr val="accent2"/>
                </a:solidFill>
              </a:rPr>
              <a:t>4. </a:t>
            </a:r>
            <a:r>
              <a:rPr lang="en-US" sz="1500" kern="0" spc="-80" dirty="0" err="1">
                <a:solidFill>
                  <a:schemeClr val="accent2"/>
                </a:solidFill>
              </a:rPr>
              <a:t>Sanitisation</a:t>
            </a:r>
            <a:r>
              <a:rPr lang="en-US" sz="1500" kern="0" spc="-80" dirty="0">
                <a:solidFill>
                  <a:schemeClr val="accent2"/>
                </a:solidFill>
              </a:rPr>
              <a:t> / Encoding (Context Matters)</a:t>
            </a:r>
          </a:p>
          <a:p>
            <a:pPr marL="12700" marR="5080"/>
            <a:r>
              <a:rPr lang="en-US" sz="1500" kern="0" spc="-80" dirty="0">
                <a:solidFill>
                  <a:schemeClr val="accent2"/>
                </a:solidFill>
              </a:rPr>
              <a:t>4.1 SQL Injection Prevention</a:t>
            </a:r>
          </a:p>
          <a:p>
            <a:pPr marL="12700" marR="5080"/>
            <a:r>
              <a:rPr lang="en-US" sz="1500" kern="0" spc="-80" dirty="0">
                <a:solidFill>
                  <a:schemeClr val="accent2"/>
                </a:solidFill>
              </a:rPr>
              <a:t>❌ Dangerous</a:t>
            </a:r>
          </a:p>
          <a:p>
            <a:pPr marL="12700" marR="5080"/>
            <a:r>
              <a:rPr lang="en-US" sz="1500" kern="0" spc="-80" dirty="0">
                <a:solidFill>
                  <a:schemeClr val="accent6"/>
                </a:solidFill>
              </a:rPr>
              <a:t>SELECT * FROM users WHERE id = " + </a:t>
            </a:r>
            <a:r>
              <a:rPr lang="en-US" sz="1500" kern="0" spc="-80" dirty="0" err="1">
                <a:solidFill>
                  <a:schemeClr val="accent6"/>
                </a:solidFill>
              </a:rPr>
              <a:t>userInput</a:t>
            </a:r>
            <a:r>
              <a:rPr lang="en-US" sz="1500" kern="0" spc="-80" dirty="0">
                <a:solidFill>
                  <a:schemeClr val="accent6"/>
                </a:solidFill>
              </a:rPr>
              <a:t>;</a:t>
            </a:r>
          </a:p>
          <a:p>
            <a:pPr marL="12700" marR="5080"/>
            <a:r>
              <a:rPr lang="en-US" sz="1500" kern="0" spc="-80" dirty="0">
                <a:solidFill>
                  <a:schemeClr val="accent2"/>
                </a:solidFill>
              </a:rPr>
              <a:t>✅ Safe (Parameterized)</a:t>
            </a:r>
          </a:p>
          <a:p>
            <a:pPr marL="12700" marR="5080"/>
            <a:r>
              <a:rPr lang="en-US" sz="1500" kern="0" spc="-80" dirty="0">
                <a:solidFill>
                  <a:schemeClr val="accent6"/>
                </a:solidFill>
              </a:rPr>
              <a:t>SELECT * FROM users WHERE id = ?</a:t>
            </a:r>
          </a:p>
          <a:p>
            <a:pPr marL="12700" marR="5080"/>
            <a:r>
              <a:rPr lang="en-US" sz="1500" kern="0" spc="-80" dirty="0">
                <a:solidFill>
                  <a:schemeClr val="accent6"/>
                </a:solidFill>
              </a:rPr>
              <a:t>Parameterized queries are validation + </a:t>
            </a:r>
            <a:r>
              <a:rPr lang="en-US" sz="1500" kern="0" spc="-80" dirty="0" err="1">
                <a:solidFill>
                  <a:schemeClr val="accent6"/>
                </a:solidFill>
              </a:rPr>
              <a:t>sanitisation</a:t>
            </a:r>
            <a:r>
              <a:rPr lang="en-US" sz="1500" kern="0" spc="-80" dirty="0">
                <a:solidFill>
                  <a:schemeClr val="accent6"/>
                </a:solidFill>
              </a:rPr>
              <a:t> combined</a:t>
            </a:r>
          </a:p>
          <a:p>
            <a:pPr marL="12700" marR="5080"/>
            <a:endParaRPr lang="en-US" sz="1500" kern="0" spc="-80" dirty="0">
              <a:solidFill>
                <a:schemeClr val="accent6"/>
              </a:solidFill>
            </a:endParaRPr>
          </a:p>
          <a:p>
            <a:pPr marL="12700" marR="5080"/>
            <a:r>
              <a:rPr lang="en-US" sz="1500" kern="0" spc="-80" dirty="0">
                <a:solidFill>
                  <a:schemeClr val="accent2"/>
                </a:solidFill>
              </a:rPr>
              <a:t>4.2 XSS Prevention</a:t>
            </a:r>
          </a:p>
          <a:p>
            <a:pPr marL="12700" marR="5080"/>
            <a:r>
              <a:rPr lang="en-US" sz="1500" kern="0" spc="-80" dirty="0">
                <a:solidFill>
                  <a:schemeClr val="accent2"/>
                </a:solidFill>
              </a:rPr>
              <a:t>❌ Bad</a:t>
            </a:r>
          </a:p>
          <a:p>
            <a:pPr marL="12700" marR="5080"/>
            <a:r>
              <a:rPr lang="en-US" sz="1500" kern="0" spc="-80" dirty="0">
                <a:solidFill>
                  <a:schemeClr val="accent6"/>
                </a:solidFill>
              </a:rPr>
              <a:t>&lt;div&gt;Hello {{</a:t>
            </a:r>
            <a:r>
              <a:rPr lang="en-US" sz="1500" kern="0" spc="-80" dirty="0" err="1">
                <a:solidFill>
                  <a:schemeClr val="accent6"/>
                </a:solidFill>
              </a:rPr>
              <a:t>userInput</a:t>
            </a:r>
            <a:r>
              <a:rPr lang="en-US" sz="1500" kern="0" spc="-80" dirty="0">
                <a:solidFill>
                  <a:schemeClr val="accent6"/>
                </a:solidFill>
              </a:rPr>
              <a:t>}}&lt;/div&gt;</a:t>
            </a:r>
          </a:p>
          <a:p>
            <a:pPr marL="12700" marR="5080"/>
            <a:r>
              <a:rPr lang="en-US" sz="1500" kern="0" spc="-80" dirty="0">
                <a:solidFill>
                  <a:schemeClr val="accent2"/>
                </a:solidFill>
              </a:rPr>
              <a:t>✅ Safe</a:t>
            </a:r>
          </a:p>
          <a:p>
            <a:pPr marL="12700" marR="5080"/>
            <a:r>
              <a:rPr lang="en-US" sz="1500" kern="0" spc="-80" dirty="0">
                <a:solidFill>
                  <a:schemeClr val="accent6"/>
                </a:solidFill>
              </a:rPr>
              <a:t>&lt;div&gt;Hello &amp;</a:t>
            </a:r>
            <a:r>
              <a:rPr lang="en-US" sz="1500" kern="0" spc="-80" dirty="0" err="1">
                <a:solidFill>
                  <a:schemeClr val="accent6"/>
                </a:solidFill>
              </a:rPr>
              <a:t>lt;encoded</a:t>
            </a:r>
            <a:r>
              <a:rPr lang="en-US" sz="1500" kern="0" spc="-80" dirty="0">
                <a:solidFill>
                  <a:schemeClr val="accent6"/>
                </a:solidFill>
              </a:rPr>
              <a:t> </a:t>
            </a:r>
            <a:r>
              <a:rPr lang="en-US" sz="1500" kern="0" spc="-80" dirty="0" err="1">
                <a:solidFill>
                  <a:schemeClr val="accent6"/>
                </a:solidFill>
              </a:rPr>
              <a:t>userInput&amp;gt</a:t>
            </a:r>
            <a:r>
              <a:rPr lang="en-US" sz="1500" kern="0" spc="-80" dirty="0">
                <a:solidFill>
                  <a:schemeClr val="accent6"/>
                </a:solidFill>
              </a:rPr>
              <a:t>;&lt;/div&gt;</a:t>
            </a:r>
          </a:p>
          <a:p>
            <a:pPr marL="12700" marR="5080"/>
            <a:r>
              <a:rPr lang="en-US" sz="1500" kern="0" spc="-80" dirty="0">
                <a:solidFill>
                  <a:schemeClr val="accent2"/>
                </a:solidFill>
              </a:rPr>
              <a:t>Frameworks that auto-escape:</a:t>
            </a:r>
          </a:p>
          <a:p>
            <a:pPr marL="12700" marR="5080"/>
            <a:r>
              <a:rPr lang="en-US" sz="1500" kern="0" spc="-80" dirty="0">
                <a:solidFill>
                  <a:schemeClr val="accent6"/>
                </a:solidFill>
              </a:rPr>
              <a:t>React</a:t>
            </a:r>
          </a:p>
          <a:p>
            <a:pPr marL="12700" marR="5080"/>
            <a:r>
              <a:rPr lang="en-US" sz="1500" kern="0" spc="-80" dirty="0">
                <a:solidFill>
                  <a:schemeClr val="accent6"/>
                </a:solidFill>
              </a:rPr>
              <a:t>Angular</a:t>
            </a:r>
          </a:p>
          <a:p>
            <a:pPr marL="12700" marR="5080"/>
            <a:r>
              <a:rPr lang="en-US" sz="1500" kern="0" spc="-80" dirty="0">
                <a:solidFill>
                  <a:schemeClr val="accent6"/>
                </a:solidFill>
              </a:rPr>
              <a:t>Razor</a:t>
            </a:r>
          </a:p>
          <a:p>
            <a:pPr marL="12700" marR="5080"/>
            <a:r>
              <a:rPr lang="en-US" sz="1500" kern="0" spc="-80" dirty="0">
                <a:solidFill>
                  <a:schemeClr val="accent6"/>
                </a:solidFill>
              </a:rPr>
              <a:t>Django templates</a:t>
            </a:r>
          </a:p>
          <a:p>
            <a:pPr marL="12700" marR="5080"/>
            <a:r>
              <a:rPr lang="en-US" sz="1500" kern="0" spc="-80" dirty="0">
                <a:solidFill>
                  <a:schemeClr val="accent6"/>
                </a:solidFill>
              </a:rPr>
              <a:t>⚠️ XSS happens when developers disable auto-escaping</a:t>
            </a:r>
          </a:p>
          <a:p>
            <a:pPr marL="12700" marR="5080"/>
            <a:endParaRPr lang="en-US" sz="1500" kern="0" spc="-80" dirty="0">
              <a:solidFill>
                <a:schemeClr val="accent6"/>
              </a:solidFill>
            </a:endParaRPr>
          </a:p>
        </p:txBody>
      </p:sp>
      <p:grpSp>
        <p:nvGrpSpPr>
          <p:cNvPr id="7" name="Group 6">
            <a:extLst>
              <a:ext uri="{FF2B5EF4-FFF2-40B4-BE49-F238E27FC236}">
                <a16:creationId xmlns:a16="http://schemas.microsoft.com/office/drawing/2014/main" id="{31ED5E42-771C-E8C5-33C1-CD9E83122B8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EDAB300-AB8D-3830-6855-4381EE236AE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CDB58D1B-DB68-F6DC-8BFA-1BF0470FAEE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942789560"/>
      </p:ext>
    </p:extLst>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E7249-1728-015D-8F98-0348F27649C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86804D1-F7E1-0D5D-719E-09954BB05CC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307E2F4-1F58-FB07-6EDD-A35D52A3287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55EAC8C-77DF-D120-21F9-3C284E6AC26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C30BC91-1434-9E70-82EC-FC4CE4406837}"/>
              </a:ext>
            </a:extLst>
          </p:cNvPr>
          <p:cNvSpPr txBox="1">
            <a:spLocks/>
          </p:cNvSpPr>
          <p:nvPr/>
        </p:nvSpPr>
        <p:spPr>
          <a:xfrm>
            <a:off x="0" y="797272"/>
            <a:ext cx="8624937" cy="42319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Input Validation and </a:t>
            </a:r>
            <a:r>
              <a:rPr lang="en-US" sz="2000" kern="0" spc="-80" dirty="0" err="1">
                <a:solidFill>
                  <a:schemeClr val="accent2"/>
                </a:solidFill>
              </a:rPr>
              <a:t>Sanitisation</a:t>
            </a:r>
            <a:endParaRPr lang="en-US" sz="2000" kern="0" spc="-80" dirty="0">
              <a:solidFill>
                <a:schemeClr val="accent2"/>
              </a:solidFill>
            </a:endParaRPr>
          </a:p>
          <a:p>
            <a:pPr marL="12700" marR="5080"/>
            <a:r>
              <a:rPr lang="en-US" sz="1500" kern="0" spc="-80" dirty="0">
                <a:solidFill>
                  <a:schemeClr val="accent2"/>
                </a:solidFill>
              </a:rPr>
              <a:t>4. </a:t>
            </a:r>
            <a:r>
              <a:rPr lang="en-US" sz="1500" kern="0" spc="-80" dirty="0" err="1">
                <a:solidFill>
                  <a:schemeClr val="accent2"/>
                </a:solidFill>
              </a:rPr>
              <a:t>Sanitisation</a:t>
            </a:r>
            <a:r>
              <a:rPr lang="en-US" sz="1500" kern="0" spc="-80" dirty="0">
                <a:solidFill>
                  <a:schemeClr val="accent2"/>
                </a:solidFill>
              </a:rPr>
              <a:t> / Encoding (Context Matters)</a:t>
            </a:r>
          </a:p>
          <a:p>
            <a:pPr marL="12700" marR="5080"/>
            <a:r>
              <a:rPr lang="en-US" sz="1500" kern="0" spc="-80" dirty="0">
                <a:solidFill>
                  <a:schemeClr val="accent2"/>
                </a:solidFill>
              </a:rPr>
              <a:t>4.3 File Path </a:t>
            </a:r>
            <a:r>
              <a:rPr lang="en-US" sz="1500" kern="0" spc="-80" dirty="0" err="1">
                <a:solidFill>
                  <a:schemeClr val="accent2"/>
                </a:solidFill>
              </a:rPr>
              <a:t>Sanitisation</a:t>
            </a:r>
            <a:endParaRPr lang="en-US" sz="1500" kern="0" spc="-80" dirty="0">
              <a:solidFill>
                <a:schemeClr val="accent2"/>
              </a:solidFill>
            </a:endParaRPr>
          </a:p>
          <a:p>
            <a:pPr marL="12700" marR="5080"/>
            <a:r>
              <a:rPr lang="en-US" sz="1500" kern="0" spc="-80" dirty="0">
                <a:solidFill>
                  <a:schemeClr val="accent6"/>
                </a:solidFill>
              </a:rPr>
              <a:t>Attack:</a:t>
            </a:r>
          </a:p>
          <a:p>
            <a:pPr marL="12700" marR="5080"/>
            <a:r>
              <a:rPr lang="en-US" sz="1500" kern="0" spc="-80" dirty="0">
                <a:solidFill>
                  <a:schemeClr val="accent6"/>
                </a:solidFill>
              </a:rPr>
              <a:t>../../</a:t>
            </a:r>
            <a:r>
              <a:rPr lang="en-US" sz="1500" kern="0" spc="-80" dirty="0" err="1">
                <a:solidFill>
                  <a:schemeClr val="accent6"/>
                </a:solidFill>
              </a:rPr>
              <a:t>etc</a:t>
            </a:r>
            <a:r>
              <a:rPr lang="en-US" sz="1500" kern="0" spc="-80" dirty="0">
                <a:solidFill>
                  <a:schemeClr val="accent6"/>
                </a:solidFill>
              </a:rPr>
              <a:t>/passwd</a:t>
            </a:r>
          </a:p>
          <a:p>
            <a:pPr marL="12700" marR="5080"/>
            <a:r>
              <a:rPr lang="en-US" sz="1500" kern="0" spc="-80" dirty="0">
                <a:solidFill>
                  <a:schemeClr val="accent6"/>
                </a:solidFill>
              </a:rPr>
              <a:t>Defense:</a:t>
            </a:r>
          </a:p>
          <a:p>
            <a:pPr marL="12700" marR="5080"/>
            <a:r>
              <a:rPr lang="en-US" sz="1500" kern="0" spc="-80" dirty="0">
                <a:solidFill>
                  <a:schemeClr val="accent6"/>
                </a:solidFill>
              </a:rPr>
              <a:t>Canonicalize path</a:t>
            </a:r>
          </a:p>
          <a:p>
            <a:pPr marL="12700" marR="5080"/>
            <a:r>
              <a:rPr lang="en-US" sz="1500" kern="0" spc="-80" dirty="0">
                <a:solidFill>
                  <a:schemeClr val="accent6"/>
                </a:solidFill>
              </a:rPr>
              <a:t>Enforce base directory</a:t>
            </a:r>
          </a:p>
          <a:p>
            <a:pPr marL="12700" marR="5080"/>
            <a:r>
              <a:rPr lang="en-US" sz="1500" kern="0" spc="-80" dirty="0">
                <a:solidFill>
                  <a:schemeClr val="accent6"/>
                </a:solidFill>
              </a:rPr>
              <a:t>Reject traversal sequences</a:t>
            </a:r>
          </a:p>
          <a:p>
            <a:pPr marL="12700" marR="5080"/>
            <a:endParaRPr lang="en-US" sz="1500" kern="0" spc="-80" dirty="0">
              <a:solidFill>
                <a:schemeClr val="accent6"/>
              </a:solidFill>
            </a:endParaRPr>
          </a:p>
          <a:p>
            <a:pPr marL="12700" marR="5080"/>
            <a:r>
              <a:rPr lang="en-US" sz="1500" kern="0" spc="-80" dirty="0">
                <a:solidFill>
                  <a:schemeClr val="accent2"/>
                </a:solidFill>
              </a:rPr>
              <a:t>5. Validation vs </a:t>
            </a:r>
            <a:r>
              <a:rPr lang="en-US" sz="1500" kern="0" spc="-80" dirty="0" err="1">
                <a:solidFill>
                  <a:schemeClr val="accent2"/>
                </a:solidFill>
              </a:rPr>
              <a:t>Sanitisation</a:t>
            </a:r>
            <a:r>
              <a:rPr lang="en-US" sz="1500" kern="0" spc="-80" dirty="0">
                <a:solidFill>
                  <a:schemeClr val="accent2"/>
                </a:solidFill>
              </a:rPr>
              <a:t> Matrix</a:t>
            </a:r>
          </a:p>
          <a:p>
            <a:pPr marL="12700" marR="5080"/>
            <a:r>
              <a:rPr lang="en-US" sz="1500" kern="0" spc="-80" dirty="0">
                <a:solidFill>
                  <a:schemeClr val="accent2"/>
                </a:solidFill>
              </a:rPr>
              <a:t>Scenario	                  Validate	</a:t>
            </a:r>
            <a:r>
              <a:rPr lang="en-US" sz="1500" kern="0" spc="-80" dirty="0" err="1">
                <a:solidFill>
                  <a:schemeClr val="accent2"/>
                </a:solidFill>
              </a:rPr>
              <a:t>Sanitise</a:t>
            </a:r>
            <a:endParaRPr lang="en-US" sz="1500" kern="0" spc="-80" dirty="0">
              <a:solidFill>
                <a:schemeClr val="accent2"/>
              </a:solidFill>
            </a:endParaRPr>
          </a:p>
          <a:p>
            <a:pPr marL="12700" marR="5080"/>
            <a:r>
              <a:rPr lang="en-US" sz="1500" kern="0" spc="-80" dirty="0">
                <a:solidFill>
                  <a:schemeClr val="accent6"/>
                </a:solidFill>
              </a:rPr>
              <a:t>User age	                  ✅	❌</a:t>
            </a:r>
          </a:p>
          <a:p>
            <a:pPr marL="12700" marR="5080"/>
            <a:r>
              <a:rPr lang="en-US" sz="1500" kern="0" spc="-80" dirty="0">
                <a:solidFill>
                  <a:schemeClr val="accent6"/>
                </a:solidFill>
              </a:rPr>
              <a:t>Email	                  ✅	❌</a:t>
            </a:r>
          </a:p>
          <a:p>
            <a:pPr marL="12700" marR="5080"/>
            <a:r>
              <a:rPr lang="en-US" sz="1500" kern="0" spc="-80" dirty="0">
                <a:solidFill>
                  <a:schemeClr val="accent6"/>
                </a:solidFill>
              </a:rPr>
              <a:t>HTML content	⚠️	✅</a:t>
            </a:r>
          </a:p>
          <a:p>
            <a:pPr marL="12700" marR="5080"/>
            <a:r>
              <a:rPr lang="en-US" sz="1500" kern="0" spc="-80" dirty="0">
                <a:solidFill>
                  <a:schemeClr val="accent6"/>
                </a:solidFill>
              </a:rPr>
              <a:t>SQL parameters	❌	✅</a:t>
            </a:r>
          </a:p>
          <a:p>
            <a:pPr marL="12700" marR="5080"/>
            <a:r>
              <a:rPr lang="en-US" sz="1500" kern="0" spc="-80" dirty="0">
                <a:solidFill>
                  <a:schemeClr val="accent6"/>
                </a:solidFill>
              </a:rPr>
              <a:t>Search query	⚠️	✅</a:t>
            </a:r>
          </a:p>
          <a:p>
            <a:pPr marL="12700" marR="5080"/>
            <a:endParaRPr lang="en-US" sz="1500" kern="0" spc="-80" dirty="0">
              <a:solidFill>
                <a:schemeClr val="accent6"/>
              </a:solidFill>
            </a:endParaRPr>
          </a:p>
        </p:txBody>
      </p:sp>
      <p:grpSp>
        <p:nvGrpSpPr>
          <p:cNvPr id="7" name="Group 6">
            <a:extLst>
              <a:ext uri="{FF2B5EF4-FFF2-40B4-BE49-F238E27FC236}">
                <a16:creationId xmlns:a16="http://schemas.microsoft.com/office/drawing/2014/main" id="{ED7D8237-2931-629E-9474-BFF0AD14C941}"/>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64697E4E-E719-E489-3763-9C7ACEF6BC4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600400F-B4CD-2CD0-792D-EFEB9531418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38651720"/>
      </p:ext>
    </p:extLst>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ECBAD-6D10-35ED-4B7B-D7BBC3DFCA0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A936242-4F15-DDAB-31AE-078646F1123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87D5117-16D8-8593-151F-E6209CAC43C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EC2004C-A321-6A83-2DF5-2FDCBECFB08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9BD42C2A-94B8-2C59-BDC0-49AEDD6A7840}"/>
              </a:ext>
            </a:extLst>
          </p:cNvPr>
          <p:cNvSpPr txBox="1">
            <a:spLocks/>
          </p:cNvSpPr>
          <p:nvPr/>
        </p:nvSpPr>
        <p:spPr>
          <a:xfrm>
            <a:off x="0" y="792807"/>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Input Validation and </a:t>
            </a:r>
            <a:r>
              <a:rPr lang="en-US" sz="2000" kern="0" spc="-80" dirty="0" err="1">
                <a:solidFill>
                  <a:schemeClr val="accent2"/>
                </a:solidFill>
              </a:rPr>
              <a:t>Sanitisation</a:t>
            </a:r>
            <a:endParaRPr lang="en-US" sz="2000" kern="0" spc="-80" dirty="0">
              <a:solidFill>
                <a:schemeClr val="accent2"/>
              </a:solidFill>
            </a:endParaRPr>
          </a:p>
          <a:p>
            <a:pPr marL="12700" marR="5080"/>
            <a:r>
              <a:rPr lang="en-US" sz="1500" kern="0" spc="-80" dirty="0">
                <a:solidFill>
                  <a:schemeClr val="accent2"/>
                </a:solidFill>
              </a:rPr>
              <a:t>6. Common Anti-Patterns (Real-World Mistakes)</a:t>
            </a:r>
          </a:p>
          <a:p>
            <a:pPr marL="12700" marR="5080"/>
            <a:r>
              <a:rPr lang="en-US" sz="1500" kern="0" spc="-80" dirty="0">
                <a:solidFill>
                  <a:schemeClr val="accent6"/>
                </a:solidFill>
              </a:rPr>
              <a:t>❌ “We </a:t>
            </a:r>
            <a:r>
              <a:rPr lang="en-US" sz="1500" kern="0" spc="-80" dirty="0" err="1">
                <a:solidFill>
                  <a:schemeClr val="accent6"/>
                </a:solidFill>
              </a:rPr>
              <a:t>sanitised</a:t>
            </a:r>
            <a:r>
              <a:rPr lang="en-US" sz="1500" kern="0" spc="-80" dirty="0">
                <a:solidFill>
                  <a:schemeClr val="accent6"/>
                </a:solidFill>
              </a:rPr>
              <a:t> input, so no validation needed”</a:t>
            </a:r>
          </a:p>
          <a:p>
            <a:pPr marL="12700" marR="5080"/>
            <a:r>
              <a:rPr lang="en-US" sz="1500" kern="0" spc="-80" dirty="0" err="1">
                <a:solidFill>
                  <a:schemeClr val="accent6"/>
                </a:solidFill>
              </a:rPr>
              <a:t>Sanitised</a:t>
            </a:r>
            <a:r>
              <a:rPr lang="en-US" sz="1500" kern="0" spc="-80" dirty="0">
                <a:solidFill>
                  <a:schemeClr val="accent6"/>
                </a:solidFill>
              </a:rPr>
              <a:t> garbage is still garbage</a:t>
            </a:r>
          </a:p>
          <a:p>
            <a:pPr marL="12700" marR="5080"/>
            <a:r>
              <a:rPr lang="en-US" sz="1500" kern="0" spc="-80" dirty="0">
                <a:solidFill>
                  <a:schemeClr val="accent6"/>
                </a:solidFill>
              </a:rPr>
              <a:t>❌ Regex-only security</a:t>
            </a:r>
          </a:p>
          <a:p>
            <a:pPr marL="12700" marR="5080"/>
            <a:r>
              <a:rPr lang="en-US" sz="1500" kern="0" spc="-80" dirty="0">
                <a:solidFill>
                  <a:schemeClr val="accent6"/>
                </a:solidFill>
              </a:rPr>
              <a:t>Regex ≠ parser</a:t>
            </a:r>
          </a:p>
          <a:p>
            <a:pPr marL="12700" marR="5080"/>
            <a:r>
              <a:rPr lang="en-US" sz="1500" kern="0" spc="-80" dirty="0">
                <a:solidFill>
                  <a:schemeClr val="accent2"/>
                </a:solidFill>
              </a:rPr>
              <a:t>Especially dangerous for:</a:t>
            </a:r>
          </a:p>
          <a:p>
            <a:pPr marL="12700" marR="5080"/>
            <a:r>
              <a:rPr lang="en-US" sz="1500" kern="0" spc="-80" dirty="0">
                <a:solidFill>
                  <a:schemeClr val="accent6"/>
                </a:solidFill>
              </a:rPr>
              <a:t>URLs</a:t>
            </a:r>
          </a:p>
          <a:p>
            <a:pPr marL="12700" marR="5080"/>
            <a:r>
              <a:rPr lang="en-US" sz="1500" kern="0" spc="-80" dirty="0">
                <a:solidFill>
                  <a:schemeClr val="accent6"/>
                </a:solidFill>
              </a:rPr>
              <a:t>Emails</a:t>
            </a:r>
          </a:p>
          <a:p>
            <a:pPr marL="12700" marR="5080"/>
            <a:r>
              <a:rPr lang="en-US" sz="1500" kern="0" spc="-80" dirty="0">
                <a:solidFill>
                  <a:schemeClr val="accent6"/>
                </a:solidFill>
              </a:rPr>
              <a:t>JSON</a:t>
            </a:r>
          </a:p>
          <a:p>
            <a:pPr marL="12700" marR="5080"/>
            <a:r>
              <a:rPr lang="en-US" sz="1500" kern="0" spc="-80" dirty="0">
                <a:solidFill>
                  <a:schemeClr val="accent6"/>
                </a:solidFill>
              </a:rPr>
              <a:t>XML</a:t>
            </a:r>
          </a:p>
          <a:p>
            <a:pPr marL="12700" marR="5080"/>
            <a:r>
              <a:rPr lang="en-US" sz="1500" kern="0" spc="-80" dirty="0">
                <a:solidFill>
                  <a:schemeClr val="accent2"/>
                </a:solidFill>
              </a:rPr>
              <a:t>❌ Trusting internal APIs</a:t>
            </a:r>
          </a:p>
          <a:p>
            <a:pPr marL="12700" marR="5080"/>
            <a:r>
              <a:rPr lang="en-US" sz="1500" kern="0" spc="-80" dirty="0">
                <a:solidFill>
                  <a:schemeClr val="accent6"/>
                </a:solidFill>
              </a:rPr>
              <a:t>Attackers chain systems</a:t>
            </a:r>
          </a:p>
          <a:p>
            <a:pPr marL="12700" marR="5080"/>
            <a:r>
              <a:rPr lang="en-US" sz="1500" kern="0" spc="-80" dirty="0">
                <a:solidFill>
                  <a:schemeClr val="accent6"/>
                </a:solidFill>
              </a:rPr>
              <a:t>Zero Trust applies internally too</a:t>
            </a:r>
          </a:p>
          <a:p>
            <a:pPr marL="12700" marR="5080"/>
            <a:r>
              <a:rPr lang="en-US" sz="1500" kern="0" spc="-80" dirty="0">
                <a:solidFill>
                  <a:schemeClr val="accent2"/>
                </a:solidFill>
              </a:rPr>
              <a:t>❌ Over-</a:t>
            </a:r>
            <a:r>
              <a:rPr lang="en-US" sz="1500" kern="0" spc="-80" dirty="0" err="1">
                <a:solidFill>
                  <a:schemeClr val="accent2"/>
                </a:solidFill>
              </a:rPr>
              <a:t>sanitisation</a:t>
            </a:r>
            <a:endParaRPr lang="en-US" sz="1500" kern="0" spc="-80" dirty="0">
              <a:solidFill>
                <a:schemeClr val="accent2"/>
              </a:solidFill>
            </a:endParaRPr>
          </a:p>
          <a:p>
            <a:pPr marL="12700" marR="5080"/>
            <a:r>
              <a:rPr lang="en-US" sz="1500" kern="0" spc="-80" dirty="0">
                <a:solidFill>
                  <a:schemeClr val="accent6"/>
                </a:solidFill>
              </a:rPr>
              <a:t>O'Reilly → OReilly</a:t>
            </a:r>
          </a:p>
          <a:p>
            <a:pPr marL="12700" marR="5080"/>
            <a:r>
              <a:rPr lang="en-US" sz="1500" kern="0" spc="-80" dirty="0">
                <a:solidFill>
                  <a:schemeClr val="accent6"/>
                </a:solidFill>
              </a:rPr>
              <a:t>Breaks legitimate data</a:t>
            </a:r>
          </a:p>
          <a:p>
            <a:pPr marL="12700" marR="5080"/>
            <a:r>
              <a:rPr lang="en-US" sz="1500" kern="0" spc="-80" dirty="0">
                <a:solidFill>
                  <a:schemeClr val="accent6"/>
                </a:solidFill>
              </a:rPr>
              <a:t>Causes data corruption</a:t>
            </a: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grpSp>
        <p:nvGrpSpPr>
          <p:cNvPr id="7" name="Group 6">
            <a:extLst>
              <a:ext uri="{FF2B5EF4-FFF2-40B4-BE49-F238E27FC236}">
                <a16:creationId xmlns:a16="http://schemas.microsoft.com/office/drawing/2014/main" id="{0FEB0387-1DCD-B2E7-EB67-9B52F7482B84}"/>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F71F8C9B-179D-0BE7-FDDC-521878E7901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8282C66-73E8-2DCA-0F9C-099BB0E0836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187649427"/>
      </p:ext>
    </p:extLst>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65899-B01C-24E4-72F4-1F8B23DC5F7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3A1D9A0-A1D3-CAF9-3548-3D8157A804C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771778E-7CA5-786F-728C-1015ADB9569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B7F1B23-84E2-411B-5A77-352979FBDF5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3697095-0FAF-D7A5-B3B5-54629917E242}"/>
              </a:ext>
            </a:extLst>
          </p:cNvPr>
          <p:cNvSpPr txBox="1">
            <a:spLocks/>
          </p:cNvSpPr>
          <p:nvPr/>
        </p:nvSpPr>
        <p:spPr>
          <a:xfrm>
            <a:off x="76200" y="712143"/>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Input Validation and </a:t>
            </a:r>
            <a:r>
              <a:rPr lang="en-US" sz="2000" kern="0" spc="-80" dirty="0" err="1">
                <a:solidFill>
                  <a:schemeClr val="accent2"/>
                </a:solidFill>
              </a:rPr>
              <a:t>Sanitisation</a:t>
            </a:r>
            <a:endParaRPr lang="en-US" sz="2000" kern="0" spc="-80" dirty="0">
              <a:solidFill>
                <a:schemeClr val="accent2"/>
              </a:solidFill>
            </a:endParaRPr>
          </a:p>
          <a:p>
            <a:pPr marL="12700" marR="5080"/>
            <a:r>
              <a:rPr lang="en-US" sz="1500" kern="0" spc="-80" dirty="0">
                <a:solidFill>
                  <a:schemeClr val="accent2"/>
                </a:solidFill>
              </a:rPr>
              <a:t>7. Language &amp; Framework Patterns</a:t>
            </a:r>
          </a:p>
          <a:p>
            <a:pPr marL="12700" marR="5080"/>
            <a:r>
              <a:rPr lang="en-US" sz="1500" kern="0" spc="-80" dirty="0">
                <a:solidFill>
                  <a:schemeClr val="accent2"/>
                </a:solidFill>
              </a:rPr>
              <a:t>Java / Spring</a:t>
            </a:r>
          </a:p>
          <a:p>
            <a:pPr marL="12700" marR="5080"/>
            <a:r>
              <a:rPr lang="en-US" sz="1500" kern="0" spc="-80" dirty="0">
                <a:solidFill>
                  <a:schemeClr val="accent6"/>
                </a:solidFill>
              </a:rPr>
              <a:t>Bean Validation (@NotNull, @Size, @Pattern)</a:t>
            </a:r>
          </a:p>
          <a:p>
            <a:pPr marL="12700" marR="5080"/>
            <a:r>
              <a:rPr lang="en-US" sz="1500" kern="0" spc="-80" dirty="0" err="1">
                <a:solidFill>
                  <a:schemeClr val="accent6"/>
                </a:solidFill>
              </a:rPr>
              <a:t>PreparedStatements</a:t>
            </a:r>
            <a:endParaRPr lang="en-US" sz="1500" kern="0" spc="-80" dirty="0">
              <a:solidFill>
                <a:schemeClr val="accent6"/>
              </a:solidFill>
            </a:endParaRPr>
          </a:p>
          <a:p>
            <a:pPr marL="12700" marR="5080"/>
            <a:r>
              <a:rPr lang="en-US" sz="1500" kern="0" spc="-80" dirty="0">
                <a:solidFill>
                  <a:schemeClr val="accent2"/>
                </a:solidFill>
              </a:rPr>
              <a:t>.NET</a:t>
            </a:r>
          </a:p>
          <a:p>
            <a:pPr marL="12700" marR="5080"/>
            <a:r>
              <a:rPr lang="en-US" sz="1500" kern="0" spc="-80" dirty="0" err="1">
                <a:solidFill>
                  <a:schemeClr val="accent6"/>
                </a:solidFill>
              </a:rPr>
              <a:t>DataAnnotations</a:t>
            </a:r>
            <a:endParaRPr lang="en-US" sz="1500" kern="0" spc="-80" dirty="0">
              <a:solidFill>
                <a:schemeClr val="accent6"/>
              </a:solidFill>
            </a:endParaRPr>
          </a:p>
          <a:p>
            <a:pPr marL="12700" marR="5080"/>
            <a:r>
              <a:rPr lang="en-US" sz="1500" kern="0" spc="-80" dirty="0">
                <a:solidFill>
                  <a:schemeClr val="accent6"/>
                </a:solidFill>
              </a:rPr>
              <a:t>Model binding validation</a:t>
            </a:r>
          </a:p>
          <a:p>
            <a:pPr marL="12700" marR="5080"/>
            <a:r>
              <a:rPr lang="en-US" sz="1500" kern="0" spc="-80" dirty="0">
                <a:solidFill>
                  <a:schemeClr val="accent6"/>
                </a:solidFill>
              </a:rPr>
              <a:t>Razor auto-encoding</a:t>
            </a:r>
          </a:p>
          <a:p>
            <a:pPr marL="12700" marR="5080"/>
            <a:r>
              <a:rPr lang="en-US" sz="1500" kern="0" spc="-80" dirty="0">
                <a:solidFill>
                  <a:schemeClr val="accent2"/>
                </a:solidFill>
              </a:rPr>
              <a:t>JavaScript / Node</a:t>
            </a:r>
          </a:p>
          <a:p>
            <a:pPr marL="12700" marR="5080"/>
            <a:r>
              <a:rPr lang="en-US" sz="1500" kern="0" spc="-80" dirty="0">
                <a:solidFill>
                  <a:schemeClr val="accent6"/>
                </a:solidFill>
              </a:rPr>
              <a:t>Joi / Zod / Yup</a:t>
            </a:r>
          </a:p>
          <a:p>
            <a:pPr marL="12700" marR="5080"/>
            <a:r>
              <a:rPr lang="en-US" sz="1500" kern="0" spc="-80" dirty="0">
                <a:solidFill>
                  <a:schemeClr val="accent6"/>
                </a:solidFill>
              </a:rPr>
              <a:t>ORM parameterization (</a:t>
            </a:r>
            <a:r>
              <a:rPr lang="en-US" sz="1500" kern="0" spc="-80" dirty="0" err="1">
                <a:solidFill>
                  <a:schemeClr val="accent6"/>
                </a:solidFill>
              </a:rPr>
              <a:t>Sequelize</a:t>
            </a:r>
            <a:r>
              <a:rPr lang="en-US" sz="1500" kern="0" spc="-80" dirty="0">
                <a:solidFill>
                  <a:schemeClr val="accent6"/>
                </a:solidFill>
              </a:rPr>
              <a:t>, Prisma)</a:t>
            </a:r>
          </a:p>
          <a:p>
            <a:pPr marL="12700" marR="5080"/>
            <a:r>
              <a:rPr lang="en-US" sz="1500" kern="0" spc="-80" dirty="0">
                <a:solidFill>
                  <a:schemeClr val="accent2"/>
                </a:solidFill>
              </a:rPr>
              <a:t>Frontend</a:t>
            </a:r>
          </a:p>
          <a:p>
            <a:pPr marL="12700" marR="5080"/>
            <a:r>
              <a:rPr lang="en-US" sz="1500" kern="0" spc="-80" dirty="0">
                <a:solidFill>
                  <a:schemeClr val="accent6"/>
                </a:solidFill>
              </a:rPr>
              <a:t>DOM APIs (avoid </a:t>
            </a:r>
            <a:r>
              <a:rPr lang="en-US" sz="1500" kern="0" spc="-80" dirty="0" err="1">
                <a:solidFill>
                  <a:schemeClr val="accent6"/>
                </a:solidFill>
              </a:rPr>
              <a:t>innerHTML</a:t>
            </a:r>
            <a:r>
              <a:rPr lang="en-US" sz="1500" kern="0" spc="-80" dirty="0">
                <a:solidFill>
                  <a:schemeClr val="accent6"/>
                </a:solidFill>
              </a:rPr>
              <a:t>)</a:t>
            </a:r>
          </a:p>
          <a:p>
            <a:pPr marL="12700" marR="5080"/>
            <a:r>
              <a:rPr lang="en-US" sz="1500" kern="0" spc="-80" dirty="0">
                <a:solidFill>
                  <a:schemeClr val="accent2"/>
                </a:solidFill>
              </a:rPr>
              <a:t>8.Trusted Types (advanced) 8. OWASP Alignment</a:t>
            </a:r>
          </a:p>
          <a:p>
            <a:pPr marL="12700" marR="5080"/>
            <a:r>
              <a:rPr lang="en-US" sz="1500" kern="0" spc="-80" dirty="0">
                <a:solidFill>
                  <a:schemeClr val="accent2"/>
                </a:solidFill>
              </a:rPr>
              <a:t>Input validation &amp; </a:t>
            </a:r>
            <a:r>
              <a:rPr lang="en-US" sz="1500" kern="0" spc="-80" dirty="0" err="1">
                <a:solidFill>
                  <a:schemeClr val="accent2"/>
                </a:solidFill>
              </a:rPr>
              <a:t>sanitisation</a:t>
            </a:r>
            <a:r>
              <a:rPr lang="en-US" sz="1500" kern="0" spc="-80" dirty="0">
                <a:solidFill>
                  <a:schemeClr val="accent2"/>
                </a:solidFill>
              </a:rPr>
              <a:t> directly mitigate:</a:t>
            </a:r>
          </a:p>
          <a:p>
            <a:pPr marL="12700" marR="5080"/>
            <a:r>
              <a:rPr lang="en-US" sz="1500" kern="0" spc="-80" dirty="0">
                <a:solidFill>
                  <a:schemeClr val="accent6"/>
                </a:solidFill>
              </a:rPr>
              <a:t>A03: Injection</a:t>
            </a:r>
          </a:p>
          <a:p>
            <a:pPr marL="12700" marR="5080"/>
            <a:r>
              <a:rPr lang="en-US" sz="1500" kern="0" spc="-80" dirty="0">
                <a:solidFill>
                  <a:schemeClr val="accent6"/>
                </a:solidFill>
              </a:rPr>
              <a:t>A07: Identification &amp; Authentication Failures</a:t>
            </a:r>
          </a:p>
          <a:p>
            <a:pPr marL="12700" marR="5080"/>
            <a:r>
              <a:rPr lang="en-US" sz="1500" kern="0" spc="-80" dirty="0">
                <a:solidFill>
                  <a:schemeClr val="accent6"/>
                </a:solidFill>
              </a:rPr>
              <a:t>A05: Security Misconfiguration</a:t>
            </a:r>
          </a:p>
          <a:p>
            <a:pPr marL="12700" marR="5080"/>
            <a:r>
              <a:rPr lang="en-US" sz="1500" kern="0" spc="-80" dirty="0">
                <a:solidFill>
                  <a:schemeClr val="accent6"/>
                </a:solidFill>
              </a:rPr>
              <a:t>A08: Software and Data Integrity Failures</a:t>
            </a:r>
          </a:p>
          <a:p>
            <a:pPr marL="12700" marR="5080"/>
            <a:r>
              <a:rPr lang="en-US" sz="1500" kern="0" spc="-80" dirty="0">
                <a:solidFill>
                  <a:schemeClr val="accent6"/>
                </a:solidFill>
              </a:rPr>
              <a:t>A09: Security Logging &amp; Monitoring Failures</a:t>
            </a:r>
          </a:p>
          <a:p>
            <a:pPr marL="12700" marR="5080"/>
            <a:endParaRPr lang="en-US" sz="1500" kern="0" spc="-80" dirty="0">
              <a:solidFill>
                <a:schemeClr val="accent6"/>
              </a:solidFill>
            </a:endParaRPr>
          </a:p>
        </p:txBody>
      </p:sp>
      <p:grpSp>
        <p:nvGrpSpPr>
          <p:cNvPr id="7" name="Group 6">
            <a:extLst>
              <a:ext uri="{FF2B5EF4-FFF2-40B4-BE49-F238E27FC236}">
                <a16:creationId xmlns:a16="http://schemas.microsoft.com/office/drawing/2014/main" id="{6E567718-F2DA-2A98-7A53-949F9DD48A3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3A4E2DA-7504-4DD6-051D-AF45D31E096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C4FFC5C1-0D91-5BE3-F41E-79C563E479E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075713565"/>
      </p:ext>
    </p:extLst>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926C0-51C1-8C38-C94F-9F88BDA664F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07278B9-1B55-0C94-DE3F-4D43CB7985D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64BC9FB-AAA3-66E1-3CA7-16FFE9642A7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3E550EF-2422-22AE-76B2-0A0EAF7C98A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C4D2346-D130-3DF0-1D14-4122F694677A}"/>
              </a:ext>
            </a:extLst>
          </p:cNvPr>
          <p:cNvSpPr txBox="1">
            <a:spLocks/>
          </p:cNvSpPr>
          <p:nvPr/>
        </p:nvSpPr>
        <p:spPr>
          <a:xfrm>
            <a:off x="76200" y="745629"/>
            <a:ext cx="8624937" cy="169277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Input Validation and </a:t>
            </a:r>
            <a:r>
              <a:rPr lang="en-US" sz="2000" kern="0" spc="-80" dirty="0" err="1">
                <a:solidFill>
                  <a:schemeClr val="accent2"/>
                </a:solidFill>
              </a:rPr>
              <a:t>Sanitisation</a:t>
            </a:r>
            <a:endParaRPr lang="en-US" sz="2000" kern="0" spc="-80" dirty="0">
              <a:solidFill>
                <a:schemeClr val="accent2"/>
              </a:solidFill>
            </a:endParaRPr>
          </a:p>
          <a:p>
            <a:pPr marL="12700" marR="5080"/>
            <a:r>
              <a:rPr lang="en-US" sz="1500" kern="0" spc="-80" dirty="0">
                <a:solidFill>
                  <a:schemeClr val="accent2"/>
                </a:solidFill>
              </a:rPr>
              <a:t>9. Mental Model (Easy to Remember)</a:t>
            </a:r>
          </a:p>
          <a:p>
            <a:pPr marL="12700" marR="5080"/>
            <a:r>
              <a:rPr lang="en-US" sz="1500" kern="0" spc="-80" dirty="0">
                <a:solidFill>
                  <a:schemeClr val="accent6"/>
                </a:solidFill>
              </a:rPr>
              <a:t>Validation = “Is this allowed?”</a:t>
            </a:r>
          </a:p>
          <a:p>
            <a:pPr marL="12700" marR="5080"/>
            <a:r>
              <a:rPr lang="en-US" sz="1500" kern="0" spc="-80" dirty="0" err="1">
                <a:solidFill>
                  <a:schemeClr val="accent6"/>
                </a:solidFill>
              </a:rPr>
              <a:t>Sanitisation</a:t>
            </a:r>
            <a:r>
              <a:rPr lang="en-US" sz="1500" kern="0" spc="-80" dirty="0">
                <a:solidFill>
                  <a:schemeClr val="accent6"/>
                </a:solidFill>
              </a:rPr>
              <a:t> = “How do I safely use it here?”</a:t>
            </a:r>
          </a:p>
          <a:p>
            <a:pPr marL="12700" marR="5080"/>
            <a:r>
              <a:rPr lang="en-US" sz="1500" kern="0" spc="-80" dirty="0">
                <a:solidFill>
                  <a:schemeClr val="accent6"/>
                </a:solidFill>
              </a:rPr>
              <a:t>Encoding beats filtering</a:t>
            </a:r>
          </a:p>
          <a:p>
            <a:pPr marL="12700" marR="5080"/>
            <a:r>
              <a:rPr lang="en-US" sz="1500" kern="0" spc="-80" dirty="0">
                <a:solidFill>
                  <a:schemeClr val="accent6"/>
                </a:solidFill>
              </a:rPr>
              <a:t>Allowlist beats blocklist</a:t>
            </a:r>
          </a:p>
          <a:p>
            <a:pPr marL="12700" marR="5080"/>
            <a:endParaRPr lang="en-US" sz="1500" kern="0" spc="-80" dirty="0">
              <a:solidFill>
                <a:schemeClr val="accent6"/>
              </a:solidFill>
            </a:endParaRPr>
          </a:p>
        </p:txBody>
      </p:sp>
      <p:grpSp>
        <p:nvGrpSpPr>
          <p:cNvPr id="7" name="Group 6">
            <a:extLst>
              <a:ext uri="{FF2B5EF4-FFF2-40B4-BE49-F238E27FC236}">
                <a16:creationId xmlns:a16="http://schemas.microsoft.com/office/drawing/2014/main" id="{EBB74DEC-399E-CEE1-C2C1-D72442033264}"/>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40C7F32-F42A-81CE-3CE2-6686FE8DB28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E034854-6D6B-5C1D-8A24-22913BFB978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013246326"/>
      </p:ext>
    </p:extLst>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0" y="759023"/>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CSRF(Cross Site Request Forgery) </a:t>
            </a:r>
          </a:p>
        </p:txBody>
      </p:sp>
      <p:pic>
        <p:nvPicPr>
          <p:cNvPr id="1026" name="Picture 2">
            <a:extLst>
              <a:ext uri="{FF2B5EF4-FFF2-40B4-BE49-F238E27FC236}">
                <a16:creationId xmlns:a16="http://schemas.microsoft.com/office/drawing/2014/main" id="{111A3B32-A6E6-30F9-6C46-7D184819DE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39108"/>
            <a:ext cx="8763000" cy="4428292"/>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10F6C06B-A259-721C-187E-E421A4AEB312}"/>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3CBA657-7738-3A80-DEC1-1814887C3E3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0211A3B-5D53-84D5-E51B-3CFCADF281B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48004644"/>
      </p:ext>
    </p:extLst>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6763D-40C3-0313-E8AB-F6E827D123D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3239E04-E92D-36E7-772D-2092B751B45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453B0C9-27E5-C436-6C69-9016280D1F3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764345C-BD6E-4069-C629-4A5DD066F80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402BE53-FFB8-D224-C4BC-700F6428BE88}"/>
              </a:ext>
            </a:extLst>
          </p:cNvPr>
          <p:cNvSpPr txBox="1">
            <a:spLocks/>
          </p:cNvSpPr>
          <p:nvPr/>
        </p:nvSpPr>
        <p:spPr>
          <a:xfrm>
            <a:off x="76200" y="714375"/>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CSRF(Cross Site Request Forgery)</a:t>
            </a:r>
          </a:p>
          <a:p>
            <a:pPr marL="12700" marR="5080"/>
            <a:r>
              <a:rPr lang="en-US" sz="1500" kern="0" spc="-80" dirty="0">
                <a:solidFill>
                  <a:schemeClr val="accent2"/>
                </a:solidFill>
              </a:rPr>
              <a:t>What it is</a:t>
            </a:r>
          </a:p>
          <a:p>
            <a:pPr marL="12700" marR="5080"/>
            <a:r>
              <a:rPr lang="en-US" sz="1500" kern="0" spc="-80" dirty="0">
                <a:solidFill>
                  <a:schemeClr val="accent6"/>
                </a:solidFill>
              </a:rPr>
              <a:t>A victim is logged in → attacker makes the victim’s browser perform unintended actions.</a:t>
            </a:r>
          </a:p>
          <a:p>
            <a:pPr marL="12700" marR="5080"/>
            <a:r>
              <a:rPr lang="en-US" sz="1500" kern="0" spc="-80" dirty="0">
                <a:solidFill>
                  <a:schemeClr val="accent2"/>
                </a:solidFill>
              </a:rPr>
              <a:t>Classic example</a:t>
            </a:r>
          </a:p>
          <a:p>
            <a:pPr marL="12700" marR="5080"/>
            <a:r>
              <a:rPr lang="en-US" sz="1500" kern="0" spc="-80" dirty="0">
                <a:solidFill>
                  <a:schemeClr val="accent6"/>
                </a:solidFill>
              </a:rPr>
              <a:t>User is logged into bank.com.</a:t>
            </a:r>
          </a:p>
          <a:p>
            <a:pPr marL="12700" marR="5080"/>
            <a:r>
              <a:rPr lang="en-US" sz="1500" kern="0" spc="-80" dirty="0">
                <a:solidFill>
                  <a:schemeClr val="accent2"/>
                </a:solidFill>
              </a:rPr>
              <a:t>Attacker hosts:</a:t>
            </a:r>
          </a:p>
          <a:p>
            <a:pPr marL="12700" marR="5080"/>
            <a:r>
              <a:rPr lang="en-US" sz="1500" kern="0" spc="-80" dirty="0">
                <a:solidFill>
                  <a:schemeClr val="accent6"/>
                </a:solidFill>
              </a:rPr>
              <a:t>&lt;</a:t>
            </a:r>
            <a:r>
              <a:rPr lang="en-US" sz="1500" kern="0" spc="-80" dirty="0" err="1">
                <a:solidFill>
                  <a:schemeClr val="accent6"/>
                </a:solidFill>
              </a:rPr>
              <a:t>img</a:t>
            </a:r>
            <a:r>
              <a:rPr lang="en-US" sz="1500" kern="0" spc="-80" dirty="0">
                <a:solidFill>
                  <a:schemeClr val="accent6"/>
                </a:solidFill>
              </a:rPr>
              <a:t> </a:t>
            </a:r>
            <a:r>
              <a:rPr lang="en-US" sz="1500" kern="0" spc="-80" dirty="0" err="1">
                <a:solidFill>
                  <a:schemeClr val="accent6"/>
                </a:solidFill>
              </a:rPr>
              <a:t>src</a:t>
            </a:r>
            <a:r>
              <a:rPr lang="en-US" sz="1500" kern="0" spc="-80" dirty="0">
                <a:solidFill>
                  <a:schemeClr val="accent6"/>
                </a:solidFill>
              </a:rPr>
              <a:t>="https://bank.com/</a:t>
            </a:r>
            <a:r>
              <a:rPr lang="en-US" sz="1500" kern="0" spc="-80" dirty="0" err="1">
                <a:solidFill>
                  <a:schemeClr val="accent6"/>
                </a:solidFill>
              </a:rPr>
              <a:t>transfer?to</a:t>
            </a:r>
            <a:r>
              <a:rPr lang="en-US" sz="1500" kern="0" spc="-80" dirty="0">
                <a:solidFill>
                  <a:schemeClr val="accent6"/>
                </a:solidFill>
              </a:rPr>
              <a:t>=</a:t>
            </a:r>
            <a:r>
              <a:rPr lang="en-US" sz="1500" kern="0" spc="-80" dirty="0" err="1">
                <a:solidFill>
                  <a:schemeClr val="accent6"/>
                </a:solidFill>
              </a:rPr>
              <a:t>attacker&amp;amount</a:t>
            </a:r>
            <a:r>
              <a:rPr lang="en-US" sz="1500" kern="0" spc="-80" dirty="0">
                <a:solidFill>
                  <a:schemeClr val="accent6"/>
                </a:solidFill>
              </a:rPr>
              <a:t>=100000"&gt;</a:t>
            </a:r>
          </a:p>
          <a:p>
            <a:pPr marL="12700" marR="5080"/>
            <a:r>
              <a:rPr lang="en-US" sz="1500" kern="0" spc="-80" dirty="0">
                <a:solidFill>
                  <a:schemeClr val="accent6"/>
                </a:solidFill>
              </a:rPr>
              <a:t>➡️ Browser auto-sends cookies</a:t>
            </a:r>
          </a:p>
          <a:p>
            <a:pPr marL="12700" marR="5080"/>
            <a:r>
              <a:rPr lang="en-US" sz="1500" kern="0" spc="-80" dirty="0">
                <a:solidFill>
                  <a:schemeClr val="accent6"/>
                </a:solidFill>
              </a:rPr>
              <a:t>➡️ Transfer happens</a:t>
            </a:r>
          </a:p>
          <a:p>
            <a:pPr marL="12700" marR="5080"/>
            <a:r>
              <a:rPr lang="en-US" sz="1500" kern="0" spc="-80" dirty="0">
                <a:solidFill>
                  <a:schemeClr val="accent2"/>
                </a:solidFill>
              </a:rPr>
              <a:t>When CSRF works</a:t>
            </a:r>
          </a:p>
          <a:p>
            <a:pPr marL="12700" marR="5080"/>
            <a:r>
              <a:rPr lang="en-US" sz="1500" kern="0" spc="-80" dirty="0">
                <a:solidFill>
                  <a:schemeClr val="accent6"/>
                </a:solidFill>
              </a:rPr>
              <a:t>Condition	Required</a:t>
            </a:r>
          </a:p>
          <a:p>
            <a:pPr marL="12700" marR="5080"/>
            <a:r>
              <a:rPr lang="en-US" sz="1500" kern="0" spc="-80" dirty="0">
                <a:solidFill>
                  <a:schemeClr val="accent6"/>
                </a:solidFill>
              </a:rPr>
              <a:t>Cookie-based auth	Yes</a:t>
            </a:r>
          </a:p>
          <a:p>
            <a:pPr marL="12700" marR="5080"/>
            <a:r>
              <a:rPr lang="en-US" sz="1500" kern="0" spc="-80" dirty="0">
                <a:solidFill>
                  <a:schemeClr val="accent6"/>
                </a:solidFill>
              </a:rPr>
              <a:t>No CSRF token	Yes</a:t>
            </a:r>
          </a:p>
          <a:p>
            <a:pPr marL="12700" marR="5080"/>
            <a:r>
              <a:rPr lang="en-US" sz="1500" kern="0" spc="-80" dirty="0">
                <a:solidFill>
                  <a:schemeClr val="accent6"/>
                </a:solidFill>
              </a:rPr>
              <a:t>State-changing request	Yes</a:t>
            </a:r>
          </a:p>
          <a:p>
            <a:pPr marL="12700" marR="5080"/>
            <a:endParaRPr lang="en-US" sz="1500" kern="0" spc="-80" dirty="0">
              <a:solidFill>
                <a:schemeClr val="accent6"/>
              </a:solidFill>
            </a:endParaRPr>
          </a:p>
          <a:p>
            <a:pPr marL="12700" marR="5080"/>
            <a:r>
              <a:rPr lang="en-US" sz="1500" kern="0" spc="-80" dirty="0">
                <a:solidFill>
                  <a:schemeClr val="accent2"/>
                </a:solidFill>
              </a:rPr>
              <a:t>Defenses</a:t>
            </a:r>
          </a:p>
          <a:p>
            <a:pPr marL="12700" marR="5080"/>
            <a:r>
              <a:rPr lang="en-US" sz="1500" kern="0" spc="-80" dirty="0">
                <a:solidFill>
                  <a:schemeClr val="accent2"/>
                </a:solidFill>
              </a:rPr>
              <a:t>✅ CSRF tokens (synchronizer token)</a:t>
            </a:r>
          </a:p>
          <a:p>
            <a:pPr marL="12700" marR="5080"/>
            <a:r>
              <a:rPr lang="en-US" sz="1500" kern="0" spc="-80" dirty="0">
                <a:solidFill>
                  <a:schemeClr val="accent6"/>
                </a:solidFill>
              </a:rPr>
              <a:t>Random per session/request</a:t>
            </a:r>
          </a:p>
          <a:p>
            <a:pPr marL="12700" marR="5080"/>
            <a:r>
              <a:rPr lang="en-US" sz="1500" kern="0" spc="-80" dirty="0">
                <a:solidFill>
                  <a:schemeClr val="accent6"/>
                </a:solidFill>
              </a:rPr>
              <a:t>Verified server-side</a:t>
            </a:r>
          </a:p>
          <a:p>
            <a:pPr marL="12700" marR="5080"/>
            <a:r>
              <a:rPr lang="en-US" sz="1500" kern="0" spc="-80" dirty="0">
                <a:solidFill>
                  <a:schemeClr val="accent2"/>
                </a:solidFill>
              </a:rPr>
              <a:t>✅ </a:t>
            </a:r>
            <a:r>
              <a:rPr lang="en-US" sz="1500" kern="0" spc="-80" dirty="0" err="1">
                <a:solidFill>
                  <a:schemeClr val="accent2"/>
                </a:solidFill>
              </a:rPr>
              <a:t>SameSite</a:t>
            </a:r>
            <a:r>
              <a:rPr lang="en-US" sz="1500" kern="0" spc="-80" dirty="0">
                <a:solidFill>
                  <a:schemeClr val="accent2"/>
                </a:solidFill>
              </a:rPr>
              <a:t> cookies</a:t>
            </a:r>
          </a:p>
          <a:p>
            <a:pPr marL="12700" marR="5080"/>
            <a:r>
              <a:rPr lang="en-US" sz="1500" kern="0" spc="-80" dirty="0">
                <a:solidFill>
                  <a:schemeClr val="accent6"/>
                </a:solidFill>
              </a:rPr>
              <a:t>Set-Cookie: session=</a:t>
            </a:r>
            <a:r>
              <a:rPr lang="en-US" sz="1500" kern="0" spc="-80" dirty="0" err="1">
                <a:solidFill>
                  <a:schemeClr val="accent6"/>
                </a:solidFill>
              </a:rPr>
              <a:t>abc</a:t>
            </a:r>
            <a:r>
              <a:rPr lang="en-US" sz="1500" kern="0" spc="-80" dirty="0">
                <a:solidFill>
                  <a:schemeClr val="accent6"/>
                </a:solidFill>
              </a:rPr>
              <a:t>; </a:t>
            </a:r>
            <a:r>
              <a:rPr lang="en-US" sz="1500" kern="0" spc="-80" dirty="0" err="1">
                <a:solidFill>
                  <a:schemeClr val="accent6"/>
                </a:solidFill>
              </a:rPr>
              <a:t>SameSite</a:t>
            </a:r>
            <a:r>
              <a:rPr lang="en-US" sz="1500" kern="0" spc="-80" dirty="0">
                <a:solidFill>
                  <a:schemeClr val="accent6"/>
                </a:solidFill>
              </a:rPr>
              <a:t>=Lax; Secure</a:t>
            </a:r>
          </a:p>
        </p:txBody>
      </p:sp>
      <p:grpSp>
        <p:nvGrpSpPr>
          <p:cNvPr id="7" name="Group 6">
            <a:extLst>
              <a:ext uri="{FF2B5EF4-FFF2-40B4-BE49-F238E27FC236}">
                <a16:creationId xmlns:a16="http://schemas.microsoft.com/office/drawing/2014/main" id="{ACE8B4D1-3792-3A37-8C1D-01FB7DF7C95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897911A6-8DD5-D4D7-840D-335FAF60AD2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CF463313-2F4F-C384-5AC9-05985356694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185801308"/>
      </p:ext>
    </p:extLst>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7015A-F6AD-6C51-9513-F79331A9ADC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722B01F-D0C9-5538-7DD4-4FA0358C4F2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B960B4E-8F44-D446-BC0D-B230FFE01C6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AA38936-D3D8-E4D5-EFF7-6673AC92E64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7995EAE-E8EE-53D5-4669-4E2FFB6F48AD}"/>
              </a:ext>
            </a:extLst>
          </p:cNvPr>
          <p:cNvSpPr txBox="1">
            <a:spLocks/>
          </p:cNvSpPr>
          <p:nvPr/>
        </p:nvSpPr>
        <p:spPr>
          <a:xfrm>
            <a:off x="76200" y="746641"/>
            <a:ext cx="8624937" cy="473975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CSRF(Cross Site Request Forgery)</a:t>
            </a:r>
          </a:p>
          <a:p>
            <a:pPr marL="12700" marR="5080"/>
            <a:r>
              <a:rPr lang="en-US" sz="1500" kern="0" spc="-80" dirty="0">
                <a:solidFill>
                  <a:schemeClr val="accent2"/>
                </a:solidFill>
              </a:rPr>
              <a:t>Defenses</a:t>
            </a:r>
          </a:p>
          <a:p>
            <a:pPr marL="12700" marR="5080"/>
            <a:r>
              <a:rPr lang="en-US" sz="1500" kern="0" spc="-80" dirty="0">
                <a:solidFill>
                  <a:schemeClr val="accent2"/>
                </a:solidFill>
              </a:rPr>
              <a:t>✅ CSRF tokens (synchronizer token)</a:t>
            </a:r>
          </a:p>
          <a:p>
            <a:pPr marL="12700" marR="5080"/>
            <a:r>
              <a:rPr lang="en-US" sz="1500" kern="0" spc="-80" dirty="0">
                <a:solidFill>
                  <a:schemeClr val="accent6"/>
                </a:solidFill>
              </a:rPr>
              <a:t>Random per session/request</a:t>
            </a:r>
          </a:p>
          <a:p>
            <a:pPr marL="12700" marR="5080"/>
            <a:r>
              <a:rPr lang="en-US" sz="1500" kern="0" spc="-80" dirty="0">
                <a:solidFill>
                  <a:schemeClr val="accent6"/>
                </a:solidFill>
              </a:rPr>
              <a:t>Verified server-side</a:t>
            </a:r>
          </a:p>
          <a:p>
            <a:pPr marL="12700" marR="5080"/>
            <a:r>
              <a:rPr lang="en-US" sz="1500" kern="0" spc="-80" dirty="0">
                <a:solidFill>
                  <a:schemeClr val="accent2"/>
                </a:solidFill>
              </a:rPr>
              <a:t>✅ </a:t>
            </a:r>
            <a:r>
              <a:rPr lang="en-US" sz="1500" kern="0" spc="-80" dirty="0" err="1">
                <a:solidFill>
                  <a:schemeClr val="accent2"/>
                </a:solidFill>
              </a:rPr>
              <a:t>SameSite</a:t>
            </a:r>
            <a:r>
              <a:rPr lang="en-US" sz="1500" kern="0" spc="-80" dirty="0">
                <a:solidFill>
                  <a:schemeClr val="accent2"/>
                </a:solidFill>
              </a:rPr>
              <a:t> cookies</a:t>
            </a:r>
          </a:p>
          <a:p>
            <a:pPr marL="12700" marR="5080"/>
            <a:r>
              <a:rPr lang="en-US" sz="1500" kern="0" spc="-80" dirty="0">
                <a:solidFill>
                  <a:schemeClr val="accent6"/>
                </a:solidFill>
              </a:rPr>
              <a:t>Set-Cookie: session=</a:t>
            </a:r>
            <a:r>
              <a:rPr lang="en-US" sz="1500" kern="0" spc="-80" dirty="0" err="1">
                <a:solidFill>
                  <a:schemeClr val="accent6"/>
                </a:solidFill>
              </a:rPr>
              <a:t>abc</a:t>
            </a:r>
            <a:r>
              <a:rPr lang="en-US" sz="1500" kern="0" spc="-80" dirty="0">
                <a:solidFill>
                  <a:schemeClr val="accent6"/>
                </a:solidFill>
              </a:rPr>
              <a:t>; </a:t>
            </a:r>
            <a:r>
              <a:rPr lang="en-US" sz="1500" kern="0" spc="-80" dirty="0" err="1">
                <a:solidFill>
                  <a:schemeClr val="accent6"/>
                </a:solidFill>
              </a:rPr>
              <a:t>SameSite</a:t>
            </a:r>
            <a:r>
              <a:rPr lang="en-US" sz="1500" kern="0" spc="-80" dirty="0">
                <a:solidFill>
                  <a:schemeClr val="accent6"/>
                </a:solidFill>
              </a:rPr>
              <a:t>=Lax; Secure</a:t>
            </a:r>
          </a:p>
          <a:p>
            <a:pPr marL="12700" marR="5080"/>
            <a:r>
              <a:rPr lang="en-US" sz="1500" kern="0" spc="-80" dirty="0">
                <a:solidFill>
                  <a:schemeClr val="accent2"/>
                </a:solidFill>
              </a:rPr>
              <a:t>Mode	Protection</a:t>
            </a:r>
          </a:p>
          <a:p>
            <a:pPr marL="12700" marR="5080"/>
            <a:r>
              <a:rPr lang="en-US" sz="1500" kern="0" spc="-80" dirty="0">
                <a:solidFill>
                  <a:schemeClr val="accent6"/>
                </a:solidFill>
              </a:rPr>
              <a:t>Strict	Best</a:t>
            </a:r>
          </a:p>
          <a:p>
            <a:pPr marL="12700" marR="5080"/>
            <a:r>
              <a:rPr lang="en-US" sz="1500" kern="0" spc="-80" dirty="0">
                <a:solidFill>
                  <a:schemeClr val="accent6"/>
                </a:solidFill>
              </a:rPr>
              <a:t>Lax	Good default</a:t>
            </a:r>
          </a:p>
          <a:p>
            <a:pPr marL="12700" marR="5080"/>
            <a:r>
              <a:rPr lang="en-US" sz="1500" kern="0" spc="-80" dirty="0">
                <a:solidFill>
                  <a:schemeClr val="accent6"/>
                </a:solidFill>
              </a:rPr>
              <a:t>None	Dangerous unless needed</a:t>
            </a:r>
          </a:p>
          <a:p>
            <a:pPr marL="12700" marR="5080"/>
            <a:r>
              <a:rPr lang="en-US" sz="1500" kern="0" spc="-80" dirty="0">
                <a:solidFill>
                  <a:schemeClr val="accent2"/>
                </a:solidFill>
              </a:rPr>
              <a:t>✅ Use headers for APIs</a:t>
            </a:r>
          </a:p>
          <a:p>
            <a:pPr marL="12700" marR="5080"/>
            <a:r>
              <a:rPr lang="en-US" sz="1500" kern="0" spc="-80" dirty="0">
                <a:solidFill>
                  <a:schemeClr val="accent6"/>
                </a:solidFill>
              </a:rPr>
              <a:t>Authorization: Bearer &lt;token&gt;</a:t>
            </a:r>
          </a:p>
          <a:p>
            <a:pPr marL="12700" marR="5080"/>
            <a:r>
              <a:rPr lang="en-US" sz="1500" kern="0" spc="-80" dirty="0">
                <a:solidFill>
                  <a:schemeClr val="accent6"/>
                </a:solidFill>
              </a:rPr>
              <a:t>➡️ Browsers can’t forge custom headers</a:t>
            </a:r>
          </a:p>
          <a:p>
            <a:pPr marL="12700" marR="5080"/>
            <a:endParaRPr lang="en-US" sz="1500" kern="0" spc="-80" dirty="0">
              <a:solidFill>
                <a:schemeClr val="accent6"/>
              </a:solidFill>
            </a:endParaRPr>
          </a:p>
          <a:p>
            <a:pPr marL="12700" marR="5080"/>
            <a:r>
              <a:rPr lang="en-US" sz="1600" kern="0" spc="-80" dirty="0">
                <a:solidFill>
                  <a:schemeClr val="accent2"/>
                </a:solidFill>
              </a:rPr>
              <a:t>For Further Exploration –</a:t>
            </a:r>
          </a:p>
          <a:p>
            <a:pPr marL="12700" marR="5080"/>
            <a:r>
              <a:rPr lang="en-US" sz="1600" kern="0" spc="-80" dirty="0">
                <a:solidFill>
                  <a:schemeClr val="accent2"/>
                </a:solidFill>
              </a:rPr>
              <a:t> </a:t>
            </a:r>
            <a:r>
              <a:rPr lang="en-US" sz="1600" dirty="0">
                <a:hlinkClick r:id="rId2"/>
              </a:rPr>
              <a:t>Prevent Cross-Site Request Forgery (XSRF/CSRF) attacks in ASP.NET Core | Microsoft Learn</a:t>
            </a:r>
            <a:endParaRPr lang="en-US" sz="1600" kern="0" spc="-80" dirty="0">
              <a:solidFill>
                <a:schemeClr val="accent2"/>
              </a:solidFill>
            </a:endParaRPr>
          </a:p>
          <a:p>
            <a:pPr marL="12700" marR="5080"/>
            <a:endParaRPr lang="en-US" sz="1500" kern="0" spc="-80" dirty="0">
              <a:solidFill>
                <a:schemeClr val="accent6"/>
              </a:solidFill>
            </a:endParaRPr>
          </a:p>
          <a:p>
            <a:pPr marL="12700" marR="5080"/>
            <a:r>
              <a:rPr lang="en-US" sz="1500" kern="0" spc="-80" dirty="0">
                <a:solidFill>
                  <a:schemeClr val="accent6"/>
                </a:solidFill>
              </a:rPr>
              <a:t> </a:t>
            </a:r>
          </a:p>
        </p:txBody>
      </p:sp>
      <p:grpSp>
        <p:nvGrpSpPr>
          <p:cNvPr id="7" name="Group 6">
            <a:extLst>
              <a:ext uri="{FF2B5EF4-FFF2-40B4-BE49-F238E27FC236}">
                <a16:creationId xmlns:a16="http://schemas.microsoft.com/office/drawing/2014/main" id="{85B0C514-2BE6-B16B-7ECB-25680D51284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597CA40-634E-6E0D-2C67-A1FB6D71E27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90AB66A-A2E7-CC51-691F-8F97142CB16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137121871"/>
      </p:ext>
    </p:extLst>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0" y="759023"/>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SSRF(</a:t>
            </a:r>
            <a:r>
              <a:rPr lang="en-IN" sz="2000" kern="0" spc="-80" dirty="0">
                <a:solidFill>
                  <a:schemeClr val="accent2"/>
                </a:solidFill>
              </a:rPr>
              <a:t>Server-Side Request Forgery</a:t>
            </a:r>
            <a:r>
              <a:rPr lang="en-US" sz="2000" kern="0" spc="-80" dirty="0">
                <a:solidFill>
                  <a:schemeClr val="accent2"/>
                </a:solidFill>
              </a:rPr>
              <a:t>)</a:t>
            </a:r>
          </a:p>
        </p:txBody>
      </p:sp>
      <p:pic>
        <p:nvPicPr>
          <p:cNvPr id="3074" name="Picture 2">
            <a:extLst>
              <a:ext uri="{FF2B5EF4-FFF2-40B4-BE49-F238E27FC236}">
                <a16:creationId xmlns:a16="http://schemas.microsoft.com/office/drawing/2014/main" id="{A7820F9C-576E-67AE-AA0E-63905CF130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754" y="1439108"/>
            <a:ext cx="8480552" cy="4352091"/>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999FFA58-9322-0E39-7F6C-624E0319350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8331403-6F52-920A-13B9-6170EF152F2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3EA44690-EB18-E7E8-6F4A-A5DB7954C87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167273625"/>
      </p:ext>
    </p:extLst>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245ED-F700-6672-48B6-60C02C58C6A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A041872-D8F0-3528-295A-63195DA9D76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249F3CE-D2CE-97BD-4512-F0832D02415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5FD0E70-4B57-CF93-96B2-A8B7C44FD04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39817BC5-8CBD-AC20-9C3D-D3AB4B954B89}"/>
              </a:ext>
            </a:extLst>
          </p:cNvPr>
          <p:cNvSpPr txBox="1">
            <a:spLocks/>
          </p:cNvSpPr>
          <p:nvPr/>
        </p:nvSpPr>
        <p:spPr>
          <a:xfrm>
            <a:off x="76200" y="790575"/>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SSRF(</a:t>
            </a:r>
            <a:r>
              <a:rPr lang="en-IN" sz="2000" kern="0" spc="-80" dirty="0">
                <a:solidFill>
                  <a:schemeClr val="accent2"/>
                </a:solidFill>
              </a:rPr>
              <a:t>Server-Side Request Forgery</a:t>
            </a:r>
            <a:r>
              <a:rPr lang="en-US" sz="2000" kern="0" spc="-80" dirty="0">
                <a:solidFill>
                  <a:schemeClr val="accent2"/>
                </a:solidFill>
              </a:rPr>
              <a:t>) – </a:t>
            </a:r>
          </a:p>
          <a:p>
            <a:pPr marL="12700" marR="5080"/>
            <a:r>
              <a:rPr lang="en-US" sz="1500" kern="0" spc="-80" dirty="0">
                <a:solidFill>
                  <a:schemeClr val="accent2"/>
                </a:solidFill>
              </a:rPr>
              <a:t>What it is</a:t>
            </a:r>
          </a:p>
          <a:p>
            <a:pPr marL="12700" marR="5080"/>
            <a:r>
              <a:rPr lang="en-US" sz="1500" kern="0" spc="-80" dirty="0">
                <a:solidFill>
                  <a:schemeClr val="accent6"/>
                </a:solidFill>
              </a:rPr>
              <a:t>An attacker tricks your server into making HTTP requests they control.</a:t>
            </a:r>
          </a:p>
          <a:p>
            <a:pPr marL="12700" marR="5080"/>
            <a:r>
              <a:rPr lang="en-US" sz="1500" kern="0" spc="-80" dirty="0">
                <a:solidFill>
                  <a:schemeClr val="accent6"/>
                </a:solidFill>
              </a:rPr>
              <a:t>“I can’t access internal services directly… but your server can.”</a:t>
            </a:r>
          </a:p>
          <a:p>
            <a:pPr marL="12700" marR="5080"/>
            <a:r>
              <a:rPr lang="en-US" sz="1500" kern="0" spc="-80" dirty="0">
                <a:solidFill>
                  <a:schemeClr val="accent6"/>
                </a:solidFill>
              </a:rPr>
              <a:t>Typical vulnerable code</a:t>
            </a:r>
          </a:p>
          <a:p>
            <a:pPr marL="12700" marR="5080"/>
            <a:r>
              <a:rPr lang="en-US" sz="1500" kern="0" spc="-80" dirty="0">
                <a:solidFill>
                  <a:schemeClr val="accent6"/>
                </a:solidFill>
              </a:rPr>
              <a:t>GET /</a:t>
            </a:r>
            <a:r>
              <a:rPr lang="en-US" sz="1500" kern="0" spc="-80" dirty="0" err="1">
                <a:solidFill>
                  <a:schemeClr val="accent6"/>
                </a:solidFill>
              </a:rPr>
              <a:t>fetch?url</a:t>
            </a:r>
            <a:r>
              <a:rPr lang="en-US" sz="1500" kern="0" spc="-80" dirty="0">
                <a:solidFill>
                  <a:schemeClr val="accent6"/>
                </a:solidFill>
              </a:rPr>
              <a:t>=http://example.com/data.json</a:t>
            </a:r>
          </a:p>
          <a:p>
            <a:pPr marL="12700" marR="5080"/>
            <a:r>
              <a:rPr lang="en-US" sz="1500" kern="0" spc="-80" dirty="0">
                <a:solidFill>
                  <a:schemeClr val="accent2"/>
                </a:solidFill>
              </a:rPr>
              <a:t>Backend:</a:t>
            </a:r>
          </a:p>
          <a:p>
            <a:pPr marL="12700" marR="5080"/>
            <a:r>
              <a:rPr lang="en-US" sz="1500" kern="0" spc="-80" dirty="0" err="1">
                <a:solidFill>
                  <a:schemeClr val="accent6"/>
                </a:solidFill>
              </a:rPr>
              <a:t>requests.get</a:t>
            </a:r>
            <a:r>
              <a:rPr lang="en-US" sz="1500" kern="0" spc="-80" dirty="0">
                <a:solidFill>
                  <a:schemeClr val="accent6"/>
                </a:solidFill>
              </a:rPr>
              <a:t>(</a:t>
            </a:r>
            <a:r>
              <a:rPr lang="en-US" sz="1500" kern="0" spc="-80" dirty="0" err="1">
                <a:solidFill>
                  <a:schemeClr val="accent6"/>
                </a:solidFill>
              </a:rPr>
              <a:t>user_supplied_url</a:t>
            </a:r>
            <a:r>
              <a:rPr lang="en-US" sz="1500" kern="0" spc="-80" dirty="0">
                <a:solidFill>
                  <a:schemeClr val="accent6"/>
                </a:solidFill>
              </a:rPr>
              <a:t>)</a:t>
            </a:r>
          </a:p>
          <a:p>
            <a:pPr marL="12700" marR="5080"/>
            <a:r>
              <a:rPr lang="en-US" sz="1500" kern="0" spc="-80" dirty="0">
                <a:solidFill>
                  <a:schemeClr val="accent2"/>
                </a:solidFill>
              </a:rPr>
              <a:t>Why it’s dangerous</a:t>
            </a:r>
          </a:p>
          <a:p>
            <a:pPr marL="12700" marR="5080"/>
            <a:r>
              <a:rPr lang="en-US" sz="1500" kern="0" spc="-80" dirty="0">
                <a:solidFill>
                  <a:schemeClr val="accent6"/>
                </a:solidFill>
              </a:rPr>
              <a:t>SSRF allows attackers to:</a:t>
            </a:r>
          </a:p>
          <a:p>
            <a:pPr marL="12700" marR="5080"/>
            <a:r>
              <a:rPr lang="en-US" sz="1500" kern="0" spc="-80" dirty="0">
                <a:solidFill>
                  <a:schemeClr val="accent6"/>
                </a:solidFill>
              </a:rPr>
              <a:t>Access internal services (localhost, VPC IPs)</a:t>
            </a:r>
          </a:p>
          <a:p>
            <a:pPr marL="12700" marR="5080"/>
            <a:r>
              <a:rPr lang="en-US" sz="1500" kern="0" spc="-80" dirty="0">
                <a:solidFill>
                  <a:schemeClr val="accent6"/>
                </a:solidFill>
              </a:rPr>
              <a:t>Steal cloud metadata credentials</a:t>
            </a:r>
          </a:p>
          <a:p>
            <a:pPr marL="12700" marR="5080"/>
            <a:r>
              <a:rPr lang="en-US" sz="1500" kern="0" spc="-80" dirty="0">
                <a:solidFill>
                  <a:schemeClr val="accent6"/>
                </a:solidFill>
              </a:rPr>
              <a:t>Bypass firewalls</a:t>
            </a:r>
          </a:p>
          <a:p>
            <a:pPr marL="12700" marR="5080"/>
            <a:r>
              <a:rPr lang="en-US" sz="1500" kern="0" spc="-80" dirty="0">
                <a:solidFill>
                  <a:schemeClr val="accent6"/>
                </a:solidFill>
              </a:rPr>
              <a:t>Pivot inside microservices</a:t>
            </a:r>
          </a:p>
          <a:p>
            <a:pPr marL="12700" marR="5080"/>
            <a:r>
              <a:rPr lang="en-US" sz="1500" kern="0" spc="-80" dirty="0">
                <a:solidFill>
                  <a:schemeClr val="accent6"/>
                </a:solidFill>
              </a:rPr>
              <a:t>Cloud nightmare example</a:t>
            </a:r>
          </a:p>
          <a:p>
            <a:pPr marL="12700" marR="5080"/>
            <a:r>
              <a:rPr lang="en-US" sz="1500" kern="0" spc="-80" dirty="0">
                <a:solidFill>
                  <a:schemeClr val="accent6"/>
                </a:solidFill>
              </a:rPr>
              <a:t>http://169.254.169.254/latest/meta-data/iam/security-credentials/</a:t>
            </a:r>
          </a:p>
          <a:p>
            <a:pPr marL="12700" marR="5080"/>
            <a:r>
              <a:rPr lang="en-US" sz="1500" kern="0" spc="-80" dirty="0">
                <a:solidFill>
                  <a:schemeClr val="accent6"/>
                </a:solidFill>
              </a:rPr>
              <a:t>➡️ Steals AWS IAM role credentials</a:t>
            </a:r>
          </a:p>
          <a:p>
            <a:pPr marL="12700" marR="5080"/>
            <a:r>
              <a:rPr lang="en-US" sz="1500" kern="0" spc="-80" dirty="0">
                <a:solidFill>
                  <a:schemeClr val="accent2"/>
                </a:solidFill>
              </a:rPr>
              <a:t>Common SSRF targets</a:t>
            </a:r>
          </a:p>
          <a:p>
            <a:pPr marL="12700" marR="5080"/>
            <a:r>
              <a:rPr lang="en-US" sz="1500" kern="0" spc="-80" dirty="0">
                <a:solidFill>
                  <a:schemeClr val="accent2"/>
                </a:solidFill>
              </a:rPr>
              <a:t>Target	                        Why</a:t>
            </a:r>
          </a:p>
          <a:p>
            <a:pPr marL="12700" marR="5080"/>
            <a:r>
              <a:rPr lang="en-US" sz="1500" kern="0" spc="-80" dirty="0">
                <a:solidFill>
                  <a:schemeClr val="accent6"/>
                </a:solidFill>
              </a:rPr>
              <a:t>127.0.0.1	                        Local admin panels</a:t>
            </a:r>
          </a:p>
          <a:p>
            <a:pPr marL="12700" marR="5080"/>
            <a:r>
              <a:rPr lang="en-US" sz="1500" kern="0" spc="-80" dirty="0">
                <a:solidFill>
                  <a:schemeClr val="accent6"/>
                </a:solidFill>
              </a:rPr>
              <a:t>10.x.x.x, 192.168.x.x	      Internal network</a:t>
            </a:r>
          </a:p>
        </p:txBody>
      </p:sp>
      <p:grpSp>
        <p:nvGrpSpPr>
          <p:cNvPr id="7" name="Group 6">
            <a:extLst>
              <a:ext uri="{FF2B5EF4-FFF2-40B4-BE49-F238E27FC236}">
                <a16:creationId xmlns:a16="http://schemas.microsoft.com/office/drawing/2014/main" id="{791A7C77-8975-4F66-19FA-3FEC2431FC9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7976110-D02C-5D78-8E1A-0D13E977D0B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D478E9C-C00A-6856-0A29-CADFB8EE0E7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574185893"/>
      </p:ext>
    </p:extLst>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DE520-6403-2C05-603B-4D0516F9D0C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3F8D7E6-4D3A-6C3A-3197-06196722909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75CA97E-E1F0-05BB-937C-3EC0E5D04A7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4821991-4008-C56F-486F-A81CB5A429A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CA486E9C-A1FA-B08E-4DE3-ACC5B609AE0D}"/>
              </a:ext>
            </a:extLst>
          </p:cNvPr>
          <p:cNvSpPr txBox="1">
            <a:spLocks/>
          </p:cNvSpPr>
          <p:nvPr/>
        </p:nvSpPr>
        <p:spPr>
          <a:xfrm>
            <a:off x="76200" y="787598"/>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SSRF(</a:t>
            </a:r>
            <a:r>
              <a:rPr lang="en-IN" sz="2000" kern="0" spc="-80" dirty="0">
                <a:solidFill>
                  <a:schemeClr val="accent2"/>
                </a:solidFill>
              </a:rPr>
              <a:t>Server-Side Request Forgery</a:t>
            </a:r>
            <a:r>
              <a:rPr lang="en-US" sz="2000" kern="0" spc="-80" dirty="0">
                <a:solidFill>
                  <a:schemeClr val="accent2"/>
                </a:solidFill>
              </a:rPr>
              <a:t>) – </a:t>
            </a:r>
          </a:p>
          <a:p>
            <a:pPr marL="12700" marR="5080"/>
            <a:r>
              <a:rPr lang="en-US" sz="1500" kern="0" spc="-80" dirty="0">
                <a:solidFill>
                  <a:schemeClr val="accent2"/>
                </a:solidFill>
              </a:rPr>
              <a:t>Common SSRF targets</a:t>
            </a:r>
          </a:p>
          <a:p>
            <a:pPr marL="12700" marR="5080"/>
            <a:r>
              <a:rPr lang="en-US" sz="1500" kern="0" spc="-80" dirty="0">
                <a:solidFill>
                  <a:schemeClr val="accent2"/>
                </a:solidFill>
              </a:rPr>
              <a:t>Target	                        Why</a:t>
            </a:r>
          </a:p>
          <a:p>
            <a:pPr marL="12700" marR="5080"/>
            <a:r>
              <a:rPr lang="en-US" sz="1500" kern="0" spc="-80" dirty="0">
                <a:solidFill>
                  <a:schemeClr val="accent6"/>
                </a:solidFill>
              </a:rPr>
              <a:t>Cloud metadata IPs	      Credential theft</a:t>
            </a:r>
          </a:p>
          <a:p>
            <a:pPr marL="12700" marR="5080"/>
            <a:r>
              <a:rPr lang="en-US" sz="1500" kern="0" spc="-80" dirty="0">
                <a:solidFill>
                  <a:schemeClr val="accent6"/>
                </a:solidFill>
              </a:rPr>
              <a:t>Redis / Elasticsearch      Data exfiltration</a:t>
            </a:r>
          </a:p>
          <a:p>
            <a:pPr marL="12700" marR="5080"/>
            <a:endParaRPr lang="en-US" sz="1500" kern="0" spc="-80" dirty="0">
              <a:solidFill>
                <a:schemeClr val="accent6"/>
              </a:solidFill>
            </a:endParaRPr>
          </a:p>
          <a:p>
            <a:pPr marL="12700" marR="5080"/>
            <a:r>
              <a:rPr lang="en-US" sz="1500" kern="0" spc="-80" dirty="0">
                <a:solidFill>
                  <a:schemeClr val="accent2"/>
                </a:solidFill>
              </a:rPr>
              <a:t>Defenses (layered)</a:t>
            </a:r>
          </a:p>
          <a:p>
            <a:pPr marL="12700" marR="5080"/>
            <a:r>
              <a:rPr lang="en-US" sz="1500" kern="0" spc="-80" dirty="0">
                <a:solidFill>
                  <a:schemeClr val="accent2"/>
                </a:solidFill>
              </a:rPr>
              <a:t>✅ Allow-list URLs (not blocklist)</a:t>
            </a:r>
          </a:p>
          <a:p>
            <a:pPr marL="12700" marR="5080"/>
            <a:r>
              <a:rPr lang="en-US" sz="1500" kern="0" spc="-80" dirty="0">
                <a:solidFill>
                  <a:schemeClr val="accent6"/>
                </a:solidFill>
              </a:rPr>
              <a:t>Only allow https://api.trusted.com/*</a:t>
            </a:r>
          </a:p>
          <a:p>
            <a:pPr marL="12700" marR="5080"/>
            <a:r>
              <a:rPr lang="en-US" sz="1500" kern="0" spc="-80" dirty="0">
                <a:solidFill>
                  <a:schemeClr val="accent2"/>
                </a:solidFill>
              </a:rPr>
              <a:t>✅ DNS + IP validation</a:t>
            </a:r>
          </a:p>
          <a:p>
            <a:pPr marL="12700" marR="5080"/>
            <a:r>
              <a:rPr lang="en-US" sz="1500" kern="0" spc="-80" dirty="0">
                <a:solidFill>
                  <a:schemeClr val="accent6"/>
                </a:solidFill>
              </a:rPr>
              <a:t>Resolve DNS → check final IP</a:t>
            </a:r>
          </a:p>
          <a:p>
            <a:pPr marL="12700" marR="5080"/>
            <a:r>
              <a:rPr lang="en-US" sz="1500" kern="0" spc="-80" dirty="0">
                <a:solidFill>
                  <a:schemeClr val="accent2"/>
                </a:solidFill>
              </a:rPr>
              <a:t>Block:</a:t>
            </a:r>
          </a:p>
          <a:p>
            <a:pPr marL="12700" marR="5080"/>
            <a:r>
              <a:rPr lang="en-US" sz="1500" kern="0" spc="-80" dirty="0">
                <a:solidFill>
                  <a:schemeClr val="accent6"/>
                </a:solidFill>
              </a:rPr>
              <a:t>Private IPs</a:t>
            </a:r>
          </a:p>
          <a:p>
            <a:pPr marL="12700" marR="5080"/>
            <a:r>
              <a:rPr lang="en-US" sz="1500" kern="0" spc="-80" dirty="0">
                <a:solidFill>
                  <a:schemeClr val="accent6"/>
                </a:solidFill>
              </a:rPr>
              <a:t>Loopback</a:t>
            </a:r>
          </a:p>
          <a:p>
            <a:pPr marL="12700" marR="5080"/>
            <a:r>
              <a:rPr lang="en-US" sz="1500" kern="0" spc="-80" dirty="0">
                <a:solidFill>
                  <a:schemeClr val="accent6"/>
                </a:solidFill>
              </a:rPr>
              <a:t>Link-local</a:t>
            </a:r>
          </a:p>
          <a:p>
            <a:pPr marL="12700" marR="5080"/>
            <a:r>
              <a:rPr lang="en-US" sz="1500" kern="0" spc="-80" dirty="0">
                <a:solidFill>
                  <a:schemeClr val="accent2"/>
                </a:solidFill>
              </a:rPr>
              <a:t>✅ Disable redirects</a:t>
            </a:r>
          </a:p>
          <a:p>
            <a:pPr marL="12700" marR="5080"/>
            <a:r>
              <a:rPr lang="en-US" sz="1500" kern="0" spc="-80" dirty="0" err="1">
                <a:solidFill>
                  <a:schemeClr val="accent6"/>
                </a:solidFill>
              </a:rPr>
              <a:t>requests.get</a:t>
            </a:r>
            <a:r>
              <a:rPr lang="en-US" sz="1500" kern="0" spc="-80" dirty="0">
                <a:solidFill>
                  <a:schemeClr val="accent6"/>
                </a:solidFill>
              </a:rPr>
              <a:t>(</a:t>
            </a:r>
            <a:r>
              <a:rPr lang="en-US" sz="1500" kern="0" spc="-80" dirty="0" err="1">
                <a:solidFill>
                  <a:schemeClr val="accent6"/>
                </a:solidFill>
              </a:rPr>
              <a:t>url</a:t>
            </a:r>
            <a:r>
              <a:rPr lang="en-US" sz="1500" kern="0" spc="-80" dirty="0">
                <a:solidFill>
                  <a:schemeClr val="accent6"/>
                </a:solidFill>
              </a:rPr>
              <a:t>, </a:t>
            </a:r>
            <a:r>
              <a:rPr lang="en-US" sz="1500" kern="0" spc="-80" dirty="0" err="1">
                <a:solidFill>
                  <a:schemeClr val="accent6"/>
                </a:solidFill>
              </a:rPr>
              <a:t>allow_redirects</a:t>
            </a:r>
            <a:r>
              <a:rPr lang="en-US" sz="1500" kern="0" spc="-80" dirty="0">
                <a:solidFill>
                  <a:schemeClr val="accent6"/>
                </a:solidFill>
              </a:rPr>
              <a:t>=False)</a:t>
            </a:r>
          </a:p>
          <a:p>
            <a:pPr marL="12700" marR="5080"/>
            <a:r>
              <a:rPr lang="en-US" sz="1500" kern="0" spc="-80" dirty="0">
                <a:solidFill>
                  <a:schemeClr val="accent2"/>
                </a:solidFill>
              </a:rPr>
              <a:t>✅ Network-level protection</a:t>
            </a:r>
          </a:p>
          <a:p>
            <a:pPr marL="12700" marR="5080"/>
            <a:r>
              <a:rPr lang="en-US" sz="1500" kern="0" spc="-80" dirty="0">
                <a:solidFill>
                  <a:schemeClr val="accent6"/>
                </a:solidFill>
              </a:rPr>
              <a:t>IMDSv2 (AWS)</a:t>
            </a:r>
          </a:p>
          <a:p>
            <a:pPr marL="12700" marR="5080"/>
            <a:r>
              <a:rPr lang="en-US" sz="1500" kern="0" spc="-80" dirty="0">
                <a:solidFill>
                  <a:schemeClr val="accent6"/>
                </a:solidFill>
              </a:rPr>
              <a:t>Egress firewall rules</a:t>
            </a:r>
          </a:p>
          <a:p>
            <a:pPr marL="12700" marR="5080"/>
            <a:r>
              <a:rPr lang="en-US" sz="1500" kern="0" spc="-80" dirty="0">
                <a:solidFill>
                  <a:schemeClr val="accent6"/>
                </a:solidFill>
              </a:rPr>
              <a:t>Service mesh policies</a:t>
            </a:r>
          </a:p>
          <a:p>
            <a:pPr marL="12700" marR="5080"/>
            <a:endParaRPr lang="en-US" sz="2000" kern="0" spc="-80" dirty="0">
              <a:solidFill>
                <a:schemeClr val="accent2"/>
              </a:solidFill>
            </a:endParaRPr>
          </a:p>
        </p:txBody>
      </p:sp>
      <p:grpSp>
        <p:nvGrpSpPr>
          <p:cNvPr id="7" name="Group 6">
            <a:extLst>
              <a:ext uri="{FF2B5EF4-FFF2-40B4-BE49-F238E27FC236}">
                <a16:creationId xmlns:a16="http://schemas.microsoft.com/office/drawing/2014/main" id="{45EFBA9E-E497-7B88-8821-6FD8870A3F4A}"/>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943BEDB-BDF9-8A86-1680-B4F896B0E8B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1B843CFC-2779-9BAB-526A-0A5F85EE68C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12862686"/>
      </p:ext>
    </p:extLst>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8FC61-3415-9277-4C6B-58E91CDC8CE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FE7ED06-3A5F-2C29-0288-DE1017C894A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33E7BB0-C1CA-AB38-FEA1-24E5420F276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BCFDB35-6350-9AFB-5647-526059664A3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25EFE03-C42C-A6F6-24DF-BF0EB482EEDC}"/>
              </a:ext>
            </a:extLst>
          </p:cNvPr>
          <p:cNvSpPr txBox="1">
            <a:spLocks/>
          </p:cNvSpPr>
          <p:nvPr/>
        </p:nvSpPr>
        <p:spPr>
          <a:xfrm>
            <a:off x="76200" y="747117"/>
            <a:ext cx="8624937" cy="15388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SSRF(</a:t>
            </a:r>
            <a:r>
              <a:rPr lang="en-IN" sz="2000" kern="0" spc="-80" dirty="0">
                <a:solidFill>
                  <a:schemeClr val="accent2"/>
                </a:solidFill>
              </a:rPr>
              <a:t>Server-Side Request Forgery</a:t>
            </a:r>
            <a:r>
              <a:rPr lang="en-US" sz="2000" kern="0" spc="-80" dirty="0">
                <a:solidFill>
                  <a:schemeClr val="accent2"/>
                </a:solidFill>
              </a:rPr>
              <a:t>) </a:t>
            </a:r>
          </a:p>
          <a:p>
            <a:pPr marL="12700" marR="5080"/>
            <a:endParaRPr lang="en-US" sz="2000" kern="0" spc="-80" dirty="0">
              <a:solidFill>
                <a:schemeClr val="accent2"/>
              </a:solidFill>
            </a:endParaRPr>
          </a:p>
          <a:p>
            <a:pPr marL="12700" marR="5080"/>
            <a:r>
              <a:rPr lang="en-US" sz="2000" kern="0" spc="-80" dirty="0">
                <a:solidFill>
                  <a:schemeClr val="accent2"/>
                </a:solidFill>
              </a:rPr>
              <a:t>For Further Exploration </a:t>
            </a:r>
            <a:endParaRPr lang="en-US" kern="0" spc="-80" dirty="0">
              <a:solidFill>
                <a:schemeClr val="accent2"/>
              </a:solidFill>
            </a:endParaRPr>
          </a:p>
          <a:p>
            <a:pPr marL="12700" marR="5080"/>
            <a:r>
              <a:rPr lang="en-US" sz="2000" dirty="0">
                <a:hlinkClick r:id="rId2"/>
              </a:rPr>
              <a:t>Server Side Request Forgery | OWASP Foundation</a:t>
            </a:r>
            <a:endParaRPr lang="en-US" sz="2000" kern="0" spc="-80" dirty="0">
              <a:solidFill>
                <a:schemeClr val="accent2"/>
              </a:solidFill>
            </a:endParaRPr>
          </a:p>
          <a:p>
            <a:pPr marL="12700" marR="5080"/>
            <a:endParaRPr lang="en-US" sz="2000" kern="0" spc="-80" dirty="0">
              <a:solidFill>
                <a:schemeClr val="accent2"/>
              </a:solidFill>
            </a:endParaRPr>
          </a:p>
        </p:txBody>
      </p:sp>
      <p:grpSp>
        <p:nvGrpSpPr>
          <p:cNvPr id="7" name="Group 6">
            <a:extLst>
              <a:ext uri="{FF2B5EF4-FFF2-40B4-BE49-F238E27FC236}">
                <a16:creationId xmlns:a16="http://schemas.microsoft.com/office/drawing/2014/main" id="{6571DE26-7751-6DCE-7A91-D3504666D3E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D394798-A46D-0A06-E2CD-89A3A5E3D00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3452967-CE6F-A89D-006B-0BCFAB72BB4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327416605"/>
      </p:ext>
    </p:extLst>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0" y="759023"/>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CORS(Cross Origin Resource Sharing) - </a:t>
            </a:r>
          </a:p>
        </p:txBody>
      </p:sp>
      <p:pic>
        <p:nvPicPr>
          <p:cNvPr id="2050" name="Picture 2" descr="Enable CORS In ASP.NET WebAPI 2">
            <a:extLst>
              <a:ext uri="{FF2B5EF4-FFF2-40B4-BE49-F238E27FC236}">
                <a16:creationId xmlns:a16="http://schemas.microsoft.com/office/drawing/2014/main" id="{9BBDD1BB-78C8-A7F8-ECA9-A35103F05F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11" y="1066800"/>
            <a:ext cx="9123680" cy="480060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756E5AB4-86A2-7C64-95D2-1A55BAF16122}"/>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A64146B8-D188-61DB-06AA-706AD68CE21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F214DA8-86F3-5C53-F565-75C4E2C36DA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246024699"/>
      </p:ext>
    </p:extLst>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E7425-EFA5-EB9D-0E97-3B741F395F4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6641C4E-E011-0500-2C27-0EEBBB60B40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8750990-3341-73C0-4226-C2799BD5D78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47135A5-FCCB-38B0-6380-BDE6AF9F887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19D6717-F55F-9F6D-4EC9-41109927577F}"/>
              </a:ext>
            </a:extLst>
          </p:cNvPr>
          <p:cNvSpPr txBox="1">
            <a:spLocks/>
          </p:cNvSpPr>
          <p:nvPr/>
        </p:nvSpPr>
        <p:spPr>
          <a:xfrm>
            <a:off x="76200" y="792807"/>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CORS(Cross Origin Resource Sharing) </a:t>
            </a:r>
          </a:p>
          <a:p>
            <a:pPr marL="12700" marR="5080"/>
            <a:r>
              <a:rPr lang="en-US" sz="1500" kern="0" spc="-80" dirty="0">
                <a:solidFill>
                  <a:schemeClr val="accent6"/>
                </a:solidFill>
              </a:rPr>
              <a:t>Same-Origin Policy prevents a malicious website from reading or modifying data belonging to another website that a user is logged into.</a:t>
            </a:r>
          </a:p>
          <a:p>
            <a:pPr marL="12700" marR="5080"/>
            <a:r>
              <a:rPr lang="en-US" sz="1500" kern="0" spc="-80" dirty="0">
                <a:solidFill>
                  <a:schemeClr val="accent2"/>
                </a:solidFill>
              </a:rPr>
              <a:t>1. What is “origin”?</a:t>
            </a:r>
          </a:p>
          <a:p>
            <a:pPr marL="12700" marR="5080"/>
            <a:r>
              <a:rPr lang="en-US" sz="1500" kern="0" spc="-80" dirty="0">
                <a:solidFill>
                  <a:schemeClr val="accent2"/>
                </a:solidFill>
              </a:rPr>
              <a:t>An origin is defined by the triple:</a:t>
            </a:r>
          </a:p>
          <a:p>
            <a:pPr marL="12700" marR="5080"/>
            <a:r>
              <a:rPr lang="en-US" sz="1500" kern="0" spc="-80" dirty="0">
                <a:solidFill>
                  <a:schemeClr val="accent6"/>
                </a:solidFill>
              </a:rPr>
              <a:t>(origin) = (protocol, domain, port)</a:t>
            </a:r>
          </a:p>
          <a:p>
            <a:pPr marL="12700" marR="5080"/>
            <a:r>
              <a:rPr lang="en-US" sz="1500" kern="0" spc="-80" dirty="0">
                <a:solidFill>
                  <a:schemeClr val="accent2"/>
                </a:solidFill>
              </a:rPr>
              <a:t>Examples:</a:t>
            </a:r>
          </a:p>
          <a:p>
            <a:pPr marL="12700" marR="5080"/>
            <a:r>
              <a:rPr lang="en-US" sz="1500" kern="0" spc="-80" dirty="0">
                <a:solidFill>
                  <a:schemeClr val="accent6"/>
                </a:solidFill>
              </a:rPr>
              <a:t>https://bank.com ≠ http://bank.com (different protocol)</a:t>
            </a:r>
          </a:p>
          <a:p>
            <a:pPr marL="12700" marR="5080"/>
            <a:r>
              <a:rPr lang="en-US" sz="1500" kern="0" spc="-80" dirty="0">
                <a:solidFill>
                  <a:schemeClr val="accent6"/>
                </a:solidFill>
              </a:rPr>
              <a:t>https://bank.com ≠ https://bank.com:8080 (different port)</a:t>
            </a:r>
          </a:p>
          <a:p>
            <a:pPr marL="12700" marR="5080"/>
            <a:r>
              <a:rPr lang="en-US" sz="1500" kern="0" spc="-80" dirty="0">
                <a:solidFill>
                  <a:schemeClr val="accent6"/>
                </a:solidFill>
              </a:rPr>
              <a:t>https://bank.com ≠ https://evil.com (different domain)</a:t>
            </a:r>
          </a:p>
          <a:p>
            <a:pPr marL="12700" marR="5080"/>
            <a:r>
              <a:rPr lang="en-US" sz="1500" kern="0" spc="-80" dirty="0">
                <a:solidFill>
                  <a:schemeClr val="accent2"/>
                </a:solidFill>
              </a:rPr>
              <a:t>2. The core problem SOP solves</a:t>
            </a:r>
          </a:p>
          <a:p>
            <a:pPr marL="12700" marR="5080"/>
            <a:r>
              <a:rPr lang="en-US" sz="1500" kern="0" spc="-80" dirty="0">
                <a:solidFill>
                  <a:schemeClr val="accent2"/>
                </a:solidFill>
              </a:rPr>
              <a:t>Imagine this scenario without SOP:</a:t>
            </a:r>
          </a:p>
          <a:p>
            <a:pPr marL="12700" marR="5080"/>
            <a:r>
              <a:rPr lang="en-US" sz="1500" kern="0" spc="-80" dirty="0">
                <a:solidFill>
                  <a:schemeClr val="accent6"/>
                </a:solidFill>
              </a:rPr>
              <a:t>You are logged into https://bank.com</a:t>
            </a:r>
          </a:p>
          <a:p>
            <a:pPr marL="12700" marR="5080"/>
            <a:r>
              <a:rPr lang="en-US" sz="1500" kern="0" spc="-80" dirty="0">
                <a:solidFill>
                  <a:schemeClr val="accent6"/>
                </a:solidFill>
              </a:rPr>
              <a:t>Your browser stores bank cookies (session tokens)</a:t>
            </a:r>
          </a:p>
          <a:p>
            <a:pPr marL="12700" marR="5080"/>
            <a:r>
              <a:rPr lang="en-US" sz="1500" kern="0" spc="-80" dirty="0">
                <a:solidFill>
                  <a:schemeClr val="accent6"/>
                </a:solidFill>
              </a:rPr>
              <a:t>You visit https://evil.com</a:t>
            </a:r>
          </a:p>
          <a:p>
            <a:pPr marL="12700" marR="5080"/>
            <a:r>
              <a:rPr lang="en-US" sz="1500" kern="0" spc="-80" dirty="0">
                <a:solidFill>
                  <a:schemeClr val="accent6"/>
                </a:solidFill>
              </a:rPr>
              <a:t>evil.com runs JavaScript like:</a:t>
            </a:r>
          </a:p>
          <a:p>
            <a:pPr marL="12700" marR="5080"/>
            <a:r>
              <a:rPr lang="en-US" sz="1500" kern="0" spc="-80" dirty="0">
                <a:solidFill>
                  <a:schemeClr val="accent6"/>
                </a:solidFill>
              </a:rPr>
              <a:t>fetch("https://bank.com/account")</a:t>
            </a:r>
          </a:p>
          <a:p>
            <a:pPr marL="12700" marR="5080"/>
            <a:r>
              <a:rPr lang="en-US" sz="1500" kern="0" spc="-80" dirty="0">
                <a:solidFill>
                  <a:schemeClr val="accent6"/>
                </a:solidFill>
              </a:rPr>
              <a:t>  .then(r =&gt; </a:t>
            </a:r>
            <a:r>
              <a:rPr lang="en-US" sz="1500" kern="0" spc="-80" dirty="0" err="1">
                <a:solidFill>
                  <a:schemeClr val="accent6"/>
                </a:solidFill>
              </a:rPr>
              <a:t>r.text</a:t>
            </a:r>
            <a:r>
              <a:rPr lang="en-US" sz="1500" kern="0" spc="-80" dirty="0">
                <a:solidFill>
                  <a:schemeClr val="accent6"/>
                </a:solidFill>
              </a:rPr>
              <a:t>())</a:t>
            </a:r>
          </a:p>
          <a:p>
            <a:pPr marL="12700" marR="5080"/>
            <a:r>
              <a:rPr lang="en-US" sz="1500" kern="0" spc="-80" dirty="0">
                <a:solidFill>
                  <a:schemeClr val="accent6"/>
                </a:solidFill>
              </a:rPr>
              <a:t>  .then(data =&gt; </a:t>
            </a:r>
            <a:r>
              <a:rPr lang="en-US" sz="1500" kern="0" spc="-80" dirty="0" err="1">
                <a:solidFill>
                  <a:schemeClr val="accent6"/>
                </a:solidFill>
              </a:rPr>
              <a:t>sendToAttacker</a:t>
            </a:r>
            <a:r>
              <a:rPr lang="en-US" sz="1500" kern="0" spc="-80" dirty="0">
                <a:solidFill>
                  <a:schemeClr val="accent6"/>
                </a:solidFill>
              </a:rPr>
              <a:t>(data))</a:t>
            </a:r>
          </a:p>
          <a:p>
            <a:pPr marL="12700" marR="5080"/>
            <a:endParaRPr lang="en-US" sz="1500" kern="0" spc="-80" dirty="0">
              <a:solidFill>
                <a:schemeClr val="accent6"/>
              </a:solidFill>
            </a:endParaRPr>
          </a:p>
        </p:txBody>
      </p:sp>
      <p:grpSp>
        <p:nvGrpSpPr>
          <p:cNvPr id="7" name="Group 6">
            <a:extLst>
              <a:ext uri="{FF2B5EF4-FFF2-40B4-BE49-F238E27FC236}">
                <a16:creationId xmlns:a16="http://schemas.microsoft.com/office/drawing/2014/main" id="{F1020682-05DF-7252-3487-2D551E0BA714}"/>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AA966D5-939E-0A28-890A-9BE30F44BC2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5A9F3C0-CC8E-65E3-2258-244769AC49D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714124588"/>
      </p:ext>
    </p:extLst>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D4A15-5427-E7DB-BF62-D9432103E9A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F7FDCE1-28EA-2450-2E41-AA6EB457D41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9F765C-9C95-9EBB-823B-5EB0CE1E4FB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D4A0BAF-F353-E130-B341-55A1BF0A391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C72BEDF-6625-6E13-1466-7ED362C28AE4}"/>
              </a:ext>
            </a:extLst>
          </p:cNvPr>
          <p:cNvSpPr txBox="1">
            <a:spLocks/>
          </p:cNvSpPr>
          <p:nvPr/>
        </p:nvSpPr>
        <p:spPr>
          <a:xfrm>
            <a:off x="76200" y="792807"/>
            <a:ext cx="8624937" cy="46935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CORS(Cross Origin Resource Sharing) </a:t>
            </a:r>
          </a:p>
          <a:p>
            <a:pPr marL="12700" marR="5080"/>
            <a:r>
              <a:rPr lang="en-US" sz="1500" kern="0" spc="-80" dirty="0">
                <a:solidFill>
                  <a:schemeClr val="accent2"/>
                </a:solidFill>
              </a:rPr>
              <a:t>2. The core problem SOP solves</a:t>
            </a:r>
          </a:p>
          <a:p>
            <a:pPr marL="12700" marR="5080"/>
            <a:r>
              <a:rPr lang="en-US" sz="1500" kern="0" spc="-80" dirty="0">
                <a:solidFill>
                  <a:schemeClr val="accent2"/>
                </a:solidFill>
              </a:rPr>
              <a:t>Imagine this scenario without SOP:</a:t>
            </a:r>
          </a:p>
          <a:p>
            <a:pPr marL="12700" marR="5080"/>
            <a:r>
              <a:rPr lang="en-US" sz="1500" kern="0" spc="-80" dirty="0">
                <a:solidFill>
                  <a:schemeClr val="accent2"/>
                </a:solidFill>
              </a:rPr>
              <a:t>❌ Without SOP, evil.com could:</a:t>
            </a:r>
          </a:p>
          <a:p>
            <a:pPr marL="12700" marR="5080"/>
            <a:r>
              <a:rPr lang="en-US" sz="1500" kern="0" spc="-80" dirty="0">
                <a:solidFill>
                  <a:schemeClr val="accent6"/>
                </a:solidFill>
              </a:rPr>
              <a:t>Read your bank balance</a:t>
            </a:r>
          </a:p>
          <a:p>
            <a:pPr marL="12700" marR="5080"/>
            <a:r>
              <a:rPr lang="en-US" sz="1500" kern="0" spc="-80" dirty="0">
                <a:solidFill>
                  <a:schemeClr val="accent6"/>
                </a:solidFill>
              </a:rPr>
              <a:t>Steal personal data</a:t>
            </a:r>
          </a:p>
          <a:p>
            <a:pPr marL="12700" marR="5080"/>
            <a:r>
              <a:rPr lang="en-US" sz="1500" kern="0" spc="-80" dirty="0">
                <a:solidFill>
                  <a:schemeClr val="accent6"/>
                </a:solidFill>
              </a:rPr>
              <a:t>Transfer money on your behalf</a:t>
            </a:r>
          </a:p>
          <a:p>
            <a:pPr marL="12700" marR="5080"/>
            <a:r>
              <a:rPr lang="en-US" sz="1500" kern="0" spc="-80" dirty="0">
                <a:solidFill>
                  <a:schemeClr val="accent6"/>
                </a:solidFill>
              </a:rPr>
              <a:t>SOP blocks step 4.</a:t>
            </a:r>
          </a:p>
          <a:p>
            <a:pPr marL="12700" marR="5080"/>
            <a:endParaRPr lang="en-US" sz="1500" kern="0" spc="-80" dirty="0">
              <a:solidFill>
                <a:schemeClr val="accent6"/>
              </a:solidFill>
            </a:endParaRPr>
          </a:p>
          <a:p>
            <a:pPr marL="12700" marR="5080"/>
            <a:r>
              <a:rPr lang="en-US" sz="1500" kern="0" spc="-80" dirty="0">
                <a:solidFill>
                  <a:schemeClr val="accent2"/>
                </a:solidFill>
              </a:rPr>
              <a:t>3. What SOP actually restricts</a:t>
            </a:r>
          </a:p>
          <a:p>
            <a:pPr marL="12700" marR="5080"/>
            <a:r>
              <a:rPr lang="en-US" sz="1500" kern="0" spc="-80" dirty="0">
                <a:solidFill>
                  <a:schemeClr val="accent6"/>
                </a:solidFill>
              </a:rPr>
              <a:t>SOP does NOT block sending requests</a:t>
            </a:r>
          </a:p>
          <a:p>
            <a:pPr marL="12700" marR="5080"/>
            <a:r>
              <a:rPr lang="en-US" sz="1500" kern="0" spc="-80" dirty="0">
                <a:solidFill>
                  <a:schemeClr val="accent6"/>
                </a:solidFill>
              </a:rPr>
              <a:t>It blocks reading responses from another origin.</a:t>
            </a:r>
          </a:p>
          <a:p>
            <a:pPr marL="12700" marR="5080"/>
            <a:r>
              <a:rPr lang="en-US" sz="1500" kern="0" spc="-80" dirty="0">
                <a:solidFill>
                  <a:schemeClr val="accent2"/>
                </a:solidFill>
              </a:rPr>
              <a:t>Restricted by SOP:</a:t>
            </a:r>
          </a:p>
          <a:p>
            <a:pPr marL="12700" marR="5080"/>
            <a:r>
              <a:rPr lang="en-US" sz="1500" kern="0" spc="-80" dirty="0">
                <a:solidFill>
                  <a:schemeClr val="accent6"/>
                </a:solidFill>
              </a:rPr>
              <a:t>Reading responses from fetch, </a:t>
            </a:r>
            <a:r>
              <a:rPr lang="en-US" sz="1500" kern="0" spc="-80" dirty="0" err="1">
                <a:solidFill>
                  <a:schemeClr val="accent6"/>
                </a:solidFill>
              </a:rPr>
              <a:t>XMLHttpRequest</a:t>
            </a:r>
            <a:endParaRPr lang="en-US" sz="1500" kern="0" spc="-80" dirty="0">
              <a:solidFill>
                <a:schemeClr val="accent6"/>
              </a:solidFill>
            </a:endParaRPr>
          </a:p>
          <a:p>
            <a:pPr marL="12700" marR="5080"/>
            <a:r>
              <a:rPr lang="en-US" sz="1500" kern="0" spc="-80" dirty="0">
                <a:solidFill>
                  <a:schemeClr val="accent2"/>
                </a:solidFill>
              </a:rPr>
              <a:t>Accessing another site’s:</a:t>
            </a:r>
          </a:p>
          <a:p>
            <a:pPr marL="12700" marR="5080"/>
            <a:r>
              <a:rPr lang="en-US" sz="1500" kern="0" spc="-80" dirty="0">
                <a:solidFill>
                  <a:schemeClr val="accent6"/>
                </a:solidFill>
              </a:rPr>
              <a:t>DOM</a:t>
            </a:r>
          </a:p>
          <a:p>
            <a:pPr marL="12700" marR="5080"/>
            <a:r>
              <a:rPr lang="en-US" sz="1500" kern="0" spc="-80" dirty="0">
                <a:solidFill>
                  <a:schemeClr val="accent6"/>
                </a:solidFill>
              </a:rPr>
              <a:t>Cookies</a:t>
            </a:r>
          </a:p>
          <a:p>
            <a:pPr marL="12700" marR="5080"/>
            <a:r>
              <a:rPr lang="en-US" sz="1500" kern="0" spc="-80" dirty="0" err="1">
                <a:solidFill>
                  <a:schemeClr val="accent6"/>
                </a:solidFill>
              </a:rPr>
              <a:t>LocalStorage</a:t>
            </a:r>
            <a:endParaRPr lang="en-US" sz="1500" kern="0" spc="-80" dirty="0">
              <a:solidFill>
                <a:schemeClr val="accent6"/>
              </a:solidFill>
            </a:endParaRPr>
          </a:p>
          <a:p>
            <a:pPr marL="12700" marR="5080"/>
            <a:r>
              <a:rPr lang="en-US" sz="1500" kern="0" spc="-80" dirty="0" err="1">
                <a:solidFill>
                  <a:schemeClr val="accent6"/>
                </a:solidFill>
              </a:rPr>
              <a:t>IndexedDB</a:t>
            </a:r>
            <a:endParaRPr lang="en-US" sz="1500" kern="0" spc="-80" dirty="0">
              <a:solidFill>
                <a:schemeClr val="accent6"/>
              </a:solidFill>
            </a:endParaRPr>
          </a:p>
          <a:p>
            <a:pPr marL="12700" marR="5080"/>
            <a:endParaRPr lang="en-US" sz="1500" kern="0" spc="-80" dirty="0">
              <a:solidFill>
                <a:schemeClr val="accent6"/>
              </a:solidFill>
            </a:endParaRPr>
          </a:p>
        </p:txBody>
      </p:sp>
      <p:grpSp>
        <p:nvGrpSpPr>
          <p:cNvPr id="7" name="Group 6">
            <a:extLst>
              <a:ext uri="{FF2B5EF4-FFF2-40B4-BE49-F238E27FC236}">
                <a16:creationId xmlns:a16="http://schemas.microsoft.com/office/drawing/2014/main" id="{0404FDF0-DC82-FCB3-3AFA-9F576AD2F46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926638C9-FD8B-47E2-08CC-58A18C64DA7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F5D34D1-18EC-5B6C-4B84-E71E160B634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706567489"/>
      </p:ext>
    </p:extLst>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EAFAA-3CA4-D4A4-AAA8-0ACC1AB3EBD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18D3C22-4F7F-BD6E-4CA6-C8282CE9F1F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B865A45-FCF4-B75A-A185-2F1A0999AC9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A2A7B70-CE2C-A603-82BB-E71A64135A8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796032C-CB3D-24AB-46EA-842D7C2DA43E}"/>
              </a:ext>
            </a:extLst>
          </p:cNvPr>
          <p:cNvSpPr txBox="1">
            <a:spLocks/>
          </p:cNvSpPr>
          <p:nvPr/>
        </p:nvSpPr>
        <p:spPr>
          <a:xfrm>
            <a:off x="76200" y="790575"/>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CORS(Cross Origin Resource Sharing) </a:t>
            </a:r>
          </a:p>
          <a:p>
            <a:pPr marL="12700" marR="5080"/>
            <a:r>
              <a:rPr lang="en-US" sz="1500" kern="0" spc="-80" dirty="0">
                <a:solidFill>
                  <a:schemeClr val="accent2"/>
                </a:solidFill>
              </a:rPr>
              <a:t>3. What SOP actually restricts</a:t>
            </a:r>
          </a:p>
          <a:p>
            <a:pPr marL="12700" marR="5080"/>
            <a:r>
              <a:rPr lang="en-US" sz="1500" kern="0" spc="-80" dirty="0">
                <a:solidFill>
                  <a:schemeClr val="accent2"/>
                </a:solidFill>
              </a:rPr>
              <a:t>Allowed even with SOP:</a:t>
            </a:r>
          </a:p>
          <a:p>
            <a:pPr marL="12700" marR="5080"/>
            <a:r>
              <a:rPr lang="en-US" sz="1500" kern="0" spc="-80" dirty="0">
                <a:solidFill>
                  <a:schemeClr val="accent6"/>
                </a:solidFill>
              </a:rPr>
              <a:t>Sending requests (e.g., &lt;</a:t>
            </a:r>
            <a:r>
              <a:rPr lang="en-US" sz="1500" kern="0" spc="-80" dirty="0" err="1">
                <a:solidFill>
                  <a:schemeClr val="accent6"/>
                </a:solidFill>
              </a:rPr>
              <a:t>img</a:t>
            </a:r>
            <a:r>
              <a:rPr lang="en-US" sz="1500" kern="0" spc="-80" dirty="0">
                <a:solidFill>
                  <a:schemeClr val="accent6"/>
                </a:solidFill>
              </a:rPr>
              <a:t>&gt;, &lt;script&gt;, &lt;form&gt;)</a:t>
            </a:r>
          </a:p>
          <a:p>
            <a:pPr marL="12700" marR="5080"/>
            <a:r>
              <a:rPr lang="en-US" sz="1500" kern="0" spc="-80" dirty="0">
                <a:solidFill>
                  <a:schemeClr val="accent6"/>
                </a:solidFill>
              </a:rPr>
              <a:t>Navigating the browser (links, redirects)</a:t>
            </a:r>
          </a:p>
          <a:p>
            <a:pPr marL="12700" marR="5080"/>
            <a:r>
              <a:rPr lang="en-US" sz="1500" kern="0" spc="-80" dirty="0">
                <a:solidFill>
                  <a:schemeClr val="accent6"/>
                </a:solidFill>
              </a:rPr>
              <a:t>Loading resources (images, CSS, JS)</a:t>
            </a:r>
          </a:p>
          <a:p>
            <a:pPr marL="12700" marR="5080"/>
            <a:r>
              <a:rPr lang="en-US" sz="1500" kern="0" spc="-80" dirty="0">
                <a:solidFill>
                  <a:schemeClr val="accent6"/>
                </a:solidFill>
              </a:rPr>
              <a:t>This distinction is critical.</a:t>
            </a:r>
          </a:p>
          <a:p>
            <a:pPr marL="12700" marR="5080"/>
            <a:endParaRPr lang="en-US" sz="1500" kern="0" spc="-80" dirty="0">
              <a:solidFill>
                <a:schemeClr val="accent6"/>
              </a:solidFill>
            </a:endParaRPr>
          </a:p>
          <a:p>
            <a:pPr marL="12700" marR="5080"/>
            <a:r>
              <a:rPr lang="en-US" sz="1500" kern="0" spc="-80" dirty="0">
                <a:solidFill>
                  <a:schemeClr val="accent2"/>
                </a:solidFill>
              </a:rPr>
              <a:t>4. Why browsers (not servers) enforce SOP</a:t>
            </a:r>
          </a:p>
          <a:p>
            <a:pPr marL="12700" marR="5080"/>
            <a:r>
              <a:rPr lang="en-US" sz="1500" kern="0" spc="-80" dirty="0">
                <a:solidFill>
                  <a:schemeClr val="accent6"/>
                </a:solidFill>
              </a:rPr>
              <a:t>Browsers run untrusted JavaScript</a:t>
            </a:r>
          </a:p>
          <a:p>
            <a:pPr marL="12700" marR="5080"/>
            <a:r>
              <a:rPr lang="en-US" sz="1500" kern="0" spc="-80" dirty="0">
                <a:solidFill>
                  <a:schemeClr val="accent6"/>
                </a:solidFill>
              </a:rPr>
              <a:t>The server cannot control what JS a user runs</a:t>
            </a:r>
          </a:p>
          <a:p>
            <a:pPr marL="12700" marR="5080"/>
            <a:r>
              <a:rPr lang="en-US" sz="1500" kern="0" spc="-80" dirty="0">
                <a:solidFill>
                  <a:schemeClr val="accent6"/>
                </a:solidFill>
              </a:rPr>
              <a:t>Therefore, the browser must act as the security boundary</a:t>
            </a:r>
          </a:p>
          <a:p>
            <a:pPr marL="12700" marR="5080"/>
            <a:r>
              <a:rPr lang="en-US" sz="1500" kern="0" spc="-80" dirty="0">
                <a:solidFill>
                  <a:schemeClr val="accent6"/>
                </a:solidFill>
              </a:rPr>
              <a:t>Think of the browser as a sandbox:</a:t>
            </a:r>
          </a:p>
          <a:p>
            <a:pPr marL="12700" marR="5080"/>
            <a:r>
              <a:rPr lang="en-US" sz="1500" kern="0" spc="-80" dirty="0">
                <a:solidFill>
                  <a:schemeClr val="accent6"/>
                </a:solidFill>
              </a:rPr>
              <a:t>Each website runs in its own sandbox</a:t>
            </a:r>
          </a:p>
          <a:p>
            <a:pPr marL="12700" marR="5080"/>
            <a:r>
              <a:rPr lang="en-US" sz="1500" kern="0" spc="-80" dirty="0">
                <a:solidFill>
                  <a:schemeClr val="accent6"/>
                </a:solidFill>
              </a:rPr>
              <a:t>SOP prevents sandboxes from peeking into each other</a:t>
            </a:r>
          </a:p>
          <a:p>
            <a:pPr marL="12700" marR="5080"/>
            <a:endParaRPr lang="en-US" sz="1500" kern="0" spc="-80" dirty="0">
              <a:solidFill>
                <a:schemeClr val="accent6"/>
              </a:solidFill>
            </a:endParaRPr>
          </a:p>
          <a:p>
            <a:pPr marL="12700" marR="5080"/>
            <a:r>
              <a:rPr lang="en-US" sz="1500" kern="0" spc="-80" dirty="0">
                <a:solidFill>
                  <a:schemeClr val="accent2"/>
                </a:solidFill>
              </a:rPr>
              <a:t>5. Key attacks SOP prevents</a:t>
            </a:r>
          </a:p>
          <a:p>
            <a:pPr marL="12700" marR="5080"/>
            <a:r>
              <a:rPr lang="en-US" sz="1500" kern="0" spc="-80" dirty="0">
                <a:solidFill>
                  <a:schemeClr val="accent2"/>
                </a:solidFill>
              </a:rPr>
              <a:t>🔴 1. Session hijacking</a:t>
            </a:r>
          </a:p>
          <a:p>
            <a:pPr marL="12700" marR="5080"/>
            <a:r>
              <a:rPr lang="en-US" sz="1500" kern="0" spc="-80" dirty="0">
                <a:solidFill>
                  <a:schemeClr val="accent6"/>
                </a:solidFill>
              </a:rPr>
              <a:t>Prevent JS on one site from reading cookies of another.</a:t>
            </a:r>
          </a:p>
          <a:p>
            <a:pPr marL="12700" marR="5080"/>
            <a:r>
              <a:rPr lang="en-US" sz="1500" kern="0" spc="-80" dirty="0">
                <a:solidFill>
                  <a:schemeClr val="accent2"/>
                </a:solidFill>
              </a:rPr>
              <a:t>🔴 2. Data exfiltration</a:t>
            </a:r>
          </a:p>
          <a:p>
            <a:pPr marL="12700" marR="5080"/>
            <a:r>
              <a:rPr lang="en-US" sz="1500" kern="0" spc="-80" dirty="0">
                <a:solidFill>
                  <a:schemeClr val="accent6"/>
                </a:solidFill>
              </a:rPr>
              <a:t>Prevent reading sensitive API responses from other origins.</a:t>
            </a:r>
          </a:p>
        </p:txBody>
      </p:sp>
      <p:grpSp>
        <p:nvGrpSpPr>
          <p:cNvPr id="7" name="Group 6">
            <a:extLst>
              <a:ext uri="{FF2B5EF4-FFF2-40B4-BE49-F238E27FC236}">
                <a16:creationId xmlns:a16="http://schemas.microsoft.com/office/drawing/2014/main" id="{CEFB93A5-C1C3-F795-143B-954E2794D1C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74B6C27-BF1F-87DB-0A52-35CC68C189B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D1FA131-78BD-D9DB-9C77-3F91FF03DBC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614829210"/>
      </p:ext>
    </p:extLst>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D0B41-281D-7CEF-053A-17384145BBD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5BFC040-6D53-A64C-E560-CC6A9DFC34A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25B4E43-AA1A-258C-BE05-BE5AC9EC06D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43DA353-09FC-B941-58D0-25EE7C498BE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8F51BA9-0990-CF18-A860-B7ACB2BF49D2}"/>
              </a:ext>
            </a:extLst>
          </p:cNvPr>
          <p:cNvSpPr txBox="1">
            <a:spLocks/>
          </p:cNvSpPr>
          <p:nvPr/>
        </p:nvSpPr>
        <p:spPr>
          <a:xfrm>
            <a:off x="76200" y="790575"/>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CORS(Cross Origin Resource Sharing) </a:t>
            </a:r>
          </a:p>
          <a:p>
            <a:pPr marL="12700" marR="5080"/>
            <a:r>
              <a:rPr lang="en-US" sz="1500" kern="0" spc="-80" dirty="0">
                <a:solidFill>
                  <a:schemeClr val="accent2"/>
                </a:solidFill>
              </a:rPr>
              <a:t>5. Key attacks SOP prevents</a:t>
            </a:r>
          </a:p>
          <a:p>
            <a:pPr marL="12700" marR="5080"/>
            <a:r>
              <a:rPr lang="en-US" sz="1500" kern="0" spc="-80" dirty="0">
                <a:solidFill>
                  <a:schemeClr val="accent2"/>
                </a:solidFill>
              </a:rPr>
              <a:t>🔴 3. UI &amp; DOM manipulation</a:t>
            </a:r>
          </a:p>
          <a:p>
            <a:pPr marL="12700" marR="5080"/>
            <a:r>
              <a:rPr lang="en-US" sz="1500" kern="0" spc="-80" dirty="0">
                <a:solidFill>
                  <a:schemeClr val="accent6"/>
                </a:solidFill>
              </a:rPr>
              <a:t>Prevent altering DOM of another website (e.g., phishing overlays).</a:t>
            </a:r>
          </a:p>
          <a:p>
            <a:pPr marL="12700" marR="5080"/>
            <a:r>
              <a:rPr lang="en-US" sz="1500" kern="0" spc="-80" dirty="0">
                <a:solidFill>
                  <a:schemeClr val="accent2"/>
                </a:solidFill>
              </a:rPr>
              <a:t>🔴 4. Cross-site data leaks</a:t>
            </a:r>
          </a:p>
          <a:p>
            <a:pPr marL="12700" marR="5080"/>
            <a:r>
              <a:rPr lang="en-US" sz="1500" kern="0" spc="-80" dirty="0">
                <a:solidFill>
                  <a:schemeClr val="accent6"/>
                </a:solidFill>
              </a:rPr>
              <a:t>Prevent reading user-specific content (email, messages, profile data).</a:t>
            </a:r>
          </a:p>
          <a:p>
            <a:pPr marL="12700" marR="5080"/>
            <a:endParaRPr lang="en-US" sz="1500" kern="0" spc="-80" dirty="0">
              <a:solidFill>
                <a:schemeClr val="accent6"/>
              </a:solidFill>
            </a:endParaRPr>
          </a:p>
          <a:p>
            <a:pPr marL="12700" marR="5080"/>
            <a:r>
              <a:rPr lang="en-US" sz="1500" kern="0" spc="-80" dirty="0">
                <a:solidFill>
                  <a:schemeClr val="accent2"/>
                </a:solidFill>
              </a:rPr>
              <a:t>6. Why SOP is strict by default</a:t>
            </a:r>
          </a:p>
          <a:p>
            <a:pPr marL="12700" marR="5080"/>
            <a:r>
              <a:rPr lang="en-US" sz="1500" kern="0" spc="-80" dirty="0">
                <a:solidFill>
                  <a:schemeClr val="accent2"/>
                </a:solidFill>
              </a:rPr>
              <a:t>The web assumes:</a:t>
            </a:r>
          </a:p>
          <a:p>
            <a:pPr marL="12700" marR="5080"/>
            <a:r>
              <a:rPr lang="en-US" sz="1500" kern="0" spc="-80" dirty="0">
                <a:solidFill>
                  <a:schemeClr val="accent6"/>
                </a:solidFill>
              </a:rPr>
              <a:t>Users are logged into many sites at once</a:t>
            </a:r>
          </a:p>
          <a:p>
            <a:pPr marL="12700" marR="5080"/>
            <a:r>
              <a:rPr lang="en-US" sz="1500" kern="0" spc="-80" dirty="0">
                <a:solidFill>
                  <a:schemeClr val="accent6"/>
                </a:solidFill>
              </a:rPr>
              <a:t>Browsers automatically attach cookies</a:t>
            </a:r>
          </a:p>
          <a:p>
            <a:pPr marL="12700" marR="5080"/>
            <a:r>
              <a:rPr lang="en-US" sz="1500" kern="0" spc="-80" dirty="0">
                <a:solidFill>
                  <a:schemeClr val="accent6"/>
                </a:solidFill>
              </a:rPr>
              <a:t>JavaScript is powerful</a:t>
            </a:r>
          </a:p>
          <a:p>
            <a:pPr marL="12700" marR="5080"/>
            <a:r>
              <a:rPr lang="en-US" sz="1500" kern="0" spc="-80" dirty="0">
                <a:solidFill>
                  <a:schemeClr val="accent6"/>
                </a:solidFill>
              </a:rPr>
              <a:t>Without SOP, the web would be fundamentally insecure.</a:t>
            </a:r>
          </a:p>
          <a:p>
            <a:pPr marL="12700" marR="5080"/>
            <a:endParaRPr lang="en-US" sz="1500" kern="0" spc="-80" dirty="0">
              <a:solidFill>
                <a:schemeClr val="accent6"/>
              </a:solidFill>
            </a:endParaRPr>
          </a:p>
          <a:p>
            <a:pPr marL="12700" marR="5080"/>
            <a:r>
              <a:rPr lang="en-US" sz="1500" kern="0" spc="-80" dirty="0">
                <a:solidFill>
                  <a:schemeClr val="accent2"/>
                </a:solidFill>
              </a:rPr>
              <a:t>7. How cross-origin access is safely enabled</a:t>
            </a:r>
          </a:p>
          <a:p>
            <a:pPr marL="12700" marR="5080"/>
            <a:r>
              <a:rPr lang="en-US" sz="1500" kern="0" spc="-80" dirty="0">
                <a:solidFill>
                  <a:schemeClr val="accent6"/>
                </a:solidFill>
              </a:rPr>
              <a:t>SOP is relaxed explicitly, not implicitly.</a:t>
            </a:r>
          </a:p>
          <a:p>
            <a:pPr marL="12700" marR="5080"/>
            <a:r>
              <a:rPr lang="en-US" sz="1500" kern="0" spc="-80" dirty="0">
                <a:solidFill>
                  <a:schemeClr val="accent2"/>
                </a:solidFill>
              </a:rPr>
              <a:t>Examples:</a:t>
            </a:r>
          </a:p>
          <a:p>
            <a:pPr marL="12700" marR="5080"/>
            <a:r>
              <a:rPr lang="en-US" sz="1500" kern="0" spc="-80" dirty="0">
                <a:solidFill>
                  <a:schemeClr val="accent2"/>
                </a:solidFill>
              </a:rPr>
              <a:t>✅ CORS (Cross-Origin Resource Sharing)</a:t>
            </a:r>
          </a:p>
          <a:p>
            <a:pPr marL="12700" marR="5080"/>
            <a:r>
              <a:rPr lang="en-US" sz="1500" kern="0" spc="-80" dirty="0">
                <a:solidFill>
                  <a:schemeClr val="accent2"/>
                </a:solidFill>
              </a:rPr>
              <a:t>Server says:</a:t>
            </a:r>
          </a:p>
          <a:p>
            <a:pPr marL="12700" marR="5080"/>
            <a:r>
              <a:rPr lang="en-US" sz="1500" kern="0" spc="-80" dirty="0">
                <a:solidFill>
                  <a:schemeClr val="accent6"/>
                </a:solidFill>
              </a:rPr>
              <a:t>Access-Control-Allow-Origin: https://trusted.com</a:t>
            </a:r>
          </a:p>
          <a:p>
            <a:pPr marL="12700" marR="5080"/>
            <a:r>
              <a:rPr lang="en-US" sz="1500" kern="0" spc="-80" dirty="0">
                <a:solidFill>
                  <a:schemeClr val="accent6"/>
                </a:solidFill>
              </a:rPr>
              <a:t>Browser then allows reading the response.</a:t>
            </a:r>
          </a:p>
        </p:txBody>
      </p:sp>
      <p:grpSp>
        <p:nvGrpSpPr>
          <p:cNvPr id="7" name="Group 6">
            <a:extLst>
              <a:ext uri="{FF2B5EF4-FFF2-40B4-BE49-F238E27FC236}">
                <a16:creationId xmlns:a16="http://schemas.microsoft.com/office/drawing/2014/main" id="{8E487486-391B-3689-5872-8CE8F57DCDE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F6A80C0-8FD8-E2F0-0005-9B524053DB6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200716CD-A4BD-7AF1-C4A7-F8B696905E2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458136330"/>
      </p:ext>
    </p:extLst>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3BEDA-C1EB-BBFC-04B6-4A82D22548C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4035295-0228-65AC-964D-D086D58E5C4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D054A1A-6E6D-7723-463B-BD3864810EA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B61349E-4601-7688-573A-87253209E17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7F11300-47C5-2629-9468-029B77804B11}"/>
              </a:ext>
            </a:extLst>
          </p:cNvPr>
          <p:cNvSpPr txBox="1">
            <a:spLocks/>
          </p:cNvSpPr>
          <p:nvPr/>
        </p:nvSpPr>
        <p:spPr>
          <a:xfrm>
            <a:off x="76200" y="714375"/>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CORS(Cross Origin Resource Sharing) </a:t>
            </a:r>
          </a:p>
          <a:p>
            <a:pPr marL="12700" marR="5080"/>
            <a:r>
              <a:rPr lang="en-US" sz="1500" kern="0" spc="-80" dirty="0">
                <a:solidFill>
                  <a:schemeClr val="accent2"/>
                </a:solidFill>
              </a:rPr>
              <a:t>7. How cross-origin access is safely enabled</a:t>
            </a:r>
          </a:p>
          <a:p>
            <a:pPr marL="12700" marR="5080"/>
            <a:r>
              <a:rPr lang="en-US" sz="1500" kern="0" spc="-80" dirty="0">
                <a:solidFill>
                  <a:schemeClr val="accent2"/>
                </a:solidFill>
              </a:rPr>
              <a:t>✅ </a:t>
            </a:r>
            <a:r>
              <a:rPr lang="en-US" sz="1500" kern="0" spc="-80" dirty="0" err="1">
                <a:solidFill>
                  <a:schemeClr val="accent2"/>
                </a:solidFill>
              </a:rPr>
              <a:t>postMessage</a:t>
            </a:r>
            <a:endParaRPr lang="en-US" sz="1500" kern="0" spc="-80" dirty="0">
              <a:solidFill>
                <a:schemeClr val="accent2"/>
              </a:solidFill>
            </a:endParaRPr>
          </a:p>
          <a:p>
            <a:pPr marL="12700" marR="5080"/>
            <a:r>
              <a:rPr lang="en-US" sz="1500" kern="0" spc="-80" dirty="0">
                <a:solidFill>
                  <a:schemeClr val="accent6"/>
                </a:solidFill>
              </a:rPr>
              <a:t>Safe cross-window communication with origin checks.</a:t>
            </a:r>
          </a:p>
          <a:p>
            <a:pPr marL="12700" marR="5080"/>
            <a:r>
              <a:rPr lang="en-US" sz="1500" kern="0" spc="-80" dirty="0">
                <a:solidFill>
                  <a:schemeClr val="accent2"/>
                </a:solidFill>
              </a:rPr>
              <a:t>✅ OAuth redirects</a:t>
            </a:r>
          </a:p>
          <a:p>
            <a:pPr marL="12700" marR="5080"/>
            <a:r>
              <a:rPr lang="en-US" sz="1500" kern="0" spc="-80" dirty="0">
                <a:solidFill>
                  <a:schemeClr val="accent6"/>
                </a:solidFill>
              </a:rPr>
              <a:t>Data passed via redirects, not JS access.</a:t>
            </a:r>
          </a:p>
          <a:p>
            <a:pPr marL="12700" marR="5080"/>
            <a:endParaRPr lang="en-US" sz="1500" kern="0" spc="-80" dirty="0">
              <a:solidFill>
                <a:schemeClr val="accent6"/>
              </a:solidFill>
            </a:endParaRPr>
          </a:p>
          <a:p>
            <a:pPr marL="12700" marR="5080"/>
            <a:r>
              <a:rPr lang="en-US" sz="1500" kern="0" spc="-80" dirty="0">
                <a:solidFill>
                  <a:schemeClr val="accent2"/>
                </a:solidFill>
              </a:rPr>
              <a:t>8. SOP vs CSRF (important distinction)</a:t>
            </a:r>
          </a:p>
          <a:p>
            <a:pPr marL="12700" marR="5080"/>
            <a:r>
              <a:rPr lang="en-US" sz="1500" kern="0" spc="-80" dirty="0">
                <a:solidFill>
                  <a:schemeClr val="accent6"/>
                </a:solidFill>
              </a:rPr>
              <a:t>SOP	                                    CSRF</a:t>
            </a:r>
          </a:p>
          <a:p>
            <a:pPr marL="12700" marR="5080"/>
            <a:r>
              <a:rPr lang="en-US" sz="1500" kern="0" spc="-80" dirty="0">
                <a:solidFill>
                  <a:schemeClr val="accent6"/>
                </a:solidFill>
              </a:rPr>
              <a:t>Prevents reading data	Prevents unwanted actions</a:t>
            </a:r>
          </a:p>
          <a:p>
            <a:pPr marL="12700" marR="5080"/>
            <a:r>
              <a:rPr lang="en-US" sz="1500" kern="0" spc="-80" dirty="0">
                <a:solidFill>
                  <a:schemeClr val="accent6"/>
                </a:solidFill>
              </a:rPr>
              <a:t>Browser-enforced	                  Server-mitigated</a:t>
            </a:r>
          </a:p>
          <a:p>
            <a:pPr marL="12700" marR="5080"/>
            <a:r>
              <a:rPr lang="en-US" sz="1500" kern="0" spc="-80" dirty="0">
                <a:solidFill>
                  <a:schemeClr val="accent6"/>
                </a:solidFill>
              </a:rPr>
              <a:t>Stops JS attacks	                  Stops forged requests</a:t>
            </a:r>
          </a:p>
          <a:p>
            <a:pPr marL="12700" marR="5080"/>
            <a:r>
              <a:rPr lang="en-US" sz="1500" kern="0" spc="-80" dirty="0">
                <a:solidFill>
                  <a:schemeClr val="accent6"/>
                </a:solidFill>
              </a:rPr>
              <a:t>SOP does not stop CSRF — that’s why CSRF tokens exist.</a:t>
            </a:r>
          </a:p>
          <a:p>
            <a:pPr marL="12700" marR="5080"/>
            <a:endParaRPr lang="en-US" sz="1500" kern="0" spc="-80" dirty="0">
              <a:solidFill>
                <a:schemeClr val="accent6"/>
              </a:solidFill>
            </a:endParaRPr>
          </a:p>
          <a:p>
            <a:pPr marL="12700" marR="5080"/>
            <a:r>
              <a:rPr lang="en-US" sz="1500" kern="0" spc="-80" dirty="0">
                <a:solidFill>
                  <a:schemeClr val="accent2"/>
                </a:solidFill>
              </a:rPr>
              <a:t>9. Intuitive analogy</a:t>
            </a:r>
          </a:p>
          <a:p>
            <a:pPr marL="12700" marR="5080"/>
            <a:r>
              <a:rPr lang="en-US" sz="1500" kern="0" spc="-80" dirty="0">
                <a:solidFill>
                  <a:schemeClr val="accent2"/>
                </a:solidFill>
              </a:rPr>
              <a:t>Imagine:</a:t>
            </a:r>
          </a:p>
          <a:p>
            <a:pPr marL="12700" marR="5080"/>
            <a:r>
              <a:rPr lang="en-US" sz="1500" kern="0" spc="-80" dirty="0">
                <a:solidFill>
                  <a:schemeClr val="accent6"/>
                </a:solidFill>
              </a:rPr>
              <a:t>Each website is a locked room</a:t>
            </a:r>
          </a:p>
          <a:p>
            <a:pPr marL="12700" marR="5080"/>
            <a:r>
              <a:rPr lang="en-US" sz="1500" kern="0" spc="-80" dirty="0">
                <a:solidFill>
                  <a:schemeClr val="accent6"/>
                </a:solidFill>
              </a:rPr>
              <a:t>You (the browser) carry keys (cookies)</a:t>
            </a:r>
          </a:p>
          <a:p>
            <a:pPr marL="12700" marR="5080"/>
            <a:r>
              <a:rPr lang="en-US" sz="1500" kern="0" spc="-80" dirty="0">
                <a:solidFill>
                  <a:schemeClr val="accent2"/>
                </a:solidFill>
              </a:rPr>
              <a:t>SOP ensures:</a:t>
            </a:r>
          </a:p>
          <a:p>
            <a:pPr marL="12700" marR="5080"/>
            <a:r>
              <a:rPr lang="en-US" sz="1500" kern="0" spc="-80" dirty="0">
                <a:solidFill>
                  <a:schemeClr val="accent6"/>
                </a:solidFill>
              </a:rPr>
              <a:t>A guest in Room A cannot see or touch what’s inside Room B</a:t>
            </a:r>
          </a:p>
          <a:p>
            <a:pPr marL="12700" marR="5080"/>
            <a:r>
              <a:rPr lang="en-US" sz="1500" kern="0" spc="-80" dirty="0">
                <a:solidFill>
                  <a:schemeClr val="accent6"/>
                </a:solidFill>
              </a:rPr>
              <a:t>Unless Room B explicitly opens the door</a:t>
            </a:r>
          </a:p>
        </p:txBody>
      </p:sp>
      <p:grpSp>
        <p:nvGrpSpPr>
          <p:cNvPr id="7" name="Group 6">
            <a:extLst>
              <a:ext uri="{FF2B5EF4-FFF2-40B4-BE49-F238E27FC236}">
                <a16:creationId xmlns:a16="http://schemas.microsoft.com/office/drawing/2014/main" id="{ECB3AD44-4DA9-E8D3-5FAF-A3F4E7A1D473}"/>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37AC233-51ED-3073-CF2E-66181CD13B9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8C0A666-90EA-D686-D81C-5E2DFA1856E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982974462"/>
      </p:ext>
    </p:extLst>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2E74B-8C79-3758-72BA-C7C8F7A6C2E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DF6CE4F-79B1-FB1F-D70E-4A7707624C5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D31FE42-1A1D-97C1-895C-CFCD6FC5A66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381D52C-791F-3166-2252-7E76093F26A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ACBCE20-5648-8A62-B7D3-8D13E4A43A5D}"/>
              </a:ext>
            </a:extLst>
          </p:cNvPr>
          <p:cNvSpPr txBox="1">
            <a:spLocks/>
          </p:cNvSpPr>
          <p:nvPr/>
        </p:nvSpPr>
        <p:spPr>
          <a:xfrm>
            <a:off x="-30480" y="767080"/>
            <a:ext cx="8624937" cy="24160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CORS(Cross Origin Resource Sharing) </a:t>
            </a:r>
          </a:p>
          <a:p>
            <a:pPr marL="12700" marR="5080"/>
            <a:r>
              <a:rPr lang="en-US" sz="1500" kern="0" spc="-80" dirty="0">
                <a:solidFill>
                  <a:schemeClr val="accent2"/>
                </a:solidFill>
              </a:rPr>
              <a:t>10. One-line summary</a:t>
            </a:r>
          </a:p>
          <a:p>
            <a:pPr marL="12700" marR="5080"/>
            <a:r>
              <a:rPr lang="en-US" sz="1500" kern="0" spc="-80" dirty="0">
                <a:solidFill>
                  <a:schemeClr val="accent6"/>
                </a:solidFill>
              </a:rPr>
              <a:t>Browsers enforce the Same-Origin Policy to ensure that untrusted JavaScript from one website cannot read or manipulate sensitive data belonging to another website the user is logged into.</a:t>
            </a:r>
          </a:p>
          <a:p>
            <a:pPr marL="12700" marR="5080"/>
            <a:endParaRPr lang="en-US" sz="1500" kern="0" spc="-80" dirty="0">
              <a:solidFill>
                <a:schemeClr val="accent6"/>
              </a:solidFill>
            </a:endParaRPr>
          </a:p>
          <a:p>
            <a:pPr marL="12700" marR="5080"/>
            <a:r>
              <a:rPr lang="en-US" sz="1600" kern="0" spc="-80" dirty="0">
                <a:solidFill>
                  <a:schemeClr val="accent2"/>
                </a:solidFill>
              </a:rPr>
              <a:t>For Further Exploration –</a:t>
            </a:r>
          </a:p>
          <a:p>
            <a:pPr marL="12700" marR="5080"/>
            <a:r>
              <a:rPr lang="en-US" sz="1600" dirty="0">
                <a:hlinkClick r:id="rId2"/>
              </a:rPr>
              <a:t>Enable Cross-Origin Requests (CORS) in ASP.NET Core | Microsoft Learn</a:t>
            </a:r>
            <a:endParaRPr lang="en-US" sz="1600" kern="0" spc="-80" dirty="0">
              <a:solidFill>
                <a:schemeClr val="accent2"/>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grpSp>
        <p:nvGrpSpPr>
          <p:cNvPr id="7" name="Group 6">
            <a:extLst>
              <a:ext uri="{FF2B5EF4-FFF2-40B4-BE49-F238E27FC236}">
                <a16:creationId xmlns:a16="http://schemas.microsoft.com/office/drawing/2014/main" id="{0CA7CFFE-21CF-C933-0FBB-9A2CAB5AD64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BDE74C0-4C70-A491-3BE0-151F1DED63A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99D42EE-EB60-71F1-9204-0DCA9768E49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739517125"/>
      </p:ext>
    </p:extLst>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61863" y="759023"/>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XSS(Cross Site Scripting)  </a:t>
            </a:r>
          </a:p>
        </p:txBody>
      </p:sp>
      <p:pic>
        <p:nvPicPr>
          <p:cNvPr id="10" name="Picture 9">
            <a:extLst>
              <a:ext uri="{FF2B5EF4-FFF2-40B4-BE49-F238E27FC236}">
                <a16:creationId xmlns:a16="http://schemas.microsoft.com/office/drawing/2014/main" id="{3185DC5C-F2CB-4E31-6D42-8774BF77F5D7}"/>
              </a:ext>
            </a:extLst>
          </p:cNvPr>
          <p:cNvPicPr>
            <a:picLocks noChangeAspect="1"/>
          </p:cNvPicPr>
          <p:nvPr/>
        </p:nvPicPr>
        <p:blipFill>
          <a:blip r:embed="rId2"/>
          <a:stretch>
            <a:fillRect/>
          </a:stretch>
        </p:blipFill>
        <p:spPr>
          <a:xfrm>
            <a:off x="152400" y="1362909"/>
            <a:ext cx="8449491" cy="4546266"/>
          </a:xfrm>
          <a:prstGeom prst="rect">
            <a:avLst/>
          </a:prstGeom>
        </p:spPr>
      </p:pic>
      <p:grpSp>
        <p:nvGrpSpPr>
          <p:cNvPr id="7" name="Group 6">
            <a:extLst>
              <a:ext uri="{FF2B5EF4-FFF2-40B4-BE49-F238E27FC236}">
                <a16:creationId xmlns:a16="http://schemas.microsoft.com/office/drawing/2014/main" id="{3585C48B-B7C3-3D04-EE9E-0F15118C967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0DFA920-3D32-1F90-3801-0D0ED02306A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064F17C-703D-18F3-621D-24EB41C2DF8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487470755"/>
      </p:ext>
    </p:extLst>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0F253-7C0A-92E9-7A4B-17E3F790A22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712F08D-CC56-535D-9D3F-F26DCA94763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E93F091-13FA-3A8E-7D1A-8537C736FEF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572A1E1-D262-F4E1-5CF3-1FD991D9053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6B3F918-45A8-A521-DDD9-1F40923FDDEE}"/>
              </a:ext>
            </a:extLst>
          </p:cNvPr>
          <p:cNvSpPr txBox="1">
            <a:spLocks/>
          </p:cNvSpPr>
          <p:nvPr/>
        </p:nvSpPr>
        <p:spPr>
          <a:xfrm>
            <a:off x="76200" y="799505"/>
            <a:ext cx="8624937" cy="40010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XSS(Cross Site Scripting)</a:t>
            </a:r>
          </a:p>
          <a:p>
            <a:pPr marL="12700" marR="5080"/>
            <a:r>
              <a:rPr lang="en-US" sz="1500" kern="0" spc="-80" dirty="0">
                <a:solidFill>
                  <a:schemeClr val="accent2"/>
                </a:solidFill>
              </a:rPr>
              <a:t>What it is</a:t>
            </a:r>
          </a:p>
          <a:p>
            <a:pPr marL="12700" marR="5080"/>
            <a:r>
              <a:rPr lang="en-US" sz="1500" kern="0" spc="-80" dirty="0">
                <a:solidFill>
                  <a:schemeClr val="accent6"/>
                </a:solidFill>
              </a:rPr>
              <a:t>Injecting JavaScript into trusted pages.</a:t>
            </a:r>
          </a:p>
          <a:p>
            <a:pPr marL="12700" marR="5080"/>
            <a:r>
              <a:rPr lang="en-US" sz="1500" kern="0" spc="-80" dirty="0">
                <a:solidFill>
                  <a:schemeClr val="accent2"/>
                </a:solidFill>
              </a:rPr>
              <a:t>Types of XSS</a:t>
            </a:r>
          </a:p>
          <a:p>
            <a:pPr marL="12700" marR="5080"/>
            <a:r>
              <a:rPr lang="en-US" sz="1500" kern="0" spc="-80" dirty="0">
                <a:solidFill>
                  <a:schemeClr val="accent2"/>
                </a:solidFill>
              </a:rPr>
              <a:t>Type	                 Where payload lives</a:t>
            </a:r>
          </a:p>
          <a:p>
            <a:pPr marL="12700" marR="5080"/>
            <a:r>
              <a:rPr lang="en-US" sz="1500" kern="0" spc="-80" dirty="0">
                <a:solidFill>
                  <a:schemeClr val="accent6"/>
                </a:solidFill>
              </a:rPr>
              <a:t>Stored	                 Database</a:t>
            </a:r>
          </a:p>
          <a:p>
            <a:pPr marL="12700" marR="5080"/>
            <a:r>
              <a:rPr lang="en-US" sz="1500" kern="0" spc="-80" dirty="0">
                <a:solidFill>
                  <a:schemeClr val="accent6"/>
                </a:solidFill>
              </a:rPr>
              <a:t>Reflected	                 URL</a:t>
            </a:r>
          </a:p>
          <a:p>
            <a:pPr marL="12700" marR="5080"/>
            <a:r>
              <a:rPr lang="en-US" sz="1500" kern="0" spc="-80" dirty="0">
                <a:solidFill>
                  <a:schemeClr val="accent6"/>
                </a:solidFill>
              </a:rPr>
              <a:t>DOM-based               Client JS</a:t>
            </a:r>
          </a:p>
          <a:p>
            <a:pPr marL="12700" marR="5080"/>
            <a:r>
              <a:rPr lang="en-US" sz="1500" kern="0" spc="-80" dirty="0">
                <a:solidFill>
                  <a:schemeClr val="accent2"/>
                </a:solidFill>
              </a:rPr>
              <a:t>Example</a:t>
            </a:r>
          </a:p>
          <a:p>
            <a:pPr marL="12700" marR="5080"/>
            <a:r>
              <a:rPr lang="en-US" sz="1500" kern="0" spc="-80" dirty="0">
                <a:solidFill>
                  <a:schemeClr val="accent6"/>
                </a:solidFill>
              </a:rPr>
              <a:t>Hello &lt;%= username %&gt;</a:t>
            </a:r>
          </a:p>
          <a:p>
            <a:pPr marL="12700" marR="5080"/>
            <a:r>
              <a:rPr lang="en-US" sz="1500" kern="0" spc="-80" dirty="0">
                <a:solidFill>
                  <a:schemeClr val="accent2"/>
                </a:solidFill>
              </a:rPr>
              <a:t>Payload:</a:t>
            </a:r>
          </a:p>
          <a:p>
            <a:pPr marL="12700" marR="5080"/>
            <a:r>
              <a:rPr lang="en-US" sz="1500" kern="0" spc="-80" dirty="0">
                <a:solidFill>
                  <a:schemeClr val="accent6"/>
                </a:solidFill>
              </a:rPr>
              <a:t>&lt;script&gt;fetch('/</a:t>
            </a:r>
            <a:r>
              <a:rPr lang="en-US" sz="1500" kern="0" spc="-80" dirty="0" err="1">
                <a:solidFill>
                  <a:schemeClr val="accent6"/>
                </a:solidFill>
              </a:rPr>
              <a:t>steal?c</a:t>
            </a:r>
            <a:r>
              <a:rPr lang="en-US" sz="1500" kern="0" spc="-80" dirty="0">
                <a:solidFill>
                  <a:schemeClr val="accent6"/>
                </a:solidFill>
              </a:rPr>
              <a:t>='+</a:t>
            </a:r>
            <a:r>
              <a:rPr lang="en-US" sz="1500" kern="0" spc="-80" dirty="0" err="1">
                <a:solidFill>
                  <a:schemeClr val="accent6"/>
                </a:solidFill>
              </a:rPr>
              <a:t>document.cookie</a:t>
            </a:r>
            <a:r>
              <a:rPr lang="en-US" sz="1500" kern="0" spc="-80" dirty="0">
                <a:solidFill>
                  <a:schemeClr val="accent6"/>
                </a:solidFill>
              </a:rPr>
              <a:t>)&lt;/script&gt;</a:t>
            </a:r>
          </a:p>
          <a:p>
            <a:pPr marL="12700" marR="5080"/>
            <a:r>
              <a:rPr lang="en-US" sz="1500" kern="0" spc="-80" dirty="0">
                <a:solidFill>
                  <a:schemeClr val="accent2"/>
                </a:solidFill>
              </a:rPr>
              <a:t>Impact</a:t>
            </a:r>
          </a:p>
          <a:p>
            <a:pPr marL="12700" marR="5080"/>
            <a:r>
              <a:rPr lang="en-US" sz="1500" kern="0" spc="-80" dirty="0">
                <a:solidFill>
                  <a:schemeClr val="accent6"/>
                </a:solidFill>
              </a:rPr>
              <a:t>Session hijacking</a:t>
            </a:r>
          </a:p>
          <a:p>
            <a:pPr marL="12700" marR="5080"/>
            <a:r>
              <a:rPr lang="en-US" sz="1500" kern="0" spc="-80" dirty="0">
                <a:solidFill>
                  <a:schemeClr val="accent6"/>
                </a:solidFill>
              </a:rPr>
              <a:t>Credential theft</a:t>
            </a:r>
          </a:p>
          <a:p>
            <a:pPr marL="12700" marR="5080"/>
            <a:r>
              <a:rPr lang="en-US" sz="1500" kern="0" spc="-80" dirty="0">
                <a:solidFill>
                  <a:schemeClr val="accent6"/>
                </a:solidFill>
              </a:rPr>
              <a:t>CSRF bypass</a:t>
            </a:r>
          </a:p>
          <a:p>
            <a:pPr marL="12700" marR="5080"/>
            <a:r>
              <a:rPr lang="en-US" sz="1500" kern="0" spc="-80" dirty="0">
                <a:solidFill>
                  <a:schemeClr val="accent6"/>
                </a:solidFill>
              </a:rPr>
              <a:t>Account takeover</a:t>
            </a:r>
          </a:p>
        </p:txBody>
      </p:sp>
      <p:grpSp>
        <p:nvGrpSpPr>
          <p:cNvPr id="7" name="Group 6">
            <a:extLst>
              <a:ext uri="{FF2B5EF4-FFF2-40B4-BE49-F238E27FC236}">
                <a16:creationId xmlns:a16="http://schemas.microsoft.com/office/drawing/2014/main" id="{9CD5C118-2888-6A62-2F4C-315EF50F1B9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6C9ECAB1-4E4C-97CC-4578-B7EED3F6603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FE752163-3056-F10A-8595-496EA8DF1AA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135921946"/>
      </p:ext>
    </p:extLst>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C5BE1-3F3B-26A6-42E1-D0B74F7BDCA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09709B5-5FA3-5A8C-5889-849EF9CA578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3280726-EAFC-8A16-E56C-9FD5A4C35A6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C93FE9F-1A8E-9FC6-C66B-8AE48D26BF6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EAED008-32A4-1671-C53F-DE551A64BE55}"/>
              </a:ext>
            </a:extLst>
          </p:cNvPr>
          <p:cNvSpPr txBox="1">
            <a:spLocks/>
          </p:cNvSpPr>
          <p:nvPr/>
        </p:nvSpPr>
        <p:spPr>
          <a:xfrm>
            <a:off x="76200" y="762030"/>
            <a:ext cx="8624937" cy="472437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XSS(Cross Site Scripting)</a:t>
            </a:r>
          </a:p>
          <a:p>
            <a:pPr marL="12700" marR="5080"/>
            <a:r>
              <a:rPr lang="en-US" sz="1500" kern="0" spc="-80" dirty="0">
                <a:solidFill>
                  <a:schemeClr val="accent2"/>
                </a:solidFill>
              </a:rPr>
              <a:t>Defenses</a:t>
            </a:r>
          </a:p>
          <a:p>
            <a:pPr marL="12700" marR="5080"/>
            <a:r>
              <a:rPr lang="en-US" sz="1500" kern="0" spc="-80" dirty="0">
                <a:solidFill>
                  <a:schemeClr val="accent2"/>
                </a:solidFill>
              </a:rPr>
              <a:t>✅ Output encoding (MOST IMPORTANT)</a:t>
            </a:r>
          </a:p>
          <a:p>
            <a:pPr marL="12700" marR="5080"/>
            <a:r>
              <a:rPr lang="en-US" sz="1500" kern="0" spc="-80" dirty="0">
                <a:solidFill>
                  <a:schemeClr val="accent2"/>
                </a:solidFill>
              </a:rPr>
              <a:t>Context	Encode</a:t>
            </a:r>
          </a:p>
          <a:p>
            <a:pPr marL="12700" marR="5080"/>
            <a:r>
              <a:rPr lang="en-US" sz="1500" kern="0" spc="-80" dirty="0">
                <a:solidFill>
                  <a:schemeClr val="accent6"/>
                </a:solidFill>
              </a:rPr>
              <a:t>HTML	&amp;</a:t>
            </a:r>
            <a:r>
              <a:rPr lang="en-US" sz="1500" kern="0" spc="-80" dirty="0" err="1">
                <a:solidFill>
                  <a:schemeClr val="accent6"/>
                </a:solidFill>
              </a:rPr>
              <a:t>lt</a:t>
            </a:r>
            <a:r>
              <a:rPr lang="en-US" sz="1500" kern="0" spc="-80" dirty="0">
                <a:solidFill>
                  <a:schemeClr val="accent6"/>
                </a:solidFill>
              </a:rPr>
              <a:t>; &amp;</a:t>
            </a:r>
            <a:r>
              <a:rPr lang="en-US" sz="1500" kern="0" spc="-80" dirty="0" err="1">
                <a:solidFill>
                  <a:schemeClr val="accent6"/>
                </a:solidFill>
              </a:rPr>
              <a:t>gt</a:t>
            </a:r>
            <a:r>
              <a:rPr lang="en-US" sz="1500" kern="0" spc="-80" dirty="0">
                <a:solidFill>
                  <a:schemeClr val="accent6"/>
                </a:solidFill>
              </a:rPr>
              <a:t>;</a:t>
            </a:r>
          </a:p>
          <a:p>
            <a:pPr marL="12700" marR="5080"/>
            <a:r>
              <a:rPr lang="en-US" sz="1500" kern="0" spc="-80" dirty="0">
                <a:solidFill>
                  <a:schemeClr val="accent6"/>
                </a:solidFill>
              </a:rPr>
              <a:t>JS	Escape strings</a:t>
            </a:r>
          </a:p>
          <a:p>
            <a:pPr marL="12700" marR="5080"/>
            <a:r>
              <a:rPr lang="en-US" sz="1500" kern="0" spc="-80" dirty="0">
                <a:solidFill>
                  <a:schemeClr val="accent6"/>
                </a:solidFill>
              </a:rPr>
              <a:t>URL	URL encode</a:t>
            </a:r>
          </a:p>
          <a:p>
            <a:pPr marL="12700" marR="5080"/>
            <a:r>
              <a:rPr lang="en-US" sz="1500" kern="0" spc="-80" dirty="0">
                <a:solidFill>
                  <a:schemeClr val="accent2"/>
                </a:solidFill>
              </a:rPr>
              <a:t>✅ Use frameworks safely</a:t>
            </a:r>
          </a:p>
          <a:p>
            <a:pPr marL="12700" marR="5080"/>
            <a:r>
              <a:rPr lang="en-US" sz="1500" kern="0" spc="-80" dirty="0">
                <a:solidFill>
                  <a:schemeClr val="accent6"/>
                </a:solidFill>
              </a:rPr>
              <a:t>React / Angular auto-escape by default</a:t>
            </a:r>
          </a:p>
          <a:p>
            <a:pPr marL="12700" marR="5080"/>
            <a:r>
              <a:rPr lang="en-US" sz="1500" kern="0" spc="-80" dirty="0">
                <a:solidFill>
                  <a:schemeClr val="accent6"/>
                </a:solidFill>
              </a:rPr>
              <a:t>Danger: </a:t>
            </a:r>
            <a:r>
              <a:rPr lang="en-US" sz="1500" kern="0" spc="-80" dirty="0" err="1">
                <a:solidFill>
                  <a:schemeClr val="accent6"/>
                </a:solidFill>
              </a:rPr>
              <a:t>dangerouslySetInnerHTML</a:t>
            </a:r>
            <a:endParaRPr lang="en-US" sz="1500" kern="0" spc="-80" dirty="0">
              <a:solidFill>
                <a:schemeClr val="accent6"/>
              </a:solidFill>
            </a:endParaRPr>
          </a:p>
          <a:p>
            <a:pPr marL="12700" marR="5080"/>
            <a:r>
              <a:rPr lang="en-US" sz="1500" kern="0" spc="-80" dirty="0">
                <a:solidFill>
                  <a:schemeClr val="accent2"/>
                </a:solidFill>
              </a:rPr>
              <a:t>✅ Content Security Policy (CSP)</a:t>
            </a:r>
          </a:p>
          <a:p>
            <a:pPr marL="12700" marR="5080"/>
            <a:r>
              <a:rPr lang="en-US" sz="1500" kern="0" spc="-80" dirty="0">
                <a:solidFill>
                  <a:schemeClr val="accent2"/>
                </a:solidFill>
              </a:rPr>
              <a:t>Content-Security-Policy:</a:t>
            </a:r>
          </a:p>
          <a:p>
            <a:pPr marL="12700" marR="5080"/>
            <a:r>
              <a:rPr lang="en-US" sz="1500" kern="0" spc="-80" dirty="0">
                <a:solidFill>
                  <a:schemeClr val="accent6"/>
                </a:solidFill>
              </a:rPr>
              <a:t>  default-</a:t>
            </a:r>
            <a:r>
              <a:rPr lang="en-US" sz="1500" kern="0" spc="-80" dirty="0" err="1">
                <a:solidFill>
                  <a:schemeClr val="accent6"/>
                </a:solidFill>
              </a:rPr>
              <a:t>src</a:t>
            </a:r>
            <a:r>
              <a:rPr lang="en-US" sz="1500" kern="0" spc="-80" dirty="0">
                <a:solidFill>
                  <a:schemeClr val="accent6"/>
                </a:solidFill>
              </a:rPr>
              <a:t> 'self';</a:t>
            </a:r>
          </a:p>
          <a:p>
            <a:pPr marL="12700" marR="5080"/>
            <a:r>
              <a:rPr lang="en-US" sz="1500" kern="0" spc="-80" dirty="0">
                <a:solidFill>
                  <a:schemeClr val="accent6"/>
                </a:solidFill>
              </a:rPr>
              <a:t>  script-</a:t>
            </a:r>
            <a:r>
              <a:rPr lang="en-US" sz="1500" kern="0" spc="-80" dirty="0" err="1">
                <a:solidFill>
                  <a:schemeClr val="accent6"/>
                </a:solidFill>
              </a:rPr>
              <a:t>src</a:t>
            </a:r>
            <a:r>
              <a:rPr lang="en-US" sz="1500" kern="0" spc="-80" dirty="0">
                <a:solidFill>
                  <a:schemeClr val="accent6"/>
                </a:solidFill>
              </a:rPr>
              <a:t> 'self';</a:t>
            </a:r>
          </a:p>
          <a:p>
            <a:pPr marL="12700" marR="5080"/>
            <a:r>
              <a:rPr lang="en-US" sz="1500" kern="0" spc="-80" dirty="0">
                <a:solidFill>
                  <a:schemeClr val="accent6"/>
                </a:solidFill>
              </a:rPr>
              <a:t>➡️ Even if XSS exists → script won’t execute</a:t>
            </a:r>
          </a:p>
          <a:p>
            <a:pPr marL="12700" marR="5080"/>
            <a:endParaRPr lang="en-US" sz="1500" kern="0" spc="-80" dirty="0">
              <a:solidFill>
                <a:schemeClr val="accent6"/>
              </a:solidFill>
            </a:endParaRPr>
          </a:p>
          <a:p>
            <a:pPr marL="12700" marR="5080"/>
            <a:r>
              <a:rPr lang="en-US" sz="1600" kern="0" spc="-80" dirty="0">
                <a:solidFill>
                  <a:schemeClr val="accent2"/>
                </a:solidFill>
              </a:rPr>
              <a:t>For Further Exploration –</a:t>
            </a:r>
          </a:p>
          <a:p>
            <a:pPr marL="12700" marR="5080"/>
            <a:r>
              <a:rPr lang="en-US" sz="1600" dirty="0">
                <a:hlinkClick r:id="rId2"/>
              </a:rPr>
              <a:t>Prevent Cross-Site Scripting (XSS) in ASP.NET Core | Microsoft Learn</a:t>
            </a:r>
            <a:endParaRPr lang="en-US" sz="1600" kern="0" spc="-80" dirty="0">
              <a:solidFill>
                <a:schemeClr val="accent2"/>
              </a:solidFill>
            </a:endParaRPr>
          </a:p>
          <a:p>
            <a:pPr marL="12700" marR="5080"/>
            <a:endParaRPr lang="en-US" sz="1500" kern="0" spc="-80" dirty="0">
              <a:solidFill>
                <a:schemeClr val="accent6"/>
              </a:solidFill>
            </a:endParaRPr>
          </a:p>
          <a:p>
            <a:pPr marL="12700" marR="5080"/>
            <a:r>
              <a:rPr lang="en-US" sz="1500" kern="0" spc="-80" dirty="0">
                <a:solidFill>
                  <a:schemeClr val="accent6"/>
                </a:solidFill>
              </a:rPr>
              <a:t> </a:t>
            </a:r>
          </a:p>
        </p:txBody>
      </p:sp>
      <p:grpSp>
        <p:nvGrpSpPr>
          <p:cNvPr id="7" name="Group 6">
            <a:extLst>
              <a:ext uri="{FF2B5EF4-FFF2-40B4-BE49-F238E27FC236}">
                <a16:creationId xmlns:a16="http://schemas.microsoft.com/office/drawing/2014/main" id="{BF31460F-4DDE-194A-C92D-AC38BB85D84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CE5B4BD-0116-0D0A-A53D-A81E1447735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2CBC15DD-69AC-FA93-A826-6E64A9CDD00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358509922"/>
      </p:ext>
    </p:extLst>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74922-CB01-0AF9-FCA4-2093991D1CC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1A51CDB-5A10-C886-09C6-A1225BF9AF9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709AF85-B20C-0171-3365-522D12B073E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9EFF383-2952-990D-DD8A-EDC8A310A38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60445C2A-D032-5324-6940-89A5B393FDF7}"/>
              </a:ext>
            </a:extLst>
          </p:cNvPr>
          <p:cNvSpPr txBox="1">
            <a:spLocks/>
          </p:cNvSpPr>
          <p:nvPr/>
        </p:nvSpPr>
        <p:spPr>
          <a:xfrm>
            <a:off x="152400" y="759023"/>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SQL Injection - </a:t>
            </a:r>
          </a:p>
        </p:txBody>
      </p:sp>
      <p:pic>
        <p:nvPicPr>
          <p:cNvPr id="5122" name="Picture 2" descr="Hack Proof Your ASP.NET Applications From SQL Injection - CodeProject">
            <a:extLst>
              <a:ext uri="{FF2B5EF4-FFF2-40B4-BE49-F238E27FC236}">
                <a16:creationId xmlns:a16="http://schemas.microsoft.com/office/drawing/2014/main" id="{BC3F982D-6522-B75F-A455-6CBAE827D1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399" y="1325445"/>
            <a:ext cx="8373291" cy="458373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592D4DA4-1DB7-3F7D-7572-51048BB4C97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D01E8A2-0DCA-6143-D080-F3D2510A91B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ECEB82D-0F01-B067-5A97-3F3D8C3B74C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141364901"/>
      </p:ext>
    </p:extLst>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60799-9FEA-3CB9-4229-ACD1519E9AF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2799FDA-78C1-401A-3A59-7C50D090675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0E02543-5DB1-BB72-2A52-D78F27EF142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54200CB-EC5F-EEB5-9155-5C00018569F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E4526E9-4A26-F076-5106-370465E07350}"/>
              </a:ext>
            </a:extLst>
          </p:cNvPr>
          <p:cNvSpPr txBox="1">
            <a:spLocks/>
          </p:cNvSpPr>
          <p:nvPr/>
        </p:nvSpPr>
        <p:spPr>
          <a:xfrm>
            <a:off x="76200" y="787598"/>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SQL Injection – </a:t>
            </a:r>
          </a:p>
          <a:p>
            <a:pPr marL="12700" marR="5080"/>
            <a:r>
              <a:rPr lang="en-US" sz="1500" kern="0" spc="-80" dirty="0">
                <a:solidFill>
                  <a:schemeClr val="accent2"/>
                </a:solidFill>
              </a:rPr>
              <a:t>What it is</a:t>
            </a:r>
          </a:p>
          <a:p>
            <a:pPr marL="12700" marR="5080"/>
            <a:r>
              <a:rPr lang="en-US" sz="1500" kern="0" spc="-80" dirty="0">
                <a:solidFill>
                  <a:schemeClr val="accent6"/>
                </a:solidFill>
              </a:rPr>
              <a:t>Attacker manipulates SQL queries via input.</a:t>
            </a:r>
          </a:p>
          <a:p>
            <a:pPr marL="12700" marR="5080"/>
            <a:r>
              <a:rPr lang="en-US" sz="1500" kern="0" spc="-80" dirty="0">
                <a:solidFill>
                  <a:schemeClr val="accent2"/>
                </a:solidFill>
              </a:rPr>
              <a:t>Vulnerable code</a:t>
            </a:r>
          </a:p>
          <a:p>
            <a:pPr marL="12700" marR="5080"/>
            <a:r>
              <a:rPr lang="en-US" sz="1500" kern="0" spc="-80" dirty="0">
                <a:solidFill>
                  <a:schemeClr val="accent6"/>
                </a:solidFill>
              </a:rPr>
              <a:t>SELECT * FROM users WHERE email = '$email';</a:t>
            </a:r>
          </a:p>
          <a:p>
            <a:pPr marL="12700" marR="5080"/>
            <a:r>
              <a:rPr lang="en-US" sz="1500" kern="0" spc="-80" dirty="0">
                <a:solidFill>
                  <a:schemeClr val="accent2"/>
                </a:solidFill>
              </a:rPr>
              <a:t>Input:</a:t>
            </a:r>
          </a:p>
          <a:p>
            <a:pPr marL="12700" marR="5080"/>
            <a:r>
              <a:rPr lang="en-US" sz="1500" kern="0" spc="-80" dirty="0">
                <a:solidFill>
                  <a:schemeClr val="accent6"/>
                </a:solidFill>
              </a:rPr>
              <a:t>' OR 1=1 --</a:t>
            </a:r>
          </a:p>
          <a:p>
            <a:pPr marL="12700" marR="5080"/>
            <a:r>
              <a:rPr lang="en-US" sz="1500" kern="0" spc="-80" dirty="0">
                <a:solidFill>
                  <a:schemeClr val="accent2"/>
                </a:solidFill>
              </a:rPr>
              <a:t>Impact</a:t>
            </a:r>
          </a:p>
          <a:p>
            <a:pPr marL="12700" marR="5080"/>
            <a:r>
              <a:rPr lang="en-US" sz="1500" kern="0" spc="-80" dirty="0">
                <a:solidFill>
                  <a:schemeClr val="accent6"/>
                </a:solidFill>
              </a:rPr>
              <a:t>Data breach</a:t>
            </a:r>
          </a:p>
          <a:p>
            <a:pPr marL="12700" marR="5080"/>
            <a:r>
              <a:rPr lang="en-US" sz="1500" kern="0" spc="-80" dirty="0">
                <a:solidFill>
                  <a:schemeClr val="accent6"/>
                </a:solidFill>
              </a:rPr>
              <a:t>Auth bypass</a:t>
            </a:r>
          </a:p>
          <a:p>
            <a:pPr marL="12700" marR="5080"/>
            <a:r>
              <a:rPr lang="en-US" sz="1500" kern="0" spc="-80" dirty="0">
                <a:solidFill>
                  <a:schemeClr val="accent6"/>
                </a:solidFill>
              </a:rPr>
              <a:t>Full DB takeover</a:t>
            </a:r>
          </a:p>
          <a:p>
            <a:pPr marL="12700" marR="5080"/>
            <a:r>
              <a:rPr lang="en-US" sz="1500" kern="0" spc="-80" dirty="0">
                <a:solidFill>
                  <a:schemeClr val="accent2"/>
                </a:solidFill>
              </a:rPr>
              <a:t>Defenses</a:t>
            </a:r>
          </a:p>
          <a:p>
            <a:pPr marL="12700" marR="5080"/>
            <a:r>
              <a:rPr lang="en-US" sz="1500" kern="0" spc="-80" dirty="0">
                <a:solidFill>
                  <a:schemeClr val="accent2"/>
                </a:solidFill>
              </a:rPr>
              <a:t>✅ Parameterized queries (non-negotiable)</a:t>
            </a:r>
          </a:p>
          <a:p>
            <a:pPr marL="12700" marR="5080"/>
            <a:r>
              <a:rPr lang="en-US" sz="1500" kern="0" spc="-80" dirty="0">
                <a:solidFill>
                  <a:schemeClr val="accent6"/>
                </a:solidFill>
              </a:rPr>
              <a:t>SELECT * FROM users WHERE email = ?</a:t>
            </a:r>
          </a:p>
          <a:p>
            <a:pPr marL="12700" marR="5080"/>
            <a:r>
              <a:rPr lang="en-US" sz="1500" kern="0" spc="-80" dirty="0">
                <a:solidFill>
                  <a:schemeClr val="accent2"/>
                </a:solidFill>
              </a:rPr>
              <a:t>✅ ORM (with discipline)</a:t>
            </a:r>
          </a:p>
          <a:p>
            <a:pPr marL="12700" marR="5080"/>
            <a:r>
              <a:rPr lang="en-US" sz="1500" kern="0" spc="-80" dirty="0">
                <a:solidFill>
                  <a:schemeClr val="accent6"/>
                </a:solidFill>
              </a:rPr>
              <a:t>Hibernate, EF, </a:t>
            </a:r>
            <a:r>
              <a:rPr lang="en-US" sz="1500" kern="0" spc="-80" dirty="0" err="1">
                <a:solidFill>
                  <a:schemeClr val="accent6"/>
                </a:solidFill>
              </a:rPr>
              <a:t>SQLAlchemy</a:t>
            </a:r>
            <a:endParaRPr lang="en-US" sz="1500" kern="0" spc="-80" dirty="0">
              <a:solidFill>
                <a:schemeClr val="accent6"/>
              </a:solidFill>
            </a:endParaRPr>
          </a:p>
          <a:p>
            <a:pPr marL="12700" marR="5080"/>
            <a:r>
              <a:rPr lang="en-US" sz="1500" kern="0" spc="-80" dirty="0">
                <a:solidFill>
                  <a:schemeClr val="accent6"/>
                </a:solidFill>
              </a:rPr>
              <a:t>Beware of raw queries</a:t>
            </a:r>
          </a:p>
          <a:p>
            <a:pPr marL="12700" marR="5080"/>
            <a:r>
              <a:rPr lang="en-US" sz="1500" kern="0" spc="-80" dirty="0">
                <a:solidFill>
                  <a:schemeClr val="accent2"/>
                </a:solidFill>
              </a:rPr>
              <a:t>✅ Least privilege DB user</a:t>
            </a:r>
          </a:p>
          <a:p>
            <a:pPr marL="12700" marR="5080"/>
            <a:r>
              <a:rPr lang="en-US" sz="1500" kern="0" spc="-80" dirty="0">
                <a:solidFill>
                  <a:schemeClr val="accent2"/>
                </a:solidFill>
              </a:rPr>
              <a:t>App	                  Permission</a:t>
            </a:r>
          </a:p>
          <a:p>
            <a:pPr marL="12700" marR="5080"/>
            <a:r>
              <a:rPr lang="en-US" sz="1500" kern="0" spc="-80" dirty="0">
                <a:solidFill>
                  <a:schemeClr val="accent6"/>
                </a:solidFill>
              </a:rPr>
              <a:t>Read path	                  SELECT</a:t>
            </a:r>
          </a:p>
          <a:p>
            <a:pPr marL="12700" marR="5080"/>
            <a:r>
              <a:rPr lang="en-US" sz="1500" kern="0" spc="-80" dirty="0">
                <a:solidFill>
                  <a:schemeClr val="accent6"/>
                </a:solidFill>
              </a:rPr>
              <a:t>Write path	INSERT/UPDATE</a:t>
            </a:r>
          </a:p>
          <a:p>
            <a:pPr marL="12700" marR="5080"/>
            <a:endParaRPr lang="en-US" sz="2000" kern="0" spc="-80" dirty="0">
              <a:solidFill>
                <a:schemeClr val="accent2"/>
              </a:solidFill>
            </a:endParaRPr>
          </a:p>
        </p:txBody>
      </p:sp>
      <p:grpSp>
        <p:nvGrpSpPr>
          <p:cNvPr id="7" name="Group 6">
            <a:extLst>
              <a:ext uri="{FF2B5EF4-FFF2-40B4-BE49-F238E27FC236}">
                <a16:creationId xmlns:a16="http://schemas.microsoft.com/office/drawing/2014/main" id="{196B0EE9-E9D8-88C3-358E-945505BC3FD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258CD24-E0E5-D0A6-A6ED-F8C0195BD9B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D4BE7D3-7F70-05B5-E6B1-D2BDC386378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016232418"/>
      </p:ext>
    </p:extLst>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76200" y="794028"/>
            <a:ext cx="8624937" cy="14157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SQL Injection – </a:t>
            </a:r>
          </a:p>
          <a:p>
            <a:pPr marL="12700" marR="5080"/>
            <a:r>
              <a:rPr lang="en-US" sz="2000" kern="0" spc="-80" dirty="0">
                <a:solidFill>
                  <a:schemeClr val="accent2"/>
                </a:solidFill>
              </a:rPr>
              <a:t>For Further Exploration </a:t>
            </a:r>
            <a:r>
              <a:rPr lang="en-US" kern="0" spc="-80" dirty="0">
                <a:solidFill>
                  <a:schemeClr val="accent2"/>
                </a:solidFill>
              </a:rPr>
              <a:t>–</a:t>
            </a:r>
          </a:p>
          <a:p>
            <a:pPr marL="12700" marR="5080"/>
            <a:r>
              <a:rPr lang="en-IN" sz="2000" dirty="0">
                <a:hlinkClick r:id="rId2"/>
              </a:rPr>
              <a:t>SQL Injection | OWASP Foundation</a:t>
            </a:r>
            <a:endParaRPr lang="en-US" sz="2000" kern="0" spc="-80" dirty="0">
              <a:solidFill>
                <a:schemeClr val="accent2"/>
              </a:solidFill>
            </a:endParaRPr>
          </a:p>
          <a:p>
            <a:pPr marL="12700" marR="5080"/>
            <a:endParaRPr lang="en-US" sz="2000" kern="0" spc="-80" dirty="0">
              <a:solidFill>
                <a:schemeClr val="accent2"/>
              </a:solidFill>
            </a:endParaRPr>
          </a:p>
        </p:txBody>
      </p:sp>
      <p:grpSp>
        <p:nvGrpSpPr>
          <p:cNvPr id="7" name="Group 6">
            <a:extLst>
              <a:ext uri="{FF2B5EF4-FFF2-40B4-BE49-F238E27FC236}">
                <a16:creationId xmlns:a16="http://schemas.microsoft.com/office/drawing/2014/main" id="{AD115EC5-01A3-166E-9A0B-C86D5CBF5ED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D722F7D-3078-8C9B-1651-7A6958EE89A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864954C9-06FC-8AC6-2CFD-EF97858EF6F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800501653"/>
      </p:ext>
    </p:extLst>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0" y="759023"/>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DDoS(Distributed Denial of Service) - </a:t>
            </a:r>
          </a:p>
        </p:txBody>
      </p:sp>
      <p:sp>
        <p:nvSpPr>
          <p:cNvPr id="8" name="object 2">
            <a:extLst>
              <a:ext uri="{FF2B5EF4-FFF2-40B4-BE49-F238E27FC236}">
                <a16:creationId xmlns:a16="http://schemas.microsoft.com/office/drawing/2014/main" id="{8E271DFB-826A-6B15-9991-53362540F383}"/>
              </a:ext>
            </a:extLst>
          </p:cNvPr>
          <p:cNvSpPr txBox="1">
            <a:spLocks/>
          </p:cNvSpPr>
          <p:nvPr/>
        </p:nvSpPr>
        <p:spPr>
          <a:xfrm>
            <a:off x="137369" y="5328047"/>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2"/>
              </a:rPr>
              <a:t>What is a distributed denial-of-service (DDoS) attack? | Cloudflare</a:t>
            </a:r>
            <a:endParaRPr lang="en-US" sz="1500" kern="0" spc="-80" dirty="0">
              <a:solidFill>
                <a:schemeClr val="accent2"/>
              </a:solidFill>
            </a:endParaRPr>
          </a:p>
        </p:txBody>
      </p:sp>
      <p:pic>
        <p:nvPicPr>
          <p:cNvPr id="6148" name="Picture 4" descr="What is a DDoS Attack? - Distributed Denial of Service | Radware">
            <a:extLst>
              <a:ext uri="{FF2B5EF4-FFF2-40B4-BE49-F238E27FC236}">
                <a16:creationId xmlns:a16="http://schemas.microsoft.com/office/drawing/2014/main" id="{900CFD9A-EF27-E226-063B-98A058CFD9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94485"/>
            <a:ext cx="9144000" cy="3733562"/>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42C44AA2-2D8B-19DA-9D94-45503D186B2F}"/>
              </a:ext>
            </a:extLst>
          </p:cNvPr>
          <p:cNvGrpSpPr/>
          <p:nvPr/>
        </p:nvGrpSpPr>
        <p:grpSpPr>
          <a:xfrm>
            <a:off x="20320" y="-30047"/>
            <a:ext cx="9123680" cy="481253"/>
            <a:chOff x="0" y="0"/>
            <a:chExt cx="8716300" cy="481253"/>
          </a:xfrm>
        </p:grpSpPr>
        <p:sp>
          <p:nvSpPr>
            <p:cNvPr id="9" name="Rectangle: Rounded Corners 8">
              <a:extLst>
                <a:ext uri="{FF2B5EF4-FFF2-40B4-BE49-F238E27FC236}">
                  <a16:creationId xmlns:a16="http://schemas.microsoft.com/office/drawing/2014/main" id="{49E1495A-56BE-2611-0250-2F0EA5F69D3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84D545E3-817E-9F12-A995-AB225365EDF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669264056"/>
      </p:ext>
    </p:extLst>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1B673A7-2655-7A24-8121-2A1D935DE253}"/>
              </a:ext>
            </a:extLst>
          </p:cNvPr>
          <p:cNvSpPr txBox="1">
            <a:spLocks/>
          </p:cNvSpPr>
          <p:nvPr/>
        </p:nvSpPr>
        <p:spPr>
          <a:xfrm>
            <a:off x="76200" y="759023"/>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DDoS Types</a:t>
            </a:r>
          </a:p>
        </p:txBody>
      </p:sp>
      <p:pic>
        <p:nvPicPr>
          <p:cNvPr id="11" name="Picture 10">
            <a:extLst>
              <a:ext uri="{FF2B5EF4-FFF2-40B4-BE49-F238E27FC236}">
                <a16:creationId xmlns:a16="http://schemas.microsoft.com/office/drawing/2014/main" id="{4A7D6978-BA81-902E-516E-77B17768BF7B}"/>
              </a:ext>
            </a:extLst>
          </p:cNvPr>
          <p:cNvPicPr>
            <a:picLocks noChangeAspect="1"/>
          </p:cNvPicPr>
          <p:nvPr/>
        </p:nvPicPr>
        <p:blipFill>
          <a:blip r:embed="rId2"/>
          <a:stretch>
            <a:fillRect/>
          </a:stretch>
        </p:blipFill>
        <p:spPr>
          <a:xfrm>
            <a:off x="152400" y="1254959"/>
            <a:ext cx="8405046" cy="4002841"/>
          </a:xfrm>
          <a:prstGeom prst="rect">
            <a:avLst/>
          </a:prstGeom>
        </p:spPr>
      </p:pic>
      <p:sp>
        <p:nvSpPr>
          <p:cNvPr id="12" name="object 2">
            <a:extLst>
              <a:ext uri="{FF2B5EF4-FFF2-40B4-BE49-F238E27FC236}">
                <a16:creationId xmlns:a16="http://schemas.microsoft.com/office/drawing/2014/main" id="{FCBB0E74-4876-2F32-F119-D7E981D4B94D}"/>
              </a:ext>
            </a:extLst>
          </p:cNvPr>
          <p:cNvSpPr txBox="1">
            <a:spLocks/>
          </p:cNvSpPr>
          <p:nvPr/>
        </p:nvSpPr>
        <p:spPr>
          <a:xfrm>
            <a:off x="137369" y="5328047"/>
            <a:ext cx="8624937" cy="6001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 </a:t>
            </a:r>
            <a:r>
              <a:rPr lang="en-US" sz="2400" kern="0" spc="-80" dirty="0">
                <a:solidFill>
                  <a:schemeClr val="accent2"/>
                </a:solidFill>
              </a:rPr>
              <a:t>–</a:t>
            </a:r>
          </a:p>
          <a:p>
            <a:pPr marL="12700" marR="5080"/>
            <a:r>
              <a:rPr lang="en-US" sz="1500" dirty="0">
                <a:hlinkClick r:id="rId3"/>
              </a:rPr>
              <a:t>What is a State-Exhaustion DDoS Attack? | NETSCOUT</a:t>
            </a:r>
            <a:endParaRPr lang="en-US" sz="1500" kern="0" spc="-80" dirty="0">
              <a:solidFill>
                <a:schemeClr val="accent2"/>
              </a:solidFill>
            </a:endParaRPr>
          </a:p>
        </p:txBody>
      </p:sp>
      <p:grpSp>
        <p:nvGrpSpPr>
          <p:cNvPr id="7" name="Group 6">
            <a:extLst>
              <a:ext uri="{FF2B5EF4-FFF2-40B4-BE49-F238E27FC236}">
                <a16:creationId xmlns:a16="http://schemas.microsoft.com/office/drawing/2014/main" id="{D28AB050-C7D5-2659-82FD-0DE9F3CA03B3}"/>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C83EAB4-011D-57F1-BEB8-8182A6699FD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7C90116-0C76-051B-0958-88CDA773F76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362939576"/>
      </p:ext>
    </p:extLst>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7301F-0137-C89F-F007-7D468944CCD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084598F-986C-ABF8-C490-D7CC4AD7F9E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5EC751C-404F-6973-7945-E6BC90BB36A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B6FA62D-50FB-85DF-1168-38E8086A141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05FB591-7FB6-079E-88C0-A4D931E7BCED}"/>
              </a:ext>
            </a:extLst>
          </p:cNvPr>
          <p:cNvSpPr txBox="1">
            <a:spLocks/>
          </p:cNvSpPr>
          <p:nvPr/>
        </p:nvSpPr>
        <p:spPr>
          <a:xfrm>
            <a:off x="76200" y="776168"/>
            <a:ext cx="8624937" cy="32624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Security Headers (Underrated but Powerful)</a:t>
            </a:r>
          </a:p>
          <a:p>
            <a:pPr marL="12700" marR="5080"/>
            <a:r>
              <a:rPr lang="en-US" sz="1500" kern="0" spc="-80" dirty="0">
                <a:solidFill>
                  <a:schemeClr val="accent2"/>
                </a:solidFill>
              </a:rPr>
              <a:t>Header	                                     Protects against</a:t>
            </a:r>
          </a:p>
          <a:p>
            <a:pPr marL="12700" marR="5080"/>
            <a:r>
              <a:rPr lang="en-US" sz="1500" kern="0" spc="-80" dirty="0">
                <a:solidFill>
                  <a:schemeClr val="accent6"/>
                </a:solidFill>
              </a:rPr>
              <a:t>CSP	                                     XSS</a:t>
            </a:r>
          </a:p>
          <a:p>
            <a:pPr marL="12700" marR="5080"/>
            <a:r>
              <a:rPr lang="en-US" sz="1500" kern="0" spc="-80" dirty="0">
                <a:solidFill>
                  <a:schemeClr val="accent6"/>
                </a:solidFill>
              </a:rPr>
              <a:t>X-Frame-Options	                   Clickjacking</a:t>
            </a:r>
          </a:p>
          <a:p>
            <a:pPr marL="12700" marR="5080"/>
            <a:r>
              <a:rPr lang="en-US" sz="1500" kern="0" spc="-80" dirty="0">
                <a:solidFill>
                  <a:schemeClr val="accent6"/>
                </a:solidFill>
              </a:rPr>
              <a:t>X-Content-Type-Options	 MIME sniffing</a:t>
            </a:r>
          </a:p>
          <a:p>
            <a:pPr marL="12700" marR="5080"/>
            <a:r>
              <a:rPr lang="en-US" sz="1500" kern="0" spc="-80" dirty="0">
                <a:solidFill>
                  <a:schemeClr val="accent6"/>
                </a:solidFill>
              </a:rPr>
              <a:t>Referrer-Policy	                   Data leakage</a:t>
            </a:r>
          </a:p>
          <a:p>
            <a:pPr marL="12700" marR="5080"/>
            <a:r>
              <a:rPr lang="en-US" sz="1500" kern="0" spc="-80" dirty="0">
                <a:solidFill>
                  <a:schemeClr val="accent6"/>
                </a:solidFill>
              </a:rPr>
              <a:t>Permissions-Policy	                   Browser abuse</a:t>
            </a:r>
          </a:p>
          <a:p>
            <a:pPr marL="12700" marR="5080"/>
            <a:r>
              <a:rPr lang="en-US" sz="1500" kern="0" spc="-80" dirty="0">
                <a:solidFill>
                  <a:schemeClr val="accent6"/>
                </a:solidFill>
              </a:rPr>
              <a:t>HSTS	                                     SSL stripping</a:t>
            </a:r>
          </a:p>
          <a:p>
            <a:pPr marL="12700" marR="5080"/>
            <a:endParaRPr lang="en-US" sz="1500" kern="0" spc="-80" dirty="0">
              <a:solidFill>
                <a:schemeClr val="accent6"/>
              </a:solidFill>
            </a:endParaRPr>
          </a:p>
          <a:p>
            <a:pPr marL="12700" marR="5080"/>
            <a:r>
              <a:rPr lang="en-US" sz="1500" kern="0" spc="-80" dirty="0">
                <a:solidFill>
                  <a:schemeClr val="accent2"/>
                </a:solidFill>
              </a:rPr>
              <a:t>Example baseline</a:t>
            </a:r>
          </a:p>
          <a:p>
            <a:pPr marL="12700" marR="5080"/>
            <a:r>
              <a:rPr lang="en-US" sz="1500" kern="0" spc="-80" dirty="0">
                <a:solidFill>
                  <a:schemeClr val="accent6"/>
                </a:solidFill>
              </a:rPr>
              <a:t>Strict-Transport-Security: max-age=63072000; </a:t>
            </a:r>
            <a:r>
              <a:rPr lang="en-US" sz="1500" kern="0" spc="-80" dirty="0" err="1">
                <a:solidFill>
                  <a:schemeClr val="accent6"/>
                </a:solidFill>
              </a:rPr>
              <a:t>includeSubDomains</a:t>
            </a:r>
            <a:endParaRPr lang="en-US" sz="1500" kern="0" spc="-80" dirty="0">
              <a:solidFill>
                <a:schemeClr val="accent6"/>
              </a:solidFill>
            </a:endParaRPr>
          </a:p>
          <a:p>
            <a:pPr marL="12700" marR="5080"/>
            <a:r>
              <a:rPr lang="en-US" sz="1500" kern="0" spc="-80" dirty="0">
                <a:solidFill>
                  <a:schemeClr val="accent6"/>
                </a:solidFill>
              </a:rPr>
              <a:t>X-Frame-Options: DENY</a:t>
            </a:r>
          </a:p>
          <a:p>
            <a:pPr marL="12700" marR="5080"/>
            <a:r>
              <a:rPr lang="en-US" sz="1500" kern="0" spc="-80" dirty="0">
                <a:solidFill>
                  <a:schemeClr val="accent6"/>
                </a:solidFill>
              </a:rPr>
              <a:t>X-Content-Type-Options: </a:t>
            </a:r>
            <a:r>
              <a:rPr lang="en-US" sz="1500" kern="0" spc="-80" dirty="0" err="1">
                <a:solidFill>
                  <a:schemeClr val="accent6"/>
                </a:solidFill>
              </a:rPr>
              <a:t>nosniff</a:t>
            </a:r>
            <a:endParaRPr lang="en-US" sz="1500" kern="0" spc="-80" dirty="0">
              <a:solidFill>
                <a:schemeClr val="accent6"/>
              </a:solidFill>
            </a:endParaRPr>
          </a:p>
          <a:p>
            <a:pPr marL="12700" marR="5080"/>
            <a:r>
              <a:rPr lang="en-US" sz="1500" kern="0" spc="-80" dirty="0">
                <a:solidFill>
                  <a:schemeClr val="accent6"/>
                </a:solidFill>
              </a:rPr>
              <a:t>Referrer-Policy: no-referrer</a:t>
            </a:r>
          </a:p>
        </p:txBody>
      </p:sp>
      <p:grpSp>
        <p:nvGrpSpPr>
          <p:cNvPr id="7" name="Group 6">
            <a:extLst>
              <a:ext uri="{FF2B5EF4-FFF2-40B4-BE49-F238E27FC236}">
                <a16:creationId xmlns:a16="http://schemas.microsoft.com/office/drawing/2014/main" id="{9BC3A4A6-0DE5-9DC7-0BB5-DF5BA3C158AA}"/>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8C3D79B-80F7-8AF9-3E8F-C849BFC87F7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4D32E73-E325-76AC-F03B-1B9AC618E0C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42908459"/>
      </p:ext>
    </p:extLst>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9DF34-0BAC-4B84-D4A6-CEB29589741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C5A96A9-DC2F-7B39-C9B3-74B5B292411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F66E924-89CE-545C-4151-26A403A5371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ACF1180-BC43-F849-D73F-9633268B62C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0358E69-2DFB-E605-C4E1-5FF2001CB393}"/>
              </a:ext>
            </a:extLst>
          </p:cNvPr>
          <p:cNvSpPr txBox="1">
            <a:spLocks/>
          </p:cNvSpPr>
          <p:nvPr/>
        </p:nvSpPr>
        <p:spPr>
          <a:xfrm>
            <a:off x="76200" y="808196"/>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Secrets Management</a:t>
            </a:r>
          </a:p>
          <a:p>
            <a:pPr marL="12700" marR="5080"/>
            <a:r>
              <a:rPr lang="en-US" sz="1500" kern="0" spc="-80" dirty="0">
                <a:solidFill>
                  <a:schemeClr val="accent2"/>
                </a:solidFill>
              </a:rPr>
              <a:t>What NOT to do</a:t>
            </a:r>
          </a:p>
          <a:p>
            <a:pPr marL="12700" marR="5080"/>
            <a:r>
              <a:rPr lang="en-US" sz="1500" kern="0" spc="-80" dirty="0">
                <a:solidFill>
                  <a:schemeClr val="accent6"/>
                </a:solidFill>
              </a:rPr>
              <a:t>❌ Hardcode secrets</a:t>
            </a:r>
          </a:p>
          <a:p>
            <a:pPr marL="12700" marR="5080"/>
            <a:r>
              <a:rPr lang="en-US" sz="1500" kern="0" spc="-80" dirty="0">
                <a:solidFill>
                  <a:schemeClr val="accent6"/>
                </a:solidFill>
              </a:rPr>
              <a:t>❌ Store in Git</a:t>
            </a:r>
          </a:p>
          <a:p>
            <a:pPr marL="12700" marR="5080"/>
            <a:r>
              <a:rPr lang="en-US" sz="1500" kern="0" spc="-80" dirty="0">
                <a:solidFill>
                  <a:schemeClr val="accent6"/>
                </a:solidFill>
              </a:rPr>
              <a:t>❌ Store in frontend</a:t>
            </a:r>
          </a:p>
          <a:p>
            <a:pPr marL="12700" marR="5080"/>
            <a:r>
              <a:rPr lang="en-US" sz="1500" kern="0" spc="-80" dirty="0">
                <a:solidFill>
                  <a:schemeClr val="accent6"/>
                </a:solidFill>
              </a:rPr>
              <a:t>❌ Share across services</a:t>
            </a:r>
          </a:p>
          <a:p>
            <a:pPr marL="12700" marR="5080"/>
            <a:endParaRPr lang="en-US" sz="1500" kern="0" spc="-80" dirty="0">
              <a:solidFill>
                <a:schemeClr val="accent6"/>
              </a:solidFill>
            </a:endParaRPr>
          </a:p>
          <a:p>
            <a:pPr marL="12700" marR="5080"/>
            <a:r>
              <a:rPr lang="en-US" sz="1500" kern="0" spc="-80" dirty="0">
                <a:solidFill>
                  <a:schemeClr val="accent2"/>
                </a:solidFill>
              </a:rPr>
              <a:t>Proper hierarchy</a:t>
            </a:r>
          </a:p>
          <a:p>
            <a:pPr marL="12700" marR="5080"/>
            <a:r>
              <a:rPr lang="en-US" sz="1500" kern="0" spc="-80" dirty="0">
                <a:solidFill>
                  <a:schemeClr val="accent2"/>
                </a:solidFill>
              </a:rPr>
              <a:t>Environment	Storage</a:t>
            </a:r>
          </a:p>
          <a:p>
            <a:pPr marL="12700" marR="5080"/>
            <a:r>
              <a:rPr lang="en-US" sz="1500" kern="0" spc="-80" dirty="0">
                <a:solidFill>
                  <a:schemeClr val="accent6"/>
                </a:solidFill>
              </a:rPr>
              <a:t>Local	                  .env (</a:t>
            </a:r>
            <a:r>
              <a:rPr lang="en-US" sz="1500" kern="0" spc="-80" dirty="0" err="1">
                <a:solidFill>
                  <a:schemeClr val="accent6"/>
                </a:solidFill>
              </a:rPr>
              <a:t>gitignored</a:t>
            </a:r>
            <a:r>
              <a:rPr lang="en-US" sz="1500" kern="0" spc="-80" dirty="0">
                <a:solidFill>
                  <a:schemeClr val="accent6"/>
                </a:solidFill>
              </a:rPr>
              <a:t>)</a:t>
            </a:r>
          </a:p>
          <a:p>
            <a:pPr marL="12700" marR="5080"/>
            <a:r>
              <a:rPr lang="en-US" sz="1500" kern="0" spc="-80" dirty="0">
                <a:solidFill>
                  <a:schemeClr val="accent6"/>
                </a:solidFill>
              </a:rPr>
              <a:t>Cloud	                  Secret Manager / Vault</a:t>
            </a:r>
          </a:p>
          <a:p>
            <a:pPr marL="12700" marR="5080"/>
            <a:r>
              <a:rPr lang="en-US" sz="1500" kern="0" spc="-80" dirty="0">
                <a:solidFill>
                  <a:schemeClr val="accent6"/>
                </a:solidFill>
              </a:rPr>
              <a:t>K8s	                  Sealed Secrets / CSI</a:t>
            </a:r>
          </a:p>
          <a:p>
            <a:pPr marL="12700" marR="5080"/>
            <a:r>
              <a:rPr lang="en-US" sz="1500" kern="0" spc="-80" dirty="0">
                <a:solidFill>
                  <a:schemeClr val="accent6"/>
                </a:solidFill>
              </a:rPr>
              <a:t>CI/CD	                  Encrypted variables</a:t>
            </a:r>
          </a:p>
          <a:p>
            <a:pPr marL="12700" marR="5080"/>
            <a:endParaRPr lang="en-US" sz="1500" kern="0" spc="-80" dirty="0">
              <a:solidFill>
                <a:schemeClr val="accent6"/>
              </a:solidFill>
            </a:endParaRPr>
          </a:p>
          <a:p>
            <a:pPr marL="12700" marR="5080"/>
            <a:r>
              <a:rPr lang="en-US" sz="1500" kern="0" spc="-80" dirty="0">
                <a:solidFill>
                  <a:schemeClr val="accent2"/>
                </a:solidFill>
              </a:rPr>
              <a:t>Best practices</a:t>
            </a:r>
          </a:p>
          <a:p>
            <a:pPr marL="12700" marR="5080"/>
            <a:r>
              <a:rPr lang="en-US" sz="1500" kern="0" spc="-80" dirty="0">
                <a:solidFill>
                  <a:schemeClr val="accent6"/>
                </a:solidFill>
              </a:rPr>
              <a:t>Rotate secrets</a:t>
            </a:r>
          </a:p>
          <a:p>
            <a:pPr marL="12700" marR="5080"/>
            <a:r>
              <a:rPr lang="en-US" sz="1500" kern="0" spc="-80" dirty="0">
                <a:solidFill>
                  <a:schemeClr val="accent6"/>
                </a:solidFill>
              </a:rPr>
              <a:t>Short-lived credentials (OIDC, IAM roles)</a:t>
            </a:r>
          </a:p>
          <a:p>
            <a:pPr marL="12700" marR="5080"/>
            <a:r>
              <a:rPr lang="en-US" sz="1500" kern="0" spc="-80" dirty="0">
                <a:solidFill>
                  <a:schemeClr val="accent6"/>
                </a:solidFill>
              </a:rPr>
              <a:t>Principle of least privilege</a:t>
            </a:r>
          </a:p>
          <a:p>
            <a:pPr marL="12700" marR="5080"/>
            <a:r>
              <a:rPr lang="en-US" sz="1500" kern="0" spc="-80" dirty="0">
                <a:solidFill>
                  <a:schemeClr val="accent6"/>
                </a:solidFill>
              </a:rPr>
              <a:t>Separate secrets per service</a:t>
            </a:r>
          </a:p>
          <a:p>
            <a:pPr marL="12700" marR="5080"/>
            <a:endParaRPr lang="en-US" sz="1700" kern="0" spc="-80" dirty="0">
              <a:solidFill>
                <a:schemeClr val="accent2"/>
              </a:solidFill>
            </a:endParaRPr>
          </a:p>
        </p:txBody>
      </p:sp>
      <p:grpSp>
        <p:nvGrpSpPr>
          <p:cNvPr id="7" name="Group 6">
            <a:extLst>
              <a:ext uri="{FF2B5EF4-FFF2-40B4-BE49-F238E27FC236}">
                <a16:creationId xmlns:a16="http://schemas.microsoft.com/office/drawing/2014/main" id="{C8A1B44C-0482-ACB7-4C53-1AC13AE640D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8E7D01B9-7B63-3690-3912-104EECE17D1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2881F115-CD93-8683-A8B6-B62241F6C28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569035239"/>
      </p:ext>
    </p:extLst>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9B4B8A-FA12-13A1-4E31-87569CCB7D9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E0A9A85-28F1-56A2-9ECA-5C98A66FE94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6C36430-F89F-652B-C903-EF0F3217052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87E1411-57B5-7B4A-7B42-88B47DCD690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5587947-5A86-6412-8371-5605D3BB6849}"/>
              </a:ext>
            </a:extLst>
          </p:cNvPr>
          <p:cNvSpPr txBox="1">
            <a:spLocks/>
          </p:cNvSpPr>
          <p:nvPr/>
        </p:nvSpPr>
        <p:spPr>
          <a:xfrm>
            <a:off x="0" y="805964"/>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kern="0" spc="-80" dirty="0">
                <a:solidFill>
                  <a:schemeClr val="accent2"/>
                </a:solidFill>
              </a:rPr>
              <a:t>Handling Sensitive Data</a:t>
            </a:r>
          </a:p>
          <a:p>
            <a:pPr marL="12700" marR="5080"/>
            <a:r>
              <a:rPr lang="en-US" sz="1500" kern="0" spc="-80" dirty="0">
                <a:solidFill>
                  <a:schemeClr val="accent2"/>
                </a:solidFill>
              </a:rPr>
              <a:t>Data categories</a:t>
            </a:r>
          </a:p>
          <a:p>
            <a:pPr marL="12700" marR="5080"/>
            <a:r>
              <a:rPr lang="en-US" sz="1500" kern="0" spc="-80" dirty="0">
                <a:solidFill>
                  <a:schemeClr val="accent2"/>
                </a:solidFill>
              </a:rPr>
              <a:t>Type	Example</a:t>
            </a:r>
          </a:p>
          <a:p>
            <a:pPr marL="12700" marR="5080"/>
            <a:r>
              <a:rPr lang="en-US" sz="1500" kern="0" spc="-80" dirty="0">
                <a:solidFill>
                  <a:schemeClr val="accent6"/>
                </a:solidFill>
              </a:rPr>
              <a:t>PII	Name, email</a:t>
            </a:r>
          </a:p>
          <a:p>
            <a:pPr marL="12700" marR="5080"/>
            <a:r>
              <a:rPr lang="en-US" sz="1500" kern="0" spc="-80" dirty="0">
                <a:solidFill>
                  <a:schemeClr val="accent6"/>
                </a:solidFill>
              </a:rPr>
              <a:t>SPI	Aadhaar, PAN</a:t>
            </a:r>
          </a:p>
          <a:p>
            <a:pPr marL="12700" marR="5080"/>
            <a:r>
              <a:rPr lang="en-US" sz="1500" kern="0" spc="-80" dirty="0">
                <a:solidFill>
                  <a:schemeClr val="accent6"/>
                </a:solidFill>
              </a:rPr>
              <a:t>PCI	Credit card</a:t>
            </a:r>
          </a:p>
          <a:p>
            <a:pPr marL="12700" marR="5080"/>
            <a:r>
              <a:rPr lang="en-US" sz="1500" kern="0" spc="-80" dirty="0">
                <a:solidFill>
                  <a:schemeClr val="accent6"/>
                </a:solidFill>
              </a:rPr>
              <a:t>Auth	Passwords, tokens</a:t>
            </a:r>
          </a:p>
          <a:p>
            <a:pPr marL="12700" marR="5080"/>
            <a:endParaRPr lang="en-US" sz="1500" kern="0" spc="-80" dirty="0">
              <a:solidFill>
                <a:schemeClr val="accent6"/>
              </a:solidFill>
            </a:endParaRPr>
          </a:p>
          <a:p>
            <a:pPr marL="12700" marR="5080"/>
            <a:r>
              <a:rPr lang="en-US" sz="1500" kern="0" spc="-80" dirty="0">
                <a:solidFill>
                  <a:schemeClr val="accent2"/>
                </a:solidFill>
              </a:rPr>
              <a:t>Golden rules</a:t>
            </a:r>
          </a:p>
          <a:p>
            <a:pPr marL="12700" marR="5080"/>
            <a:r>
              <a:rPr lang="en-US" sz="1500" kern="0" spc="-80" dirty="0">
                <a:solidFill>
                  <a:schemeClr val="accent2"/>
                </a:solidFill>
              </a:rPr>
              <a:t>🔐 At rest</a:t>
            </a:r>
          </a:p>
          <a:p>
            <a:pPr marL="12700" marR="5080"/>
            <a:r>
              <a:rPr lang="en-US" sz="1500" kern="0" spc="-80" dirty="0">
                <a:solidFill>
                  <a:schemeClr val="accent6"/>
                </a:solidFill>
              </a:rPr>
              <a:t>Encrypt DB + backups</a:t>
            </a:r>
          </a:p>
          <a:p>
            <a:pPr marL="12700" marR="5080"/>
            <a:r>
              <a:rPr lang="en-US" sz="1500" kern="0" spc="-80" dirty="0">
                <a:solidFill>
                  <a:schemeClr val="accent6"/>
                </a:solidFill>
              </a:rPr>
              <a:t>Column-level encryption for critical fields</a:t>
            </a:r>
          </a:p>
          <a:p>
            <a:pPr marL="12700" marR="5080"/>
            <a:r>
              <a:rPr lang="en-US" sz="1500" kern="0" spc="-80" dirty="0">
                <a:solidFill>
                  <a:schemeClr val="accent2"/>
                </a:solidFill>
              </a:rPr>
              <a:t>🔐 In transit</a:t>
            </a:r>
          </a:p>
          <a:p>
            <a:pPr marL="12700" marR="5080"/>
            <a:r>
              <a:rPr lang="en-US" sz="1500" kern="0" spc="-80" dirty="0">
                <a:solidFill>
                  <a:schemeClr val="accent6"/>
                </a:solidFill>
              </a:rPr>
              <a:t>TLS everywhere (internal too)</a:t>
            </a:r>
          </a:p>
          <a:p>
            <a:pPr marL="12700" marR="5080"/>
            <a:r>
              <a:rPr lang="en-US" sz="1500" kern="0" spc="-80" dirty="0">
                <a:solidFill>
                  <a:schemeClr val="accent2"/>
                </a:solidFill>
              </a:rPr>
              <a:t>🔐 In code</a:t>
            </a:r>
          </a:p>
          <a:p>
            <a:pPr marL="12700" marR="5080"/>
            <a:r>
              <a:rPr lang="en-US" sz="1500" kern="0" spc="-80" dirty="0">
                <a:solidFill>
                  <a:schemeClr val="accent6"/>
                </a:solidFill>
              </a:rPr>
              <a:t>Never log sensitive fields</a:t>
            </a:r>
          </a:p>
          <a:p>
            <a:pPr marL="12700" marR="5080"/>
            <a:r>
              <a:rPr lang="en-US" sz="1500" kern="0" spc="-80" dirty="0">
                <a:solidFill>
                  <a:schemeClr val="accent6"/>
                </a:solidFill>
              </a:rPr>
              <a:t>Mask data (****1234)</a:t>
            </a:r>
          </a:p>
          <a:p>
            <a:pPr marL="12700" marR="5080"/>
            <a:r>
              <a:rPr lang="en-US" sz="1500" kern="0" spc="-80" dirty="0">
                <a:solidFill>
                  <a:schemeClr val="accent2"/>
                </a:solidFill>
              </a:rPr>
              <a:t>🔐 Passwords</a:t>
            </a:r>
          </a:p>
          <a:p>
            <a:pPr marL="12700" marR="5080"/>
            <a:r>
              <a:rPr lang="en-US" sz="1500" kern="0" spc="-80" dirty="0" err="1">
                <a:solidFill>
                  <a:schemeClr val="accent6"/>
                </a:solidFill>
              </a:rPr>
              <a:t>bcrypt</a:t>
            </a:r>
            <a:r>
              <a:rPr lang="en-US" sz="1500" kern="0" spc="-80" dirty="0">
                <a:solidFill>
                  <a:schemeClr val="accent6"/>
                </a:solidFill>
              </a:rPr>
              <a:t> / argon2 / </a:t>
            </a:r>
            <a:r>
              <a:rPr lang="en-US" sz="1500" kern="0" spc="-80" dirty="0" err="1">
                <a:solidFill>
                  <a:schemeClr val="accent6"/>
                </a:solidFill>
              </a:rPr>
              <a:t>scrypt</a:t>
            </a:r>
            <a:r>
              <a:rPr lang="en-US" sz="1500" kern="0" spc="-80" dirty="0">
                <a:solidFill>
                  <a:schemeClr val="accent6"/>
                </a:solidFill>
              </a:rPr>
              <a:t> ONLY</a:t>
            </a:r>
          </a:p>
          <a:p>
            <a:pPr marL="12700" marR="5080"/>
            <a:r>
              <a:rPr lang="en-US" sz="1500" kern="0" spc="-80" dirty="0">
                <a:solidFill>
                  <a:schemeClr val="accent6"/>
                </a:solidFill>
              </a:rPr>
              <a:t>❌ SHA / MD5</a:t>
            </a:r>
          </a:p>
          <a:p>
            <a:pPr marL="12700" marR="5080"/>
            <a:endParaRPr lang="en-US" sz="1700" kern="0" spc="-80" dirty="0">
              <a:solidFill>
                <a:schemeClr val="accent2"/>
              </a:solidFill>
            </a:endParaRPr>
          </a:p>
        </p:txBody>
      </p:sp>
      <p:grpSp>
        <p:nvGrpSpPr>
          <p:cNvPr id="9" name="Group 8">
            <a:extLst>
              <a:ext uri="{FF2B5EF4-FFF2-40B4-BE49-F238E27FC236}">
                <a16:creationId xmlns:a16="http://schemas.microsoft.com/office/drawing/2014/main" id="{9F65E4CE-30FB-DBE2-046C-6C3FB7B044EB}"/>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99F81D2F-449F-AEAE-F904-CBD39D91EF7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D529AB7B-A1D9-8A85-4010-4A57F974917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391148991"/>
      </p:ext>
    </p:extLst>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37DBB-DF7D-072B-923F-0055A3F2B23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92E99B3-CDA8-22BC-E9A4-06984A184F7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C8C1FB1-BE0E-DF9B-A216-552230E372D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32C2955-6FCF-C51B-5E8D-878A86D5FDE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B14F52D-74ED-DA62-E6CF-147EDD49CFDF}"/>
              </a:ext>
            </a:extLst>
          </p:cNvPr>
          <p:cNvSpPr txBox="1">
            <a:spLocks/>
          </p:cNvSpPr>
          <p:nvPr/>
        </p:nvSpPr>
        <p:spPr>
          <a:xfrm>
            <a:off x="0" y="754320"/>
            <a:ext cx="8624937" cy="23698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Mental Model to Remember</a:t>
            </a:r>
          </a:p>
          <a:p>
            <a:pPr marL="12700" marR="5080"/>
            <a:r>
              <a:rPr lang="en-US" sz="1500" kern="0" spc="-80" dirty="0">
                <a:solidFill>
                  <a:schemeClr val="accent2"/>
                </a:solidFill>
              </a:rPr>
              <a:t>Threat	                  Core mistake</a:t>
            </a:r>
          </a:p>
          <a:p>
            <a:pPr marL="12700" marR="5080"/>
            <a:r>
              <a:rPr lang="en-US" sz="1500" kern="0" spc="-80" dirty="0">
                <a:solidFill>
                  <a:schemeClr val="accent6"/>
                </a:solidFill>
              </a:rPr>
              <a:t>SSRF	                  Trusting outbound requests</a:t>
            </a:r>
          </a:p>
          <a:p>
            <a:pPr marL="12700" marR="5080"/>
            <a:r>
              <a:rPr lang="en-US" sz="1500" kern="0" spc="-80" dirty="0">
                <a:solidFill>
                  <a:schemeClr val="accent6"/>
                </a:solidFill>
              </a:rPr>
              <a:t>CSRF	                  Trusting cookies</a:t>
            </a:r>
          </a:p>
          <a:p>
            <a:pPr marL="12700" marR="5080"/>
            <a:r>
              <a:rPr lang="en-US" sz="1500" kern="0" spc="-80" dirty="0">
                <a:solidFill>
                  <a:schemeClr val="accent6"/>
                </a:solidFill>
              </a:rPr>
              <a:t>XSS	                  Trusting user input</a:t>
            </a:r>
          </a:p>
          <a:p>
            <a:pPr marL="12700" marR="5080"/>
            <a:r>
              <a:rPr lang="en-US" sz="1500" kern="0" spc="-80" dirty="0">
                <a:solidFill>
                  <a:schemeClr val="accent6"/>
                </a:solidFill>
              </a:rPr>
              <a:t>SQLi	                  Trusting strings</a:t>
            </a:r>
          </a:p>
          <a:p>
            <a:pPr marL="12700" marR="5080"/>
            <a:r>
              <a:rPr lang="en-US" sz="1500" kern="0" spc="-80" dirty="0">
                <a:solidFill>
                  <a:schemeClr val="accent6"/>
                </a:solidFill>
              </a:rPr>
              <a:t>Secrets leaks	Trusting code</a:t>
            </a:r>
          </a:p>
          <a:p>
            <a:pPr marL="12700" marR="5080"/>
            <a:r>
              <a:rPr lang="en-US" sz="1500" kern="0" spc="-80" dirty="0">
                <a:solidFill>
                  <a:schemeClr val="accent6"/>
                </a:solidFill>
              </a:rPr>
              <a:t>Data leaks	Trusting logs</a:t>
            </a:r>
          </a:p>
          <a:p>
            <a:pPr marL="12700" marR="5080"/>
            <a:endParaRPr lang="en-US" sz="1700" kern="0" spc="-80" dirty="0">
              <a:solidFill>
                <a:schemeClr val="accent2"/>
              </a:solidFill>
            </a:endParaRPr>
          </a:p>
          <a:p>
            <a:pPr marL="12700" marR="5080"/>
            <a:endParaRPr lang="en-US" sz="1700" kern="0" spc="-80" dirty="0">
              <a:solidFill>
                <a:schemeClr val="accent2"/>
              </a:solidFill>
            </a:endParaRPr>
          </a:p>
        </p:txBody>
      </p:sp>
      <p:grpSp>
        <p:nvGrpSpPr>
          <p:cNvPr id="7" name="Group 6">
            <a:extLst>
              <a:ext uri="{FF2B5EF4-FFF2-40B4-BE49-F238E27FC236}">
                <a16:creationId xmlns:a16="http://schemas.microsoft.com/office/drawing/2014/main" id="{ACE92A0D-0B65-7533-4F40-075FE1265A3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24AC77A-AE9A-11C5-7063-57BBD222BA7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FE466EF7-C791-34F2-10F7-835DED6110D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429889965"/>
      </p:ext>
    </p:extLst>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23F72D99-5C7F-1281-CBA4-B2A848C22CED}"/>
              </a:ext>
            </a:extLst>
          </p:cNvPr>
          <p:cNvSpPr txBox="1">
            <a:spLocks/>
          </p:cNvSpPr>
          <p:nvPr/>
        </p:nvSpPr>
        <p:spPr>
          <a:xfrm>
            <a:off x="65231" y="1500664"/>
            <a:ext cx="8624937" cy="24929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Some Important Application Security issues–</a:t>
            </a:r>
          </a:p>
          <a:p>
            <a:pPr marL="12700" marR="5080"/>
            <a:r>
              <a:rPr lang="en-US" sz="2400" kern="0" spc="-80" dirty="0">
                <a:solidFill>
                  <a:schemeClr val="accent2"/>
                </a:solidFill>
              </a:rPr>
              <a:t>Further Exploration – </a:t>
            </a:r>
          </a:p>
          <a:p>
            <a:pPr marL="12700" marR="5080"/>
            <a:r>
              <a:rPr lang="en-US" sz="1500" dirty="0">
                <a:hlinkClick r:id="rId2"/>
              </a:rPr>
              <a:t>Unearthing Vulnerabilities in C# Source Code: A Pragmatic Approach</a:t>
            </a:r>
            <a:endParaRPr lang="en-US" sz="1500" dirty="0">
              <a:hlinkClick r:id="rId3"/>
            </a:endParaRPr>
          </a:p>
          <a:p>
            <a:pPr marL="12700" marR="5080"/>
            <a:r>
              <a:rPr lang="en-US" sz="1500" dirty="0">
                <a:hlinkClick r:id="rId3"/>
              </a:rPr>
              <a:t>Security topics | Microsoft Learn</a:t>
            </a:r>
            <a:endParaRPr lang="en-US" sz="1500" kern="0" spc="-80" dirty="0">
              <a:solidFill>
                <a:schemeClr val="accent2"/>
              </a:solidFill>
            </a:endParaRPr>
          </a:p>
          <a:p>
            <a:pPr marL="12700" marR="5080"/>
            <a:r>
              <a:rPr lang="en-IN" sz="1500" dirty="0">
                <a:hlinkClick r:id="rId4"/>
              </a:rPr>
              <a:t>Attacks | OWASP Foundation</a:t>
            </a:r>
            <a:endParaRPr lang="en-IN" sz="1500" dirty="0"/>
          </a:p>
          <a:p>
            <a:pPr marL="12700" marR="5080"/>
            <a:r>
              <a:rPr lang="en-US" sz="1500" dirty="0">
                <a:hlinkClick r:id="rId5"/>
              </a:rPr>
              <a:t>24 Deadly Sins of Software Security: Programming Flaws and How to Fix Them[Book]</a:t>
            </a:r>
            <a:endParaRPr lang="en-US" sz="1500" dirty="0"/>
          </a:p>
          <a:p>
            <a:pPr marL="12700" marR="5080"/>
            <a:r>
              <a:rPr lang="en-US" sz="1500" dirty="0">
                <a:hlinkClick r:id="rId6"/>
              </a:rPr>
              <a:t>CVE List | Application Security Cheat Sheet</a:t>
            </a:r>
            <a:r>
              <a:rPr lang="en-US" sz="1500" kern="0" spc="-80" dirty="0">
                <a:solidFill>
                  <a:schemeClr val="accent2"/>
                </a:solidFill>
              </a:rPr>
              <a:t> </a:t>
            </a:r>
          </a:p>
          <a:p>
            <a:pPr marL="12700" marR="5080"/>
            <a:r>
              <a:rPr lang="en-US" sz="1500" dirty="0">
                <a:hlinkClick r:id="rId7"/>
              </a:rPr>
              <a:t>Vulnerabilities detected by Burp Scanner – </a:t>
            </a:r>
            <a:r>
              <a:rPr lang="en-US" sz="1500" dirty="0" err="1">
                <a:hlinkClick r:id="rId7"/>
              </a:rPr>
              <a:t>PortSwigger</a:t>
            </a:r>
            <a:endParaRPr lang="en-US" sz="1500" dirty="0"/>
          </a:p>
          <a:p>
            <a:pPr marL="12700" marR="5080"/>
            <a:r>
              <a:rPr lang="en-US" sz="1500" dirty="0">
                <a:hlinkClick r:id="rId8"/>
              </a:rPr>
              <a:t>All learning materials - detailed | Web Security Academy</a:t>
            </a:r>
            <a:r>
              <a:rPr lang="en-US" sz="2400" kern="0" spc="-80" dirty="0">
                <a:solidFill>
                  <a:schemeClr val="accent2"/>
                </a:solidFill>
              </a:rPr>
              <a:t>  </a:t>
            </a:r>
          </a:p>
        </p:txBody>
      </p:sp>
      <p:grpSp>
        <p:nvGrpSpPr>
          <p:cNvPr id="8" name="Group 7">
            <a:extLst>
              <a:ext uri="{FF2B5EF4-FFF2-40B4-BE49-F238E27FC236}">
                <a16:creationId xmlns:a16="http://schemas.microsoft.com/office/drawing/2014/main" id="{7A583A19-DAF3-2CD8-7883-4859FC0CD4FE}"/>
              </a:ext>
            </a:extLst>
          </p:cNvPr>
          <p:cNvGrpSpPr/>
          <p:nvPr/>
        </p:nvGrpSpPr>
        <p:grpSpPr>
          <a:xfrm>
            <a:off x="20320" y="-30047"/>
            <a:ext cx="9123680" cy="481253"/>
            <a:chOff x="0" y="0"/>
            <a:chExt cx="8716300" cy="481253"/>
          </a:xfrm>
        </p:grpSpPr>
        <p:sp>
          <p:nvSpPr>
            <p:cNvPr id="9" name="Rectangle: Rounded Corners 8">
              <a:extLst>
                <a:ext uri="{FF2B5EF4-FFF2-40B4-BE49-F238E27FC236}">
                  <a16:creationId xmlns:a16="http://schemas.microsoft.com/office/drawing/2014/main" id="{D644F3C1-0AA6-FAEE-4B49-0EA8F1468CEE}"/>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0" name="Rectangle: Rounded Corners 4">
              <a:extLst>
                <a:ext uri="{FF2B5EF4-FFF2-40B4-BE49-F238E27FC236}">
                  <a16:creationId xmlns:a16="http://schemas.microsoft.com/office/drawing/2014/main" id="{F59AFA98-5C72-AE4F-AFBE-E6BC66724E2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976512727"/>
      </p:ext>
    </p:extLst>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EC1B1B-9BBD-DE49-1796-54C5E137A58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F2D0B35-6243-70C5-45B6-318EAAD3392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B00FD85-CAB9-5684-1674-0D1D0318FBD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0F8700F-A8EB-7A26-0C14-0B021B788A6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C5156D5-92F9-73E7-5B9A-B1D124A2CDAB}"/>
              </a:ext>
            </a:extLst>
          </p:cNvPr>
          <p:cNvSpPr txBox="1">
            <a:spLocks/>
          </p:cNvSpPr>
          <p:nvPr/>
        </p:nvSpPr>
        <p:spPr>
          <a:xfrm>
            <a:off x="152400" y="761286"/>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API Security</a:t>
            </a:r>
          </a:p>
          <a:p>
            <a:pPr marL="12700" marR="5080"/>
            <a:r>
              <a:rPr lang="en-US" sz="1600" kern="0" spc="-80" dirty="0">
                <a:solidFill>
                  <a:schemeClr val="accent2"/>
                </a:solidFill>
              </a:rPr>
              <a:t>1. Why API Security Is Different (and Harder)</a:t>
            </a:r>
          </a:p>
          <a:p>
            <a:pPr marL="12700" marR="5080"/>
            <a:r>
              <a:rPr lang="en-US" sz="1600" kern="0" spc="-80" dirty="0">
                <a:solidFill>
                  <a:schemeClr val="accent2"/>
                </a:solidFill>
              </a:rPr>
              <a:t>APIs are:</a:t>
            </a:r>
          </a:p>
          <a:p>
            <a:pPr marL="12700" marR="5080"/>
            <a:r>
              <a:rPr lang="en-US" sz="1600" kern="0" spc="-80" dirty="0">
                <a:solidFill>
                  <a:schemeClr val="accent6"/>
                </a:solidFill>
              </a:rPr>
              <a:t>Machine-to-machine → no human in the loop to notice abuse</a:t>
            </a:r>
          </a:p>
          <a:p>
            <a:pPr marL="12700" marR="5080"/>
            <a:r>
              <a:rPr lang="en-US" sz="1600" kern="0" spc="-80" dirty="0">
                <a:solidFill>
                  <a:schemeClr val="accent6"/>
                </a:solidFill>
              </a:rPr>
              <a:t>Stateful over stateless protocols → auth mistakes compound fast</a:t>
            </a:r>
          </a:p>
          <a:p>
            <a:pPr marL="12700" marR="5080"/>
            <a:r>
              <a:rPr lang="en-US" sz="1600" kern="0" spc="-80" dirty="0">
                <a:solidFill>
                  <a:schemeClr val="accent6"/>
                </a:solidFill>
              </a:rPr>
              <a:t>High-value → direct access to data &amp; business logic</a:t>
            </a:r>
          </a:p>
          <a:p>
            <a:pPr marL="12700" marR="5080"/>
            <a:r>
              <a:rPr lang="en-US" sz="1600" kern="0" spc="-80" dirty="0">
                <a:solidFill>
                  <a:schemeClr val="accent6"/>
                </a:solidFill>
              </a:rPr>
              <a:t>Composable → one weak API breaks the whole system</a:t>
            </a:r>
          </a:p>
          <a:p>
            <a:pPr marL="12700" marR="5080"/>
            <a:r>
              <a:rPr lang="en-US" sz="1600" kern="0" spc="-80" dirty="0">
                <a:solidFill>
                  <a:schemeClr val="accent6"/>
                </a:solidFill>
              </a:rPr>
              <a:t>UI security ≠ API security</a:t>
            </a:r>
          </a:p>
          <a:p>
            <a:pPr marL="12700" marR="5080"/>
            <a:r>
              <a:rPr lang="en-US" sz="1600" kern="0" spc="-80" dirty="0">
                <a:solidFill>
                  <a:schemeClr val="accent6"/>
                </a:solidFill>
              </a:rPr>
              <a:t>If your API is broken, the UI cannot save you.</a:t>
            </a:r>
          </a:p>
          <a:p>
            <a:pPr marL="12700" marR="5080"/>
            <a:endParaRPr lang="en-US" sz="1600" kern="0" spc="-80" dirty="0">
              <a:solidFill>
                <a:schemeClr val="accent6"/>
              </a:solidFill>
            </a:endParaRPr>
          </a:p>
          <a:p>
            <a:pPr marL="12700" marR="5080"/>
            <a:r>
              <a:rPr lang="en-US" sz="1600" kern="0" spc="-80" dirty="0">
                <a:solidFill>
                  <a:schemeClr val="accent2"/>
                </a:solidFill>
              </a:rPr>
              <a:t>2. Core Threat Model for APIs</a:t>
            </a:r>
          </a:p>
          <a:p>
            <a:pPr marL="12700" marR="5080"/>
            <a:r>
              <a:rPr lang="en-US" sz="1600" kern="0" spc="-80" dirty="0">
                <a:solidFill>
                  <a:schemeClr val="accent2"/>
                </a:solidFill>
              </a:rPr>
              <a:t>Think in 4 layers:</a:t>
            </a:r>
          </a:p>
          <a:p>
            <a:pPr marL="12700" marR="5080"/>
            <a:r>
              <a:rPr lang="en-US" sz="1600" kern="0" spc="-80" dirty="0">
                <a:solidFill>
                  <a:schemeClr val="accent2"/>
                </a:solidFill>
              </a:rPr>
              <a:t>Layer	                 What attackers target</a:t>
            </a:r>
          </a:p>
          <a:p>
            <a:pPr marL="12700" marR="5080"/>
            <a:r>
              <a:rPr lang="en-US" sz="1600" kern="0" spc="-80" dirty="0">
                <a:solidFill>
                  <a:schemeClr val="accent6"/>
                </a:solidFill>
              </a:rPr>
              <a:t>Identity	                 Who are you?</a:t>
            </a:r>
          </a:p>
          <a:p>
            <a:pPr marL="12700" marR="5080"/>
            <a:r>
              <a:rPr lang="en-US" sz="1600" kern="0" spc="-80" dirty="0">
                <a:solidFill>
                  <a:schemeClr val="accent6"/>
                </a:solidFill>
              </a:rPr>
              <a:t>Authorization	What can you do?</a:t>
            </a:r>
          </a:p>
          <a:p>
            <a:pPr marL="12700" marR="5080"/>
            <a:r>
              <a:rPr lang="en-US" sz="1600" kern="0" spc="-80" dirty="0">
                <a:solidFill>
                  <a:schemeClr val="accent6"/>
                </a:solidFill>
              </a:rPr>
              <a:t>Input	                 What are you sending?</a:t>
            </a:r>
          </a:p>
          <a:p>
            <a:pPr marL="12700" marR="5080"/>
            <a:r>
              <a:rPr lang="en-US" sz="1600" kern="0" spc="-80" dirty="0">
                <a:solidFill>
                  <a:schemeClr val="accent6"/>
                </a:solidFill>
              </a:rPr>
              <a:t>Business Logic	How can I abuse flows?</a:t>
            </a:r>
          </a:p>
          <a:p>
            <a:pPr marL="12700" marR="5080"/>
            <a:r>
              <a:rPr lang="en-US" sz="1600" kern="0" spc="-80" dirty="0">
                <a:solidFill>
                  <a:schemeClr val="accent6"/>
                </a:solidFill>
              </a:rPr>
              <a:t>Most real breaches happen at Authorization + Business Logic.</a:t>
            </a:r>
          </a:p>
          <a:p>
            <a:pPr marL="12700" marR="5080"/>
            <a:endParaRPr lang="en-US" sz="1600" kern="0" spc="-80" dirty="0">
              <a:solidFill>
                <a:schemeClr val="accent6"/>
              </a:solidFill>
            </a:endParaRPr>
          </a:p>
        </p:txBody>
      </p:sp>
      <p:grpSp>
        <p:nvGrpSpPr>
          <p:cNvPr id="7" name="Group 6">
            <a:extLst>
              <a:ext uri="{FF2B5EF4-FFF2-40B4-BE49-F238E27FC236}">
                <a16:creationId xmlns:a16="http://schemas.microsoft.com/office/drawing/2014/main" id="{BB4E541B-BEDE-A0A0-BAD7-222CADA4587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85F52073-2142-FFE8-0297-117F833D27D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8BADD7F-DF00-DA06-64FA-0130726E185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159114546"/>
      </p:ext>
    </p:extLst>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A8FAF-782D-4272-951C-517EF4CEE41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E4310BD-B6D1-4133-2432-09C7A12567D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EE6645E-C3AF-5EA7-6059-FCB5FA7F93E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A2E40D0-99C3-DEDF-829F-E9149A95B89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B200B43-E421-7658-EB4D-5376999ADF19}"/>
              </a:ext>
            </a:extLst>
          </p:cNvPr>
          <p:cNvSpPr txBox="1">
            <a:spLocks/>
          </p:cNvSpPr>
          <p:nvPr/>
        </p:nvSpPr>
        <p:spPr>
          <a:xfrm>
            <a:off x="76200" y="743664"/>
            <a:ext cx="8624937" cy="50475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API Security</a:t>
            </a:r>
          </a:p>
          <a:p>
            <a:pPr marL="12700" marR="5080"/>
            <a:r>
              <a:rPr lang="en-US" sz="1600" kern="0" spc="-80" dirty="0">
                <a:solidFill>
                  <a:schemeClr val="accent2"/>
                </a:solidFill>
              </a:rPr>
              <a:t>3. Authentication Essentials (Who Are You?)</a:t>
            </a:r>
          </a:p>
          <a:p>
            <a:pPr marL="12700" marR="5080"/>
            <a:r>
              <a:rPr lang="en-US" sz="1600" kern="0" spc="-80" dirty="0">
                <a:solidFill>
                  <a:schemeClr val="accent2"/>
                </a:solidFill>
              </a:rPr>
              <a:t>3.1 API Authentication Methods</a:t>
            </a:r>
          </a:p>
          <a:p>
            <a:pPr marL="12700" marR="5080"/>
            <a:r>
              <a:rPr lang="en-US" sz="1600" kern="0" spc="-80" dirty="0">
                <a:solidFill>
                  <a:schemeClr val="accent2"/>
                </a:solidFill>
              </a:rPr>
              <a:t>🔹 API Keys</a:t>
            </a:r>
          </a:p>
          <a:p>
            <a:pPr marL="12700" marR="5080"/>
            <a:r>
              <a:rPr lang="en-US" sz="1600" kern="0" spc="-80" dirty="0">
                <a:solidFill>
                  <a:schemeClr val="accent6"/>
                </a:solidFill>
              </a:rPr>
              <a:t>❌ Not identity-aware</a:t>
            </a:r>
          </a:p>
          <a:p>
            <a:pPr marL="12700" marR="5080"/>
            <a:r>
              <a:rPr lang="en-US" sz="1600" kern="0" spc="-80" dirty="0">
                <a:solidFill>
                  <a:schemeClr val="accent6"/>
                </a:solidFill>
              </a:rPr>
              <a:t>❌ No user context</a:t>
            </a:r>
          </a:p>
          <a:p>
            <a:pPr marL="12700" marR="5080"/>
            <a:r>
              <a:rPr lang="en-US" sz="1600" kern="0" spc="-80" dirty="0">
                <a:solidFill>
                  <a:schemeClr val="accent6"/>
                </a:solidFill>
              </a:rPr>
              <a:t>❌ Easy to leak</a:t>
            </a:r>
          </a:p>
          <a:p>
            <a:pPr marL="12700" marR="5080"/>
            <a:r>
              <a:rPr lang="en-US" sz="1600" kern="0" spc="-80" dirty="0">
                <a:solidFill>
                  <a:schemeClr val="accent6"/>
                </a:solidFill>
              </a:rPr>
              <a:t>✅ Use only for internal, low-risk services</a:t>
            </a:r>
          </a:p>
          <a:p>
            <a:pPr marL="12700" marR="5080"/>
            <a:r>
              <a:rPr lang="en-US" sz="1600" kern="0" spc="-80" dirty="0">
                <a:solidFill>
                  <a:schemeClr val="accent2"/>
                </a:solidFill>
              </a:rPr>
              <a:t>🔹 OAuth 2.0 (Industry Standard)</a:t>
            </a:r>
          </a:p>
          <a:p>
            <a:pPr marL="12700" marR="5080"/>
            <a:r>
              <a:rPr lang="en-US" sz="1600" kern="0" spc="-80" dirty="0">
                <a:solidFill>
                  <a:schemeClr val="accent2"/>
                </a:solidFill>
              </a:rPr>
              <a:t>Used with:</a:t>
            </a:r>
          </a:p>
          <a:p>
            <a:pPr marL="12700" marR="5080"/>
            <a:r>
              <a:rPr lang="en-US" sz="1600" kern="0" spc="-80" dirty="0">
                <a:solidFill>
                  <a:schemeClr val="accent6"/>
                </a:solidFill>
              </a:rPr>
              <a:t>JWT access tokens</a:t>
            </a:r>
          </a:p>
          <a:p>
            <a:pPr marL="12700" marR="5080"/>
            <a:r>
              <a:rPr lang="en-US" sz="1600" kern="0" spc="-80" dirty="0">
                <a:solidFill>
                  <a:schemeClr val="accent6"/>
                </a:solidFill>
              </a:rPr>
              <a:t>Scopes</a:t>
            </a:r>
          </a:p>
          <a:p>
            <a:pPr marL="12700" marR="5080"/>
            <a:r>
              <a:rPr lang="en-US" sz="1600" kern="0" spc="-80" dirty="0">
                <a:solidFill>
                  <a:schemeClr val="accent6"/>
                </a:solidFill>
              </a:rPr>
              <a:t>Client credentials / auth code flows</a:t>
            </a:r>
          </a:p>
          <a:p>
            <a:pPr marL="12700" marR="5080"/>
            <a:r>
              <a:rPr lang="en-US" sz="1600" kern="0" spc="-80" dirty="0">
                <a:solidFill>
                  <a:schemeClr val="accent2"/>
                </a:solidFill>
              </a:rPr>
              <a:t>Common mistakes:</a:t>
            </a:r>
          </a:p>
          <a:p>
            <a:pPr marL="12700" marR="5080"/>
            <a:r>
              <a:rPr lang="en-US" sz="1600" kern="0" spc="-80" dirty="0">
                <a:solidFill>
                  <a:schemeClr val="accent6"/>
                </a:solidFill>
              </a:rPr>
              <a:t>Long-lived tokens</a:t>
            </a:r>
          </a:p>
          <a:p>
            <a:pPr marL="12700" marR="5080"/>
            <a:r>
              <a:rPr lang="en-US" sz="1600" kern="0" spc="-80" dirty="0">
                <a:solidFill>
                  <a:schemeClr val="accent6"/>
                </a:solidFill>
              </a:rPr>
              <a:t>No audience (</a:t>
            </a:r>
            <a:r>
              <a:rPr lang="en-US" sz="1600" kern="0" spc="-80" dirty="0" err="1">
                <a:solidFill>
                  <a:schemeClr val="accent6"/>
                </a:solidFill>
              </a:rPr>
              <a:t>aud</a:t>
            </a:r>
            <a:r>
              <a:rPr lang="en-US" sz="1600" kern="0" spc="-80" dirty="0">
                <a:solidFill>
                  <a:schemeClr val="accent6"/>
                </a:solidFill>
              </a:rPr>
              <a:t>) validation</a:t>
            </a:r>
          </a:p>
          <a:p>
            <a:pPr marL="12700" marR="5080"/>
            <a:r>
              <a:rPr lang="en-US" sz="1600" kern="0" spc="-80" dirty="0">
                <a:solidFill>
                  <a:schemeClr val="accent6"/>
                </a:solidFill>
              </a:rPr>
              <a:t>Trusting token without verifying signature</a:t>
            </a:r>
          </a:p>
          <a:p>
            <a:pPr marL="12700" marR="5080"/>
            <a:r>
              <a:rPr lang="en-US" sz="1600" kern="0" spc="-80" dirty="0">
                <a:solidFill>
                  <a:schemeClr val="accent2"/>
                </a:solidFill>
              </a:rPr>
              <a:t>🔹 </a:t>
            </a:r>
            <a:r>
              <a:rPr lang="en-US" sz="1600" kern="0" spc="-80" dirty="0" err="1">
                <a:solidFill>
                  <a:schemeClr val="accent2"/>
                </a:solidFill>
              </a:rPr>
              <a:t>mTLS</a:t>
            </a:r>
            <a:r>
              <a:rPr lang="en-US" sz="1600" kern="0" spc="-80" dirty="0">
                <a:solidFill>
                  <a:schemeClr val="accent2"/>
                </a:solidFill>
              </a:rPr>
              <a:t> (Mutual TLS)</a:t>
            </a:r>
          </a:p>
          <a:p>
            <a:pPr marL="12700" marR="5080"/>
            <a:r>
              <a:rPr lang="en-US" sz="1600" kern="0" spc="-80" dirty="0">
                <a:solidFill>
                  <a:schemeClr val="accent6"/>
                </a:solidFill>
              </a:rPr>
              <a:t>Strong service-to-service auth</a:t>
            </a:r>
          </a:p>
          <a:p>
            <a:pPr marL="12700" marR="5080"/>
            <a:r>
              <a:rPr lang="en-US" sz="1600" kern="0" spc="-80" dirty="0">
                <a:solidFill>
                  <a:schemeClr val="accent6"/>
                </a:solidFill>
              </a:rPr>
              <a:t>Certificates = identity</a:t>
            </a:r>
          </a:p>
        </p:txBody>
      </p:sp>
      <p:grpSp>
        <p:nvGrpSpPr>
          <p:cNvPr id="7" name="Group 6">
            <a:extLst>
              <a:ext uri="{FF2B5EF4-FFF2-40B4-BE49-F238E27FC236}">
                <a16:creationId xmlns:a16="http://schemas.microsoft.com/office/drawing/2014/main" id="{A39DF37F-D517-2DF0-EB5E-E9323934F95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8C30D47-9C0D-A414-4FAF-78E83E2AE24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8B36E76-51C6-FFC2-C1CC-C4A83FF0DFE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019965978"/>
      </p:ext>
    </p:extLst>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EFDDA-73EA-38FE-DBC4-8E39A5D8372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E7D785C-8B44-ACE5-AC9D-30A7451E663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CA70070-E479-9932-92A4-7F8C4261FE4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6EE4BA2-D003-7215-4576-1E69906C165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A3C2C2DB-AD0B-9441-A34C-9C9BF5A9C738}"/>
              </a:ext>
            </a:extLst>
          </p:cNvPr>
          <p:cNvSpPr txBox="1">
            <a:spLocks/>
          </p:cNvSpPr>
          <p:nvPr/>
        </p:nvSpPr>
        <p:spPr>
          <a:xfrm>
            <a:off x="76200" y="778907"/>
            <a:ext cx="8624937" cy="45550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API Security</a:t>
            </a:r>
          </a:p>
          <a:p>
            <a:pPr marL="12700" marR="5080"/>
            <a:r>
              <a:rPr lang="en-US" sz="1600" kern="0" spc="-80" dirty="0">
                <a:solidFill>
                  <a:schemeClr val="accent2"/>
                </a:solidFill>
              </a:rPr>
              <a:t>3. Authentication Essentials (Who Are You?)</a:t>
            </a:r>
          </a:p>
          <a:p>
            <a:pPr marL="12700" marR="5080"/>
            <a:r>
              <a:rPr lang="en-US" sz="1600" kern="0" spc="-80" dirty="0">
                <a:solidFill>
                  <a:schemeClr val="accent2"/>
                </a:solidFill>
              </a:rPr>
              <a:t>3.1 API Authentication Methods</a:t>
            </a:r>
          </a:p>
          <a:p>
            <a:pPr marL="12700" marR="5080"/>
            <a:r>
              <a:rPr lang="en-US" sz="1600" kern="0" spc="-80" dirty="0">
                <a:solidFill>
                  <a:schemeClr val="accent2"/>
                </a:solidFill>
              </a:rPr>
              <a:t>🔹 </a:t>
            </a:r>
            <a:r>
              <a:rPr lang="en-US" sz="1600" kern="0" spc="-80" dirty="0" err="1">
                <a:solidFill>
                  <a:schemeClr val="accent2"/>
                </a:solidFill>
              </a:rPr>
              <a:t>mTLS</a:t>
            </a:r>
            <a:r>
              <a:rPr lang="en-US" sz="1600" kern="0" spc="-80" dirty="0">
                <a:solidFill>
                  <a:schemeClr val="accent2"/>
                </a:solidFill>
              </a:rPr>
              <a:t> (Mutual TLS)</a:t>
            </a:r>
          </a:p>
          <a:p>
            <a:pPr marL="12700" marR="5080"/>
            <a:r>
              <a:rPr lang="en-US" sz="1600" kern="0" spc="-80" dirty="0">
                <a:solidFill>
                  <a:schemeClr val="accent6"/>
                </a:solidFill>
              </a:rPr>
              <a:t>Harder operationally but very secure</a:t>
            </a:r>
          </a:p>
          <a:p>
            <a:pPr marL="12700" marR="5080"/>
            <a:r>
              <a:rPr lang="en-US" sz="1600" kern="0" spc="-80" dirty="0">
                <a:solidFill>
                  <a:schemeClr val="accent2"/>
                </a:solidFill>
              </a:rPr>
              <a:t>Best practice</a:t>
            </a:r>
          </a:p>
          <a:p>
            <a:pPr marL="12700" marR="5080"/>
            <a:r>
              <a:rPr lang="en-US" sz="1600" kern="0" spc="-80" dirty="0">
                <a:solidFill>
                  <a:schemeClr val="accent6"/>
                </a:solidFill>
              </a:rPr>
              <a:t>External APIs → OAuth 2.0</a:t>
            </a:r>
          </a:p>
          <a:p>
            <a:pPr marL="12700" marR="5080"/>
            <a:r>
              <a:rPr lang="en-US" sz="1600" kern="0" spc="-80" dirty="0">
                <a:solidFill>
                  <a:schemeClr val="accent6"/>
                </a:solidFill>
              </a:rPr>
              <a:t>Internal microservices → </a:t>
            </a:r>
            <a:r>
              <a:rPr lang="en-US" sz="1600" kern="0" spc="-80" dirty="0" err="1">
                <a:solidFill>
                  <a:schemeClr val="accent6"/>
                </a:solidFill>
              </a:rPr>
              <a:t>mTLS</a:t>
            </a:r>
            <a:r>
              <a:rPr lang="en-US" sz="1600" kern="0" spc="-80" dirty="0">
                <a:solidFill>
                  <a:schemeClr val="accent6"/>
                </a:solidFill>
              </a:rPr>
              <a:t> + short-lived tokens</a:t>
            </a:r>
          </a:p>
          <a:p>
            <a:pPr marL="12700" marR="5080"/>
            <a:endParaRPr lang="en-US" sz="1600" kern="0" spc="-80" dirty="0">
              <a:solidFill>
                <a:schemeClr val="accent6"/>
              </a:solidFill>
            </a:endParaRPr>
          </a:p>
          <a:p>
            <a:pPr marL="12700" marR="5080"/>
            <a:r>
              <a:rPr lang="en-US" sz="1600" kern="0" spc="-80" dirty="0">
                <a:solidFill>
                  <a:schemeClr val="accent2"/>
                </a:solidFill>
              </a:rPr>
              <a:t>3.2 Token Security Checklist</a:t>
            </a:r>
          </a:p>
          <a:p>
            <a:pPr marL="12700" marR="5080"/>
            <a:r>
              <a:rPr lang="en-US" sz="1600" kern="0" spc="-80" dirty="0">
                <a:solidFill>
                  <a:schemeClr val="accent6"/>
                </a:solidFill>
              </a:rPr>
              <a:t>✔ Short expiration (5–15 mins)</a:t>
            </a:r>
          </a:p>
          <a:p>
            <a:pPr marL="12700" marR="5080"/>
            <a:r>
              <a:rPr lang="en-US" sz="1600" kern="0" spc="-80" dirty="0">
                <a:solidFill>
                  <a:schemeClr val="accent6"/>
                </a:solidFill>
              </a:rPr>
              <a:t>✔ Rotate signing keys</a:t>
            </a:r>
          </a:p>
          <a:p>
            <a:pPr marL="12700" marR="5080"/>
            <a:r>
              <a:rPr lang="en-US" sz="1600" kern="0" spc="-80" dirty="0">
                <a:solidFill>
                  <a:schemeClr val="accent2"/>
                </a:solidFill>
              </a:rPr>
              <a:t>✔ Validate:</a:t>
            </a:r>
          </a:p>
          <a:p>
            <a:pPr marL="12700" marR="5080"/>
            <a:r>
              <a:rPr lang="en-US" sz="1600" kern="0" spc="-80" dirty="0">
                <a:solidFill>
                  <a:schemeClr val="accent6"/>
                </a:solidFill>
              </a:rPr>
              <a:t>issuer (</a:t>
            </a:r>
            <a:r>
              <a:rPr lang="en-US" sz="1600" kern="0" spc="-80" dirty="0" err="1">
                <a:solidFill>
                  <a:schemeClr val="accent6"/>
                </a:solidFill>
              </a:rPr>
              <a:t>iss</a:t>
            </a:r>
            <a:r>
              <a:rPr lang="en-US" sz="1600" kern="0" spc="-80" dirty="0">
                <a:solidFill>
                  <a:schemeClr val="accent6"/>
                </a:solidFill>
              </a:rPr>
              <a:t>)</a:t>
            </a:r>
          </a:p>
          <a:p>
            <a:pPr marL="12700" marR="5080"/>
            <a:r>
              <a:rPr lang="en-US" sz="1600" kern="0" spc="-80" dirty="0">
                <a:solidFill>
                  <a:schemeClr val="accent6"/>
                </a:solidFill>
              </a:rPr>
              <a:t>audience (</a:t>
            </a:r>
            <a:r>
              <a:rPr lang="en-US" sz="1600" kern="0" spc="-80" dirty="0" err="1">
                <a:solidFill>
                  <a:schemeClr val="accent6"/>
                </a:solidFill>
              </a:rPr>
              <a:t>aud</a:t>
            </a:r>
            <a:r>
              <a:rPr lang="en-US" sz="1600" kern="0" spc="-80" dirty="0">
                <a:solidFill>
                  <a:schemeClr val="accent6"/>
                </a:solidFill>
              </a:rPr>
              <a:t>)</a:t>
            </a:r>
          </a:p>
          <a:p>
            <a:pPr marL="12700" marR="5080"/>
            <a:r>
              <a:rPr lang="en-US" sz="1600" kern="0" spc="-80" dirty="0">
                <a:solidFill>
                  <a:schemeClr val="accent6"/>
                </a:solidFill>
              </a:rPr>
              <a:t>expiry (exp)</a:t>
            </a:r>
          </a:p>
          <a:p>
            <a:pPr marL="12700" marR="5080"/>
            <a:r>
              <a:rPr lang="en-US" sz="1600" kern="0" spc="-80" dirty="0">
                <a:solidFill>
                  <a:schemeClr val="accent6"/>
                </a:solidFill>
              </a:rPr>
              <a:t>✔ Never trust claims without verification</a:t>
            </a:r>
          </a:p>
          <a:p>
            <a:pPr marL="12700" marR="5080"/>
            <a:endParaRPr lang="en-US" sz="1600" kern="0" spc="-80" dirty="0">
              <a:solidFill>
                <a:schemeClr val="accent6"/>
              </a:solidFill>
            </a:endParaRPr>
          </a:p>
        </p:txBody>
      </p:sp>
      <p:grpSp>
        <p:nvGrpSpPr>
          <p:cNvPr id="7" name="Group 6">
            <a:extLst>
              <a:ext uri="{FF2B5EF4-FFF2-40B4-BE49-F238E27FC236}">
                <a16:creationId xmlns:a16="http://schemas.microsoft.com/office/drawing/2014/main" id="{42DFE364-75E7-5A6C-9B73-834AA2C00E53}"/>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0D696A1-8509-33CA-2DC5-878D08FB3B3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24AFE8F-1968-CA2B-4353-5E38EC6EE95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263034332"/>
      </p:ext>
    </p:extLst>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26DD5-3620-C1D1-1304-A3B8B9BEDC9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5F92321-00FA-D8EE-B713-6D059A9FC65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AD1BB9A-666D-A8F9-EAA4-508D479D370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2D8D948-9785-A4C8-1EBC-9223F5911B4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9751CD1-54E0-A8AF-25DE-FC1616CE86A8}"/>
              </a:ext>
            </a:extLst>
          </p:cNvPr>
          <p:cNvSpPr txBox="1">
            <a:spLocks/>
          </p:cNvSpPr>
          <p:nvPr/>
        </p:nvSpPr>
        <p:spPr>
          <a:xfrm>
            <a:off x="76200" y="778907"/>
            <a:ext cx="8624937" cy="45550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API Security</a:t>
            </a:r>
          </a:p>
          <a:p>
            <a:pPr marL="12700" marR="5080"/>
            <a:r>
              <a:rPr lang="en-US" sz="1600" kern="0" spc="-80" dirty="0">
                <a:solidFill>
                  <a:schemeClr val="accent2"/>
                </a:solidFill>
              </a:rPr>
              <a:t>4. Authorization Essentials (What Can You Do?)</a:t>
            </a:r>
          </a:p>
          <a:p>
            <a:pPr marL="12700" marR="5080"/>
            <a:r>
              <a:rPr lang="en-US" sz="1600" kern="0" spc="-80" dirty="0">
                <a:solidFill>
                  <a:schemeClr val="accent6"/>
                </a:solidFill>
              </a:rPr>
              <a:t>Authentication says “who you are”</a:t>
            </a:r>
          </a:p>
          <a:p>
            <a:pPr marL="12700" marR="5080"/>
            <a:r>
              <a:rPr lang="en-US" sz="1600" kern="0" spc="-80" dirty="0">
                <a:solidFill>
                  <a:schemeClr val="accent6"/>
                </a:solidFill>
              </a:rPr>
              <a:t>Authorization says “what you are allowed to do”</a:t>
            </a:r>
          </a:p>
          <a:p>
            <a:pPr marL="12700" marR="5080"/>
            <a:r>
              <a:rPr lang="en-US" sz="1600" kern="0" spc="-80" dirty="0">
                <a:solidFill>
                  <a:schemeClr val="accent6"/>
                </a:solidFill>
              </a:rPr>
              <a:t>This is OWASP API Top 10 #1 &amp; #3 territory.</a:t>
            </a:r>
          </a:p>
          <a:p>
            <a:pPr marL="12700" marR="5080"/>
            <a:r>
              <a:rPr lang="en-US" sz="1600" kern="0" spc="-80" dirty="0">
                <a:solidFill>
                  <a:schemeClr val="accent2"/>
                </a:solidFill>
              </a:rPr>
              <a:t>4.1 Broken Object Level Authorization (BOLA)</a:t>
            </a:r>
          </a:p>
          <a:p>
            <a:pPr marL="12700" marR="5080"/>
            <a:r>
              <a:rPr lang="en-US" sz="1600" kern="0" spc="-80" dirty="0">
                <a:solidFill>
                  <a:schemeClr val="accent6"/>
                </a:solidFill>
              </a:rPr>
              <a:t>Most common API vulnerability</a:t>
            </a:r>
          </a:p>
          <a:p>
            <a:pPr marL="12700" marR="5080"/>
            <a:r>
              <a:rPr lang="en-US" sz="1600" kern="0" spc="-80" dirty="0">
                <a:solidFill>
                  <a:schemeClr val="accent6"/>
                </a:solidFill>
              </a:rPr>
              <a:t>GET /users/1234</a:t>
            </a:r>
          </a:p>
          <a:p>
            <a:pPr marL="12700" marR="5080"/>
            <a:r>
              <a:rPr lang="en-US" sz="1600" kern="0" spc="-80" dirty="0">
                <a:solidFill>
                  <a:schemeClr val="accent6"/>
                </a:solidFill>
              </a:rPr>
              <a:t>GET /users/5678  ← attacker guesses ID</a:t>
            </a:r>
          </a:p>
          <a:p>
            <a:pPr marL="12700" marR="5080"/>
            <a:r>
              <a:rPr lang="en-US" sz="1600" kern="0" spc="-80" dirty="0">
                <a:solidFill>
                  <a:schemeClr val="accent6"/>
                </a:solidFill>
              </a:rPr>
              <a:t>❌ Backend trusts object ID</a:t>
            </a:r>
          </a:p>
          <a:p>
            <a:pPr marL="12700" marR="5080"/>
            <a:r>
              <a:rPr lang="en-US" sz="1600" kern="0" spc="-80" dirty="0">
                <a:solidFill>
                  <a:schemeClr val="accent6"/>
                </a:solidFill>
              </a:rPr>
              <a:t>✅ Backend checks ownership</a:t>
            </a:r>
          </a:p>
          <a:p>
            <a:pPr marL="12700" marR="5080"/>
            <a:r>
              <a:rPr lang="en-US" sz="1600" kern="0" spc="-80" dirty="0">
                <a:solidFill>
                  <a:schemeClr val="accent2"/>
                </a:solidFill>
              </a:rPr>
              <a:t>Rule</a:t>
            </a:r>
          </a:p>
          <a:p>
            <a:pPr marL="12700" marR="5080"/>
            <a:r>
              <a:rPr lang="en-US" sz="1600" kern="0" spc="-80" dirty="0">
                <a:solidFill>
                  <a:schemeClr val="accent6"/>
                </a:solidFill>
              </a:rPr>
              <a:t>Never trust object IDs from clients</a:t>
            </a:r>
          </a:p>
          <a:p>
            <a:pPr marL="12700" marR="5080"/>
            <a:r>
              <a:rPr lang="en-US" sz="1600" kern="0" spc="-80" dirty="0">
                <a:solidFill>
                  <a:schemeClr val="accent6"/>
                </a:solidFill>
              </a:rPr>
              <a:t>✔ Enforce ownership checks</a:t>
            </a:r>
          </a:p>
          <a:p>
            <a:pPr marL="12700" marR="5080"/>
            <a:r>
              <a:rPr lang="en-US" sz="1600" kern="0" spc="-80" dirty="0">
                <a:solidFill>
                  <a:schemeClr val="accent6"/>
                </a:solidFill>
              </a:rPr>
              <a:t>✔ Use server-derived identifiers</a:t>
            </a:r>
          </a:p>
          <a:p>
            <a:pPr marL="12700" marR="5080"/>
            <a:r>
              <a:rPr lang="en-US" sz="1600" kern="0" spc="-80" dirty="0">
                <a:solidFill>
                  <a:schemeClr val="accent6"/>
                </a:solidFill>
              </a:rPr>
              <a:t>✔ Prefer UUIDs over sequential IDs</a:t>
            </a:r>
          </a:p>
          <a:p>
            <a:pPr marL="12700" marR="5080"/>
            <a:endParaRPr lang="en-US" sz="1600" kern="0" spc="-80" dirty="0">
              <a:solidFill>
                <a:schemeClr val="accent6"/>
              </a:solidFill>
            </a:endParaRPr>
          </a:p>
          <a:p>
            <a:pPr marL="12700" marR="5080"/>
            <a:endParaRPr lang="en-US" sz="1600" kern="0" spc="-80" dirty="0">
              <a:solidFill>
                <a:schemeClr val="accent6"/>
              </a:solidFill>
            </a:endParaRPr>
          </a:p>
        </p:txBody>
      </p:sp>
      <p:grpSp>
        <p:nvGrpSpPr>
          <p:cNvPr id="7" name="Group 6">
            <a:extLst>
              <a:ext uri="{FF2B5EF4-FFF2-40B4-BE49-F238E27FC236}">
                <a16:creationId xmlns:a16="http://schemas.microsoft.com/office/drawing/2014/main" id="{4FD58A75-E8A9-A971-1C29-2F99D17B368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40FE640-ECD1-1C3C-4C64-604C3E379D8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F0EB270D-71C9-2E8C-1CD1-4BD6A6098E0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50180095"/>
      </p:ext>
    </p:extLst>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BB28E-8620-C937-6EB7-2DD45E0DE52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7D788B4-F46A-7082-2B6D-CE3F419C040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FF5BB52-67B3-0165-9EE4-0B26C5307EF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C33321F-6E1D-0E85-1CB7-EAB50E2AF19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1C31228-8FDC-CA18-208F-72107CCC4F39}"/>
              </a:ext>
            </a:extLst>
          </p:cNvPr>
          <p:cNvSpPr txBox="1">
            <a:spLocks/>
          </p:cNvSpPr>
          <p:nvPr/>
        </p:nvSpPr>
        <p:spPr>
          <a:xfrm>
            <a:off x="76200" y="761286"/>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API Security</a:t>
            </a:r>
          </a:p>
          <a:p>
            <a:pPr marL="12700" marR="5080"/>
            <a:r>
              <a:rPr lang="en-US" sz="1600" kern="0" spc="-80" dirty="0">
                <a:solidFill>
                  <a:schemeClr val="accent2"/>
                </a:solidFill>
              </a:rPr>
              <a:t>4. Authorization Essentials (What Can You Do?)</a:t>
            </a:r>
          </a:p>
          <a:p>
            <a:pPr marL="12700" marR="5080"/>
            <a:r>
              <a:rPr lang="en-US" sz="1600" kern="0" spc="-80" dirty="0">
                <a:solidFill>
                  <a:schemeClr val="accent2"/>
                </a:solidFill>
              </a:rPr>
              <a:t>4.2 Broken Function Level Authorization (BFLA)</a:t>
            </a:r>
          </a:p>
          <a:p>
            <a:pPr marL="12700" marR="5080"/>
            <a:r>
              <a:rPr lang="en-US" sz="1600" kern="0" spc="-80" dirty="0">
                <a:solidFill>
                  <a:schemeClr val="accent6"/>
                </a:solidFill>
              </a:rPr>
              <a:t>POST /admin/refund</a:t>
            </a:r>
          </a:p>
          <a:p>
            <a:pPr marL="12700" marR="5080"/>
            <a:r>
              <a:rPr lang="en-US" sz="1600" kern="0" spc="-80" dirty="0">
                <a:solidFill>
                  <a:schemeClr val="accent6"/>
                </a:solidFill>
              </a:rPr>
              <a:t>UI hides it ❌</a:t>
            </a:r>
          </a:p>
          <a:p>
            <a:pPr marL="12700" marR="5080"/>
            <a:r>
              <a:rPr lang="en-US" sz="1600" kern="0" spc="-80" dirty="0">
                <a:solidFill>
                  <a:schemeClr val="accent6"/>
                </a:solidFill>
              </a:rPr>
              <a:t>API doesn’t enforce role ❌❌</a:t>
            </a:r>
          </a:p>
          <a:p>
            <a:pPr marL="12700" marR="5080"/>
            <a:r>
              <a:rPr lang="en-US" sz="1600" kern="0" spc="-80" dirty="0">
                <a:solidFill>
                  <a:schemeClr val="accent6"/>
                </a:solidFill>
              </a:rPr>
              <a:t>✔ Enforce roles in backend</a:t>
            </a:r>
          </a:p>
          <a:p>
            <a:pPr marL="12700" marR="5080"/>
            <a:r>
              <a:rPr lang="en-US" sz="1600" kern="0" spc="-80" dirty="0">
                <a:solidFill>
                  <a:schemeClr val="accent6"/>
                </a:solidFill>
              </a:rPr>
              <a:t>✔ Use policy-based access control</a:t>
            </a:r>
          </a:p>
          <a:p>
            <a:pPr marL="12700" marR="5080"/>
            <a:endParaRPr lang="en-US" sz="1600" kern="0" spc="-80" dirty="0">
              <a:solidFill>
                <a:schemeClr val="accent6"/>
              </a:solidFill>
            </a:endParaRPr>
          </a:p>
          <a:p>
            <a:pPr marL="12700" marR="5080"/>
            <a:r>
              <a:rPr lang="en-US" sz="1600" kern="0" spc="-80" dirty="0">
                <a:solidFill>
                  <a:schemeClr val="accent2"/>
                </a:solidFill>
              </a:rPr>
              <a:t>4.3 Authorization Models</a:t>
            </a:r>
          </a:p>
          <a:p>
            <a:pPr marL="12700" marR="5080"/>
            <a:r>
              <a:rPr lang="en-US" sz="1600" kern="0" spc="-80" dirty="0">
                <a:solidFill>
                  <a:schemeClr val="accent2"/>
                </a:solidFill>
              </a:rPr>
              <a:t>Model	                     Use case</a:t>
            </a:r>
          </a:p>
          <a:p>
            <a:pPr marL="12700" marR="5080"/>
            <a:r>
              <a:rPr lang="en-US" sz="1600" kern="0" spc="-80" dirty="0">
                <a:solidFill>
                  <a:schemeClr val="accent6"/>
                </a:solidFill>
              </a:rPr>
              <a:t>RBAC	                     Simple roles</a:t>
            </a:r>
          </a:p>
          <a:p>
            <a:pPr marL="12700" marR="5080"/>
            <a:r>
              <a:rPr lang="en-US" sz="1600" kern="0" spc="-80" dirty="0">
                <a:solidFill>
                  <a:schemeClr val="accent6"/>
                </a:solidFill>
              </a:rPr>
              <a:t>ABAC	                     Fine-grained (user, resource, context)</a:t>
            </a:r>
          </a:p>
          <a:p>
            <a:pPr marL="12700" marR="5080"/>
            <a:r>
              <a:rPr lang="en-US" sz="1600" kern="0" spc="-80" dirty="0">
                <a:solidFill>
                  <a:schemeClr val="accent6"/>
                </a:solidFill>
              </a:rPr>
              <a:t>ReBAC	                     Social graphs, sharing</a:t>
            </a:r>
          </a:p>
          <a:p>
            <a:pPr marL="12700" marR="5080"/>
            <a:r>
              <a:rPr lang="en-US" sz="1600" kern="0" spc="-80" dirty="0">
                <a:solidFill>
                  <a:schemeClr val="accent6"/>
                </a:solidFill>
              </a:rPr>
              <a:t>Policy-based (OPA)	    Large distributed systems</a:t>
            </a:r>
          </a:p>
          <a:p>
            <a:pPr marL="12700" marR="5080"/>
            <a:endParaRPr lang="en-US" sz="1600" kern="0" spc="-80" dirty="0">
              <a:solidFill>
                <a:schemeClr val="accent6"/>
              </a:solidFill>
            </a:endParaRPr>
          </a:p>
          <a:p>
            <a:pPr marL="12700" marR="5080"/>
            <a:r>
              <a:rPr lang="en-US" sz="1600" kern="0" spc="-80" dirty="0">
                <a:solidFill>
                  <a:schemeClr val="accent2"/>
                </a:solidFill>
              </a:rPr>
              <a:t>Modern APIs</a:t>
            </a:r>
          </a:p>
          <a:p>
            <a:pPr marL="12700" marR="5080"/>
            <a:r>
              <a:rPr lang="en-US" sz="1600" kern="0" spc="-80" dirty="0">
                <a:solidFill>
                  <a:schemeClr val="accent6"/>
                </a:solidFill>
              </a:rPr>
              <a:t>JWT → coarse access</a:t>
            </a:r>
          </a:p>
          <a:p>
            <a:pPr marL="12700" marR="5080"/>
            <a:r>
              <a:rPr lang="en-US" sz="1600" kern="0" spc="-80" dirty="0">
                <a:solidFill>
                  <a:schemeClr val="accent6"/>
                </a:solidFill>
              </a:rPr>
              <a:t>Backend → fine-grained enforcement</a:t>
            </a:r>
          </a:p>
        </p:txBody>
      </p:sp>
      <p:grpSp>
        <p:nvGrpSpPr>
          <p:cNvPr id="7" name="Group 6">
            <a:extLst>
              <a:ext uri="{FF2B5EF4-FFF2-40B4-BE49-F238E27FC236}">
                <a16:creationId xmlns:a16="http://schemas.microsoft.com/office/drawing/2014/main" id="{3A0C2F68-88BA-9ED0-527E-20A323460B3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A9372752-F1E9-9EA7-9FB1-E5B2B292367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CC04E12-5D38-E370-6207-8BAFF34DF48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411455137"/>
      </p:ext>
    </p:extLst>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BBC61-EA01-C84F-7989-B9A5CE34E88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A0309B7-36B9-B0A5-5338-C6427D67249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D3EC27E-1A32-397C-F1E1-C0E46A4B670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C5234F4-E179-D8EB-02DF-690BAC92EED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46572CF-44A3-16C6-0FA8-71E5FD45150B}"/>
              </a:ext>
            </a:extLst>
          </p:cNvPr>
          <p:cNvSpPr txBox="1">
            <a:spLocks/>
          </p:cNvSpPr>
          <p:nvPr/>
        </p:nvSpPr>
        <p:spPr>
          <a:xfrm>
            <a:off x="76200" y="778907"/>
            <a:ext cx="8624937" cy="455509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API Security</a:t>
            </a:r>
          </a:p>
          <a:p>
            <a:pPr marL="12700" marR="5080"/>
            <a:r>
              <a:rPr lang="en-US" sz="1600" kern="0" spc="-80" dirty="0">
                <a:solidFill>
                  <a:schemeClr val="accent2"/>
                </a:solidFill>
              </a:rPr>
              <a:t>5. Input Validation &amp; Injection</a:t>
            </a:r>
          </a:p>
          <a:p>
            <a:pPr marL="12700" marR="5080"/>
            <a:r>
              <a:rPr lang="en-US" sz="1600" kern="0" spc="-80" dirty="0">
                <a:solidFill>
                  <a:schemeClr val="accent2"/>
                </a:solidFill>
              </a:rPr>
              <a:t>5.1 API Injection Types</a:t>
            </a:r>
          </a:p>
          <a:p>
            <a:pPr marL="12700" marR="5080"/>
            <a:r>
              <a:rPr lang="en-US" sz="1600" kern="0" spc="-80" dirty="0">
                <a:solidFill>
                  <a:schemeClr val="accent2"/>
                </a:solidFill>
              </a:rPr>
              <a:t>Type	                                 Example</a:t>
            </a:r>
          </a:p>
          <a:p>
            <a:pPr marL="12700" marR="5080"/>
            <a:r>
              <a:rPr lang="en-US" sz="1600" kern="0" spc="-80" dirty="0">
                <a:solidFill>
                  <a:schemeClr val="accent6"/>
                </a:solidFill>
              </a:rPr>
              <a:t>SQL/NoSQL Injection	Mongo $ne abuse</a:t>
            </a:r>
          </a:p>
          <a:p>
            <a:pPr marL="12700" marR="5080"/>
            <a:r>
              <a:rPr lang="en-US" sz="1600" kern="0" spc="-80" dirty="0">
                <a:solidFill>
                  <a:schemeClr val="accent6"/>
                </a:solidFill>
              </a:rPr>
              <a:t>Command Injection	Shell calls</a:t>
            </a:r>
          </a:p>
          <a:p>
            <a:pPr marL="12700" marR="5080"/>
            <a:r>
              <a:rPr lang="en-US" sz="1600" kern="0" spc="-80" dirty="0">
                <a:solidFill>
                  <a:schemeClr val="accent6"/>
                </a:solidFill>
              </a:rPr>
              <a:t>Mass Assignment	                 Hidden fields overwritten</a:t>
            </a:r>
          </a:p>
          <a:p>
            <a:pPr marL="12700" marR="5080"/>
            <a:r>
              <a:rPr lang="en-US" sz="1600" kern="0" spc="-80" dirty="0">
                <a:solidFill>
                  <a:schemeClr val="accent6"/>
                </a:solidFill>
              </a:rPr>
              <a:t>Deserialization	                 Malicious payloads</a:t>
            </a:r>
          </a:p>
          <a:p>
            <a:pPr marL="12700" marR="5080"/>
            <a:endParaRPr lang="en-US" sz="1600" kern="0" spc="-80" dirty="0">
              <a:solidFill>
                <a:schemeClr val="accent6"/>
              </a:solidFill>
            </a:endParaRPr>
          </a:p>
          <a:p>
            <a:pPr marL="12700" marR="5080"/>
            <a:r>
              <a:rPr lang="en-US" sz="1600" kern="0" spc="-80" dirty="0">
                <a:solidFill>
                  <a:schemeClr val="accent2"/>
                </a:solidFill>
              </a:rPr>
              <a:t>5.2 Mass Assignment (API-Specific)</a:t>
            </a:r>
          </a:p>
          <a:p>
            <a:pPr marL="12700" marR="5080"/>
            <a:r>
              <a:rPr lang="en-US" sz="1600" kern="0" spc="-80" dirty="0">
                <a:solidFill>
                  <a:schemeClr val="accent6"/>
                </a:solidFill>
              </a:rPr>
              <a:t>{</a:t>
            </a:r>
          </a:p>
          <a:p>
            <a:pPr marL="12700" marR="5080"/>
            <a:r>
              <a:rPr lang="en-US" sz="1600" kern="0" spc="-80" dirty="0">
                <a:solidFill>
                  <a:schemeClr val="accent6"/>
                </a:solidFill>
              </a:rPr>
              <a:t>  "email": "x@y.com",</a:t>
            </a:r>
          </a:p>
          <a:p>
            <a:pPr marL="12700" marR="5080"/>
            <a:r>
              <a:rPr lang="en-US" sz="1600" kern="0" spc="-80" dirty="0">
                <a:solidFill>
                  <a:schemeClr val="accent6"/>
                </a:solidFill>
              </a:rPr>
              <a:t>  "</a:t>
            </a:r>
            <a:r>
              <a:rPr lang="en-US" sz="1600" kern="0" spc="-80" dirty="0" err="1">
                <a:solidFill>
                  <a:schemeClr val="accent6"/>
                </a:solidFill>
              </a:rPr>
              <a:t>isAdmin</a:t>
            </a:r>
            <a:r>
              <a:rPr lang="en-US" sz="1600" kern="0" spc="-80" dirty="0">
                <a:solidFill>
                  <a:schemeClr val="accent6"/>
                </a:solidFill>
              </a:rPr>
              <a:t>": true</a:t>
            </a:r>
          </a:p>
          <a:p>
            <a:pPr marL="12700" marR="5080"/>
            <a:r>
              <a:rPr lang="en-US" sz="1600" kern="0" spc="-80" dirty="0">
                <a:solidFill>
                  <a:schemeClr val="accent6"/>
                </a:solidFill>
              </a:rPr>
              <a:t>}</a:t>
            </a:r>
          </a:p>
          <a:p>
            <a:pPr marL="12700" marR="5080"/>
            <a:r>
              <a:rPr lang="en-US" sz="1600" kern="0" spc="-80" dirty="0">
                <a:solidFill>
                  <a:schemeClr val="accent6"/>
                </a:solidFill>
              </a:rPr>
              <a:t>✔ Use allow-lists, not block-lists</a:t>
            </a:r>
          </a:p>
          <a:p>
            <a:pPr marL="12700" marR="5080"/>
            <a:r>
              <a:rPr lang="en-US" sz="1600" kern="0" spc="-80" dirty="0">
                <a:solidFill>
                  <a:schemeClr val="accent6"/>
                </a:solidFill>
              </a:rPr>
              <a:t>✔ Explicit DTOs / schemas</a:t>
            </a:r>
          </a:p>
          <a:p>
            <a:pPr marL="12700" marR="5080"/>
            <a:r>
              <a:rPr lang="en-US" sz="1600" kern="0" spc="-80" dirty="0">
                <a:solidFill>
                  <a:schemeClr val="accent6"/>
                </a:solidFill>
              </a:rPr>
              <a:t>✔ Never bind request directly to domain models</a:t>
            </a:r>
          </a:p>
          <a:p>
            <a:pPr marL="12700" marR="5080"/>
            <a:endParaRPr lang="en-US" sz="1600" kern="0" spc="-80" dirty="0">
              <a:solidFill>
                <a:schemeClr val="accent6"/>
              </a:solidFill>
            </a:endParaRPr>
          </a:p>
        </p:txBody>
      </p:sp>
      <p:grpSp>
        <p:nvGrpSpPr>
          <p:cNvPr id="9" name="Group 8">
            <a:extLst>
              <a:ext uri="{FF2B5EF4-FFF2-40B4-BE49-F238E27FC236}">
                <a16:creationId xmlns:a16="http://schemas.microsoft.com/office/drawing/2014/main" id="{79F981A6-F32C-5026-0FFB-A26D55C21372}"/>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C936990A-5AC0-2D67-CC66-18621533AB3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6C2985B6-D273-126A-7A0B-ACCDF713566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89825408"/>
      </p:ext>
    </p:extLst>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CDC27-B262-6D4C-97FB-83E65F8F263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E2912D1-A8F2-2EB3-2236-719D6B53609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B7B75D1-FC78-F2E4-BE0E-5E314348AED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44BC5EA-3914-4426-058A-4CD31B16F38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AA56FDB-46F9-F435-8849-A5DAD46495ED}"/>
              </a:ext>
            </a:extLst>
          </p:cNvPr>
          <p:cNvSpPr txBox="1">
            <a:spLocks/>
          </p:cNvSpPr>
          <p:nvPr/>
        </p:nvSpPr>
        <p:spPr>
          <a:xfrm>
            <a:off x="76200" y="743664"/>
            <a:ext cx="8624937" cy="50475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API Security</a:t>
            </a:r>
          </a:p>
          <a:p>
            <a:pPr marL="12700" marR="5080"/>
            <a:r>
              <a:rPr lang="en-US" sz="1600" kern="0" spc="-80" dirty="0">
                <a:solidFill>
                  <a:schemeClr val="accent2"/>
                </a:solidFill>
              </a:rPr>
              <a:t>5. Input Validation &amp; Injection</a:t>
            </a:r>
          </a:p>
          <a:p>
            <a:pPr marL="12700" marR="5080"/>
            <a:r>
              <a:rPr lang="en-US" sz="1600" kern="0" spc="-80" dirty="0">
                <a:solidFill>
                  <a:schemeClr val="accent2"/>
                </a:solidFill>
              </a:rPr>
              <a:t>5.3 Schema Validation</a:t>
            </a:r>
          </a:p>
          <a:p>
            <a:pPr marL="12700" marR="5080"/>
            <a:r>
              <a:rPr lang="en-US" sz="1600" kern="0" spc="-80" dirty="0">
                <a:solidFill>
                  <a:schemeClr val="accent2"/>
                </a:solidFill>
              </a:rPr>
              <a:t>Use:</a:t>
            </a:r>
          </a:p>
          <a:p>
            <a:pPr marL="12700" marR="5080"/>
            <a:r>
              <a:rPr lang="en-US" sz="1600" kern="0" spc="-80" dirty="0" err="1">
                <a:solidFill>
                  <a:schemeClr val="accent6"/>
                </a:solidFill>
              </a:rPr>
              <a:t>OpenAPI</a:t>
            </a:r>
            <a:r>
              <a:rPr lang="en-US" sz="1600" kern="0" spc="-80" dirty="0">
                <a:solidFill>
                  <a:schemeClr val="accent6"/>
                </a:solidFill>
              </a:rPr>
              <a:t> / Swagger</a:t>
            </a:r>
          </a:p>
          <a:p>
            <a:pPr marL="12700" marR="5080"/>
            <a:r>
              <a:rPr lang="en-US" sz="1600" kern="0" spc="-80" dirty="0">
                <a:solidFill>
                  <a:schemeClr val="accent6"/>
                </a:solidFill>
              </a:rPr>
              <a:t>JSON Schema</a:t>
            </a:r>
          </a:p>
          <a:p>
            <a:pPr marL="12700" marR="5080"/>
            <a:r>
              <a:rPr lang="en-US" sz="1600" kern="0" spc="-80" dirty="0" err="1">
                <a:solidFill>
                  <a:schemeClr val="accent6"/>
                </a:solidFill>
              </a:rPr>
              <a:t>GraphQL</a:t>
            </a:r>
            <a:r>
              <a:rPr lang="en-US" sz="1600" kern="0" spc="-80" dirty="0">
                <a:solidFill>
                  <a:schemeClr val="accent6"/>
                </a:solidFill>
              </a:rPr>
              <a:t> type enforcement</a:t>
            </a:r>
          </a:p>
          <a:p>
            <a:pPr marL="12700" marR="5080"/>
            <a:r>
              <a:rPr lang="en-US" sz="1600" kern="0" spc="-80" dirty="0">
                <a:solidFill>
                  <a:schemeClr val="accent2"/>
                </a:solidFill>
              </a:rPr>
              <a:t>Validate:</a:t>
            </a:r>
          </a:p>
          <a:p>
            <a:pPr marL="12700" marR="5080"/>
            <a:r>
              <a:rPr lang="en-US" sz="1600" kern="0" spc="-80" dirty="0">
                <a:solidFill>
                  <a:schemeClr val="accent6"/>
                </a:solidFill>
              </a:rPr>
              <a:t>Types</a:t>
            </a:r>
          </a:p>
          <a:p>
            <a:pPr marL="12700" marR="5080"/>
            <a:r>
              <a:rPr lang="en-US" sz="1600" kern="0" spc="-80" dirty="0">
                <a:solidFill>
                  <a:schemeClr val="accent6"/>
                </a:solidFill>
              </a:rPr>
              <a:t>Lengths</a:t>
            </a:r>
          </a:p>
          <a:p>
            <a:pPr marL="12700" marR="5080"/>
            <a:r>
              <a:rPr lang="en-US" sz="1600" kern="0" spc="-80" dirty="0">
                <a:solidFill>
                  <a:schemeClr val="accent6"/>
                </a:solidFill>
              </a:rPr>
              <a:t>Enums</a:t>
            </a:r>
          </a:p>
          <a:p>
            <a:pPr marL="12700" marR="5080"/>
            <a:r>
              <a:rPr lang="en-US" sz="1600" kern="0" spc="-80" dirty="0">
                <a:solidFill>
                  <a:schemeClr val="accent6"/>
                </a:solidFill>
              </a:rPr>
              <a:t>Required fields</a:t>
            </a:r>
          </a:p>
          <a:p>
            <a:pPr marL="12700" marR="5080"/>
            <a:r>
              <a:rPr lang="en-US" sz="1600" kern="0" spc="-80" dirty="0">
                <a:solidFill>
                  <a:schemeClr val="accent2"/>
                </a:solidFill>
              </a:rPr>
              <a:t>6. Business Logic Security (Most Missed)</a:t>
            </a:r>
          </a:p>
          <a:p>
            <a:pPr marL="12700" marR="5080"/>
            <a:r>
              <a:rPr lang="en-US" sz="1600" kern="0" spc="-80" dirty="0">
                <a:solidFill>
                  <a:schemeClr val="accent6"/>
                </a:solidFill>
              </a:rPr>
              <a:t>APIs expose workflows, not just data.</a:t>
            </a:r>
          </a:p>
          <a:p>
            <a:pPr marL="12700" marR="5080"/>
            <a:r>
              <a:rPr lang="en-US" sz="1600" kern="0" spc="-80" dirty="0">
                <a:solidFill>
                  <a:schemeClr val="accent2"/>
                </a:solidFill>
              </a:rPr>
              <a:t>6.1 Common Logic Attacks</a:t>
            </a:r>
          </a:p>
          <a:p>
            <a:pPr marL="12700" marR="5080"/>
            <a:r>
              <a:rPr lang="en-US" sz="1600" kern="0" spc="-80" dirty="0">
                <a:solidFill>
                  <a:schemeClr val="accent2"/>
                </a:solidFill>
              </a:rPr>
              <a:t>Attack	                             Example</a:t>
            </a:r>
          </a:p>
          <a:p>
            <a:pPr marL="12700" marR="5080"/>
            <a:r>
              <a:rPr lang="en-US" sz="1600" kern="0" spc="-80" dirty="0">
                <a:solidFill>
                  <a:schemeClr val="accent6"/>
                </a:solidFill>
              </a:rPr>
              <a:t>Rate abuse	            Unlimited retries</a:t>
            </a:r>
          </a:p>
          <a:p>
            <a:pPr marL="12700" marR="5080"/>
            <a:r>
              <a:rPr lang="en-US" sz="1600" kern="0" spc="-80" dirty="0">
                <a:solidFill>
                  <a:schemeClr val="accent6"/>
                </a:solidFill>
              </a:rPr>
              <a:t>Workflow skipping	            Checkout without payment</a:t>
            </a:r>
          </a:p>
          <a:p>
            <a:pPr marL="12700" marR="5080"/>
            <a:r>
              <a:rPr lang="en-US" sz="1600" kern="0" spc="-80" dirty="0">
                <a:solidFill>
                  <a:schemeClr val="accent6"/>
                </a:solidFill>
              </a:rPr>
              <a:t>Price manipulation	            Client-sent price</a:t>
            </a:r>
          </a:p>
          <a:p>
            <a:pPr marL="12700" marR="5080"/>
            <a:r>
              <a:rPr lang="en-US" sz="1600" kern="0" spc="-80" dirty="0">
                <a:solidFill>
                  <a:schemeClr val="accent6"/>
                </a:solidFill>
              </a:rPr>
              <a:t>Replay attacks	            Reusing valid requests</a:t>
            </a:r>
          </a:p>
        </p:txBody>
      </p:sp>
      <p:grpSp>
        <p:nvGrpSpPr>
          <p:cNvPr id="7" name="Group 6">
            <a:extLst>
              <a:ext uri="{FF2B5EF4-FFF2-40B4-BE49-F238E27FC236}">
                <a16:creationId xmlns:a16="http://schemas.microsoft.com/office/drawing/2014/main" id="{32951CA8-4C2F-66B3-4CD9-A601E372C3E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8713D10-F2A8-8871-EE9B-9F7F5AF00C5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EF5195F-A265-C4F9-315D-091E606BAC1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3161351121"/>
      </p:ext>
    </p:extLst>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C8798-A133-2164-BA95-571176A448E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D25E22E-B631-48A5-7F2D-2F27949E00B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E6A74CF-A809-0E22-088D-CF9DD789053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783C756-D52C-B657-A77F-1121A6E854C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B7D0C8D4-6D3E-927A-0E10-454783F25477}"/>
              </a:ext>
            </a:extLst>
          </p:cNvPr>
          <p:cNvSpPr txBox="1">
            <a:spLocks/>
          </p:cNvSpPr>
          <p:nvPr/>
        </p:nvSpPr>
        <p:spPr>
          <a:xfrm>
            <a:off x="61863" y="743664"/>
            <a:ext cx="8624937" cy="50475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API Security</a:t>
            </a:r>
          </a:p>
          <a:p>
            <a:pPr marL="12700" marR="5080"/>
            <a:r>
              <a:rPr lang="en-US" sz="1600" kern="0" spc="-80" dirty="0">
                <a:solidFill>
                  <a:schemeClr val="accent2"/>
                </a:solidFill>
              </a:rPr>
              <a:t>6. Business Logic Security (Most Missed)</a:t>
            </a:r>
          </a:p>
          <a:p>
            <a:pPr marL="12700" marR="5080"/>
            <a:r>
              <a:rPr lang="en-US" sz="1600" kern="0" spc="-80" dirty="0">
                <a:solidFill>
                  <a:schemeClr val="accent2"/>
                </a:solidFill>
              </a:rPr>
              <a:t>6.1 Common Logic Attacks</a:t>
            </a:r>
          </a:p>
          <a:p>
            <a:pPr marL="12700" marR="5080"/>
            <a:r>
              <a:rPr lang="en-US" sz="1600" kern="0" spc="-80" dirty="0">
                <a:solidFill>
                  <a:schemeClr val="accent6"/>
                </a:solidFill>
              </a:rPr>
              <a:t>✔ Server computes critical values</a:t>
            </a:r>
          </a:p>
          <a:p>
            <a:pPr marL="12700" marR="5080"/>
            <a:r>
              <a:rPr lang="en-US" sz="1600" kern="0" spc="-80" dirty="0">
                <a:solidFill>
                  <a:schemeClr val="accent6"/>
                </a:solidFill>
              </a:rPr>
              <a:t>✔ Enforce state transitions</a:t>
            </a:r>
          </a:p>
          <a:p>
            <a:pPr marL="12700" marR="5080"/>
            <a:r>
              <a:rPr lang="en-US" sz="1600" kern="0" spc="-80" dirty="0">
                <a:solidFill>
                  <a:schemeClr val="accent6"/>
                </a:solidFill>
              </a:rPr>
              <a:t>✔ Use idempotency keys</a:t>
            </a:r>
          </a:p>
          <a:p>
            <a:pPr marL="12700" marR="5080"/>
            <a:endParaRPr lang="en-US" sz="1600" kern="0" spc="-80" dirty="0">
              <a:solidFill>
                <a:schemeClr val="accent6"/>
              </a:solidFill>
            </a:endParaRPr>
          </a:p>
          <a:p>
            <a:pPr marL="12700" marR="5080"/>
            <a:r>
              <a:rPr lang="en-US" sz="1600" kern="0" spc="-80" dirty="0">
                <a:solidFill>
                  <a:schemeClr val="accent2"/>
                </a:solidFill>
              </a:rPr>
              <a:t>6.2 Rate Limiting &amp; Throttling</a:t>
            </a:r>
          </a:p>
          <a:p>
            <a:pPr marL="12700" marR="5080"/>
            <a:r>
              <a:rPr lang="en-US" sz="1600" kern="0" spc="-80" dirty="0">
                <a:solidFill>
                  <a:schemeClr val="accent2"/>
                </a:solidFill>
              </a:rPr>
              <a:t>Apply per:</a:t>
            </a:r>
          </a:p>
          <a:p>
            <a:pPr marL="12700" marR="5080"/>
            <a:r>
              <a:rPr lang="en-US" sz="1600" kern="0" spc="-80" dirty="0">
                <a:solidFill>
                  <a:schemeClr val="accent6"/>
                </a:solidFill>
              </a:rPr>
              <a:t>IP</a:t>
            </a:r>
          </a:p>
          <a:p>
            <a:pPr marL="12700" marR="5080"/>
            <a:r>
              <a:rPr lang="en-US" sz="1600" kern="0" spc="-80" dirty="0">
                <a:solidFill>
                  <a:schemeClr val="accent6"/>
                </a:solidFill>
              </a:rPr>
              <a:t>User</a:t>
            </a:r>
          </a:p>
          <a:p>
            <a:pPr marL="12700" marR="5080"/>
            <a:r>
              <a:rPr lang="en-US" sz="1600" kern="0" spc="-80" dirty="0">
                <a:solidFill>
                  <a:schemeClr val="accent6"/>
                </a:solidFill>
              </a:rPr>
              <a:t>Token</a:t>
            </a:r>
          </a:p>
          <a:p>
            <a:pPr marL="12700" marR="5080"/>
            <a:r>
              <a:rPr lang="en-US" sz="1600" kern="0" spc="-80" dirty="0">
                <a:solidFill>
                  <a:schemeClr val="accent6"/>
                </a:solidFill>
              </a:rPr>
              <a:t>Endpoint</a:t>
            </a:r>
          </a:p>
          <a:p>
            <a:pPr marL="12700" marR="5080"/>
            <a:r>
              <a:rPr lang="en-US" sz="1600" kern="0" spc="-80" dirty="0">
                <a:solidFill>
                  <a:schemeClr val="accent2"/>
                </a:solidFill>
              </a:rPr>
              <a:t>Techniques:</a:t>
            </a:r>
          </a:p>
          <a:p>
            <a:pPr marL="12700" marR="5080"/>
            <a:r>
              <a:rPr lang="en-US" sz="1600" kern="0" spc="-80" dirty="0">
                <a:solidFill>
                  <a:schemeClr val="accent6"/>
                </a:solidFill>
              </a:rPr>
              <a:t>Token bucket</a:t>
            </a:r>
          </a:p>
          <a:p>
            <a:pPr marL="12700" marR="5080"/>
            <a:r>
              <a:rPr lang="en-US" sz="1600" kern="0" spc="-80" dirty="0">
                <a:solidFill>
                  <a:schemeClr val="accent6"/>
                </a:solidFill>
              </a:rPr>
              <a:t>Leaky bucket</a:t>
            </a:r>
          </a:p>
          <a:p>
            <a:pPr marL="12700" marR="5080"/>
            <a:r>
              <a:rPr lang="en-US" sz="1600" kern="0" spc="-80" dirty="0">
                <a:solidFill>
                  <a:schemeClr val="accent6"/>
                </a:solidFill>
              </a:rPr>
              <a:t>Sliding window</a:t>
            </a:r>
          </a:p>
          <a:p>
            <a:pPr marL="12700" marR="5080"/>
            <a:r>
              <a:rPr lang="en-US" sz="1600" kern="0" spc="-80" dirty="0">
                <a:solidFill>
                  <a:schemeClr val="accent2"/>
                </a:solidFill>
              </a:rPr>
              <a:t>Important</a:t>
            </a:r>
          </a:p>
          <a:p>
            <a:pPr marL="12700" marR="5080"/>
            <a:r>
              <a:rPr lang="en-US" sz="1600" kern="0" spc="-80" dirty="0">
                <a:solidFill>
                  <a:schemeClr val="accent6"/>
                </a:solidFill>
              </a:rPr>
              <a:t>Rate limit even authenticated users</a:t>
            </a:r>
          </a:p>
          <a:p>
            <a:pPr marL="12700" marR="5080"/>
            <a:r>
              <a:rPr lang="en-US" sz="1600" kern="0" spc="-80" dirty="0">
                <a:solidFill>
                  <a:schemeClr val="accent6"/>
                </a:solidFill>
              </a:rPr>
              <a:t>Different limits per endpoint</a:t>
            </a:r>
          </a:p>
        </p:txBody>
      </p:sp>
      <p:grpSp>
        <p:nvGrpSpPr>
          <p:cNvPr id="7" name="Group 6">
            <a:extLst>
              <a:ext uri="{FF2B5EF4-FFF2-40B4-BE49-F238E27FC236}">
                <a16:creationId xmlns:a16="http://schemas.microsoft.com/office/drawing/2014/main" id="{947FD3AC-2BC5-2FC3-7B91-67DE37168FB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D1F4D2E-FEDF-F928-E024-46455DB05E14}"/>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82D16153-07FA-99F8-1704-770B527B951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596313933"/>
      </p:ext>
    </p:extLst>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E2EE7-EBF3-6B10-08DE-8827C466C0C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DA152BA-A5AA-1275-BEDF-1B01E625DCE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050DF75-D80C-501A-B767-9E071840A0A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458698C-CE74-F08E-0DBD-70442008C4F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D9924A8-36E8-DC4B-5E12-6CBACDD5D668}"/>
              </a:ext>
            </a:extLst>
          </p:cNvPr>
          <p:cNvSpPr txBox="1">
            <a:spLocks/>
          </p:cNvSpPr>
          <p:nvPr/>
        </p:nvSpPr>
        <p:spPr>
          <a:xfrm>
            <a:off x="76200" y="802243"/>
            <a:ext cx="8624937" cy="52937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API Security</a:t>
            </a:r>
          </a:p>
          <a:p>
            <a:pPr marL="12700" marR="5080"/>
            <a:r>
              <a:rPr lang="en-US" sz="1600" kern="0" spc="-80" dirty="0">
                <a:solidFill>
                  <a:schemeClr val="accent2"/>
                </a:solidFill>
              </a:rPr>
              <a:t>7. Data Exposure &amp; Privacy</a:t>
            </a:r>
          </a:p>
          <a:p>
            <a:pPr marL="12700" marR="5080"/>
            <a:r>
              <a:rPr lang="en-US" sz="1600" kern="0" spc="-80" dirty="0">
                <a:solidFill>
                  <a:schemeClr val="accent2"/>
                </a:solidFill>
              </a:rPr>
              <a:t>7.1 Excessive Data Exposure</a:t>
            </a:r>
          </a:p>
          <a:p>
            <a:pPr marL="12700" marR="5080"/>
            <a:r>
              <a:rPr lang="en-US" sz="1600" kern="0" spc="-80" dirty="0">
                <a:solidFill>
                  <a:schemeClr val="accent6"/>
                </a:solidFill>
              </a:rPr>
              <a:t>{</a:t>
            </a:r>
          </a:p>
          <a:p>
            <a:pPr marL="12700" marR="5080"/>
            <a:r>
              <a:rPr lang="en-US" sz="1600" kern="0" spc="-80" dirty="0">
                <a:solidFill>
                  <a:schemeClr val="accent6"/>
                </a:solidFill>
              </a:rPr>
              <a:t>  "id": 1,</a:t>
            </a:r>
          </a:p>
          <a:p>
            <a:pPr marL="12700" marR="5080"/>
            <a:r>
              <a:rPr lang="en-US" sz="1600" kern="0" spc="-80" dirty="0">
                <a:solidFill>
                  <a:schemeClr val="accent6"/>
                </a:solidFill>
              </a:rPr>
              <a:t>  "email": "...",</a:t>
            </a:r>
          </a:p>
          <a:p>
            <a:pPr marL="12700" marR="5080"/>
            <a:r>
              <a:rPr lang="en-US" sz="1600" kern="0" spc="-80" dirty="0">
                <a:solidFill>
                  <a:schemeClr val="accent6"/>
                </a:solidFill>
              </a:rPr>
              <a:t>  "</a:t>
            </a:r>
            <a:r>
              <a:rPr lang="en-US" sz="1600" kern="0" spc="-80" dirty="0" err="1">
                <a:solidFill>
                  <a:schemeClr val="accent6"/>
                </a:solidFill>
              </a:rPr>
              <a:t>passwordHash</a:t>
            </a:r>
            <a:r>
              <a:rPr lang="en-US" sz="1600" kern="0" spc="-80" dirty="0">
                <a:solidFill>
                  <a:schemeClr val="accent6"/>
                </a:solidFill>
              </a:rPr>
              <a:t>": "...",</a:t>
            </a:r>
          </a:p>
          <a:p>
            <a:pPr marL="12700" marR="5080"/>
            <a:r>
              <a:rPr lang="en-US" sz="1600" kern="0" spc="-80" dirty="0">
                <a:solidFill>
                  <a:schemeClr val="accent6"/>
                </a:solidFill>
              </a:rPr>
              <a:t>  "</a:t>
            </a:r>
            <a:r>
              <a:rPr lang="en-US" sz="1600" kern="0" spc="-80" dirty="0" err="1">
                <a:solidFill>
                  <a:schemeClr val="accent6"/>
                </a:solidFill>
              </a:rPr>
              <a:t>internalFlags</a:t>
            </a:r>
            <a:r>
              <a:rPr lang="en-US" sz="1600" kern="0" spc="-80" dirty="0">
                <a:solidFill>
                  <a:schemeClr val="accent6"/>
                </a:solidFill>
              </a:rPr>
              <a:t>": ...</a:t>
            </a:r>
          </a:p>
          <a:p>
            <a:pPr marL="12700" marR="5080"/>
            <a:r>
              <a:rPr lang="en-US" sz="1600" kern="0" spc="-80" dirty="0">
                <a:solidFill>
                  <a:schemeClr val="accent6"/>
                </a:solidFill>
              </a:rPr>
              <a:t>}</a:t>
            </a:r>
          </a:p>
          <a:p>
            <a:pPr marL="12700" marR="5080"/>
            <a:r>
              <a:rPr lang="en-US" sz="1600" kern="0" spc="-80" dirty="0">
                <a:solidFill>
                  <a:schemeClr val="accent6"/>
                </a:solidFill>
              </a:rPr>
              <a:t>✔ Design response models</a:t>
            </a:r>
          </a:p>
          <a:p>
            <a:pPr marL="12700" marR="5080"/>
            <a:r>
              <a:rPr lang="en-US" sz="1600" kern="0" spc="-80" dirty="0">
                <a:solidFill>
                  <a:schemeClr val="accent6"/>
                </a:solidFill>
              </a:rPr>
              <a:t>✔ Never return domain objects directly</a:t>
            </a:r>
          </a:p>
          <a:p>
            <a:pPr marL="12700" marR="5080"/>
            <a:r>
              <a:rPr lang="en-US" sz="1600" kern="0" spc="-80" dirty="0">
                <a:solidFill>
                  <a:schemeClr val="accent6"/>
                </a:solidFill>
              </a:rPr>
              <a:t>✔ Version responses carefully</a:t>
            </a:r>
          </a:p>
          <a:p>
            <a:pPr marL="12700" marR="5080"/>
            <a:r>
              <a:rPr lang="en-US" sz="1600" kern="0" spc="-80" dirty="0">
                <a:solidFill>
                  <a:schemeClr val="accent2"/>
                </a:solidFill>
              </a:rPr>
              <a:t>7.2 Sensitive Data Protection</a:t>
            </a:r>
          </a:p>
          <a:p>
            <a:pPr marL="12700" marR="5080"/>
            <a:r>
              <a:rPr lang="en-US" sz="1600" kern="0" spc="-80" dirty="0">
                <a:solidFill>
                  <a:schemeClr val="accent6"/>
                </a:solidFill>
              </a:rPr>
              <a:t>✔ TLS everywhere</a:t>
            </a:r>
          </a:p>
          <a:p>
            <a:pPr marL="12700" marR="5080"/>
            <a:r>
              <a:rPr lang="en-US" sz="1600" kern="0" spc="-80" dirty="0">
                <a:solidFill>
                  <a:schemeClr val="accent6"/>
                </a:solidFill>
              </a:rPr>
              <a:t>✔ Encrypt data at rest</a:t>
            </a:r>
          </a:p>
          <a:p>
            <a:pPr marL="12700" marR="5080"/>
            <a:r>
              <a:rPr lang="en-US" sz="1600" kern="0" spc="-80" dirty="0">
                <a:solidFill>
                  <a:schemeClr val="accent6"/>
                </a:solidFill>
              </a:rPr>
              <a:t>✔ Field-level encryption for:</a:t>
            </a:r>
          </a:p>
          <a:p>
            <a:pPr marL="12700" marR="5080"/>
            <a:r>
              <a:rPr lang="en-US" sz="1600" kern="0" spc="-80" dirty="0">
                <a:solidFill>
                  <a:schemeClr val="accent6"/>
                </a:solidFill>
              </a:rPr>
              <a:t>PAN</a:t>
            </a:r>
          </a:p>
          <a:p>
            <a:pPr marL="12700" marR="5080"/>
            <a:r>
              <a:rPr lang="en-US" sz="1600" kern="0" spc="-80" dirty="0">
                <a:solidFill>
                  <a:schemeClr val="accent6"/>
                </a:solidFill>
              </a:rPr>
              <a:t>Aadhaar / SSN</a:t>
            </a:r>
          </a:p>
          <a:p>
            <a:pPr marL="12700" marR="5080"/>
            <a:r>
              <a:rPr lang="en-US" sz="1600" kern="0" spc="-80" dirty="0">
                <a:solidFill>
                  <a:schemeClr val="accent6"/>
                </a:solidFill>
              </a:rPr>
              <a:t>Tokens</a:t>
            </a:r>
          </a:p>
          <a:p>
            <a:pPr marL="12700" marR="5080"/>
            <a:r>
              <a:rPr lang="en-US" sz="1600" kern="0" spc="-80" dirty="0">
                <a:solidFill>
                  <a:schemeClr val="accent6"/>
                </a:solidFill>
              </a:rPr>
              <a:t>✔ Mask logs (never log secrets)</a:t>
            </a:r>
          </a:p>
          <a:p>
            <a:pPr marL="12700" marR="5080"/>
            <a:endParaRPr lang="en-US" sz="1600" kern="0" spc="-80" dirty="0">
              <a:solidFill>
                <a:schemeClr val="accent6"/>
              </a:solidFill>
            </a:endParaRPr>
          </a:p>
        </p:txBody>
      </p:sp>
      <p:grpSp>
        <p:nvGrpSpPr>
          <p:cNvPr id="7" name="Group 6">
            <a:extLst>
              <a:ext uri="{FF2B5EF4-FFF2-40B4-BE49-F238E27FC236}">
                <a16:creationId xmlns:a16="http://schemas.microsoft.com/office/drawing/2014/main" id="{618A443B-C7AF-0ED4-676E-A1452C7112CE}"/>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CFC6896-D154-3BD2-EDF0-01E8A01DBBE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33A62D3A-04CD-20AB-96E2-AD0A1C7FD53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44625056"/>
      </p:ext>
    </p:extLst>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4B7E3-4867-CB05-4956-8A2106566E2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C607062-E07B-B623-151A-05011A5D137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8867209-9BE1-24F2-B8D4-63CA3BE1D27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CDB3BD6-62D7-5DB3-82E4-AE09B8D1B6A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F378FFA-B109-1B70-F5BF-AA16203236F8}"/>
              </a:ext>
            </a:extLst>
          </p:cNvPr>
          <p:cNvSpPr txBox="1">
            <a:spLocks/>
          </p:cNvSpPr>
          <p:nvPr/>
        </p:nvSpPr>
        <p:spPr>
          <a:xfrm>
            <a:off x="76200" y="743664"/>
            <a:ext cx="8624937" cy="50475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API Security</a:t>
            </a:r>
          </a:p>
          <a:p>
            <a:pPr marL="12700" marR="5080"/>
            <a:r>
              <a:rPr lang="en-US" sz="1600" kern="0" spc="-80" dirty="0">
                <a:solidFill>
                  <a:schemeClr val="accent2"/>
                </a:solidFill>
              </a:rPr>
              <a:t>8. API Security in Microservices &amp; Cloud</a:t>
            </a:r>
          </a:p>
          <a:p>
            <a:pPr marL="12700" marR="5080"/>
            <a:r>
              <a:rPr lang="en-US" sz="1600" kern="0" spc="-80" dirty="0">
                <a:solidFill>
                  <a:schemeClr val="accent2"/>
                </a:solidFill>
              </a:rPr>
              <a:t>8.1 Service-to-Service Security</a:t>
            </a:r>
          </a:p>
          <a:p>
            <a:pPr marL="12700" marR="5080"/>
            <a:r>
              <a:rPr lang="en-US" sz="1600" kern="0" spc="-80" dirty="0">
                <a:solidFill>
                  <a:schemeClr val="accent6"/>
                </a:solidFill>
              </a:rPr>
              <a:t>✔ </a:t>
            </a:r>
            <a:r>
              <a:rPr lang="en-US" sz="1600" kern="0" spc="-80" dirty="0" err="1">
                <a:solidFill>
                  <a:schemeClr val="accent6"/>
                </a:solidFill>
              </a:rPr>
              <a:t>mTLS</a:t>
            </a:r>
            <a:endParaRPr lang="en-US" sz="1600" kern="0" spc="-80" dirty="0">
              <a:solidFill>
                <a:schemeClr val="accent6"/>
              </a:solidFill>
            </a:endParaRPr>
          </a:p>
          <a:p>
            <a:pPr marL="12700" marR="5080"/>
            <a:r>
              <a:rPr lang="en-US" sz="1600" kern="0" spc="-80" dirty="0">
                <a:solidFill>
                  <a:schemeClr val="accent6"/>
                </a:solidFill>
              </a:rPr>
              <a:t>✔ Zero Trust networking</a:t>
            </a:r>
          </a:p>
          <a:p>
            <a:pPr marL="12700" marR="5080"/>
            <a:r>
              <a:rPr lang="en-US" sz="1600" kern="0" spc="-80" dirty="0">
                <a:solidFill>
                  <a:schemeClr val="accent6"/>
                </a:solidFill>
              </a:rPr>
              <a:t>✔ No implicit trust based on network</a:t>
            </a:r>
          </a:p>
          <a:p>
            <a:pPr marL="12700" marR="5080"/>
            <a:r>
              <a:rPr lang="en-US" sz="1600" kern="0" spc="-80" dirty="0">
                <a:solidFill>
                  <a:schemeClr val="accent2"/>
                </a:solidFill>
              </a:rPr>
              <a:t>8.2 API Gateways</a:t>
            </a:r>
          </a:p>
          <a:p>
            <a:pPr marL="12700" marR="5080"/>
            <a:r>
              <a:rPr lang="en-US" sz="1600" kern="0" spc="-80" dirty="0">
                <a:solidFill>
                  <a:schemeClr val="accent2"/>
                </a:solidFill>
              </a:rPr>
              <a:t>Gateways handle:</a:t>
            </a:r>
          </a:p>
          <a:p>
            <a:pPr marL="12700" marR="5080"/>
            <a:r>
              <a:rPr lang="en-US" sz="1600" kern="0" spc="-80" dirty="0">
                <a:solidFill>
                  <a:schemeClr val="accent6"/>
                </a:solidFill>
              </a:rPr>
              <a:t>Auth</a:t>
            </a:r>
          </a:p>
          <a:p>
            <a:pPr marL="12700" marR="5080"/>
            <a:r>
              <a:rPr lang="en-US" sz="1600" kern="0" spc="-80" dirty="0">
                <a:solidFill>
                  <a:schemeClr val="accent6"/>
                </a:solidFill>
              </a:rPr>
              <a:t>Rate limiting</a:t>
            </a:r>
          </a:p>
          <a:p>
            <a:pPr marL="12700" marR="5080"/>
            <a:r>
              <a:rPr lang="en-US" sz="1600" kern="0" spc="-80" dirty="0">
                <a:solidFill>
                  <a:schemeClr val="accent6"/>
                </a:solidFill>
              </a:rPr>
              <a:t>Schema validation</a:t>
            </a:r>
          </a:p>
          <a:p>
            <a:pPr marL="12700" marR="5080"/>
            <a:r>
              <a:rPr lang="en-US" sz="1600" kern="0" spc="-80" dirty="0">
                <a:solidFill>
                  <a:schemeClr val="accent6"/>
                </a:solidFill>
              </a:rPr>
              <a:t>WAF rules</a:t>
            </a:r>
          </a:p>
          <a:p>
            <a:pPr marL="12700" marR="5080"/>
            <a:r>
              <a:rPr lang="en-US" sz="1600" kern="0" spc="-80" dirty="0">
                <a:solidFill>
                  <a:schemeClr val="accent2"/>
                </a:solidFill>
              </a:rPr>
              <a:t>But ❗</a:t>
            </a:r>
          </a:p>
          <a:p>
            <a:pPr marL="12700" marR="5080"/>
            <a:r>
              <a:rPr lang="en-US" sz="1600" kern="0" spc="-80" dirty="0">
                <a:solidFill>
                  <a:schemeClr val="accent6"/>
                </a:solidFill>
              </a:rPr>
              <a:t>Gateways do NOT replace backend authorization</a:t>
            </a:r>
          </a:p>
          <a:p>
            <a:pPr marL="12700" marR="5080"/>
            <a:endParaRPr lang="en-US" sz="1600" kern="0" spc="-80" dirty="0">
              <a:solidFill>
                <a:schemeClr val="accent6"/>
              </a:solidFill>
            </a:endParaRPr>
          </a:p>
          <a:p>
            <a:pPr marL="12700" marR="5080"/>
            <a:r>
              <a:rPr lang="en-US" sz="1600" kern="0" spc="-80" dirty="0">
                <a:solidFill>
                  <a:schemeClr val="accent2"/>
                </a:solidFill>
              </a:rPr>
              <a:t>9. Monitoring, Logging &amp; Detection</a:t>
            </a:r>
          </a:p>
          <a:p>
            <a:pPr marL="12700" marR="5080"/>
            <a:r>
              <a:rPr lang="en-US" sz="1600" kern="0" spc="-80" dirty="0">
                <a:solidFill>
                  <a:schemeClr val="accent2"/>
                </a:solidFill>
              </a:rPr>
              <a:t>✔ Log:</a:t>
            </a:r>
          </a:p>
          <a:p>
            <a:pPr marL="12700" marR="5080"/>
            <a:r>
              <a:rPr lang="en-US" sz="1600" kern="0" spc="-80" dirty="0">
                <a:solidFill>
                  <a:schemeClr val="accent6"/>
                </a:solidFill>
              </a:rPr>
              <a:t>Auth failures</a:t>
            </a:r>
          </a:p>
          <a:p>
            <a:pPr marL="12700" marR="5080"/>
            <a:r>
              <a:rPr lang="en-US" sz="1600" kern="0" spc="-80" dirty="0">
                <a:solidFill>
                  <a:schemeClr val="accent6"/>
                </a:solidFill>
              </a:rPr>
              <a:t>Authorization denials</a:t>
            </a:r>
          </a:p>
          <a:p>
            <a:pPr marL="12700" marR="5080"/>
            <a:r>
              <a:rPr lang="en-US" sz="1600" kern="0" spc="-80" dirty="0">
                <a:solidFill>
                  <a:schemeClr val="accent6"/>
                </a:solidFill>
              </a:rPr>
              <a:t>High error rates</a:t>
            </a:r>
          </a:p>
        </p:txBody>
      </p:sp>
      <p:grpSp>
        <p:nvGrpSpPr>
          <p:cNvPr id="7" name="Group 6">
            <a:extLst>
              <a:ext uri="{FF2B5EF4-FFF2-40B4-BE49-F238E27FC236}">
                <a16:creationId xmlns:a16="http://schemas.microsoft.com/office/drawing/2014/main" id="{49C92EBD-BB86-0E48-B394-12484C2EC974}"/>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F34AC529-1DB1-C91E-0EB3-F6A49DD4518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81C770CE-A974-A19C-FD9B-B3A92378E55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1950400048"/>
      </p:ext>
    </p:extLst>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03941-B531-4DCD-B38B-0AB82568D56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B18B24E-8957-E5FB-091B-29BF1173105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7225E33-24F9-FB61-56D6-0448F55A86A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28E36F9-9815-C3C4-976A-D091213B9DB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C5CA936-42C1-15BF-E3F6-26CFC37ECD33}"/>
              </a:ext>
            </a:extLst>
          </p:cNvPr>
          <p:cNvSpPr txBox="1">
            <a:spLocks/>
          </p:cNvSpPr>
          <p:nvPr/>
        </p:nvSpPr>
        <p:spPr>
          <a:xfrm>
            <a:off x="76200" y="743664"/>
            <a:ext cx="8624937" cy="50475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API Security</a:t>
            </a:r>
          </a:p>
          <a:p>
            <a:pPr marL="12700" marR="5080"/>
            <a:r>
              <a:rPr lang="en-US" sz="1600" kern="0" spc="-80" dirty="0">
                <a:solidFill>
                  <a:schemeClr val="accent2"/>
                </a:solidFill>
              </a:rPr>
              <a:t>9. Monitoring, Logging &amp; Detection</a:t>
            </a:r>
          </a:p>
          <a:p>
            <a:pPr marL="12700" marR="5080"/>
            <a:r>
              <a:rPr lang="en-US" sz="1600" kern="0" spc="-80" dirty="0">
                <a:solidFill>
                  <a:schemeClr val="accent2"/>
                </a:solidFill>
              </a:rPr>
              <a:t>✔ Log:</a:t>
            </a:r>
          </a:p>
          <a:p>
            <a:pPr marL="12700" marR="5080"/>
            <a:r>
              <a:rPr lang="en-US" sz="1600" kern="0" spc="-80" dirty="0">
                <a:solidFill>
                  <a:schemeClr val="accent6"/>
                </a:solidFill>
              </a:rPr>
              <a:t>Unusual access patterns</a:t>
            </a:r>
          </a:p>
          <a:p>
            <a:pPr marL="12700" marR="5080"/>
            <a:r>
              <a:rPr lang="en-US" sz="1600" kern="0" spc="-80" dirty="0">
                <a:solidFill>
                  <a:schemeClr val="accent2"/>
                </a:solidFill>
              </a:rPr>
              <a:t>✔ Detect:</a:t>
            </a:r>
          </a:p>
          <a:p>
            <a:pPr marL="12700" marR="5080"/>
            <a:r>
              <a:rPr lang="en-US" sz="1600" kern="0" spc="-80" dirty="0">
                <a:solidFill>
                  <a:schemeClr val="accent6"/>
                </a:solidFill>
              </a:rPr>
              <a:t>Credential stuffing</a:t>
            </a:r>
          </a:p>
          <a:p>
            <a:pPr marL="12700" marR="5080"/>
            <a:r>
              <a:rPr lang="en-US" sz="1600" kern="0" spc="-80" dirty="0">
                <a:solidFill>
                  <a:schemeClr val="accent6"/>
                </a:solidFill>
              </a:rPr>
              <a:t>Enumeration</a:t>
            </a:r>
          </a:p>
          <a:p>
            <a:pPr marL="12700" marR="5080"/>
            <a:r>
              <a:rPr lang="en-US" sz="1600" kern="0" spc="-80" dirty="0">
                <a:solidFill>
                  <a:schemeClr val="accent6"/>
                </a:solidFill>
              </a:rPr>
              <a:t>Token abuse</a:t>
            </a:r>
          </a:p>
          <a:p>
            <a:pPr marL="12700" marR="5080"/>
            <a:r>
              <a:rPr lang="en-US" sz="1600" kern="0" spc="-80" dirty="0">
                <a:solidFill>
                  <a:schemeClr val="accent2"/>
                </a:solidFill>
              </a:rPr>
              <a:t>Use:</a:t>
            </a:r>
          </a:p>
          <a:p>
            <a:pPr marL="12700" marR="5080"/>
            <a:r>
              <a:rPr lang="en-US" sz="1600" kern="0" spc="-80" dirty="0">
                <a:solidFill>
                  <a:schemeClr val="accent6"/>
                </a:solidFill>
              </a:rPr>
              <a:t>SIEM</a:t>
            </a:r>
          </a:p>
          <a:p>
            <a:pPr marL="12700" marR="5080"/>
            <a:r>
              <a:rPr lang="en-US" sz="1600" kern="0" spc="-80" dirty="0">
                <a:solidFill>
                  <a:schemeClr val="accent6"/>
                </a:solidFill>
              </a:rPr>
              <a:t>API security platforms</a:t>
            </a:r>
          </a:p>
          <a:p>
            <a:pPr marL="12700" marR="5080"/>
            <a:r>
              <a:rPr lang="en-US" sz="1600" kern="0" spc="-80" dirty="0">
                <a:solidFill>
                  <a:schemeClr val="accent6"/>
                </a:solidFill>
              </a:rPr>
              <a:t>Anomaly detection</a:t>
            </a:r>
          </a:p>
          <a:p>
            <a:pPr marL="12700" marR="5080"/>
            <a:endParaRPr lang="en-US" sz="1600" kern="0" spc="-80" dirty="0">
              <a:solidFill>
                <a:schemeClr val="accent6"/>
              </a:solidFill>
            </a:endParaRPr>
          </a:p>
          <a:p>
            <a:pPr marL="12700" marR="5080"/>
            <a:r>
              <a:rPr lang="en-US" sz="1600" kern="0" spc="-80" dirty="0">
                <a:solidFill>
                  <a:schemeClr val="accent2"/>
                </a:solidFill>
              </a:rPr>
              <a:t>10. OWASP API Top 10 (Mapped)</a:t>
            </a:r>
          </a:p>
          <a:p>
            <a:pPr marL="12700" marR="5080"/>
            <a:r>
              <a:rPr lang="en-US" sz="1600" kern="0" spc="-80" dirty="0">
                <a:solidFill>
                  <a:schemeClr val="accent2"/>
                </a:solidFill>
              </a:rPr>
              <a:t>OWASP Risk	                Core Fix</a:t>
            </a:r>
          </a:p>
          <a:p>
            <a:pPr marL="12700" marR="5080"/>
            <a:r>
              <a:rPr lang="en-US" sz="1600" kern="0" spc="-80" dirty="0">
                <a:solidFill>
                  <a:schemeClr val="accent6"/>
                </a:solidFill>
              </a:rPr>
              <a:t>BOLA	                                 Ownership checks</a:t>
            </a:r>
          </a:p>
          <a:p>
            <a:pPr marL="12700" marR="5080"/>
            <a:r>
              <a:rPr lang="en-US" sz="1600" kern="0" spc="-80" dirty="0">
                <a:solidFill>
                  <a:schemeClr val="accent6"/>
                </a:solidFill>
              </a:rPr>
              <a:t>BFLA	                                 Backend </a:t>
            </a:r>
            <a:r>
              <a:rPr lang="en-US" sz="1600" kern="0" spc="-80" dirty="0" err="1">
                <a:solidFill>
                  <a:schemeClr val="accent6"/>
                </a:solidFill>
              </a:rPr>
              <a:t>authz</a:t>
            </a:r>
            <a:endParaRPr lang="en-US" sz="1600" kern="0" spc="-80" dirty="0">
              <a:solidFill>
                <a:schemeClr val="accent6"/>
              </a:solidFill>
            </a:endParaRPr>
          </a:p>
          <a:p>
            <a:pPr marL="12700" marR="5080"/>
            <a:r>
              <a:rPr lang="en-US" sz="1600" kern="0" spc="-80" dirty="0">
                <a:solidFill>
                  <a:schemeClr val="accent6"/>
                </a:solidFill>
              </a:rPr>
              <a:t>Excessive data exposure	DTOs</a:t>
            </a:r>
          </a:p>
          <a:p>
            <a:pPr marL="12700" marR="5080"/>
            <a:r>
              <a:rPr lang="en-US" sz="1600" kern="0" spc="-80" dirty="0">
                <a:solidFill>
                  <a:schemeClr val="accent6"/>
                </a:solidFill>
              </a:rPr>
              <a:t>Lack of rate limiting	Throttles</a:t>
            </a:r>
          </a:p>
          <a:p>
            <a:pPr marL="12700" marR="5080"/>
            <a:r>
              <a:rPr lang="en-US" sz="1600" kern="0" spc="-80" dirty="0">
                <a:solidFill>
                  <a:schemeClr val="accent6"/>
                </a:solidFill>
              </a:rPr>
              <a:t>Mass assignment	                Allow-lists</a:t>
            </a:r>
          </a:p>
        </p:txBody>
      </p:sp>
      <p:grpSp>
        <p:nvGrpSpPr>
          <p:cNvPr id="7" name="Group 6">
            <a:extLst>
              <a:ext uri="{FF2B5EF4-FFF2-40B4-BE49-F238E27FC236}">
                <a16:creationId xmlns:a16="http://schemas.microsoft.com/office/drawing/2014/main" id="{25110598-697D-EC51-528A-CD59F5E628D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B6AE6B8-4CFA-A819-A178-764DE58956D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F8684F6C-FA0E-C84E-26A6-30EF42C938B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4022148357"/>
      </p:ext>
    </p:extLst>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1F2FF-A49C-D726-6516-1A70F702D93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9F958E0-4DDF-EA57-2BA0-77F05554284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511D296-0F17-2196-0214-DAF2CC4F3F1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DDF7857-F8D6-EFC2-AE35-CBA64004E69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AE3C61C-00DE-ED7E-6AED-7707F629C039}"/>
              </a:ext>
            </a:extLst>
          </p:cNvPr>
          <p:cNvSpPr txBox="1">
            <a:spLocks/>
          </p:cNvSpPr>
          <p:nvPr/>
        </p:nvSpPr>
        <p:spPr>
          <a:xfrm>
            <a:off x="0" y="761286"/>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API Security</a:t>
            </a:r>
          </a:p>
          <a:p>
            <a:pPr marL="12700" marR="5080"/>
            <a:r>
              <a:rPr lang="en-US" sz="1600" kern="0" spc="-80" dirty="0">
                <a:solidFill>
                  <a:schemeClr val="accent2"/>
                </a:solidFill>
              </a:rPr>
              <a:t>10. OWASP API Top 10 (Mapped)</a:t>
            </a:r>
          </a:p>
          <a:p>
            <a:pPr marL="12700" marR="5080"/>
            <a:r>
              <a:rPr lang="en-US" sz="1600" kern="0" spc="-80" dirty="0">
                <a:solidFill>
                  <a:schemeClr val="accent2"/>
                </a:solidFill>
              </a:rPr>
              <a:t>OWASP Risk	                Core Fix</a:t>
            </a:r>
          </a:p>
          <a:p>
            <a:pPr marL="12700" marR="5080"/>
            <a:r>
              <a:rPr lang="en-US" sz="1600" kern="0" spc="-80" dirty="0">
                <a:solidFill>
                  <a:schemeClr val="accent6"/>
                </a:solidFill>
              </a:rPr>
              <a:t>SSRF	                                 URL validation</a:t>
            </a:r>
          </a:p>
          <a:p>
            <a:pPr marL="12700" marR="5080"/>
            <a:r>
              <a:rPr lang="en-US" sz="1600" kern="0" spc="-80" dirty="0">
                <a:solidFill>
                  <a:schemeClr val="accent6"/>
                </a:solidFill>
              </a:rPr>
              <a:t>Security </a:t>
            </a:r>
            <a:r>
              <a:rPr lang="en-US" sz="1600" kern="0" spc="-80" dirty="0" err="1">
                <a:solidFill>
                  <a:schemeClr val="accent6"/>
                </a:solidFill>
              </a:rPr>
              <a:t>misconfig</a:t>
            </a:r>
            <a:r>
              <a:rPr lang="en-US" sz="1600" kern="0" spc="-80" dirty="0">
                <a:solidFill>
                  <a:schemeClr val="accent6"/>
                </a:solidFill>
              </a:rPr>
              <a:t>	                Harden defaults</a:t>
            </a:r>
          </a:p>
          <a:p>
            <a:pPr marL="12700" marR="5080"/>
            <a:endParaRPr lang="en-US" sz="1600" kern="0" spc="-80" dirty="0">
              <a:solidFill>
                <a:schemeClr val="accent6"/>
              </a:solidFill>
            </a:endParaRPr>
          </a:p>
          <a:p>
            <a:pPr marL="12700" marR="5080"/>
            <a:r>
              <a:rPr lang="en-US" sz="1600" kern="0" spc="-80" dirty="0">
                <a:solidFill>
                  <a:schemeClr val="accent2"/>
                </a:solidFill>
              </a:rPr>
              <a:t>11. Secure API Design Checklist (Quick)</a:t>
            </a:r>
          </a:p>
          <a:p>
            <a:pPr marL="12700" marR="5080"/>
            <a:r>
              <a:rPr lang="en-US" sz="1600" kern="0" spc="-80" dirty="0">
                <a:solidFill>
                  <a:schemeClr val="accent6"/>
                </a:solidFill>
              </a:rPr>
              <a:t>✔ Strong authentication</a:t>
            </a:r>
          </a:p>
          <a:p>
            <a:pPr marL="12700" marR="5080"/>
            <a:r>
              <a:rPr lang="en-US" sz="1600" kern="0" spc="-80" dirty="0">
                <a:solidFill>
                  <a:schemeClr val="accent6"/>
                </a:solidFill>
              </a:rPr>
              <a:t>✔ Fine-grained authorization</a:t>
            </a:r>
          </a:p>
          <a:p>
            <a:pPr marL="12700" marR="5080"/>
            <a:r>
              <a:rPr lang="en-US" sz="1600" kern="0" spc="-80" dirty="0">
                <a:solidFill>
                  <a:schemeClr val="accent6"/>
                </a:solidFill>
              </a:rPr>
              <a:t>✔ Schema validation</a:t>
            </a:r>
          </a:p>
          <a:p>
            <a:pPr marL="12700" marR="5080"/>
            <a:r>
              <a:rPr lang="en-US" sz="1600" kern="0" spc="-80" dirty="0">
                <a:solidFill>
                  <a:schemeClr val="accent6"/>
                </a:solidFill>
              </a:rPr>
              <a:t>✔ Rate limiting</a:t>
            </a:r>
          </a:p>
          <a:p>
            <a:pPr marL="12700" marR="5080"/>
            <a:r>
              <a:rPr lang="en-US" sz="1600" kern="0" spc="-80" dirty="0">
                <a:solidFill>
                  <a:schemeClr val="accent6"/>
                </a:solidFill>
              </a:rPr>
              <a:t>✔ No business logic on client</a:t>
            </a:r>
          </a:p>
          <a:p>
            <a:pPr marL="12700" marR="5080"/>
            <a:r>
              <a:rPr lang="en-US" sz="1600" kern="0" spc="-80" dirty="0">
                <a:solidFill>
                  <a:schemeClr val="accent6"/>
                </a:solidFill>
              </a:rPr>
              <a:t>✔ Least privilege tokens</a:t>
            </a:r>
          </a:p>
          <a:p>
            <a:pPr marL="12700" marR="5080"/>
            <a:r>
              <a:rPr lang="en-US" sz="1600" kern="0" spc="-80" dirty="0">
                <a:solidFill>
                  <a:schemeClr val="accent6"/>
                </a:solidFill>
              </a:rPr>
              <a:t>✔ Monitoring &amp; alerts</a:t>
            </a:r>
          </a:p>
          <a:p>
            <a:pPr marL="12700" marR="5080"/>
            <a:endParaRPr lang="en-US" sz="1600" kern="0" spc="-80" dirty="0">
              <a:solidFill>
                <a:schemeClr val="accent6"/>
              </a:solidFill>
            </a:endParaRPr>
          </a:p>
          <a:p>
            <a:pPr marL="12700" marR="5080"/>
            <a:r>
              <a:rPr lang="en-US" sz="1600" kern="0" spc="-80" dirty="0">
                <a:solidFill>
                  <a:schemeClr val="accent2"/>
                </a:solidFill>
              </a:rPr>
              <a:t>12. Mental Model to Remember</a:t>
            </a:r>
          </a:p>
          <a:p>
            <a:pPr marL="12700" marR="5080"/>
            <a:r>
              <a:rPr lang="en-US" sz="1600" kern="0" spc="-80" dirty="0">
                <a:solidFill>
                  <a:schemeClr val="accent6"/>
                </a:solidFill>
              </a:rPr>
              <a:t>APIs are not endpoints.</a:t>
            </a:r>
          </a:p>
          <a:p>
            <a:pPr marL="12700" marR="5080"/>
            <a:r>
              <a:rPr lang="en-US" sz="1600" kern="0" spc="-80" dirty="0">
                <a:solidFill>
                  <a:schemeClr val="accent6"/>
                </a:solidFill>
              </a:rPr>
              <a:t>They are executable business logic.</a:t>
            </a:r>
          </a:p>
          <a:p>
            <a:pPr marL="12700" marR="5080"/>
            <a:r>
              <a:rPr lang="en-US" sz="1600" kern="0" spc="-80" dirty="0">
                <a:solidFill>
                  <a:schemeClr val="accent6"/>
                </a:solidFill>
              </a:rPr>
              <a:t>Secure them like money flows.</a:t>
            </a:r>
          </a:p>
        </p:txBody>
      </p:sp>
      <p:grpSp>
        <p:nvGrpSpPr>
          <p:cNvPr id="7" name="Group 6">
            <a:extLst>
              <a:ext uri="{FF2B5EF4-FFF2-40B4-BE49-F238E27FC236}">
                <a16:creationId xmlns:a16="http://schemas.microsoft.com/office/drawing/2014/main" id="{5DE7ED8A-BA37-9010-93FF-D3AC3021327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7313AFE-E4C2-2773-A89F-51BB0617B35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AA85FBC-870B-8598-57E8-D399EBC6A06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Security</a:t>
              </a:r>
              <a:endParaRPr lang="en-US" sz="2500" kern="1200" dirty="0">
                <a:solidFill>
                  <a:schemeClr val="bg1"/>
                </a:solidFill>
              </a:endParaRPr>
            </a:p>
          </p:txBody>
        </p:sp>
      </p:grpSp>
    </p:spTree>
    <p:extLst>
      <p:ext uri="{BB962C8B-B14F-4D97-AF65-F5344CB8AC3E}">
        <p14:creationId xmlns:p14="http://schemas.microsoft.com/office/powerpoint/2010/main" val="2894191232"/>
      </p:ext>
    </p:extLst>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AC62F-EF08-B185-3D17-CA57AED39ED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FF0D3B4-D8C0-94A2-753B-3214742C6ED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598643E-699B-D51B-0F1A-909DB90AEC0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877B758-4099-AFE0-72D0-D92B45BA1D0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74D4BE79-0CDD-53F9-89AD-870112EDBD64}"/>
              </a:ext>
            </a:extLst>
          </p:cNvPr>
          <p:cNvSpPr txBox="1">
            <a:spLocks/>
          </p:cNvSpPr>
          <p:nvPr/>
        </p:nvSpPr>
        <p:spPr>
          <a:xfrm>
            <a:off x="76200" y="697468"/>
            <a:ext cx="8624937" cy="553997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450" dirty="0">
                <a:solidFill>
                  <a:schemeClr val="accent6"/>
                </a:solidFill>
                <a:latin typeface="Google Sans"/>
              </a:rPr>
              <a:t>Distributed coordination services (DCS) are essential infrastructure for distributed systems, enabling multiple nodes to work together reliably by managing tasks like leader election, configuration management, group membership, and distributed locking, ensuring consistency and fault tolerance without a single point of failure, with key examples including Apache </a:t>
            </a:r>
            <a:r>
              <a:rPr lang="en-US" sz="1450" dirty="0" err="1">
                <a:solidFill>
                  <a:schemeClr val="accent6"/>
                </a:solidFill>
                <a:latin typeface="Google Sans"/>
              </a:rPr>
              <a:t>ZooKeeper</a:t>
            </a:r>
            <a:r>
              <a:rPr lang="en-US" sz="1450" dirty="0">
                <a:solidFill>
                  <a:schemeClr val="accent6"/>
                </a:solidFill>
                <a:latin typeface="Google Sans"/>
              </a:rPr>
              <a:t> and </a:t>
            </a:r>
            <a:r>
              <a:rPr lang="en-US" sz="1450" dirty="0" err="1">
                <a:solidFill>
                  <a:schemeClr val="accent6"/>
                </a:solidFill>
                <a:latin typeface="Google Sans"/>
              </a:rPr>
              <a:t>etcd</a:t>
            </a:r>
            <a:r>
              <a:rPr lang="en-US" sz="1450" dirty="0">
                <a:solidFill>
                  <a:schemeClr val="accent6"/>
                </a:solidFill>
                <a:latin typeface="Google Sans"/>
              </a:rPr>
              <a:t>. They solve complex synchronization challenges by providing consensus, allowing components to agree on state, even with failures, and form the backbone for highly available distributed applications. </a:t>
            </a:r>
          </a:p>
          <a:p>
            <a:pPr marL="12700" marR="5080"/>
            <a:r>
              <a:rPr lang="en-US" sz="1450" dirty="0">
                <a:solidFill>
                  <a:schemeClr val="accent2"/>
                </a:solidFill>
                <a:latin typeface="Google Sans"/>
              </a:rPr>
              <a:t>Core Functions</a:t>
            </a:r>
          </a:p>
          <a:p>
            <a:pPr marL="12700" marR="5080"/>
            <a:r>
              <a:rPr lang="en-US" sz="1450" dirty="0">
                <a:solidFill>
                  <a:schemeClr val="accent2"/>
                </a:solidFill>
                <a:latin typeface="Google Sans"/>
              </a:rPr>
              <a:t>Leader Election: </a:t>
            </a:r>
            <a:r>
              <a:rPr lang="en-US" sz="1450" dirty="0">
                <a:solidFill>
                  <a:schemeClr val="accent6"/>
                </a:solidFill>
                <a:latin typeface="Google Sans"/>
              </a:rPr>
              <a:t>Electing a single node to manage tasks in a cluster.</a:t>
            </a:r>
          </a:p>
          <a:p>
            <a:pPr marL="12700" marR="5080"/>
            <a:r>
              <a:rPr lang="en-US" sz="1450" dirty="0">
                <a:solidFill>
                  <a:schemeClr val="accent2"/>
                </a:solidFill>
                <a:latin typeface="Google Sans"/>
              </a:rPr>
              <a:t>Configuration Management: </a:t>
            </a:r>
            <a:r>
              <a:rPr lang="en-US" sz="1450" dirty="0">
                <a:solidFill>
                  <a:schemeClr val="accent6"/>
                </a:solidFill>
                <a:latin typeface="Google Sans"/>
              </a:rPr>
              <a:t>Storing and distributing application configurations reliably.</a:t>
            </a:r>
          </a:p>
          <a:p>
            <a:pPr marL="12700" marR="5080"/>
            <a:r>
              <a:rPr lang="en-US" sz="1450" dirty="0">
                <a:solidFill>
                  <a:schemeClr val="accent2"/>
                </a:solidFill>
                <a:latin typeface="Google Sans"/>
              </a:rPr>
              <a:t>Group Membership:</a:t>
            </a:r>
            <a:r>
              <a:rPr lang="en-US" sz="1450" dirty="0">
                <a:solidFill>
                  <a:schemeClr val="accent6"/>
                </a:solidFill>
                <a:latin typeface="Google Sans"/>
              </a:rPr>
              <a:t> Tracking which nodes are currently part of a logical group.</a:t>
            </a:r>
          </a:p>
          <a:p>
            <a:pPr marL="12700" marR="5080"/>
            <a:r>
              <a:rPr lang="en-US" sz="1450" dirty="0">
                <a:solidFill>
                  <a:schemeClr val="accent2"/>
                </a:solidFill>
                <a:latin typeface="Google Sans"/>
              </a:rPr>
              <a:t>Distributed Locking: </a:t>
            </a:r>
            <a:r>
              <a:rPr lang="en-US" sz="1450" dirty="0">
                <a:solidFill>
                  <a:schemeClr val="accent6"/>
                </a:solidFill>
                <a:latin typeface="Google Sans"/>
              </a:rPr>
              <a:t>Ensuring only one process accesses a shared resource at a time (mutexes, semaphores).</a:t>
            </a:r>
          </a:p>
          <a:p>
            <a:pPr marL="12700" marR="5080"/>
            <a:r>
              <a:rPr lang="en-US" sz="1450" dirty="0">
                <a:solidFill>
                  <a:schemeClr val="accent2"/>
                </a:solidFill>
                <a:latin typeface="Google Sans"/>
              </a:rPr>
              <a:t>Consensus:</a:t>
            </a:r>
            <a:r>
              <a:rPr lang="en-US" sz="1450" dirty="0">
                <a:solidFill>
                  <a:schemeClr val="accent6"/>
                </a:solidFill>
                <a:latin typeface="Google Sans"/>
              </a:rPr>
              <a:t> Achieving agreement among nodes despite network delays or failures (e.g., Raft, Paxos). </a:t>
            </a:r>
          </a:p>
          <a:p>
            <a:pPr marL="12700" marR="5080"/>
            <a:r>
              <a:rPr lang="en-US" sz="1450" dirty="0">
                <a:solidFill>
                  <a:schemeClr val="accent2"/>
                </a:solidFill>
                <a:latin typeface="Google Sans"/>
              </a:rPr>
              <a:t>Key Benefits</a:t>
            </a:r>
          </a:p>
          <a:p>
            <a:pPr marL="12700" marR="5080"/>
            <a:r>
              <a:rPr lang="en-US" sz="1450" dirty="0">
                <a:solidFill>
                  <a:schemeClr val="accent2"/>
                </a:solidFill>
                <a:latin typeface="Google Sans"/>
              </a:rPr>
              <a:t>High Availability: </a:t>
            </a:r>
            <a:r>
              <a:rPr lang="en-US" sz="1450" dirty="0">
                <a:solidFill>
                  <a:schemeClr val="accent6"/>
                </a:solidFill>
                <a:latin typeface="Google Sans"/>
              </a:rPr>
              <a:t>Avoids single points of failure inherent in centralized systems.</a:t>
            </a:r>
          </a:p>
          <a:p>
            <a:pPr marL="12700" marR="5080"/>
            <a:r>
              <a:rPr lang="en-US" sz="1450" dirty="0">
                <a:solidFill>
                  <a:schemeClr val="accent2"/>
                </a:solidFill>
                <a:latin typeface="Google Sans"/>
              </a:rPr>
              <a:t>Consistency: </a:t>
            </a:r>
            <a:r>
              <a:rPr lang="en-US" sz="1450" dirty="0">
                <a:solidFill>
                  <a:schemeClr val="accent6"/>
                </a:solidFill>
                <a:latin typeface="Google Sans"/>
              </a:rPr>
              <a:t>Ensures data and state remain coherent across the distributed system.</a:t>
            </a:r>
          </a:p>
          <a:p>
            <a:pPr marL="12700" marR="5080"/>
            <a:r>
              <a:rPr lang="en-US" sz="1450" dirty="0">
                <a:solidFill>
                  <a:schemeClr val="accent2"/>
                </a:solidFill>
                <a:latin typeface="Google Sans"/>
              </a:rPr>
              <a:t>Fault Tolerance: </a:t>
            </a:r>
            <a:r>
              <a:rPr lang="en-US" sz="1450" dirty="0">
                <a:solidFill>
                  <a:schemeClr val="accent6"/>
                </a:solidFill>
                <a:latin typeface="Google Sans"/>
              </a:rPr>
              <a:t>Maintains functionality even if some nodes fail.</a:t>
            </a:r>
          </a:p>
          <a:p>
            <a:pPr marL="12700" marR="5080"/>
            <a:r>
              <a:rPr lang="en-US" sz="1450" dirty="0">
                <a:solidFill>
                  <a:schemeClr val="accent2"/>
                </a:solidFill>
                <a:latin typeface="Google Sans"/>
              </a:rPr>
              <a:t>Simplified Development: </a:t>
            </a:r>
            <a:r>
              <a:rPr lang="en-US" sz="1450" dirty="0">
                <a:solidFill>
                  <a:schemeClr val="accent6"/>
                </a:solidFill>
                <a:latin typeface="Google Sans"/>
              </a:rPr>
              <a:t>Abstracts away complex coordination logic, letting developers focus on application logic. </a:t>
            </a:r>
          </a:p>
          <a:p>
            <a:pPr marL="12700" marR="5080"/>
            <a:r>
              <a:rPr lang="en-US" sz="1450" dirty="0">
                <a:solidFill>
                  <a:schemeClr val="accent2"/>
                </a:solidFill>
                <a:latin typeface="Google Sans"/>
              </a:rPr>
              <a:t>Popular Examples</a:t>
            </a:r>
          </a:p>
          <a:p>
            <a:pPr marL="12700" marR="5080"/>
            <a:r>
              <a:rPr lang="en-US" sz="1450" dirty="0">
                <a:solidFill>
                  <a:schemeClr val="accent2"/>
                </a:solidFill>
                <a:latin typeface="Google Sans"/>
              </a:rPr>
              <a:t>Apache </a:t>
            </a:r>
            <a:r>
              <a:rPr lang="en-US" sz="1450" dirty="0" err="1">
                <a:solidFill>
                  <a:schemeClr val="accent2"/>
                </a:solidFill>
                <a:latin typeface="Google Sans"/>
              </a:rPr>
              <a:t>ZooKeeper</a:t>
            </a:r>
            <a:r>
              <a:rPr lang="en-US" sz="1450" dirty="0">
                <a:solidFill>
                  <a:schemeClr val="accent2"/>
                </a:solidFill>
                <a:latin typeface="Google Sans"/>
              </a:rPr>
              <a:t>: </a:t>
            </a:r>
            <a:r>
              <a:rPr lang="en-US" sz="1450" dirty="0">
                <a:solidFill>
                  <a:schemeClr val="accent6"/>
                </a:solidFill>
                <a:latin typeface="Google Sans"/>
              </a:rPr>
              <a:t>A widely used open-source service providing a centralized service for distributed applications.</a:t>
            </a:r>
          </a:p>
          <a:p>
            <a:pPr marL="12700" marR="5080"/>
            <a:r>
              <a:rPr lang="en-US" sz="1450" dirty="0" err="1">
                <a:solidFill>
                  <a:schemeClr val="accent2"/>
                </a:solidFill>
                <a:latin typeface="Google Sans"/>
              </a:rPr>
              <a:t>etcd</a:t>
            </a:r>
            <a:r>
              <a:rPr lang="en-US" sz="1450" dirty="0">
                <a:solidFill>
                  <a:schemeClr val="accent2"/>
                </a:solidFill>
                <a:latin typeface="Google Sans"/>
              </a:rPr>
              <a:t>: </a:t>
            </a:r>
            <a:r>
              <a:rPr lang="en-US" sz="1450" dirty="0">
                <a:solidFill>
                  <a:schemeClr val="accent6"/>
                </a:solidFill>
                <a:latin typeface="Google Sans"/>
              </a:rPr>
              <a:t>A distributed key-value store often used for configuration management and service discovery, relying on the Raft consensus algorithm.</a:t>
            </a:r>
          </a:p>
          <a:p>
            <a:pPr marL="12700" marR="5080"/>
            <a:r>
              <a:rPr lang="en-US" sz="1450" dirty="0">
                <a:solidFill>
                  <a:schemeClr val="accent2"/>
                </a:solidFill>
                <a:latin typeface="Google Sans"/>
              </a:rPr>
              <a:t>Redis, </a:t>
            </a:r>
            <a:r>
              <a:rPr lang="en-US" sz="1450" dirty="0" err="1">
                <a:solidFill>
                  <a:schemeClr val="accent2"/>
                </a:solidFill>
                <a:latin typeface="Google Sans"/>
              </a:rPr>
              <a:t>Hazelcast</a:t>
            </a:r>
            <a:r>
              <a:rPr lang="en-US" sz="1450" dirty="0">
                <a:solidFill>
                  <a:schemeClr val="accent2"/>
                </a:solidFill>
                <a:latin typeface="Google Sans"/>
              </a:rPr>
              <a:t>:</a:t>
            </a:r>
            <a:r>
              <a:rPr lang="en-US" sz="1450" dirty="0">
                <a:solidFill>
                  <a:schemeClr val="accent6"/>
                </a:solidFill>
                <a:latin typeface="Google Sans"/>
              </a:rPr>
              <a:t> Can also provide coordination features, though often used for caching as well. </a:t>
            </a:r>
          </a:p>
        </p:txBody>
      </p:sp>
      <p:grpSp>
        <p:nvGrpSpPr>
          <p:cNvPr id="7" name="Group 6">
            <a:extLst>
              <a:ext uri="{FF2B5EF4-FFF2-40B4-BE49-F238E27FC236}">
                <a16:creationId xmlns:a16="http://schemas.microsoft.com/office/drawing/2014/main" id="{4340F8F1-1EFE-CFBF-9F66-1A904116BC3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AF980787-AFF8-1F66-8821-0C438D57FE1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879597E-F650-270D-55AC-744F9D53E44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2580910968"/>
      </p:ext>
    </p:extLst>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7DACB-D1DF-A455-534E-2EDBA3E9F40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4E0544A-D18A-4D04-1F0D-CE207B6BA22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DEFE6C1-FE0B-008E-436D-F87E9DB3DE8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9A45301-5266-E5D8-A7D4-C066FB6C7BA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18E44B5F-9D7F-8D63-69B7-250E15D63F28}"/>
              </a:ext>
            </a:extLst>
          </p:cNvPr>
          <p:cNvSpPr txBox="1">
            <a:spLocks/>
          </p:cNvSpPr>
          <p:nvPr/>
        </p:nvSpPr>
        <p:spPr>
          <a:xfrm>
            <a:off x="76200" y="697468"/>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Core Functions Comparison</a:t>
            </a:r>
          </a:p>
        </p:txBody>
      </p:sp>
      <p:grpSp>
        <p:nvGrpSpPr>
          <p:cNvPr id="7" name="Group 6">
            <a:extLst>
              <a:ext uri="{FF2B5EF4-FFF2-40B4-BE49-F238E27FC236}">
                <a16:creationId xmlns:a16="http://schemas.microsoft.com/office/drawing/2014/main" id="{0603F791-B0E6-C6AD-D8AA-F933644D4D3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89B3ACE5-DDDB-E544-2420-11E6AD002644}"/>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5725E03-3390-1A5F-8B09-3EFC584E127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pic>
        <p:nvPicPr>
          <p:cNvPr id="10" name="Picture 9">
            <a:extLst>
              <a:ext uri="{FF2B5EF4-FFF2-40B4-BE49-F238E27FC236}">
                <a16:creationId xmlns:a16="http://schemas.microsoft.com/office/drawing/2014/main" id="{9947838A-F492-80AD-EF39-00DADA734B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974623"/>
            <a:ext cx="8991600" cy="2921028"/>
          </a:xfrm>
          <a:prstGeom prst="rect">
            <a:avLst/>
          </a:prstGeom>
        </p:spPr>
      </p:pic>
      <p:pic>
        <p:nvPicPr>
          <p:cNvPr id="12" name="Picture 11">
            <a:extLst>
              <a:ext uri="{FF2B5EF4-FFF2-40B4-BE49-F238E27FC236}">
                <a16:creationId xmlns:a16="http://schemas.microsoft.com/office/drawing/2014/main" id="{70E72FDB-80B3-A3D7-658B-73FEF1A0FC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3895651"/>
            <a:ext cx="8915400" cy="2047949"/>
          </a:xfrm>
          <a:prstGeom prst="rect">
            <a:avLst/>
          </a:prstGeom>
        </p:spPr>
      </p:pic>
    </p:spTree>
    <p:extLst>
      <p:ext uri="{BB962C8B-B14F-4D97-AF65-F5344CB8AC3E}">
        <p14:creationId xmlns:p14="http://schemas.microsoft.com/office/powerpoint/2010/main" val="3163689562"/>
      </p:ext>
    </p:extLst>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97D30-6FBB-0546-1306-FF92181BF9A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D493914-A67E-019D-FA33-F1C32B9D31A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C5012D6-1CB9-4310-4EE3-93811EC70FB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56D3073-C374-EAAF-CD03-C7769FFFA48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10D9672-F757-4E19-917F-E91FACCB20EA}"/>
              </a:ext>
            </a:extLst>
          </p:cNvPr>
          <p:cNvSpPr txBox="1">
            <a:spLocks/>
          </p:cNvSpPr>
          <p:nvPr/>
        </p:nvSpPr>
        <p:spPr>
          <a:xfrm>
            <a:off x="76200" y="697468"/>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Core Functions Breakdown</a:t>
            </a:r>
          </a:p>
          <a:p>
            <a:pPr marL="12700" marR="5080"/>
            <a:r>
              <a:rPr lang="en-US" sz="1500" dirty="0">
                <a:solidFill>
                  <a:schemeClr val="accent2"/>
                </a:solidFill>
                <a:latin typeface="Google Sans"/>
              </a:rPr>
              <a:t>Configuration Management</a:t>
            </a:r>
          </a:p>
          <a:p>
            <a:pPr marL="12700" marR="5080"/>
            <a:r>
              <a:rPr lang="en-US" sz="1500" dirty="0">
                <a:solidFill>
                  <a:schemeClr val="accent2"/>
                </a:solidFill>
                <a:latin typeface="Google Sans"/>
              </a:rPr>
              <a:t>Definition:</a:t>
            </a:r>
            <a:r>
              <a:rPr lang="en-US" sz="1500" dirty="0">
                <a:solidFill>
                  <a:schemeClr val="accent6"/>
                </a:solidFill>
                <a:latin typeface="Google Sans"/>
              </a:rPr>
              <a:t> A centralized store for application configurations, feature flags, or service endpoints.</a:t>
            </a:r>
          </a:p>
          <a:p>
            <a:pPr marL="12700" marR="5080"/>
            <a:r>
              <a:rPr lang="en-US" sz="1500" dirty="0">
                <a:solidFill>
                  <a:schemeClr val="accent2"/>
                </a:solidFill>
                <a:latin typeface="Google Sans"/>
              </a:rPr>
              <a:t>Key Aspect:</a:t>
            </a:r>
            <a:r>
              <a:rPr lang="en-US" sz="1500" dirty="0">
                <a:solidFill>
                  <a:schemeClr val="accent6"/>
                </a:solidFill>
                <a:latin typeface="Google Sans"/>
              </a:rPr>
              <a:t> Data is rarely changed but frequently read.</a:t>
            </a:r>
          </a:p>
          <a:p>
            <a:pPr marL="12700" marR="5080"/>
            <a:r>
              <a:rPr lang="en-US" sz="1500" dirty="0">
                <a:solidFill>
                  <a:schemeClr val="accent2"/>
                </a:solidFill>
                <a:latin typeface="Google Sans"/>
              </a:rPr>
              <a:t>Use Case: </a:t>
            </a:r>
            <a:r>
              <a:rPr lang="en-US" sz="1500" dirty="0">
                <a:solidFill>
                  <a:schemeClr val="accent6"/>
                </a:solidFill>
                <a:latin typeface="Google Sans"/>
              </a:rPr>
              <a:t>Updating database credentials across 100 servers without downtime. </a:t>
            </a:r>
          </a:p>
          <a:p>
            <a:pPr marL="12700" marR="5080"/>
            <a:endParaRPr lang="en-US" sz="1500" dirty="0">
              <a:solidFill>
                <a:schemeClr val="accent6"/>
              </a:solidFill>
              <a:latin typeface="Google Sans"/>
            </a:endParaRPr>
          </a:p>
          <a:p>
            <a:pPr marL="12700" marR="5080"/>
            <a:r>
              <a:rPr lang="en-US" sz="1500" dirty="0">
                <a:solidFill>
                  <a:schemeClr val="accent2"/>
                </a:solidFill>
                <a:latin typeface="Google Sans"/>
              </a:rPr>
              <a:t>Group Membership</a:t>
            </a:r>
          </a:p>
          <a:p>
            <a:pPr marL="12700" marR="5080"/>
            <a:r>
              <a:rPr lang="en-US" sz="1500" dirty="0">
                <a:solidFill>
                  <a:schemeClr val="accent2"/>
                </a:solidFill>
                <a:latin typeface="Google Sans"/>
              </a:rPr>
              <a:t>Definition:</a:t>
            </a:r>
            <a:r>
              <a:rPr lang="en-US" sz="1500" dirty="0">
                <a:solidFill>
                  <a:schemeClr val="accent6"/>
                </a:solidFill>
                <a:latin typeface="Google Sans"/>
              </a:rPr>
              <a:t> A service that maintains the roster of active nodes in a distributed system, detecting when nodes join or fail.</a:t>
            </a:r>
          </a:p>
          <a:p>
            <a:pPr marL="12700" marR="5080"/>
            <a:r>
              <a:rPr lang="en-US" sz="1500" dirty="0">
                <a:solidFill>
                  <a:schemeClr val="accent2"/>
                </a:solidFill>
                <a:latin typeface="Google Sans"/>
              </a:rPr>
              <a:t>Key Aspect: </a:t>
            </a:r>
            <a:r>
              <a:rPr lang="en-US" sz="1500" dirty="0">
                <a:solidFill>
                  <a:schemeClr val="accent6"/>
                </a:solidFill>
                <a:latin typeface="Google Sans"/>
              </a:rPr>
              <a:t>Relies on heartbeats or "ephemeral" nodes that disappear when a client disconnects.</a:t>
            </a:r>
          </a:p>
          <a:p>
            <a:pPr marL="12700" marR="5080"/>
            <a:r>
              <a:rPr lang="en-US" sz="1500" dirty="0">
                <a:solidFill>
                  <a:schemeClr val="accent2"/>
                </a:solidFill>
                <a:latin typeface="Google Sans"/>
              </a:rPr>
              <a:t>Use Case: </a:t>
            </a:r>
            <a:r>
              <a:rPr lang="en-US" sz="1500" dirty="0">
                <a:solidFill>
                  <a:schemeClr val="accent6"/>
                </a:solidFill>
                <a:latin typeface="Google Sans"/>
              </a:rPr>
              <a:t>A distributed system knowing how many worker nodes are currently available. </a:t>
            </a:r>
          </a:p>
          <a:p>
            <a:pPr marL="12700" marR="5080"/>
            <a:endParaRPr lang="en-US" sz="1500" dirty="0">
              <a:solidFill>
                <a:schemeClr val="accent2"/>
              </a:solidFill>
              <a:latin typeface="Google Sans"/>
            </a:endParaRPr>
          </a:p>
          <a:p>
            <a:pPr marL="12700" marR="5080"/>
            <a:r>
              <a:rPr lang="en-US" sz="1500" dirty="0">
                <a:solidFill>
                  <a:schemeClr val="accent2"/>
                </a:solidFill>
                <a:latin typeface="Google Sans"/>
              </a:rPr>
              <a:t>Leader Election</a:t>
            </a:r>
          </a:p>
          <a:p>
            <a:pPr marL="12700" marR="5080"/>
            <a:r>
              <a:rPr lang="en-US" sz="1500" dirty="0">
                <a:solidFill>
                  <a:schemeClr val="accent2"/>
                </a:solidFill>
                <a:latin typeface="Google Sans"/>
              </a:rPr>
              <a:t>Definition: </a:t>
            </a:r>
            <a:r>
              <a:rPr lang="en-US" sz="1500" dirty="0">
                <a:solidFill>
                  <a:schemeClr val="accent6"/>
                </a:solidFill>
                <a:latin typeface="Google Sans"/>
              </a:rPr>
              <a:t>A mechanism to ensure that, among a group of nodes, only one acts as the leader at a time.</a:t>
            </a:r>
          </a:p>
          <a:p>
            <a:pPr marL="12700" marR="5080"/>
            <a:r>
              <a:rPr lang="en-US" sz="1500" dirty="0">
                <a:solidFill>
                  <a:schemeClr val="accent2"/>
                </a:solidFill>
                <a:latin typeface="Google Sans"/>
              </a:rPr>
              <a:t>Key Aspect: </a:t>
            </a:r>
            <a:r>
              <a:rPr lang="en-US" sz="1500" dirty="0">
                <a:solidFill>
                  <a:schemeClr val="accent6"/>
                </a:solidFill>
                <a:latin typeface="Google Sans"/>
              </a:rPr>
              <a:t>All nodes must agree on who the leader is to avoid split-brain.</a:t>
            </a:r>
          </a:p>
          <a:p>
            <a:pPr marL="12700" marR="5080"/>
            <a:r>
              <a:rPr lang="en-US" sz="1500" dirty="0">
                <a:solidFill>
                  <a:schemeClr val="accent2"/>
                </a:solidFill>
                <a:latin typeface="Google Sans"/>
              </a:rPr>
              <a:t>Use Case:</a:t>
            </a:r>
            <a:r>
              <a:rPr lang="en-US" sz="1500" dirty="0">
                <a:solidFill>
                  <a:schemeClr val="accent6"/>
                </a:solidFill>
                <a:latin typeface="Google Sans"/>
              </a:rPr>
              <a:t> Selecting one node to manage task scheduling in Kafka or Hadoop. </a:t>
            </a:r>
          </a:p>
          <a:p>
            <a:pPr marL="12700" marR="5080"/>
            <a:endParaRPr lang="en-US" sz="1500" dirty="0">
              <a:solidFill>
                <a:schemeClr val="accent2"/>
              </a:solidFill>
              <a:latin typeface="Google Sans"/>
            </a:endParaRPr>
          </a:p>
          <a:p>
            <a:pPr marL="12700" marR="5080"/>
            <a:r>
              <a:rPr lang="en-US" sz="1500" dirty="0">
                <a:solidFill>
                  <a:schemeClr val="accent2"/>
                </a:solidFill>
                <a:latin typeface="Google Sans"/>
              </a:rPr>
              <a:t>Distributed Locking</a:t>
            </a:r>
          </a:p>
          <a:p>
            <a:pPr marL="12700" marR="5080"/>
            <a:r>
              <a:rPr lang="en-US" sz="1500" dirty="0">
                <a:solidFill>
                  <a:schemeClr val="accent2"/>
                </a:solidFill>
                <a:latin typeface="Google Sans"/>
              </a:rPr>
              <a:t>Definition: </a:t>
            </a:r>
            <a:r>
              <a:rPr lang="en-US" sz="1500" dirty="0">
                <a:solidFill>
                  <a:schemeClr val="accent6"/>
                </a:solidFill>
                <a:latin typeface="Google Sans"/>
              </a:rPr>
              <a:t>A mechanism that ensures exclusive access to a shared resource (file, database row) by multiple nodes.</a:t>
            </a:r>
          </a:p>
          <a:p>
            <a:pPr marL="12700" marR="5080"/>
            <a:r>
              <a:rPr lang="en-US" sz="1500" dirty="0">
                <a:solidFill>
                  <a:schemeClr val="accent2"/>
                </a:solidFill>
                <a:latin typeface="Google Sans"/>
              </a:rPr>
              <a:t>Key Aspect: </a:t>
            </a:r>
            <a:r>
              <a:rPr lang="en-US" sz="1500" dirty="0">
                <a:solidFill>
                  <a:schemeClr val="accent6"/>
                </a:solidFill>
                <a:latin typeface="Google Sans"/>
              </a:rPr>
              <a:t>Differs from leader election because, in locking, it is not essential for every node to know who holds the lock, only that it is held.</a:t>
            </a:r>
          </a:p>
          <a:p>
            <a:pPr marL="12700" marR="5080"/>
            <a:r>
              <a:rPr lang="en-US" sz="1500" dirty="0">
                <a:solidFill>
                  <a:schemeClr val="accent2"/>
                </a:solidFill>
                <a:latin typeface="Google Sans"/>
              </a:rPr>
              <a:t>Use Case: </a:t>
            </a:r>
            <a:r>
              <a:rPr lang="en-US" sz="1500" dirty="0">
                <a:solidFill>
                  <a:schemeClr val="accent6"/>
                </a:solidFill>
                <a:latin typeface="Google Sans"/>
              </a:rPr>
              <a:t>Ensuring two batch jobs do not process the same data simultaneously. </a:t>
            </a:r>
          </a:p>
        </p:txBody>
      </p:sp>
      <p:grpSp>
        <p:nvGrpSpPr>
          <p:cNvPr id="7" name="Group 6">
            <a:extLst>
              <a:ext uri="{FF2B5EF4-FFF2-40B4-BE49-F238E27FC236}">
                <a16:creationId xmlns:a16="http://schemas.microsoft.com/office/drawing/2014/main" id="{C6B00E12-E924-B554-649E-30A6FF55DA2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CF5FC2D-2FD6-8EB3-6AC6-427487E8371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98F0D2D-BBB9-09EE-CC9E-9E7FF97BBF8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1507093686"/>
      </p:ext>
    </p:extLst>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22A21-849E-8CDC-A9AE-3CBE5E5DDD7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8AD853F-2BAC-A28B-A6B1-82EDF81FDA8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6A8D9F-573E-5E45-DF9F-D24A36B6D4A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BB818CA-5E8F-04C9-9792-495ADB10AFD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1ACA46F-EDEC-B746-2AD8-E97967205EF9}"/>
              </a:ext>
            </a:extLst>
          </p:cNvPr>
          <p:cNvSpPr txBox="1">
            <a:spLocks/>
          </p:cNvSpPr>
          <p:nvPr/>
        </p:nvSpPr>
        <p:spPr>
          <a:xfrm>
            <a:off x="76200" y="697468"/>
            <a:ext cx="8624937" cy="377026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Core Functions Breakdown</a:t>
            </a:r>
          </a:p>
          <a:p>
            <a:pPr marL="12700" marR="5080"/>
            <a:r>
              <a:rPr lang="en-US" sz="1500" dirty="0">
                <a:solidFill>
                  <a:schemeClr val="accent2"/>
                </a:solidFill>
                <a:latin typeface="Google Sans"/>
              </a:rPr>
              <a:t>Consensus</a:t>
            </a:r>
          </a:p>
          <a:p>
            <a:pPr marL="12700" marR="5080"/>
            <a:r>
              <a:rPr lang="en-US" sz="1500" dirty="0">
                <a:solidFill>
                  <a:schemeClr val="accent2"/>
                </a:solidFill>
                <a:latin typeface="Google Sans"/>
              </a:rPr>
              <a:t>Definition: </a:t>
            </a:r>
            <a:r>
              <a:rPr lang="en-US" sz="1500" dirty="0">
                <a:solidFill>
                  <a:schemeClr val="accent6"/>
                </a:solidFill>
                <a:latin typeface="Google Sans"/>
              </a:rPr>
              <a:t>The foundational agreement protocols (like Raft or Paxos) that allow nodes to agree on a single, shared state, even if some nodes fail.</a:t>
            </a:r>
          </a:p>
          <a:p>
            <a:pPr marL="12700" marR="5080"/>
            <a:r>
              <a:rPr lang="en-US" sz="1500" dirty="0">
                <a:solidFill>
                  <a:schemeClr val="accent2"/>
                </a:solidFill>
                <a:latin typeface="Google Sans"/>
              </a:rPr>
              <a:t>Key Aspect: </a:t>
            </a:r>
            <a:r>
              <a:rPr lang="en-US" sz="1500" dirty="0">
                <a:solidFill>
                  <a:schemeClr val="accent6"/>
                </a:solidFill>
                <a:latin typeface="Google Sans"/>
              </a:rPr>
              <a:t>Ensures all nodes commit the same data in the same order, creating strong consistency.</a:t>
            </a:r>
          </a:p>
          <a:p>
            <a:pPr marL="12700" marR="5080"/>
            <a:r>
              <a:rPr lang="en-US" sz="1500" dirty="0">
                <a:solidFill>
                  <a:schemeClr val="accent2"/>
                </a:solidFill>
                <a:latin typeface="Google Sans"/>
              </a:rPr>
              <a:t>Use Case: </a:t>
            </a:r>
            <a:r>
              <a:rPr lang="en-US" sz="1500" dirty="0">
                <a:solidFill>
                  <a:schemeClr val="accent6"/>
                </a:solidFill>
                <a:latin typeface="Google Sans"/>
              </a:rPr>
              <a:t>The foundation of distributed databases and meta-data stores like </a:t>
            </a:r>
            <a:r>
              <a:rPr lang="en-US" sz="1500" dirty="0" err="1">
                <a:solidFill>
                  <a:schemeClr val="accent6"/>
                </a:solidFill>
                <a:latin typeface="Google Sans"/>
              </a:rPr>
              <a:t>etcd</a:t>
            </a:r>
            <a:r>
              <a:rPr lang="en-US" sz="1500" dirty="0">
                <a:solidFill>
                  <a:schemeClr val="accent6"/>
                </a:solidFill>
                <a:latin typeface="Google Sans"/>
              </a:rPr>
              <a:t>. </a:t>
            </a:r>
          </a:p>
          <a:p>
            <a:pPr marL="12700" marR="5080"/>
            <a:endParaRPr lang="en-US" sz="1500" dirty="0">
              <a:solidFill>
                <a:schemeClr val="accent6"/>
              </a:solidFill>
              <a:latin typeface="Google Sans"/>
            </a:endParaRPr>
          </a:p>
          <a:p>
            <a:pPr marL="12700" marR="5080"/>
            <a:r>
              <a:rPr lang="en-US" sz="1500" dirty="0">
                <a:solidFill>
                  <a:schemeClr val="accent2"/>
                </a:solidFill>
                <a:latin typeface="Google Sans"/>
              </a:rPr>
              <a:t>Key Relationships and Distinctions</a:t>
            </a:r>
          </a:p>
          <a:p>
            <a:pPr marL="12700" marR="5080"/>
            <a:r>
              <a:rPr lang="en-US" sz="1500" dirty="0">
                <a:solidFill>
                  <a:schemeClr val="accent2"/>
                </a:solidFill>
                <a:latin typeface="Google Sans"/>
              </a:rPr>
              <a:t>Leader Election vs. Consensus: </a:t>
            </a:r>
            <a:r>
              <a:rPr lang="en-US" sz="1500" dirty="0">
                <a:solidFill>
                  <a:schemeClr val="accent6"/>
                </a:solidFill>
                <a:latin typeface="Google Sans"/>
              </a:rPr>
              <a:t>Leader election is often a specific application of a broader consensus algorithm. While consensus algorithms (like Raft) use leader election to function efficiently (Phase 1), you can have leader election without full consensus, resulting in "eventual" leader consistency.</a:t>
            </a:r>
          </a:p>
          <a:p>
            <a:pPr marL="12700" marR="5080"/>
            <a:r>
              <a:rPr lang="en-US" sz="1500" dirty="0">
                <a:solidFill>
                  <a:schemeClr val="accent2"/>
                </a:solidFill>
                <a:latin typeface="Google Sans"/>
              </a:rPr>
              <a:t>Leader Election vs. Distributed Locking:</a:t>
            </a:r>
            <a:r>
              <a:rPr lang="en-US" sz="1500" dirty="0">
                <a:solidFill>
                  <a:schemeClr val="accent6"/>
                </a:solidFill>
                <a:latin typeface="Google Sans"/>
              </a:rPr>
              <a:t> Both provide exclusive rights. Leader election is usually for a long-running role (leader), whereas distributed locking is usually for a short-term, specific resource access.</a:t>
            </a:r>
          </a:p>
          <a:p>
            <a:pPr marL="12700" marR="5080"/>
            <a:r>
              <a:rPr lang="en-US" sz="1500" dirty="0">
                <a:solidFill>
                  <a:schemeClr val="accent2"/>
                </a:solidFill>
                <a:latin typeface="Google Sans"/>
              </a:rPr>
              <a:t>Consensus is the Foundation: </a:t>
            </a:r>
            <a:r>
              <a:rPr lang="en-US" sz="1500" dirty="0">
                <a:solidFill>
                  <a:schemeClr val="accent6"/>
                </a:solidFill>
                <a:latin typeface="Google Sans"/>
              </a:rPr>
              <a:t>Configuration management, leader election, and group membership are often implemented using a underlying consensus algorithm (e.g., </a:t>
            </a:r>
            <a:r>
              <a:rPr lang="en-US" sz="1500" dirty="0" err="1">
                <a:solidFill>
                  <a:schemeClr val="accent6"/>
                </a:solidFill>
                <a:latin typeface="Google Sans"/>
              </a:rPr>
              <a:t>ZooKeeper</a:t>
            </a:r>
            <a:r>
              <a:rPr lang="en-US" sz="1500" dirty="0">
                <a:solidFill>
                  <a:schemeClr val="accent6"/>
                </a:solidFill>
                <a:latin typeface="Google Sans"/>
              </a:rPr>
              <a:t> uses Zab) to ensure that the configuration or membership list is identical on all nodes. </a:t>
            </a:r>
          </a:p>
        </p:txBody>
      </p:sp>
      <p:grpSp>
        <p:nvGrpSpPr>
          <p:cNvPr id="7" name="Group 6">
            <a:extLst>
              <a:ext uri="{FF2B5EF4-FFF2-40B4-BE49-F238E27FC236}">
                <a16:creationId xmlns:a16="http://schemas.microsoft.com/office/drawing/2014/main" id="{4503B428-2B52-90B3-3E4C-AAF032E8DB6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E7E5D48-15FC-B5A0-FFFB-B0858A67BFD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ED97A1B-809B-0AB3-0075-DBCC19C39F7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2566940521"/>
      </p:ext>
    </p:extLst>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22A21-849E-8CDC-A9AE-3CBE5E5DDD7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8AD853F-2BAC-A28B-A6B1-82EDF81FDA8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6A8D9F-573E-5E45-DF9F-D24A36B6D4A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BB818CA-5E8F-04C9-9792-495ADB10AFD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1ACA46F-EDEC-B746-2AD8-E97967205EF9}"/>
              </a:ext>
            </a:extLst>
          </p:cNvPr>
          <p:cNvSpPr txBox="1">
            <a:spLocks/>
          </p:cNvSpPr>
          <p:nvPr/>
        </p:nvSpPr>
        <p:spPr>
          <a:xfrm>
            <a:off x="76200" y="697468"/>
            <a:ext cx="8624937" cy="561692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Leader Election </a:t>
            </a:r>
          </a:p>
          <a:p>
            <a:pPr marL="12700" marR="5080"/>
            <a:r>
              <a:rPr lang="en-IN" sz="1500" dirty="0">
                <a:solidFill>
                  <a:schemeClr val="accent6"/>
                </a:solidFill>
                <a:latin typeface="Google Sans"/>
              </a:rPr>
              <a:t>Leader Election is a fundamental problem in distributed systems: Among multiple nodes, choose exactly one coordinator (leader) — even in the presence of failure. Also, Leader Election forms the basis of most Consensus Algorithms mentioned in forthcoming slides.</a:t>
            </a:r>
          </a:p>
          <a:p>
            <a:r>
              <a:rPr lang="en-IN" sz="1500" dirty="0">
                <a:solidFill>
                  <a:schemeClr val="accent2"/>
                </a:solidFill>
                <a:latin typeface="Google Sans"/>
              </a:rPr>
              <a:t>🧠 Why Leader Election is Needed</a:t>
            </a:r>
          </a:p>
          <a:p>
            <a:r>
              <a:rPr lang="en-IN" sz="1500" dirty="0">
                <a:solidFill>
                  <a:schemeClr val="accent6"/>
                </a:solidFill>
                <a:latin typeface="Google Sans"/>
              </a:rPr>
              <a:t>In distributed systems, a leader is required for:</a:t>
            </a:r>
          </a:p>
          <a:p>
            <a:pPr>
              <a:buFont typeface="Arial" panose="020B0604020202020204" pitchFamily="34" charset="0"/>
              <a:buChar char="•"/>
            </a:pPr>
            <a:r>
              <a:rPr lang="en-IN" sz="1500" dirty="0">
                <a:solidFill>
                  <a:schemeClr val="accent6"/>
                </a:solidFill>
                <a:latin typeface="Google Sans"/>
              </a:rPr>
              <a:t>Coordinating writes</a:t>
            </a:r>
          </a:p>
          <a:p>
            <a:pPr>
              <a:buFont typeface="Arial" panose="020B0604020202020204" pitchFamily="34" charset="0"/>
              <a:buChar char="•"/>
            </a:pPr>
            <a:r>
              <a:rPr lang="en-IN" sz="1500" dirty="0">
                <a:solidFill>
                  <a:schemeClr val="accent6"/>
                </a:solidFill>
                <a:latin typeface="Google Sans"/>
              </a:rPr>
              <a:t>Managing shared state</a:t>
            </a:r>
          </a:p>
          <a:p>
            <a:pPr>
              <a:buFont typeface="Arial" panose="020B0604020202020204" pitchFamily="34" charset="0"/>
              <a:buChar char="•"/>
            </a:pPr>
            <a:r>
              <a:rPr lang="en-IN" sz="1500" dirty="0">
                <a:solidFill>
                  <a:schemeClr val="accent6"/>
                </a:solidFill>
                <a:latin typeface="Google Sans"/>
              </a:rPr>
              <a:t>Scheduling tasks</a:t>
            </a:r>
          </a:p>
          <a:p>
            <a:pPr>
              <a:buFont typeface="Arial" panose="020B0604020202020204" pitchFamily="34" charset="0"/>
              <a:buChar char="•"/>
            </a:pPr>
            <a:r>
              <a:rPr lang="en-IN" sz="1500" dirty="0">
                <a:solidFill>
                  <a:schemeClr val="accent6"/>
                </a:solidFill>
                <a:latin typeface="Google Sans"/>
              </a:rPr>
              <a:t>Log replication (RSM)</a:t>
            </a:r>
          </a:p>
          <a:p>
            <a:pPr>
              <a:buFont typeface="Arial" panose="020B0604020202020204" pitchFamily="34" charset="0"/>
              <a:buChar char="•"/>
            </a:pPr>
            <a:r>
              <a:rPr lang="en-IN" sz="1500" dirty="0">
                <a:solidFill>
                  <a:schemeClr val="accent6"/>
                </a:solidFill>
                <a:latin typeface="Google Sans"/>
              </a:rPr>
              <a:t>Cluster membership changes</a:t>
            </a:r>
          </a:p>
          <a:p>
            <a:r>
              <a:rPr lang="en-IN" sz="1500" dirty="0">
                <a:solidFill>
                  <a:schemeClr val="accent6"/>
                </a:solidFill>
                <a:latin typeface="Google Sans"/>
              </a:rPr>
              <a:t>Without a leader → split-brain, inconsistency, chaos.</a:t>
            </a:r>
          </a:p>
          <a:p>
            <a:r>
              <a:rPr lang="en-IN" sz="1500" dirty="0">
                <a:solidFill>
                  <a:schemeClr val="accent2"/>
                </a:solidFill>
                <a:latin typeface="Google Sans"/>
              </a:rPr>
              <a:t>🏗 Categories of Leader Election Algorithms</a:t>
            </a:r>
          </a:p>
          <a:p>
            <a:r>
              <a:rPr lang="en-IN" sz="1500" dirty="0">
                <a:solidFill>
                  <a:schemeClr val="accent2"/>
                </a:solidFill>
                <a:latin typeface="Google Sans"/>
              </a:rPr>
              <a:t>Leader election algorithms vary based on: </a:t>
            </a:r>
            <a:r>
              <a:rPr lang="en-IN" sz="1500" dirty="0">
                <a:solidFill>
                  <a:schemeClr val="accent6"/>
                </a:solidFill>
                <a:latin typeface="Google Sans"/>
              </a:rPr>
              <a:t>Network topology, Failure model and Synchrony assumptions</a:t>
            </a:r>
          </a:p>
          <a:p>
            <a:pPr marL="12700" marR="5080"/>
            <a:r>
              <a:rPr lang="en-IN" sz="1500" dirty="0">
                <a:solidFill>
                  <a:schemeClr val="accent2"/>
                </a:solidFill>
                <a:latin typeface="Google Sans"/>
              </a:rPr>
              <a:t>The most important ones are:</a:t>
            </a:r>
          </a:p>
          <a:p>
            <a:pPr>
              <a:buFont typeface="+mj-lt"/>
              <a:buAutoNum type="arabicPeriod"/>
            </a:pPr>
            <a:r>
              <a:rPr lang="en-IN" sz="1500" dirty="0">
                <a:solidFill>
                  <a:schemeClr val="accent6"/>
                </a:solidFill>
                <a:latin typeface="Google Sans"/>
              </a:rPr>
              <a:t>Bully Algorithm</a:t>
            </a:r>
          </a:p>
          <a:p>
            <a:pPr>
              <a:buFont typeface="+mj-lt"/>
              <a:buAutoNum type="arabicPeriod"/>
            </a:pPr>
            <a:r>
              <a:rPr lang="en-IN" sz="1500" dirty="0">
                <a:solidFill>
                  <a:schemeClr val="accent6"/>
                </a:solidFill>
                <a:latin typeface="Google Sans"/>
              </a:rPr>
              <a:t>Ring Algorithm</a:t>
            </a:r>
          </a:p>
          <a:p>
            <a:pPr>
              <a:buFont typeface="+mj-lt"/>
              <a:buAutoNum type="arabicPeriod"/>
            </a:pPr>
            <a:r>
              <a:rPr lang="en-IN" sz="1500" dirty="0">
                <a:solidFill>
                  <a:schemeClr val="accent6"/>
                </a:solidFill>
                <a:latin typeface="Google Sans"/>
              </a:rPr>
              <a:t>Raft Election</a:t>
            </a:r>
          </a:p>
          <a:p>
            <a:pPr>
              <a:buFont typeface="+mj-lt"/>
              <a:buAutoNum type="arabicPeriod"/>
            </a:pPr>
            <a:r>
              <a:rPr lang="en-IN" sz="1500" dirty="0" err="1">
                <a:solidFill>
                  <a:schemeClr val="accent6"/>
                </a:solidFill>
                <a:latin typeface="Google Sans"/>
              </a:rPr>
              <a:t>Paxos</a:t>
            </a:r>
            <a:r>
              <a:rPr lang="en-IN" sz="1500" dirty="0">
                <a:solidFill>
                  <a:schemeClr val="accent6"/>
                </a:solidFill>
                <a:latin typeface="Google Sans"/>
              </a:rPr>
              <a:t> Leader Election</a:t>
            </a:r>
          </a:p>
          <a:p>
            <a:pPr>
              <a:buFont typeface="+mj-lt"/>
              <a:buAutoNum type="arabicPeriod"/>
            </a:pPr>
            <a:r>
              <a:rPr lang="en-IN" sz="1500" dirty="0" err="1">
                <a:solidFill>
                  <a:schemeClr val="accent6"/>
                </a:solidFill>
                <a:latin typeface="Google Sans"/>
              </a:rPr>
              <a:t>ZooKeeper</a:t>
            </a:r>
            <a:r>
              <a:rPr lang="en-IN" sz="1500" dirty="0">
                <a:solidFill>
                  <a:schemeClr val="accent6"/>
                </a:solidFill>
                <a:latin typeface="Google Sans"/>
              </a:rPr>
              <a:t> / ZAB Election</a:t>
            </a:r>
          </a:p>
          <a:p>
            <a:pPr>
              <a:buFont typeface="+mj-lt"/>
              <a:buAutoNum type="arabicPeriod"/>
            </a:pPr>
            <a:r>
              <a:rPr lang="en-IN" sz="1500" dirty="0">
                <a:solidFill>
                  <a:schemeClr val="accent6"/>
                </a:solidFill>
                <a:latin typeface="Google Sans"/>
              </a:rPr>
              <a:t>Gossip-based Election</a:t>
            </a:r>
          </a:p>
          <a:p>
            <a:pPr>
              <a:buFont typeface="Arial" panose="020B0604020202020204" pitchFamily="34" charset="0"/>
              <a:buChar char="•"/>
            </a:pPr>
            <a:endParaRPr lang="en-IN" sz="1500" dirty="0">
              <a:solidFill>
                <a:schemeClr val="accent6"/>
              </a:solidFill>
              <a:latin typeface="Google Sans"/>
            </a:endParaRPr>
          </a:p>
          <a:p>
            <a:endParaRPr lang="en-IN" sz="1500" dirty="0">
              <a:solidFill>
                <a:schemeClr val="accent6"/>
              </a:solidFill>
              <a:latin typeface="Google Sans"/>
            </a:endParaRPr>
          </a:p>
          <a:p>
            <a:endParaRPr lang="en-IN" sz="1500" dirty="0">
              <a:solidFill>
                <a:schemeClr val="accent6"/>
              </a:solidFill>
              <a:latin typeface="Google Sans"/>
            </a:endParaRPr>
          </a:p>
        </p:txBody>
      </p:sp>
      <p:grpSp>
        <p:nvGrpSpPr>
          <p:cNvPr id="7" name="Group 6">
            <a:extLst>
              <a:ext uri="{FF2B5EF4-FFF2-40B4-BE49-F238E27FC236}">
                <a16:creationId xmlns:a16="http://schemas.microsoft.com/office/drawing/2014/main" id="{4503B428-2B52-90B3-3E4C-AAF032E8DB6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E7E5D48-15FC-B5A0-FFFB-B0858A67BFD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ED97A1B-809B-0AB3-0075-DBCC19C39F7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329508604"/>
      </p:ext>
    </p:extLst>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22A21-849E-8CDC-A9AE-3CBE5E5DDD7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8AD853F-2BAC-A28B-A6B1-82EDF81FDA8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6A8D9F-573E-5E45-DF9F-D24A36B6D4A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BB818CA-5E8F-04C9-9792-495ADB10AFD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1ACA46F-EDEC-B746-2AD8-E97967205EF9}"/>
              </a:ext>
            </a:extLst>
          </p:cNvPr>
          <p:cNvSpPr txBox="1">
            <a:spLocks/>
          </p:cNvSpPr>
          <p:nvPr/>
        </p:nvSpPr>
        <p:spPr>
          <a:xfrm>
            <a:off x="76200" y="697468"/>
            <a:ext cx="8624937" cy="531684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Leader Election</a:t>
            </a:r>
            <a:endParaRPr lang="en-IN" sz="1500" dirty="0">
              <a:solidFill>
                <a:schemeClr val="accent6"/>
              </a:solidFill>
              <a:latin typeface="Google Sans"/>
            </a:endParaRPr>
          </a:p>
          <a:p>
            <a:r>
              <a:rPr lang="en-IN" sz="1500" dirty="0">
                <a:solidFill>
                  <a:schemeClr val="accent6"/>
                </a:solidFill>
                <a:latin typeface="Google Sans"/>
              </a:rPr>
              <a:t>1️⃣ </a:t>
            </a:r>
            <a:r>
              <a:rPr lang="en-IN" sz="1500" dirty="0">
                <a:solidFill>
                  <a:schemeClr val="accent2"/>
                </a:solidFill>
                <a:latin typeface="Google Sans"/>
              </a:rPr>
              <a:t>Bully Algorithm</a:t>
            </a:r>
          </a:p>
          <a:p>
            <a:r>
              <a:rPr lang="en-IN" sz="1500" dirty="0">
                <a:solidFill>
                  <a:schemeClr val="accent2"/>
                </a:solidFill>
                <a:latin typeface="Google Sans"/>
              </a:rPr>
              <a:t>Concept</a:t>
            </a:r>
          </a:p>
          <a:p>
            <a:r>
              <a:rPr lang="en-IN" sz="1500" dirty="0">
                <a:solidFill>
                  <a:schemeClr val="accent6"/>
                </a:solidFill>
                <a:latin typeface="Google Sans"/>
              </a:rPr>
              <a:t>Highest-ID process becomes leader.</a:t>
            </a:r>
          </a:p>
          <a:p>
            <a:r>
              <a:rPr lang="en-IN" sz="1500" dirty="0">
                <a:solidFill>
                  <a:schemeClr val="accent6"/>
                </a:solidFill>
                <a:latin typeface="Google Sans"/>
              </a:rPr>
              <a:t>If leader fails → others “bully” lower-ID nodes.</a:t>
            </a:r>
          </a:p>
          <a:p>
            <a:r>
              <a:rPr lang="en-IN" sz="1500" dirty="0">
                <a:solidFill>
                  <a:schemeClr val="accent2"/>
                </a:solidFill>
                <a:latin typeface="Google Sans"/>
              </a:rPr>
              <a:t>How It Works</a:t>
            </a:r>
          </a:p>
          <a:p>
            <a:r>
              <a:rPr lang="en-IN" sz="1500" dirty="0">
                <a:solidFill>
                  <a:schemeClr val="accent6"/>
                </a:solidFill>
                <a:latin typeface="Google Sans"/>
              </a:rPr>
              <a:t>Steps:</a:t>
            </a:r>
          </a:p>
          <a:p>
            <a:pPr>
              <a:buFont typeface="+mj-lt"/>
              <a:buAutoNum type="arabicPeriod"/>
            </a:pPr>
            <a:r>
              <a:rPr lang="en-IN" sz="1500" dirty="0">
                <a:solidFill>
                  <a:schemeClr val="accent6"/>
                </a:solidFill>
                <a:latin typeface="Google Sans"/>
              </a:rPr>
              <a:t>Node detects leader failure.</a:t>
            </a:r>
          </a:p>
          <a:p>
            <a:pPr>
              <a:buFont typeface="+mj-lt"/>
              <a:buAutoNum type="arabicPeriod"/>
            </a:pPr>
            <a:r>
              <a:rPr lang="en-IN" sz="1500" dirty="0">
                <a:solidFill>
                  <a:schemeClr val="accent6"/>
                </a:solidFill>
                <a:latin typeface="Google Sans"/>
              </a:rPr>
              <a:t>It sends ELECTION message to all higher-ID nodes.</a:t>
            </a:r>
          </a:p>
          <a:p>
            <a:pPr>
              <a:buFont typeface="+mj-lt"/>
              <a:buAutoNum type="arabicPeriod"/>
            </a:pPr>
            <a:r>
              <a:rPr lang="en-IN" sz="1500" dirty="0">
                <a:solidFill>
                  <a:schemeClr val="accent6"/>
                </a:solidFill>
                <a:latin typeface="Google Sans"/>
              </a:rPr>
              <a:t>If no response → it becomes leader.</a:t>
            </a:r>
          </a:p>
          <a:p>
            <a:pPr>
              <a:buFont typeface="+mj-lt"/>
              <a:buAutoNum type="arabicPeriod"/>
            </a:pPr>
            <a:r>
              <a:rPr lang="en-IN" sz="1500" dirty="0">
                <a:solidFill>
                  <a:schemeClr val="accent6"/>
                </a:solidFill>
                <a:latin typeface="Google Sans"/>
              </a:rPr>
              <a:t>If higher node responds → that node takes over election.</a:t>
            </a:r>
          </a:p>
          <a:p>
            <a:pPr>
              <a:buFont typeface="+mj-lt"/>
              <a:buAutoNum type="arabicPeriod"/>
            </a:pPr>
            <a:r>
              <a:rPr lang="en-IN" sz="1500" dirty="0">
                <a:solidFill>
                  <a:schemeClr val="accent6"/>
                </a:solidFill>
                <a:latin typeface="Google Sans"/>
              </a:rPr>
              <a:t>Highest alive ID wins.</a:t>
            </a:r>
            <a:endParaRPr lang="en-IN" sz="1050" dirty="0">
              <a:solidFill>
                <a:srgbClr val="6D6D6D"/>
              </a:solidFill>
              <a:effectLst/>
              <a:latin typeface="Times"/>
            </a:endParaRPr>
          </a:p>
          <a:p>
            <a:r>
              <a:rPr lang="en-IN" sz="1500" dirty="0">
                <a:solidFill>
                  <a:schemeClr val="accent6"/>
                </a:solidFill>
                <a:latin typeface="Google Sans"/>
              </a:rPr>
              <a:t>Properties</a:t>
            </a:r>
          </a:p>
          <a:p>
            <a:r>
              <a:rPr lang="en-IN" sz="1500" dirty="0">
                <a:solidFill>
                  <a:schemeClr val="accent6"/>
                </a:solidFill>
                <a:latin typeface="Google Sans"/>
              </a:rPr>
              <a:t>✅ Simple</a:t>
            </a:r>
            <a:br>
              <a:rPr lang="en-IN" sz="1500" dirty="0">
                <a:solidFill>
                  <a:schemeClr val="accent6"/>
                </a:solidFill>
                <a:latin typeface="Google Sans"/>
              </a:rPr>
            </a:br>
            <a:r>
              <a:rPr lang="en-IN" sz="1500" dirty="0">
                <a:solidFill>
                  <a:schemeClr val="accent6"/>
                </a:solidFill>
                <a:latin typeface="Google Sans"/>
              </a:rPr>
              <a:t>❌ High message cost</a:t>
            </a:r>
            <a:br>
              <a:rPr lang="en-IN" sz="1500" dirty="0">
                <a:solidFill>
                  <a:schemeClr val="accent6"/>
                </a:solidFill>
                <a:latin typeface="Google Sans"/>
              </a:rPr>
            </a:br>
            <a:r>
              <a:rPr lang="en-IN" sz="1500" dirty="0">
                <a:solidFill>
                  <a:schemeClr val="accent6"/>
                </a:solidFill>
                <a:latin typeface="Google Sans"/>
              </a:rPr>
              <a:t>❌ Assumes full connectivity</a:t>
            </a:r>
            <a:br>
              <a:rPr lang="en-IN" sz="1500" dirty="0">
                <a:solidFill>
                  <a:schemeClr val="accent6"/>
                </a:solidFill>
                <a:latin typeface="Google Sans"/>
              </a:rPr>
            </a:br>
            <a:r>
              <a:rPr lang="en-IN" sz="1500" dirty="0">
                <a:solidFill>
                  <a:schemeClr val="accent6"/>
                </a:solidFill>
                <a:latin typeface="Google Sans"/>
              </a:rPr>
              <a:t>❌ Not scalable</a:t>
            </a:r>
          </a:p>
          <a:p>
            <a:endParaRPr lang="en-IN" sz="1050" dirty="0">
              <a:solidFill>
                <a:srgbClr val="6D6D6D"/>
              </a:solidFill>
              <a:effectLst/>
              <a:latin typeface="Times"/>
            </a:endParaRPr>
          </a:p>
          <a:p>
            <a:r>
              <a:rPr lang="en-IN" sz="1500" dirty="0">
                <a:solidFill>
                  <a:schemeClr val="accent6"/>
                </a:solidFill>
                <a:latin typeface="Google Sans"/>
              </a:rPr>
              <a:t>2️⃣ </a:t>
            </a:r>
            <a:r>
              <a:rPr lang="en-IN" sz="1500" dirty="0">
                <a:solidFill>
                  <a:schemeClr val="accent2"/>
                </a:solidFill>
                <a:latin typeface="Google Sans"/>
              </a:rPr>
              <a:t>Ring Algorithm</a:t>
            </a:r>
          </a:p>
          <a:p>
            <a:r>
              <a:rPr lang="en-IN" sz="1500" dirty="0">
                <a:solidFill>
                  <a:schemeClr val="accent2"/>
                </a:solidFill>
                <a:latin typeface="Google Sans"/>
              </a:rPr>
              <a:t>Concept</a:t>
            </a:r>
          </a:p>
          <a:p>
            <a:r>
              <a:rPr lang="en-IN" sz="1500" dirty="0">
                <a:solidFill>
                  <a:schemeClr val="accent6"/>
                </a:solidFill>
                <a:latin typeface="Google Sans"/>
              </a:rPr>
              <a:t>Nodes form a logical ring.</a:t>
            </a:r>
            <a:br>
              <a:rPr lang="en-IN" sz="1500" dirty="0">
                <a:solidFill>
                  <a:schemeClr val="accent6"/>
                </a:solidFill>
                <a:latin typeface="Google Sans"/>
              </a:rPr>
            </a:br>
            <a:r>
              <a:rPr lang="en-IN" sz="1500" dirty="0">
                <a:solidFill>
                  <a:schemeClr val="accent6"/>
                </a:solidFill>
                <a:latin typeface="Google Sans"/>
              </a:rPr>
              <a:t>Election message circulates.</a:t>
            </a:r>
          </a:p>
          <a:p>
            <a:r>
              <a:rPr lang="en-IN" sz="1500" dirty="0">
                <a:solidFill>
                  <a:schemeClr val="accent6"/>
                </a:solidFill>
                <a:latin typeface="Google Sans"/>
              </a:rPr>
              <a:t>Highest ID in ring wins.</a:t>
            </a:r>
          </a:p>
        </p:txBody>
      </p:sp>
      <p:grpSp>
        <p:nvGrpSpPr>
          <p:cNvPr id="7" name="Group 6">
            <a:extLst>
              <a:ext uri="{FF2B5EF4-FFF2-40B4-BE49-F238E27FC236}">
                <a16:creationId xmlns:a16="http://schemas.microsoft.com/office/drawing/2014/main" id="{4503B428-2B52-90B3-3E4C-AAF032E8DB6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E7E5D48-15FC-B5A0-FFFB-B0858A67BFD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ED97A1B-809B-0AB3-0075-DBCC19C39F7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4237105796"/>
      </p:ext>
    </p:extLst>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22A21-849E-8CDC-A9AE-3CBE5E5DDD7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8AD853F-2BAC-A28B-A6B1-82EDF81FDA8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6A8D9F-573E-5E45-DF9F-D24A36B6D4A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BB818CA-5E8F-04C9-9792-495ADB10AFD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1ACA46F-EDEC-B746-2AD8-E97967205EF9}"/>
              </a:ext>
            </a:extLst>
          </p:cNvPr>
          <p:cNvSpPr txBox="1">
            <a:spLocks/>
          </p:cNvSpPr>
          <p:nvPr/>
        </p:nvSpPr>
        <p:spPr>
          <a:xfrm>
            <a:off x="76200" y="697468"/>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Leader Election</a:t>
            </a:r>
            <a:endParaRPr lang="en-IN" sz="1050" dirty="0">
              <a:solidFill>
                <a:srgbClr val="6D6D6D"/>
              </a:solidFill>
              <a:effectLst/>
              <a:latin typeface="Times"/>
            </a:endParaRPr>
          </a:p>
          <a:p>
            <a:r>
              <a:rPr lang="en-IN" sz="1500" dirty="0">
                <a:solidFill>
                  <a:schemeClr val="accent6"/>
                </a:solidFill>
                <a:latin typeface="Google Sans"/>
              </a:rPr>
              <a:t>2️⃣ </a:t>
            </a:r>
            <a:r>
              <a:rPr lang="en-IN" sz="1500" dirty="0">
                <a:solidFill>
                  <a:schemeClr val="accent2"/>
                </a:solidFill>
                <a:latin typeface="Google Sans"/>
              </a:rPr>
              <a:t>Ring Algorithm</a:t>
            </a:r>
            <a:endParaRPr lang="en-IN" sz="1500" dirty="0">
              <a:solidFill>
                <a:schemeClr val="accent6"/>
              </a:solidFill>
              <a:latin typeface="Google Sans"/>
            </a:endParaRPr>
          </a:p>
          <a:p>
            <a:r>
              <a:rPr lang="en-IN" sz="1500" dirty="0">
                <a:solidFill>
                  <a:schemeClr val="accent2"/>
                </a:solidFill>
                <a:latin typeface="Google Sans"/>
              </a:rPr>
              <a:t>Steps:</a:t>
            </a:r>
          </a:p>
          <a:p>
            <a:pPr>
              <a:buFont typeface="+mj-lt"/>
              <a:buAutoNum type="arabicPeriod"/>
            </a:pPr>
            <a:r>
              <a:rPr lang="en-IN" sz="1500" dirty="0">
                <a:solidFill>
                  <a:schemeClr val="accent6"/>
                </a:solidFill>
                <a:latin typeface="Google Sans"/>
              </a:rPr>
              <a:t>Initiator sends election message with its ID.</a:t>
            </a:r>
          </a:p>
          <a:p>
            <a:pPr>
              <a:buFont typeface="+mj-lt"/>
              <a:buAutoNum type="arabicPeriod"/>
            </a:pPr>
            <a:r>
              <a:rPr lang="en-IN" sz="1500" dirty="0">
                <a:solidFill>
                  <a:schemeClr val="accent6"/>
                </a:solidFill>
                <a:latin typeface="Google Sans"/>
              </a:rPr>
              <a:t>Each node appends its ID.</a:t>
            </a:r>
          </a:p>
          <a:p>
            <a:pPr>
              <a:buFont typeface="+mj-lt"/>
              <a:buAutoNum type="arabicPeriod"/>
            </a:pPr>
            <a:r>
              <a:rPr lang="en-IN" sz="1500" dirty="0">
                <a:solidFill>
                  <a:schemeClr val="accent6"/>
                </a:solidFill>
                <a:latin typeface="Google Sans"/>
              </a:rPr>
              <a:t>Message completes full ring.</a:t>
            </a:r>
          </a:p>
          <a:p>
            <a:pPr>
              <a:buFont typeface="+mj-lt"/>
              <a:buAutoNum type="arabicPeriod"/>
            </a:pPr>
            <a:r>
              <a:rPr lang="en-IN" sz="1500" dirty="0">
                <a:solidFill>
                  <a:schemeClr val="accent6"/>
                </a:solidFill>
                <a:latin typeface="Google Sans"/>
              </a:rPr>
              <a:t>Highest ID becomes leader.</a:t>
            </a:r>
          </a:p>
          <a:p>
            <a:pPr>
              <a:buFont typeface="+mj-lt"/>
              <a:buAutoNum type="arabicPeriod"/>
            </a:pPr>
            <a:r>
              <a:rPr lang="en-IN" sz="1500" dirty="0">
                <a:solidFill>
                  <a:schemeClr val="accent6"/>
                </a:solidFill>
                <a:latin typeface="Google Sans"/>
              </a:rPr>
              <a:t>Coordinator message circulates.</a:t>
            </a:r>
          </a:p>
          <a:p>
            <a:r>
              <a:rPr lang="en-IN" sz="1500" dirty="0">
                <a:solidFill>
                  <a:schemeClr val="accent2"/>
                </a:solidFill>
                <a:latin typeface="Google Sans"/>
              </a:rPr>
              <a:t>Properties</a:t>
            </a:r>
          </a:p>
          <a:p>
            <a:r>
              <a:rPr lang="en-IN" sz="1500" dirty="0">
                <a:solidFill>
                  <a:schemeClr val="accent6"/>
                </a:solidFill>
                <a:latin typeface="Google Sans"/>
              </a:rPr>
              <a:t>✅ Lower message overhead than bully</a:t>
            </a:r>
            <a:br>
              <a:rPr lang="en-IN" sz="1500" dirty="0">
                <a:solidFill>
                  <a:schemeClr val="accent6"/>
                </a:solidFill>
                <a:latin typeface="Google Sans"/>
              </a:rPr>
            </a:br>
            <a:r>
              <a:rPr lang="en-IN" sz="1500" dirty="0">
                <a:solidFill>
                  <a:schemeClr val="accent6"/>
                </a:solidFill>
                <a:latin typeface="Google Sans"/>
              </a:rPr>
              <a:t>❌ Slow in large rings</a:t>
            </a:r>
            <a:br>
              <a:rPr lang="en-IN" sz="1500" dirty="0">
                <a:solidFill>
                  <a:schemeClr val="accent6"/>
                </a:solidFill>
                <a:latin typeface="Google Sans"/>
              </a:rPr>
            </a:br>
            <a:r>
              <a:rPr lang="en-IN" sz="1500" dirty="0">
                <a:solidFill>
                  <a:schemeClr val="accent6"/>
                </a:solidFill>
                <a:latin typeface="Google Sans"/>
              </a:rPr>
              <a:t>❌ Requires ring topology</a:t>
            </a:r>
          </a:p>
          <a:p>
            <a:endParaRPr lang="en-IN" sz="1500" dirty="0">
              <a:solidFill>
                <a:schemeClr val="accent6"/>
              </a:solidFill>
              <a:latin typeface="Google Sans"/>
            </a:endParaRPr>
          </a:p>
          <a:p>
            <a:r>
              <a:rPr lang="en-IN" sz="1500" dirty="0">
                <a:solidFill>
                  <a:schemeClr val="accent6"/>
                </a:solidFill>
                <a:latin typeface="Google Sans"/>
              </a:rPr>
              <a:t>3️⃣ </a:t>
            </a:r>
            <a:r>
              <a:rPr lang="en-IN" sz="1500" dirty="0">
                <a:solidFill>
                  <a:schemeClr val="accent2"/>
                </a:solidFill>
                <a:latin typeface="Google Sans"/>
              </a:rPr>
              <a:t>Raft Leader Election</a:t>
            </a:r>
          </a:p>
          <a:p>
            <a:r>
              <a:rPr lang="en-IN" sz="1500" dirty="0">
                <a:solidFill>
                  <a:schemeClr val="accent6"/>
                </a:solidFill>
                <a:latin typeface="Google Sans"/>
              </a:rPr>
              <a:t>Used in modern distributed systems.</a:t>
            </a:r>
          </a:p>
          <a:p>
            <a:r>
              <a:rPr lang="en-IN" sz="1500" dirty="0">
                <a:solidFill>
                  <a:schemeClr val="accent2"/>
                </a:solidFill>
                <a:latin typeface="Google Sans"/>
              </a:rPr>
              <a:t>Implemented in:</a:t>
            </a:r>
          </a:p>
          <a:p>
            <a:pPr>
              <a:buFont typeface="Arial" panose="020B0604020202020204" pitchFamily="34" charset="0"/>
              <a:buChar char="•"/>
            </a:pPr>
            <a:r>
              <a:rPr lang="en-IN" sz="1500" dirty="0" err="1">
                <a:solidFill>
                  <a:schemeClr val="accent6"/>
                </a:solidFill>
                <a:latin typeface="Google Sans"/>
              </a:rPr>
              <a:t>etcd</a:t>
            </a:r>
            <a:endParaRPr lang="en-IN" sz="1500" dirty="0">
              <a:solidFill>
                <a:schemeClr val="accent6"/>
              </a:solidFill>
              <a:latin typeface="Google Sans"/>
            </a:endParaRPr>
          </a:p>
          <a:p>
            <a:pPr>
              <a:buFont typeface="Arial" panose="020B0604020202020204" pitchFamily="34" charset="0"/>
              <a:buChar char="•"/>
            </a:pPr>
            <a:r>
              <a:rPr lang="en-IN" sz="1500" dirty="0">
                <a:solidFill>
                  <a:schemeClr val="accent6"/>
                </a:solidFill>
                <a:latin typeface="Google Sans"/>
              </a:rPr>
              <a:t>Consul</a:t>
            </a:r>
          </a:p>
          <a:p>
            <a:pPr>
              <a:buFont typeface="Arial" panose="020B0604020202020204" pitchFamily="34" charset="0"/>
              <a:buChar char="•"/>
            </a:pPr>
            <a:r>
              <a:rPr lang="en-IN" sz="1500" dirty="0" err="1">
                <a:solidFill>
                  <a:schemeClr val="accent6"/>
                </a:solidFill>
                <a:latin typeface="Google Sans"/>
              </a:rPr>
              <a:t>CockroachDB</a:t>
            </a:r>
            <a:endParaRPr lang="en-IN" sz="1500" dirty="0">
              <a:solidFill>
                <a:schemeClr val="accent6"/>
              </a:solidFill>
              <a:latin typeface="Google Sans"/>
            </a:endParaRPr>
          </a:p>
          <a:p>
            <a:r>
              <a:rPr lang="en-IN" sz="1500" dirty="0">
                <a:solidFill>
                  <a:schemeClr val="accent2"/>
                </a:solidFill>
                <a:latin typeface="Google Sans"/>
              </a:rPr>
              <a:t>Core Idea</a:t>
            </a:r>
          </a:p>
          <a:p>
            <a:r>
              <a:rPr lang="en-IN" sz="1500" dirty="0">
                <a:solidFill>
                  <a:schemeClr val="accent6"/>
                </a:solidFill>
                <a:latin typeface="Google Sans"/>
              </a:rPr>
              <a:t>Election based on terms + randomized timeouts.</a:t>
            </a:r>
          </a:p>
        </p:txBody>
      </p:sp>
      <p:grpSp>
        <p:nvGrpSpPr>
          <p:cNvPr id="7" name="Group 6">
            <a:extLst>
              <a:ext uri="{FF2B5EF4-FFF2-40B4-BE49-F238E27FC236}">
                <a16:creationId xmlns:a16="http://schemas.microsoft.com/office/drawing/2014/main" id="{4503B428-2B52-90B3-3E4C-AAF032E8DB6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E7E5D48-15FC-B5A0-FFFB-B0858A67BFD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ED97A1B-809B-0AB3-0075-DBCC19C39F7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660942343"/>
      </p:ext>
    </p:extLst>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22A21-849E-8CDC-A9AE-3CBE5E5DDD7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8AD853F-2BAC-A28B-A6B1-82EDF81FDA8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6A8D9F-573E-5E45-DF9F-D24A36B6D4A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BB818CA-5E8F-04C9-9792-495ADB10AFD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1ACA46F-EDEC-B746-2AD8-E97967205EF9}"/>
              </a:ext>
            </a:extLst>
          </p:cNvPr>
          <p:cNvSpPr txBox="1">
            <a:spLocks/>
          </p:cNvSpPr>
          <p:nvPr/>
        </p:nvSpPr>
        <p:spPr>
          <a:xfrm>
            <a:off x="76200" y="697468"/>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Leader Election</a:t>
            </a:r>
            <a:endParaRPr lang="en-IN" sz="1050" dirty="0">
              <a:solidFill>
                <a:srgbClr val="6D6D6D"/>
              </a:solidFill>
              <a:effectLst/>
              <a:latin typeface="Times"/>
            </a:endParaRPr>
          </a:p>
          <a:p>
            <a:r>
              <a:rPr lang="en-IN" sz="1500" dirty="0">
                <a:solidFill>
                  <a:schemeClr val="accent6"/>
                </a:solidFill>
                <a:latin typeface="Google Sans"/>
              </a:rPr>
              <a:t>3️⃣ </a:t>
            </a:r>
            <a:r>
              <a:rPr lang="en-IN" sz="1500" dirty="0">
                <a:solidFill>
                  <a:schemeClr val="accent2"/>
                </a:solidFill>
                <a:latin typeface="Google Sans"/>
              </a:rPr>
              <a:t>Raft Leader Election</a:t>
            </a:r>
            <a:endParaRPr lang="en-IN" sz="1500" dirty="0">
              <a:solidFill>
                <a:schemeClr val="accent6"/>
              </a:solidFill>
              <a:latin typeface="Google Sans"/>
            </a:endParaRPr>
          </a:p>
          <a:p>
            <a:r>
              <a:rPr lang="en-IN" sz="1500" dirty="0">
                <a:solidFill>
                  <a:schemeClr val="accent2"/>
                </a:solidFill>
                <a:latin typeface="Google Sans"/>
              </a:rPr>
              <a:t>How It Works</a:t>
            </a:r>
          </a:p>
          <a:p>
            <a:r>
              <a:rPr lang="en-IN" sz="1500" dirty="0">
                <a:solidFill>
                  <a:schemeClr val="accent6"/>
                </a:solidFill>
                <a:latin typeface="Google Sans"/>
              </a:rPr>
              <a:t>Node States</a:t>
            </a:r>
          </a:p>
          <a:p>
            <a:pPr>
              <a:buFont typeface="Arial" panose="020B0604020202020204" pitchFamily="34" charset="0"/>
              <a:buChar char="•"/>
            </a:pPr>
            <a:r>
              <a:rPr lang="en-IN" sz="1500" dirty="0">
                <a:solidFill>
                  <a:schemeClr val="accent6"/>
                </a:solidFill>
                <a:latin typeface="Google Sans"/>
              </a:rPr>
              <a:t>Follower</a:t>
            </a:r>
          </a:p>
          <a:p>
            <a:pPr>
              <a:buFont typeface="Arial" panose="020B0604020202020204" pitchFamily="34" charset="0"/>
              <a:buChar char="•"/>
            </a:pPr>
            <a:r>
              <a:rPr lang="en-IN" sz="1500" dirty="0">
                <a:solidFill>
                  <a:schemeClr val="accent6"/>
                </a:solidFill>
                <a:latin typeface="Google Sans"/>
              </a:rPr>
              <a:t>Candidate</a:t>
            </a:r>
          </a:p>
          <a:p>
            <a:pPr>
              <a:buFont typeface="Arial" panose="020B0604020202020204" pitchFamily="34" charset="0"/>
              <a:buChar char="•"/>
            </a:pPr>
            <a:r>
              <a:rPr lang="en-IN" sz="1500" dirty="0">
                <a:solidFill>
                  <a:schemeClr val="accent6"/>
                </a:solidFill>
                <a:latin typeface="Google Sans"/>
              </a:rPr>
              <a:t>Leader</a:t>
            </a:r>
          </a:p>
          <a:p>
            <a:r>
              <a:rPr lang="en-IN" sz="1500" dirty="0">
                <a:solidFill>
                  <a:schemeClr val="accent2"/>
                </a:solidFill>
                <a:latin typeface="Google Sans"/>
              </a:rPr>
              <a:t>Election Process</a:t>
            </a:r>
          </a:p>
          <a:p>
            <a:pPr>
              <a:buFont typeface="+mj-lt"/>
              <a:buAutoNum type="arabicPeriod"/>
            </a:pPr>
            <a:r>
              <a:rPr lang="en-IN" sz="1500" dirty="0">
                <a:solidFill>
                  <a:schemeClr val="accent6"/>
                </a:solidFill>
                <a:latin typeface="Google Sans"/>
              </a:rPr>
              <a:t>Follower times out.</a:t>
            </a:r>
          </a:p>
          <a:p>
            <a:pPr>
              <a:buFont typeface="+mj-lt"/>
              <a:buAutoNum type="arabicPeriod"/>
            </a:pPr>
            <a:r>
              <a:rPr lang="en-IN" sz="1500" dirty="0">
                <a:solidFill>
                  <a:schemeClr val="accent6"/>
                </a:solidFill>
                <a:latin typeface="Google Sans"/>
              </a:rPr>
              <a:t>Becomes candidate.</a:t>
            </a:r>
          </a:p>
          <a:p>
            <a:pPr>
              <a:buFont typeface="+mj-lt"/>
              <a:buAutoNum type="arabicPeriod"/>
            </a:pPr>
            <a:r>
              <a:rPr lang="en-IN" sz="1500" dirty="0">
                <a:solidFill>
                  <a:schemeClr val="accent6"/>
                </a:solidFill>
                <a:latin typeface="Google Sans"/>
              </a:rPr>
              <a:t>Increments term.</a:t>
            </a:r>
          </a:p>
          <a:p>
            <a:pPr>
              <a:buFont typeface="+mj-lt"/>
              <a:buAutoNum type="arabicPeriod"/>
            </a:pPr>
            <a:r>
              <a:rPr lang="en-IN" sz="1500" dirty="0">
                <a:solidFill>
                  <a:schemeClr val="accent6"/>
                </a:solidFill>
                <a:latin typeface="Google Sans"/>
              </a:rPr>
              <a:t>Sends </a:t>
            </a:r>
            <a:r>
              <a:rPr lang="en-IN" sz="1500" dirty="0" err="1">
                <a:solidFill>
                  <a:schemeClr val="accent6"/>
                </a:solidFill>
                <a:latin typeface="Google Sans"/>
              </a:rPr>
              <a:t>RequestVote</a:t>
            </a:r>
            <a:r>
              <a:rPr lang="en-IN" sz="1500" dirty="0">
                <a:solidFill>
                  <a:schemeClr val="accent6"/>
                </a:solidFill>
                <a:latin typeface="Google Sans"/>
              </a:rPr>
              <a:t> RPC.</a:t>
            </a:r>
          </a:p>
          <a:p>
            <a:pPr>
              <a:buFont typeface="+mj-lt"/>
              <a:buAutoNum type="arabicPeriod"/>
            </a:pPr>
            <a:r>
              <a:rPr lang="en-IN" sz="1500" dirty="0">
                <a:solidFill>
                  <a:schemeClr val="accent6"/>
                </a:solidFill>
                <a:latin typeface="Google Sans"/>
              </a:rPr>
              <a:t>If majority votes → becomes leader.</a:t>
            </a:r>
          </a:p>
          <a:p>
            <a:r>
              <a:rPr lang="en-IN" sz="1500" dirty="0">
                <a:solidFill>
                  <a:schemeClr val="accent6"/>
                </a:solidFill>
                <a:latin typeface="Google Sans"/>
              </a:rPr>
              <a:t>Randomized timeout prevents split votes.</a:t>
            </a:r>
          </a:p>
          <a:p>
            <a:r>
              <a:rPr lang="en-IN" sz="1500" dirty="0">
                <a:solidFill>
                  <a:schemeClr val="accent2"/>
                </a:solidFill>
                <a:latin typeface="Google Sans"/>
              </a:rPr>
              <a:t>Properties</a:t>
            </a:r>
          </a:p>
          <a:p>
            <a:r>
              <a:rPr lang="en-IN" sz="1500" dirty="0">
                <a:solidFill>
                  <a:schemeClr val="accent6"/>
                </a:solidFill>
                <a:latin typeface="Google Sans"/>
              </a:rPr>
              <a:t>✅ Handles crashes</a:t>
            </a:r>
            <a:br>
              <a:rPr lang="en-IN" sz="1500" dirty="0">
                <a:solidFill>
                  <a:schemeClr val="accent6"/>
                </a:solidFill>
                <a:latin typeface="Google Sans"/>
              </a:rPr>
            </a:br>
            <a:r>
              <a:rPr lang="en-IN" sz="1500" dirty="0">
                <a:solidFill>
                  <a:schemeClr val="accent6"/>
                </a:solidFill>
                <a:latin typeface="Google Sans"/>
              </a:rPr>
              <a:t>✅ Prevents split-brain</a:t>
            </a:r>
            <a:br>
              <a:rPr lang="en-IN" sz="1500" dirty="0">
                <a:solidFill>
                  <a:schemeClr val="accent6"/>
                </a:solidFill>
                <a:latin typeface="Google Sans"/>
              </a:rPr>
            </a:br>
            <a:r>
              <a:rPr lang="en-IN" sz="1500" dirty="0">
                <a:solidFill>
                  <a:schemeClr val="accent6"/>
                </a:solidFill>
                <a:latin typeface="Google Sans"/>
              </a:rPr>
              <a:t>✅ Majority-based</a:t>
            </a:r>
            <a:br>
              <a:rPr lang="en-IN" sz="1500" dirty="0">
                <a:solidFill>
                  <a:schemeClr val="accent6"/>
                </a:solidFill>
                <a:latin typeface="Google Sans"/>
              </a:rPr>
            </a:br>
            <a:r>
              <a:rPr lang="en-IN" sz="1500" dirty="0">
                <a:solidFill>
                  <a:schemeClr val="accent6"/>
                </a:solidFill>
                <a:latin typeface="Google Sans"/>
              </a:rPr>
              <a:t>✅ Production-ready</a:t>
            </a:r>
          </a:p>
          <a:p>
            <a:r>
              <a:rPr lang="en-IN" sz="1500" dirty="0">
                <a:solidFill>
                  <a:schemeClr val="accent6"/>
                </a:solidFill>
                <a:latin typeface="Google Sans"/>
              </a:rPr>
              <a:t>Most widely used today.</a:t>
            </a:r>
          </a:p>
          <a:p>
            <a:br>
              <a:rPr lang="en-IN" sz="1500" dirty="0">
                <a:solidFill>
                  <a:schemeClr val="accent6"/>
                </a:solidFill>
                <a:latin typeface="Google Sans"/>
              </a:rPr>
            </a:br>
            <a:endParaRPr lang="en-US" sz="1500" dirty="0">
              <a:solidFill>
                <a:schemeClr val="accent2"/>
              </a:solidFill>
              <a:latin typeface="Google Sans"/>
            </a:endParaRPr>
          </a:p>
        </p:txBody>
      </p:sp>
      <p:grpSp>
        <p:nvGrpSpPr>
          <p:cNvPr id="7" name="Group 6">
            <a:extLst>
              <a:ext uri="{FF2B5EF4-FFF2-40B4-BE49-F238E27FC236}">
                <a16:creationId xmlns:a16="http://schemas.microsoft.com/office/drawing/2014/main" id="{4503B428-2B52-90B3-3E4C-AAF032E8DB6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E7E5D48-15FC-B5A0-FFFB-B0858A67BFD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ED97A1B-809B-0AB3-0075-DBCC19C39F7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1992728073"/>
      </p:ext>
    </p:extLst>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22A21-849E-8CDC-A9AE-3CBE5E5DDD7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8AD853F-2BAC-A28B-A6B1-82EDF81FDA8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6A8D9F-573E-5E45-DF9F-D24A36B6D4A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BB818CA-5E8F-04C9-9792-495ADB10AFD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1ACA46F-EDEC-B746-2AD8-E97967205EF9}"/>
              </a:ext>
            </a:extLst>
          </p:cNvPr>
          <p:cNvSpPr txBox="1">
            <a:spLocks/>
          </p:cNvSpPr>
          <p:nvPr/>
        </p:nvSpPr>
        <p:spPr>
          <a:xfrm>
            <a:off x="76200" y="697468"/>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Leader Election</a:t>
            </a:r>
            <a:endParaRPr lang="en-IN" sz="1050" dirty="0">
              <a:solidFill>
                <a:srgbClr val="6D6D6D"/>
              </a:solidFill>
              <a:effectLst/>
              <a:latin typeface="Times"/>
            </a:endParaRPr>
          </a:p>
          <a:p>
            <a:r>
              <a:rPr lang="en-IN" sz="1500" dirty="0">
                <a:solidFill>
                  <a:schemeClr val="accent2"/>
                </a:solidFill>
                <a:latin typeface="Google Sans"/>
              </a:rPr>
              <a:t>4️⃣ </a:t>
            </a:r>
            <a:r>
              <a:rPr lang="en-IN" sz="1500" dirty="0" err="1">
                <a:solidFill>
                  <a:schemeClr val="accent2"/>
                </a:solidFill>
                <a:latin typeface="Google Sans"/>
              </a:rPr>
              <a:t>Paxos</a:t>
            </a:r>
            <a:r>
              <a:rPr lang="en-IN" sz="1500" dirty="0">
                <a:solidFill>
                  <a:schemeClr val="accent2"/>
                </a:solidFill>
                <a:latin typeface="Google Sans"/>
              </a:rPr>
              <a:t> Leader Election</a:t>
            </a:r>
          </a:p>
          <a:p>
            <a:r>
              <a:rPr lang="en-IN" sz="1500" dirty="0">
                <a:solidFill>
                  <a:schemeClr val="accent2"/>
                </a:solidFill>
                <a:latin typeface="Google Sans"/>
              </a:rPr>
              <a:t>Based on:</a:t>
            </a:r>
          </a:p>
          <a:p>
            <a:pPr>
              <a:buFont typeface="Arial" panose="020B0604020202020204" pitchFamily="34" charset="0"/>
              <a:buChar char="•"/>
            </a:pPr>
            <a:r>
              <a:rPr lang="en-IN" sz="1500" dirty="0" err="1">
                <a:solidFill>
                  <a:schemeClr val="accent6"/>
                </a:solidFill>
                <a:latin typeface="Google Sans"/>
              </a:rPr>
              <a:t>Paxos</a:t>
            </a:r>
            <a:endParaRPr lang="en-IN" sz="1500" dirty="0">
              <a:solidFill>
                <a:schemeClr val="accent6"/>
              </a:solidFill>
              <a:latin typeface="Google Sans"/>
            </a:endParaRPr>
          </a:p>
          <a:p>
            <a:r>
              <a:rPr lang="en-IN" sz="1500" dirty="0">
                <a:solidFill>
                  <a:schemeClr val="accent6"/>
                </a:solidFill>
                <a:latin typeface="Google Sans"/>
              </a:rPr>
              <a:t>Leader = Distinguished Proposer.</a:t>
            </a:r>
          </a:p>
          <a:p>
            <a:r>
              <a:rPr lang="en-IN" sz="1500" dirty="0">
                <a:solidFill>
                  <a:schemeClr val="accent6"/>
                </a:solidFill>
                <a:latin typeface="Google Sans"/>
              </a:rPr>
              <a:t>Uses proposal numbers to determine leader authority.</a:t>
            </a:r>
          </a:p>
          <a:p>
            <a:r>
              <a:rPr lang="en-IN" sz="1500" dirty="0">
                <a:solidFill>
                  <a:schemeClr val="accent6"/>
                </a:solidFill>
                <a:latin typeface="Google Sans"/>
              </a:rPr>
              <a:t>More complex than Raft but mathematically elegant.</a:t>
            </a:r>
          </a:p>
          <a:p>
            <a:r>
              <a:rPr lang="en-IN" sz="1500" dirty="0">
                <a:solidFill>
                  <a:schemeClr val="accent2"/>
                </a:solidFill>
                <a:latin typeface="Google Sans"/>
              </a:rPr>
              <a:t>Properties</a:t>
            </a:r>
          </a:p>
          <a:p>
            <a:r>
              <a:rPr lang="en-IN" sz="1500" dirty="0">
                <a:solidFill>
                  <a:schemeClr val="accent6"/>
                </a:solidFill>
                <a:latin typeface="Google Sans"/>
              </a:rPr>
              <a:t>✅ Proven correctness</a:t>
            </a:r>
            <a:br>
              <a:rPr lang="en-IN" sz="1500" dirty="0">
                <a:solidFill>
                  <a:schemeClr val="accent6"/>
                </a:solidFill>
                <a:latin typeface="Google Sans"/>
              </a:rPr>
            </a:br>
            <a:r>
              <a:rPr lang="en-IN" sz="1500" dirty="0">
                <a:solidFill>
                  <a:schemeClr val="accent6"/>
                </a:solidFill>
                <a:latin typeface="Google Sans"/>
              </a:rPr>
              <a:t>❌ Complex to implement</a:t>
            </a:r>
          </a:p>
          <a:p>
            <a:br>
              <a:rPr lang="en-IN" sz="1500" dirty="0">
                <a:solidFill>
                  <a:schemeClr val="accent6"/>
                </a:solidFill>
                <a:latin typeface="Google Sans"/>
              </a:rPr>
            </a:br>
            <a:endParaRPr lang="en-IN" sz="1500" dirty="0">
              <a:solidFill>
                <a:schemeClr val="accent6"/>
              </a:solidFill>
              <a:latin typeface="Google Sans"/>
            </a:endParaRPr>
          </a:p>
          <a:p>
            <a:r>
              <a:rPr lang="en-IN" sz="1500" dirty="0">
                <a:solidFill>
                  <a:schemeClr val="accent6"/>
                </a:solidFill>
                <a:latin typeface="Google Sans"/>
              </a:rPr>
              <a:t>5️⃣ </a:t>
            </a:r>
            <a:r>
              <a:rPr lang="en-IN" sz="1500" dirty="0" err="1">
                <a:solidFill>
                  <a:schemeClr val="accent2"/>
                </a:solidFill>
                <a:latin typeface="Google Sans"/>
              </a:rPr>
              <a:t>ZooKeeper</a:t>
            </a:r>
            <a:r>
              <a:rPr lang="en-IN" sz="1500" dirty="0">
                <a:solidFill>
                  <a:schemeClr val="accent2"/>
                </a:solidFill>
                <a:latin typeface="Google Sans"/>
              </a:rPr>
              <a:t> Election (ZAB Protocol)</a:t>
            </a:r>
          </a:p>
          <a:p>
            <a:r>
              <a:rPr lang="en-IN" sz="1500" dirty="0">
                <a:solidFill>
                  <a:schemeClr val="accent2"/>
                </a:solidFill>
                <a:latin typeface="Google Sans"/>
              </a:rPr>
              <a:t>Used in:</a:t>
            </a:r>
          </a:p>
          <a:p>
            <a:pPr>
              <a:buFont typeface="Arial" panose="020B0604020202020204" pitchFamily="34" charset="0"/>
              <a:buChar char="•"/>
            </a:pPr>
            <a:r>
              <a:rPr lang="en-IN" sz="1500" dirty="0">
                <a:solidFill>
                  <a:schemeClr val="accent6"/>
                </a:solidFill>
                <a:latin typeface="Google Sans"/>
              </a:rPr>
              <a:t>Apache </a:t>
            </a:r>
            <a:r>
              <a:rPr lang="en-IN" sz="1500" dirty="0" err="1">
                <a:solidFill>
                  <a:schemeClr val="accent6"/>
                </a:solidFill>
                <a:latin typeface="Google Sans"/>
              </a:rPr>
              <a:t>ZooKeeper</a:t>
            </a:r>
            <a:endParaRPr lang="en-IN" sz="1500" dirty="0">
              <a:solidFill>
                <a:schemeClr val="accent6"/>
              </a:solidFill>
              <a:latin typeface="Google Sans"/>
            </a:endParaRPr>
          </a:p>
          <a:p>
            <a:r>
              <a:rPr lang="en-IN" sz="1500" dirty="0">
                <a:solidFill>
                  <a:schemeClr val="accent2"/>
                </a:solidFill>
                <a:latin typeface="Google Sans"/>
              </a:rPr>
              <a:t>Leader chosen based on:</a:t>
            </a:r>
          </a:p>
          <a:p>
            <a:pPr>
              <a:buFont typeface="Arial" panose="020B0604020202020204" pitchFamily="34" charset="0"/>
              <a:buChar char="•"/>
            </a:pPr>
            <a:r>
              <a:rPr lang="en-IN" sz="1500" dirty="0">
                <a:solidFill>
                  <a:schemeClr val="accent6"/>
                </a:solidFill>
                <a:latin typeface="Google Sans"/>
              </a:rPr>
              <a:t>Highest transaction ID (</a:t>
            </a:r>
            <a:r>
              <a:rPr lang="en-IN" sz="1500" dirty="0" err="1">
                <a:solidFill>
                  <a:schemeClr val="accent6"/>
                </a:solidFill>
                <a:latin typeface="Google Sans"/>
              </a:rPr>
              <a:t>zxid</a:t>
            </a:r>
            <a:r>
              <a:rPr lang="en-IN" sz="1500" dirty="0">
                <a:solidFill>
                  <a:schemeClr val="accent6"/>
                </a:solidFill>
                <a:latin typeface="Google Sans"/>
              </a:rPr>
              <a:t>)</a:t>
            </a:r>
          </a:p>
          <a:p>
            <a:pPr>
              <a:buFont typeface="Arial" panose="020B0604020202020204" pitchFamily="34" charset="0"/>
              <a:buChar char="•"/>
            </a:pPr>
            <a:r>
              <a:rPr lang="en-IN" sz="1500" dirty="0">
                <a:solidFill>
                  <a:schemeClr val="accent6"/>
                </a:solidFill>
                <a:latin typeface="Google Sans"/>
              </a:rPr>
              <a:t>Server ID tie-breaker</a:t>
            </a:r>
          </a:p>
          <a:p>
            <a:r>
              <a:rPr lang="en-IN" sz="1500" dirty="0">
                <a:solidFill>
                  <a:schemeClr val="accent6"/>
                </a:solidFill>
                <a:latin typeface="Google Sans"/>
              </a:rPr>
              <a:t>Designed for high availability coordination services.</a:t>
            </a:r>
          </a:p>
          <a:p>
            <a:br>
              <a:rPr lang="en-IN" sz="1500" dirty="0">
                <a:solidFill>
                  <a:schemeClr val="accent6"/>
                </a:solidFill>
                <a:latin typeface="Google Sans"/>
              </a:rPr>
            </a:br>
            <a:endParaRPr lang="en-IN" sz="1500" dirty="0">
              <a:solidFill>
                <a:schemeClr val="accent6"/>
              </a:solidFill>
              <a:latin typeface="Google Sans"/>
            </a:endParaRPr>
          </a:p>
        </p:txBody>
      </p:sp>
      <p:grpSp>
        <p:nvGrpSpPr>
          <p:cNvPr id="7" name="Group 6">
            <a:extLst>
              <a:ext uri="{FF2B5EF4-FFF2-40B4-BE49-F238E27FC236}">
                <a16:creationId xmlns:a16="http://schemas.microsoft.com/office/drawing/2014/main" id="{4503B428-2B52-90B3-3E4C-AAF032E8DB6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E7E5D48-15FC-B5A0-FFFB-B0858A67BFD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ED97A1B-809B-0AB3-0075-DBCC19C39F7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2049286295"/>
      </p:ext>
    </p:extLst>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22A21-849E-8CDC-A9AE-3CBE5E5DDD7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8AD853F-2BAC-A28B-A6B1-82EDF81FDA8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6A8D9F-573E-5E45-DF9F-D24A36B6D4A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BB818CA-5E8F-04C9-9792-495ADB10AFD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1ACA46F-EDEC-B746-2AD8-E97967205EF9}"/>
              </a:ext>
            </a:extLst>
          </p:cNvPr>
          <p:cNvSpPr txBox="1">
            <a:spLocks/>
          </p:cNvSpPr>
          <p:nvPr/>
        </p:nvSpPr>
        <p:spPr>
          <a:xfrm>
            <a:off x="76200" y="697468"/>
            <a:ext cx="8624937" cy="21544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Leader Election</a:t>
            </a:r>
            <a:endParaRPr lang="en-IN" sz="1050" dirty="0">
              <a:solidFill>
                <a:srgbClr val="6D6D6D"/>
              </a:solidFill>
              <a:effectLst/>
              <a:latin typeface="Times"/>
            </a:endParaRPr>
          </a:p>
          <a:p>
            <a:r>
              <a:rPr lang="en-IN" sz="1500" dirty="0">
                <a:solidFill>
                  <a:schemeClr val="accent2"/>
                </a:solidFill>
                <a:latin typeface="Google Sans"/>
              </a:rPr>
              <a:t>6️⃣ Gossip-Based Leader Election</a:t>
            </a:r>
          </a:p>
          <a:p>
            <a:r>
              <a:rPr lang="en-IN" sz="1500" dirty="0">
                <a:solidFill>
                  <a:schemeClr val="accent6"/>
                </a:solidFill>
                <a:latin typeface="Google Sans"/>
              </a:rPr>
              <a:t>Used in large distributed clusters.</a:t>
            </a:r>
          </a:p>
          <a:p>
            <a:r>
              <a:rPr lang="en-IN" sz="1500" dirty="0">
                <a:solidFill>
                  <a:schemeClr val="accent6"/>
                </a:solidFill>
                <a:latin typeface="Google Sans"/>
              </a:rPr>
              <a:t>Nodes gossip state information periodically.</a:t>
            </a:r>
          </a:p>
          <a:p>
            <a:r>
              <a:rPr lang="en-IN" sz="1500" dirty="0">
                <a:solidFill>
                  <a:schemeClr val="accent2"/>
                </a:solidFill>
                <a:latin typeface="Google Sans"/>
              </a:rPr>
              <a:t>Example systems:</a:t>
            </a:r>
          </a:p>
          <a:p>
            <a:pPr>
              <a:buFont typeface="Arial" panose="020B0604020202020204" pitchFamily="34" charset="0"/>
              <a:buChar char="•"/>
            </a:pPr>
            <a:r>
              <a:rPr lang="en-IN" sz="1500" dirty="0">
                <a:solidFill>
                  <a:schemeClr val="accent6"/>
                </a:solidFill>
                <a:latin typeface="Google Sans"/>
              </a:rPr>
              <a:t>Apache Cassandra</a:t>
            </a:r>
          </a:p>
          <a:p>
            <a:r>
              <a:rPr lang="en-IN" sz="1500" dirty="0">
                <a:solidFill>
                  <a:schemeClr val="accent6"/>
                </a:solidFill>
                <a:latin typeface="Google Sans"/>
              </a:rPr>
              <a:t>Eventually converges to a leader.</a:t>
            </a:r>
          </a:p>
          <a:p>
            <a:endParaRPr lang="en-IN" sz="1500" dirty="0">
              <a:solidFill>
                <a:schemeClr val="accent6"/>
              </a:solidFill>
              <a:latin typeface="Google Sans"/>
            </a:endParaRPr>
          </a:p>
          <a:p>
            <a:pPr marL="12700" marR="5080"/>
            <a:endParaRPr lang="en-US" sz="1500" dirty="0">
              <a:solidFill>
                <a:schemeClr val="accent2"/>
              </a:solidFill>
              <a:latin typeface="Google Sans"/>
            </a:endParaRPr>
          </a:p>
        </p:txBody>
      </p:sp>
      <p:grpSp>
        <p:nvGrpSpPr>
          <p:cNvPr id="7" name="Group 6">
            <a:extLst>
              <a:ext uri="{FF2B5EF4-FFF2-40B4-BE49-F238E27FC236}">
                <a16:creationId xmlns:a16="http://schemas.microsoft.com/office/drawing/2014/main" id="{4503B428-2B52-90B3-3E4C-AAF032E8DB6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E7E5D48-15FC-B5A0-FFFB-B0858A67BFD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ED97A1B-809B-0AB3-0075-DBCC19C39F7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pic>
        <p:nvPicPr>
          <p:cNvPr id="6" name="Picture 5">
            <a:extLst>
              <a:ext uri="{FF2B5EF4-FFF2-40B4-BE49-F238E27FC236}">
                <a16:creationId xmlns:a16="http://schemas.microsoft.com/office/drawing/2014/main" id="{FA28798E-F4F9-A867-B634-794CD9780921}"/>
              </a:ext>
            </a:extLst>
          </p:cNvPr>
          <p:cNvPicPr>
            <a:picLocks noChangeAspect="1"/>
          </p:cNvPicPr>
          <p:nvPr/>
        </p:nvPicPr>
        <p:blipFill>
          <a:blip r:embed="rId2"/>
          <a:stretch>
            <a:fillRect/>
          </a:stretch>
        </p:blipFill>
        <p:spPr>
          <a:xfrm>
            <a:off x="76200" y="2432517"/>
            <a:ext cx="8915400" cy="3511083"/>
          </a:xfrm>
          <a:prstGeom prst="rect">
            <a:avLst/>
          </a:prstGeom>
        </p:spPr>
      </p:pic>
    </p:spTree>
    <p:extLst>
      <p:ext uri="{BB962C8B-B14F-4D97-AF65-F5344CB8AC3E}">
        <p14:creationId xmlns:p14="http://schemas.microsoft.com/office/powerpoint/2010/main" val="1124352962"/>
      </p:ext>
    </p:extLst>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22A21-849E-8CDC-A9AE-3CBE5E5DDD7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8AD853F-2BAC-A28B-A6B1-82EDF81FDA8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6A8D9F-573E-5E45-DF9F-D24A36B6D4A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BB818CA-5E8F-04C9-9792-495ADB10AFD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1ACA46F-EDEC-B746-2AD8-E97967205EF9}"/>
              </a:ext>
            </a:extLst>
          </p:cNvPr>
          <p:cNvSpPr txBox="1">
            <a:spLocks/>
          </p:cNvSpPr>
          <p:nvPr/>
        </p:nvSpPr>
        <p:spPr>
          <a:xfrm>
            <a:off x="76200" y="697468"/>
            <a:ext cx="8624937" cy="53245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Leader Election</a:t>
            </a:r>
            <a:endParaRPr lang="en-IN" sz="1050" dirty="0">
              <a:solidFill>
                <a:srgbClr val="6D6D6D"/>
              </a:solidFill>
              <a:effectLst/>
              <a:latin typeface="Times"/>
            </a:endParaRPr>
          </a:p>
          <a:p>
            <a:r>
              <a:rPr lang="en-IN" sz="1700" dirty="0">
                <a:solidFill>
                  <a:schemeClr val="accent6"/>
                </a:solidFill>
                <a:latin typeface="Google Sans"/>
              </a:rPr>
              <a:t>⚙️ </a:t>
            </a:r>
            <a:r>
              <a:rPr lang="en-IN" sz="1700" dirty="0">
                <a:solidFill>
                  <a:schemeClr val="accent2"/>
                </a:solidFill>
                <a:latin typeface="Google Sans"/>
              </a:rPr>
              <a:t>Key Challenges in Leader Election</a:t>
            </a:r>
          </a:p>
          <a:p>
            <a:r>
              <a:rPr lang="en-IN" sz="1500" dirty="0">
                <a:solidFill>
                  <a:schemeClr val="accent2"/>
                </a:solidFill>
                <a:latin typeface="Google Sans"/>
              </a:rPr>
              <a:t>1️⃣ Split-Brain</a:t>
            </a:r>
          </a:p>
          <a:p>
            <a:r>
              <a:rPr lang="en-IN" sz="1500" dirty="0">
                <a:solidFill>
                  <a:schemeClr val="accent6"/>
                </a:solidFill>
                <a:latin typeface="Google Sans"/>
              </a:rPr>
              <a:t>Two leaders at same time.</a:t>
            </a:r>
          </a:p>
          <a:p>
            <a:r>
              <a:rPr lang="en-IN" sz="1500" dirty="0">
                <a:solidFill>
                  <a:schemeClr val="accent2"/>
                </a:solidFill>
                <a:latin typeface="Google Sans"/>
              </a:rPr>
              <a:t>2️⃣ Network Partition</a:t>
            </a:r>
          </a:p>
          <a:p>
            <a:r>
              <a:rPr lang="en-IN" sz="1500" dirty="0">
                <a:solidFill>
                  <a:schemeClr val="accent6"/>
                </a:solidFill>
                <a:latin typeface="Google Sans"/>
              </a:rPr>
              <a:t>Half cluster isolated.</a:t>
            </a:r>
          </a:p>
          <a:p>
            <a:r>
              <a:rPr lang="en-IN" sz="1500" dirty="0">
                <a:solidFill>
                  <a:schemeClr val="accent2"/>
                </a:solidFill>
                <a:latin typeface="Google Sans"/>
              </a:rPr>
              <a:t>3️⃣ Clock Drift</a:t>
            </a:r>
          </a:p>
          <a:p>
            <a:r>
              <a:rPr lang="en-IN" sz="1500" dirty="0">
                <a:solidFill>
                  <a:schemeClr val="accent6"/>
                </a:solidFill>
                <a:latin typeface="Google Sans"/>
              </a:rPr>
              <a:t>Time-based systems break.</a:t>
            </a:r>
          </a:p>
          <a:p>
            <a:r>
              <a:rPr lang="en-IN" sz="1500" dirty="0">
                <a:solidFill>
                  <a:schemeClr val="accent2"/>
                </a:solidFill>
                <a:latin typeface="Google Sans"/>
              </a:rPr>
              <a:t>4️⃣ Rapid Re-elections</a:t>
            </a:r>
          </a:p>
          <a:p>
            <a:r>
              <a:rPr lang="en-IN" sz="1500" dirty="0">
                <a:solidFill>
                  <a:schemeClr val="accent6"/>
                </a:solidFill>
                <a:latin typeface="Google Sans"/>
              </a:rPr>
              <a:t>Causes instability.</a:t>
            </a:r>
            <a:br>
              <a:rPr lang="en-IN" sz="1500" dirty="0">
                <a:solidFill>
                  <a:schemeClr val="accent6"/>
                </a:solidFill>
                <a:latin typeface="Google Sans"/>
              </a:rPr>
            </a:br>
            <a:r>
              <a:rPr lang="en-IN" sz="1700" dirty="0">
                <a:solidFill>
                  <a:schemeClr val="accent2"/>
                </a:solidFill>
                <a:latin typeface="Google Sans"/>
              </a:rPr>
              <a:t>🧩 Real-World Applications</a:t>
            </a:r>
          </a:p>
          <a:p>
            <a:r>
              <a:rPr lang="en-IN" sz="1500" dirty="0">
                <a:solidFill>
                  <a:schemeClr val="accent2"/>
                </a:solidFill>
                <a:latin typeface="Google Sans"/>
              </a:rPr>
              <a:t>Leader election is used in:</a:t>
            </a:r>
          </a:p>
          <a:p>
            <a:pPr>
              <a:buFont typeface="Arial" panose="020B0604020202020204" pitchFamily="34" charset="0"/>
              <a:buChar char="•"/>
            </a:pPr>
            <a:r>
              <a:rPr lang="en-IN" sz="1500" dirty="0">
                <a:solidFill>
                  <a:schemeClr val="accent6"/>
                </a:solidFill>
                <a:latin typeface="Google Sans"/>
              </a:rPr>
              <a:t>Distributed databases</a:t>
            </a:r>
          </a:p>
          <a:p>
            <a:pPr>
              <a:buFont typeface="Arial" panose="020B0604020202020204" pitchFamily="34" charset="0"/>
              <a:buChar char="•"/>
            </a:pPr>
            <a:r>
              <a:rPr lang="en-IN" sz="1500" dirty="0">
                <a:solidFill>
                  <a:schemeClr val="accent6"/>
                </a:solidFill>
                <a:latin typeface="Google Sans"/>
              </a:rPr>
              <a:t>Microservices orchestration</a:t>
            </a:r>
          </a:p>
          <a:p>
            <a:pPr>
              <a:buFont typeface="Arial" panose="020B0604020202020204" pitchFamily="34" charset="0"/>
              <a:buChar char="•"/>
            </a:pPr>
            <a:r>
              <a:rPr lang="en-IN" sz="1500" dirty="0">
                <a:solidFill>
                  <a:schemeClr val="accent6"/>
                </a:solidFill>
                <a:latin typeface="Google Sans"/>
              </a:rPr>
              <a:t>Kubernetes control plane</a:t>
            </a:r>
          </a:p>
          <a:p>
            <a:pPr>
              <a:buFont typeface="Arial" panose="020B0604020202020204" pitchFamily="34" charset="0"/>
              <a:buChar char="•"/>
            </a:pPr>
            <a:r>
              <a:rPr lang="en-IN" sz="1500" dirty="0">
                <a:solidFill>
                  <a:schemeClr val="accent6"/>
                </a:solidFill>
                <a:latin typeface="Google Sans"/>
              </a:rPr>
              <a:t>SDN controllers</a:t>
            </a:r>
          </a:p>
          <a:p>
            <a:pPr>
              <a:buFont typeface="Arial" panose="020B0604020202020204" pitchFamily="34" charset="0"/>
              <a:buChar char="•"/>
            </a:pPr>
            <a:r>
              <a:rPr lang="en-IN" sz="1500" dirty="0">
                <a:solidFill>
                  <a:schemeClr val="accent6"/>
                </a:solidFill>
                <a:latin typeface="Google Sans"/>
              </a:rPr>
              <a:t>Blockchain validators</a:t>
            </a:r>
          </a:p>
          <a:p>
            <a:pPr>
              <a:buFont typeface="Arial" panose="020B0604020202020204" pitchFamily="34" charset="0"/>
              <a:buChar char="•"/>
            </a:pPr>
            <a:r>
              <a:rPr lang="en-IN" sz="1500" dirty="0">
                <a:solidFill>
                  <a:schemeClr val="accent6"/>
                </a:solidFill>
                <a:latin typeface="Google Sans"/>
              </a:rPr>
              <a:t>Banking transaction clusters</a:t>
            </a:r>
          </a:p>
          <a:p>
            <a:pPr>
              <a:buFont typeface="Arial" panose="020B0604020202020204" pitchFamily="34" charset="0"/>
              <a:buChar char="•"/>
            </a:pPr>
            <a:endParaRPr lang="en-IN" sz="1500" dirty="0">
              <a:solidFill>
                <a:schemeClr val="accent6"/>
              </a:solidFill>
              <a:latin typeface="Google Sans"/>
            </a:endParaRPr>
          </a:p>
          <a:p>
            <a:r>
              <a:rPr lang="en-IN" sz="2000" dirty="0">
                <a:solidFill>
                  <a:schemeClr val="accent2"/>
                </a:solidFill>
                <a:latin typeface="Google Sans"/>
              </a:rPr>
              <a:t>For Further Exploration</a:t>
            </a:r>
          </a:p>
          <a:p>
            <a:r>
              <a:rPr lang="en-US" sz="1600" dirty="0">
                <a:hlinkClick r:id="rId2"/>
              </a:rPr>
              <a:t>Leader Election pattern - Azure Architecture Center | Microsoft Learn</a:t>
            </a:r>
            <a:endParaRPr lang="en-US" sz="1600" dirty="0"/>
          </a:p>
          <a:p>
            <a:r>
              <a:rPr lang="en-US" sz="1600" dirty="0">
                <a:hlinkClick r:id="rId3"/>
              </a:rPr>
              <a:t>Leader election in distributed systems, Amazon Builders' Library</a:t>
            </a:r>
            <a:endParaRPr lang="en-IN" sz="1500" dirty="0">
              <a:solidFill>
                <a:schemeClr val="accent2"/>
              </a:solidFill>
              <a:latin typeface="Google Sans"/>
            </a:endParaRPr>
          </a:p>
        </p:txBody>
      </p:sp>
      <p:grpSp>
        <p:nvGrpSpPr>
          <p:cNvPr id="7" name="Group 6">
            <a:extLst>
              <a:ext uri="{FF2B5EF4-FFF2-40B4-BE49-F238E27FC236}">
                <a16:creationId xmlns:a16="http://schemas.microsoft.com/office/drawing/2014/main" id="{4503B428-2B52-90B3-3E4C-AAF032E8DB6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E7E5D48-15FC-B5A0-FFFB-B0858A67BFD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ED97A1B-809B-0AB3-0075-DBCC19C39F7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2988425734"/>
      </p:ext>
    </p:extLst>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22A21-849E-8CDC-A9AE-3CBE5E5DDD7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8AD853F-2BAC-A28B-A6B1-82EDF81FDA8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6A8D9F-573E-5E45-DF9F-D24A36B6D4A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BB818CA-5E8F-04C9-9792-495ADB10AFD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1ACA46F-EDEC-B746-2AD8-E97967205EF9}"/>
              </a:ext>
            </a:extLst>
          </p:cNvPr>
          <p:cNvSpPr txBox="1">
            <a:spLocks/>
          </p:cNvSpPr>
          <p:nvPr/>
        </p:nvSpPr>
        <p:spPr>
          <a:xfrm>
            <a:off x="76200" y="697468"/>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Consensus</a:t>
            </a:r>
          </a:p>
          <a:p>
            <a:r>
              <a:rPr lang="en-IN" sz="1200" b="1" dirty="0">
                <a:solidFill>
                  <a:schemeClr val="accent2"/>
                </a:solidFill>
              </a:rPr>
              <a:t>✅ </a:t>
            </a:r>
            <a:r>
              <a:rPr lang="en-IN" sz="1500" dirty="0">
                <a:solidFill>
                  <a:schemeClr val="accent2"/>
                </a:solidFill>
                <a:latin typeface="Google Sans"/>
              </a:rPr>
              <a:t>Why leaders appear in most consensus systems</a:t>
            </a:r>
          </a:p>
          <a:p>
            <a:r>
              <a:rPr lang="en-IN" sz="1500" dirty="0">
                <a:solidFill>
                  <a:schemeClr val="accent6"/>
                </a:solidFill>
                <a:latin typeface="Google Sans"/>
              </a:rPr>
              <a:t>In theory, you can design leaderless consensus.</a:t>
            </a:r>
            <a:br>
              <a:rPr lang="en-IN" sz="1500" dirty="0">
                <a:solidFill>
                  <a:schemeClr val="accent6"/>
                </a:solidFill>
                <a:latin typeface="Google Sans"/>
              </a:rPr>
            </a:br>
            <a:r>
              <a:rPr lang="en-IN" sz="1500" dirty="0">
                <a:solidFill>
                  <a:schemeClr val="accent2"/>
                </a:solidFill>
                <a:latin typeface="Google Sans"/>
              </a:rPr>
              <a:t>In practice, systems almost always introduce a leader (or coordinator) because it:</a:t>
            </a:r>
          </a:p>
          <a:p>
            <a:pPr>
              <a:buFont typeface="Arial" panose="020B0604020202020204" pitchFamily="34" charset="0"/>
              <a:buChar char="•"/>
            </a:pPr>
            <a:r>
              <a:rPr lang="en-IN" sz="1500" dirty="0">
                <a:solidFill>
                  <a:schemeClr val="accent6"/>
                </a:solidFill>
                <a:latin typeface="Google Sans"/>
              </a:rPr>
              <a:t>Reduces message complexity</a:t>
            </a:r>
          </a:p>
          <a:p>
            <a:pPr>
              <a:buFont typeface="Arial" panose="020B0604020202020204" pitchFamily="34" charset="0"/>
              <a:buChar char="•"/>
            </a:pPr>
            <a:r>
              <a:rPr lang="en-IN" sz="1500" dirty="0">
                <a:solidFill>
                  <a:schemeClr val="accent6"/>
                </a:solidFill>
                <a:latin typeface="Google Sans"/>
              </a:rPr>
              <a:t>Simplifies ordering of commands</a:t>
            </a:r>
          </a:p>
          <a:p>
            <a:pPr>
              <a:buFont typeface="Arial" panose="020B0604020202020204" pitchFamily="34" charset="0"/>
              <a:buChar char="•"/>
            </a:pPr>
            <a:r>
              <a:rPr lang="en-IN" sz="1500" dirty="0">
                <a:solidFill>
                  <a:schemeClr val="accent6"/>
                </a:solidFill>
                <a:latin typeface="Google Sans"/>
              </a:rPr>
              <a:t>Improves throughput and latency</a:t>
            </a:r>
          </a:p>
          <a:p>
            <a:pPr>
              <a:buFont typeface="Arial" panose="020B0604020202020204" pitchFamily="34" charset="0"/>
              <a:buChar char="•"/>
            </a:pPr>
            <a:r>
              <a:rPr lang="en-IN" sz="1500" dirty="0">
                <a:solidFill>
                  <a:schemeClr val="accent6"/>
                </a:solidFill>
                <a:latin typeface="Google Sans"/>
              </a:rPr>
              <a:t>Centralizes client interaction</a:t>
            </a:r>
          </a:p>
          <a:p>
            <a:pPr>
              <a:buFont typeface="Arial" panose="020B0604020202020204" pitchFamily="34" charset="0"/>
              <a:buChar char="•"/>
            </a:pPr>
            <a:r>
              <a:rPr lang="en-IN" sz="1500" dirty="0">
                <a:solidFill>
                  <a:schemeClr val="accent6"/>
                </a:solidFill>
                <a:latin typeface="Google Sans"/>
              </a:rPr>
              <a:t>Makes replication easier (Replicated State Machine model)</a:t>
            </a:r>
          </a:p>
          <a:p>
            <a:r>
              <a:rPr lang="en-IN" sz="1500" dirty="0">
                <a:solidFill>
                  <a:schemeClr val="accent6"/>
                </a:solidFill>
                <a:latin typeface="Google Sans"/>
              </a:rPr>
              <a:t>So while consensus ≠ leader election by definition, real-world consensus implementations almost always embed leader election.</a:t>
            </a:r>
          </a:p>
          <a:p>
            <a:r>
              <a:rPr lang="en-IN" sz="1500" dirty="0">
                <a:solidFill>
                  <a:schemeClr val="accent2"/>
                </a:solidFill>
                <a:latin typeface="Google Sans"/>
              </a:rPr>
              <a:t>🧩 Two broad families of consensus algorithms</a:t>
            </a:r>
            <a:endParaRPr lang="en-US" sz="1500" dirty="0">
              <a:solidFill>
                <a:schemeClr val="accent2"/>
              </a:solidFill>
              <a:latin typeface="Google Sans"/>
            </a:endParaRPr>
          </a:p>
          <a:p>
            <a:r>
              <a:rPr lang="en-IN" sz="1500" dirty="0">
                <a:solidFill>
                  <a:schemeClr val="accent2"/>
                </a:solidFill>
                <a:latin typeface="Google Sans"/>
              </a:rPr>
              <a:t>1️⃣ Leader-based consensus (dominant in production)</a:t>
            </a:r>
          </a:p>
          <a:p>
            <a:r>
              <a:rPr lang="en-IN" sz="1500" dirty="0">
                <a:solidFill>
                  <a:schemeClr val="accent6"/>
                </a:solidFill>
                <a:latin typeface="Google Sans"/>
              </a:rPr>
              <a:t>These explicitly elect a leader.</a:t>
            </a:r>
          </a:p>
          <a:p>
            <a:r>
              <a:rPr lang="en-IN" sz="1500" dirty="0">
                <a:solidFill>
                  <a:schemeClr val="accent2"/>
                </a:solidFill>
                <a:latin typeface="Google Sans"/>
              </a:rPr>
              <a:t>Examples:</a:t>
            </a:r>
          </a:p>
          <a:p>
            <a:pPr>
              <a:buFont typeface="Arial" panose="020B0604020202020204" pitchFamily="34" charset="0"/>
              <a:buChar char="•"/>
            </a:pPr>
            <a:r>
              <a:rPr lang="en-IN" sz="1500" dirty="0">
                <a:solidFill>
                  <a:schemeClr val="accent6"/>
                </a:solidFill>
                <a:latin typeface="Google Sans"/>
              </a:rPr>
              <a:t>Raft Consensus Algorithm</a:t>
            </a:r>
          </a:p>
          <a:p>
            <a:pPr>
              <a:buFont typeface="Arial" panose="020B0604020202020204" pitchFamily="34" charset="0"/>
              <a:buChar char="•"/>
            </a:pPr>
            <a:r>
              <a:rPr lang="en-IN" sz="1500" dirty="0" err="1">
                <a:solidFill>
                  <a:schemeClr val="accent6"/>
                </a:solidFill>
                <a:latin typeface="Google Sans"/>
              </a:rPr>
              <a:t>Paxos</a:t>
            </a:r>
            <a:r>
              <a:rPr lang="en-IN" sz="1500" dirty="0">
                <a:solidFill>
                  <a:schemeClr val="accent6"/>
                </a:solidFill>
                <a:latin typeface="Google Sans"/>
              </a:rPr>
              <a:t> (via distinguished proposer)</a:t>
            </a:r>
          </a:p>
          <a:p>
            <a:pPr>
              <a:buFont typeface="Arial" panose="020B0604020202020204" pitchFamily="34" charset="0"/>
              <a:buChar char="•"/>
            </a:pPr>
            <a:r>
              <a:rPr lang="en-IN" sz="1500" dirty="0">
                <a:solidFill>
                  <a:schemeClr val="accent6"/>
                </a:solidFill>
                <a:latin typeface="Google Sans"/>
              </a:rPr>
              <a:t>Multi-</a:t>
            </a:r>
            <a:r>
              <a:rPr lang="en-IN" sz="1500" dirty="0" err="1">
                <a:solidFill>
                  <a:schemeClr val="accent6"/>
                </a:solidFill>
                <a:latin typeface="Google Sans"/>
              </a:rPr>
              <a:t>Paxos</a:t>
            </a:r>
            <a:endParaRPr lang="en-IN" sz="1500" dirty="0">
              <a:solidFill>
                <a:schemeClr val="accent6"/>
              </a:solidFill>
              <a:latin typeface="Google Sans"/>
            </a:endParaRPr>
          </a:p>
          <a:p>
            <a:pPr>
              <a:buFont typeface="Arial" panose="020B0604020202020204" pitchFamily="34" charset="0"/>
              <a:buChar char="•"/>
            </a:pPr>
            <a:r>
              <a:rPr lang="en-IN" sz="1500" dirty="0">
                <a:solidFill>
                  <a:schemeClr val="accent6"/>
                </a:solidFill>
                <a:latin typeface="Google Sans"/>
              </a:rPr>
              <a:t>Apache </a:t>
            </a:r>
            <a:r>
              <a:rPr lang="en-IN" sz="1500" dirty="0" err="1">
                <a:solidFill>
                  <a:schemeClr val="accent6"/>
                </a:solidFill>
                <a:latin typeface="Google Sans"/>
              </a:rPr>
              <a:t>ZooKeeper</a:t>
            </a:r>
            <a:r>
              <a:rPr lang="en-IN" sz="1500" dirty="0">
                <a:solidFill>
                  <a:schemeClr val="accent6"/>
                </a:solidFill>
                <a:latin typeface="Google Sans"/>
              </a:rPr>
              <a:t> (ZAB)</a:t>
            </a:r>
          </a:p>
          <a:p>
            <a:r>
              <a:rPr lang="en-IN" sz="1500" dirty="0">
                <a:solidFill>
                  <a:schemeClr val="accent2"/>
                </a:solidFill>
                <a:latin typeface="Google Sans"/>
              </a:rPr>
              <a:t>Pattern:</a:t>
            </a:r>
          </a:p>
          <a:p>
            <a:pPr>
              <a:buFont typeface="+mj-lt"/>
              <a:buAutoNum type="arabicPeriod"/>
            </a:pPr>
            <a:r>
              <a:rPr lang="en-IN" sz="1500" dirty="0">
                <a:solidFill>
                  <a:schemeClr val="accent6"/>
                </a:solidFill>
                <a:latin typeface="Google Sans"/>
              </a:rPr>
              <a:t>Run leader election</a:t>
            </a:r>
          </a:p>
          <a:p>
            <a:pPr>
              <a:buFont typeface="+mj-lt"/>
              <a:buAutoNum type="arabicPeriod"/>
            </a:pPr>
            <a:r>
              <a:rPr lang="en-IN" sz="1500" dirty="0">
                <a:solidFill>
                  <a:schemeClr val="accent6"/>
                </a:solidFill>
                <a:latin typeface="Google Sans"/>
              </a:rPr>
              <a:t>Leader proposes values / log entries</a:t>
            </a:r>
          </a:p>
          <a:p>
            <a:pPr>
              <a:buFont typeface="+mj-lt"/>
              <a:buAutoNum type="arabicPeriod"/>
            </a:pPr>
            <a:r>
              <a:rPr lang="en-IN" sz="1500" dirty="0">
                <a:solidFill>
                  <a:schemeClr val="accent6"/>
                </a:solidFill>
                <a:latin typeface="Google Sans"/>
              </a:rPr>
              <a:t>Followers replicate</a:t>
            </a:r>
          </a:p>
        </p:txBody>
      </p:sp>
      <p:grpSp>
        <p:nvGrpSpPr>
          <p:cNvPr id="7" name="Group 6">
            <a:extLst>
              <a:ext uri="{FF2B5EF4-FFF2-40B4-BE49-F238E27FC236}">
                <a16:creationId xmlns:a16="http://schemas.microsoft.com/office/drawing/2014/main" id="{4503B428-2B52-90B3-3E4C-AAF032E8DB6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E7E5D48-15FC-B5A0-FFFB-B0858A67BFD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ED97A1B-809B-0AB3-0075-DBCC19C39F7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797922430"/>
      </p:ext>
    </p:extLst>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22A21-849E-8CDC-A9AE-3CBE5E5DDD7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8AD853F-2BAC-A28B-A6B1-82EDF81FDA8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6A8D9F-573E-5E45-DF9F-D24A36B6D4A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BB818CA-5E8F-04C9-9792-495ADB10AFD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1ACA46F-EDEC-B746-2AD8-E97967205EF9}"/>
              </a:ext>
            </a:extLst>
          </p:cNvPr>
          <p:cNvSpPr txBox="1">
            <a:spLocks/>
          </p:cNvSpPr>
          <p:nvPr/>
        </p:nvSpPr>
        <p:spPr>
          <a:xfrm>
            <a:off x="76200" y="697468"/>
            <a:ext cx="8624937" cy="53860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Consensus</a:t>
            </a:r>
          </a:p>
          <a:p>
            <a:r>
              <a:rPr lang="en-IN" sz="1500" dirty="0">
                <a:solidFill>
                  <a:schemeClr val="accent6"/>
                </a:solidFill>
                <a:latin typeface="Google Sans"/>
              </a:rPr>
              <a:t>🧩 </a:t>
            </a:r>
            <a:r>
              <a:rPr lang="en-IN" sz="1500" dirty="0">
                <a:solidFill>
                  <a:schemeClr val="accent2"/>
                </a:solidFill>
                <a:latin typeface="Google Sans"/>
              </a:rPr>
              <a:t>Two broad families of consensus algorithms</a:t>
            </a:r>
            <a:endParaRPr lang="en-US" sz="1500" dirty="0">
              <a:solidFill>
                <a:schemeClr val="accent2"/>
              </a:solidFill>
              <a:latin typeface="Google Sans"/>
            </a:endParaRPr>
          </a:p>
          <a:p>
            <a:r>
              <a:rPr lang="en-IN" sz="1500" dirty="0">
                <a:solidFill>
                  <a:schemeClr val="accent2"/>
                </a:solidFill>
                <a:latin typeface="Google Sans"/>
              </a:rPr>
              <a:t>1️⃣ Leader-based consensus (dominant in production)</a:t>
            </a:r>
          </a:p>
          <a:p>
            <a:r>
              <a:rPr lang="en-IN" sz="1500" dirty="0">
                <a:solidFill>
                  <a:schemeClr val="accent2"/>
                </a:solidFill>
                <a:latin typeface="Google Sans"/>
              </a:rPr>
              <a:t>Pattern</a:t>
            </a:r>
            <a:endParaRPr lang="en-IN" sz="1500" dirty="0">
              <a:solidFill>
                <a:schemeClr val="accent6"/>
              </a:solidFill>
              <a:latin typeface="Google Sans"/>
            </a:endParaRPr>
          </a:p>
          <a:p>
            <a:r>
              <a:rPr lang="en-IN" sz="1500" dirty="0">
                <a:solidFill>
                  <a:schemeClr val="accent6"/>
                </a:solidFill>
                <a:latin typeface="Google Sans"/>
              </a:rPr>
              <a:t>4.If leader fails → re-election</a:t>
            </a:r>
          </a:p>
          <a:p>
            <a:r>
              <a:rPr lang="en-IN" sz="1500" dirty="0">
                <a:solidFill>
                  <a:schemeClr val="accent2"/>
                </a:solidFill>
                <a:latin typeface="Google Sans"/>
              </a:rPr>
              <a:t>So here:</a:t>
            </a:r>
          </a:p>
          <a:p>
            <a:r>
              <a:rPr lang="en-IN" sz="1500" dirty="0">
                <a:solidFill>
                  <a:schemeClr val="accent6"/>
                </a:solidFill>
                <a:latin typeface="Google Sans"/>
              </a:rPr>
              <a:t>👉 </a:t>
            </a:r>
            <a:r>
              <a:rPr lang="en-IN" sz="1500" dirty="0">
                <a:solidFill>
                  <a:schemeClr val="accent1"/>
                </a:solidFill>
                <a:latin typeface="Google Sans"/>
              </a:rPr>
              <a:t>Leader election is a core component of the consensus protocol.</a:t>
            </a:r>
          </a:p>
          <a:p>
            <a:r>
              <a:rPr lang="en-IN" sz="1500" dirty="0">
                <a:solidFill>
                  <a:schemeClr val="accent1"/>
                </a:solidFill>
                <a:latin typeface="Google Sans"/>
              </a:rPr>
              <a:t>Raft makes this very explicit: leader election is literally Phase 1.</a:t>
            </a:r>
          </a:p>
          <a:p>
            <a:r>
              <a:rPr lang="en-IN" sz="1500" dirty="0" err="1">
                <a:solidFill>
                  <a:schemeClr val="accent1"/>
                </a:solidFill>
                <a:latin typeface="Google Sans"/>
              </a:rPr>
              <a:t>Paxos</a:t>
            </a:r>
            <a:r>
              <a:rPr lang="en-IN" sz="1500" dirty="0">
                <a:solidFill>
                  <a:schemeClr val="accent1"/>
                </a:solidFill>
                <a:latin typeface="Google Sans"/>
              </a:rPr>
              <a:t> hides it more mathematically, but Multi-</a:t>
            </a:r>
            <a:r>
              <a:rPr lang="en-IN" sz="1500" dirty="0" err="1">
                <a:solidFill>
                  <a:schemeClr val="accent1"/>
                </a:solidFill>
                <a:latin typeface="Google Sans"/>
              </a:rPr>
              <a:t>Paxos</a:t>
            </a:r>
            <a:r>
              <a:rPr lang="en-IN" sz="1500" dirty="0">
                <a:solidFill>
                  <a:schemeClr val="accent1"/>
                </a:solidFill>
                <a:latin typeface="Google Sans"/>
              </a:rPr>
              <a:t> effectively assumes a stable leader.</a:t>
            </a:r>
          </a:p>
          <a:p>
            <a:r>
              <a:rPr lang="en-IN" sz="1500" dirty="0">
                <a:solidFill>
                  <a:schemeClr val="accent2"/>
                </a:solidFill>
                <a:latin typeface="Google Sans"/>
              </a:rPr>
              <a:t>2️⃣ Leaderless consensus (academic / specialized)</a:t>
            </a:r>
          </a:p>
          <a:p>
            <a:r>
              <a:rPr lang="en-IN" sz="1500" dirty="0">
                <a:solidFill>
                  <a:schemeClr val="accent2"/>
                </a:solidFill>
                <a:latin typeface="Google Sans"/>
              </a:rPr>
              <a:t>Some protocols avoid a fixed leader:</a:t>
            </a:r>
          </a:p>
          <a:p>
            <a:pPr>
              <a:buFont typeface="Arial" panose="020B0604020202020204" pitchFamily="34" charset="0"/>
              <a:buChar char="•"/>
            </a:pPr>
            <a:r>
              <a:rPr lang="en-IN" sz="1500" dirty="0">
                <a:solidFill>
                  <a:schemeClr val="accent6"/>
                </a:solidFill>
                <a:latin typeface="Google Sans"/>
              </a:rPr>
              <a:t>Classical </a:t>
            </a:r>
            <a:r>
              <a:rPr lang="en-IN" sz="1500" dirty="0" err="1">
                <a:solidFill>
                  <a:schemeClr val="accent6"/>
                </a:solidFill>
                <a:latin typeface="Google Sans"/>
              </a:rPr>
              <a:t>Paxos</a:t>
            </a:r>
            <a:r>
              <a:rPr lang="en-IN" sz="1500" dirty="0">
                <a:solidFill>
                  <a:schemeClr val="accent6"/>
                </a:solidFill>
                <a:latin typeface="Google Sans"/>
              </a:rPr>
              <a:t> (pure form)</a:t>
            </a:r>
          </a:p>
          <a:p>
            <a:pPr>
              <a:buFont typeface="Arial" panose="020B0604020202020204" pitchFamily="34" charset="0"/>
              <a:buChar char="•"/>
            </a:pPr>
            <a:r>
              <a:rPr lang="en-IN" sz="1500" dirty="0" err="1">
                <a:solidFill>
                  <a:schemeClr val="accent6"/>
                </a:solidFill>
                <a:latin typeface="Google Sans"/>
              </a:rPr>
              <a:t>EPaxos</a:t>
            </a:r>
            <a:endParaRPr lang="en-IN" sz="1500" dirty="0">
              <a:solidFill>
                <a:schemeClr val="accent6"/>
              </a:solidFill>
              <a:latin typeface="Google Sans"/>
            </a:endParaRPr>
          </a:p>
          <a:p>
            <a:pPr>
              <a:buFont typeface="Arial" panose="020B0604020202020204" pitchFamily="34" charset="0"/>
              <a:buChar char="•"/>
            </a:pPr>
            <a:r>
              <a:rPr lang="en-IN" sz="1500" dirty="0">
                <a:solidFill>
                  <a:schemeClr val="accent6"/>
                </a:solidFill>
                <a:latin typeface="Google Sans"/>
              </a:rPr>
              <a:t>Some Byzantine protocols</a:t>
            </a:r>
          </a:p>
          <a:p>
            <a:pPr>
              <a:buFont typeface="Arial" panose="020B0604020202020204" pitchFamily="34" charset="0"/>
              <a:buChar char="•"/>
            </a:pPr>
            <a:r>
              <a:rPr lang="en-IN" sz="1500" dirty="0">
                <a:solidFill>
                  <a:schemeClr val="accent6"/>
                </a:solidFill>
                <a:latin typeface="Google Sans"/>
              </a:rPr>
              <a:t>Some blockchain designs</a:t>
            </a:r>
          </a:p>
          <a:p>
            <a:r>
              <a:rPr lang="en-IN" sz="1500" dirty="0">
                <a:solidFill>
                  <a:schemeClr val="accent2"/>
                </a:solidFill>
                <a:latin typeface="Google Sans"/>
              </a:rPr>
              <a:t>These rely on:</a:t>
            </a:r>
          </a:p>
          <a:p>
            <a:pPr>
              <a:buFont typeface="Arial" panose="020B0604020202020204" pitchFamily="34" charset="0"/>
              <a:buChar char="•"/>
            </a:pPr>
            <a:r>
              <a:rPr lang="en-IN" sz="1500" dirty="0">
                <a:solidFill>
                  <a:schemeClr val="accent6"/>
                </a:solidFill>
                <a:latin typeface="Google Sans"/>
              </a:rPr>
              <a:t>Multiple concurrent proposers</a:t>
            </a:r>
          </a:p>
          <a:p>
            <a:pPr>
              <a:buFont typeface="Arial" panose="020B0604020202020204" pitchFamily="34" charset="0"/>
              <a:buChar char="•"/>
            </a:pPr>
            <a:r>
              <a:rPr lang="en-IN" sz="1500" dirty="0">
                <a:solidFill>
                  <a:schemeClr val="accent6"/>
                </a:solidFill>
                <a:latin typeface="Google Sans"/>
              </a:rPr>
              <a:t>Quorums</a:t>
            </a:r>
          </a:p>
          <a:p>
            <a:pPr>
              <a:buFont typeface="Arial" panose="020B0604020202020204" pitchFamily="34" charset="0"/>
              <a:buChar char="•"/>
            </a:pPr>
            <a:r>
              <a:rPr lang="en-IN" sz="1500" dirty="0">
                <a:solidFill>
                  <a:schemeClr val="accent6"/>
                </a:solidFill>
                <a:latin typeface="Google Sans"/>
              </a:rPr>
              <a:t>Conflict resolution</a:t>
            </a:r>
          </a:p>
          <a:p>
            <a:r>
              <a:rPr lang="en-IN" sz="1500" dirty="0">
                <a:solidFill>
                  <a:schemeClr val="accent2"/>
                </a:solidFill>
                <a:latin typeface="Google Sans"/>
              </a:rPr>
              <a:t>But:</a:t>
            </a:r>
          </a:p>
          <a:p>
            <a:r>
              <a:rPr lang="en-IN" sz="1500" dirty="0">
                <a:solidFill>
                  <a:schemeClr val="accent6"/>
                </a:solidFill>
                <a:latin typeface="Google Sans"/>
              </a:rPr>
              <a:t>⚠️ They are harder to implement</a:t>
            </a:r>
            <a:br>
              <a:rPr lang="en-IN" sz="1500" dirty="0">
                <a:solidFill>
                  <a:schemeClr val="accent6"/>
                </a:solidFill>
                <a:latin typeface="Google Sans"/>
              </a:rPr>
            </a:br>
            <a:r>
              <a:rPr lang="en-IN" sz="1500" dirty="0">
                <a:solidFill>
                  <a:schemeClr val="accent6"/>
                </a:solidFill>
                <a:latin typeface="Google Sans"/>
              </a:rPr>
              <a:t>⚠️ Higher message cost</a:t>
            </a:r>
            <a:br>
              <a:rPr lang="en-IN" sz="1500" dirty="0">
                <a:solidFill>
                  <a:schemeClr val="accent6"/>
                </a:solidFill>
                <a:latin typeface="Google Sans"/>
              </a:rPr>
            </a:br>
            <a:r>
              <a:rPr lang="en-IN" sz="1500" dirty="0">
                <a:solidFill>
                  <a:schemeClr val="accent6"/>
                </a:solidFill>
                <a:latin typeface="Google Sans"/>
              </a:rPr>
              <a:t>⚠️ More complex reasoning</a:t>
            </a:r>
          </a:p>
        </p:txBody>
      </p:sp>
      <p:grpSp>
        <p:nvGrpSpPr>
          <p:cNvPr id="7" name="Group 6">
            <a:extLst>
              <a:ext uri="{FF2B5EF4-FFF2-40B4-BE49-F238E27FC236}">
                <a16:creationId xmlns:a16="http://schemas.microsoft.com/office/drawing/2014/main" id="{4503B428-2B52-90B3-3E4C-AAF032E8DB6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E7E5D48-15FC-B5A0-FFFB-B0858A67BFD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ED97A1B-809B-0AB3-0075-DBCC19C39F7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3350992300"/>
      </p:ext>
    </p:extLst>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22A21-849E-8CDC-A9AE-3CBE5E5DDD7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8AD853F-2BAC-A28B-A6B1-82EDF81FDA8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86A8D9F-573E-5E45-DF9F-D24A36B6D4A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BB818CA-5E8F-04C9-9792-495ADB10AFD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E1ACA46F-EDEC-B746-2AD8-E97967205EF9}"/>
              </a:ext>
            </a:extLst>
          </p:cNvPr>
          <p:cNvSpPr txBox="1">
            <a:spLocks/>
          </p:cNvSpPr>
          <p:nvPr/>
        </p:nvSpPr>
        <p:spPr>
          <a:xfrm>
            <a:off x="76200" y="697468"/>
            <a:ext cx="8624937" cy="531684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Consensus</a:t>
            </a:r>
          </a:p>
          <a:p>
            <a:r>
              <a:rPr lang="en-IN" sz="1500" dirty="0">
                <a:solidFill>
                  <a:schemeClr val="accent2"/>
                </a:solidFill>
                <a:latin typeface="Google Sans"/>
              </a:rPr>
              <a:t>✅ Practical reality</a:t>
            </a:r>
          </a:p>
          <a:p>
            <a:r>
              <a:rPr lang="en-IN" sz="1500" dirty="0">
                <a:solidFill>
                  <a:schemeClr val="accent6"/>
                </a:solidFill>
                <a:latin typeface="Google Sans"/>
              </a:rPr>
              <a:t>In real systems (databases, Kubernetes, SDN controllers, coordination services):</a:t>
            </a:r>
          </a:p>
          <a:p>
            <a:pPr>
              <a:buFont typeface="Arial" panose="020B0604020202020204" pitchFamily="34" charset="0"/>
              <a:buChar char="•"/>
            </a:pPr>
            <a:r>
              <a:rPr lang="en-IN" sz="1500" dirty="0">
                <a:solidFill>
                  <a:schemeClr val="accent6"/>
                </a:solidFill>
                <a:latin typeface="Google Sans"/>
              </a:rPr>
              <a:t>There is almost always a leader</a:t>
            </a:r>
          </a:p>
          <a:p>
            <a:pPr>
              <a:buFont typeface="Arial" panose="020B0604020202020204" pitchFamily="34" charset="0"/>
              <a:buChar char="•"/>
            </a:pPr>
            <a:r>
              <a:rPr lang="en-IN" sz="1500" dirty="0">
                <a:solidFill>
                  <a:schemeClr val="accent6"/>
                </a:solidFill>
                <a:latin typeface="Google Sans"/>
              </a:rPr>
              <a:t>Leader election is either:</a:t>
            </a:r>
          </a:p>
          <a:p>
            <a:pPr marL="742950" lvl="1" indent="-285750">
              <a:buFont typeface="Arial" panose="020B0604020202020204" pitchFamily="34" charset="0"/>
              <a:buChar char="•"/>
            </a:pPr>
            <a:r>
              <a:rPr lang="en-IN" sz="1500" b="1" dirty="0">
                <a:solidFill>
                  <a:schemeClr val="accent6"/>
                </a:solidFill>
                <a:latin typeface="Google Sans"/>
                <a:ea typeface="+mj-ea"/>
              </a:rPr>
              <a:t>Built directly into consensus (Raft)</a:t>
            </a:r>
          </a:p>
          <a:p>
            <a:pPr marL="742950" lvl="1" indent="-285750">
              <a:buFont typeface="Arial" panose="020B0604020202020204" pitchFamily="34" charset="0"/>
              <a:buChar char="•"/>
            </a:pPr>
            <a:r>
              <a:rPr lang="en-IN" sz="1500" b="1" dirty="0">
                <a:solidFill>
                  <a:schemeClr val="accent6"/>
                </a:solidFill>
                <a:latin typeface="Google Sans"/>
                <a:ea typeface="+mj-ea"/>
              </a:rPr>
              <a:t>Emergent from consensus (Multi-</a:t>
            </a:r>
            <a:r>
              <a:rPr lang="en-IN" sz="1500" b="1" dirty="0" err="1">
                <a:solidFill>
                  <a:schemeClr val="accent6"/>
                </a:solidFill>
                <a:latin typeface="Google Sans"/>
                <a:ea typeface="+mj-ea"/>
              </a:rPr>
              <a:t>Paxos</a:t>
            </a:r>
            <a:r>
              <a:rPr lang="en-IN" sz="1500" b="1" dirty="0">
                <a:solidFill>
                  <a:schemeClr val="accent6"/>
                </a:solidFill>
                <a:latin typeface="Google Sans"/>
                <a:ea typeface="+mj-ea"/>
              </a:rPr>
              <a:t>)</a:t>
            </a:r>
          </a:p>
          <a:p>
            <a:pPr marL="742950" lvl="1" indent="-285750">
              <a:buFont typeface="Arial" panose="020B0604020202020204" pitchFamily="34" charset="0"/>
              <a:buChar char="•"/>
            </a:pPr>
            <a:r>
              <a:rPr lang="en-IN" sz="1500" b="1" dirty="0">
                <a:solidFill>
                  <a:schemeClr val="accent6"/>
                </a:solidFill>
                <a:latin typeface="Google Sans"/>
                <a:ea typeface="+mj-ea"/>
              </a:rPr>
              <a:t>Provided by a coordination layer (</a:t>
            </a:r>
            <a:r>
              <a:rPr lang="en-IN" sz="1500" b="1" dirty="0" err="1">
                <a:solidFill>
                  <a:schemeClr val="accent6"/>
                </a:solidFill>
                <a:latin typeface="Google Sans"/>
                <a:ea typeface="+mj-ea"/>
              </a:rPr>
              <a:t>ZooKeeper</a:t>
            </a:r>
            <a:r>
              <a:rPr lang="en-IN" sz="1500" b="1" dirty="0">
                <a:solidFill>
                  <a:schemeClr val="accent6"/>
                </a:solidFill>
                <a:latin typeface="Google Sans"/>
                <a:ea typeface="+mj-ea"/>
              </a:rPr>
              <a:t>)</a:t>
            </a:r>
          </a:p>
          <a:p>
            <a:r>
              <a:rPr lang="en-IN" sz="1500" dirty="0">
                <a:solidFill>
                  <a:schemeClr val="accent2"/>
                </a:solidFill>
                <a:latin typeface="Google Sans"/>
              </a:rPr>
              <a:t>So operationally:</a:t>
            </a:r>
          </a:p>
          <a:p>
            <a:r>
              <a:rPr lang="en-IN" sz="1500" dirty="0">
                <a:solidFill>
                  <a:schemeClr val="accent6"/>
                </a:solidFill>
                <a:latin typeface="Google Sans"/>
              </a:rPr>
              <a:t>Leader election and consensus are tightly coupled in modern distributed systems.</a:t>
            </a:r>
          </a:p>
          <a:p>
            <a:r>
              <a:rPr lang="en-IN" sz="1500" dirty="0">
                <a:solidFill>
                  <a:schemeClr val="accent2"/>
                </a:solidFill>
                <a:latin typeface="Google Sans"/>
              </a:rPr>
              <a:t>🧠 Subtle but important distinction</a:t>
            </a:r>
          </a:p>
          <a:p>
            <a:r>
              <a:rPr lang="en-IN" sz="1500" dirty="0">
                <a:solidFill>
                  <a:schemeClr val="accent2"/>
                </a:solidFill>
                <a:latin typeface="Google Sans"/>
              </a:rPr>
              <a:t>Consensus problem:</a:t>
            </a:r>
          </a:p>
          <a:p>
            <a:r>
              <a:rPr lang="en-IN" sz="1500" dirty="0">
                <a:solidFill>
                  <a:schemeClr val="accent6"/>
                </a:solidFill>
                <a:latin typeface="Google Sans"/>
              </a:rPr>
              <a:t>All nodes agree on the same value / log.</a:t>
            </a:r>
          </a:p>
          <a:p>
            <a:r>
              <a:rPr lang="en-IN" sz="1500" dirty="0">
                <a:solidFill>
                  <a:schemeClr val="accent2"/>
                </a:solidFill>
                <a:latin typeface="Google Sans"/>
              </a:rPr>
              <a:t>Leader election problem:</a:t>
            </a:r>
          </a:p>
          <a:p>
            <a:r>
              <a:rPr lang="en-IN" sz="1500" dirty="0">
                <a:solidFill>
                  <a:schemeClr val="accent6"/>
                </a:solidFill>
                <a:latin typeface="Google Sans"/>
              </a:rPr>
              <a:t>All nodes agree on who coordinates.</a:t>
            </a:r>
          </a:p>
          <a:p>
            <a:r>
              <a:rPr lang="en-IN" sz="1500" dirty="0">
                <a:solidFill>
                  <a:schemeClr val="accent2"/>
                </a:solidFill>
                <a:latin typeface="Google Sans"/>
              </a:rPr>
              <a:t>They are separate theoretical problems, but in practice:</a:t>
            </a:r>
          </a:p>
          <a:p>
            <a:r>
              <a:rPr lang="en-IN" sz="1500" dirty="0">
                <a:solidFill>
                  <a:schemeClr val="accent6"/>
                </a:solidFill>
                <a:latin typeface="Google Sans"/>
              </a:rPr>
              <a:t>👉 Leader election is used to simplify solving consensus repeatedly.</a:t>
            </a:r>
          </a:p>
          <a:p>
            <a:endParaRPr lang="en-IN" sz="1500" dirty="0">
              <a:solidFill>
                <a:schemeClr val="accent6"/>
              </a:solidFill>
              <a:latin typeface="Google Sans"/>
            </a:endParaRPr>
          </a:p>
          <a:p>
            <a:r>
              <a:rPr lang="en-IN" sz="1500" dirty="0">
                <a:solidFill>
                  <a:schemeClr val="accent2"/>
                </a:solidFill>
                <a:latin typeface="Google Sans"/>
              </a:rPr>
              <a:t>✅ One-sentence summary</a:t>
            </a:r>
          </a:p>
          <a:p>
            <a:r>
              <a:rPr lang="en-IN" sz="1500" dirty="0">
                <a:solidFill>
                  <a:schemeClr val="accent6"/>
                </a:solidFill>
                <a:latin typeface="Google Sans"/>
              </a:rPr>
              <a:t>Leader election is not mathematically required for consensus, but almost all practical consensus algorithms incorporate leader election (explicitly or implicitly) because it dramatically improves performance and simplicity.</a:t>
            </a:r>
          </a:p>
          <a:p>
            <a:pPr marL="12700" marR="5080"/>
            <a:endParaRPr lang="en-IN" sz="1050" dirty="0">
              <a:solidFill>
                <a:srgbClr val="6D6D6D"/>
              </a:solidFill>
              <a:effectLst/>
              <a:latin typeface="Times"/>
            </a:endParaRPr>
          </a:p>
        </p:txBody>
      </p:sp>
      <p:grpSp>
        <p:nvGrpSpPr>
          <p:cNvPr id="7" name="Group 6">
            <a:extLst>
              <a:ext uri="{FF2B5EF4-FFF2-40B4-BE49-F238E27FC236}">
                <a16:creationId xmlns:a16="http://schemas.microsoft.com/office/drawing/2014/main" id="{4503B428-2B52-90B3-3E4C-AAF032E8DB6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E7E5D48-15FC-B5A0-FFFB-B0858A67BFD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ED97A1B-809B-0AB3-0075-DBCC19C39F78}"/>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1044684783"/>
      </p:ext>
    </p:extLst>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6C6EC-F020-4925-07E2-7F84223940B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2A8B728-1430-37AD-07DA-0940F4DEEAB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E240EE4-25EC-5858-F23D-04D0C37A177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D9205F2-22ED-2B7D-05AB-791740533EE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F5E7617-F4AF-FCF6-C473-1CD857828BCB}"/>
              </a:ext>
            </a:extLst>
          </p:cNvPr>
          <p:cNvSpPr txBox="1">
            <a:spLocks/>
          </p:cNvSpPr>
          <p:nvPr/>
        </p:nvSpPr>
        <p:spPr>
          <a:xfrm>
            <a:off x="76200" y="697468"/>
            <a:ext cx="8624937" cy="31854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Consensus</a:t>
            </a:r>
          </a:p>
          <a:p>
            <a:pPr marL="12700" marR="5080"/>
            <a:r>
              <a:rPr lang="en-US" sz="2000" dirty="0">
                <a:solidFill>
                  <a:schemeClr val="accent2"/>
                </a:solidFill>
                <a:latin typeface="Google Sans"/>
              </a:rPr>
              <a:t>Paxos, Raft &amp; ZAB</a:t>
            </a:r>
          </a:p>
          <a:p>
            <a:pPr marL="12700" marR="5080"/>
            <a:r>
              <a:rPr lang="en-US" sz="1500" dirty="0">
                <a:solidFill>
                  <a:schemeClr val="accent2"/>
                </a:solidFill>
                <a:latin typeface="Google Sans"/>
              </a:rPr>
              <a:t>Intuitive Conceptual Overview</a:t>
            </a:r>
          </a:p>
          <a:p>
            <a:pPr marL="12700" marR="5080"/>
            <a:r>
              <a:rPr lang="en-US" sz="1500" dirty="0">
                <a:solidFill>
                  <a:schemeClr val="accent2"/>
                </a:solidFill>
                <a:latin typeface="Google Sans"/>
              </a:rPr>
              <a:t>Paxos (The Foundation): </a:t>
            </a:r>
            <a:r>
              <a:rPr lang="en-US" sz="1500" dirty="0">
                <a:solidFill>
                  <a:schemeClr val="accent6"/>
                </a:solidFill>
                <a:latin typeface="Google Sans"/>
              </a:rPr>
              <a:t>Imagine a group of people trying to agree on a single value (e.g., "What time is the meeting?") where people leave and enter the room frequently. Paxos is designed for extreme edge cases but is famously hard to understand and implement.</a:t>
            </a:r>
          </a:p>
          <a:p>
            <a:pPr marL="12700" marR="5080"/>
            <a:r>
              <a:rPr lang="en-US" sz="1500" dirty="0">
                <a:solidFill>
                  <a:schemeClr val="accent2"/>
                </a:solidFill>
                <a:latin typeface="Google Sans"/>
              </a:rPr>
              <a:t>Raft (The Pragmatist):</a:t>
            </a:r>
            <a:r>
              <a:rPr lang="en-US" sz="1500" dirty="0">
                <a:solidFill>
                  <a:schemeClr val="accent6"/>
                </a:solidFill>
                <a:latin typeface="Google Sans"/>
              </a:rPr>
              <a:t> Imagine the same group, but they elect a leader. If the leader makes a decision, everyone follows. If the leader leaves, they elect a new one quickly. Raft is designed for maximum "understandability" and is the go-to for modern systems like Kubernetes (</a:t>
            </a:r>
            <a:r>
              <a:rPr lang="en-US" sz="1500" dirty="0" err="1">
                <a:solidFill>
                  <a:schemeClr val="accent6"/>
                </a:solidFill>
                <a:latin typeface="Google Sans"/>
              </a:rPr>
              <a:t>etcd</a:t>
            </a:r>
            <a:r>
              <a:rPr lang="en-US" sz="1500" dirty="0">
                <a:solidFill>
                  <a:schemeClr val="accent6"/>
                </a:solidFill>
                <a:latin typeface="Google Sans"/>
              </a:rPr>
              <a:t>).</a:t>
            </a:r>
          </a:p>
          <a:p>
            <a:pPr marL="12700" marR="5080"/>
            <a:r>
              <a:rPr lang="en-US" sz="1500" dirty="0">
                <a:solidFill>
                  <a:schemeClr val="accent2"/>
                </a:solidFill>
                <a:latin typeface="Google Sans"/>
              </a:rPr>
              <a:t>ZAB (The Specialist): </a:t>
            </a:r>
            <a:r>
              <a:rPr lang="en-US" sz="1500" dirty="0">
                <a:solidFill>
                  <a:schemeClr val="accent6"/>
                </a:solidFill>
                <a:latin typeface="Google Sans"/>
              </a:rPr>
              <a:t>Used by Apache </a:t>
            </a:r>
            <a:r>
              <a:rPr lang="en-US" sz="1500" dirty="0" err="1">
                <a:solidFill>
                  <a:schemeClr val="accent6"/>
                </a:solidFill>
                <a:latin typeface="Google Sans"/>
              </a:rPr>
              <a:t>ZooKeeper</a:t>
            </a:r>
            <a:r>
              <a:rPr lang="en-US" sz="1500" dirty="0">
                <a:solidFill>
                  <a:schemeClr val="accent6"/>
                </a:solidFill>
                <a:latin typeface="Google Sans"/>
              </a:rPr>
              <a:t>, ZAB is tailored for maintaining a strict, ordered log of operations. It is not just about choosing a value; it is about ensuring everyone sees the same sequence of operations, which is perfect for distributed coordination. </a:t>
            </a:r>
          </a:p>
          <a:p>
            <a:pPr marL="12700" marR="5080"/>
            <a:r>
              <a:rPr lang="en-US" sz="1700" dirty="0">
                <a:solidFill>
                  <a:schemeClr val="accent2"/>
                </a:solidFill>
                <a:latin typeface="Google Sans"/>
              </a:rPr>
              <a:t>Comparison</a:t>
            </a:r>
          </a:p>
        </p:txBody>
      </p:sp>
      <p:grpSp>
        <p:nvGrpSpPr>
          <p:cNvPr id="7" name="Group 6">
            <a:extLst>
              <a:ext uri="{FF2B5EF4-FFF2-40B4-BE49-F238E27FC236}">
                <a16:creationId xmlns:a16="http://schemas.microsoft.com/office/drawing/2014/main" id="{306EE282-3237-0A34-2EFD-8512EF3403C1}"/>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A2CB729C-9EBD-C7EA-1EBE-AE20950AE2A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44B10A4-6035-867D-76A8-19F3D620C3B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pic>
        <p:nvPicPr>
          <p:cNvPr id="10" name="Picture 9">
            <a:extLst>
              <a:ext uri="{FF2B5EF4-FFF2-40B4-BE49-F238E27FC236}">
                <a16:creationId xmlns:a16="http://schemas.microsoft.com/office/drawing/2014/main" id="{36BDBB24-680D-C738-D72B-38ABE89187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882955"/>
            <a:ext cx="9143999" cy="2060645"/>
          </a:xfrm>
          <a:prstGeom prst="rect">
            <a:avLst/>
          </a:prstGeom>
        </p:spPr>
      </p:pic>
    </p:spTree>
    <p:extLst>
      <p:ext uri="{BB962C8B-B14F-4D97-AF65-F5344CB8AC3E}">
        <p14:creationId xmlns:p14="http://schemas.microsoft.com/office/powerpoint/2010/main" val="2832106375"/>
      </p:ext>
    </p:extLst>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C6EE9-42C5-0876-985B-EFCE45D8076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74CB639-E87E-2CF2-A0B2-351B749DE72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EB01683-A430-9403-FED7-61571A90E72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5840770-DC4F-46A8-2C75-445D241EB35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9BEDD01-6E87-E6F7-A3F7-273EF580A1DB}"/>
              </a:ext>
            </a:extLst>
          </p:cNvPr>
          <p:cNvSpPr txBox="1">
            <a:spLocks/>
          </p:cNvSpPr>
          <p:nvPr/>
        </p:nvSpPr>
        <p:spPr>
          <a:xfrm>
            <a:off x="76200" y="697468"/>
            <a:ext cx="8624937" cy="87716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Consensus</a:t>
            </a:r>
          </a:p>
          <a:p>
            <a:pPr marL="12700" marR="5080"/>
            <a:r>
              <a:rPr lang="en-US" sz="2000" dirty="0">
                <a:solidFill>
                  <a:schemeClr val="accent2"/>
                </a:solidFill>
                <a:latin typeface="Google Sans"/>
              </a:rPr>
              <a:t>Paxos, Raft &amp; ZAB</a:t>
            </a:r>
          </a:p>
          <a:p>
            <a:pPr marL="12700" marR="5080"/>
            <a:r>
              <a:rPr lang="en-US" sz="1700" dirty="0">
                <a:solidFill>
                  <a:schemeClr val="accent2"/>
                </a:solidFill>
                <a:latin typeface="Google Sans"/>
              </a:rPr>
              <a:t>Comparison</a:t>
            </a:r>
          </a:p>
        </p:txBody>
      </p:sp>
      <p:grpSp>
        <p:nvGrpSpPr>
          <p:cNvPr id="7" name="Group 6">
            <a:extLst>
              <a:ext uri="{FF2B5EF4-FFF2-40B4-BE49-F238E27FC236}">
                <a16:creationId xmlns:a16="http://schemas.microsoft.com/office/drawing/2014/main" id="{77EE0113-F498-4EBE-C34F-3C340ED4886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8717E85-4244-F58E-8C46-F844EE80987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B2736684-8C8B-5C97-31F7-5EB65189BA6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pic>
        <p:nvPicPr>
          <p:cNvPr id="11" name="Picture 10">
            <a:extLst>
              <a:ext uri="{FF2B5EF4-FFF2-40B4-BE49-F238E27FC236}">
                <a16:creationId xmlns:a16="http://schemas.microsoft.com/office/drawing/2014/main" id="{61D91255-CB47-EF83-75A7-7E88864F3D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20477"/>
            <a:ext cx="8965009" cy="3289723"/>
          </a:xfrm>
          <a:prstGeom prst="rect">
            <a:avLst/>
          </a:prstGeom>
        </p:spPr>
      </p:pic>
      <p:pic>
        <p:nvPicPr>
          <p:cNvPr id="13" name="Picture 12">
            <a:extLst>
              <a:ext uri="{FF2B5EF4-FFF2-40B4-BE49-F238E27FC236}">
                <a16:creationId xmlns:a16="http://schemas.microsoft.com/office/drawing/2014/main" id="{D433247A-DC18-43DA-D626-07EAE14FC5C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91" y="1562071"/>
            <a:ext cx="8965009" cy="571529"/>
          </a:xfrm>
          <a:prstGeom prst="rect">
            <a:avLst/>
          </a:prstGeom>
        </p:spPr>
      </p:pic>
    </p:spTree>
    <p:extLst>
      <p:ext uri="{BB962C8B-B14F-4D97-AF65-F5344CB8AC3E}">
        <p14:creationId xmlns:p14="http://schemas.microsoft.com/office/powerpoint/2010/main" val="874480082"/>
      </p:ext>
    </p:extLst>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27037-7DFC-505C-E9FC-CA8153A983F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126AB6-7563-E344-4A35-D86CC95C8E9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012297D-C0D7-03F3-C023-08C81B8BEBB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99C9A15-1530-6240-7F7A-5A35FB23786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8C538DC-5A70-6EE8-BF83-99E3222C9BBD}"/>
              </a:ext>
            </a:extLst>
          </p:cNvPr>
          <p:cNvSpPr txBox="1">
            <a:spLocks/>
          </p:cNvSpPr>
          <p:nvPr/>
        </p:nvSpPr>
        <p:spPr>
          <a:xfrm>
            <a:off x="76200" y="697468"/>
            <a:ext cx="8624937" cy="52629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Consensus</a:t>
            </a:r>
          </a:p>
          <a:p>
            <a:pPr marL="12700" marR="5080"/>
            <a:r>
              <a:rPr lang="en-US" sz="2000" dirty="0">
                <a:solidFill>
                  <a:schemeClr val="accent2"/>
                </a:solidFill>
                <a:latin typeface="Google Sans"/>
              </a:rPr>
              <a:t>Paxos, Raft &amp; ZAB</a:t>
            </a:r>
          </a:p>
          <a:p>
            <a:pPr marL="12700" marR="5080"/>
            <a:r>
              <a:rPr lang="en-US" sz="1700" dirty="0">
                <a:solidFill>
                  <a:schemeClr val="accent2"/>
                </a:solidFill>
                <a:latin typeface="Google Sans"/>
              </a:rPr>
              <a:t>Paxos</a:t>
            </a:r>
          </a:p>
          <a:p>
            <a:r>
              <a:rPr lang="en-IN" sz="1500" dirty="0" err="1">
                <a:solidFill>
                  <a:schemeClr val="accent6"/>
                </a:solidFill>
                <a:latin typeface="Google Sans"/>
              </a:rPr>
              <a:t>Paxos</a:t>
            </a:r>
            <a:r>
              <a:rPr lang="en-IN" sz="1500" dirty="0">
                <a:solidFill>
                  <a:schemeClr val="accent6"/>
                </a:solidFill>
                <a:latin typeface="Google Sans"/>
              </a:rPr>
              <a:t> is a consensus algorithm whose original goal is very narrow and mathematical:</a:t>
            </a:r>
          </a:p>
          <a:p>
            <a:r>
              <a:rPr lang="en-IN" sz="1500" dirty="0">
                <a:solidFill>
                  <a:schemeClr val="accent6"/>
                </a:solidFill>
                <a:latin typeface="Google Sans"/>
              </a:rPr>
              <a:t>Multiple nodes must agree on a single value, even if some nodes crash.</a:t>
            </a:r>
          </a:p>
          <a:p>
            <a:r>
              <a:rPr lang="en-IN" sz="1500" dirty="0">
                <a:solidFill>
                  <a:schemeClr val="accent6"/>
                </a:solidFill>
                <a:latin typeface="Google Sans"/>
              </a:rPr>
              <a:t>That’s it.</a:t>
            </a:r>
          </a:p>
          <a:p>
            <a:r>
              <a:rPr lang="en-IN" sz="1500" dirty="0">
                <a:solidFill>
                  <a:schemeClr val="accent6"/>
                </a:solidFill>
                <a:latin typeface="Google Sans"/>
              </a:rPr>
              <a:t>No logs.</a:t>
            </a:r>
            <a:br>
              <a:rPr lang="en-IN" sz="1500" dirty="0">
                <a:solidFill>
                  <a:schemeClr val="accent6"/>
                </a:solidFill>
                <a:latin typeface="Google Sans"/>
              </a:rPr>
            </a:br>
            <a:r>
              <a:rPr lang="en-IN" sz="1500" dirty="0">
                <a:solidFill>
                  <a:schemeClr val="accent6"/>
                </a:solidFill>
                <a:latin typeface="Google Sans"/>
              </a:rPr>
              <a:t>No state machines.</a:t>
            </a:r>
            <a:br>
              <a:rPr lang="en-IN" sz="1500" dirty="0">
                <a:solidFill>
                  <a:schemeClr val="accent6"/>
                </a:solidFill>
                <a:latin typeface="Google Sans"/>
              </a:rPr>
            </a:br>
            <a:r>
              <a:rPr lang="en-IN" sz="1500" dirty="0">
                <a:solidFill>
                  <a:schemeClr val="accent6"/>
                </a:solidFill>
                <a:latin typeface="Google Sans"/>
              </a:rPr>
              <a:t>No leader (in the pure form).</a:t>
            </a:r>
          </a:p>
          <a:p>
            <a:r>
              <a:rPr lang="en-IN" sz="1500" dirty="0">
                <a:solidFill>
                  <a:schemeClr val="accent6"/>
                </a:solidFill>
                <a:latin typeface="Google Sans"/>
              </a:rPr>
              <a:t>Just:</a:t>
            </a:r>
          </a:p>
          <a:p>
            <a:r>
              <a:rPr lang="en-IN" sz="1500" dirty="0">
                <a:solidFill>
                  <a:schemeClr val="accent6"/>
                </a:solidFill>
                <a:latin typeface="Google Sans"/>
              </a:rPr>
              <a:t>👉 Pick one value safely.</a:t>
            </a:r>
          </a:p>
          <a:p>
            <a:r>
              <a:rPr lang="en-IN" sz="1500" dirty="0">
                <a:solidFill>
                  <a:schemeClr val="accent2"/>
                </a:solidFill>
                <a:latin typeface="Google Sans"/>
              </a:rPr>
              <a:t>How classic </a:t>
            </a:r>
            <a:r>
              <a:rPr lang="en-IN" sz="1500" dirty="0" err="1">
                <a:solidFill>
                  <a:schemeClr val="accent2"/>
                </a:solidFill>
                <a:latin typeface="Google Sans"/>
              </a:rPr>
              <a:t>Paxos</a:t>
            </a:r>
            <a:r>
              <a:rPr lang="en-IN" sz="1500" dirty="0">
                <a:solidFill>
                  <a:schemeClr val="accent2"/>
                </a:solidFill>
                <a:latin typeface="Google Sans"/>
              </a:rPr>
              <a:t> works (simplified)</a:t>
            </a:r>
          </a:p>
          <a:p>
            <a:r>
              <a:rPr lang="en-IN" sz="1500" dirty="0">
                <a:solidFill>
                  <a:schemeClr val="accent2"/>
                </a:solidFill>
                <a:latin typeface="Google Sans"/>
              </a:rPr>
              <a:t>Roles</a:t>
            </a:r>
          </a:p>
          <a:p>
            <a:pPr>
              <a:buFont typeface="Arial" panose="020B0604020202020204" pitchFamily="34" charset="0"/>
              <a:buChar char="•"/>
            </a:pPr>
            <a:r>
              <a:rPr lang="en-IN" sz="1500" dirty="0">
                <a:solidFill>
                  <a:schemeClr val="accent6"/>
                </a:solidFill>
                <a:latin typeface="Google Sans"/>
              </a:rPr>
              <a:t>Proposers – suggest values</a:t>
            </a:r>
          </a:p>
          <a:p>
            <a:pPr>
              <a:buFont typeface="Arial" panose="020B0604020202020204" pitchFamily="34" charset="0"/>
              <a:buChar char="•"/>
            </a:pPr>
            <a:r>
              <a:rPr lang="en-IN" sz="1500" dirty="0">
                <a:solidFill>
                  <a:schemeClr val="accent6"/>
                </a:solidFill>
                <a:latin typeface="Google Sans"/>
              </a:rPr>
              <a:t>Acceptors – vote</a:t>
            </a:r>
          </a:p>
          <a:p>
            <a:pPr>
              <a:buFont typeface="Arial" panose="020B0604020202020204" pitchFamily="34" charset="0"/>
              <a:buChar char="•"/>
            </a:pPr>
            <a:r>
              <a:rPr lang="en-IN" sz="1500" dirty="0">
                <a:solidFill>
                  <a:schemeClr val="accent6"/>
                </a:solidFill>
                <a:latin typeface="Google Sans"/>
              </a:rPr>
              <a:t>Learners – learn the result</a:t>
            </a:r>
          </a:p>
          <a:p>
            <a:r>
              <a:rPr lang="en-IN" sz="1500" dirty="0">
                <a:solidFill>
                  <a:schemeClr val="accent6"/>
                </a:solidFill>
                <a:latin typeface="Google Sans"/>
              </a:rPr>
              <a:t>(One machine can play multiple roles.)</a:t>
            </a:r>
          </a:p>
          <a:p>
            <a:r>
              <a:rPr lang="en-IN" sz="1500" dirty="0">
                <a:solidFill>
                  <a:schemeClr val="accent2"/>
                </a:solidFill>
                <a:latin typeface="Google Sans"/>
              </a:rPr>
              <a:t>Two phases</a:t>
            </a:r>
          </a:p>
          <a:p>
            <a:r>
              <a:rPr lang="en-IN" sz="1500" dirty="0">
                <a:solidFill>
                  <a:schemeClr val="accent6"/>
                </a:solidFill>
                <a:latin typeface="Google Sans"/>
              </a:rPr>
              <a:t>Phase 1 — Prepare</a:t>
            </a:r>
          </a:p>
          <a:p>
            <a:r>
              <a:rPr lang="en-IN" sz="1500" dirty="0">
                <a:solidFill>
                  <a:schemeClr val="accent6"/>
                </a:solidFill>
                <a:latin typeface="Google Sans"/>
              </a:rPr>
              <a:t>Proposer asks acceptors:</a:t>
            </a:r>
          </a:p>
          <a:p>
            <a:r>
              <a:rPr lang="en-IN" sz="1500" dirty="0">
                <a:solidFill>
                  <a:schemeClr val="accent6"/>
                </a:solidFill>
                <a:latin typeface="Google Sans"/>
              </a:rPr>
              <a:t>“Promise not to accept older proposals.”</a:t>
            </a:r>
          </a:p>
          <a:p>
            <a:r>
              <a:rPr lang="en-IN" sz="1500" dirty="0">
                <a:solidFill>
                  <a:schemeClr val="accent6"/>
                </a:solidFill>
                <a:latin typeface="Google Sans"/>
              </a:rPr>
              <a:t>If a majority agrees → continue.</a:t>
            </a:r>
          </a:p>
        </p:txBody>
      </p:sp>
      <p:grpSp>
        <p:nvGrpSpPr>
          <p:cNvPr id="7" name="Group 6">
            <a:extLst>
              <a:ext uri="{FF2B5EF4-FFF2-40B4-BE49-F238E27FC236}">
                <a16:creationId xmlns:a16="http://schemas.microsoft.com/office/drawing/2014/main" id="{76E90611-3B47-9B59-98B4-D77D6911B45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86BCE63-55AD-42A6-A6CC-285295CE8E7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3C24741-42BC-FC70-7BBE-1AABF3C3E5B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2579103640"/>
      </p:ext>
    </p:extLst>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27037-7DFC-505C-E9FC-CA8153A983F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126AB6-7563-E344-4A35-D86CC95C8E9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012297D-C0D7-03F3-C023-08C81B8BEBB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99C9A15-1530-6240-7F7A-5A35FB23786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8C538DC-5A70-6EE8-BF83-99E3222C9BBD}"/>
              </a:ext>
            </a:extLst>
          </p:cNvPr>
          <p:cNvSpPr txBox="1">
            <a:spLocks/>
          </p:cNvSpPr>
          <p:nvPr/>
        </p:nvSpPr>
        <p:spPr>
          <a:xfrm>
            <a:off x="76200" y="697468"/>
            <a:ext cx="8624937" cy="48013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Consensus</a:t>
            </a:r>
          </a:p>
          <a:p>
            <a:pPr marL="12700" marR="5080"/>
            <a:r>
              <a:rPr lang="en-US" sz="2000" dirty="0">
                <a:solidFill>
                  <a:schemeClr val="accent2"/>
                </a:solidFill>
                <a:latin typeface="Google Sans"/>
              </a:rPr>
              <a:t>Paxos, Raft &amp; ZAB</a:t>
            </a:r>
          </a:p>
          <a:p>
            <a:pPr marL="12700" marR="5080"/>
            <a:r>
              <a:rPr lang="en-US" sz="1700" dirty="0">
                <a:solidFill>
                  <a:schemeClr val="accent2"/>
                </a:solidFill>
                <a:latin typeface="Google Sans"/>
              </a:rPr>
              <a:t>Paxos</a:t>
            </a:r>
          </a:p>
          <a:p>
            <a:r>
              <a:rPr lang="en-IN" sz="1500" dirty="0">
                <a:solidFill>
                  <a:schemeClr val="accent2"/>
                </a:solidFill>
                <a:latin typeface="Google Sans"/>
              </a:rPr>
              <a:t>Two phases</a:t>
            </a:r>
          </a:p>
          <a:p>
            <a:r>
              <a:rPr lang="en-IN" sz="1500" dirty="0">
                <a:solidFill>
                  <a:schemeClr val="accent2"/>
                </a:solidFill>
                <a:latin typeface="Google Sans"/>
              </a:rPr>
              <a:t>Phase 2 — Accept</a:t>
            </a:r>
          </a:p>
          <a:p>
            <a:r>
              <a:rPr lang="en-IN" sz="1500" dirty="0">
                <a:solidFill>
                  <a:schemeClr val="accent6"/>
                </a:solidFill>
                <a:latin typeface="Google Sans"/>
              </a:rPr>
              <a:t>Proposer sends the value.</a:t>
            </a:r>
          </a:p>
          <a:p>
            <a:r>
              <a:rPr lang="en-IN" sz="1500" dirty="0">
                <a:solidFill>
                  <a:schemeClr val="accent6"/>
                </a:solidFill>
                <a:latin typeface="Google Sans"/>
              </a:rPr>
              <a:t>If a majority accepts → value chosen.</a:t>
            </a:r>
          </a:p>
          <a:p>
            <a:r>
              <a:rPr lang="en-IN" sz="1500" dirty="0">
                <a:solidFill>
                  <a:schemeClr val="accent2"/>
                </a:solidFill>
                <a:latin typeface="Google Sans"/>
              </a:rPr>
              <a:t>Important properties</a:t>
            </a:r>
          </a:p>
          <a:p>
            <a:r>
              <a:rPr lang="en-IN" sz="1500" dirty="0">
                <a:solidFill>
                  <a:schemeClr val="accent6"/>
                </a:solidFill>
                <a:latin typeface="Google Sans"/>
              </a:rPr>
              <a:t>✅ Works with crashes</a:t>
            </a:r>
            <a:br>
              <a:rPr lang="en-IN" sz="1500" dirty="0">
                <a:solidFill>
                  <a:schemeClr val="accent6"/>
                </a:solidFill>
                <a:latin typeface="Google Sans"/>
              </a:rPr>
            </a:br>
            <a:r>
              <a:rPr lang="en-IN" sz="1500" dirty="0">
                <a:solidFill>
                  <a:schemeClr val="accent6"/>
                </a:solidFill>
                <a:latin typeface="Google Sans"/>
              </a:rPr>
              <a:t>✅ Requires majority</a:t>
            </a:r>
            <a:br>
              <a:rPr lang="en-IN" sz="1500" dirty="0">
                <a:solidFill>
                  <a:schemeClr val="accent6"/>
                </a:solidFill>
                <a:latin typeface="Google Sans"/>
              </a:rPr>
            </a:br>
            <a:r>
              <a:rPr lang="en-IN" sz="1500" dirty="0">
                <a:solidFill>
                  <a:schemeClr val="accent6"/>
                </a:solidFill>
                <a:latin typeface="Google Sans"/>
              </a:rPr>
              <a:t>✅ No fixed leader</a:t>
            </a:r>
            <a:br>
              <a:rPr lang="en-IN" sz="1500" dirty="0">
                <a:solidFill>
                  <a:schemeClr val="accent6"/>
                </a:solidFill>
                <a:latin typeface="Google Sans"/>
              </a:rPr>
            </a:br>
            <a:r>
              <a:rPr lang="en-IN" sz="1500" dirty="0">
                <a:solidFill>
                  <a:schemeClr val="accent6"/>
                </a:solidFill>
                <a:latin typeface="Google Sans"/>
              </a:rPr>
              <a:t>❌ Only agrees on one value</a:t>
            </a:r>
          </a:p>
          <a:p>
            <a:r>
              <a:rPr lang="en-IN" sz="1500" dirty="0">
                <a:solidFill>
                  <a:schemeClr val="accent2"/>
                </a:solidFill>
                <a:latin typeface="Google Sans"/>
              </a:rPr>
              <a:t>This is called Single-Decree </a:t>
            </a:r>
            <a:r>
              <a:rPr lang="en-IN" sz="1500" dirty="0" err="1">
                <a:solidFill>
                  <a:schemeClr val="accent2"/>
                </a:solidFill>
                <a:latin typeface="Google Sans"/>
              </a:rPr>
              <a:t>Paxos</a:t>
            </a:r>
            <a:r>
              <a:rPr lang="en-IN" sz="1500" dirty="0">
                <a:solidFill>
                  <a:schemeClr val="accent2"/>
                </a:solidFill>
                <a:latin typeface="Google Sans"/>
              </a:rPr>
              <a:t>.</a:t>
            </a:r>
          </a:p>
          <a:p>
            <a:r>
              <a:rPr lang="en-IN" sz="1500" dirty="0">
                <a:solidFill>
                  <a:schemeClr val="accent2"/>
                </a:solidFill>
                <a:latin typeface="Google Sans"/>
              </a:rPr>
              <a:t>But real systems need many values</a:t>
            </a:r>
          </a:p>
          <a:p>
            <a:r>
              <a:rPr lang="en-IN" sz="1500" dirty="0">
                <a:solidFill>
                  <a:schemeClr val="accent2"/>
                </a:solidFill>
                <a:latin typeface="Google Sans"/>
              </a:rPr>
              <a:t>So people use:</a:t>
            </a:r>
          </a:p>
          <a:p>
            <a:r>
              <a:rPr lang="en-IN" sz="1500" dirty="0">
                <a:solidFill>
                  <a:schemeClr val="accent6"/>
                </a:solidFill>
                <a:latin typeface="Google Sans"/>
              </a:rPr>
              <a:t>Multi-</a:t>
            </a:r>
            <a:r>
              <a:rPr lang="en-IN" sz="1500" dirty="0" err="1">
                <a:solidFill>
                  <a:schemeClr val="accent6"/>
                </a:solidFill>
                <a:latin typeface="Google Sans"/>
              </a:rPr>
              <a:t>Paxos</a:t>
            </a:r>
            <a:endParaRPr lang="en-IN" sz="1500" dirty="0">
              <a:solidFill>
                <a:schemeClr val="accent6"/>
              </a:solidFill>
              <a:latin typeface="Google Sans"/>
            </a:endParaRPr>
          </a:p>
          <a:p>
            <a:r>
              <a:rPr lang="en-IN" sz="1500" dirty="0">
                <a:solidFill>
                  <a:schemeClr val="accent2"/>
                </a:solidFill>
                <a:latin typeface="Google Sans"/>
              </a:rPr>
              <a:t>Key idea:</a:t>
            </a:r>
          </a:p>
          <a:p>
            <a:r>
              <a:rPr lang="en-IN" sz="1500" dirty="0">
                <a:solidFill>
                  <a:schemeClr val="accent6"/>
                </a:solidFill>
                <a:latin typeface="Google Sans"/>
              </a:rPr>
              <a:t>Elect a stable leader once, then reuse it to propose many values efficiently.</a:t>
            </a:r>
          </a:p>
          <a:p>
            <a:r>
              <a:rPr lang="en-IN" sz="1500" dirty="0">
                <a:solidFill>
                  <a:schemeClr val="accent2"/>
                </a:solidFill>
                <a:latin typeface="Google Sans"/>
              </a:rPr>
              <a:t>At this point </a:t>
            </a:r>
            <a:r>
              <a:rPr lang="en-IN" sz="1500" dirty="0" err="1">
                <a:solidFill>
                  <a:schemeClr val="accent2"/>
                </a:solidFill>
                <a:latin typeface="Google Sans"/>
              </a:rPr>
              <a:t>Paxos</a:t>
            </a:r>
            <a:r>
              <a:rPr lang="en-IN" sz="1500" dirty="0">
                <a:solidFill>
                  <a:schemeClr val="accent2"/>
                </a:solidFill>
                <a:latin typeface="Google Sans"/>
              </a:rPr>
              <a:t> becomes:</a:t>
            </a:r>
          </a:p>
          <a:p>
            <a:r>
              <a:rPr lang="en-IN" sz="1500" dirty="0">
                <a:solidFill>
                  <a:schemeClr val="accent6"/>
                </a:solidFill>
                <a:latin typeface="Google Sans"/>
              </a:rPr>
              <a:t>👉 Leader election + log replication</a:t>
            </a:r>
          </a:p>
        </p:txBody>
      </p:sp>
      <p:grpSp>
        <p:nvGrpSpPr>
          <p:cNvPr id="7" name="Group 6">
            <a:extLst>
              <a:ext uri="{FF2B5EF4-FFF2-40B4-BE49-F238E27FC236}">
                <a16:creationId xmlns:a16="http://schemas.microsoft.com/office/drawing/2014/main" id="{76E90611-3B47-9B59-98B4-D77D6911B45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86BCE63-55AD-42A6-A6CC-285295CE8E7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3C24741-42BC-FC70-7BBE-1AABF3C3E5B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3969255180"/>
      </p:ext>
    </p:extLst>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27037-7DFC-505C-E9FC-CA8153A983F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126AB6-7563-E344-4A35-D86CC95C8E9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012297D-C0D7-03F3-C023-08C81B8BEBB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99C9A15-1530-6240-7F7A-5A35FB23786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8C538DC-5A70-6EE8-BF83-99E3222C9BBD}"/>
              </a:ext>
            </a:extLst>
          </p:cNvPr>
          <p:cNvSpPr txBox="1">
            <a:spLocks/>
          </p:cNvSpPr>
          <p:nvPr/>
        </p:nvSpPr>
        <p:spPr>
          <a:xfrm>
            <a:off x="76200" y="697468"/>
            <a:ext cx="8624937" cy="52937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Consensus</a:t>
            </a:r>
          </a:p>
          <a:p>
            <a:pPr marL="12700" marR="5080"/>
            <a:r>
              <a:rPr lang="en-US" sz="1700" dirty="0">
                <a:solidFill>
                  <a:schemeClr val="accent2"/>
                </a:solidFill>
                <a:latin typeface="Google Sans"/>
              </a:rPr>
              <a:t>Paxos, Raft &amp; ZAB</a:t>
            </a:r>
          </a:p>
          <a:p>
            <a:pPr marL="12700" marR="5080"/>
            <a:r>
              <a:rPr lang="en-US" sz="1700" dirty="0">
                <a:solidFill>
                  <a:schemeClr val="accent2"/>
                </a:solidFill>
                <a:latin typeface="Google Sans"/>
              </a:rPr>
              <a:t>Raft</a:t>
            </a:r>
          </a:p>
          <a:p>
            <a:r>
              <a:rPr lang="en-IN" sz="1450" dirty="0">
                <a:solidFill>
                  <a:schemeClr val="accent2"/>
                </a:solidFill>
                <a:latin typeface="Google Sans"/>
              </a:rPr>
              <a:t>🧠 What is Raft, structurally?</a:t>
            </a:r>
          </a:p>
          <a:p>
            <a:r>
              <a:rPr lang="en-IN" sz="1450" dirty="0">
                <a:solidFill>
                  <a:schemeClr val="accent6"/>
                </a:solidFill>
                <a:latin typeface="Google Sans"/>
              </a:rPr>
              <a:t>Raft Consensus Algorithm was designed to make consensus easy to understand by splitting it into clear components:</a:t>
            </a:r>
          </a:p>
          <a:p>
            <a:pPr>
              <a:buFont typeface="+mj-lt"/>
              <a:buAutoNum type="arabicPeriod"/>
            </a:pPr>
            <a:r>
              <a:rPr lang="en-IN" sz="1450" dirty="0">
                <a:solidFill>
                  <a:schemeClr val="accent6"/>
                </a:solidFill>
                <a:latin typeface="Google Sans"/>
              </a:rPr>
              <a:t>Leader Election</a:t>
            </a:r>
          </a:p>
          <a:p>
            <a:pPr>
              <a:buFont typeface="+mj-lt"/>
              <a:buAutoNum type="arabicPeriod"/>
            </a:pPr>
            <a:r>
              <a:rPr lang="en-IN" sz="1450" dirty="0">
                <a:solidFill>
                  <a:schemeClr val="accent6"/>
                </a:solidFill>
                <a:latin typeface="Google Sans"/>
              </a:rPr>
              <a:t>Log Replication</a:t>
            </a:r>
          </a:p>
          <a:p>
            <a:pPr>
              <a:buFont typeface="+mj-lt"/>
              <a:buAutoNum type="arabicPeriod"/>
            </a:pPr>
            <a:r>
              <a:rPr lang="en-IN" sz="1450" dirty="0">
                <a:solidFill>
                  <a:schemeClr val="accent6"/>
                </a:solidFill>
                <a:latin typeface="Google Sans"/>
              </a:rPr>
              <a:t>Safety / Membership changes</a:t>
            </a:r>
          </a:p>
          <a:p>
            <a:r>
              <a:rPr lang="en-IN" sz="1450" dirty="0">
                <a:solidFill>
                  <a:schemeClr val="accent6"/>
                </a:solidFill>
                <a:latin typeface="Google Sans"/>
              </a:rPr>
              <a:t>Most people summarize Raft as:</a:t>
            </a:r>
          </a:p>
          <a:p>
            <a:r>
              <a:rPr lang="en-IN" sz="1450" dirty="0">
                <a:solidFill>
                  <a:schemeClr val="accent6"/>
                </a:solidFill>
                <a:latin typeface="Google Sans"/>
              </a:rPr>
              <a:t>Elect a leader → leader replicates a log → everyone applies entries in order.</a:t>
            </a:r>
          </a:p>
          <a:p>
            <a:r>
              <a:rPr lang="en-IN" sz="1450" dirty="0">
                <a:solidFill>
                  <a:schemeClr val="accent6"/>
                </a:solidFill>
                <a:latin typeface="Google Sans"/>
              </a:rPr>
              <a:t>That’s accurate.</a:t>
            </a:r>
          </a:p>
          <a:p>
            <a:r>
              <a:rPr lang="en-IN" sz="1450" dirty="0">
                <a:solidFill>
                  <a:schemeClr val="accent6"/>
                </a:solidFill>
                <a:latin typeface="Google Sans"/>
              </a:rPr>
              <a:t>🗳️ </a:t>
            </a:r>
            <a:r>
              <a:rPr lang="en-IN" sz="1450" dirty="0">
                <a:solidFill>
                  <a:schemeClr val="accent2"/>
                </a:solidFill>
                <a:latin typeface="Google Sans"/>
              </a:rPr>
              <a:t>Part 1 — Leader Election</a:t>
            </a:r>
          </a:p>
          <a:p>
            <a:r>
              <a:rPr lang="en-IN" sz="1450" dirty="0">
                <a:solidFill>
                  <a:schemeClr val="accent2"/>
                </a:solidFill>
                <a:latin typeface="Google Sans"/>
              </a:rPr>
              <a:t>Purpose</a:t>
            </a:r>
          </a:p>
          <a:p>
            <a:r>
              <a:rPr lang="en-IN" sz="1450" dirty="0">
                <a:solidFill>
                  <a:schemeClr val="accent6"/>
                </a:solidFill>
                <a:latin typeface="Google Sans"/>
              </a:rPr>
              <a:t>Pick exactly one leader.</a:t>
            </a:r>
          </a:p>
          <a:p>
            <a:r>
              <a:rPr lang="en-IN" sz="1450" dirty="0">
                <a:solidFill>
                  <a:schemeClr val="accent2"/>
                </a:solidFill>
                <a:latin typeface="Google Sans"/>
              </a:rPr>
              <a:t>How it works (simplified)</a:t>
            </a:r>
          </a:p>
          <a:p>
            <a:pPr>
              <a:buFont typeface="+mj-lt"/>
              <a:buAutoNum type="arabicPeriod"/>
            </a:pPr>
            <a:r>
              <a:rPr lang="en-IN" sz="1450" dirty="0">
                <a:solidFill>
                  <a:schemeClr val="accent6"/>
                </a:solidFill>
                <a:latin typeface="Google Sans"/>
              </a:rPr>
              <a:t>All nodes start as Followers</a:t>
            </a:r>
          </a:p>
          <a:p>
            <a:pPr>
              <a:buFont typeface="+mj-lt"/>
              <a:buAutoNum type="arabicPeriod"/>
            </a:pPr>
            <a:r>
              <a:rPr lang="en-IN" sz="1450" dirty="0">
                <a:solidFill>
                  <a:schemeClr val="accent6"/>
                </a:solidFill>
                <a:latin typeface="Google Sans"/>
              </a:rPr>
              <a:t>If no heartbeat → timeout</a:t>
            </a:r>
          </a:p>
          <a:p>
            <a:pPr>
              <a:buFont typeface="+mj-lt"/>
              <a:buAutoNum type="arabicPeriod"/>
            </a:pPr>
            <a:r>
              <a:rPr lang="en-IN" sz="1450" dirty="0">
                <a:solidFill>
                  <a:schemeClr val="accent6"/>
                </a:solidFill>
                <a:latin typeface="Google Sans"/>
              </a:rPr>
              <a:t>Node becomes Candidate</a:t>
            </a:r>
          </a:p>
          <a:p>
            <a:pPr>
              <a:buFont typeface="+mj-lt"/>
              <a:buAutoNum type="arabicPeriod"/>
            </a:pPr>
            <a:r>
              <a:rPr lang="en-IN" sz="1450" dirty="0">
                <a:solidFill>
                  <a:schemeClr val="accent6"/>
                </a:solidFill>
                <a:latin typeface="Google Sans"/>
              </a:rPr>
              <a:t>Sends </a:t>
            </a:r>
            <a:r>
              <a:rPr lang="en-IN" sz="1450" dirty="0" err="1">
                <a:solidFill>
                  <a:schemeClr val="accent6"/>
                </a:solidFill>
                <a:latin typeface="Google Sans"/>
              </a:rPr>
              <a:t>RequestVote</a:t>
            </a:r>
            <a:endParaRPr lang="en-IN" sz="1450" dirty="0">
              <a:solidFill>
                <a:schemeClr val="accent6"/>
              </a:solidFill>
              <a:latin typeface="Google Sans"/>
            </a:endParaRPr>
          </a:p>
          <a:p>
            <a:pPr>
              <a:buFont typeface="+mj-lt"/>
              <a:buAutoNum type="arabicPeriod"/>
            </a:pPr>
            <a:r>
              <a:rPr lang="en-IN" sz="1450" dirty="0">
                <a:solidFill>
                  <a:schemeClr val="accent6"/>
                </a:solidFill>
                <a:latin typeface="Google Sans"/>
              </a:rPr>
              <a:t>Majority wins → becomes Leader</a:t>
            </a:r>
          </a:p>
          <a:p>
            <a:r>
              <a:rPr lang="en-IN" sz="1450" dirty="0">
                <a:solidFill>
                  <a:schemeClr val="accent6"/>
                </a:solidFill>
                <a:latin typeface="Google Sans"/>
              </a:rPr>
              <a:t>Randomized timeouts prevent split votes.</a:t>
            </a:r>
          </a:p>
          <a:p>
            <a:r>
              <a:rPr lang="en-IN" sz="1450" dirty="0">
                <a:solidFill>
                  <a:schemeClr val="accent6"/>
                </a:solidFill>
                <a:latin typeface="Google Sans"/>
              </a:rPr>
              <a:t>Once elected, the leader stays in charge until it crashes or becomes unreachable.</a:t>
            </a:r>
          </a:p>
        </p:txBody>
      </p:sp>
      <p:grpSp>
        <p:nvGrpSpPr>
          <p:cNvPr id="7" name="Group 6">
            <a:extLst>
              <a:ext uri="{FF2B5EF4-FFF2-40B4-BE49-F238E27FC236}">
                <a16:creationId xmlns:a16="http://schemas.microsoft.com/office/drawing/2014/main" id="{76E90611-3B47-9B59-98B4-D77D6911B45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86BCE63-55AD-42A6-A6CC-285295CE8E7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3C24741-42BC-FC70-7BBE-1AABF3C3E5B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410432082"/>
      </p:ext>
    </p:extLst>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27037-7DFC-505C-E9FC-CA8153A983F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126AB6-7563-E344-4A35-D86CC95C8E9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012297D-C0D7-03F3-C023-08C81B8BEBB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99C9A15-1530-6240-7F7A-5A35FB23786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8C538DC-5A70-6EE8-BF83-99E3222C9BBD}"/>
              </a:ext>
            </a:extLst>
          </p:cNvPr>
          <p:cNvSpPr txBox="1">
            <a:spLocks/>
          </p:cNvSpPr>
          <p:nvPr/>
        </p:nvSpPr>
        <p:spPr>
          <a:xfrm>
            <a:off x="44911" y="666432"/>
            <a:ext cx="8624937" cy="535531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Consensus</a:t>
            </a:r>
          </a:p>
          <a:p>
            <a:pPr marL="12700" marR="5080"/>
            <a:r>
              <a:rPr lang="en-US" sz="1700" dirty="0">
                <a:solidFill>
                  <a:schemeClr val="accent2"/>
                </a:solidFill>
                <a:latin typeface="Google Sans"/>
              </a:rPr>
              <a:t>Paxos, Raft &amp; ZAB</a:t>
            </a:r>
          </a:p>
          <a:p>
            <a:pPr marL="12700" marR="5080"/>
            <a:r>
              <a:rPr lang="en-US" sz="1700" dirty="0">
                <a:solidFill>
                  <a:schemeClr val="accent2"/>
                </a:solidFill>
                <a:latin typeface="Google Sans"/>
              </a:rPr>
              <a:t>Raft</a:t>
            </a:r>
            <a:endParaRPr lang="en-IN" sz="1700" dirty="0">
              <a:solidFill>
                <a:schemeClr val="accent6"/>
              </a:solidFill>
              <a:latin typeface="Google Sans"/>
            </a:endParaRPr>
          </a:p>
          <a:p>
            <a:r>
              <a:rPr lang="en-IN" sz="1400" dirty="0">
                <a:solidFill>
                  <a:schemeClr val="accent2"/>
                </a:solidFill>
                <a:latin typeface="Google Sans"/>
              </a:rPr>
              <a:t>📒 Part 2 — Log Replication</a:t>
            </a:r>
          </a:p>
          <a:p>
            <a:r>
              <a:rPr lang="en-IN" sz="1400" dirty="0">
                <a:solidFill>
                  <a:schemeClr val="accent2"/>
                </a:solidFill>
                <a:latin typeface="Google Sans"/>
              </a:rPr>
              <a:t>Purpose</a:t>
            </a:r>
          </a:p>
          <a:p>
            <a:r>
              <a:rPr lang="en-IN" sz="1400" dirty="0">
                <a:solidFill>
                  <a:schemeClr val="accent6"/>
                </a:solidFill>
                <a:latin typeface="Google Sans"/>
              </a:rPr>
              <a:t>Ensure all nodes execute the same commands in the same order.</a:t>
            </a:r>
          </a:p>
          <a:p>
            <a:r>
              <a:rPr lang="en-IN" sz="1400" dirty="0">
                <a:solidFill>
                  <a:schemeClr val="accent2"/>
                </a:solidFill>
                <a:latin typeface="Google Sans"/>
              </a:rPr>
              <a:t>How it works</a:t>
            </a:r>
          </a:p>
          <a:p>
            <a:pPr>
              <a:buFont typeface="+mj-lt"/>
              <a:buAutoNum type="arabicPeriod"/>
            </a:pPr>
            <a:r>
              <a:rPr lang="en-IN" sz="1400" dirty="0">
                <a:solidFill>
                  <a:schemeClr val="accent6"/>
                </a:solidFill>
                <a:latin typeface="Google Sans"/>
              </a:rPr>
              <a:t>Client sends command to leader</a:t>
            </a:r>
          </a:p>
          <a:p>
            <a:pPr>
              <a:buFont typeface="+mj-lt"/>
              <a:buAutoNum type="arabicPeriod"/>
            </a:pPr>
            <a:r>
              <a:rPr lang="en-IN" sz="1400" dirty="0">
                <a:solidFill>
                  <a:schemeClr val="accent6"/>
                </a:solidFill>
                <a:latin typeface="Google Sans"/>
              </a:rPr>
              <a:t>Leader appends entry to its log</a:t>
            </a:r>
          </a:p>
          <a:p>
            <a:pPr>
              <a:buFont typeface="+mj-lt"/>
              <a:buAutoNum type="arabicPeriod"/>
            </a:pPr>
            <a:r>
              <a:rPr lang="en-IN" sz="1400" dirty="0">
                <a:solidFill>
                  <a:schemeClr val="accent6"/>
                </a:solidFill>
                <a:latin typeface="Google Sans"/>
              </a:rPr>
              <a:t>Leader sends </a:t>
            </a:r>
            <a:r>
              <a:rPr lang="en-IN" sz="1400" dirty="0" err="1">
                <a:solidFill>
                  <a:schemeClr val="accent6"/>
                </a:solidFill>
                <a:latin typeface="Google Sans"/>
              </a:rPr>
              <a:t>AppendEntries</a:t>
            </a:r>
            <a:r>
              <a:rPr lang="en-IN" sz="1400" dirty="0">
                <a:solidFill>
                  <a:schemeClr val="accent6"/>
                </a:solidFill>
                <a:latin typeface="Google Sans"/>
              </a:rPr>
              <a:t> RPCs</a:t>
            </a:r>
          </a:p>
          <a:p>
            <a:pPr>
              <a:buFont typeface="+mj-lt"/>
              <a:buAutoNum type="arabicPeriod"/>
            </a:pPr>
            <a:r>
              <a:rPr lang="en-IN" sz="1400" dirty="0">
                <a:solidFill>
                  <a:schemeClr val="accent6"/>
                </a:solidFill>
                <a:latin typeface="Google Sans"/>
              </a:rPr>
              <a:t>Followers copy entry</a:t>
            </a:r>
          </a:p>
          <a:p>
            <a:pPr>
              <a:buFont typeface="+mj-lt"/>
              <a:buAutoNum type="arabicPeriod"/>
            </a:pPr>
            <a:r>
              <a:rPr lang="en-IN" sz="1400" dirty="0">
                <a:solidFill>
                  <a:schemeClr val="accent6"/>
                </a:solidFill>
                <a:latin typeface="Google Sans"/>
              </a:rPr>
              <a:t>Once majority confirms → entry is committed</a:t>
            </a:r>
          </a:p>
          <a:p>
            <a:pPr>
              <a:buFont typeface="+mj-lt"/>
              <a:buAutoNum type="arabicPeriod"/>
            </a:pPr>
            <a:r>
              <a:rPr lang="en-IN" sz="1400" dirty="0">
                <a:solidFill>
                  <a:schemeClr val="accent6"/>
                </a:solidFill>
                <a:latin typeface="Google Sans"/>
              </a:rPr>
              <a:t>Everyone applies it to their state machine</a:t>
            </a:r>
          </a:p>
          <a:p>
            <a:r>
              <a:rPr lang="en-IN" sz="1400" dirty="0">
                <a:solidFill>
                  <a:schemeClr val="accent1"/>
                </a:solidFill>
                <a:latin typeface="Google Sans"/>
              </a:rPr>
              <a:t>This is what turns Raft into a Replicated State Machine.</a:t>
            </a:r>
          </a:p>
          <a:p>
            <a:r>
              <a:rPr lang="en-IN" sz="1400" dirty="0">
                <a:solidFill>
                  <a:schemeClr val="accent2"/>
                </a:solidFill>
                <a:latin typeface="Google Sans"/>
              </a:rPr>
              <a:t>🔐 Part 3 — Safety (often forgotten)</a:t>
            </a:r>
          </a:p>
          <a:p>
            <a:r>
              <a:rPr lang="en-IN" sz="1400" dirty="0">
                <a:solidFill>
                  <a:schemeClr val="accent2"/>
                </a:solidFill>
                <a:latin typeface="Google Sans"/>
              </a:rPr>
              <a:t>Raft also guarantees:</a:t>
            </a:r>
          </a:p>
          <a:p>
            <a:pPr>
              <a:buFont typeface="Arial" panose="020B0604020202020204" pitchFamily="34" charset="0"/>
              <a:buChar char="•"/>
            </a:pPr>
            <a:r>
              <a:rPr lang="en-IN" sz="1400" dirty="0">
                <a:solidFill>
                  <a:schemeClr val="accent6"/>
                </a:solidFill>
                <a:latin typeface="Google Sans"/>
              </a:rPr>
              <a:t>Only committed entries survive leader changes</a:t>
            </a:r>
          </a:p>
          <a:p>
            <a:pPr>
              <a:buFont typeface="Arial" panose="020B0604020202020204" pitchFamily="34" charset="0"/>
              <a:buChar char="•"/>
            </a:pPr>
            <a:r>
              <a:rPr lang="en-IN" sz="1400" dirty="0">
                <a:solidFill>
                  <a:schemeClr val="accent6"/>
                </a:solidFill>
                <a:latin typeface="Google Sans"/>
              </a:rPr>
              <a:t>Logs never diverge</a:t>
            </a:r>
          </a:p>
          <a:p>
            <a:pPr>
              <a:buFont typeface="Arial" panose="020B0604020202020204" pitchFamily="34" charset="0"/>
              <a:buChar char="•"/>
            </a:pPr>
            <a:r>
              <a:rPr lang="en-IN" sz="1400" dirty="0">
                <a:solidFill>
                  <a:schemeClr val="accent6"/>
                </a:solidFill>
                <a:latin typeface="Google Sans"/>
              </a:rPr>
              <a:t>Old leaders cannot overwrite newer history</a:t>
            </a:r>
          </a:p>
          <a:p>
            <a:r>
              <a:rPr lang="en-IN" sz="1400" dirty="0">
                <a:solidFill>
                  <a:schemeClr val="accent6"/>
                </a:solidFill>
                <a:latin typeface="Google Sans"/>
              </a:rPr>
              <a:t>This is handled via:</a:t>
            </a:r>
          </a:p>
          <a:p>
            <a:pPr>
              <a:buFont typeface="Arial" panose="020B0604020202020204" pitchFamily="34" charset="0"/>
              <a:buChar char="•"/>
            </a:pPr>
            <a:r>
              <a:rPr lang="en-IN" sz="1400" dirty="0">
                <a:solidFill>
                  <a:schemeClr val="accent6"/>
                </a:solidFill>
                <a:latin typeface="Google Sans"/>
              </a:rPr>
              <a:t>Terms</a:t>
            </a:r>
          </a:p>
          <a:p>
            <a:pPr>
              <a:buFont typeface="Arial" panose="020B0604020202020204" pitchFamily="34" charset="0"/>
              <a:buChar char="•"/>
            </a:pPr>
            <a:r>
              <a:rPr lang="en-IN" sz="1400" dirty="0">
                <a:solidFill>
                  <a:schemeClr val="accent6"/>
                </a:solidFill>
                <a:latin typeface="Google Sans"/>
              </a:rPr>
              <a:t>Commit index</a:t>
            </a:r>
          </a:p>
          <a:p>
            <a:pPr>
              <a:buFont typeface="Arial" panose="020B0604020202020204" pitchFamily="34" charset="0"/>
              <a:buChar char="•"/>
            </a:pPr>
            <a:r>
              <a:rPr lang="en-IN" sz="1400" dirty="0">
                <a:solidFill>
                  <a:schemeClr val="accent6"/>
                </a:solidFill>
                <a:latin typeface="Google Sans"/>
              </a:rPr>
              <a:t>Log matching rules</a:t>
            </a:r>
          </a:p>
          <a:p>
            <a:r>
              <a:rPr lang="en-IN" sz="1400" dirty="0">
                <a:solidFill>
                  <a:schemeClr val="accent6"/>
                </a:solidFill>
                <a:latin typeface="Google Sans"/>
              </a:rPr>
              <a:t>Without this, election + replication alone would be unsafe.</a:t>
            </a:r>
          </a:p>
        </p:txBody>
      </p:sp>
      <p:grpSp>
        <p:nvGrpSpPr>
          <p:cNvPr id="7" name="Group 6">
            <a:extLst>
              <a:ext uri="{FF2B5EF4-FFF2-40B4-BE49-F238E27FC236}">
                <a16:creationId xmlns:a16="http://schemas.microsoft.com/office/drawing/2014/main" id="{76E90611-3B47-9B59-98B4-D77D6911B45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86BCE63-55AD-42A6-A6CC-285295CE8E7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3C24741-42BC-FC70-7BBE-1AABF3C3E5B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2965827396"/>
      </p:ext>
    </p:extLst>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27037-7DFC-505C-E9FC-CA8153A983F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126AB6-7563-E344-4A35-D86CC95C8E9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012297D-C0D7-03F3-C023-08C81B8BEBB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99C9A15-1530-6240-7F7A-5A35FB23786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8C538DC-5A70-6EE8-BF83-99E3222C9BBD}"/>
              </a:ext>
            </a:extLst>
          </p:cNvPr>
          <p:cNvSpPr txBox="1">
            <a:spLocks/>
          </p:cNvSpPr>
          <p:nvPr/>
        </p:nvSpPr>
        <p:spPr>
          <a:xfrm>
            <a:off x="76200" y="697468"/>
            <a:ext cx="8624937" cy="557075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Consensus</a:t>
            </a:r>
          </a:p>
          <a:p>
            <a:pPr marL="12700" marR="5080"/>
            <a:r>
              <a:rPr lang="en-US" sz="1700" dirty="0">
                <a:solidFill>
                  <a:schemeClr val="accent2"/>
                </a:solidFill>
                <a:latin typeface="Google Sans"/>
              </a:rPr>
              <a:t>Paxos, Raft &amp; ZAB</a:t>
            </a:r>
          </a:p>
          <a:p>
            <a:pPr marL="12700" marR="5080"/>
            <a:r>
              <a:rPr lang="en-US" sz="1700" dirty="0">
                <a:solidFill>
                  <a:schemeClr val="accent2"/>
                </a:solidFill>
                <a:latin typeface="Google Sans"/>
              </a:rPr>
              <a:t>Raft</a:t>
            </a:r>
            <a:endParaRPr lang="en-IN" sz="1700" dirty="0">
              <a:solidFill>
                <a:schemeClr val="accent6"/>
              </a:solidFill>
              <a:latin typeface="Google Sans"/>
            </a:endParaRPr>
          </a:p>
          <a:p>
            <a:r>
              <a:rPr lang="en-IN" sz="1400" dirty="0">
                <a:solidFill>
                  <a:schemeClr val="accent2"/>
                </a:solidFill>
                <a:latin typeface="Google Sans"/>
              </a:rPr>
              <a:t>So is Raft just “leader election + log replication”?</a:t>
            </a:r>
          </a:p>
          <a:p>
            <a:r>
              <a:rPr lang="en-IN" sz="1400" dirty="0">
                <a:solidFill>
                  <a:schemeClr val="accent2"/>
                </a:solidFill>
                <a:latin typeface="Google Sans"/>
              </a:rPr>
              <a:t>Conceptually:</a:t>
            </a:r>
          </a:p>
          <a:p>
            <a:r>
              <a:rPr lang="en-IN" sz="1400" dirty="0">
                <a:solidFill>
                  <a:schemeClr val="accent6"/>
                </a:solidFill>
                <a:latin typeface="Google Sans"/>
              </a:rPr>
              <a:t>👉 Yes.</a:t>
            </a:r>
          </a:p>
          <a:p>
            <a:r>
              <a:rPr lang="en-IN" sz="1400" dirty="0">
                <a:solidFill>
                  <a:schemeClr val="accent2"/>
                </a:solidFill>
                <a:latin typeface="Google Sans"/>
              </a:rPr>
              <a:t>Practically:</a:t>
            </a:r>
          </a:p>
          <a:p>
            <a:r>
              <a:rPr lang="en-IN" sz="1400" dirty="0">
                <a:solidFill>
                  <a:schemeClr val="accent2"/>
                </a:solidFill>
                <a:latin typeface="Google Sans"/>
              </a:rPr>
              <a:t>👉 Leader election + log replication + safety rules.</a:t>
            </a:r>
          </a:p>
          <a:p>
            <a:r>
              <a:rPr lang="en-IN" sz="1400" dirty="0">
                <a:solidFill>
                  <a:schemeClr val="accent2"/>
                </a:solidFill>
                <a:latin typeface="Google Sans"/>
              </a:rPr>
              <a:t>🧩 Mental Model</a:t>
            </a:r>
          </a:p>
          <a:p>
            <a:r>
              <a:rPr lang="en-IN" sz="1400" dirty="0">
                <a:solidFill>
                  <a:schemeClr val="accent2"/>
                </a:solidFill>
                <a:latin typeface="Google Sans"/>
              </a:rPr>
              <a:t>Think of Raft like this:</a:t>
            </a:r>
          </a:p>
          <a:p>
            <a:pPr rtl="0"/>
            <a:r>
              <a:rPr lang="en-IN" sz="1400" dirty="0">
                <a:solidFill>
                  <a:schemeClr val="accent6"/>
                </a:solidFill>
                <a:latin typeface="Google Sans"/>
              </a:rPr>
              <a:t>1. Pick a boss (leader election) 2. Boss writes everything in a notebook (log) 3. Copies notebook to </a:t>
            </a:r>
            <a:r>
              <a:rPr lang="en-IN" sz="1400" dirty="0" err="1">
                <a:solidFill>
                  <a:schemeClr val="accent6"/>
                </a:solidFill>
                <a:latin typeface="Google Sans"/>
              </a:rPr>
              <a:t>coworkers</a:t>
            </a:r>
            <a:r>
              <a:rPr lang="en-IN" sz="1400" dirty="0">
                <a:solidFill>
                  <a:schemeClr val="accent6"/>
                </a:solidFill>
                <a:latin typeface="Google Sans"/>
              </a:rPr>
              <a:t> (replication) 4. Everyone follows notebook line-by-line (state machine) </a:t>
            </a:r>
          </a:p>
          <a:p>
            <a:r>
              <a:rPr lang="en-IN" sz="1400" dirty="0">
                <a:solidFill>
                  <a:schemeClr val="accent6"/>
                </a:solidFill>
                <a:latin typeface="Google Sans"/>
              </a:rPr>
              <a:t>If boss leaves → repeat step 1.</a:t>
            </a:r>
          </a:p>
          <a:p>
            <a:r>
              <a:rPr lang="en-IN" sz="1400" dirty="0">
                <a:solidFill>
                  <a:schemeClr val="accent2"/>
                </a:solidFill>
                <a:latin typeface="Google Sans"/>
              </a:rPr>
              <a:t>🏁 One-line summary</a:t>
            </a:r>
          </a:p>
          <a:p>
            <a:r>
              <a:rPr lang="en-IN" sz="1400" dirty="0">
                <a:solidFill>
                  <a:schemeClr val="accent6"/>
                </a:solidFill>
                <a:latin typeface="Google Sans"/>
              </a:rPr>
              <a:t>Raft is a consensus algorithm that works by electing a leader and having that leader replicate an ordered log to followers, with strict safety rules to guarantee consistency.</a:t>
            </a:r>
          </a:p>
          <a:p>
            <a:r>
              <a:rPr lang="en-IN" sz="1400" dirty="0">
                <a:solidFill>
                  <a:schemeClr val="accent6"/>
                </a:solidFill>
                <a:latin typeface="Google Sans"/>
              </a:rPr>
              <a:t>Extra insight (important)</a:t>
            </a:r>
          </a:p>
          <a:p>
            <a:r>
              <a:rPr lang="en-IN" sz="1400" dirty="0">
                <a:solidFill>
                  <a:schemeClr val="accent6"/>
                </a:solidFill>
                <a:latin typeface="Google Sans"/>
              </a:rPr>
              <a:t>Raft doesn’t optimize consensus.</a:t>
            </a:r>
          </a:p>
          <a:p>
            <a:r>
              <a:rPr lang="en-IN" sz="1400" dirty="0">
                <a:solidFill>
                  <a:schemeClr val="accent6"/>
                </a:solidFill>
                <a:latin typeface="Google Sans"/>
              </a:rPr>
              <a:t>Raft organizes consensus.</a:t>
            </a:r>
          </a:p>
          <a:p>
            <a:r>
              <a:rPr lang="en-IN" sz="1400" dirty="0">
                <a:solidFill>
                  <a:schemeClr val="accent6"/>
                </a:solidFill>
                <a:latin typeface="Google Sans"/>
              </a:rPr>
              <a:t>It takes the hard </a:t>
            </a:r>
            <a:r>
              <a:rPr lang="en-IN" sz="1400" dirty="0" err="1">
                <a:solidFill>
                  <a:schemeClr val="accent6"/>
                </a:solidFill>
                <a:latin typeface="Google Sans"/>
              </a:rPr>
              <a:t>Paxos</a:t>
            </a:r>
            <a:r>
              <a:rPr lang="en-IN" sz="1400" dirty="0">
                <a:solidFill>
                  <a:schemeClr val="accent6"/>
                </a:solidFill>
                <a:latin typeface="Google Sans"/>
              </a:rPr>
              <a:t> math and turns it into:</a:t>
            </a:r>
          </a:p>
          <a:p>
            <a:pPr>
              <a:buFont typeface="Arial" panose="020B0604020202020204" pitchFamily="34" charset="0"/>
              <a:buChar char="•"/>
            </a:pPr>
            <a:r>
              <a:rPr lang="en-IN" sz="1400" dirty="0">
                <a:solidFill>
                  <a:schemeClr val="accent6"/>
                </a:solidFill>
                <a:latin typeface="Google Sans"/>
              </a:rPr>
              <a:t>Leader election</a:t>
            </a:r>
          </a:p>
          <a:p>
            <a:pPr>
              <a:buFont typeface="Arial" panose="020B0604020202020204" pitchFamily="34" charset="0"/>
              <a:buChar char="•"/>
            </a:pPr>
            <a:r>
              <a:rPr lang="en-IN" sz="1400" dirty="0">
                <a:solidFill>
                  <a:schemeClr val="accent6"/>
                </a:solidFill>
                <a:latin typeface="Google Sans"/>
              </a:rPr>
              <a:t>Log replication</a:t>
            </a:r>
          </a:p>
          <a:p>
            <a:pPr>
              <a:buFont typeface="Arial" panose="020B0604020202020204" pitchFamily="34" charset="0"/>
              <a:buChar char="•"/>
            </a:pPr>
            <a:r>
              <a:rPr lang="en-IN" sz="1400" dirty="0">
                <a:solidFill>
                  <a:schemeClr val="accent6"/>
                </a:solidFill>
                <a:latin typeface="Google Sans"/>
              </a:rPr>
              <a:t>Deterministic state machines</a:t>
            </a:r>
          </a:p>
          <a:p>
            <a:r>
              <a:rPr lang="en-IN" sz="1400" dirty="0">
                <a:solidFill>
                  <a:schemeClr val="accent6"/>
                </a:solidFill>
                <a:latin typeface="Google Sans"/>
              </a:rPr>
              <a:t>Which is why it’s so popular in real systems.</a:t>
            </a:r>
          </a:p>
          <a:p>
            <a:pPr marL="12700" marR="5080"/>
            <a:endParaRPr lang="en-US" sz="1400" dirty="0">
              <a:solidFill>
                <a:schemeClr val="accent6"/>
              </a:solidFill>
              <a:latin typeface="Google Sans"/>
            </a:endParaRPr>
          </a:p>
        </p:txBody>
      </p:sp>
      <p:grpSp>
        <p:nvGrpSpPr>
          <p:cNvPr id="7" name="Group 6">
            <a:extLst>
              <a:ext uri="{FF2B5EF4-FFF2-40B4-BE49-F238E27FC236}">
                <a16:creationId xmlns:a16="http://schemas.microsoft.com/office/drawing/2014/main" id="{76E90611-3B47-9B59-98B4-D77D6911B45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86BCE63-55AD-42A6-A6CC-285295CE8E7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3C24741-42BC-FC70-7BBE-1AABF3C3E5B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866688353"/>
      </p:ext>
    </p:extLst>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27037-7DFC-505C-E9FC-CA8153A983F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126AB6-7563-E344-4A35-D86CC95C8E9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012297D-C0D7-03F3-C023-08C81B8BEBB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99C9A15-1530-6240-7F7A-5A35FB23786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8C538DC-5A70-6EE8-BF83-99E3222C9BBD}"/>
              </a:ext>
            </a:extLst>
          </p:cNvPr>
          <p:cNvSpPr txBox="1">
            <a:spLocks/>
          </p:cNvSpPr>
          <p:nvPr/>
        </p:nvSpPr>
        <p:spPr>
          <a:xfrm>
            <a:off x="76200" y="697468"/>
            <a:ext cx="8624937" cy="50321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Consensus</a:t>
            </a:r>
          </a:p>
          <a:p>
            <a:pPr marL="12700" marR="5080"/>
            <a:r>
              <a:rPr lang="en-US" sz="2000" dirty="0">
                <a:solidFill>
                  <a:schemeClr val="accent2"/>
                </a:solidFill>
                <a:latin typeface="Google Sans"/>
              </a:rPr>
              <a:t>Paxos, Raft &amp; ZAB</a:t>
            </a:r>
          </a:p>
          <a:p>
            <a:pPr marL="12700" marR="5080"/>
            <a:r>
              <a:rPr lang="en-US" sz="1700" dirty="0">
                <a:solidFill>
                  <a:schemeClr val="accent2"/>
                </a:solidFill>
                <a:latin typeface="Google Sans"/>
              </a:rPr>
              <a:t>ZAB</a:t>
            </a:r>
          </a:p>
          <a:p>
            <a:r>
              <a:rPr lang="en-IN" sz="1500" dirty="0">
                <a:solidFill>
                  <a:schemeClr val="accent2"/>
                </a:solidFill>
                <a:latin typeface="Google Sans"/>
              </a:rPr>
              <a:t>🧠 What is ZAB?</a:t>
            </a:r>
          </a:p>
          <a:p>
            <a:r>
              <a:rPr lang="en-IN" sz="1500" dirty="0">
                <a:solidFill>
                  <a:schemeClr val="accent6"/>
                </a:solidFill>
                <a:latin typeface="Google Sans"/>
              </a:rPr>
              <a:t>ZAB = </a:t>
            </a:r>
            <a:r>
              <a:rPr lang="en-IN" sz="1500" dirty="0" err="1">
                <a:solidFill>
                  <a:schemeClr val="accent6"/>
                </a:solidFill>
                <a:latin typeface="Google Sans"/>
              </a:rPr>
              <a:t>ZooKeeper</a:t>
            </a:r>
            <a:r>
              <a:rPr lang="en-IN" sz="1500" dirty="0">
                <a:solidFill>
                  <a:schemeClr val="accent6"/>
                </a:solidFill>
                <a:latin typeface="Google Sans"/>
              </a:rPr>
              <a:t> Atomic Broadcast</a:t>
            </a:r>
          </a:p>
          <a:p>
            <a:r>
              <a:rPr lang="en-IN" sz="1500" dirty="0">
                <a:solidFill>
                  <a:schemeClr val="accent6"/>
                </a:solidFill>
                <a:latin typeface="Google Sans"/>
              </a:rPr>
              <a:t>It’s the consensus + replication protocol used internally by:</a:t>
            </a:r>
          </a:p>
          <a:p>
            <a:pPr>
              <a:buFont typeface="Arial" panose="020B0604020202020204" pitchFamily="34" charset="0"/>
              <a:buChar char="•"/>
            </a:pPr>
            <a:r>
              <a:rPr lang="en-IN" sz="1500" dirty="0">
                <a:solidFill>
                  <a:schemeClr val="accent6"/>
                </a:solidFill>
                <a:latin typeface="Google Sans"/>
              </a:rPr>
              <a:t>Apache </a:t>
            </a:r>
            <a:r>
              <a:rPr lang="en-IN" sz="1500" dirty="0" err="1">
                <a:solidFill>
                  <a:schemeClr val="accent6"/>
                </a:solidFill>
                <a:latin typeface="Google Sans"/>
              </a:rPr>
              <a:t>ZooKeeper</a:t>
            </a:r>
            <a:endParaRPr lang="en-IN" sz="1500" dirty="0">
              <a:solidFill>
                <a:schemeClr val="accent6"/>
              </a:solidFill>
              <a:latin typeface="Google Sans"/>
            </a:endParaRPr>
          </a:p>
          <a:p>
            <a:r>
              <a:rPr lang="en-IN" sz="1500" dirty="0">
                <a:solidFill>
                  <a:schemeClr val="accent2"/>
                </a:solidFill>
                <a:latin typeface="Google Sans"/>
              </a:rPr>
              <a:t>Formal goal:</a:t>
            </a:r>
          </a:p>
          <a:p>
            <a:r>
              <a:rPr lang="en-IN" sz="1500" dirty="0">
                <a:solidFill>
                  <a:schemeClr val="accent6"/>
                </a:solidFill>
                <a:latin typeface="Google Sans"/>
              </a:rPr>
              <a:t>Provide Atomic Broadcast + crash recovery for </a:t>
            </a:r>
            <a:r>
              <a:rPr lang="en-IN" sz="1500" dirty="0" err="1">
                <a:solidFill>
                  <a:schemeClr val="accent6"/>
                </a:solidFill>
                <a:latin typeface="Google Sans"/>
              </a:rPr>
              <a:t>ZooKeeper</a:t>
            </a:r>
            <a:r>
              <a:rPr lang="en-IN" sz="1500" dirty="0">
                <a:solidFill>
                  <a:schemeClr val="accent6"/>
                </a:solidFill>
                <a:latin typeface="Google Sans"/>
              </a:rPr>
              <a:t>.</a:t>
            </a:r>
          </a:p>
          <a:p>
            <a:r>
              <a:rPr lang="en-IN" sz="1500" dirty="0">
                <a:solidFill>
                  <a:schemeClr val="accent2"/>
                </a:solidFill>
                <a:latin typeface="Google Sans"/>
              </a:rPr>
              <a:t>Practical goal:</a:t>
            </a:r>
          </a:p>
          <a:p>
            <a:r>
              <a:rPr lang="en-IN" sz="1500" dirty="0">
                <a:solidFill>
                  <a:schemeClr val="accent6"/>
                </a:solidFill>
                <a:latin typeface="Google Sans"/>
              </a:rPr>
              <a:t>Elect a leader, totally order all updates, and replicate them safely to followers.</a:t>
            </a:r>
          </a:p>
          <a:p>
            <a:r>
              <a:rPr lang="en-IN" sz="1500" dirty="0">
                <a:solidFill>
                  <a:schemeClr val="accent6"/>
                </a:solidFill>
                <a:latin typeface="Google Sans"/>
              </a:rPr>
              <a:t>So architecturally, ZAB is:</a:t>
            </a:r>
          </a:p>
          <a:p>
            <a:r>
              <a:rPr lang="en-IN" sz="1500" dirty="0">
                <a:solidFill>
                  <a:schemeClr val="accent6"/>
                </a:solidFill>
                <a:latin typeface="Google Sans"/>
              </a:rPr>
              <a:t>👉 Leader Election + Atomic Broadcast + State Synchronization</a:t>
            </a:r>
          </a:p>
          <a:p>
            <a:r>
              <a:rPr lang="en-IN" sz="1500" dirty="0">
                <a:solidFill>
                  <a:schemeClr val="accent6"/>
                </a:solidFill>
                <a:latin typeface="Google Sans"/>
              </a:rPr>
              <a:t>Very similar in spirit to Raft — just older and more implicit.</a:t>
            </a:r>
          </a:p>
          <a:p>
            <a:pPr marL="12700" marR="5080"/>
            <a:r>
              <a:rPr lang="en-IN" sz="1500" dirty="0">
                <a:solidFill>
                  <a:schemeClr val="accent2"/>
                </a:solidFill>
                <a:latin typeface="Google Sans"/>
              </a:rPr>
              <a:t>🏗 High-level ZAB architecture</a:t>
            </a:r>
            <a:endParaRPr lang="en-US" sz="1500" dirty="0">
              <a:solidFill>
                <a:schemeClr val="accent2"/>
              </a:solidFill>
              <a:latin typeface="Google Sans"/>
            </a:endParaRPr>
          </a:p>
          <a:p>
            <a:r>
              <a:rPr lang="en-IN" sz="1500" dirty="0" err="1">
                <a:solidFill>
                  <a:schemeClr val="accent6"/>
                </a:solidFill>
                <a:latin typeface="Google Sans"/>
              </a:rPr>
              <a:t>ZooKeeper</a:t>
            </a:r>
            <a:r>
              <a:rPr lang="en-IN" sz="1500" dirty="0">
                <a:solidFill>
                  <a:schemeClr val="accent6"/>
                </a:solidFill>
                <a:latin typeface="Google Sans"/>
              </a:rPr>
              <a:t> nodes take one of these roles:</a:t>
            </a:r>
          </a:p>
          <a:p>
            <a:pPr>
              <a:buFont typeface="Arial" panose="020B0604020202020204" pitchFamily="34" charset="0"/>
              <a:buChar char="•"/>
            </a:pPr>
            <a:r>
              <a:rPr lang="en-IN" sz="1500" dirty="0">
                <a:solidFill>
                  <a:schemeClr val="accent6"/>
                </a:solidFill>
                <a:latin typeface="Google Sans"/>
              </a:rPr>
              <a:t>Leader – orders all writes</a:t>
            </a:r>
          </a:p>
          <a:p>
            <a:pPr>
              <a:buFont typeface="Arial" panose="020B0604020202020204" pitchFamily="34" charset="0"/>
              <a:buChar char="•"/>
            </a:pPr>
            <a:r>
              <a:rPr lang="en-IN" sz="1500" dirty="0">
                <a:solidFill>
                  <a:schemeClr val="accent6"/>
                </a:solidFill>
                <a:latin typeface="Google Sans"/>
              </a:rPr>
              <a:t>Follower – replicates</a:t>
            </a:r>
          </a:p>
          <a:p>
            <a:pPr>
              <a:buFont typeface="Arial" panose="020B0604020202020204" pitchFamily="34" charset="0"/>
              <a:buChar char="•"/>
            </a:pPr>
            <a:r>
              <a:rPr lang="en-IN" sz="1500" dirty="0">
                <a:solidFill>
                  <a:schemeClr val="accent6"/>
                </a:solidFill>
                <a:latin typeface="Google Sans"/>
              </a:rPr>
              <a:t>Observer – read-only replica (no voting)</a:t>
            </a:r>
          </a:p>
          <a:p>
            <a:r>
              <a:rPr lang="en-IN" sz="1500" dirty="0">
                <a:solidFill>
                  <a:schemeClr val="accent6"/>
                </a:solidFill>
                <a:latin typeface="Google Sans"/>
              </a:rPr>
              <a:t>Clients can connect to any node, but:</a:t>
            </a:r>
          </a:p>
          <a:p>
            <a:r>
              <a:rPr lang="en-IN" sz="1500" dirty="0">
                <a:solidFill>
                  <a:schemeClr val="accent6"/>
                </a:solidFill>
                <a:latin typeface="Google Sans"/>
              </a:rPr>
              <a:t>👉 all writes flow through the leader.</a:t>
            </a:r>
          </a:p>
        </p:txBody>
      </p:sp>
      <p:grpSp>
        <p:nvGrpSpPr>
          <p:cNvPr id="7" name="Group 6">
            <a:extLst>
              <a:ext uri="{FF2B5EF4-FFF2-40B4-BE49-F238E27FC236}">
                <a16:creationId xmlns:a16="http://schemas.microsoft.com/office/drawing/2014/main" id="{76E90611-3B47-9B59-98B4-D77D6911B45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86BCE63-55AD-42A6-A6CC-285295CE8E7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3C24741-42BC-FC70-7BBE-1AABF3C3E5B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1799050425"/>
      </p:ext>
    </p:extLst>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27037-7DFC-505C-E9FC-CA8153A983F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126AB6-7563-E344-4A35-D86CC95C8E9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012297D-C0D7-03F3-C023-08C81B8BEBB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99C9A15-1530-6240-7F7A-5A35FB23786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8C538DC-5A70-6EE8-BF83-99E3222C9BBD}"/>
              </a:ext>
            </a:extLst>
          </p:cNvPr>
          <p:cNvSpPr txBox="1">
            <a:spLocks/>
          </p:cNvSpPr>
          <p:nvPr/>
        </p:nvSpPr>
        <p:spPr>
          <a:xfrm>
            <a:off x="76200" y="697468"/>
            <a:ext cx="8624937" cy="52629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Consensus</a:t>
            </a:r>
          </a:p>
          <a:p>
            <a:pPr marL="12700" marR="5080"/>
            <a:r>
              <a:rPr lang="en-US" sz="2000" dirty="0">
                <a:solidFill>
                  <a:schemeClr val="accent2"/>
                </a:solidFill>
                <a:latin typeface="Google Sans"/>
              </a:rPr>
              <a:t>Paxos, Raft &amp; ZAB</a:t>
            </a:r>
          </a:p>
          <a:p>
            <a:pPr marL="12700" marR="5080"/>
            <a:r>
              <a:rPr lang="en-US" sz="1700" dirty="0">
                <a:solidFill>
                  <a:schemeClr val="accent2"/>
                </a:solidFill>
                <a:latin typeface="Google Sans"/>
              </a:rPr>
              <a:t>ZAB</a:t>
            </a:r>
          </a:p>
          <a:p>
            <a:r>
              <a:rPr lang="en-IN" sz="1500" dirty="0">
                <a:solidFill>
                  <a:schemeClr val="accent2"/>
                </a:solidFill>
                <a:latin typeface="Google Sans"/>
              </a:rPr>
              <a:t>🔄 ZAB has TWO main phases</a:t>
            </a:r>
          </a:p>
          <a:p>
            <a:r>
              <a:rPr lang="en-IN" sz="1500" dirty="0">
                <a:solidFill>
                  <a:schemeClr val="accent6"/>
                </a:solidFill>
                <a:latin typeface="Google Sans"/>
              </a:rPr>
              <a:t>Unlike Raft (which interleaves everything), ZAB is explicitly split.</a:t>
            </a:r>
          </a:p>
          <a:p>
            <a:r>
              <a:rPr lang="en-IN" sz="1500" dirty="0">
                <a:solidFill>
                  <a:schemeClr val="accent2"/>
                </a:solidFill>
                <a:latin typeface="Google Sans"/>
              </a:rPr>
              <a:t>1️⃣ Recovery Phase (Leader Election + Sync)</a:t>
            </a:r>
          </a:p>
          <a:p>
            <a:r>
              <a:rPr lang="en-IN" sz="1500" dirty="0">
                <a:solidFill>
                  <a:schemeClr val="accent2"/>
                </a:solidFill>
                <a:latin typeface="Google Sans"/>
              </a:rPr>
              <a:t>Triggered when:</a:t>
            </a:r>
          </a:p>
          <a:p>
            <a:pPr>
              <a:buFont typeface="Arial" panose="020B0604020202020204" pitchFamily="34" charset="0"/>
              <a:buChar char="•"/>
            </a:pPr>
            <a:r>
              <a:rPr lang="en-IN" sz="1500" dirty="0">
                <a:solidFill>
                  <a:schemeClr val="accent6"/>
                </a:solidFill>
                <a:latin typeface="Google Sans"/>
              </a:rPr>
              <a:t>Cluster starts</a:t>
            </a:r>
          </a:p>
          <a:p>
            <a:pPr>
              <a:buFont typeface="Arial" panose="020B0604020202020204" pitchFamily="34" charset="0"/>
              <a:buChar char="•"/>
            </a:pPr>
            <a:r>
              <a:rPr lang="en-IN" sz="1500" dirty="0">
                <a:solidFill>
                  <a:schemeClr val="accent6"/>
                </a:solidFill>
                <a:latin typeface="Google Sans"/>
              </a:rPr>
              <a:t>Leader crashes</a:t>
            </a:r>
          </a:p>
          <a:p>
            <a:pPr>
              <a:buFont typeface="Arial" panose="020B0604020202020204" pitchFamily="34" charset="0"/>
              <a:buChar char="•"/>
            </a:pPr>
            <a:r>
              <a:rPr lang="en-IN" sz="1500" dirty="0">
                <a:solidFill>
                  <a:schemeClr val="accent6"/>
                </a:solidFill>
                <a:latin typeface="Google Sans"/>
              </a:rPr>
              <a:t>Network partition heals</a:t>
            </a:r>
          </a:p>
          <a:p>
            <a:r>
              <a:rPr lang="en-IN" sz="1500" dirty="0">
                <a:solidFill>
                  <a:schemeClr val="accent2"/>
                </a:solidFill>
                <a:latin typeface="Google Sans"/>
              </a:rPr>
              <a:t>What happens:</a:t>
            </a:r>
          </a:p>
          <a:p>
            <a:r>
              <a:rPr lang="en-IN" sz="1500" dirty="0">
                <a:solidFill>
                  <a:schemeClr val="accent2"/>
                </a:solidFill>
                <a:latin typeface="Google Sans"/>
              </a:rPr>
              <a:t>Step A — Leader election</a:t>
            </a:r>
          </a:p>
          <a:p>
            <a:r>
              <a:rPr lang="en-IN" sz="1500" dirty="0">
                <a:solidFill>
                  <a:schemeClr val="accent2"/>
                </a:solidFill>
                <a:latin typeface="Google Sans"/>
              </a:rPr>
              <a:t>Nodes exchange:</a:t>
            </a:r>
          </a:p>
          <a:p>
            <a:pPr>
              <a:buFont typeface="Arial" panose="020B0604020202020204" pitchFamily="34" charset="0"/>
              <a:buChar char="•"/>
            </a:pPr>
            <a:r>
              <a:rPr lang="en-IN" sz="1500" dirty="0">
                <a:solidFill>
                  <a:schemeClr val="accent6"/>
                </a:solidFill>
                <a:latin typeface="Google Sans"/>
              </a:rPr>
              <a:t>epoch</a:t>
            </a:r>
          </a:p>
          <a:p>
            <a:pPr>
              <a:buFont typeface="Arial" panose="020B0604020202020204" pitchFamily="34" charset="0"/>
              <a:buChar char="•"/>
            </a:pPr>
            <a:r>
              <a:rPr lang="en-IN" sz="1500" dirty="0" err="1">
                <a:solidFill>
                  <a:schemeClr val="accent6"/>
                </a:solidFill>
                <a:latin typeface="Google Sans"/>
              </a:rPr>
              <a:t>zxid</a:t>
            </a:r>
            <a:r>
              <a:rPr lang="en-IN" sz="1500" dirty="0">
                <a:solidFill>
                  <a:schemeClr val="accent6"/>
                </a:solidFill>
                <a:latin typeface="Google Sans"/>
              </a:rPr>
              <a:t> (last transaction id)</a:t>
            </a:r>
          </a:p>
          <a:p>
            <a:pPr>
              <a:buFont typeface="Arial" panose="020B0604020202020204" pitchFamily="34" charset="0"/>
              <a:buChar char="•"/>
            </a:pPr>
            <a:r>
              <a:rPr lang="en-IN" sz="1500" dirty="0">
                <a:solidFill>
                  <a:schemeClr val="accent6"/>
                </a:solidFill>
                <a:latin typeface="Google Sans"/>
              </a:rPr>
              <a:t>server id</a:t>
            </a:r>
          </a:p>
          <a:p>
            <a:r>
              <a:rPr lang="en-IN" sz="1500" dirty="0">
                <a:solidFill>
                  <a:schemeClr val="accent2"/>
                </a:solidFill>
                <a:latin typeface="Google Sans"/>
              </a:rPr>
              <a:t>Winner is:</a:t>
            </a:r>
          </a:p>
          <a:p>
            <a:pPr>
              <a:buFont typeface="+mj-lt"/>
              <a:buAutoNum type="arabicPeriod"/>
            </a:pPr>
            <a:r>
              <a:rPr lang="en-IN" sz="1500" dirty="0">
                <a:solidFill>
                  <a:schemeClr val="accent6"/>
                </a:solidFill>
                <a:latin typeface="Google Sans"/>
              </a:rPr>
              <a:t>Highest epoch</a:t>
            </a:r>
          </a:p>
          <a:p>
            <a:pPr>
              <a:buFont typeface="+mj-lt"/>
              <a:buAutoNum type="arabicPeriod"/>
            </a:pPr>
            <a:r>
              <a:rPr lang="en-IN" sz="1500" dirty="0">
                <a:solidFill>
                  <a:schemeClr val="accent6"/>
                </a:solidFill>
                <a:latin typeface="Google Sans"/>
              </a:rPr>
              <a:t>Highest </a:t>
            </a:r>
            <a:r>
              <a:rPr lang="en-IN" sz="1500" dirty="0" err="1">
                <a:solidFill>
                  <a:schemeClr val="accent6"/>
                </a:solidFill>
                <a:latin typeface="Google Sans"/>
              </a:rPr>
              <a:t>zxid</a:t>
            </a:r>
            <a:endParaRPr lang="en-IN" sz="1500" dirty="0">
              <a:solidFill>
                <a:schemeClr val="accent6"/>
              </a:solidFill>
              <a:latin typeface="Google Sans"/>
            </a:endParaRPr>
          </a:p>
          <a:p>
            <a:pPr>
              <a:buFont typeface="+mj-lt"/>
              <a:buAutoNum type="arabicPeriod"/>
            </a:pPr>
            <a:r>
              <a:rPr lang="en-IN" sz="1500" dirty="0">
                <a:solidFill>
                  <a:schemeClr val="accent6"/>
                </a:solidFill>
                <a:latin typeface="Google Sans"/>
              </a:rPr>
              <a:t>Highest server id (tie-break)</a:t>
            </a:r>
          </a:p>
          <a:p>
            <a:r>
              <a:rPr lang="en-IN" sz="1500" dirty="0">
                <a:solidFill>
                  <a:schemeClr val="accent2"/>
                </a:solidFill>
                <a:latin typeface="Google Sans"/>
              </a:rPr>
              <a:t>This ensures:</a:t>
            </a:r>
          </a:p>
          <a:p>
            <a:r>
              <a:rPr lang="en-IN" sz="1500" dirty="0">
                <a:solidFill>
                  <a:schemeClr val="accent6"/>
                </a:solidFill>
                <a:latin typeface="Google Sans"/>
              </a:rPr>
              <a:t>👉 the most up-to-date node becomes leader.</a:t>
            </a:r>
          </a:p>
        </p:txBody>
      </p:sp>
      <p:grpSp>
        <p:nvGrpSpPr>
          <p:cNvPr id="7" name="Group 6">
            <a:extLst>
              <a:ext uri="{FF2B5EF4-FFF2-40B4-BE49-F238E27FC236}">
                <a16:creationId xmlns:a16="http://schemas.microsoft.com/office/drawing/2014/main" id="{76E90611-3B47-9B59-98B4-D77D6911B45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86BCE63-55AD-42A6-A6CC-285295CE8E7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3C24741-42BC-FC70-7BBE-1AABF3C3E5B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3700054921"/>
      </p:ext>
    </p:extLst>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27037-7DFC-505C-E9FC-CA8153A983F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126AB6-7563-E344-4A35-D86CC95C8E9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012297D-C0D7-03F3-C023-08C81B8BEBB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99C9A15-1530-6240-7F7A-5A35FB23786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8C538DC-5A70-6EE8-BF83-99E3222C9BBD}"/>
              </a:ext>
            </a:extLst>
          </p:cNvPr>
          <p:cNvSpPr txBox="1">
            <a:spLocks/>
          </p:cNvSpPr>
          <p:nvPr/>
        </p:nvSpPr>
        <p:spPr>
          <a:xfrm>
            <a:off x="76200" y="697468"/>
            <a:ext cx="8624937" cy="52629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Consensus</a:t>
            </a:r>
          </a:p>
          <a:p>
            <a:pPr marL="12700" marR="5080"/>
            <a:r>
              <a:rPr lang="en-US" sz="2000" dirty="0">
                <a:solidFill>
                  <a:schemeClr val="accent2"/>
                </a:solidFill>
                <a:latin typeface="Google Sans"/>
              </a:rPr>
              <a:t>Paxos, Raft &amp; ZAB</a:t>
            </a:r>
          </a:p>
          <a:p>
            <a:pPr marL="12700" marR="5080"/>
            <a:r>
              <a:rPr lang="en-US" sz="1700" dirty="0">
                <a:solidFill>
                  <a:schemeClr val="accent2"/>
                </a:solidFill>
                <a:latin typeface="Google Sans"/>
              </a:rPr>
              <a:t>ZAB</a:t>
            </a:r>
          </a:p>
          <a:p>
            <a:r>
              <a:rPr lang="en-IN" sz="1500" dirty="0">
                <a:solidFill>
                  <a:schemeClr val="accent2"/>
                </a:solidFill>
                <a:latin typeface="Google Sans"/>
              </a:rPr>
              <a:t>Step B — State synchronization</a:t>
            </a:r>
          </a:p>
          <a:p>
            <a:r>
              <a:rPr lang="en-IN" sz="1500" dirty="0">
                <a:solidFill>
                  <a:schemeClr val="accent2"/>
                </a:solidFill>
                <a:latin typeface="Google Sans"/>
              </a:rPr>
              <a:t>New leader:</a:t>
            </a:r>
          </a:p>
          <a:p>
            <a:pPr>
              <a:buFont typeface="Arial" panose="020B0604020202020204" pitchFamily="34" charset="0"/>
              <a:buChar char="•"/>
            </a:pPr>
            <a:r>
              <a:rPr lang="en-IN" sz="1500" dirty="0">
                <a:solidFill>
                  <a:schemeClr val="accent6"/>
                </a:solidFill>
                <a:latin typeface="Google Sans"/>
              </a:rPr>
              <a:t>Collects follower histories</a:t>
            </a:r>
          </a:p>
          <a:p>
            <a:pPr>
              <a:buFont typeface="Arial" panose="020B0604020202020204" pitchFamily="34" charset="0"/>
              <a:buChar char="•"/>
            </a:pPr>
            <a:r>
              <a:rPr lang="en-IN" sz="1500" dirty="0">
                <a:solidFill>
                  <a:schemeClr val="accent6"/>
                </a:solidFill>
                <a:latin typeface="Google Sans"/>
              </a:rPr>
              <a:t>Finds common prefix</a:t>
            </a:r>
          </a:p>
          <a:p>
            <a:pPr>
              <a:buFont typeface="Arial" panose="020B0604020202020204" pitchFamily="34" charset="0"/>
              <a:buChar char="•"/>
            </a:pPr>
            <a:r>
              <a:rPr lang="en-IN" sz="1500" dirty="0">
                <a:solidFill>
                  <a:schemeClr val="accent6"/>
                </a:solidFill>
                <a:latin typeface="Google Sans"/>
              </a:rPr>
              <a:t>Forces everyone to align logs</a:t>
            </a:r>
          </a:p>
          <a:p>
            <a:r>
              <a:rPr lang="en-IN" sz="1500" dirty="0">
                <a:solidFill>
                  <a:schemeClr val="accent2"/>
                </a:solidFill>
                <a:latin typeface="Google Sans"/>
              </a:rPr>
              <a:t>Only after this:</a:t>
            </a:r>
          </a:p>
          <a:p>
            <a:r>
              <a:rPr lang="en-IN" sz="1500" dirty="0">
                <a:solidFill>
                  <a:schemeClr val="accent6"/>
                </a:solidFill>
                <a:latin typeface="Google Sans"/>
              </a:rPr>
              <a:t>👉 system becomes writable again.</a:t>
            </a:r>
          </a:p>
          <a:p>
            <a:r>
              <a:rPr lang="en-IN" sz="1500" dirty="0">
                <a:solidFill>
                  <a:schemeClr val="accent6"/>
                </a:solidFill>
                <a:latin typeface="Google Sans"/>
              </a:rPr>
              <a:t>This is ZAB’s strong safety point.</a:t>
            </a:r>
          </a:p>
          <a:p>
            <a:r>
              <a:rPr lang="en-IN" sz="1500" dirty="0">
                <a:solidFill>
                  <a:schemeClr val="accent2"/>
                </a:solidFill>
                <a:latin typeface="Google Sans"/>
              </a:rPr>
              <a:t>2️⃣ Broadcast Phase (Atomic Broadcast)</a:t>
            </a:r>
          </a:p>
          <a:p>
            <a:r>
              <a:rPr lang="en-IN" sz="1500" dirty="0">
                <a:solidFill>
                  <a:schemeClr val="accent2"/>
                </a:solidFill>
                <a:latin typeface="Google Sans"/>
              </a:rPr>
              <a:t>Once synchronized:</a:t>
            </a:r>
          </a:p>
          <a:p>
            <a:r>
              <a:rPr lang="en-IN" sz="1500" dirty="0">
                <a:solidFill>
                  <a:schemeClr val="accent2"/>
                </a:solidFill>
                <a:latin typeface="Google Sans"/>
              </a:rPr>
              <a:t>For every write:</a:t>
            </a:r>
          </a:p>
          <a:p>
            <a:pPr>
              <a:buFont typeface="+mj-lt"/>
              <a:buAutoNum type="arabicPeriod"/>
            </a:pPr>
            <a:r>
              <a:rPr lang="en-IN" sz="1500" dirty="0">
                <a:solidFill>
                  <a:schemeClr val="accent6"/>
                </a:solidFill>
                <a:latin typeface="Google Sans"/>
              </a:rPr>
              <a:t>Leader assigns </a:t>
            </a:r>
            <a:r>
              <a:rPr lang="en-IN" sz="1500" dirty="0" err="1">
                <a:solidFill>
                  <a:schemeClr val="accent6"/>
                </a:solidFill>
                <a:latin typeface="Google Sans"/>
              </a:rPr>
              <a:t>zxid</a:t>
            </a:r>
            <a:endParaRPr lang="en-IN" sz="1500" dirty="0">
              <a:solidFill>
                <a:schemeClr val="accent6"/>
              </a:solidFill>
              <a:latin typeface="Google Sans"/>
            </a:endParaRPr>
          </a:p>
          <a:p>
            <a:pPr>
              <a:buFont typeface="+mj-lt"/>
              <a:buAutoNum type="arabicPeriod"/>
            </a:pPr>
            <a:r>
              <a:rPr lang="en-IN" sz="1500" dirty="0">
                <a:solidFill>
                  <a:schemeClr val="accent6"/>
                </a:solidFill>
                <a:latin typeface="Google Sans"/>
              </a:rPr>
              <a:t>Leader sends PROPOSAL</a:t>
            </a:r>
          </a:p>
          <a:p>
            <a:pPr>
              <a:buFont typeface="+mj-lt"/>
              <a:buAutoNum type="arabicPeriod"/>
            </a:pPr>
            <a:r>
              <a:rPr lang="en-IN" sz="1500" dirty="0">
                <a:solidFill>
                  <a:schemeClr val="accent6"/>
                </a:solidFill>
                <a:latin typeface="Google Sans"/>
              </a:rPr>
              <a:t>Followers persist and ACK</a:t>
            </a:r>
          </a:p>
          <a:p>
            <a:pPr>
              <a:buFont typeface="+mj-lt"/>
              <a:buAutoNum type="arabicPeriod"/>
            </a:pPr>
            <a:r>
              <a:rPr lang="en-IN" sz="1500" dirty="0">
                <a:solidFill>
                  <a:schemeClr val="accent6"/>
                </a:solidFill>
                <a:latin typeface="Google Sans"/>
              </a:rPr>
              <a:t>Leader receives majority ACK</a:t>
            </a:r>
          </a:p>
          <a:p>
            <a:pPr>
              <a:buFont typeface="+mj-lt"/>
              <a:buAutoNum type="arabicPeriod"/>
            </a:pPr>
            <a:r>
              <a:rPr lang="en-IN" sz="1500" dirty="0">
                <a:solidFill>
                  <a:schemeClr val="accent6"/>
                </a:solidFill>
                <a:latin typeface="Google Sans"/>
              </a:rPr>
              <a:t>Leader sends COMMIT</a:t>
            </a:r>
          </a:p>
          <a:p>
            <a:pPr>
              <a:buFont typeface="+mj-lt"/>
              <a:buAutoNum type="arabicPeriod"/>
            </a:pPr>
            <a:r>
              <a:rPr lang="en-IN" sz="1500" dirty="0">
                <a:solidFill>
                  <a:schemeClr val="accent6"/>
                </a:solidFill>
                <a:latin typeface="Google Sans"/>
              </a:rPr>
              <a:t>Everyone applies update</a:t>
            </a:r>
          </a:p>
          <a:p>
            <a:r>
              <a:rPr lang="en-IN" sz="1500" dirty="0">
                <a:solidFill>
                  <a:schemeClr val="accent6"/>
                </a:solidFill>
                <a:latin typeface="Google Sans"/>
              </a:rPr>
              <a:t>That’s classic total order broadcast.</a:t>
            </a:r>
          </a:p>
          <a:p>
            <a:endParaRPr lang="en-IN" sz="1500" dirty="0">
              <a:solidFill>
                <a:schemeClr val="accent6"/>
              </a:solidFill>
              <a:latin typeface="Google Sans"/>
            </a:endParaRPr>
          </a:p>
        </p:txBody>
      </p:sp>
      <p:grpSp>
        <p:nvGrpSpPr>
          <p:cNvPr id="7" name="Group 6">
            <a:extLst>
              <a:ext uri="{FF2B5EF4-FFF2-40B4-BE49-F238E27FC236}">
                <a16:creationId xmlns:a16="http://schemas.microsoft.com/office/drawing/2014/main" id="{76E90611-3B47-9B59-98B4-D77D6911B45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86BCE63-55AD-42A6-A6CC-285295CE8E7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3C24741-42BC-FC70-7BBE-1AABF3C3E5B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4067025153"/>
      </p:ext>
    </p:extLst>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27037-7DFC-505C-E9FC-CA8153A983F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126AB6-7563-E344-4A35-D86CC95C8E9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012297D-C0D7-03F3-C023-08C81B8BEBB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99C9A15-1530-6240-7F7A-5A35FB23786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F8C538DC-5A70-6EE8-BF83-99E3222C9BBD}"/>
              </a:ext>
            </a:extLst>
          </p:cNvPr>
          <p:cNvSpPr txBox="1">
            <a:spLocks/>
          </p:cNvSpPr>
          <p:nvPr/>
        </p:nvSpPr>
        <p:spPr>
          <a:xfrm>
            <a:off x="76200" y="697468"/>
            <a:ext cx="8624937" cy="549381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Consensus</a:t>
            </a:r>
          </a:p>
          <a:p>
            <a:pPr marL="12700" marR="5080"/>
            <a:r>
              <a:rPr lang="en-US" sz="2000" dirty="0">
                <a:solidFill>
                  <a:schemeClr val="accent2"/>
                </a:solidFill>
                <a:latin typeface="Google Sans"/>
              </a:rPr>
              <a:t>Paxos, Raft &amp; ZAB</a:t>
            </a:r>
          </a:p>
          <a:p>
            <a:pPr marL="12700" marR="5080"/>
            <a:r>
              <a:rPr lang="en-US" sz="1700" dirty="0">
                <a:solidFill>
                  <a:schemeClr val="accent2"/>
                </a:solidFill>
                <a:latin typeface="Google Sans"/>
              </a:rPr>
              <a:t>ZAB</a:t>
            </a:r>
          </a:p>
          <a:p>
            <a:r>
              <a:rPr lang="en-IN" sz="1500" dirty="0">
                <a:solidFill>
                  <a:schemeClr val="accent2"/>
                </a:solidFill>
                <a:latin typeface="Google Sans"/>
              </a:rPr>
              <a:t>🔑 Important properties of ZAB</a:t>
            </a:r>
          </a:p>
          <a:p>
            <a:r>
              <a:rPr lang="en-IN" sz="1500" dirty="0">
                <a:solidFill>
                  <a:schemeClr val="accent6"/>
                </a:solidFill>
                <a:latin typeface="Google Sans"/>
              </a:rPr>
              <a:t>✅ Strong consistency</a:t>
            </a:r>
          </a:p>
          <a:p>
            <a:r>
              <a:rPr lang="en-IN" sz="1500" dirty="0">
                <a:solidFill>
                  <a:schemeClr val="accent6"/>
                </a:solidFill>
                <a:latin typeface="Google Sans"/>
              </a:rPr>
              <a:t>Linearizable writes.</a:t>
            </a:r>
          </a:p>
          <a:p>
            <a:r>
              <a:rPr lang="en-IN" sz="1500" dirty="0">
                <a:solidFill>
                  <a:schemeClr val="accent6"/>
                </a:solidFill>
                <a:latin typeface="Google Sans"/>
              </a:rPr>
              <a:t>✅ Total ordering</a:t>
            </a:r>
          </a:p>
          <a:p>
            <a:r>
              <a:rPr lang="en-IN" sz="1500" dirty="0">
                <a:solidFill>
                  <a:schemeClr val="accent6"/>
                </a:solidFill>
                <a:latin typeface="Google Sans"/>
              </a:rPr>
              <a:t>Same </a:t>
            </a:r>
            <a:r>
              <a:rPr lang="en-IN" sz="1500" dirty="0" err="1">
                <a:solidFill>
                  <a:schemeClr val="accent6"/>
                </a:solidFill>
                <a:latin typeface="Google Sans"/>
              </a:rPr>
              <a:t>zxid</a:t>
            </a:r>
            <a:r>
              <a:rPr lang="en-IN" sz="1500" dirty="0">
                <a:solidFill>
                  <a:schemeClr val="accent6"/>
                </a:solidFill>
                <a:latin typeface="Google Sans"/>
              </a:rPr>
              <a:t> sequence everywhere.</a:t>
            </a:r>
          </a:p>
          <a:p>
            <a:r>
              <a:rPr lang="en-IN" sz="1500" dirty="0">
                <a:solidFill>
                  <a:schemeClr val="accent6"/>
                </a:solidFill>
                <a:latin typeface="Google Sans"/>
              </a:rPr>
              <a:t>✅ Crash recovery</a:t>
            </a:r>
          </a:p>
          <a:p>
            <a:r>
              <a:rPr lang="en-IN" sz="1500" dirty="0">
                <a:solidFill>
                  <a:schemeClr val="accent6"/>
                </a:solidFill>
                <a:latin typeface="Google Sans"/>
              </a:rPr>
              <a:t>Followers resync after failure.</a:t>
            </a:r>
          </a:p>
          <a:p>
            <a:r>
              <a:rPr lang="en-IN" sz="1500" dirty="0">
                <a:solidFill>
                  <a:schemeClr val="accent6"/>
                </a:solidFill>
                <a:latin typeface="Google Sans"/>
              </a:rPr>
              <a:t>✅ Single-leader model</a:t>
            </a:r>
          </a:p>
          <a:p>
            <a:r>
              <a:rPr lang="en-IN" sz="1500" dirty="0">
                <a:solidFill>
                  <a:schemeClr val="accent6"/>
                </a:solidFill>
                <a:latin typeface="Google Sans"/>
              </a:rPr>
              <a:t>Simplifies reasoning.</a:t>
            </a:r>
          </a:p>
          <a:p>
            <a:r>
              <a:rPr lang="en-IN" sz="1500" dirty="0">
                <a:solidFill>
                  <a:schemeClr val="accent2"/>
                </a:solidFill>
                <a:latin typeface="Google Sans"/>
              </a:rPr>
              <a:t>🧠 Mental model</a:t>
            </a:r>
          </a:p>
          <a:p>
            <a:r>
              <a:rPr lang="en-IN" sz="1500" dirty="0">
                <a:solidFill>
                  <a:schemeClr val="accent2"/>
                </a:solidFill>
                <a:latin typeface="Google Sans"/>
              </a:rPr>
              <a:t>Think of ZAB like this:</a:t>
            </a:r>
          </a:p>
          <a:p>
            <a:pPr rtl="0"/>
            <a:r>
              <a:rPr lang="en-IN" sz="1500" dirty="0">
                <a:solidFill>
                  <a:schemeClr val="accent6"/>
                </a:solidFill>
                <a:latin typeface="Google Sans"/>
              </a:rPr>
              <a:t>1. Pick most up-to-date leader 2. Force everyone to same history 3. Leader broadcasts ordered writes 4. Majority ACK → commit </a:t>
            </a:r>
          </a:p>
          <a:p>
            <a:r>
              <a:rPr lang="en-IN" sz="1500" dirty="0">
                <a:solidFill>
                  <a:schemeClr val="accent6"/>
                </a:solidFill>
                <a:latin typeface="Google Sans"/>
              </a:rPr>
              <a:t>Repeat until leader dies.</a:t>
            </a:r>
          </a:p>
          <a:p>
            <a:endParaRPr lang="en-IN" sz="1500" dirty="0">
              <a:solidFill>
                <a:schemeClr val="accent6"/>
              </a:solidFill>
              <a:latin typeface="Google Sans"/>
            </a:endParaRPr>
          </a:p>
          <a:p>
            <a:r>
              <a:rPr lang="en-IN" sz="1500" dirty="0">
                <a:solidFill>
                  <a:schemeClr val="accent2"/>
                </a:solidFill>
                <a:latin typeface="Google Sans"/>
              </a:rPr>
              <a:t>🏁 One-line summary</a:t>
            </a:r>
          </a:p>
          <a:p>
            <a:r>
              <a:rPr lang="en-IN" sz="1500" dirty="0">
                <a:solidFill>
                  <a:schemeClr val="accent6"/>
                </a:solidFill>
                <a:latin typeface="Google Sans"/>
              </a:rPr>
              <a:t>ZAB is </a:t>
            </a:r>
            <a:r>
              <a:rPr lang="en-IN" sz="1500" dirty="0" err="1">
                <a:solidFill>
                  <a:schemeClr val="accent6"/>
                </a:solidFill>
                <a:latin typeface="Google Sans"/>
              </a:rPr>
              <a:t>ZooKeeper’s</a:t>
            </a:r>
            <a:r>
              <a:rPr lang="en-IN" sz="1500" dirty="0">
                <a:solidFill>
                  <a:schemeClr val="accent6"/>
                </a:solidFill>
                <a:latin typeface="Google Sans"/>
              </a:rPr>
              <a:t> consensus protocol that combines leader election, recovery synchronization, and atomic broadcast to keep all replicas in identical order — functionally similar to Raft and Multi-</a:t>
            </a:r>
            <a:r>
              <a:rPr lang="en-IN" sz="1500" dirty="0" err="1">
                <a:solidFill>
                  <a:schemeClr val="accent6"/>
                </a:solidFill>
                <a:latin typeface="Google Sans"/>
              </a:rPr>
              <a:t>Paxos</a:t>
            </a:r>
            <a:r>
              <a:rPr lang="en-IN" sz="1500" dirty="0">
                <a:solidFill>
                  <a:schemeClr val="accent6"/>
                </a:solidFill>
                <a:latin typeface="Google Sans"/>
              </a:rPr>
              <a:t>, but tailored specifically for </a:t>
            </a:r>
            <a:r>
              <a:rPr lang="en-IN" sz="1500" dirty="0" err="1">
                <a:solidFill>
                  <a:schemeClr val="accent6"/>
                </a:solidFill>
                <a:latin typeface="Google Sans"/>
              </a:rPr>
              <a:t>ZooKeeper</a:t>
            </a:r>
            <a:r>
              <a:rPr lang="en-IN" sz="1500" dirty="0">
                <a:solidFill>
                  <a:schemeClr val="accent6"/>
                </a:solidFill>
                <a:latin typeface="Google Sans"/>
              </a:rPr>
              <a:t>.</a:t>
            </a:r>
          </a:p>
          <a:p>
            <a:pPr marL="12700" marR="5080"/>
            <a:endParaRPr lang="en-IN" sz="1500" dirty="0">
              <a:solidFill>
                <a:schemeClr val="accent6"/>
              </a:solidFill>
              <a:latin typeface="Google Sans"/>
            </a:endParaRPr>
          </a:p>
        </p:txBody>
      </p:sp>
      <p:grpSp>
        <p:nvGrpSpPr>
          <p:cNvPr id="7" name="Group 6">
            <a:extLst>
              <a:ext uri="{FF2B5EF4-FFF2-40B4-BE49-F238E27FC236}">
                <a16:creationId xmlns:a16="http://schemas.microsoft.com/office/drawing/2014/main" id="{76E90611-3B47-9B59-98B4-D77D6911B45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86BCE63-55AD-42A6-A6CC-285295CE8E7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3C24741-42BC-FC70-7BBE-1AABF3C3E5B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707065013"/>
      </p:ext>
    </p:extLst>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CA4D9-2959-4899-A2B3-78F97F988FD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30E4797-473C-A7FF-57AE-8D68C694ACD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49A2C91-C86A-543E-5CEE-FF614B18CE6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49C3802-AD4C-14FA-20B1-69FFDC8A686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7C20EC4-005F-8D1A-B599-93F0D15F5C89}"/>
              </a:ext>
            </a:extLst>
          </p:cNvPr>
          <p:cNvSpPr txBox="1">
            <a:spLocks/>
          </p:cNvSpPr>
          <p:nvPr/>
        </p:nvSpPr>
        <p:spPr>
          <a:xfrm>
            <a:off x="76200" y="697468"/>
            <a:ext cx="8624937" cy="58477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Consensus</a:t>
            </a:r>
          </a:p>
          <a:p>
            <a:pPr marL="12700" marR="5080"/>
            <a:r>
              <a:rPr lang="en-US" sz="1800" dirty="0">
                <a:solidFill>
                  <a:schemeClr val="accent2"/>
                </a:solidFill>
                <a:latin typeface="Google Sans"/>
              </a:rPr>
              <a:t>FLP, CALM, Safety, Liveness and Relation to CAP Theorem</a:t>
            </a:r>
          </a:p>
        </p:txBody>
      </p:sp>
      <p:grpSp>
        <p:nvGrpSpPr>
          <p:cNvPr id="7" name="Group 6">
            <a:extLst>
              <a:ext uri="{FF2B5EF4-FFF2-40B4-BE49-F238E27FC236}">
                <a16:creationId xmlns:a16="http://schemas.microsoft.com/office/drawing/2014/main" id="{FC0AA6C9-A2D2-1F39-8C89-DD1DB2C7E4C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A16E3C2-1C9E-913C-57F0-4AB4E26A463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4D8ECFA-F525-390D-9105-631C3ACDCEE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pic>
        <p:nvPicPr>
          <p:cNvPr id="15" name="Picture 14">
            <a:extLst>
              <a:ext uri="{FF2B5EF4-FFF2-40B4-BE49-F238E27FC236}">
                <a16:creationId xmlns:a16="http://schemas.microsoft.com/office/drawing/2014/main" id="{37E4690D-620F-DD92-E452-96BD9ED3D017}"/>
              </a:ext>
            </a:extLst>
          </p:cNvPr>
          <p:cNvPicPr>
            <a:picLocks noChangeAspect="1"/>
          </p:cNvPicPr>
          <p:nvPr/>
        </p:nvPicPr>
        <p:blipFill>
          <a:blip r:embed="rId2"/>
          <a:stretch>
            <a:fillRect/>
          </a:stretch>
        </p:blipFill>
        <p:spPr>
          <a:xfrm>
            <a:off x="5889" y="1262805"/>
            <a:ext cx="9144000" cy="1529180"/>
          </a:xfrm>
          <a:prstGeom prst="rect">
            <a:avLst/>
          </a:prstGeom>
        </p:spPr>
      </p:pic>
      <p:pic>
        <p:nvPicPr>
          <p:cNvPr id="19" name="Picture 18">
            <a:extLst>
              <a:ext uri="{FF2B5EF4-FFF2-40B4-BE49-F238E27FC236}">
                <a16:creationId xmlns:a16="http://schemas.microsoft.com/office/drawing/2014/main" id="{85EABB10-B4EA-A4AD-A290-DC687B478333}"/>
              </a:ext>
            </a:extLst>
          </p:cNvPr>
          <p:cNvPicPr>
            <a:picLocks noChangeAspect="1"/>
          </p:cNvPicPr>
          <p:nvPr/>
        </p:nvPicPr>
        <p:blipFill>
          <a:blip r:embed="rId3"/>
          <a:stretch>
            <a:fillRect/>
          </a:stretch>
        </p:blipFill>
        <p:spPr>
          <a:xfrm>
            <a:off x="76200" y="2971800"/>
            <a:ext cx="8991599" cy="2971800"/>
          </a:xfrm>
          <a:prstGeom prst="rect">
            <a:avLst/>
          </a:prstGeom>
        </p:spPr>
      </p:pic>
    </p:spTree>
    <p:extLst>
      <p:ext uri="{BB962C8B-B14F-4D97-AF65-F5344CB8AC3E}">
        <p14:creationId xmlns:p14="http://schemas.microsoft.com/office/powerpoint/2010/main" val="195537228"/>
      </p:ext>
    </p:extLst>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B505E-3A14-578A-EE41-90C6C7B1C58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42CA988-57D5-35D3-1E8B-54B18B9B71A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7DF7036-0A22-8DFC-9B3C-CF37F6BAB82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7FFC579-3626-9413-3F4C-93E38B6D67B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DB423C6C-4795-38A8-9596-842ACE4F142A}"/>
              </a:ext>
            </a:extLst>
          </p:cNvPr>
          <p:cNvSpPr txBox="1">
            <a:spLocks/>
          </p:cNvSpPr>
          <p:nvPr/>
        </p:nvSpPr>
        <p:spPr>
          <a:xfrm>
            <a:off x="76200" y="697468"/>
            <a:ext cx="8624937" cy="52629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Consensus</a:t>
            </a:r>
          </a:p>
          <a:p>
            <a:pPr marL="12700" marR="5080"/>
            <a:r>
              <a:rPr lang="en-US" sz="1800" dirty="0">
                <a:solidFill>
                  <a:schemeClr val="accent2"/>
                </a:solidFill>
                <a:latin typeface="Google Sans"/>
              </a:rPr>
              <a:t>FLP, CALM, Safety, Liveness and Relation to CAP Theorem</a:t>
            </a:r>
          </a:p>
          <a:p>
            <a:pPr marL="12700" marR="5080"/>
            <a:r>
              <a:rPr lang="en-US" sz="1700" dirty="0">
                <a:solidFill>
                  <a:schemeClr val="accent2"/>
                </a:solidFill>
                <a:latin typeface="Google Sans"/>
              </a:rPr>
              <a:t>Relationship between FLP, CALM, and CAP</a:t>
            </a:r>
          </a:p>
          <a:p>
            <a:pPr marL="12700" marR="5080"/>
            <a:r>
              <a:rPr lang="en-US" sz="1500" dirty="0">
                <a:solidFill>
                  <a:schemeClr val="accent2"/>
                </a:solidFill>
                <a:latin typeface="Google Sans"/>
              </a:rPr>
              <a:t>FLP and CAP: </a:t>
            </a:r>
            <a:r>
              <a:rPr lang="en-US" sz="1500" dirty="0">
                <a:solidFill>
                  <a:schemeClr val="accent6"/>
                </a:solidFill>
                <a:latin typeface="Google Sans"/>
              </a:rPr>
              <a:t>They are related but distinct. FLP is about consensus in asynchronous networks (no time bounds). CAP is about storage in partitioned networks. However, in an asynchronous model, a network partition is indistinguishable from a crashed node.</a:t>
            </a:r>
          </a:p>
          <a:p>
            <a:pPr marL="12700" marR="5080"/>
            <a:r>
              <a:rPr lang="en-US" sz="1500" dirty="0">
                <a:solidFill>
                  <a:schemeClr val="accent2"/>
                </a:solidFill>
                <a:latin typeface="Google Sans"/>
              </a:rPr>
              <a:t>CALM and CAP:</a:t>
            </a:r>
            <a:r>
              <a:rPr lang="en-US" sz="1500" dirty="0">
                <a:solidFill>
                  <a:schemeClr val="accent6"/>
                </a:solidFill>
                <a:latin typeface="Google Sans"/>
              </a:rPr>
              <a:t> CALM provides a finer-grained view of CAP. CALM states that if a system is monotonic, it can provide consistency (C) and availability (A) even under partition (P), essentially "beating" the strict CAP trade-off by reducing the need for coordination.</a:t>
            </a:r>
          </a:p>
          <a:p>
            <a:pPr marL="12700" marR="5080"/>
            <a:endParaRPr lang="en-US" sz="1500" dirty="0">
              <a:solidFill>
                <a:schemeClr val="accent6"/>
              </a:solidFill>
              <a:latin typeface="Google Sans"/>
            </a:endParaRPr>
          </a:p>
          <a:p>
            <a:pPr marL="12700" marR="5080"/>
            <a:r>
              <a:rPr lang="en-US" sz="1700" dirty="0">
                <a:solidFill>
                  <a:schemeClr val="accent2"/>
                </a:solidFill>
                <a:latin typeface="Google Sans"/>
              </a:rPr>
              <a:t>Safety/Liveness in Relation:</a:t>
            </a:r>
          </a:p>
          <a:p>
            <a:pPr marL="12700" marR="5080"/>
            <a:r>
              <a:rPr lang="en-US" sz="1500" dirty="0">
                <a:solidFill>
                  <a:schemeClr val="accent2"/>
                </a:solidFill>
                <a:latin typeface="Google Sans"/>
              </a:rPr>
              <a:t>CP (Consistency/Partition Tolerance):</a:t>
            </a:r>
            <a:r>
              <a:rPr lang="en-US" sz="1500" dirty="0">
                <a:solidFill>
                  <a:schemeClr val="accent6"/>
                </a:solidFill>
                <a:latin typeface="Google Sans"/>
              </a:rPr>
              <a:t> Prioritizes Safety over Liveness.</a:t>
            </a:r>
          </a:p>
          <a:p>
            <a:pPr marL="12700" marR="5080"/>
            <a:r>
              <a:rPr lang="en-US" sz="1500" dirty="0">
                <a:solidFill>
                  <a:schemeClr val="accent2"/>
                </a:solidFill>
                <a:latin typeface="Google Sans"/>
              </a:rPr>
              <a:t>AP (Availability/Partition Tolerance):</a:t>
            </a:r>
            <a:r>
              <a:rPr lang="en-US" sz="1500" dirty="0">
                <a:solidFill>
                  <a:schemeClr val="accent6"/>
                </a:solidFill>
                <a:latin typeface="Google Sans"/>
              </a:rPr>
              <a:t> Prioritizes Liveness over Safety.</a:t>
            </a:r>
          </a:p>
          <a:p>
            <a:pPr marL="12700" marR="5080"/>
            <a:r>
              <a:rPr lang="en-US" sz="1500" dirty="0">
                <a:solidFill>
                  <a:schemeClr val="accent2"/>
                </a:solidFill>
                <a:latin typeface="Google Sans"/>
              </a:rPr>
              <a:t>CALM: </a:t>
            </a:r>
            <a:r>
              <a:rPr lang="en-US" sz="1500" dirty="0">
                <a:solidFill>
                  <a:schemeClr val="accent6"/>
                </a:solidFill>
                <a:latin typeface="Google Sans"/>
              </a:rPr>
              <a:t>Monotonic code ensures consistency (Safety) and availability (Liveness) without coordination. </a:t>
            </a:r>
          </a:p>
          <a:p>
            <a:pPr marL="12700" marR="5080"/>
            <a:endParaRPr lang="en-US" sz="1500" dirty="0">
              <a:solidFill>
                <a:schemeClr val="accent6"/>
              </a:solidFill>
              <a:latin typeface="Google Sans"/>
            </a:endParaRPr>
          </a:p>
          <a:p>
            <a:pPr marL="12700" marR="5080"/>
            <a:r>
              <a:rPr lang="en-US" sz="1700" dirty="0">
                <a:solidFill>
                  <a:schemeClr val="accent2"/>
                </a:solidFill>
                <a:latin typeface="Google Sans"/>
              </a:rPr>
              <a:t>Summary of Trade-offs</a:t>
            </a:r>
          </a:p>
          <a:p>
            <a:pPr marL="12700" marR="5080"/>
            <a:r>
              <a:rPr lang="en-US" sz="1500" dirty="0">
                <a:solidFill>
                  <a:schemeClr val="accent2"/>
                </a:solidFill>
                <a:latin typeface="Google Sans"/>
              </a:rPr>
              <a:t>If you need Strict Consistency (Safety): </a:t>
            </a:r>
            <a:r>
              <a:rPr lang="en-US" sz="1500" dirty="0">
                <a:solidFill>
                  <a:schemeClr val="accent6"/>
                </a:solidFill>
                <a:latin typeface="Google Sans"/>
              </a:rPr>
              <a:t>Use protocols like Paxos/Raft (sacrifices Liveness during partitions), which implies a CP system.</a:t>
            </a:r>
          </a:p>
          <a:p>
            <a:pPr marL="12700" marR="5080"/>
            <a:r>
              <a:rPr lang="en-US" sz="1500" dirty="0">
                <a:solidFill>
                  <a:schemeClr val="accent2"/>
                </a:solidFill>
                <a:latin typeface="Google Sans"/>
              </a:rPr>
              <a:t>If you need High Availability (Liveness):</a:t>
            </a:r>
            <a:r>
              <a:rPr lang="en-US" sz="1500" dirty="0">
                <a:solidFill>
                  <a:schemeClr val="accent6"/>
                </a:solidFill>
                <a:latin typeface="Google Sans"/>
              </a:rPr>
              <a:t> Use CRDTs or eventual consistency, ensuring the operation is monotonic (CALM theorem) to avoid needing coordination.</a:t>
            </a:r>
          </a:p>
          <a:p>
            <a:pPr marL="12700" marR="5080"/>
            <a:r>
              <a:rPr lang="en-US" sz="1500" dirty="0">
                <a:solidFill>
                  <a:schemeClr val="accent2"/>
                </a:solidFill>
                <a:latin typeface="Google Sans"/>
              </a:rPr>
              <a:t>If you are in an Async System:</a:t>
            </a:r>
            <a:r>
              <a:rPr lang="en-US" sz="1500" dirty="0">
                <a:solidFill>
                  <a:schemeClr val="accent6"/>
                </a:solidFill>
                <a:latin typeface="Google Sans"/>
              </a:rPr>
              <a:t> Accept that you cannot have perfect safety and liveness; you must use randomized algorithms or failure detectors to partially break the FLP impossibility. </a:t>
            </a:r>
          </a:p>
        </p:txBody>
      </p:sp>
      <p:grpSp>
        <p:nvGrpSpPr>
          <p:cNvPr id="7" name="Group 6">
            <a:extLst>
              <a:ext uri="{FF2B5EF4-FFF2-40B4-BE49-F238E27FC236}">
                <a16:creationId xmlns:a16="http://schemas.microsoft.com/office/drawing/2014/main" id="{3A796852-3D34-A277-54D5-6B02A21434B1}"/>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BBB2E2BE-08B9-C2E6-2C2E-C59A79E8566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29AA96A6-D1C7-2243-7AEB-DD9C50C7540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1782154560"/>
      </p:ext>
    </p:extLst>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5A092-A053-40F3-69F9-B56AEF27D2C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18B9A59-EBAD-92F1-2722-0A88241DEFD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AE5DF53-6E9E-54E7-1300-8B0E27E1656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EC84CB26-773F-5E95-9AD2-E2ECC058F5C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33FC9B42-07E1-EDBC-D874-E3105AB517DC}"/>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44EA2598-25CF-1B2E-30BE-F6D6FAA05E3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B3CBAAC1-FCE2-47E0-D18E-EFAD8A7B5CC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
        <p:nvSpPr>
          <p:cNvPr id="17" name="object 2">
            <a:extLst>
              <a:ext uri="{FF2B5EF4-FFF2-40B4-BE49-F238E27FC236}">
                <a16:creationId xmlns:a16="http://schemas.microsoft.com/office/drawing/2014/main" id="{63AC1976-BDB8-5F91-FFC0-D225F4F02C9E}"/>
              </a:ext>
            </a:extLst>
          </p:cNvPr>
          <p:cNvSpPr txBox="1">
            <a:spLocks/>
          </p:cNvSpPr>
          <p:nvPr/>
        </p:nvSpPr>
        <p:spPr>
          <a:xfrm>
            <a:off x="20320" y="676592"/>
            <a:ext cx="9168589"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Distributed Locking</a:t>
            </a:r>
          </a:p>
          <a:p>
            <a:r>
              <a:rPr lang="en-US" sz="1500" dirty="0">
                <a:solidFill>
                  <a:schemeClr val="accent6"/>
                </a:solidFill>
                <a:latin typeface="Google Sans"/>
              </a:rPr>
              <a:t>Distributed locking is a mechanism used in distributed systems to ensure that multiple nodes or service instances </a:t>
            </a:r>
          </a:p>
          <a:p>
            <a:r>
              <a:rPr lang="en-US" sz="1500" dirty="0">
                <a:solidFill>
                  <a:schemeClr val="accent6"/>
                </a:solidFill>
                <a:latin typeface="Google Sans"/>
              </a:rPr>
              <a:t>do not concurrently modify shared resources, preventing race conditions, data corruption, and duplicate processing. It is essential when strict consistency is required across independent, competing processes. </a:t>
            </a:r>
          </a:p>
          <a:p>
            <a:r>
              <a:rPr lang="en-US" sz="1500" dirty="0">
                <a:solidFill>
                  <a:schemeClr val="accent2"/>
                </a:solidFill>
                <a:latin typeface="Google Sans"/>
              </a:rPr>
              <a:t>Core Strategies</a:t>
            </a:r>
          </a:p>
          <a:p>
            <a:r>
              <a:rPr lang="en-US" sz="1500" dirty="0">
                <a:solidFill>
                  <a:schemeClr val="accent6"/>
                </a:solidFill>
                <a:latin typeface="Google Sans"/>
              </a:rPr>
              <a:t>The primary strategies for implementing distributed locks involve leveraging an external, highly available system to manage lock states: </a:t>
            </a:r>
          </a:p>
          <a:p>
            <a:r>
              <a:rPr lang="en-US" sz="1500" dirty="0">
                <a:solidFill>
                  <a:schemeClr val="accent2"/>
                </a:solidFill>
                <a:latin typeface="Google Sans"/>
              </a:rPr>
              <a:t>Database-backed locking: </a:t>
            </a:r>
            <a:r>
              <a:rPr lang="en-US" sz="1500" dirty="0">
                <a:solidFill>
                  <a:schemeClr val="accent6"/>
                </a:solidFill>
                <a:latin typeface="Google Sans"/>
              </a:rPr>
              <a:t>Utilizing transactional features or advisory locks in relational databases like PostgreSQL or SQL Server. A common pattern is to use a conditional insert into a "locks" table, where success guarantees the lock acquisition.</a:t>
            </a:r>
          </a:p>
          <a:p>
            <a:r>
              <a:rPr lang="en-US" sz="1500" dirty="0">
                <a:solidFill>
                  <a:schemeClr val="accent2"/>
                </a:solidFill>
                <a:latin typeface="Google Sans"/>
              </a:rPr>
              <a:t>Distributed cache-backed locking:</a:t>
            </a:r>
            <a:r>
              <a:rPr lang="en-US" sz="1500" dirty="0">
                <a:solidFill>
                  <a:schemeClr val="accent6"/>
                </a:solidFill>
                <a:latin typeface="Google Sans"/>
              </a:rPr>
              <a:t> Using a system like Redis, which supports atomic operations and key expirations (TTL) to implement locks. The </a:t>
            </a:r>
            <a:r>
              <a:rPr lang="en-US" sz="1500" dirty="0" err="1">
                <a:solidFill>
                  <a:schemeClr val="accent6"/>
                </a:solidFill>
                <a:latin typeface="Google Sans"/>
              </a:rPr>
              <a:t>Redlock</a:t>
            </a:r>
            <a:r>
              <a:rPr lang="en-US" sz="1500" dirty="0">
                <a:solidFill>
                  <a:schemeClr val="accent6"/>
                </a:solidFill>
                <a:latin typeface="Google Sans"/>
              </a:rPr>
              <a:t> algorithm extends this by requiring a majority consensus across multiple independent Redis master nodes for higher safety guarantees.</a:t>
            </a:r>
          </a:p>
          <a:p>
            <a:r>
              <a:rPr lang="en-US" sz="1500" dirty="0">
                <a:solidFill>
                  <a:schemeClr val="accent2"/>
                </a:solidFill>
                <a:latin typeface="Google Sans"/>
              </a:rPr>
              <a:t>Dedicated coordination services:</a:t>
            </a:r>
            <a:r>
              <a:rPr lang="en-US" sz="1500" dirty="0">
                <a:solidFill>
                  <a:schemeClr val="accent6"/>
                </a:solidFill>
                <a:latin typeface="Google Sans"/>
              </a:rPr>
              <a:t> Employing robust systems specifically designed for coordination in distributed environments, such as Apache </a:t>
            </a:r>
            <a:r>
              <a:rPr lang="en-US" sz="1500" dirty="0" err="1">
                <a:solidFill>
                  <a:schemeClr val="accent6"/>
                </a:solidFill>
                <a:latin typeface="Google Sans"/>
              </a:rPr>
              <a:t>ZooKeeper</a:t>
            </a:r>
            <a:r>
              <a:rPr lang="en-US" sz="1500" dirty="0">
                <a:solidFill>
                  <a:schemeClr val="accent6"/>
                </a:solidFill>
                <a:latin typeface="Google Sans"/>
              </a:rPr>
              <a:t> or </a:t>
            </a:r>
            <a:r>
              <a:rPr lang="en-US" sz="1500" dirty="0" err="1">
                <a:solidFill>
                  <a:schemeClr val="accent6"/>
                </a:solidFill>
                <a:latin typeface="Google Sans"/>
              </a:rPr>
              <a:t>etcd</a:t>
            </a:r>
            <a:r>
              <a:rPr lang="en-US" sz="1500" dirty="0">
                <a:solidFill>
                  <a:schemeClr val="accent6"/>
                </a:solidFill>
                <a:latin typeface="Google Sans"/>
              </a:rPr>
              <a:t>, which provide strong consistency guarantees and handle ephemeral nodes/leases automatically. </a:t>
            </a:r>
          </a:p>
          <a:p>
            <a:endParaRPr lang="en-US" sz="1500" dirty="0">
              <a:solidFill>
                <a:schemeClr val="accent6"/>
              </a:solidFill>
              <a:latin typeface="Google Sans"/>
            </a:endParaRPr>
          </a:p>
          <a:p>
            <a:r>
              <a:rPr lang="en-US" sz="1500" dirty="0">
                <a:solidFill>
                  <a:schemeClr val="accent2"/>
                </a:solidFill>
                <a:latin typeface="Google Sans"/>
              </a:rPr>
              <a:t>Key Implementation Practices</a:t>
            </a:r>
          </a:p>
          <a:p>
            <a:r>
              <a:rPr lang="en-US" sz="1500" dirty="0">
                <a:solidFill>
                  <a:schemeClr val="accent2"/>
                </a:solidFill>
                <a:latin typeface="Google Sans"/>
              </a:rPr>
              <a:t>Regardless of the chosen strategy, adhere to these practices to ensure a robust implementation:</a:t>
            </a:r>
          </a:p>
          <a:p>
            <a:r>
              <a:rPr lang="en-US" sz="1500" dirty="0">
                <a:solidFill>
                  <a:schemeClr val="accent2"/>
                </a:solidFill>
                <a:latin typeface="Google Sans"/>
              </a:rPr>
              <a:t>Implement Timeouts (TTL):</a:t>
            </a:r>
            <a:r>
              <a:rPr lang="en-US" sz="1500" dirty="0">
                <a:solidFill>
                  <a:schemeClr val="accent6"/>
                </a:solidFill>
                <a:latin typeface="Google Sans"/>
              </a:rPr>
              <a:t> Always associate a Time-To-Live (TTL) or lease with a lock. If the client holding the lock crashes or is paused (e.g., during a long garbage collection), the lock will eventually expire and be released, preventing deadlocks.</a:t>
            </a:r>
          </a:p>
        </p:txBody>
      </p:sp>
    </p:spTree>
    <p:extLst>
      <p:ext uri="{BB962C8B-B14F-4D97-AF65-F5344CB8AC3E}">
        <p14:creationId xmlns:p14="http://schemas.microsoft.com/office/powerpoint/2010/main" val="2914387464"/>
      </p:ext>
    </p:extLst>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0782E-5DCB-F4E1-3E8E-056F9F34D40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CAFD9AA-8AB6-50EB-FC29-3305AA20F4E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BD1A2C5-1B0E-E4B4-8A58-6D28092A11E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4184C3C-6A2B-906B-AA92-5C4DD2F6F3E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746994E2-14B4-07DF-8AF4-A242928237B9}"/>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23085E2C-CBFE-1456-2EA5-26A3FC2BD49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23CAF06D-4D0D-C587-D079-8F740EFBFEC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
        <p:nvSpPr>
          <p:cNvPr id="17" name="object 2">
            <a:extLst>
              <a:ext uri="{FF2B5EF4-FFF2-40B4-BE49-F238E27FC236}">
                <a16:creationId xmlns:a16="http://schemas.microsoft.com/office/drawing/2014/main" id="{98F3ABAD-B225-4D90-CE0C-62244A3B9FA1}"/>
              </a:ext>
            </a:extLst>
          </p:cNvPr>
          <p:cNvSpPr txBox="1">
            <a:spLocks/>
          </p:cNvSpPr>
          <p:nvPr/>
        </p:nvSpPr>
        <p:spPr>
          <a:xfrm>
            <a:off x="20320" y="676592"/>
            <a:ext cx="9168589"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Distributed Locking</a:t>
            </a:r>
          </a:p>
          <a:p>
            <a:r>
              <a:rPr lang="en-US" sz="1500" dirty="0">
                <a:solidFill>
                  <a:schemeClr val="accent2"/>
                </a:solidFill>
                <a:latin typeface="Google Sans"/>
              </a:rPr>
              <a:t>Key Implementation Practices</a:t>
            </a:r>
          </a:p>
          <a:p>
            <a:r>
              <a:rPr lang="en-US" sz="1500" dirty="0">
                <a:solidFill>
                  <a:schemeClr val="accent2"/>
                </a:solidFill>
                <a:latin typeface="Google Sans"/>
              </a:rPr>
              <a:t>Regardless of the chosen strategy, adhere to these practices to ensure a robust implementation:</a:t>
            </a:r>
          </a:p>
          <a:p>
            <a:r>
              <a:rPr lang="en-US" sz="1500" dirty="0">
                <a:solidFill>
                  <a:schemeClr val="accent2"/>
                </a:solidFill>
                <a:latin typeface="Google Sans"/>
              </a:rPr>
              <a:t>Use Atomic Operations: </a:t>
            </a:r>
            <a:r>
              <a:rPr lang="en-US" sz="1500" dirty="0">
                <a:solidFill>
                  <a:schemeClr val="accent6"/>
                </a:solidFill>
                <a:latin typeface="Google Sans"/>
              </a:rPr>
              <a:t>Lock acquisition and release must be atomic to prevent race conditions. Systems like Redis provide SET NX PX commands, and databases use conditional writes or transactions to achieve this.</a:t>
            </a:r>
          </a:p>
          <a:p>
            <a:r>
              <a:rPr lang="en-US" sz="1500" dirty="0">
                <a:solidFill>
                  <a:schemeClr val="accent2"/>
                </a:solidFill>
                <a:latin typeface="Google Sans"/>
              </a:rPr>
              <a:t>Incorporate Fencing Tokens: </a:t>
            </a:r>
            <a:r>
              <a:rPr lang="en-US" sz="1500" dirty="0">
                <a:solidFill>
                  <a:schemeClr val="accent6"/>
                </a:solidFill>
                <a:latin typeface="Google Sans"/>
              </a:rPr>
              <a:t>When using systems with timeouts, use a monotonically increasing token (e.g., a version number or revision number) issued at lock acquisition. The protected resource should only accept operations with the current, valid token, preventing stale operations from an old lock holder from corrupting the shared state.</a:t>
            </a:r>
          </a:p>
          <a:p>
            <a:r>
              <a:rPr lang="en-US" sz="1500" dirty="0">
                <a:solidFill>
                  <a:schemeClr val="accent2"/>
                </a:solidFill>
                <a:latin typeface="Google Sans"/>
              </a:rPr>
              <a:t>Graceful Retry Mechanisms:</a:t>
            </a:r>
            <a:r>
              <a:rPr lang="en-US" sz="1500" dirty="0">
                <a:solidFill>
                  <a:schemeClr val="accent6"/>
                </a:solidFill>
                <a:latin typeface="Google Sans"/>
              </a:rPr>
              <a:t> When a lock acquisition fails, use a retry mechanism, potentially with exponential backoff, to avoid overwhelming the lock manager with constant requests.</a:t>
            </a:r>
          </a:p>
          <a:p>
            <a:r>
              <a:rPr lang="en-US" sz="1500" dirty="0">
                <a:solidFill>
                  <a:schemeClr val="accent2"/>
                </a:solidFill>
                <a:latin typeface="Google Sans"/>
              </a:rPr>
              <a:t>Monitor and Log: </a:t>
            </a:r>
            <a:r>
              <a:rPr lang="en-US" sz="1500" dirty="0">
                <a:solidFill>
                  <a:schemeClr val="accent6"/>
                </a:solidFill>
                <a:latin typeface="Google Sans"/>
              </a:rPr>
              <a:t>Implement monitoring to track lock acquisition times, lock contention, and expiration events. This helps in diagnosing performance bottlenecks and system failures. </a:t>
            </a:r>
          </a:p>
          <a:p>
            <a:r>
              <a:rPr lang="en-US" sz="1500" dirty="0">
                <a:solidFill>
                  <a:schemeClr val="accent6"/>
                </a:solidFill>
                <a:latin typeface="Google Sans"/>
              </a:rPr>
              <a:t>Downstream systems (e.g., databases) must reject writes with an older token.</a:t>
            </a:r>
          </a:p>
          <a:p>
            <a:r>
              <a:rPr lang="en-US" sz="1500" dirty="0">
                <a:solidFill>
                  <a:schemeClr val="accent2"/>
                </a:solidFill>
                <a:latin typeface="Google Sans"/>
              </a:rPr>
              <a:t>Safe Release (Ownership Token): </a:t>
            </a:r>
            <a:r>
              <a:rPr lang="en-US" sz="1500" dirty="0">
                <a:solidFill>
                  <a:schemeClr val="accent6"/>
                </a:solidFill>
                <a:latin typeface="Google Sans"/>
              </a:rPr>
              <a:t>When releasing a lock, verify that you still own it by checking a unique ID (e.g., UUID) set during acquisition, usually via a Lua script in Redis.</a:t>
            </a:r>
          </a:p>
          <a:p>
            <a:r>
              <a:rPr lang="en-US" sz="1500" dirty="0">
                <a:solidFill>
                  <a:schemeClr val="accent2"/>
                </a:solidFill>
                <a:latin typeface="Google Sans"/>
              </a:rPr>
              <a:t>Heartbeat/Renewal: </a:t>
            </a:r>
            <a:r>
              <a:rPr lang="en-US" sz="1500" dirty="0">
                <a:solidFill>
                  <a:schemeClr val="accent6"/>
                </a:solidFill>
                <a:latin typeface="Google Sans"/>
              </a:rPr>
              <a:t>For long-running tasks, use a background thread to periodically renew the lock TTL (a heartbeat) to prevent premature expiration.</a:t>
            </a:r>
          </a:p>
          <a:p>
            <a:r>
              <a:rPr lang="en-US" sz="1500" dirty="0">
                <a:solidFill>
                  <a:schemeClr val="accent6"/>
                </a:solidFill>
                <a:latin typeface="Google Sans"/>
              </a:rPr>
              <a:t>Locking Granularity: Avoid global locks; use fine-grained, sharded, or striped locks based on keys to minimize contention. </a:t>
            </a:r>
          </a:p>
          <a:p>
            <a:endParaRPr lang="en-US" sz="1500" dirty="0">
              <a:solidFill>
                <a:schemeClr val="accent6"/>
              </a:solidFill>
              <a:latin typeface="Google Sans"/>
            </a:endParaRPr>
          </a:p>
        </p:txBody>
      </p:sp>
    </p:spTree>
    <p:extLst>
      <p:ext uri="{BB962C8B-B14F-4D97-AF65-F5344CB8AC3E}">
        <p14:creationId xmlns:p14="http://schemas.microsoft.com/office/powerpoint/2010/main" val="3026098047"/>
      </p:ext>
    </p:extLst>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CF34E-75AB-0C10-AEFF-CD28598ABC5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5141444-3B45-BEBF-4A1A-5C123F60186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34E22A6-6446-5131-7174-C63004B757A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0B2C0A7-E26B-55AF-8F7D-380FCB733E3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BDD922C3-AF7D-B431-9D1E-74F291CCC70D}"/>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376EADAE-2BDC-E230-0471-DFBB9A3AA5B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0DD4E8AE-4302-C354-3E13-D85C226D47C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
        <p:nvSpPr>
          <p:cNvPr id="17" name="object 2">
            <a:extLst>
              <a:ext uri="{FF2B5EF4-FFF2-40B4-BE49-F238E27FC236}">
                <a16:creationId xmlns:a16="http://schemas.microsoft.com/office/drawing/2014/main" id="{1186FE1A-BDE3-EFD9-33C9-247979B8DAA7}"/>
              </a:ext>
            </a:extLst>
          </p:cNvPr>
          <p:cNvSpPr txBox="1">
            <a:spLocks/>
          </p:cNvSpPr>
          <p:nvPr/>
        </p:nvSpPr>
        <p:spPr>
          <a:xfrm>
            <a:off x="20320" y="676592"/>
            <a:ext cx="9168589" cy="50013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Distributed Locking</a:t>
            </a:r>
          </a:p>
          <a:p>
            <a:r>
              <a:rPr lang="en-US" sz="1800" dirty="0">
                <a:solidFill>
                  <a:schemeClr val="accent2"/>
                </a:solidFill>
                <a:latin typeface="Google Sans"/>
              </a:rPr>
              <a:t>Common Pitfalls</a:t>
            </a:r>
          </a:p>
          <a:p>
            <a:r>
              <a:rPr lang="en-US" sz="1500" dirty="0">
                <a:solidFill>
                  <a:schemeClr val="accent2"/>
                </a:solidFill>
                <a:latin typeface="Google Sans"/>
              </a:rPr>
              <a:t>Deadlocks:</a:t>
            </a:r>
            <a:r>
              <a:rPr lang="en-US" sz="1500" dirty="0">
                <a:solidFill>
                  <a:schemeClr val="accent6"/>
                </a:solidFill>
                <a:latin typeface="Google Sans"/>
              </a:rPr>
              <a:t> Caused when processes acquire multiple locks in different orders; prevent by ordering lock acquisition.</a:t>
            </a:r>
          </a:p>
          <a:p>
            <a:r>
              <a:rPr lang="en-US" sz="1500" dirty="0">
                <a:solidFill>
                  <a:schemeClr val="accent2"/>
                </a:solidFill>
                <a:latin typeface="Google Sans"/>
              </a:rPr>
              <a:t>Clock Skew: </a:t>
            </a:r>
            <a:r>
              <a:rPr lang="en-US" sz="1500" dirty="0">
                <a:solidFill>
                  <a:schemeClr val="accent6"/>
                </a:solidFill>
                <a:latin typeface="Google Sans"/>
              </a:rPr>
              <a:t>Relying on system time for TTL can cause issues if NTP causes clocks to jump forward or backward.</a:t>
            </a:r>
          </a:p>
          <a:p>
            <a:r>
              <a:rPr lang="en-US" sz="1500" dirty="0">
                <a:solidFill>
                  <a:schemeClr val="accent2"/>
                </a:solidFill>
                <a:latin typeface="Google Sans"/>
              </a:rPr>
              <a:t>Lock Contention:</a:t>
            </a:r>
            <a:r>
              <a:rPr lang="en-US" sz="1500" dirty="0">
                <a:solidFill>
                  <a:schemeClr val="accent6"/>
                </a:solidFill>
                <a:latin typeface="Google Sans"/>
              </a:rPr>
              <a:t> Too many services fighting for the same lock can serialize operations and destroy performance. </a:t>
            </a:r>
          </a:p>
          <a:p>
            <a:r>
              <a:rPr lang="en-US" sz="1500" dirty="0">
                <a:solidFill>
                  <a:schemeClr val="accent2"/>
                </a:solidFill>
                <a:latin typeface="Google Sans"/>
              </a:rPr>
              <a:t>Note: </a:t>
            </a:r>
            <a:r>
              <a:rPr lang="en-US" sz="1500" dirty="0">
                <a:solidFill>
                  <a:schemeClr val="accent6"/>
                </a:solidFill>
                <a:latin typeface="Google Sans"/>
              </a:rPr>
              <a:t>In many scenarios, designing for idempotency (making operations safe to run multiple times) is preferred </a:t>
            </a:r>
          </a:p>
          <a:p>
            <a:r>
              <a:rPr lang="en-US" sz="1500" dirty="0">
                <a:solidFill>
                  <a:schemeClr val="accent6"/>
                </a:solidFill>
                <a:latin typeface="Google Sans"/>
              </a:rPr>
              <a:t>over using distributed locks. </a:t>
            </a:r>
          </a:p>
          <a:p>
            <a:endParaRPr lang="en-US" sz="1500" dirty="0">
              <a:solidFill>
                <a:schemeClr val="accent6"/>
              </a:solidFill>
              <a:latin typeface="Google Sans"/>
            </a:endParaRPr>
          </a:p>
          <a:p>
            <a:r>
              <a:rPr lang="en-US" sz="2000" dirty="0">
                <a:solidFill>
                  <a:schemeClr val="accent2"/>
                </a:solidFill>
                <a:latin typeface="Google Sans"/>
              </a:rPr>
              <a:t>Summary of Options</a:t>
            </a:r>
          </a:p>
          <a:p>
            <a:r>
              <a:rPr lang="en-US" sz="1500" dirty="0">
                <a:solidFill>
                  <a:schemeClr val="accent2"/>
                </a:solidFill>
                <a:latin typeface="Google Sans"/>
              </a:rPr>
              <a:t>Databases	</a:t>
            </a:r>
          </a:p>
          <a:p>
            <a:r>
              <a:rPr lang="en-US" sz="1500" dirty="0">
                <a:solidFill>
                  <a:schemeClr val="accent2"/>
                </a:solidFill>
                <a:latin typeface="Google Sans"/>
              </a:rPr>
              <a:t>Pros: </a:t>
            </a:r>
            <a:r>
              <a:rPr lang="en-US" sz="1500" dirty="0">
                <a:solidFill>
                  <a:schemeClr val="accent6"/>
                </a:solidFill>
                <a:latin typeface="Google Sans"/>
              </a:rPr>
              <a:t>High consistency, leverages existing infrastructure, supports transactional integrity.	</a:t>
            </a:r>
          </a:p>
          <a:p>
            <a:r>
              <a:rPr lang="en-US" sz="1500" dirty="0">
                <a:solidFill>
                  <a:schemeClr val="accent2"/>
                </a:solidFill>
                <a:latin typeface="Google Sans"/>
              </a:rPr>
              <a:t>Cons: </a:t>
            </a:r>
            <a:r>
              <a:rPr lang="en-US" sz="1500" dirty="0">
                <a:solidFill>
                  <a:schemeClr val="accent6"/>
                </a:solidFill>
                <a:latin typeface="Google Sans"/>
              </a:rPr>
              <a:t>Higher latency than caches, can be a performance bottleneck if not carefully implemented (e.g., using advisory locks).</a:t>
            </a:r>
          </a:p>
          <a:p>
            <a:r>
              <a:rPr lang="en-US" sz="1500" dirty="0">
                <a:solidFill>
                  <a:schemeClr val="accent2"/>
                </a:solidFill>
                <a:latin typeface="Google Sans"/>
              </a:rPr>
              <a:t>Redis/Caches</a:t>
            </a:r>
            <a:r>
              <a:rPr lang="en-US" sz="1500" dirty="0">
                <a:solidFill>
                  <a:schemeClr val="accent6"/>
                </a:solidFill>
                <a:latin typeface="Google Sans"/>
              </a:rPr>
              <a:t>	</a:t>
            </a:r>
          </a:p>
          <a:p>
            <a:r>
              <a:rPr lang="en-US" sz="1500" dirty="0">
                <a:solidFill>
                  <a:schemeClr val="accent2"/>
                </a:solidFill>
                <a:latin typeface="Google Sans"/>
              </a:rPr>
              <a:t>Pros: </a:t>
            </a:r>
            <a:r>
              <a:rPr lang="en-US" sz="1500" dirty="0">
                <a:solidFill>
                  <a:schemeClr val="accent6"/>
                </a:solidFill>
                <a:latin typeface="Google Sans"/>
              </a:rPr>
              <a:t>Very high performance, low latency, simple to implement for basic use cases.	</a:t>
            </a:r>
          </a:p>
          <a:p>
            <a:r>
              <a:rPr lang="en-US" sz="1500" dirty="0">
                <a:solidFill>
                  <a:schemeClr val="accent2"/>
                </a:solidFill>
                <a:latin typeface="Google Sans"/>
              </a:rPr>
              <a:t>Cons: </a:t>
            </a:r>
            <a:r>
              <a:rPr lang="en-US" sz="1500" dirty="0">
                <a:solidFill>
                  <a:schemeClr val="accent6"/>
                </a:solidFill>
                <a:latin typeface="Google Sans"/>
              </a:rPr>
              <a:t>Requires implementing robust algorithms like </a:t>
            </a:r>
            <a:r>
              <a:rPr lang="en-US" sz="1500" dirty="0" err="1">
                <a:solidFill>
                  <a:schemeClr val="accent6"/>
                </a:solidFill>
                <a:latin typeface="Google Sans"/>
              </a:rPr>
              <a:t>Redlock</a:t>
            </a:r>
            <a:r>
              <a:rPr lang="en-US" sz="1500" dirty="0">
                <a:solidFill>
                  <a:schemeClr val="accent6"/>
                </a:solidFill>
                <a:latin typeface="Google Sans"/>
              </a:rPr>
              <a:t> for strong consistency and high availability; susceptible to clock skew issues.</a:t>
            </a:r>
          </a:p>
          <a:p>
            <a:r>
              <a:rPr lang="en-US" sz="1500" dirty="0">
                <a:solidFill>
                  <a:schemeClr val="accent2"/>
                </a:solidFill>
                <a:latin typeface="Google Sans"/>
              </a:rPr>
              <a:t>Coordination Services	</a:t>
            </a:r>
          </a:p>
          <a:p>
            <a:r>
              <a:rPr lang="en-US" sz="1500" dirty="0">
                <a:solidFill>
                  <a:schemeClr val="accent2"/>
                </a:solidFill>
                <a:latin typeface="Google Sans"/>
              </a:rPr>
              <a:t>Pros: </a:t>
            </a:r>
            <a:r>
              <a:rPr lang="en-US" sz="1500" dirty="0">
                <a:solidFill>
                  <a:schemeClr val="accent6"/>
                </a:solidFill>
                <a:latin typeface="Google Sans"/>
              </a:rPr>
              <a:t>Strong consistency guarantees, handles edge cases (crashes, network partitions) well, built-in fencing support.</a:t>
            </a:r>
          </a:p>
          <a:p>
            <a:r>
              <a:rPr lang="en-US" sz="1500" dirty="0">
                <a:solidFill>
                  <a:schemeClr val="accent2"/>
                </a:solidFill>
                <a:latin typeface="Google Sans"/>
              </a:rPr>
              <a:t>Cons:</a:t>
            </a:r>
            <a:r>
              <a:rPr lang="en-US" sz="1500" dirty="0">
                <a:solidFill>
                  <a:schemeClr val="accent6"/>
                </a:solidFill>
                <a:latin typeface="Google Sans"/>
              </a:rPr>
              <a:t> Adds another complex dependency to the system, requires separate infrastructure to manage (</a:t>
            </a:r>
            <a:r>
              <a:rPr lang="en-US" sz="1500" dirty="0" err="1">
                <a:solidFill>
                  <a:schemeClr val="accent6"/>
                </a:solidFill>
                <a:latin typeface="Google Sans"/>
              </a:rPr>
              <a:t>ZooKeeper</a:t>
            </a:r>
            <a:r>
              <a:rPr lang="en-US" sz="1500" dirty="0">
                <a:solidFill>
                  <a:schemeClr val="accent6"/>
                </a:solidFill>
                <a:latin typeface="Google Sans"/>
              </a:rPr>
              <a:t> ensemble, </a:t>
            </a:r>
            <a:r>
              <a:rPr lang="en-US" sz="1500" dirty="0" err="1">
                <a:solidFill>
                  <a:schemeClr val="accent6"/>
                </a:solidFill>
                <a:latin typeface="Google Sans"/>
              </a:rPr>
              <a:t>etcd</a:t>
            </a:r>
            <a:r>
              <a:rPr lang="en-US" sz="1500" dirty="0">
                <a:solidFill>
                  <a:schemeClr val="accent6"/>
                </a:solidFill>
                <a:latin typeface="Google Sans"/>
              </a:rPr>
              <a:t> cluster). </a:t>
            </a:r>
          </a:p>
        </p:txBody>
      </p:sp>
    </p:spTree>
    <p:extLst>
      <p:ext uri="{BB962C8B-B14F-4D97-AF65-F5344CB8AC3E}">
        <p14:creationId xmlns:p14="http://schemas.microsoft.com/office/powerpoint/2010/main" val="1598143943"/>
      </p:ext>
    </p:extLst>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3D622-AE48-C028-201C-5BD4A14D5D2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9362F0C-20FA-B8ED-8848-4C35D6EBCD0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CAA6FD3-8772-40A6-B4F2-9F2F7236591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930B09D-911F-9248-CF61-9C4882E879A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C55DE9B6-D2D0-8780-CD44-88915E95765D}"/>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FB7558D8-D431-8446-036B-1CE410F3284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66ED98A4-A0C2-F249-ACFD-69DC811E579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
        <p:nvSpPr>
          <p:cNvPr id="17" name="object 2">
            <a:extLst>
              <a:ext uri="{FF2B5EF4-FFF2-40B4-BE49-F238E27FC236}">
                <a16:creationId xmlns:a16="http://schemas.microsoft.com/office/drawing/2014/main" id="{91C8CD41-9189-2A7E-C2E7-3ED29A242182}"/>
              </a:ext>
            </a:extLst>
          </p:cNvPr>
          <p:cNvSpPr txBox="1">
            <a:spLocks/>
          </p:cNvSpPr>
          <p:nvPr/>
        </p:nvSpPr>
        <p:spPr>
          <a:xfrm>
            <a:off x="20320" y="676592"/>
            <a:ext cx="9168589" cy="52014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Distributed Locking</a:t>
            </a:r>
          </a:p>
          <a:p>
            <a:r>
              <a:rPr lang="en-US" sz="1800" dirty="0">
                <a:solidFill>
                  <a:schemeClr val="accent2"/>
                </a:solidFill>
                <a:latin typeface="Google Sans"/>
                <a:ea typeface="+mn-ea"/>
                <a:cs typeface="+mn-cs"/>
              </a:rPr>
              <a:t>MVCC</a:t>
            </a:r>
          </a:p>
          <a:p>
            <a:r>
              <a:rPr lang="en-US" sz="1500" dirty="0">
                <a:solidFill>
                  <a:schemeClr val="accent6"/>
                </a:solidFill>
                <a:latin typeface="Google Sans"/>
                <a:ea typeface="+mn-ea"/>
                <a:cs typeface="+mn-cs"/>
              </a:rPr>
              <a:t>Multi-Version Concurrency Control (MVCC) in distributed systems enables high-concurrency, non-blocking operations by maintaining multiple data versions, allowing reads and writes to occur simultaneously without locking. It ensures data consistency by providing each transaction a consistent snapshot of data. Used in distributed databases like </a:t>
            </a:r>
            <a:r>
              <a:rPr lang="en-US" sz="1500" dirty="0" err="1">
                <a:solidFill>
                  <a:schemeClr val="accent6"/>
                </a:solidFill>
                <a:latin typeface="Google Sans"/>
                <a:ea typeface="+mn-ea"/>
                <a:cs typeface="+mn-cs"/>
              </a:rPr>
              <a:t>TiDB</a:t>
            </a:r>
            <a:r>
              <a:rPr lang="en-US" sz="1500" dirty="0">
                <a:solidFill>
                  <a:schemeClr val="accent6"/>
                </a:solidFill>
                <a:latin typeface="Google Sans"/>
                <a:ea typeface="+mn-ea"/>
                <a:cs typeface="+mn-cs"/>
              </a:rPr>
              <a:t> and </a:t>
            </a:r>
            <a:r>
              <a:rPr lang="en-US" sz="1500" dirty="0" err="1">
                <a:solidFill>
                  <a:schemeClr val="accent6"/>
                </a:solidFill>
                <a:latin typeface="Google Sans"/>
                <a:ea typeface="+mn-ea"/>
                <a:cs typeface="+mn-cs"/>
              </a:rPr>
              <a:t>CockroachDB</a:t>
            </a:r>
            <a:r>
              <a:rPr lang="en-US" sz="1500" dirty="0">
                <a:solidFill>
                  <a:schemeClr val="accent6"/>
                </a:solidFill>
                <a:latin typeface="Google Sans"/>
                <a:ea typeface="+mn-ea"/>
                <a:cs typeface="+mn-cs"/>
              </a:rPr>
              <a:t>, it improves performance by reducing contention. </a:t>
            </a:r>
          </a:p>
          <a:p>
            <a:r>
              <a:rPr lang="en-US" sz="1500" dirty="0">
                <a:solidFill>
                  <a:schemeClr val="accent2"/>
                </a:solidFill>
                <a:latin typeface="Google Sans"/>
                <a:ea typeface="+mn-ea"/>
                <a:cs typeface="+mn-cs"/>
              </a:rPr>
              <a:t>Key Aspects of MVCC in Distributed Systems</a:t>
            </a:r>
          </a:p>
          <a:p>
            <a:r>
              <a:rPr lang="en-US" sz="1500" dirty="0">
                <a:solidFill>
                  <a:schemeClr val="accent2"/>
                </a:solidFill>
                <a:latin typeface="Google Sans"/>
                <a:ea typeface="+mn-ea"/>
                <a:cs typeface="+mn-cs"/>
              </a:rPr>
              <a:t>Non-Blocking Reads/Writes: </a:t>
            </a:r>
            <a:r>
              <a:rPr lang="en-US" sz="1500" dirty="0">
                <a:solidFill>
                  <a:schemeClr val="accent6"/>
                </a:solidFill>
                <a:latin typeface="Google Sans"/>
                <a:ea typeface="+mn-ea"/>
                <a:cs typeface="+mn-cs"/>
              </a:rPr>
              <a:t>MVCC allows read operations to proceed without being blocked by concurrent write operations, which is essential for high-performance distributed systems.</a:t>
            </a:r>
          </a:p>
          <a:p>
            <a:r>
              <a:rPr lang="en-US" sz="1500" dirty="0">
                <a:solidFill>
                  <a:schemeClr val="accent2"/>
                </a:solidFill>
                <a:latin typeface="Google Sans"/>
                <a:ea typeface="+mn-ea"/>
                <a:cs typeface="+mn-cs"/>
              </a:rPr>
              <a:t>Snapshot Isolation: </a:t>
            </a:r>
            <a:r>
              <a:rPr lang="en-US" sz="1500" dirty="0">
                <a:solidFill>
                  <a:schemeClr val="accent6"/>
                </a:solidFill>
                <a:latin typeface="Google Sans"/>
                <a:ea typeface="+mn-ea"/>
                <a:cs typeface="+mn-cs"/>
              </a:rPr>
              <a:t>Each transaction acts on a consistent snapshot of the data, preventing dirty reads and improving data consistency.</a:t>
            </a:r>
          </a:p>
          <a:p>
            <a:r>
              <a:rPr lang="en-US" sz="1500" dirty="0">
                <a:solidFill>
                  <a:schemeClr val="accent2"/>
                </a:solidFill>
                <a:latin typeface="Google Sans"/>
                <a:ea typeface="+mn-ea"/>
                <a:cs typeface="+mn-cs"/>
              </a:rPr>
              <a:t>Version Management:</a:t>
            </a:r>
            <a:r>
              <a:rPr lang="en-US" sz="1500" dirty="0">
                <a:solidFill>
                  <a:schemeClr val="accent6"/>
                </a:solidFill>
                <a:latin typeface="Google Sans"/>
                <a:ea typeface="+mn-ea"/>
                <a:cs typeface="+mn-cs"/>
              </a:rPr>
              <a:t> When data is updated, a new version is created rather than overwriting the old one. Each version is typically timestamped to manage which version a transaction should read.</a:t>
            </a:r>
          </a:p>
          <a:p>
            <a:r>
              <a:rPr lang="en-US" sz="1500" dirty="0">
                <a:solidFill>
                  <a:schemeClr val="accent2"/>
                </a:solidFill>
                <a:latin typeface="Google Sans"/>
                <a:ea typeface="+mn-ea"/>
                <a:cs typeface="+mn-cs"/>
              </a:rPr>
              <a:t>Conflict Resolution:</a:t>
            </a:r>
            <a:r>
              <a:rPr lang="en-US" sz="1500" dirty="0">
                <a:solidFill>
                  <a:schemeClr val="accent6"/>
                </a:solidFill>
                <a:latin typeface="Google Sans"/>
                <a:ea typeface="+mn-ea"/>
                <a:cs typeface="+mn-cs"/>
              </a:rPr>
              <a:t> MVCC reduces the need for locking, which helps eliminate deadlocks, a major issue in distributed systems.</a:t>
            </a:r>
          </a:p>
          <a:p>
            <a:r>
              <a:rPr lang="en-US" sz="1500" dirty="0">
                <a:solidFill>
                  <a:schemeClr val="accent2"/>
                </a:solidFill>
                <a:latin typeface="Google Sans"/>
                <a:ea typeface="+mn-ea"/>
                <a:cs typeface="+mn-cs"/>
              </a:rPr>
              <a:t>Garbage Collection:</a:t>
            </a:r>
            <a:r>
              <a:rPr lang="en-US" sz="1500" dirty="0">
                <a:solidFill>
                  <a:schemeClr val="accent6"/>
                </a:solidFill>
                <a:latin typeface="Google Sans"/>
                <a:ea typeface="+mn-ea"/>
                <a:cs typeface="+mn-cs"/>
              </a:rPr>
              <a:t> Because multiple versions are kept, efficient garbage collection is necessary to remove obsolete data. </a:t>
            </a:r>
          </a:p>
          <a:p>
            <a:r>
              <a:rPr lang="en-US" sz="1500" dirty="0">
                <a:solidFill>
                  <a:schemeClr val="accent2"/>
                </a:solidFill>
                <a:latin typeface="Google Sans"/>
                <a:ea typeface="+mn-ea"/>
                <a:cs typeface="+mn-cs"/>
              </a:rPr>
              <a:t>Common Use Cases – </a:t>
            </a:r>
            <a:r>
              <a:rPr lang="en-US" sz="1500" dirty="0">
                <a:solidFill>
                  <a:schemeClr val="accent6"/>
                </a:solidFill>
                <a:latin typeface="Google Sans"/>
                <a:ea typeface="+mn-ea"/>
                <a:cs typeface="+mn-cs"/>
              </a:rPr>
              <a:t>PostgreSQL, </a:t>
            </a:r>
            <a:r>
              <a:rPr lang="en-US" sz="1500" dirty="0" err="1">
                <a:solidFill>
                  <a:schemeClr val="accent6"/>
                </a:solidFill>
                <a:latin typeface="Google Sans"/>
                <a:ea typeface="+mn-ea"/>
                <a:cs typeface="+mn-cs"/>
              </a:rPr>
              <a:t>CockroachDB</a:t>
            </a:r>
            <a:r>
              <a:rPr lang="en-US" sz="1500" dirty="0">
                <a:solidFill>
                  <a:schemeClr val="accent6"/>
                </a:solidFill>
                <a:latin typeface="Google Sans"/>
                <a:ea typeface="+mn-ea"/>
                <a:cs typeface="+mn-cs"/>
              </a:rPr>
              <a:t>, </a:t>
            </a:r>
            <a:r>
              <a:rPr lang="en-US" sz="1500" dirty="0" err="1">
                <a:solidFill>
                  <a:schemeClr val="accent6"/>
                </a:solidFill>
                <a:latin typeface="Google Sans"/>
                <a:ea typeface="+mn-ea"/>
                <a:cs typeface="+mn-cs"/>
              </a:rPr>
              <a:t>TiDB</a:t>
            </a:r>
            <a:r>
              <a:rPr lang="en-US" sz="1500" dirty="0">
                <a:solidFill>
                  <a:schemeClr val="accent6"/>
                </a:solidFill>
                <a:latin typeface="Google Sans"/>
                <a:ea typeface="+mn-ea"/>
                <a:cs typeface="+mn-cs"/>
              </a:rPr>
              <a:t> and Oracle/Aurora MySQL </a:t>
            </a:r>
            <a:endParaRPr lang="en-US" sz="1500" dirty="0">
              <a:solidFill>
                <a:schemeClr val="accent2"/>
              </a:solidFill>
              <a:latin typeface="Google Sans"/>
              <a:ea typeface="+mn-ea"/>
              <a:cs typeface="+mn-cs"/>
            </a:endParaRPr>
          </a:p>
          <a:p>
            <a:r>
              <a:rPr lang="en-US" sz="1500" dirty="0">
                <a:solidFill>
                  <a:schemeClr val="accent2"/>
                </a:solidFill>
                <a:latin typeface="Google Sans"/>
                <a:ea typeface="+mn-ea"/>
                <a:cs typeface="+mn-cs"/>
              </a:rPr>
              <a:t>Advantages</a:t>
            </a:r>
          </a:p>
          <a:p>
            <a:r>
              <a:rPr lang="en-US" sz="1500" dirty="0">
                <a:solidFill>
                  <a:schemeClr val="accent6"/>
                </a:solidFill>
                <a:latin typeface="Google Sans"/>
                <a:ea typeface="+mn-ea"/>
                <a:cs typeface="+mn-cs"/>
              </a:rPr>
              <a:t>High Concurrency: Increased throughput due to fewer read-write conflicts.</a:t>
            </a:r>
          </a:p>
          <a:p>
            <a:r>
              <a:rPr lang="en-US" sz="1500" dirty="0">
                <a:solidFill>
                  <a:schemeClr val="accent6"/>
                </a:solidFill>
                <a:latin typeface="Google Sans"/>
                <a:ea typeface="+mn-ea"/>
                <a:cs typeface="+mn-cs"/>
              </a:rPr>
              <a:t>Improved Performance: Better performance in read-heavy, distributed workloads.</a:t>
            </a:r>
          </a:p>
          <a:p>
            <a:r>
              <a:rPr lang="en-US" sz="1500" dirty="0">
                <a:solidFill>
                  <a:schemeClr val="accent6"/>
                </a:solidFill>
                <a:latin typeface="Google Sans"/>
                <a:ea typeface="+mn-ea"/>
                <a:cs typeface="+mn-cs"/>
              </a:rPr>
              <a:t>Data Consistency: Guarantees a consistent view of data for transactions. </a:t>
            </a:r>
          </a:p>
        </p:txBody>
      </p:sp>
    </p:spTree>
    <p:extLst>
      <p:ext uri="{BB962C8B-B14F-4D97-AF65-F5344CB8AC3E}">
        <p14:creationId xmlns:p14="http://schemas.microsoft.com/office/powerpoint/2010/main" val="3520129654"/>
      </p:ext>
    </p:extLst>
  </p:cSld>
  <p:clrMapOvr>
    <a:masterClrMapping/>
  </p:clrMapOvr>
</p:sld>
</file>

<file path=ppt/slides/slide4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069B-854C-794B-5E2F-0CFBCDC8604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34C4B2A-3C64-7E97-58C2-67CCC00ECE5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05AEED7-8456-E587-4319-0EF7795D394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F385884-565D-DBC2-1EC0-46C91A7A6E5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3ECD9FC4-3144-754F-906E-DC98197EC1DB}"/>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EE2DF694-C74E-E7AB-9D84-4A8E0FE411D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FA539108-72AE-7C67-C29C-5D5C9C9F9A6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
        <p:nvSpPr>
          <p:cNvPr id="17" name="object 2">
            <a:extLst>
              <a:ext uri="{FF2B5EF4-FFF2-40B4-BE49-F238E27FC236}">
                <a16:creationId xmlns:a16="http://schemas.microsoft.com/office/drawing/2014/main" id="{9F1D4294-9424-8D6F-887A-5310052B04CF}"/>
              </a:ext>
            </a:extLst>
          </p:cNvPr>
          <p:cNvSpPr txBox="1">
            <a:spLocks/>
          </p:cNvSpPr>
          <p:nvPr/>
        </p:nvSpPr>
        <p:spPr>
          <a:xfrm>
            <a:off x="20320" y="676592"/>
            <a:ext cx="9168589"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Distributed Locking</a:t>
            </a:r>
          </a:p>
        </p:txBody>
      </p:sp>
      <p:pic>
        <p:nvPicPr>
          <p:cNvPr id="6" name="Picture 5">
            <a:extLst>
              <a:ext uri="{FF2B5EF4-FFF2-40B4-BE49-F238E27FC236}">
                <a16:creationId xmlns:a16="http://schemas.microsoft.com/office/drawing/2014/main" id="{39E35136-D670-8CEE-C0F1-CEF3E6D345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09769"/>
            <a:ext cx="9059258" cy="1733431"/>
          </a:xfrm>
          <a:prstGeom prst="rect">
            <a:avLst/>
          </a:prstGeom>
        </p:spPr>
      </p:pic>
      <p:pic>
        <p:nvPicPr>
          <p:cNvPr id="9" name="Picture 8">
            <a:extLst>
              <a:ext uri="{FF2B5EF4-FFF2-40B4-BE49-F238E27FC236}">
                <a16:creationId xmlns:a16="http://schemas.microsoft.com/office/drawing/2014/main" id="{A38D6507-7F88-D652-FF27-BD6FE60510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2768601"/>
            <a:ext cx="8967009" cy="1733432"/>
          </a:xfrm>
          <a:prstGeom prst="rect">
            <a:avLst/>
          </a:prstGeom>
        </p:spPr>
      </p:pic>
      <p:pic>
        <p:nvPicPr>
          <p:cNvPr id="13" name="Picture 12">
            <a:extLst>
              <a:ext uri="{FF2B5EF4-FFF2-40B4-BE49-F238E27FC236}">
                <a16:creationId xmlns:a16="http://schemas.microsoft.com/office/drawing/2014/main" id="{D7BB9050-0A64-B917-7002-9FD1C6FE51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 y="4502033"/>
            <a:ext cx="8967009" cy="1441567"/>
          </a:xfrm>
          <a:prstGeom prst="rect">
            <a:avLst/>
          </a:prstGeom>
        </p:spPr>
      </p:pic>
    </p:spTree>
    <p:extLst>
      <p:ext uri="{BB962C8B-B14F-4D97-AF65-F5344CB8AC3E}">
        <p14:creationId xmlns:p14="http://schemas.microsoft.com/office/powerpoint/2010/main" val="2960823219"/>
      </p:ext>
    </p:extLst>
  </p:cSld>
  <p:clrMapOvr>
    <a:masterClrMapping/>
  </p:clrMapOvr>
</p:sld>
</file>

<file path=ppt/slides/slide4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B3E28-D437-8F44-EE10-1417F122694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1559949-2992-4881-0D5D-0DD57117609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3300643-FF01-9CBB-B1C3-AF6917FF572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1FBE781-E9E9-4CB3-0FF3-395A5659568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8" name="Group 7">
            <a:extLst>
              <a:ext uri="{FF2B5EF4-FFF2-40B4-BE49-F238E27FC236}">
                <a16:creationId xmlns:a16="http://schemas.microsoft.com/office/drawing/2014/main" id="{B8AA289D-5033-13BA-BDDD-96AE52AB568B}"/>
              </a:ext>
            </a:extLst>
          </p:cNvPr>
          <p:cNvGrpSpPr/>
          <p:nvPr/>
        </p:nvGrpSpPr>
        <p:grpSpPr>
          <a:xfrm>
            <a:off x="20320" y="-30047"/>
            <a:ext cx="9123680" cy="481253"/>
            <a:chOff x="0" y="0"/>
            <a:chExt cx="8716300" cy="481253"/>
          </a:xfrm>
        </p:grpSpPr>
        <p:sp>
          <p:nvSpPr>
            <p:cNvPr id="10" name="Rectangle: Rounded Corners 9">
              <a:extLst>
                <a:ext uri="{FF2B5EF4-FFF2-40B4-BE49-F238E27FC236}">
                  <a16:creationId xmlns:a16="http://schemas.microsoft.com/office/drawing/2014/main" id="{E341B4DA-4B58-9526-D05C-0FAAA2C3BFA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11" name="Rectangle: Rounded Corners 4">
              <a:extLst>
                <a:ext uri="{FF2B5EF4-FFF2-40B4-BE49-F238E27FC236}">
                  <a16:creationId xmlns:a16="http://schemas.microsoft.com/office/drawing/2014/main" id="{3727084B-1191-2C53-9D3F-1967093EA15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
        <p:nvSpPr>
          <p:cNvPr id="17" name="object 2">
            <a:extLst>
              <a:ext uri="{FF2B5EF4-FFF2-40B4-BE49-F238E27FC236}">
                <a16:creationId xmlns:a16="http://schemas.microsoft.com/office/drawing/2014/main" id="{A0963D5F-C125-A629-E705-FEFE76C1B11B}"/>
              </a:ext>
            </a:extLst>
          </p:cNvPr>
          <p:cNvSpPr txBox="1">
            <a:spLocks/>
          </p:cNvSpPr>
          <p:nvPr/>
        </p:nvSpPr>
        <p:spPr>
          <a:xfrm>
            <a:off x="20320" y="676592"/>
            <a:ext cx="9168589"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Distributed Locking</a:t>
            </a:r>
          </a:p>
        </p:txBody>
      </p:sp>
      <p:pic>
        <p:nvPicPr>
          <p:cNvPr id="15" name="Picture 14">
            <a:extLst>
              <a:ext uri="{FF2B5EF4-FFF2-40B4-BE49-F238E27FC236}">
                <a16:creationId xmlns:a16="http://schemas.microsoft.com/office/drawing/2014/main" id="{16B99245-23D4-46DA-F062-17CF9F2176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51" y="1051361"/>
            <a:ext cx="9168589" cy="308016"/>
          </a:xfrm>
          <a:prstGeom prst="rect">
            <a:avLst/>
          </a:prstGeom>
        </p:spPr>
      </p:pic>
      <p:pic>
        <p:nvPicPr>
          <p:cNvPr id="18" name="Picture 17">
            <a:extLst>
              <a:ext uri="{FF2B5EF4-FFF2-40B4-BE49-F238E27FC236}">
                <a16:creationId xmlns:a16="http://schemas.microsoft.com/office/drawing/2014/main" id="{E023E97F-8DC9-FAD7-5A29-4E7CBDBB19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500663"/>
            <a:ext cx="9036509" cy="2099678"/>
          </a:xfrm>
          <a:prstGeom prst="rect">
            <a:avLst/>
          </a:prstGeom>
        </p:spPr>
      </p:pic>
      <p:pic>
        <p:nvPicPr>
          <p:cNvPr id="20" name="Picture 19">
            <a:extLst>
              <a:ext uri="{FF2B5EF4-FFF2-40B4-BE49-F238E27FC236}">
                <a16:creationId xmlns:a16="http://schemas.microsoft.com/office/drawing/2014/main" id="{645A9E7A-486C-E1E4-2F5A-0548701935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 y="3600341"/>
            <a:ext cx="8763000" cy="1428859"/>
          </a:xfrm>
          <a:prstGeom prst="rect">
            <a:avLst/>
          </a:prstGeom>
        </p:spPr>
      </p:pic>
      <p:sp>
        <p:nvSpPr>
          <p:cNvPr id="22" name="object 2">
            <a:extLst>
              <a:ext uri="{FF2B5EF4-FFF2-40B4-BE49-F238E27FC236}">
                <a16:creationId xmlns:a16="http://schemas.microsoft.com/office/drawing/2014/main" id="{A27A7A4C-8B10-4C63-04C2-5B7F415545F4}"/>
              </a:ext>
            </a:extLst>
          </p:cNvPr>
          <p:cNvSpPr txBox="1">
            <a:spLocks/>
          </p:cNvSpPr>
          <p:nvPr/>
        </p:nvSpPr>
        <p:spPr>
          <a:xfrm>
            <a:off x="20320" y="5020270"/>
            <a:ext cx="9168589" cy="92333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2"/>
                </a:solidFill>
                <a:latin typeface="Google Sans"/>
                <a:ea typeface="+mn-ea"/>
                <a:cs typeface="+mn-cs"/>
              </a:rPr>
              <a:t>Key Takeaway:</a:t>
            </a:r>
            <a:br>
              <a:rPr lang="en-US" sz="1500" dirty="0">
                <a:solidFill>
                  <a:schemeClr val="accent6"/>
                </a:solidFill>
                <a:latin typeface="Google Sans"/>
                <a:ea typeface="+mn-ea"/>
                <a:cs typeface="+mn-cs"/>
              </a:rPr>
            </a:br>
            <a:r>
              <a:rPr lang="en-US" sz="1500" dirty="0">
                <a:solidFill>
                  <a:schemeClr val="accent6"/>
                </a:solidFill>
                <a:latin typeface="Google Sans"/>
                <a:ea typeface="+mn-ea"/>
                <a:cs typeface="+mn-cs"/>
              </a:rPr>
              <a:t>The primary distinction lies in their progress guarantees. Lock-based systems can halt entirely if a lock holder fails. Lock-free systems guarantee some system-wide progress, while wait-free systems guarantee progress for every individual process. Wait-free is the strongest, but most complex, guarantee. </a:t>
            </a:r>
          </a:p>
        </p:txBody>
      </p:sp>
    </p:spTree>
    <p:extLst>
      <p:ext uri="{BB962C8B-B14F-4D97-AF65-F5344CB8AC3E}">
        <p14:creationId xmlns:p14="http://schemas.microsoft.com/office/powerpoint/2010/main" val="521357633"/>
      </p:ext>
    </p:extLst>
  </p:cSld>
  <p:clrMapOvr>
    <a:masterClrMapping/>
  </p:clrMapOvr>
</p:sld>
</file>

<file path=ppt/slides/slide4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7773E-182C-2FEB-E597-379920E70F0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BFC355B-FFDE-DC86-CB62-987B4F1616C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40167A0-52DA-83E9-507C-19EF70B33FC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BD5E5E5-EF62-D21C-9B51-C526B58E14A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771EBF95-41A9-00CA-4D10-B8FA604F374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BD1DC95-1B5B-2EAF-BE75-4CF816E8C07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11C045B8-419C-9191-E284-D254D8F008A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
        <p:nvSpPr>
          <p:cNvPr id="6" name="object 2">
            <a:extLst>
              <a:ext uri="{FF2B5EF4-FFF2-40B4-BE49-F238E27FC236}">
                <a16:creationId xmlns:a16="http://schemas.microsoft.com/office/drawing/2014/main" id="{302FC13D-66E1-B1D5-DCF2-1576FB2F4F2C}"/>
              </a:ext>
            </a:extLst>
          </p:cNvPr>
          <p:cNvSpPr txBox="1">
            <a:spLocks/>
          </p:cNvSpPr>
          <p:nvPr/>
        </p:nvSpPr>
        <p:spPr>
          <a:xfrm>
            <a:off x="20320" y="723264"/>
            <a:ext cx="9168589" cy="284693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Group Membership</a:t>
            </a:r>
          </a:p>
          <a:p>
            <a:r>
              <a:rPr lang="en-US" sz="1500" dirty="0">
                <a:solidFill>
                  <a:schemeClr val="accent6"/>
                </a:solidFill>
                <a:latin typeface="Google Sans"/>
                <a:ea typeface="+mn-ea"/>
                <a:cs typeface="+mn-cs"/>
              </a:rPr>
              <a:t>In distributed systems, group membership is a mechanism to maintain a current list of active nodes (members) that should receive messages. </a:t>
            </a:r>
          </a:p>
          <a:p>
            <a:r>
              <a:rPr lang="en-US" sz="1500" dirty="0">
                <a:solidFill>
                  <a:schemeClr val="accent2"/>
                </a:solidFill>
                <a:latin typeface="Google Sans"/>
                <a:ea typeface="+mn-ea"/>
                <a:cs typeface="+mn-cs"/>
              </a:rPr>
              <a:t>Multicast Groups:</a:t>
            </a:r>
            <a:r>
              <a:rPr lang="en-US" sz="1500" dirty="0">
                <a:solidFill>
                  <a:schemeClr val="accent6"/>
                </a:solidFill>
                <a:latin typeface="Google Sans"/>
                <a:ea typeface="+mn-ea"/>
                <a:cs typeface="+mn-cs"/>
              </a:rPr>
              <a:t> Nodes must explicitly join a multicast group (using protocols like IGMP/MLD) to receive messages. The network only delivers traffic to members of this group, optimizing bandwidth.</a:t>
            </a:r>
          </a:p>
          <a:p>
            <a:r>
              <a:rPr lang="en-US" sz="1500" dirty="0">
                <a:solidFill>
                  <a:schemeClr val="accent2"/>
                </a:solidFill>
                <a:latin typeface="Google Sans"/>
                <a:ea typeface="+mn-ea"/>
                <a:cs typeface="+mn-cs"/>
              </a:rPr>
              <a:t>Anycast Groups:</a:t>
            </a:r>
            <a:r>
              <a:rPr lang="en-US" sz="1500" dirty="0">
                <a:solidFill>
                  <a:schemeClr val="accent6"/>
                </a:solidFill>
                <a:latin typeface="Google Sans"/>
                <a:ea typeface="+mn-ea"/>
                <a:cs typeface="+mn-cs"/>
              </a:rPr>
              <a:t> Membership is logical. Multiple servers share the same IP address. Routers and routing protocols (like BGP) determine the "nearest" group member based on hop count or latency.</a:t>
            </a:r>
          </a:p>
          <a:p>
            <a:r>
              <a:rPr lang="en-US" sz="1500" dirty="0">
                <a:solidFill>
                  <a:schemeClr val="accent2"/>
                </a:solidFill>
                <a:latin typeface="Google Sans"/>
                <a:ea typeface="+mn-ea"/>
                <a:cs typeface="+mn-cs"/>
              </a:rPr>
              <a:t>Broadcast Groups: </a:t>
            </a:r>
            <a:r>
              <a:rPr lang="en-US" sz="1500" dirty="0">
                <a:solidFill>
                  <a:schemeClr val="accent6"/>
                </a:solidFill>
                <a:latin typeface="Google Sans"/>
                <a:ea typeface="+mn-ea"/>
                <a:cs typeface="+mn-cs"/>
              </a:rPr>
              <a:t>Every node in the network segment is automatically a member. No membership management is required, making it simple but inefficient.</a:t>
            </a:r>
          </a:p>
          <a:p>
            <a:r>
              <a:rPr lang="en-US" sz="1500" dirty="0">
                <a:solidFill>
                  <a:schemeClr val="accent2"/>
                </a:solidFill>
                <a:latin typeface="Google Sans"/>
                <a:ea typeface="+mn-ea"/>
                <a:cs typeface="+mn-cs"/>
              </a:rPr>
              <a:t>Unicast/Application-Level Groups: </a:t>
            </a:r>
            <a:r>
              <a:rPr lang="en-US" sz="1500" dirty="0">
                <a:solidFill>
                  <a:schemeClr val="accent6"/>
                </a:solidFill>
                <a:latin typeface="Google Sans"/>
                <a:ea typeface="+mn-ea"/>
                <a:cs typeface="+mn-cs"/>
              </a:rPr>
              <a:t>If network-level multicast/anycast is not used, applications manage membership themselves, often using a gossip protocol or a centralized coordinator (like Zookeeper) to send individual unicast messages to each member. </a:t>
            </a:r>
          </a:p>
        </p:txBody>
      </p:sp>
      <p:pic>
        <p:nvPicPr>
          <p:cNvPr id="13" name="Picture 12">
            <a:extLst>
              <a:ext uri="{FF2B5EF4-FFF2-40B4-BE49-F238E27FC236}">
                <a16:creationId xmlns:a16="http://schemas.microsoft.com/office/drawing/2014/main" id="{FFE03D91-1B59-BF28-8302-D3395B9B44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11" y="3570197"/>
            <a:ext cx="9074497" cy="2373403"/>
          </a:xfrm>
          <a:prstGeom prst="rect">
            <a:avLst/>
          </a:prstGeom>
        </p:spPr>
      </p:pic>
    </p:spTree>
    <p:extLst>
      <p:ext uri="{BB962C8B-B14F-4D97-AF65-F5344CB8AC3E}">
        <p14:creationId xmlns:p14="http://schemas.microsoft.com/office/powerpoint/2010/main" val="3595137419"/>
      </p:ext>
    </p:extLst>
  </p:cSld>
  <p:clrMapOvr>
    <a:masterClrMapping/>
  </p:clrMapOvr>
</p:sld>
</file>

<file path=ppt/slides/slide4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4A2DF-FD30-CB7B-76FA-584BD82492C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59BC874-3C1F-38D2-F6D5-716FE915561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74BB8EA-82ED-1173-85F8-8C6552F0750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E27C8E8-F5D1-BD0A-4B40-AEF9FF60C3E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2673D0A4-E7B5-6DFA-3D5C-A6E629D31ADE}"/>
              </a:ext>
            </a:extLst>
          </p:cNvPr>
          <p:cNvSpPr txBox="1">
            <a:spLocks/>
          </p:cNvSpPr>
          <p:nvPr/>
        </p:nvSpPr>
        <p:spPr>
          <a:xfrm>
            <a:off x="76200" y="697468"/>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Group Membership</a:t>
            </a:r>
          </a:p>
        </p:txBody>
      </p:sp>
      <p:grpSp>
        <p:nvGrpSpPr>
          <p:cNvPr id="7" name="Group 6">
            <a:extLst>
              <a:ext uri="{FF2B5EF4-FFF2-40B4-BE49-F238E27FC236}">
                <a16:creationId xmlns:a16="http://schemas.microsoft.com/office/drawing/2014/main" id="{94FF2A22-10DD-8114-5F6F-14A9A30D6F2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19D7D8E-4A2B-8033-8190-373882B195C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6D09F9EE-CB17-AD55-9BF7-189DAFB88A8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pic>
        <p:nvPicPr>
          <p:cNvPr id="12" name="Picture 11">
            <a:extLst>
              <a:ext uri="{FF2B5EF4-FFF2-40B4-BE49-F238E27FC236}">
                <a16:creationId xmlns:a16="http://schemas.microsoft.com/office/drawing/2014/main" id="{DA98A751-95BE-9C11-2009-79FDB1DAE2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80" y="1034057"/>
            <a:ext cx="8910320" cy="470631"/>
          </a:xfrm>
          <a:prstGeom prst="rect">
            <a:avLst/>
          </a:prstGeom>
        </p:spPr>
      </p:pic>
      <p:pic>
        <p:nvPicPr>
          <p:cNvPr id="18" name="Picture 17">
            <a:extLst>
              <a:ext uri="{FF2B5EF4-FFF2-40B4-BE49-F238E27FC236}">
                <a16:creationId xmlns:a16="http://schemas.microsoft.com/office/drawing/2014/main" id="{72FA0B4F-7C42-F430-119F-BB20A39EAA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8600" y="1482649"/>
            <a:ext cx="8624937" cy="1870151"/>
          </a:xfrm>
          <a:prstGeom prst="rect">
            <a:avLst/>
          </a:prstGeom>
        </p:spPr>
      </p:pic>
      <p:sp>
        <p:nvSpPr>
          <p:cNvPr id="19" name="object 2">
            <a:extLst>
              <a:ext uri="{FF2B5EF4-FFF2-40B4-BE49-F238E27FC236}">
                <a16:creationId xmlns:a16="http://schemas.microsoft.com/office/drawing/2014/main" id="{F1E613C2-C526-2B2A-B527-08FDCA23578C}"/>
              </a:ext>
            </a:extLst>
          </p:cNvPr>
          <p:cNvSpPr txBox="1">
            <a:spLocks/>
          </p:cNvSpPr>
          <p:nvPr/>
        </p:nvSpPr>
        <p:spPr>
          <a:xfrm>
            <a:off x="137369" y="3493615"/>
            <a:ext cx="8624937" cy="123110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ea typeface="+mn-ea"/>
                <a:cs typeface="+mn-cs"/>
              </a:rPr>
              <a:t>Summary of Differences</a:t>
            </a:r>
          </a:p>
          <a:p>
            <a:pPr marL="12700" marR="5080"/>
            <a:r>
              <a:rPr lang="en-US" sz="1500" dirty="0">
                <a:solidFill>
                  <a:schemeClr val="accent2"/>
                </a:solidFill>
                <a:latin typeface="Google Sans"/>
                <a:ea typeface="+mn-ea"/>
                <a:cs typeface="+mn-cs"/>
              </a:rPr>
              <a:t>Unicast: </a:t>
            </a:r>
            <a:r>
              <a:rPr lang="en-US" sz="1500" dirty="0">
                <a:solidFill>
                  <a:schemeClr val="accent6"/>
                </a:solidFill>
                <a:latin typeface="Google Sans"/>
                <a:ea typeface="+mn-ea"/>
                <a:cs typeface="+mn-cs"/>
              </a:rPr>
              <a:t>Direct, private, and session-based.</a:t>
            </a:r>
          </a:p>
          <a:p>
            <a:pPr marL="12700" marR="5080"/>
            <a:r>
              <a:rPr lang="en-US" sz="1500" dirty="0">
                <a:solidFill>
                  <a:schemeClr val="accent2"/>
                </a:solidFill>
                <a:latin typeface="Google Sans"/>
                <a:ea typeface="+mn-ea"/>
                <a:cs typeface="+mn-cs"/>
              </a:rPr>
              <a:t>Anycast:</a:t>
            </a:r>
            <a:r>
              <a:rPr lang="en-US" sz="1500" dirty="0">
                <a:solidFill>
                  <a:schemeClr val="accent6"/>
                </a:solidFill>
                <a:latin typeface="Google Sans"/>
                <a:ea typeface="+mn-ea"/>
                <a:cs typeface="+mn-cs"/>
              </a:rPr>
              <a:t> One-to-nearest; used for high availability.</a:t>
            </a:r>
          </a:p>
          <a:p>
            <a:pPr marL="12700" marR="5080"/>
            <a:r>
              <a:rPr lang="en-US" sz="1500" dirty="0">
                <a:solidFill>
                  <a:schemeClr val="accent2"/>
                </a:solidFill>
                <a:latin typeface="Google Sans"/>
                <a:ea typeface="+mn-ea"/>
                <a:cs typeface="+mn-cs"/>
              </a:rPr>
              <a:t>Multicast: </a:t>
            </a:r>
            <a:r>
              <a:rPr lang="en-US" sz="1500" dirty="0">
                <a:solidFill>
                  <a:schemeClr val="accent6"/>
                </a:solidFill>
                <a:latin typeface="Google Sans"/>
                <a:ea typeface="+mn-ea"/>
                <a:cs typeface="+mn-cs"/>
              </a:rPr>
              <a:t>One-to-many; efficient for group communication.</a:t>
            </a:r>
          </a:p>
          <a:p>
            <a:pPr marL="12700" marR="5080"/>
            <a:r>
              <a:rPr lang="en-US" sz="1500" dirty="0">
                <a:solidFill>
                  <a:schemeClr val="accent2"/>
                </a:solidFill>
                <a:latin typeface="Google Sans"/>
                <a:ea typeface="+mn-ea"/>
                <a:cs typeface="+mn-cs"/>
              </a:rPr>
              <a:t>Broadcast: </a:t>
            </a:r>
            <a:r>
              <a:rPr lang="en-US" sz="1500" dirty="0">
                <a:solidFill>
                  <a:schemeClr val="accent6"/>
                </a:solidFill>
                <a:latin typeface="Google Sans"/>
                <a:ea typeface="+mn-ea"/>
                <a:cs typeface="+mn-cs"/>
              </a:rPr>
              <a:t>One-to-all; restricted to local subnet, high overhead. </a:t>
            </a:r>
          </a:p>
        </p:txBody>
      </p:sp>
    </p:spTree>
    <p:extLst>
      <p:ext uri="{BB962C8B-B14F-4D97-AF65-F5344CB8AC3E}">
        <p14:creationId xmlns:p14="http://schemas.microsoft.com/office/powerpoint/2010/main" val="4161182285"/>
      </p:ext>
    </p:extLst>
  </p:cSld>
  <p:clrMapOvr>
    <a:masterClrMapping/>
  </p:clrMapOvr>
</p:sld>
</file>

<file path=ppt/slides/slide4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D40F31-7991-C50D-CF4E-53EAFE789A8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D06844C-2C43-F91C-2990-DED13D24AFA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F5FA288-925B-A53F-DCE0-209E288B89F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68A23C4-17C4-9A6C-D97A-5F1066C7BAA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89278DBA-B74E-A84C-83F1-A9FD5702CAD7}"/>
              </a:ext>
            </a:extLst>
          </p:cNvPr>
          <p:cNvSpPr txBox="1">
            <a:spLocks/>
          </p:cNvSpPr>
          <p:nvPr/>
        </p:nvSpPr>
        <p:spPr>
          <a:xfrm>
            <a:off x="76200" y="697468"/>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Group Membership</a:t>
            </a:r>
          </a:p>
        </p:txBody>
      </p:sp>
      <p:grpSp>
        <p:nvGrpSpPr>
          <p:cNvPr id="7" name="Group 6">
            <a:extLst>
              <a:ext uri="{FF2B5EF4-FFF2-40B4-BE49-F238E27FC236}">
                <a16:creationId xmlns:a16="http://schemas.microsoft.com/office/drawing/2014/main" id="{DDF55D4F-5E66-BDBC-C08C-1970748B5052}"/>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7710231-9941-5232-B350-2A066A1777A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3D087EE3-E12A-AEC0-3FB4-CAE909DB08B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pic>
        <p:nvPicPr>
          <p:cNvPr id="10" name="Picture 9">
            <a:extLst>
              <a:ext uri="{FF2B5EF4-FFF2-40B4-BE49-F238E27FC236}">
                <a16:creationId xmlns:a16="http://schemas.microsoft.com/office/drawing/2014/main" id="{FC36DEF8-B95E-93DC-CCCA-95EFB2414E65}"/>
              </a:ext>
            </a:extLst>
          </p:cNvPr>
          <p:cNvPicPr>
            <a:picLocks noChangeAspect="1"/>
          </p:cNvPicPr>
          <p:nvPr/>
        </p:nvPicPr>
        <p:blipFill>
          <a:blip r:embed="rId2"/>
          <a:stretch>
            <a:fillRect/>
          </a:stretch>
        </p:blipFill>
        <p:spPr>
          <a:xfrm>
            <a:off x="76200" y="1005245"/>
            <a:ext cx="8762999" cy="1904274"/>
          </a:xfrm>
          <a:prstGeom prst="rect">
            <a:avLst/>
          </a:prstGeom>
        </p:spPr>
      </p:pic>
      <p:sp>
        <p:nvSpPr>
          <p:cNvPr id="6" name="object 2">
            <a:extLst>
              <a:ext uri="{FF2B5EF4-FFF2-40B4-BE49-F238E27FC236}">
                <a16:creationId xmlns:a16="http://schemas.microsoft.com/office/drawing/2014/main" id="{43AC0297-63DA-30DC-C4ED-8FC800D17272}"/>
              </a:ext>
            </a:extLst>
          </p:cNvPr>
          <p:cNvSpPr txBox="1">
            <a:spLocks/>
          </p:cNvSpPr>
          <p:nvPr/>
        </p:nvSpPr>
        <p:spPr>
          <a:xfrm>
            <a:off x="76200" y="3132376"/>
            <a:ext cx="8624937" cy="283154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dirty="0">
                <a:solidFill>
                  <a:schemeClr val="accent2"/>
                </a:solidFill>
                <a:latin typeface="Google Sans"/>
                <a:ea typeface="+mn-ea"/>
                <a:cs typeface="+mn-cs"/>
              </a:rPr>
              <a:t>Unicast (TCP/UDP)</a:t>
            </a:r>
          </a:p>
          <a:p>
            <a:pPr marL="12700" marR="5080"/>
            <a:r>
              <a:rPr lang="en-US" sz="1500" dirty="0">
                <a:solidFill>
                  <a:schemeClr val="accent2"/>
                </a:solidFill>
                <a:latin typeface="Google Sans"/>
                <a:ea typeface="+mn-ea"/>
                <a:cs typeface="+mn-cs"/>
              </a:rPr>
              <a:t>How it works: </a:t>
            </a:r>
            <a:r>
              <a:rPr lang="en-US" sz="1500" dirty="0">
                <a:solidFill>
                  <a:schemeClr val="accent6"/>
                </a:solidFill>
                <a:latin typeface="Google Sans"/>
                <a:ea typeface="+mn-ea"/>
                <a:cs typeface="+mn-cs"/>
              </a:rPr>
              <a:t>Nodes send individual messages to a central leader or to each other.</a:t>
            </a:r>
          </a:p>
          <a:p>
            <a:pPr marL="12700" marR="5080"/>
            <a:r>
              <a:rPr lang="en-US" sz="1500" dirty="0">
                <a:solidFill>
                  <a:schemeClr val="accent2"/>
                </a:solidFill>
                <a:latin typeface="Google Sans"/>
                <a:ea typeface="+mn-ea"/>
                <a:cs typeface="+mn-cs"/>
              </a:rPr>
              <a:t>Membership Role: </a:t>
            </a:r>
            <a:r>
              <a:rPr lang="en-US" sz="1500" dirty="0">
                <a:solidFill>
                  <a:schemeClr val="accent6"/>
                </a:solidFill>
                <a:latin typeface="Google Sans"/>
                <a:ea typeface="+mn-ea"/>
                <a:cs typeface="+mn-cs"/>
              </a:rPr>
              <a:t>Used in </a:t>
            </a:r>
            <a:r>
              <a:rPr lang="en-US" sz="1500" dirty="0" err="1">
                <a:solidFill>
                  <a:schemeClr val="accent6"/>
                </a:solidFill>
                <a:latin typeface="Google Sans"/>
                <a:ea typeface="+mn-ea"/>
                <a:cs typeface="+mn-cs"/>
              </a:rPr>
              <a:t>heartbeating</a:t>
            </a:r>
            <a:r>
              <a:rPr lang="en-US" sz="1500" dirty="0">
                <a:solidFill>
                  <a:schemeClr val="accent6"/>
                </a:solidFill>
                <a:latin typeface="Google Sans"/>
                <a:ea typeface="+mn-ea"/>
                <a:cs typeface="+mn-cs"/>
              </a:rPr>
              <a:t> for failure detection in systems like </a:t>
            </a:r>
            <a:r>
              <a:rPr lang="en-US" sz="1500" dirty="0" err="1">
                <a:solidFill>
                  <a:schemeClr val="accent6"/>
                </a:solidFill>
                <a:latin typeface="Google Sans"/>
                <a:ea typeface="+mn-ea"/>
                <a:cs typeface="+mn-cs"/>
              </a:rPr>
              <a:t>ZooKeeper</a:t>
            </a:r>
            <a:r>
              <a:rPr lang="en-US" sz="1500" dirty="0">
                <a:solidFill>
                  <a:schemeClr val="accent6"/>
                </a:solidFill>
                <a:latin typeface="Google Sans"/>
                <a:ea typeface="+mn-ea"/>
                <a:cs typeface="+mn-cs"/>
              </a:rPr>
              <a:t> or Consul.</a:t>
            </a:r>
          </a:p>
          <a:p>
            <a:pPr marL="12700" marR="5080"/>
            <a:r>
              <a:rPr lang="en-US" sz="1500" dirty="0">
                <a:solidFill>
                  <a:schemeClr val="accent2"/>
                </a:solidFill>
                <a:latin typeface="Google Sans"/>
                <a:ea typeface="+mn-ea"/>
                <a:cs typeface="+mn-cs"/>
              </a:rPr>
              <a:t>Pros: </a:t>
            </a:r>
            <a:r>
              <a:rPr lang="en-US" sz="1500" dirty="0">
                <a:solidFill>
                  <a:schemeClr val="accent6"/>
                </a:solidFill>
                <a:latin typeface="Google Sans"/>
                <a:ea typeface="+mn-ea"/>
                <a:cs typeface="+mn-cs"/>
              </a:rPr>
              <a:t>Reliable (TCP), easy to implement.</a:t>
            </a:r>
          </a:p>
          <a:p>
            <a:pPr marL="12700" marR="5080"/>
            <a:r>
              <a:rPr lang="en-US" sz="1500" dirty="0">
                <a:solidFill>
                  <a:schemeClr val="accent2"/>
                </a:solidFill>
                <a:latin typeface="Google Sans"/>
                <a:ea typeface="+mn-ea"/>
                <a:cs typeface="+mn-cs"/>
              </a:rPr>
              <a:t>Cons: </a:t>
            </a:r>
            <a:r>
              <a:rPr lang="en-US" sz="1500" dirty="0">
                <a:solidFill>
                  <a:schemeClr val="accent6"/>
                </a:solidFill>
                <a:latin typeface="Google Sans"/>
                <a:ea typeface="+mn-ea"/>
                <a:cs typeface="+mn-cs"/>
              </a:rPr>
              <a:t>Not scalable (</a:t>
            </a:r>
          </a:p>
          <a:p>
            <a:pPr marL="12700" marR="5080"/>
            <a:r>
              <a:rPr lang="en-US" sz="1500" dirty="0">
                <a:solidFill>
                  <a:schemeClr val="accent6"/>
                </a:solidFill>
                <a:latin typeface="Google Sans"/>
                <a:ea typeface="+mn-ea"/>
                <a:cs typeface="+mn-cs"/>
              </a:rPr>
              <a:t> traffic). </a:t>
            </a:r>
          </a:p>
          <a:p>
            <a:pPr marL="12700" marR="5080"/>
            <a:r>
              <a:rPr lang="en-US" sz="1700" dirty="0">
                <a:solidFill>
                  <a:schemeClr val="accent2"/>
                </a:solidFill>
                <a:latin typeface="Google Sans"/>
                <a:ea typeface="+mn-ea"/>
                <a:cs typeface="+mn-cs"/>
              </a:rPr>
              <a:t>Multicast (IP Multicast/UDP)</a:t>
            </a:r>
          </a:p>
          <a:p>
            <a:pPr marL="12700" marR="5080"/>
            <a:r>
              <a:rPr lang="en-US" sz="1500" dirty="0">
                <a:solidFill>
                  <a:schemeClr val="accent2"/>
                </a:solidFill>
                <a:latin typeface="Google Sans"/>
                <a:ea typeface="+mn-ea"/>
                <a:cs typeface="+mn-cs"/>
              </a:rPr>
              <a:t>How it works: </a:t>
            </a:r>
            <a:r>
              <a:rPr lang="en-US" sz="1500" dirty="0">
                <a:solidFill>
                  <a:schemeClr val="accent6"/>
                </a:solidFill>
                <a:latin typeface="Google Sans"/>
                <a:ea typeface="+mn-ea"/>
                <a:cs typeface="+mn-cs"/>
              </a:rPr>
              <a:t>Nodes join a multicast group (e.g., IGMP). A sender sends one packet, which routers replicate to members.</a:t>
            </a:r>
          </a:p>
          <a:p>
            <a:pPr marL="12700" marR="5080"/>
            <a:r>
              <a:rPr lang="en-US" sz="1500" dirty="0">
                <a:solidFill>
                  <a:schemeClr val="accent2"/>
                </a:solidFill>
                <a:latin typeface="Google Sans"/>
                <a:ea typeface="+mn-ea"/>
                <a:cs typeface="+mn-cs"/>
              </a:rPr>
              <a:t>Membership Role: </a:t>
            </a:r>
            <a:r>
              <a:rPr lang="en-US" sz="1500" dirty="0">
                <a:solidFill>
                  <a:schemeClr val="accent6"/>
                </a:solidFill>
                <a:latin typeface="Google Sans"/>
                <a:ea typeface="+mn-ea"/>
                <a:cs typeface="+mn-cs"/>
              </a:rPr>
              <a:t>Ideal for state synchronization in large clusters (e.g., </a:t>
            </a:r>
            <a:r>
              <a:rPr lang="en-US" sz="1500" dirty="0" err="1">
                <a:solidFill>
                  <a:schemeClr val="accent6"/>
                </a:solidFill>
                <a:latin typeface="Google Sans"/>
                <a:ea typeface="+mn-ea"/>
                <a:cs typeface="+mn-cs"/>
              </a:rPr>
              <a:t>JGroups</a:t>
            </a:r>
            <a:r>
              <a:rPr lang="en-US" sz="1500" dirty="0">
                <a:solidFill>
                  <a:schemeClr val="accent6"/>
                </a:solidFill>
                <a:latin typeface="Google Sans"/>
                <a:ea typeface="+mn-ea"/>
                <a:cs typeface="+mn-cs"/>
              </a:rPr>
              <a:t>).</a:t>
            </a:r>
          </a:p>
          <a:p>
            <a:pPr marL="12700" marR="5080"/>
            <a:r>
              <a:rPr lang="en-US" sz="1500" dirty="0">
                <a:solidFill>
                  <a:schemeClr val="accent2"/>
                </a:solidFill>
                <a:latin typeface="Google Sans"/>
                <a:ea typeface="+mn-ea"/>
                <a:cs typeface="+mn-cs"/>
              </a:rPr>
              <a:t>Pros: </a:t>
            </a:r>
            <a:r>
              <a:rPr lang="en-US" sz="1500" dirty="0">
                <a:solidFill>
                  <a:schemeClr val="accent6"/>
                </a:solidFill>
                <a:latin typeface="Google Sans"/>
                <a:ea typeface="+mn-ea"/>
                <a:cs typeface="+mn-cs"/>
              </a:rPr>
              <a:t>Highly efficient, reduces bandwidth usage.</a:t>
            </a:r>
          </a:p>
          <a:p>
            <a:pPr marL="12700" marR="5080"/>
            <a:r>
              <a:rPr lang="en-US" sz="1500" dirty="0">
                <a:solidFill>
                  <a:schemeClr val="accent2"/>
                </a:solidFill>
                <a:latin typeface="Google Sans"/>
                <a:ea typeface="+mn-ea"/>
                <a:cs typeface="+mn-cs"/>
              </a:rPr>
              <a:t>Cons: </a:t>
            </a:r>
            <a:r>
              <a:rPr lang="en-US" sz="1500" dirty="0">
                <a:solidFill>
                  <a:schemeClr val="accent6"/>
                </a:solidFill>
                <a:latin typeface="Google Sans"/>
                <a:ea typeface="+mn-ea"/>
                <a:cs typeface="+mn-cs"/>
              </a:rPr>
              <a:t>Requires infrastructure support (IGMP). </a:t>
            </a:r>
          </a:p>
        </p:txBody>
      </p:sp>
    </p:spTree>
    <p:extLst>
      <p:ext uri="{BB962C8B-B14F-4D97-AF65-F5344CB8AC3E}">
        <p14:creationId xmlns:p14="http://schemas.microsoft.com/office/powerpoint/2010/main" val="1031289375"/>
      </p:ext>
    </p:extLst>
  </p:cSld>
  <p:clrMapOvr>
    <a:masterClrMapping/>
  </p:clrMapOvr>
</p:sld>
</file>

<file path=ppt/slides/slide4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188E1-2656-931E-48FC-5CF14349E73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4980647-BCD6-7D48-10DD-784FA2E468F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C809962-8A52-D1B7-6B21-B15F55817FC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18B24C51-58D0-2158-0429-0E7A2C37A13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347C12C9-AD05-15FE-0F8F-DE96E8CA2CD0}"/>
              </a:ext>
            </a:extLst>
          </p:cNvPr>
          <p:cNvSpPr txBox="1">
            <a:spLocks/>
          </p:cNvSpPr>
          <p:nvPr/>
        </p:nvSpPr>
        <p:spPr>
          <a:xfrm>
            <a:off x="76200" y="697468"/>
            <a:ext cx="8624937"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Group Membership</a:t>
            </a:r>
          </a:p>
        </p:txBody>
      </p:sp>
      <p:grpSp>
        <p:nvGrpSpPr>
          <p:cNvPr id="7" name="Group 6">
            <a:extLst>
              <a:ext uri="{FF2B5EF4-FFF2-40B4-BE49-F238E27FC236}">
                <a16:creationId xmlns:a16="http://schemas.microsoft.com/office/drawing/2014/main" id="{2CACF3DD-CF5C-2E46-B8EA-AE19A0C4394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F3B250A3-CE86-A19C-2E22-B71B131CA65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5510B63-5F4F-DFA4-7331-98A167A3BFD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
        <p:nvSpPr>
          <p:cNvPr id="14" name="object 2">
            <a:extLst>
              <a:ext uri="{FF2B5EF4-FFF2-40B4-BE49-F238E27FC236}">
                <a16:creationId xmlns:a16="http://schemas.microsoft.com/office/drawing/2014/main" id="{A0EDAC81-683A-4F99-30C3-8BDE8D93C020}"/>
              </a:ext>
            </a:extLst>
          </p:cNvPr>
          <p:cNvSpPr txBox="1">
            <a:spLocks/>
          </p:cNvSpPr>
          <p:nvPr/>
        </p:nvSpPr>
        <p:spPr>
          <a:xfrm>
            <a:off x="101600" y="1010325"/>
            <a:ext cx="8624937" cy="543225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700" dirty="0">
                <a:solidFill>
                  <a:schemeClr val="accent2"/>
                </a:solidFill>
                <a:latin typeface="Google Sans"/>
                <a:ea typeface="+mn-ea"/>
                <a:cs typeface="+mn-cs"/>
              </a:rPr>
              <a:t>Broadcast (UDP)</a:t>
            </a:r>
          </a:p>
          <a:p>
            <a:pPr marL="12700" marR="5080"/>
            <a:r>
              <a:rPr lang="en-US" sz="1500" dirty="0">
                <a:solidFill>
                  <a:schemeClr val="accent2"/>
                </a:solidFill>
                <a:latin typeface="Google Sans"/>
                <a:ea typeface="+mn-ea"/>
                <a:cs typeface="+mn-cs"/>
              </a:rPr>
              <a:t>How it works: </a:t>
            </a:r>
            <a:r>
              <a:rPr lang="en-US" sz="1500" dirty="0">
                <a:solidFill>
                  <a:schemeClr val="accent6"/>
                </a:solidFill>
                <a:latin typeface="Google Sans"/>
                <a:ea typeface="+mn-ea"/>
                <a:cs typeface="+mn-cs"/>
              </a:rPr>
              <a:t>Message is sent to all nodes on a local network segment (e.g., 255.255.255.255).</a:t>
            </a:r>
          </a:p>
          <a:p>
            <a:pPr marL="12700" marR="5080"/>
            <a:r>
              <a:rPr lang="en-US" sz="1500" dirty="0">
                <a:solidFill>
                  <a:schemeClr val="accent2"/>
                </a:solidFill>
                <a:latin typeface="Google Sans"/>
                <a:ea typeface="+mn-ea"/>
                <a:cs typeface="+mn-cs"/>
              </a:rPr>
              <a:t>Membership Role:</a:t>
            </a:r>
            <a:r>
              <a:rPr lang="en-US" sz="1500" dirty="0">
                <a:solidFill>
                  <a:schemeClr val="accent6"/>
                </a:solidFill>
                <a:latin typeface="Google Sans"/>
                <a:ea typeface="+mn-ea"/>
                <a:cs typeface="+mn-cs"/>
              </a:rPr>
              <a:t> Service discovery (e.g., nodes finding the cluster leader on startup).</a:t>
            </a:r>
          </a:p>
          <a:p>
            <a:pPr marL="12700" marR="5080"/>
            <a:r>
              <a:rPr lang="en-US" sz="1500" dirty="0">
                <a:solidFill>
                  <a:schemeClr val="accent2"/>
                </a:solidFill>
                <a:latin typeface="Google Sans"/>
                <a:ea typeface="+mn-ea"/>
                <a:cs typeface="+mn-cs"/>
              </a:rPr>
              <a:t>Pros: </a:t>
            </a:r>
            <a:r>
              <a:rPr lang="en-US" sz="1500" dirty="0">
                <a:solidFill>
                  <a:schemeClr val="accent6"/>
                </a:solidFill>
                <a:latin typeface="Google Sans"/>
                <a:ea typeface="+mn-ea"/>
                <a:cs typeface="+mn-cs"/>
              </a:rPr>
              <a:t>Simple, no configuration needed.</a:t>
            </a:r>
          </a:p>
          <a:p>
            <a:pPr marL="12700" marR="5080"/>
            <a:r>
              <a:rPr lang="en-US" sz="1500" dirty="0">
                <a:solidFill>
                  <a:schemeClr val="accent2"/>
                </a:solidFill>
                <a:latin typeface="Google Sans"/>
                <a:ea typeface="+mn-ea"/>
                <a:cs typeface="+mn-cs"/>
              </a:rPr>
              <a:t>Cons:</a:t>
            </a:r>
            <a:r>
              <a:rPr lang="en-US" sz="1500" dirty="0">
                <a:solidFill>
                  <a:schemeClr val="accent6"/>
                </a:solidFill>
                <a:latin typeface="Google Sans"/>
                <a:ea typeface="+mn-ea"/>
                <a:cs typeface="+mn-cs"/>
              </a:rPr>
              <a:t> Overloads network with unnecessary traffic; does not cross routers. </a:t>
            </a:r>
          </a:p>
          <a:p>
            <a:pPr marL="12700" marR="5080"/>
            <a:r>
              <a:rPr lang="en-US" sz="1700" dirty="0">
                <a:solidFill>
                  <a:schemeClr val="accent2"/>
                </a:solidFill>
                <a:latin typeface="Google Sans"/>
                <a:ea typeface="+mn-ea"/>
                <a:cs typeface="+mn-cs"/>
              </a:rPr>
              <a:t>Anycast (IPv6/UDP/TCP)</a:t>
            </a:r>
          </a:p>
          <a:p>
            <a:pPr marL="12700" marR="5080"/>
            <a:r>
              <a:rPr lang="en-US" sz="1500" dirty="0">
                <a:solidFill>
                  <a:schemeClr val="accent2"/>
                </a:solidFill>
                <a:latin typeface="Google Sans"/>
                <a:ea typeface="+mn-ea"/>
                <a:cs typeface="+mn-cs"/>
              </a:rPr>
              <a:t>How it works: </a:t>
            </a:r>
            <a:r>
              <a:rPr lang="en-US" sz="1500" dirty="0">
                <a:solidFill>
                  <a:schemeClr val="accent6"/>
                </a:solidFill>
                <a:latin typeface="Google Sans"/>
                <a:ea typeface="+mn-ea"/>
                <a:cs typeface="+mn-cs"/>
              </a:rPr>
              <a:t>Multiple servers share the same IP. Routing directs the client to the "nearest" server.</a:t>
            </a:r>
          </a:p>
          <a:p>
            <a:pPr marL="12700" marR="5080"/>
            <a:r>
              <a:rPr lang="en-US" sz="1500" dirty="0">
                <a:solidFill>
                  <a:schemeClr val="accent2"/>
                </a:solidFill>
                <a:latin typeface="Google Sans"/>
                <a:ea typeface="+mn-ea"/>
                <a:cs typeface="+mn-cs"/>
              </a:rPr>
              <a:t>Membership Role:</a:t>
            </a:r>
            <a:r>
              <a:rPr lang="en-US" sz="1500" dirty="0">
                <a:solidFill>
                  <a:schemeClr val="accent6"/>
                </a:solidFill>
                <a:latin typeface="Google Sans"/>
                <a:ea typeface="+mn-ea"/>
                <a:cs typeface="+mn-cs"/>
              </a:rPr>
              <a:t> Directing clients to the closest functional data center in a distributed system.</a:t>
            </a:r>
          </a:p>
          <a:p>
            <a:pPr marL="12700" marR="5080"/>
            <a:r>
              <a:rPr lang="en-US" sz="1500" dirty="0">
                <a:solidFill>
                  <a:schemeClr val="accent2"/>
                </a:solidFill>
                <a:latin typeface="Google Sans"/>
                <a:ea typeface="+mn-ea"/>
                <a:cs typeface="+mn-cs"/>
              </a:rPr>
              <a:t>Pros:</a:t>
            </a:r>
            <a:r>
              <a:rPr lang="en-US" sz="1500" dirty="0">
                <a:solidFill>
                  <a:schemeClr val="accent6"/>
                </a:solidFill>
                <a:latin typeface="Google Sans"/>
                <a:ea typeface="+mn-ea"/>
                <a:cs typeface="+mn-cs"/>
              </a:rPr>
              <a:t> Low latency, high availability.</a:t>
            </a:r>
          </a:p>
          <a:p>
            <a:pPr marL="12700" marR="5080"/>
            <a:r>
              <a:rPr lang="en-US" sz="1700" dirty="0">
                <a:solidFill>
                  <a:schemeClr val="accent2"/>
                </a:solidFill>
                <a:latin typeface="Google Sans"/>
              </a:rPr>
              <a:t>Transport &amp; Application Level Considerations</a:t>
            </a:r>
          </a:p>
          <a:p>
            <a:pPr marL="12700" marR="5080"/>
            <a:r>
              <a:rPr lang="en-US" sz="1500" dirty="0">
                <a:solidFill>
                  <a:schemeClr val="accent2"/>
                </a:solidFill>
                <a:latin typeface="Google Sans"/>
              </a:rPr>
              <a:t>UDP:</a:t>
            </a:r>
            <a:r>
              <a:rPr lang="en-US" sz="1500" dirty="0">
                <a:solidFill>
                  <a:schemeClr val="accent6"/>
                </a:solidFill>
                <a:latin typeface="Google Sans"/>
              </a:rPr>
              <a:t> Preferred for group membership updates where speed is critical and occasional lost packets can be tolerated or managed by a higher-level protocol.</a:t>
            </a:r>
          </a:p>
          <a:p>
            <a:pPr marL="12700" marR="5080"/>
            <a:r>
              <a:rPr lang="en-US" sz="1500" dirty="0">
                <a:solidFill>
                  <a:schemeClr val="accent2"/>
                </a:solidFill>
                <a:latin typeface="Google Sans"/>
              </a:rPr>
              <a:t>TCP: </a:t>
            </a:r>
            <a:r>
              <a:rPr lang="en-US" sz="1500" dirty="0">
                <a:solidFill>
                  <a:schemeClr val="accent6"/>
                </a:solidFill>
                <a:latin typeface="Google Sans"/>
              </a:rPr>
              <a:t>Used when membership changes must be strictly ordered and guaranteed (e.g., node </a:t>
            </a:r>
          </a:p>
          <a:p>
            <a:pPr marL="12700" marR="5080"/>
            <a:r>
              <a:rPr lang="en-US" sz="1500" dirty="0">
                <a:solidFill>
                  <a:schemeClr val="accent6"/>
                </a:solidFill>
                <a:latin typeface="Google Sans"/>
              </a:rPr>
              <a:t> must know node </a:t>
            </a:r>
          </a:p>
          <a:p>
            <a:pPr marL="12700" marR="5080"/>
            <a:r>
              <a:rPr lang="en-US" sz="1500" dirty="0">
                <a:solidFill>
                  <a:schemeClr val="accent6"/>
                </a:solidFill>
                <a:latin typeface="Google Sans"/>
              </a:rPr>
              <a:t> failed before acknowledging a transaction).</a:t>
            </a:r>
          </a:p>
          <a:p>
            <a:pPr marL="12700" marR="5080"/>
            <a:r>
              <a:rPr lang="en-US" sz="1500" dirty="0">
                <a:solidFill>
                  <a:schemeClr val="accent2"/>
                </a:solidFill>
                <a:latin typeface="Google Sans"/>
              </a:rPr>
              <a:t>HTTP: </a:t>
            </a:r>
            <a:r>
              <a:rPr lang="en-US" sz="1500" dirty="0">
                <a:solidFill>
                  <a:schemeClr val="accent6"/>
                </a:solidFill>
                <a:latin typeface="Google Sans"/>
              </a:rPr>
              <a:t>Generally unicast. Used for REST-based membership APIs (e.g., asking a service registry for the current list of nodes). </a:t>
            </a:r>
          </a:p>
          <a:p>
            <a:pPr marL="12700" marR="5080"/>
            <a:r>
              <a:rPr lang="en-US" sz="1700" dirty="0">
                <a:solidFill>
                  <a:schemeClr val="accent2"/>
                </a:solidFill>
                <a:latin typeface="Google Sans"/>
              </a:rPr>
              <a:t>Summary of Best Fit</a:t>
            </a:r>
          </a:p>
          <a:p>
            <a:pPr marL="12700" marR="5080"/>
            <a:r>
              <a:rPr lang="en-US" sz="1500" dirty="0">
                <a:solidFill>
                  <a:schemeClr val="accent2"/>
                </a:solidFill>
                <a:latin typeface="Google Sans"/>
              </a:rPr>
              <a:t>Small Cluster (&lt;10 nodes): </a:t>
            </a:r>
            <a:r>
              <a:rPr lang="en-US" sz="1500" dirty="0">
                <a:solidFill>
                  <a:schemeClr val="accent6"/>
                </a:solidFill>
                <a:latin typeface="Google Sans"/>
              </a:rPr>
              <a:t>Unicast/TCP (Simple, reliable).</a:t>
            </a:r>
          </a:p>
          <a:p>
            <a:pPr marL="12700" marR="5080"/>
            <a:r>
              <a:rPr lang="en-US" sz="1500" dirty="0">
                <a:solidFill>
                  <a:schemeClr val="accent2"/>
                </a:solidFill>
                <a:latin typeface="Google Sans"/>
              </a:rPr>
              <a:t>Large Cluster/High Throughput:</a:t>
            </a:r>
            <a:r>
              <a:rPr lang="en-US" sz="1500" dirty="0">
                <a:solidFill>
                  <a:schemeClr val="accent6"/>
                </a:solidFill>
                <a:latin typeface="Google Sans"/>
              </a:rPr>
              <a:t> Multicast/UDP (Efficient).</a:t>
            </a:r>
          </a:p>
          <a:p>
            <a:pPr marL="12700" marR="5080"/>
            <a:r>
              <a:rPr lang="en-US" sz="1500" dirty="0">
                <a:solidFill>
                  <a:schemeClr val="accent2"/>
                </a:solidFill>
                <a:latin typeface="Google Sans"/>
              </a:rPr>
              <a:t>Service Discovery: </a:t>
            </a:r>
            <a:r>
              <a:rPr lang="en-US" sz="1500" dirty="0">
                <a:solidFill>
                  <a:schemeClr val="accent6"/>
                </a:solidFill>
                <a:latin typeface="Google Sans"/>
              </a:rPr>
              <a:t>Broadcast/UDP (Local) or Anycast (Global). </a:t>
            </a:r>
          </a:p>
          <a:p>
            <a:pPr marL="12700" marR="5080"/>
            <a:endParaRPr lang="en-US" sz="1500" dirty="0">
              <a:solidFill>
                <a:schemeClr val="accent6"/>
              </a:solidFill>
              <a:latin typeface="Google Sans"/>
            </a:endParaRPr>
          </a:p>
          <a:p>
            <a:pPr marL="12700" marR="5080"/>
            <a:r>
              <a:rPr lang="en-US" sz="1500" dirty="0">
                <a:solidFill>
                  <a:schemeClr val="accent6"/>
                </a:solidFill>
                <a:latin typeface="Google Sans"/>
                <a:ea typeface="+mn-ea"/>
                <a:cs typeface="+mn-cs"/>
              </a:rPr>
              <a:t> </a:t>
            </a:r>
          </a:p>
        </p:txBody>
      </p:sp>
    </p:spTree>
    <p:extLst>
      <p:ext uri="{BB962C8B-B14F-4D97-AF65-F5344CB8AC3E}">
        <p14:creationId xmlns:p14="http://schemas.microsoft.com/office/powerpoint/2010/main" val="306729052"/>
      </p:ext>
    </p:extLst>
  </p:cSld>
  <p:clrMapOvr>
    <a:masterClrMapping/>
  </p:clrMapOvr>
</p:sld>
</file>

<file path=ppt/slides/slide4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1DA1D-1AE9-A350-F25B-AB37126B597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9A892C1-79F4-6045-2CC6-5BCE18B6350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CAB189F-3638-238F-71BB-AD9A9E19123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04A9846-18BB-765D-25D7-0F7106808F2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3F7E4CF2-4E9A-FED3-B94B-F6B68CB0723F}"/>
              </a:ext>
            </a:extLst>
          </p:cNvPr>
          <p:cNvSpPr txBox="1">
            <a:spLocks/>
          </p:cNvSpPr>
          <p:nvPr/>
        </p:nvSpPr>
        <p:spPr>
          <a:xfrm>
            <a:off x="76200" y="697468"/>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Configuration Management</a:t>
            </a:r>
          </a:p>
          <a:p>
            <a:pPr marL="12700" marR="5080"/>
            <a:r>
              <a:rPr lang="en-US" sz="1500" dirty="0">
                <a:solidFill>
                  <a:schemeClr val="accent6"/>
                </a:solidFill>
                <a:latin typeface="Google Sans"/>
                <a:ea typeface="+mn-ea"/>
                <a:cs typeface="+mn-cs"/>
              </a:rPr>
              <a:t>Distributed Configuration Management (DCM) is a framework for maintaining consistency, synchronizing settings, and managing the lifecycle of applications across multiple, independent, or clustered nodes. It decouples configuration from application code, allowing dynamic updates and reducing downtime caused by configuration drift. </a:t>
            </a:r>
          </a:p>
          <a:p>
            <a:pPr marL="12700" marR="5080"/>
            <a:r>
              <a:rPr lang="en-US" sz="1500" dirty="0">
                <a:solidFill>
                  <a:schemeClr val="accent2"/>
                </a:solidFill>
                <a:latin typeface="Google Sans"/>
                <a:ea typeface="+mn-ea"/>
                <a:cs typeface="+mn-cs"/>
              </a:rPr>
              <a:t>1. Key Objectives of Distributed Configuration Management</a:t>
            </a:r>
          </a:p>
          <a:p>
            <a:pPr marL="12700" marR="5080"/>
            <a:r>
              <a:rPr lang="en-US" sz="1500" dirty="0">
                <a:solidFill>
                  <a:schemeClr val="accent2"/>
                </a:solidFill>
                <a:latin typeface="Google Sans"/>
                <a:ea typeface="+mn-ea"/>
                <a:cs typeface="+mn-cs"/>
              </a:rPr>
              <a:t>Consistency: </a:t>
            </a:r>
            <a:r>
              <a:rPr lang="en-US" sz="1500" dirty="0">
                <a:solidFill>
                  <a:schemeClr val="accent6"/>
                </a:solidFill>
                <a:latin typeface="Google Sans"/>
                <a:ea typeface="+mn-ea"/>
                <a:cs typeface="+mn-cs"/>
              </a:rPr>
              <a:t>Ensuring all nodes or components in a distributed system have identical, accurate, and up-to-date configuration settings.</a:t>
            </a:r>
          </a:p>
          <a:p>
            <a:pPr marL="12700" marR="5080"/>
            <a:r>
              <a:rPr lang="en-US" sz="1500" dirty="0">
                <a:solidFill>
                  <a:schemeClr val="accent2"/>
                </a:solidFill>
                <a:latin typeface="Google Sans"/>
                <a:ea typeface="+mn-ea"/>
                <a:cs typeface="+mn-cs"/>
              </a:rPr>
              <a:t>Dynamic Updates: </a:t>
            </a:r>
            <a:r>
              <a:rPr lang="en-US" sz="1500" dirty="0">
                <a:solidFill>
                  <a:schemeClr val="accent6"/>
                </a:solidFill>
                <a:latin typeface="Google Sans"/>
                <a:ea typeface="+mn-ea"/>
                <a:cs typeface="+mn-cs"/>
              </a:rPr>
              <a:t>Enabling behavior changes without redeploying the entire system (e.g., changing feature flags, database connection strings, or logging levels).</a:t>
            </a:r>
          </a:p>
          <a:p>
            <a:pPr marL="12700" marR="5080"/>
            <a:r>
              <a:rPr lang="en-US" sz="1500" dirty="0">
                <a:solidFill>
                  <a:schemeClr val="accent2"/>
                </a:solidFill>
                <a:latin typeface="Google Sans"/>
                <a:ea typeface="+mn-ea"/>
                <a:cs typeface="+mn-cs"/>
              </a:rPr>
              <a:t>Centralized Control: </a:t>
            </a:r>
            <a:r>
              <a:rPr lang="en-US" sz="1500" dirty="0">
                <a:solidFill>
                  <a:schemeClr val="accent6"/>
                </a:solidFill>
                <a:latin typeface="Google Sans"/>
                <a:ea typeface="+mn-ea"/>
                <a:cs typeface="+mn-cs"/>
              </a:rPr>
              <a:t>Managing numerous decentralized nodes from a single pane of glass, reducing manual errors.</a:t>
            </a:r>
          </a:p>
          <a:p>
            <a:pPr marL="12700" marR="5080"/>
            <a:r>
              <a:rPr lang="en-US" sz="1500" dirty="0">
                <a:solidFill>
                  <a:schemeClr val="accent2"/>
                </a:solidFill>
                <a:latin typeface="Google Sans"/>
                <a:ea typeface="+mn-ea"/>
                <a:cs typeface="+mn-cs"/>
              </a:rPr>
              <a:t>Version Control &amp; Rollback: </a:t>
            </a:r>
            <a:r>
              <a:rPr lang="en-US" sz="1500" dirty="0">
                <a:solidFill>
                  <a:schemeClr val="accent6"/>
                </a:solidFill>
                <a:latin typeface="Google Sans"/>
                <a:ea typeface="+mn-ea"/>
                <a:cs typeface="+mn-cs"/>
              </a:rPr>
              <a:t>Storing historical versions of configurations to allow immediate rollback to a known good state in case of failure. </a:t>
            </a:r>
          </a:p>
          <a:p>
            <a:pPr marL="12700" marR="5080"/>
            <a:r>
              <a:rPr lang="en-US" sz="1500" dirty="0">
                <a:solidFill>
                  <a:schemeClr val="accent2"/>
                </a:solidFill>
                <a:latin typeface="Google Sans"/>
                <a:ea typeface="+mn-ea"/>
                <a:cs typeface="+mn-cs"/>
              </a:rPr>
              <a:t>2. Architecture and Components</a:t>
            </a:r>
          </a:p>
          <a:p>
            <a:pPr marL="12700" marR="5080"/>
            <a:r>
              <a:rPr lang="en-US" sz="1500" dirty="0">
                <a:solidFill>
                  <a:schemeClr val="accent6"/>
                </a:solidFill>
                <a:latin typeface="Google Sans"/>
                <a:ea typeface="+mn-ea"/>
                <a:cs typeface="+mn-cs"/>
              </a:rPr>
              <a:t>A DCM system generally consists of three main components: </a:t>
            </a:r>
          </a:p>
          <a:p>
            <a:pPr marL="12700" marR="5080"/>
            <a:r>
              <a:rPr lang="en-US" sz="1500" dirty="0">
                <a:solidFill>
                  <a:schemeClr val="accent2"/>
                </a:solidFill>
                <a:latin typeface="Google Sans"/>
                <a:ea typeface="+mn-ea"/>
                <a:cs typeface="+mn-cs"/>
              </a:rPr>
              <a:t>Distributed Metadata Repository (The Truth): </a:t>
            </a:r>
            <a:r>
              <a:rPr lang="en-US" sz="1500" dirty="0">
                <a:solidFill>
                  <a:schemeClr val="accent6"/>
                </a:solidFill>
                <a:latin typeface="Google Sans"/>
                <a:ea typeface="+mn-ea"/>
                <a:cs typeface="+mn-cs"/>
              </a:rPr>
              <a:t>A shared, durable store (e.g., </a:t>
            </a:r>
            <a:r>
              <a:rPr lang="en-US" sz="1500" dirty="0" err="1">
                <a:solidFill>
                  <a:schemeClr val="accent6"/>
                </a:solidFill>
                <a:latin typeface="Google Sans"/>
                <a:ea typeface="+mn-ea"/>
                <a:cs typeface="+mn-cs"/>
              </a:rPr>
              <a:t>etcd</a:t>
            </a:r>
            <a:r>
              <a:rPr lang="en-US" sz="1500" dirty="0">
                <a:solidFill>
                  <a:schemeClr val="accent6"/>
                </a:solidFill>
                <a:latin typeface="Google Sans"/>
                <a:ea typeface="+mn-ea"/>
                <a:cs typeface="+mn-cs"/>
              </a:rPr>
              <a:t>, Consul, Zookeeper, or relational database) containing the configuration data for all nodes.</a:t>
            </a:r>
          </a:p>
          <a:p>
            <a:pPr marL="12700" marR="5080"/>
            <a:r>
              <a:rPr lang="en-US" sz="1500" dirty="0">
                <a:solidFill>
                  <a:schemeClr val="accent2"/>
                </a:solidFill>
                <a:latin typeface="Google Sans"/>
                <a:ea typeface="+mn-ea"/>
                <a:cs typeface="+mn-cs"/>
              </a:rPr>
              <a:t>DCM Agent/Daemon (The Enforcer):</a:t>
            </a:r>
            <a:r>
              <a:rPr lang="en-US" sz="1500" dirty="0">
                <a:solidFill>
                  <a:schemeClr val="accent6"/>
                </a:solidFill>
                <a:latin typeface="Google Sans"/>
                <a:ea typeface="+mn-ea"/>
                <a:cs typeface="+mn-cs"/>
              </a:rPr>
              <a:t> A process running on each node that communicates with the repository, pulls updates, and applies changes.</a:t>
            </a:r>
          </a:p>
          <a:p>
            <a:pPr marL="12700" marR="5080"/>
            <a:r>
              <a:rPr lang="en-US" sz="1500" dirty="0">
                <a:solidFill>
                  <a:schemeClr val="accent2"/>
                </a:solidFill>
                <a:latin typeface="Google Sans"/>
                <a:ea typeface="+mn-ea"/>
                <a:cs typeface="+mn-cs"/>
              </a:rPr>
              <a:t>Client Tooling (The Interface):</a:t>
            </a:r>
            <a:r>
              <a:rPr lang="en-US" sz="1500" dirty="0">
                <a:solidFill>
                  <a:schemeClr val="accent6"/>
                </a:solidFill>
                <a:latin typeface="Google Sans"/>
                <a:ea typeface="+mn-ea"/>
                <a:cs typeface="+mn-cs"/>
              </a:rPr>
              <a:t> Command-line tools (e.g., </a:t>
            </a:r>
            <a:r>
              <a:rPr lang="en-US" sz="1500" dirty="0" err="1">
                <a:solidFill>
                  <a:schemeClr val="accent6"/>
                </a:solidFill>
                <a:latin typeface="Google Sans"/>
                <a:ea typeface="+mn-ea"/>
                <a:cs typeface="+mn-cs"/>
              </a:rPr>
              <a:t>dcmctl</a:t>
            </a:r>
            <a:r>
              <a:rPr lang="en-US" sz="1500" dirty="0">
                <a:solidFill>
                  <a:schemeClr val="accent6"/>
                </a:solidFill>
                <a:latin typeface="Google Sans"/>
                <a:ea typeface="+mn-ea"/>
                <a:cs typeface="+mn-cs"/>
              </a:rPr>
              <a:t>) or GUI interfaces (e.g., Admin Console) used to define and deploy configurations. </a:t>
            </a:r>
          </a:p>
        </p:txBody>
      </p:sp>
      <p:grpSp>
        <p:nvGrpSpPr>
          <p:cNvPr id="7" name="Group 6">
            <a:extLst>
              <a:ext uri="{FF2B5EF4-FFF2-40B4-BE49-F238E27FC236}">
                <a16:creationId xmlns:a16="http://schemas.microsoft.com/office/drawing/2014/main" id="{A58C7C48-2C3D-8DF2-3943-DAB6E4B72E8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10F08C9-13C4-2281-B737-E1459202F1A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FA890206-86DF-0655-E33C-94193654624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3171122246"/>
      </p:ext>
    </p:extLst>
  </p:cSld>
  <p:clrMapOvr>
    <a:masterClrMapping/>
  </p:clrMapOvr>
</p:sld>
</file>

<file path=ppt/slides/slide4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BE579-A670-A053-65DF-EF003B0540D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DE1BB59-BB98-A64A-EB77-A445576040B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18A9F21-14BC-7EAC-A903-FA975B38F87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6FD06D9-4363-ADA2-E220-6E2C6F12A65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42825C9B-4DBC-EFB2-75D3-F45E39233F61}"/>
              </a:ext>
            </a:extLst>
          </p:cNvPr>
          <p:cNvSpPr txBox="1">
            <a:spLocks/>
          </p:cNvSpPr>
          <p:nvPr/>
        </p:nvSpPr>
        <p:spPr>
          <a:xfrm>
            <a:off x="76200" y="697468"/>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Configuration Management</a:t>
            </a:r>
          </a:p>
          <a:p>
            <a:pPr marL="12700" marR="5080"/>
            <a:r>
              <a:rPr lang="en-US" sz="1500" dirty="0">
                <a:solidFill>
                  <a:schemeClr val="accent2"/>
                </a:solidFill>
                <a:latin typeface="Google Sans"/>
                <a:ea typeface="+mn-ea"/>
                <a:cs typeface="+mn-cs"/>
              </a:rPr>
              <a:t>3. Types of Distributed Configuration</a:t>
            </a:r>
          </a:p>
          <a:p>
            <a:pPr marL="12700" marR="5080"/>
            <a:r>
              <a:rPr lang="en-US" sz="1500" dirty="0">
                <a:solidFill>
                  <a:schemeClr val="accent2"/>
                </a:solidFill>
                <a:latin typeface="Google Sans"/>
                <a:ea typeface="+mn-ea"/>
                <a:cs typeface="+mn-cs"/>
              </a:rPr>
              <a:t>Push Model: </a:t>
            </a:r>
            <a:r>
              <a:rPr lang="en-US" sz="1500" dirty="0">
                <a:solidFill>
                  <a:schemeClr val="accent6"/>
                </a:solidFill>
                <a:latin typeface="Google Sans"/>
                <a:ea typeface="+mn-ea"/>
                <a:cs typeface="+mn-cs"/>
              </a:rPr>
              <a:t>A central server pushes configurations to all nodes. It is simpler to configure but less scalable.</a:t>
            </a:r>
          </a:p>
          <a:p>
            <a:pPr marL="12700" marR="5080"/>
            <a:r>
              <a:rPr lang="en-US" sz="1500" dirty="0">
                <a:solidFill>
                  <a:schemeClr val="accent2"/>
                </a:solidFill>
                <a:latin typeface="Google Sans"/>
                <a:ea typeface="+mn-ea"/>
                <a:cs typeface="+mn-cs"/>
              </a:rPr>
              <a:t>Pull Model:</a:t>
            </a:r>
            <a:r>
              <a:rPr lang="en-US" sz="1500" dirty="0">
                <a:solidFill>
                  <a:schemeClr val="accent6"/>
                </a:solidFill>
                <a:latin typeface="Google Sans"/>
                <a:ea typeface="+mn-ea"/>
                <a:cs typeface="+mn-cs"/>
              </a:rPr>
              <a:t> Nodes periodically poll a central repository for updates. Highly scalable and resilient to master failure.</a:t>
            </a:r>
          </a:p>
          <a:p>
            <a:pPr marL="12700" marR="5080"/>
            <a:r>
              <a:rPr lang="en-US" sz="1500" dirty="0">
                <a:solidFill>
                  <a:schemeClr val="accent2"/>
                </a:solidFill>
                <a:latin typeface="Google Sans"/>
                <a:ea typeface="+mn-ea"/>
                <a:cs typeface="+mn-cs"/>
              </a:rPr>
              <a:t>Hybrid Model (Best Practice):</a:t>
            </a:r>
            <a:r>
              <a:rPr lang="en-US" sz="1500" dirty="0">
                <a:solidFill>
                  <a:schemeClr val="accent6"/>
                </a:solidFill>
                <a:latin typeface="Google Sans"/>
                <a:ea typeface="+mn-ea"/>
                <a:cs typeface="+mn-cs"/>
              </a:rPr>
              <a:t> Using tools like Consul/</a:t>
            </a:r>
            <a:r>
              <a:rPr lang="en-US" sz="1500" dirty="0" err="1">
                <a:solidFill>
                  <a:schemeClr val="accent6"/>
                </a:solidFill>
                <a:latin typeface="Google Sans"/>
                <a:ea typeface="+mn-ea"/>
                <a:cs typeface="+mn-cs"/>
              </a:rPr>
              <a:t>etcd</a:t>
            </a:r>
            <a:r>
              <a:rPr lang="en-US" sz="1500" dirty="0">
                <a:solidFill>
                  <a:schemeClr val="accent6"/>
                </a:solidFill>
                <a:latin typeface="Google Sans"/>
                <a:ea typeface="+mn-ea"/>
                <a:cs typeface="+mn-cs"/>
              </a:rPr>
              <a:t>, which offer real-time notification (push) while allowing nodes to re-sync (pull) on startup. </a:t>
            </a:r>
          </a:p>
          <a:p>
            <a:pPr marL="12700" marR="5080"/>
            <a:r>
              <a:rPr lang="en-US" sz="1500" dirty="0">
                <a:solidFill>
                  <a:schemeClr val="accent2"/>
                </a:solidFill>
                <a:latin typeface="Google Sans"/>
                <a:ea typeface="+mn-ea"/>
                <a:cs typeface="+mn-cs"/>
              </a:rPr>
              <a:t>4. Core Capabilities and Functions</a:t>
            </a:r>
          </a:p>
          <a:p>
            <a:pPr marL="12700" marR="5080"/>
            <a:r>
              <a:rPr lang="en-US" sz="1500" dirty="0">
                <a:solidFill>
                  <a:schemeClr val="accent2"/>
                </a:solidFill>
                <a:latin typeface="Google Sans"/>
                <a:ea typeface="+mn-ea"/>
                <a:cs typeface="+mn-cs"/>
              </a:rPr>
              <a:t>Configuration Sync: </a:t>
            </a:r>
            <a:r>
              <a:rPr lang="en-US" sz="1500" dirty="0">
                <a:solidFill>
                  <a:schemeClr val="accent6"/>
                </a:solidFill>
                <a:latin typeface="Google Sans"/>
                <a:ea typeface="+mn-ea"/>
                <a:cs typeface="+mn-cs"/>
              </a:rPr>
              <a:t>Automatic synchronization of configuration across clusters (e.g., when a new application is deployed, all nodes receive it).</a:t>
            </a:r>
          </a:p>
          <a:p>
            <a:pPr marL="12700" marR="5080"/>
            <a:r>
              <a:rPr lang="en-US" sz="1500" dirty="0">
                <a:solidFill>
                  <a:schemeClr val="accent2"/>
                </a:solidFill>
                <a:latin typeface="Google Sans"/>
                <a:ea typeface="+mn-ea"/>
                <a:cs typeface="+mn-cs"/>
              </a:rPr>
              <a:t>Archiving &amp; Restoring:</a:t>
            </a:r>
            <a:r>
              <a:rPr lang="en-US" sz="1500" dirty="0">
                <a:solidFill>
                  <a:schemeClr val="accent6"/>
                </a:solidFill>
                <a:latin typeface="Google Sans"/>
                <a:ea typeface="+mn-ea"/>
                <a:cs typeface="+mn-cs"/>
              </a:rPr>
              <a:t> Capturing "snapshots" of system configurations to enable rolling back undesired changes.</a:t>
            </a:r>
          </a:p>
          <a:p>
            <a:pPr marL="12700" marR="5080"/>
            <a:r>
              <a:rPr lang="en-US" sz="1500" dirty="0">
                <a:solidFill>
                  <a:schemeClr val="accent2"/>
                </a:solidFill>
                <a:latin typeface="Google Sans"/>
                <a:ea typeface="+mn-ea"/>
                <a:cs typeface="+mn-cs"/>
              </a:rPr>
              <a:t>Macro Replacement:</a:t>
            </a:r>
            <a:r>
              <a:rPr lang="en-US" sz="1500" dirty="0">
                <a:solidFill>
                  <a:schemeClr val="accent6"/>
                </a:solidFill>
                <a:latin typeface="Google Sans"/>
                <a:ea typeface="+mn-ea"/>
                <a:cs typeface="+mn-cs"/>
              </a:rPr>
              <a:t> Automatically replacing host-specific values (e.g., IP addresses, file paths) with variables, allowing the same configuration to be applied to different nodes.</a:t>
            </a:r>
          </a:p>
          <a:p>
            <a:pPr marL="12700" marR="5080"/>
            <a:r>
              <a:rPr lang="en-US" sz="1500" dirty="0">
                <a:solidFill>
                  <a:schemeClr val="accent2"/>
                </a:solidFill>
                <a:latin typeface="Google Sans"/>
                <a:ea typeface="+mn-ea"/>
                <a:cs typeface="+mn-cs"/>
              </a:rPr>
              <a:t>Cloning &amp; Provisioning: </a:t>
            </a:r>
            <a:r>
              <a:rPr lang="en-US" sz="1500" dirty="0">
                <a:solidFill>
                  <a:schemeClr val="accent6"/>
                </a:solidFill>
                <a:latin typeface="Google Sans"/>
                <a:ea typeface="+mn-ea"/>
                <a:cs typeface="+mn-cs"/>
              </a:rPr>
              <a:t>Using existing configuration metadata to instantiate new nodes. </a:t>
            </a:r>
          </a:p>
          <a:p>
            <a:pPr marL="12700" marR="5080"/>
            <a:r>
              <a:rPr lang="en-US" sz="1500" dirty="0">
                <a:solidFill>
                  <a:schemeClr val="accent2"/>
                </a:solidFill>
                <a:latin typeface="Google Sans"/>
                <a:ea typeface="+mn-ea"/>
                <a:cs typeface="+mn-cs"/>
              </a:rPr>
              <a:t>5. Popular Distributed Configuration Tools</a:t>
            </a:r>
          </a:p>
          <a:p>
            <a:pPr marL="12700" marR="5080"/>
            <a:r>
              <a:rPr lang="en-US" sz="1500" dirty="0" err="1">
                <a:solidFill>
                  <a:schemeClr val="accent2"/>
                </a:solidFill>
                <a:latin typeface="Google Sans"/>
                <a:ea typeface="+mn-ea"/>
                <a:cs typeface="+mn-cs"/>
              </a:rPr>
              <a:t>HashiCorp</a:t>
            </a:r>
            <a:r>
              <a:rPr lang="en-US" sz="1500" dirty="0">
                <a:solidFill>
                  <a:schemeClr val="accent2"/>
                </a:solidFill>
                <a:latin typeface="Google Sans"/>
                <a:ea typeface="+mn-ea"/>
                <a:cs typeface="+mn-cs"/>
              </a:rPr>
              <a:t> Consul: </a:t>
            </a:r>
            <a:r>
              <a:rPr lang="en-US" sz="1500" dirty="0">
                <a:solidFill>
                  <a:schemeClr val="accent6"/>
                </a:solidFill>
                <a:latin typeface="Google Sans"/>
                <a:ea typeface="+mn-ea"/>
                <a:cs typeface="+mn-cs"/>
              </a:rPr>
              <a:t>Distributed key-value store with service discovery and health monitoring.</a:t>
            </a:r>
          </a:p>
          <a:p>
            <a:pPr marL="12700" marR="5080"/>
            <a:r>
              <a:rPr lang="en-US" sz="1500" dirty="0" err="1">
                <a:solidFill>
                  <a:schemeClr val="accent2"/>
                </a:solidFill>
                <a:latin typeface="Google Sans"/>
                <a:ea typeface="+mn-ea"/>
                <a:cs typeface="+mn-cs"/>
              </a:rPr>
              <a:t>etcd</a:t>
            </a:r>
            <a:r>
              <a:rPr lang="en-US" sz="1500" dirty="0">
                <a:solidFill>
                  <a:schemeClr val="accent2"/>
                </a:solidFill>
                <a:latin typeface="Google Sans"/>
                <a:ea typeface="+mn-ea"/>
                <a:cs typeface="+mn-cs"/>
              </a:rPr>
              <a:t>: </a:t>
            </a:r>
            <a:r>
              <a:rPr lang="en-US" sz="1500" dirty="0">
                <a:solidFill>
                  <a:schemeClr val="accent6"/>
                </a:solidFill>
                <a:latin typeface="Google Sans"/>
                <a:ea typeface="+mn-ea"/>
                <a:cs typeface="+mn-cs"/>
              </a:rPr>
              <a:t>A highly available key-value store, commonly used in Kubernetes.</a:t>
            </a:r>
          </a:p>
          <a:p>
            <a:pPr marL="12700" marR="5080"/>
            <a:r>
              <a:rPr lang="en-US" sz="1500" dirty="0">
                <a:solidFill>
                  <a:schemeClr val="accent2"/>
                </a:solidFill>
                <a:latin typeface="Google Sans"/>
                <a:ea typeface="+mn-ea"/>
                <a:cs typeface="+mn-cs"/>
              </a:rPr>
              <a:t>Apache </a:t>
            </a:r>
            <a:r>
              <a:rPr lang="en-US" sz="1500" dirty="0" err="1">
                <a:solidFill>
                  <a:schemeClr val="accent2"/>
                </a:solidFill>
                <a:latin typeface="Google Sans"/>
                <a:ea typeface="+mn-ea"/>
                <a:cs typeface="+mn-cs"/>
              </a:rPr>
              <a:t>ZooKeeper</a:t>
            </a:r>
            <a:r>
              <a:rPr lang="en-US" sz="1500" dirty="0">
                <a:solidFill>
                  <a:schemeClr val="accent2"/>
                </a:solidFill>
                <a:latin typeface="Google Sans"/>
                <a:ea typeface="+mn-ea"/>
                <a:cs typeface="+mn-cs"/>
              </a:rPr>
              <a:t>:</a:t>
            </a:r>
            <a:r>
              <a:rPr lang="en-US" sz="1500" dirty="0">
                <a:solidFill>
                  <a:schemeClr val="accent6"/>
                </a:solidFill>
                <a:latin typeface="Google Sans"/>
                <a:ea typeface="+mn-ea"/>
                <a:cs typeface="+mn-cs"/>
              </a:rPr>
              <a:t> A centralized service for maintaining configuration, naming, and providing distributed synchronization.</a:t>
            </a:r>
          </a:p>
          <a:p>
            <a:pPr marL="12700" marR="5080"/>
            <a:r>
              <a:rPr lang="en-US" sz="1500" dirty="0">
                <a:solidFill>
                  <a:schemeClr val="accent2"/>
                </a:solidFill>
                <a:latin typeface="Google Sans"/>
                <a:ea typeface="+mn-ea"/>
                <a:cs typeface="+mn-cs"/>
              </a:rPr>
              <a:t>Oracle Application Server DCM (Legacy):</a:t>
            </a:r>
            <a:r>
              <a:rPr lang="en-US" sz="1500" dirty="0">
                <a:solidFill>
                  <a:schemeClr val="accent6"/>
                </a:solidFill>
                <a:latin typeface="Google Sans"/>
                <a:ea typeface="+mn-ea"/>
                <a:cs typeface="+mn-cs"/>
              </a:rPr>
              <a:t> Specifically for managing Oracle Application Server instances, clusters, and farms.</a:t>
            </a:r>
          </a:p>
        </p:txBody>
      </p:sp>
      <p:grpSp>
        <p:nvGrpSpPr>
          <p:cNvPr id="7" name="Group 6">
            <a:extLst>
              <a:ext uri="{FF2B5EF4-FFF2-40B4-BE49-F238E27FC236}">
                <a16:creationId xmlns:a16="http://schemas.microsoft.com/office/drawing/2014/main" id="{B225366C-3C4E-430D-9192-2DCE5661B33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DAD79AD-63BD-A69D-1E2A-1D97D810E460}"/>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A475CAD-F90D-5B82-F0FB-7347AB629F72}"/>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2322621306"/>
      </p:ext>
    </p:extLst>
  </p:cSld>
  <p:clrMapOvr>
    <a:masterClrMapping/>
  </p:clrMapOvr>
</p:sld>
</file>

<file path=ppt/slides/slide4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EB334-7F1A-4589-A873-DEB159D6AAC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55DCBDC-E2C7-574F-76C8-628155872A5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576C8DB-C9DD-9171-D5DB-CBA957CEE95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0C5425E-E1D6-A6AC-90CB-FF5FA64C254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5D752F73-D421-CF19-7605-34F25529CE64}"/>
              </a:ext>
            </a:extLst>
          </p:cNvPr>
          <p:cNvSpPr txBox="1">
            <a:spLocks/>
          </p:cNvSpPr>
          <p:nvPr/>
        </p:nvSpPr>
        <p:spPr>
          <a:xfrm>
            <a:off x="76200" y="697468"/>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Configuration Management</a:t>
            </a:r>
          </a:p>
          <a:p>
            <a:pPr marL="12700" marR="5080"/>
            <a:r>
              <a:rPr lang="en-US" sz="1500" dirty="0">
                <a:solidFill>
                  <a:schemeClr val="accent2"/>
                </a:solidFill>
                <a:latin typeface="Google Sans"/>
                <a:ea typeface="+mn-ea"/>
                <a:cs typeface="+mn-cs"/>
              </a:rPr>
              <a:t>5. Popular Distributed Configuration Tools</a:t>
            </a:r>
          </a:p>
          <a:p>
            <a:pPr marL="12700" marR="5080"/>
            <a:r>
              <a:rPr lang="en-US" sz="1500" dirty="0">
                <a:solidFill>
                  <a:schemeClr val="accent6"/>
                </a:solidFill>
                <a:latin typeface="Google Sans"/>
                <a:ea typeface="+mn-ea"/>
                <a:cs typeface="+mn-cs"/>
              </a:rPr>
              <a:t>Spring Cloud Config: Frequently used for microservices management. </a:t>
            </a:r>
          </a:p>
          <a:p>
            <a:pPr marL="12700" marR="5080"/>
            <a:r>
              <a:rPr lang="en-US" sz="1500" dirty="0">
                <a:solidFill>
                  <a:schemeClr val="accent2"/>
                </a:solidFill>
                <a:latin typeface="Google Sans"/>
                <a:ea typeface="+mn-ea"/>
                <a:cs typeface="+mn-cs"/>
              </a:rPr>
              <a:t>6. Best Practices and Implementation</a:t>
            </a:r>
          </a:p>
          <a:p>
            <a:pPr marL="12700" marR="5080"/>
            <a:r>
              <a:rPr lang="en-US" sz="1500" dirty="0">
                <a:solidFill>
                  <a:schemeClr val="accent6"/>
                </a:solidFill>
                <a:latin typeface="Google Sans"/>
                <a:ea typeface="+mn-ea"/>
                <a:cs typeface="+mn-cs"/>
              </a:rPr>
              <a:t>Decouple Configuration from Code: Keep config files outside the source code to allow updates without redeploying binaries.</a:t>
            </a:r>
          </a:p>
          <a:p>
            <a:pPr marL="12700" marR="5080"/>
            <a:r>
              <a:rPr lang="en-US" sz="1500" dirty="0">
                <a:solidFill>
                  <a:schemeClr val="accent2"/>
                </a:solidFill>
                <a:latin typeface="Google Sans"/>
                <a:ea typeface="+mn-ea"/>
                <a:cs typeface="+mn-cs"/>
              </a:rPr>
              <a:t>Use Version Control: </a:t>
            </a:r>
            <a:r>
              <a:rPr lang="en-US" sz="1500" dirty="0">
                <a:solidFill>
                  <a:schemeClr val="accent6"/>
                </a:solidFill>
                <a:latin typeface="Google Sans"/>
                <a:ea typeface="+mn-ea"/>
                <a:cs typeface="+mn-cs"/>
              </a:rPr>
              <a:t>Treat configurations as code (</a:t>
            </a:r>
            <a:r>
              <a:rPr lang="en-US" sz="1500" dirty="0" err="1">
                <a:solidFill>
                  <a:schemeClr val="accent6"/>
                </a:solidFill>
                <a:latin typeface="Google Sans"/>
                <a:ea typeface="+mn-ea"/>
                <a:cs typeface="+mn-cs"/>
              </a:rPr>
              <a:t>CaC</a:t>
            </a:r>
            <a:r>
              <a:rPr lang="en-US" sz="1500" dirty="0">
                <a:solidFill>
                  <a:schemeClr val="accent6"/>
                </a:solidFill>
                <a:latin typeface="Google Sans"/>
                <a:ea typeface="+mn-ea"/>
                <a:cs typeface="+mn-cs"/>
              </a:rPr>
              <a:t>) and store them in Git.</a:t>
            </a:r>
          </a:p>
          <a:p>
            <a:pPr marL="12700" marR="5080"/>
            <a:r>
              <a:rPr lang="en-US" sz="1500" dirty="0">
                <a:solidFill>
                  <a:schemeClr val="accent6"/>
                </a:solidFill>
                <a:latin typeface="Google Sans"/>
                <a:ea typeface="+mn-ea"/>
                <a:cs typeface="+mn-cs"/>
              </a:rPr>
              <a:t>Implement Secrets Management: Use specialized tools (e.g., </a:t>
            </a:r>
            <a:r>
              <a:rPr lang="en-US" sz="1500" dirty="0" err="1">
                <a:solidFill>
                  <a:schemeClr val="accent6"/>
                </a:solidFill>
                <a:latin typeface="Google Sans"/>
                <a:ea typeface="+mn-ea"/>
                <a:cs typeface="+mn-cs"/>
              </a:rPr>
              <a:t>HashiCorp</a:t>
            </a:r>
            <a:r>
              <a:rPr lang="en-US" sz="1500" dirty="0">
                <a:solidFill>
                  <a:schemeClr val="accent6"/>
                </a:solidFill>
                <a:latin typeface="Google Sans"/>
                <a:ea typeface="+mn-ea"/>
                <a:cs typeface="+mn-cs"/>
              </a:rPr>
              <a:t> Vault) to encrypt sensitive data like </a:t>
            </a:r>
            <a:r>
              <a:rPr lang="en-US" sz="1500" dirty="0">
                <a:solidFill>
                  <a:schemeClr val="accent2"/>
                </a:solidFill>
                <a:latin typeface="Google Sans"/>
                <a:ea typeface="+mn-ea"/>
                <a:cs typeface="+mn-cs"/>
              </a:rPr>
              <a:t>API keys and passwords.</a:t>
            </a:r>
          </a:p>
          <a:p>
            <a:pPr marL="12700" marR="5080"/>
            <a:r>
              <a:rPr lang="en-US" sz="1500" dirty="0">
                <a:solidFill>
                  <a:schemeClr val="accent2"/>
                </a:solidFill>
                <a:latin typeface="Google Sans"/>
                <a:ea typeface="+mn-ea"/>
                <a:cs typeface="+mn-cs"/>
              </a:rPr>
              <a:t>Use Odd-Numbered Clusters: </a:t>
            </a:r>
            <a:r>
              <a:rPr lang="en-US" sz="1500" dirty="0">
                <a:solidFill>
                  <a:schemeClr val="accent6"/>
                </a:solidFill>
                <a:latin typeface="Google Sans"/>
                <a:ea typeface="+mn-ea"/>
                <a:cs typeface="+mn-cs"/>
              </a:rPr>
              <a:t>If using tools like </a:t>
            </a:r>
            <a:r>
              <a:rPr lang="en-US" sz="1500" dirty="0" err="1">
                <a:solidFill>
                  <a:schemeClr val="accent6"/>
                </a:solidFill>
                <a:latin typeface="Google Sans"/>
                <a:ea typeface="+mn-ea"/>
                <a:cs typeface="+mn-cs"/>
              </a:rPr>
              <a:t>etcd</a:t>
            </a:r>
            <a:r>
              <a:rPr lang="en-US" sz="1500" dirty="0">
                <a:solidFill>
                  <a:schemeClr val="accent6"/>
                </a:solidFill>
                <a:latin typeface="Google Sans"/>
                <a:ea typeface="+mn-ea"/>
                <a:cs typeface="+mn-cs"/>
              </a:rPr>
              <a:t>, use 3, 5, or 7 members to maintain proper quorum for high availability.</a:t>
            </a:r>
          </a:p>
          <a:p>
            <a:pPr marL="12700" marR="5080"/>
            <a:r>
              <a:rPr lang="en-US" sz="1500" dirty="0">
                <a:solidFill>
                  <a:schemeClr val="accent2"/>
                </a:solidFill>
                <a:latin typeface="Google Sans"/>
                <a:ea typeface="+mn-ea"/>
                <a:cs typeface="+mn-cs"/>
              </a:rPr>
              <a:t>Validate Before Deployment:</a:t>
            </a:r>
            <a:r>
              <a:rPr lang="en-US" sz="1500" dirty="0">
                <a:solidFill>
                  <a:schemeClr val="accent6"/>
                </a:solidFill>
                <a:latin typeface="Google Sans"/>
                <a:ea typeface="+mn-ea"/>
                <a:cs typeface="+mn-cs"/>
              </a:rPr>
              <a:t> Use automated testing to validate configuration syntax before applying it to production.</a:t>
            </a:r>
          </a:p>
          <a:p>
            <a:pPr marL="12700" marR="5080"/>
            <a:r>
              <a:rPr lang="en-US" sz="1500" dirty="0">
                <a:solidFill>
                  <a:schemeClr val="accent2"/>
                </a:solidFill>
                <a:latin typeface="Google Sans"/>
                <a:ea typeface="+mn-ea"/>
                <a:cs typeface="+mn-cs"/>
              </a:rPr>
              <a:t>Avoid Hardcoding Node Info: </a:t>
            </a:r>
            <a:r>
              <a:rPr lang="en-US" sz="1500" dirty="0">
                <a:solidFill>
                  <a:schemeClr val="accent6"/>
                </a:solidFill>
                <a:latin typeface="Google Sans"/>
                <a:ea typeface="+mn-ea"/>
                <a:cs typeface="+mn-cs"/>
              </a:rPr>
              <a:t>Ensure configurations are generic and can be adapted for any node in the cluster. </a:t>
            </a:r>
          </a:p>
          <a:p>
            <a:pPr marL="12700" marR="5080"/>
            <a:r>
              <a:rPr lang="en-US" sz="1500" dirty="0">
                <a:solidFill>
                  <a:schemeClr val="accent2"/>
                </a:solidFill>
                <a:latin typeface="Google Sans"/>
                <a:ea typeface="+mn-ea"/>
                <a:cs typeface="+mn-cs"/>
              </a:rPr>
              <a:t>7. Key Challenges</a:t>
            </a:r>
          </a:p>
          <a:p>
            <a:pPr marL="12700" marR="5080"/>
            <a:r>
              <a:rPr lang="en-US" sz="1500" dirty="0">
                <a:solidFill>
                  <a:schemeClr val="accent2"/>
                </a:solidFill>
                <a:latin typeface="Google Sans"/>
                <a:ea typeface="+mn-ea"/>
                <a:cs typeface="+mn-cs"/>
              </a:rPr>
              <a:t>Consistency vs. Availability: </a:t>
            </a:r>
            <a:r>
              <a:rPr lang="en-US" sz="1500" dirty="0">
                <a:solidFill>
                  <a:schemeClr val="accent6"/>
                </a:solidFill>
                <a:latin typeface="Google Sans"/>
                <a:ea typeface="+mn-ea"/>
                <a:cs typeface="+mn-cs"/>
              </a:rPr>
              <a:t>In the event of a network partition, choosing between consistent (but unavailable) or available (but potentially inconsistent) data.</a:t>
            </a:r>
          </a:p>
          <a:p>
            <a:pPr marL="12700" marR="5080"/>
            <a:r>
              <a:rPr lang="en-US" sz="1500" dirty="0">
                <a:solidFill>
                  <a:schemeClr val="accent2"/>
                </a:solidFill>
                <a:latin typeface="Google Sans"/>
                <a:ea typeface="+mn-ea"/>
                <a:cs typeface="+mn-cs"/>
              </a:rPr>
              <a:t>Complexity:</a:t>
            </a:r>
            <a:r>
              <a:rPr lang="en-US" sz="1500" dirty="0">
                <a:solidFill>
                  <a:schemeClr val="accent6"/>
                </a:solidFill>
                <a:latin typeface="Google Sans"/>
                <a:ea typeface="+mn-ea"/>
                <a:cs typeface="+mn-cs"/>
              </a:rPr>
              <a:t> Introducing new infrastructure components requires specialized knowledge to manage.</a:t>
            </a:r>
          </a:p>
          <a:p>
            <a:pPr marL="12700" marR="5080"/>
            <a:r>
              <a:rPr lang="en-US" sz="1500" dirty="0">
                <a:solidFill>
                  <a:schemeClr val="accent2"/>
                </a:solidFill>
                <a:latin typeface="Google Sans"/>
                <a:ea typeface="+mn-ea"/>
                <a:cs typeface="+mn-cs"/>
              </a:rPr>
              <a:t>Dependency Management:</a:t>
            </a:r>
            <a:r>
              <a:rPr lang="en-US" sz="1500" dirty="0">
                <a:solidFill>
                  <a:schemeClr val="accent6"/>
                </a:solidFill>
                <a:latin typeface="Google Sans"/>
                <a:ea typeface="+mn-ea"/>
                <a:cs typeface="+mn-cs"/>
              </a:rPr>
              <a:t> Ensuring configurations are updated in the correct order to prevent service interruptions. </a:t>
            </a:r>
          </a:p>
        </p:txBody>
      </p:sp>
      <p:grpSp>
        <p:nvGrpSpPr>
          <p:cNvPr id="7" name="Group 6">
            <a:extLst>
              <a:ext uri="{FF2B5EF4-FFF2-40B4-BE49-F238E27FC236}">
                <a16:creationId xmlns:a16="http://schemas.microsoft.com/office/drawing/2014/main" id="{26437AC8-61A8-CA8A-D4E8-BC41A1823061}"/>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26674EB-40DE-C286-AA42-82C660B97E4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A233DF9-2213-5DEB-6554-8EC302E8820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3393402039"/>
      </p:ext>
    </p:extLst>
  </p:cSld>
  <p:clrMapOvr>
    <a:masterClrMapping/>
  </p:clrMapOvr>
</p:sld>
</file>

<file path=ppt/slides/slide4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8FE29-A0A7-EE61-3283-F38ED7001DC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4E580D5-A4CC-D6B1-D32F-2CAE1BCB800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BF54A9C-055F-469C-6E7C-919A3A9559A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4809E95-6AB0-055C-A1A7-4B83C0E26AE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3" name="object 2">
            <a:extLst>
              <a:ext uri="{FF2B5EF4-FFF2-40B4-BE49-F238E27FC236}">
                <a16:creationId xmlns:a16="http://schemas.microsoft.com/office/drawing/2014/main" id="{3EDBDB0D-7D37-6018-2EA1-6F16E1787D43}"/>
              </a:ext>
            </a:extLst>
          </p:cNvPr>
          <p:cNvSpPr txBox="1">
            <a:spLocks/>
          </p:cNvSpPr>
          <p:nvPr/>
        </p:nvSpPr>
        <p:spPr>
          <a:xfrm>
            <a:off x="76200" y="697468"/>
            <a:ext cx="8624937" cy="375487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dirty="0">
                <a:solidFill>
                  <a:schemeClr val="accent2"/>
                </a:solidFill>
                <a:latin typeface="Google Sans"/>
              </a:rPr>
              <a:t>For Further Exploration</a:t>
            </a:r>
          </a:p>
          <a:p>
            <a:pPr marL="12700" marR="5080"/>
            <a:r>
              <a:rPr lang="en-IN" sz="1400" dirty="0">
                <a:hlinkClick r:id="rId2"/>
              </a:rPr>
              <a:t>The Paxos Algorithm</a:t>
            </a:r>
            <a:endParaRPr lang="en-IN" sz="1400" dirty="0"/>
          </a:p>
          <a:p>
            <a:pPr marL="12700" marR="5080"/>
            <a:r>
              <a:rPr lang="en-IN" sz="1400" dirty="0">
                <a:hlinkClick r:id="rId3"/>
              </a:rPr>
              <a:t>Raft Consensus Algorithm</a:t>
            </a:r>
            <a:endParaRPr lang="en-IN" sz="1400" dirty="0"/>
          </a:p>
          <a:p>
            <a:pPr marL="12700" marR="5080"/>
            <a:r>
              <a:rPr lang="en-IN" sz="1400" dirty="0" err="1">
                <a:hlinkClick r:id="rId4"/>
              </a:rPr>
              <a:t>ZooKeeper</a:t>
            </a:r>
            <a:r>
              <a:rPr lang="en-IN" sz="1400" dirty="0">
                <a:hlinkClick r:id="rId4"/>
              </a:rPr>
              <a:t> Atomic Broadcast Protocol (ZAB)</a:t>
            </a:r>
            <a:endParaRPr lang="en-IN" sz="1400" dirty="0"/>
          </a:p>
          <a:p>
            <a:pPr marL="12700" marR="5080"/>
            <a:r>
              <a:rPr lang="en-IN" sz="1400" dirty="0">
                <a:hlinkClick r:id="rId5"/>
              </a:rPr>
              <a:t>Consensus Algorithms | System Design | AlgoMaster.io</a:t>
            </a:r>
            <a:endParaRPr lang="en-IN" sz="1400" dirty="0"/>
          </a:p>
          <a:p>
            <a:pPr marL="12700" marR="5080"/>
            <a:r>
              <a:rPr lang="en-US" sz="1400" dirty="0">
                <a:hlinkClick r:id="rId6"/>
              </a:rPr>
              <a:t>Consensus Algorithms in Distributed System – </a:t>
            </a:r>
            <a:r>
              <a:rPr lang="en-US" sz="1400" dirty="0" err="1">
                <a:hlinkClick r:id="rId6"/>
              </a:rPr>
              <a:t>GeeksforGeeks</a:t>
            </a:r>
            <a:endParaRPr lang="en-US" sz="1400" dirty="0"/>
          </a:p>
          <a:p>
            <a:pPr marL="12700" marR="5080"/>
            <a:r>
              <a:rPr lang="en-US" sz="1400" dirty="0">
                <a:hlinkClick r:id="rId7"/>
              </a:rPr>
              <a:t>Avoiding Coordination Cost</a:t>
            </a:r>
            <a:endParaRPr lang="en-US" sz="1400" dirty="0"/>
          </a:p>
          <a:p>
            <a:pPr marL="12700" marR="5080"/>
            <a:r>
              <a:rPr lang="en-US" sz="1400" dirty="0">
                <a:hlinkClick r:id="rId8"/>
              </a:rPr>
              <a:t>Broadcast protocols in distributed computer control systems – ScienceDirect</a:t>
            </a:r>
            <a:endParaRPr lang="en-US" sz="1400" dirty="0"/>
          </a:p>
          <a:p>
            <a:pPr marL="12700" marR="5080"/>
            <a:r>
              <a:rPr lang="en-IN" sz="1400" dirty="0">
                <a:hlinkClick r:id="rId9"/>
              </a:rPr>
              <a:t>Consensus Algorithms Implementation in C#</a:t>
            </a:r>
            <a:endParaRPr lang="en-US" sz="1400" dirty="0"/>
          </a:p>
          <a:p>
            <a:pPr marL="12700" marR="5080"/>
            <a:r>
              <a:rPr lang="en-US" sz="1400" dirty="0">
                <a:hlinkClick r:id="rId10"/>
              </a:rPr>
              <a:t>Awesome-Consensus: Awesome list for Paxos and friends</a:t>
            </a:r>
            <a:endParaRPr lang="en-US" sz="1400" dirty="0"/>
          </a:p>
          <a:p>
            <a:pPr marL="12700" marR="5080"/>
            <a:r>
              <a:rPr lang="en-US" sz="1400" dirty="0">
                <a:hlinkClick r:id="rId11"/>
              </a:rPr>
              <a:t>How to do distributed locking — Martin </a:t>
            </a:r>
            <a:r>
              <a:rPr lang="en-US" sz="1400" dirty="0" err="1">
                <a:hlinkClick r:id="rId11"/>
              </a:rPr>
              <a:t>Kleppmann’s</a:t>
            </a:r>
            <a:r>
              <a:rPr lang="en-US" sz="1400" dirty="0">
                <a:hlinkClick r:id="rId11"/>
              </a:rPr>
              <a:t> blog</a:t>
            </a:r>
            <a:endParaRPr lang="en-US" sz="1400" dirty="0"/>
          </a:p>
          <a:p>
            <a:pPr marL="12700" marR="5080"/>
            <a:r>
              <a:rPr lang="en-US" sz="1400" dirty="0">
                <a:hlinkClick r:id="rId12"/>
              </a:rPr>
              <a:t>Implementation Principles and Best Practices of Distributed Lock</a:t>
            </a:r>
            <a:endParaRPr lang="en-US" sz="1400" dirty="0"/>
          </a:p>
          <a:p>
            <a:pPr marL="12700" marR="5080"/>
            <a:r>
              <a:rPr lang="en-US" sz="1400" dirty="0">
                <a:hlinkClick r:id="rId13"/>
              </a:rPr>
              <a:t>Distributed Locking: A Practical Guide - by Oskar </a:t>
            </a:r>
            <a:r>
              <a:rPr lang="en-US" sz="1400" dirty="0" err="1">
                <a:hlinkClick r:id="rId13"/>
              </a:rPr>
              <a:t>Dudycz</a:t>
            </a:r>
            <a:endParaRPr lang="en-US" sz="1400" dirty="0"/>
          </a:p>
          <a:p>
            <a:pPr marL="12700" marR="5080"/>
            <a:r>
              <a:rPr lang="en-US" sz="1400" dirty="0" err="1">
                <a:hlinkClick r:id="rId14"/>
              </a:rPr>
              <a:t>DistributedLock</a:t>
            </a:r>
            <a:r>
              <a:rPr lang="en-US" sz="1400" dirty="0">
                <a:hlinkClick r:id="rId14"/>
              </a:rPr>
              <a:t>: A .NET library for distributed synchronization</a:t>
            </a:r>
            <a:endParaRPr lang="en-US" sz="1400" dirty="0"/>
          </a:p>
          <a:p>
            <a:pPr marL="12700" marR="5080"/>
            <a:r>
              <a:rPr lang="en-IN" sz="1400" dirty="0">
                <a:hlinkClick r:id="rId15"/>
              </a:rPr>
              <a:t>1024cores - Wide Finder 2</a:t>
            </a:r>
            <a:endParaRPr lang="en-IN" sz="1400" dirty="0"/>
          </a:p>
          <a:p>
            <a:pPr marL="12700" marR="5080"/>
            <a:r>
              <a:rPr lang="en-IN" sz="1400" dirty="0">
                <a:hlinkClick r:id="rId16"/>
              </a:rPr>
              <a:t>Lock-Free Locks Revisited</a:t>
            </a:r>
            <a:endParaRPr lang="en-IN" sz="1400" dirty="0"/>
          </a:p>
          <a:p>
            <a:pPr marL="12700" marR="5080"/>
            <a:r>
              <a:rPr lang="en-US" sz="1400" dirty="0">
                <a:hlinkClick r:id="rId17"/>
              </a:rPr>
              <a:t>Wait-Free Programming From Scratch</a:t>
            </a:r>
            <a:endParaRPr lang="en-US" sz="1400" dirty="0"/>
          </a:p>
        </p:txBody>
      </p:sp>
      <p:grpSp>
        <p:nvGrpSpPr>
          <p:cNvPr id="7" name="Group 6">
            <a:extLst>
              <a:ext uri="{FF2B5EF4-FFF2-40B4-BE49-F238E27FC236}">
                <a16:creationId xmlns:a16="http://schemas.microsoft.com/office/drawing/2014/main" id="{454B0744-4AE3-0A8A-3CF0-84A15CDF113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90DE0284-FD9E-ED9E-151D-6C2DBD0144B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C66E6375-56CB-C934-22D6-FC911137E80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Co-Ordination</a:t>
              </a:r>
              <a:endParaRPr lang="en-US" sz="2500" kern="1200" dirty="0">
                <a:solidFill>
                  <a:schemeClr val="bg1"/>
                </a:solidFill>
              </a:endParaRPr>
            </a:p>
          </p:txBody>
        </p:sp>
      </p:grpSp>
    </p:spTree>
    <p:extLst>
      <p:ext uri="{BB962C8B-B14F-4D97-AF65-F5344CB8AC3E}">
        <p14:creationId xmlns:p14="http://schemas.microsoft.com/office/powerpoint/2010/main" val="290109525"/>
      </p:ext>
    </p:extLst>
  </p:cSld>
  <p:clrMapOvr>
    <a:masterClrMapping/>
  </p:clrMapOvr>
</p:sld>
</file>

<file path=ppt/slides/slide4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5D9C7-AD4B-49EE-C610-212F25BE2FE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78E1AF8-3C8C-F395-0728-0DAEAE2DC6F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F326758-7BB3-F640-B63E-DE36858F6FA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06CD79D-7663-F1B5-E1A1-496D5343148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3ACCC6EF-6CD9-1391-6456-F338370D82E4}"/>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64E5F6EE-2880-68D2-7FBB-7B93AE6A5F9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C37D0424-63D3-8133-9473-D04F308D9505}"/>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Global System Design</a:t>
              </a:r>
              <a:endParaRPr lang="en-US" sz="2500" kern="1200" dirty="0">
                <a:solidFill>
                  <a:schemeClr val="bg1"/>
                </a:solidFill>
              </a:endParaRPr>
            </a:p>
          </p:txBody>
        </p:sp>
      </p:grpSp>
      <p:sp>
        <p:nvSpPr>
          <p:cNvPr id="6" name="object 2">
            <a:extLst>
              <a:ext uri="{FF2B5EF4-FFF2-40B4-BE49-F238E27FC236}">
                <a16:creationId xmlns:a16="http://schemas.microsoft.com/office/drawing/2014/main" id="{2F91CDCE-2DFC-7F6A-5792-BBD7EA73852B}"/>
              </a:ext>
            </a:extLst>
          </p:cNvPr>
          <p:cNvSpPr txBox="1">
            <a:spLocks/>
          </p:cNvSpPr>
          <p:nvPr/>
        </p:nvSpPr>
        <p:spPr>
          <a:xfrm>
            <a:off x="20320" y="676592"/>
            <a:ext cx="9168589"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6"/>
                </a:solidFill>
                <a:latin typeface="Google Sans"/>
                <a:ea typeface="+mn-ea"/>
                <a:cs typeface="+mn-cs"/>
              </a:rPr>
              <a:t>Global system design has a bunch of extra layers of complexity compared to single-region or local system design. Once your system crosses countries/continents, physics, compliance, networking, user </a:t>
            </a:r>
            <a:r>
              <a:rPr lang="en-US" sz="1500" dirty="0" err="1">
                <a:solidFill>
                  <a:schemeClr val="accent6"/>
                </a:solidFill>
                <a:latin typeface="Google Sans"/>
                <a:ea typeface="+mn-ea"/>
                <a:cs typeface="+mn-cs"/>
              </a:rPr>
              <a:t>behaviour</a:t>
            </a:r>
            <a:r>
              <a:rPr lang="en-US" sz="1500" dirty="0">
                <a:solidFill>
                  <a:schemeClr val="accent6"/>
                </a:solidFill>
                <a:latin typeface="Google Sans"/>
                <a:ea typeface="+mn-ea"/>
                <a:cs typeface="+mn-cs"/>
              </a:rPr>
              <a:t>, and failure modes all start behaving differently. </a:t>
            </a:r>
          </a:p>
          <a:p>
            <a:r>
              <a:rPr lang="en-US" sz="1500" dirty="0">
                <a:solidFill>
                  <a:schemeClr val="accent2"/>
                </a:solidFill>
                <a:latin typeface="Google Sans"/>
                <a:ea typeface="+mn-ea"/>
                <a:cs typeface="+mn-cs"/>
              </a:rPr>
              <a:t>🌍 Global System Design – Specific Considerations</a:t>
            </a:r>
          </a:p>
          <a:p>
            <a:r>
              <a:rPr lang="en-US" sz="1500" dirty="0">
                <a:solidFill>
                  <a:schemeClr val="accent2"/>
                </a:solidFill>
                <a:latin typeface="Google Sans"/>
                <a:ea typeface="+mn-ea"/>
                <a:cs typeface="+mn-cs"/>
              </a:rPr>
              <a:t>1️⃣ Latency &amp; Geography (Physics becomes your boss)</a:t>
            </a:r>
          </a:p>
          <a:p>
            <a:r>
              <a:rPr lang="en-US" sz="1500" dirty="0">
                <a:solidFill>
                  <a:schemeClr val="accent6"/>
                </a:solidFill>
                <a:latin typeface="Google Sans"/>
                <a:ea typeface="+mn-ea"/>
                <a:cs typeface="+mn-cs"/>
              </a:rPr>
              <a:t>✔ Network latency is unavoidable</a:t>
            </a:r>
          </a:p>
          <a:p>
            <a:r>
              <a:rPr lang="en-US" sz="1500" dirty="0">
                <a:solidFill>
                  <a:schemeClr val="accent6"/>
                </a:solidFill>
                <a:latin typeface="Google Sans"/>
                <a:ea typeface="+mn-ea"/>
                <a:cs typeface="+mn-cs"/>
              </a:rPr>
              <a:t>Data traveling across continents adds 100-300ms RTT</a:t>
            </a:r>
          </a:p>
          <a:p>
            <a:r>
              <a:rPr lang="en-US" sz="1500" dirty="0">
                <a:solidFill>
                  <a:schemeClr val="accent6"/>
                </a:solidFill>
                <a:latin typeface="Google Sans"/>
                <a:ea typeface="+mn-ea"/>
                <a:cs typeface="+mn-cs"/>
              </a:rPr>
              <a:t>Speed of light + routing hops = hard lower bound</a:t>
            </a:r>
          </a:p>
          <a:p>
            <a:r>
              <a:rPr lang="en-US" sz="1500" dirty="0">
                <a:solidFill>
                  <a:schemeClr val="accent6"/>
                </a:solidFill>
                <a:latin typeface="Google Sans"/>
                <a:ea typeface="+mn-ea"/>
                <a:cs typeface="+mn-cs"/>
              </a:rPr>
              <a:t>✔ User proximity matters</a:t>
            </a:r>
          </a:p>
          <a:p>
            <a:r>
              <a:rPr lang="en-US" sz="1500" dirty="0">
                <a:solidFill>
                  <a:schemeClr val="accent6"/>
                </a:solidFill>
                <a:latin typeface="Google Sans"/>
                <a:ea typeface="+mn-ea"/>
                <a:cs typeface="+mn-cs"/>
              </a:rPr>
              <a:t>You must serve users from nearest region</a:t>
            </a:r>
          </a:p>
          <a:p>
            <a:r>
              <a:rPr lang="en-US" sz="1500" dirty="0" err="1">
                <a:solidFill>
                  <a:schemeClr val="accent6"/>
                </a:solidFill>
                <a:latin typeface="Google Sans"/>
                <a:ea typeface="+mn-ea"/>
                <a:cs typeface="+mn-cs"/>
              </a:rPr>
              <a:t>Requires:Multi-region</a:t>
            </a:r>
            <a:r>
              <a:rPr lang="en-US" sz="1500" dirty="0">
                <a:solidFill>
                  <a:schemeClr val="accent6"/>
                </a:solidFill>
                <a:latin typeface="Google Sans"/>
                <a:ea typeface="+mn-ea"/>
                <a:cs typeface="+mn-cs"/>
              </a:rPr>
              <a:t> deployments</a:t>
            </a:r>
          </a:p>
          <a:p>
            <a:r>
              <a:rPr lang="en-US" sz="1500" dirty="0">
                <a:solidFill>
                  <a:schemeClr val="accent6"/>
                </a:solidFill>
                <a:latin typeface="Google Sans"/>
                <a:ea typeface="+mn-ea"/>
                <a:cs typeface="+mn-cs"/>
              </a:rPr>
              <a:t>Geo-</a:t>
            </a:r>
            <a:r>
              <a:rPr lang="en-US" sz="1500" dirty="0" err="1">
                <a:solidFill>
                  <a:schemeClr val="accent6"/>
                </a:solidFill>
                <a:latin typeface="Google Sans"/>
                <a:ea typeface="+mn-ea"/>
                <a:cs typeface="+mn-cs"/>
              </a:rPr>
              <a:t>routingEdge</a:t>
            </a:r>
            <a:r>
              <a:rPr lang="en-US" sz="1500" dirty="0">
                <a:solidFill>
                  <a:schemeClr val="accent6"/>
                </a:solidFill>
                <a:latin typeface="Google Sans"/>
                <a:ea typeface="+mn-ea"/>
                <a:cs typeface="+mn-cs"/>
              </a:rPr>
              <a:t> caching, CDN usage</a:t>
            </a:r>
          </a:p>
          <a:p>
            <a:r>
              <a:rPr lang="en-US" sz="1500" dirty="0">
                <a:solidFill>
                  <a:schemeClr val="accent6"/>
                </a:solidFill>
                <a:latin typeface="Google Sans"/>
                <a:ea typeface="+mn-ea"/>
                <a:cs typeface="+mn-cs"/>
              </a:rPr>
              <a:t>✔ Data gravity</a:t>
            </a:r>
          </a:p>
          <a:p>
            <a:r>
              <a:rPr lang="en-US" sz="1500" dirty="0">
                <a:solidFill>
                  <a:schemeClr val="accent6"/>
                </a:solidFill>
                <a:latin typeface="Google Sans"/>
                <a:ea typeface="+mn-ea"/>
                <a:cs typeface="+mn-cs"/>
              </a:rPr>
              <a:t>Large datasets become hard to move</a:t>
            </a:r>
          </a:p>
          <a:p>
            <a:r>
              <a:rPr lang="en-US" sz="1500" dirty="0">
                <a:solidFill>
                  <a:schemeClr val="accent6"/>
                </a:solidFill>
                <a:latin typeface="Google Sans"/>
                <a:ea typeface="+mn-ea"/>
                <a:cs typeface="+mn-cs"/>
              </a:rPr>
              <a:t>Often better to move compute to data rather than vice versa</a:t>
            </a:r>
          </a:p>
          <a:p>
            <a:r>
              <a:rPr lang="en-US" sz="1500" dirty="0">
                <a:solidFill>
                  <a:schemeClr val="accent2"/>
                </a:solidFill>
                <a:latin typeface="Google Sans"/>
                <a:ea typeface="+mn-ea"/>
                <a:cs typeface="+mn-cs"/>
              </a:rPr>
              <a:t>👉 Typical patterns:</a:t>
            </a:r>
          </a:p>
          <a:p>
            <a:r>
              <a:rPr lang="en-US" sz="1500" dirty="0">
                <a:solidFill>
                  <a:schemeClr val="accent6"/>
                </a:solidFill>
                <a:latin typeface="Google Sans"/>
                <a:ea typeface="+mn-ea"/>
                <a:cs typeface="+mn-cs"/>
              </a:rPr>
              <a:t>Active-active regions</a:t>
            </a:r>
          </a:p>
          <a:p>
            <a:r>
              <a:rPr lang="en-US" sz="1500" dirty="0">
                <a:solidFill>
                  <a:schemeClr val="accent6"/>
                </a:solidFill>
                <a:latin typeface="Google Sans"/>
                <a:ea typeface="+mn-ea"/>
                <a:cs typeface="+mn-cs"/>
              </a:rPr>
              <a:t>Edge compute</a:t>
            </a:r>
          </a:p>
          <a:p>
            <a:r>
              <a:rPr lang="en-US" sz="1500" dirty="0">
                <a:solidFill>
                  <a:schemeClr val="accent6"/>
                </a:solidFill>
                <a:latin typeface="Google Sans"/>
                <a:ea typeface="+mn-ea"/>
                <a:cs typeface="+mn-cs"/>
              </a:rPr>
              <a:t>Regional data shards</a:t>
            </a:r>
          </a:p>
          <a:p>
            <a:r>
              <a:rPr lang="en-US" sz="1500" dirty="0">
                <a:solidFill>
                  <a:schemeClr val="accent2"/>
                </a:solidFill>
                <a:latin typeface="Google Sans"/>
                <a:ea typeface="+mn-ea"/>
                <a:cs typeface="+mn-cs"/>
              </a:rPr>
              <a:t>2️⃣ Consistency vs Availability Tradeoffs</a:t>
            </a:r>
          </a:p>
          <a:p>
            <a:r>
              <a:rPr lang="en-US" sz="1500" dirty="0">
                <a:solidFill>
                  <a:schemeClr val="accent6"/>
                </a:solidFill>
                <a:latin typeface="Google Sans"/>
                <a:ea typeface="+mn-ea"/>
                <a:cs typeface="+mn-cs"/>
              </a:rPr>
              <a:t>Global systems heavily deal with CAP theorem reality.</a:t>
            </a:r>
          </a:p>
          <a:p>
            <a:r>
              <a:rPr lang="en-US" sz="1500" dirty="0">
                <a:solidFill>
                  <a:schemeClr val="accent6"/>
                </a:solidFill>
                <a:latin typeface="Google Sans"/>
                <a:ea typeface="+mn-ea"/>
                <a:cs typeface="+mn-cs"/>
              </a:rPr>
              <a:t>✔ Strong consistency becomes expensive</a:t>
            </a:r>
          </a:p>
          <a:p>
            <a:r>
              <a:rPr lang="en-US" sz="1500" dirty="0">
                <a:solidFill>
                  <a:schemeClr val="accent6"/>
                </a:solidFill>
                <a:latin typeface="Google Sans"/>
                <a:ea typeface="+mn-ea"/>
                <a:cs typeface="+mn-cs"/>
              </a:rPr>
              <a:t>Cross-region synchronous </a:t>
            </a:r>
            <a:r>
              <a:rPr lang="en-US" sz="1500" dirty="0" err="1">
                <a:solidFill>
                  <a:schemeClr val="accent6"/>
                </a:solidFill>
                <a:latin typeface="Google Sans"/>
                <a:ea typeface="+mn-ea"/>
                <a:cs typeface="+mn-cs"/>
              </a:rPr>
              <a:t>replication:Adds</a:t>
            </a:r>
            <a:r>
              <a:rPr lang="en-US" sz="1500" dirty="0">
                <a:solidFill>
                  <a:schemeClr val="accent6"/>
                </a:solidFill>
                <a:latin typeface="Google Sans"/>
                <a:ea typeface="+mn-ea"/>
                <a:cs typeface="+mn-cs"/>
              </a:rPr>
              <a:t> huge latency</a:t>
            </a:r>
          </a:p>
        </p:txBody>
      </p:sp>
    </p:spTree>
    <p:extLst>
      <p:ext uri="{BB962C8B-B14F-4D97-AF65-F5344CB8AC3E}">
        <p14:creationId xmlns:p14="http://schemas.microsoft.com/office/powerpoint/2010/main" val="2074040081"/>
      </p:ext>
    </p:extLst>
  </p:cSld>
  <p:clrMapOvr>
    <a:masterClrMapping/>
  </p:clrMapOvr>
</p:sld>
</file>

<file path=ppt/slides/slide4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70343-B234-CDF9-7325-835777E0B3B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9172F54-1167-7C0D-A5E5-85CD56949A7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4C87F4C-073C-1B07-1092-8D18175D3BD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71E841D-D2E1-BFB0-95F9-B3FB6DC8694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BB198A97-816E-CB6E-C763-A29ED1A9AD5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A3E2350D-1278-3BD8-802E-F9BED3782D9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3AFA719-C1CC-1BB4-1509-8CB0C084B12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Global System Design</a:t>
              </a:r>
              <a:endParaRPr lang="en-US" sz="2500" kern="1200" dirty="0">
                <a:solidFill>
                  <a:schemeClr val="bg1"/>
                </a:solidFill>
              </a:endParaRPr>
            </a:p>
          </p:txBody>
        </p:sp>
      </p:grpSp>
      <p:sp>
        <p:nvSpPr>
          <p:cNvPr id="6" name="object 2">
            <a:extLst>
              <a:ext uri="{FF2B5EF4-FFF2-40B4-BE49-F238E27FC236}">
                <a16:creationId xmlns:a16="http://schemas.microsoft.com/office/drawing/2014/main" id="{6D7BCA27-6F50-B613-E53E-27F243963F88}"/>
              </a:ext>
            </a:extLst>
          </p:cNvPr>
          <p:cNvSpPr txBox="1">
            <a:spLocks/>
          </p:cNvSpPr>
          <p:nvPr/>
        </p:nvSpPr>
        <p:spPr>
          <a:xfrm>
            <a:off x="20320" y="676592"/>
            <a:ext cx="9168589"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700" dirty="0">
                <a:solidFill>
                  <a:schemeClr val="accent2"/>
                </a:solidFill>
                <a:latin typeface="Google Sans"/>
                <a:ea typeface="+mn-ea"/>
                <a:cs typeface="+mn-cs"/>
              </a:rPr>
              <a:t>🌍 Global System Design – Specific Considerations</a:t>
            </a:r>
          </a:p>
          <a:p>
            <a:r>
              <a:rPr lang="en-US" sz="1500" dirty="0">
                <a:solidFill>
                  <a:schemeClr val="accent2"/>
                </a:solidFill>
                <a:latin typeface="Google Sans"/>
                <a:ea typeface="+mn-ea"/>
                <a:cs typeface="+mn-cs"/>
              </a:rPr>
              <a:t>2️⃣ Consistency vs Availability Tradeoffs</a:t>
            </a:r>
          </a:p>
          <a:p>
            <a:r>
              <a:rPr lang="en-US" sz="1500" dirty="0">
                <a:solidFill>
                  <a:schemeClr val="accent6"/>
                </a:solidFill>
                <a:latin typeface="Google Sans"/>
                <a:ea typeface="+mn-ea"/>
                <a:cs typeface="+mn-cs"/>
              </a:rPr>
              <a:t>Global systems heavily deal with CAP theorem reality.</a:t>
            </a:r>
          </a:p>
          <a:p>
            <a:r>
              <a:rPr lang="en-US" sz="1500" dirty="0">
                <a:solidFill>
                  <a:schemeClr val="accent6"/>
                </a:solidFill>
                <a:latin typeface="Google Sans"/>
                <a:ea typeface="+mn-ea"/>
                <a:cs typeface="+mn-cs"/>
              </a:rPr>
              <a:t>✔ Strong consistency becomes expensive</a:t>
            </a:r>
          </a:p>
          <a:p>
            <a:r>
              <a:rPr lang="en-US" sz="1500" dirty="0">
                <a:solidFill>
                  <a:schemeClr val="accent6"/>
                </a:solidFill>
                <a:latin typeface="Google Sans"/>
                <a:ea typeface="+mn-ea"/>
                <a:cs typeface="+mn-cs"/>
              </a:rPr>
              <a:t>Cross-region synchronous </a:t>
            </a:r>
            <a:r>
              <a:rPr lang="en-US" sz="1500" dirty="0" err="1">
                <a:solidFill>
                  <a:schemeClr val="accent6"/>
                </a:solidFill>
                <a:latin typeface="Google Sans"/>
                <a:ea typeface="+mn-ea"/>
                <a:cs typeface="+mn-cs"/>
              </a:rPr>
              <a:t>replication:Adds</a:t>
            </a:r>
            <a:r>
              <a:rPr lang="en-US" sz="1500" dirty="0">
                <a:solidFill>
                  <a:schemeClr val="accent6"/>
                </a:solidFill>
                <a:latin typeface="Google Sans"/>
                <a:ea typeface="+mn-ea"/>
                <a:cs typeface="+mn-cs"/>
              </a:rPr>
              <a:t> huge latency</a:t>
            </a:r>
          </a:p>
          <a:p>
            <a:r>
              <a:rPr lang="en-US" sz="1500" dirty="0">
                <a:solidFill>
                  <a:schemeClr val="accent6"/>
                </a:solidFill>
                <a:latin typeface="Google Sans"/>
                <a:ea typeface="+mn-ea"/>
                <a:cs typeface="+mn-cs"/>
              </a:rPr>
              <a:t>Risk of cascading failures</a:t>
            </a:r>
          </a:p>
          <a:p>
            <a:r>
              <a:rPr lang="en-US" sz="1500" dirty="0">
                <a:solidFill>
                  <a:schemeClr val="accent6"/>
                </a:solidFill>
                <a:latin typeface="Google Sans"/>
                <a:ea typeface="+mn-ea"/>
                <a:cs typeface="+mn-cs"/>
              </a:rPr>
              <a:t>✔ Eventual consistency becomes common</a:t>
            </a:r>
          </a:p>
          <a:p>
            <a:r>
              <a:rPr lang="en-US" sz="1500" dirty="0">
                <a:solidFill>
                  <a:schemeClr val="accent6"/>
                </a:solidFill>
                <a:latin typeface="Google Sans"/>
                <a:ea typeface="+mn-ea"/>
                <a:cs typeface="+mn-cs"/>
              </a:rPr>
              <a:t>You </a:t>
            </a:r>
            <a:r>
              <a:rPr lang="en-US" sz="1500" dirty="0" err="1">
                <a:solidFill>
                  <a:schemeClr val="accent6"/>
                </a:solidFill>
                <a:latin typeface="Google Sans"/>
                <a:ea typeface="+mn-ea"/>
                <a:cs typeface="+mn-cs"/>
              </a:rPr>
              <a:t>accept:Temporary</a:t>
            </a:r>
            <a:r>
              <a:rPr lang="en-US" sz="1500" dirty="0">
                <a:solidFill>
                  <a:schemeClr val="accent6"/>
                </a:solidFill>
                <a:latin typeface="Google Sans"/>
                <a:ea typeface="+mn-ea"/>
                <a:cs typeface="+mn-cs"/>
              </a:rPr>
              <a:t> stale data</a:t>
            </a:r>
          </a:p>
          <a:p>
            <a:r>
              <a:rPr lang="en-US" sz="1500" dirty="0">
                <a:solidFill>
                  <a:schemeClr val="accent6"/>
                </a:solidFill>
                <a:latin typeface="Google Sans"/>
                <a:ea typeface="+mn-ea"/>
                <a:cs typeface="+mn-cs"/>
              </a:rPr>
              <a:t>Conflict resolution strategies</a:t>
            </a:r>
          </a:p>
          <a:p>
            <a:r>
              <a:rPr lang="en-US" sz="1500" dirty="0">
                <a:solidFill>
                  <a:schemeClr val="accent2"/>
                </a:solidFill>
                <a:latin typeface="Google Sans"/>
                <a:ea typeface="+mn-ea"/>
                <a:cs typeface="+mn-cs"/>
              </a:rPr>
              <a:t>✔ Choose per domain</a:t>
            </a:r>
          </a:p>
          <a:p>
            <a:r>
              <a:rPr lang="en-US" sz="1500" dirty="0" err="1">
                <a:solidFill>
                  <a:schemeClr val="accent2"/>
                </a:solidFill>
                <a:latin typeface="Google Sans"/>
                <a:ea typeface="+mn-ea"/>
                <a:cs typeface="+mn-cs"/>
              </a:rPr>
              <a:t>Example:Domain</a:t>
            </a:r>
            <a:r>
              <a:rPr lang="en-US" sz="1500" dirty="0">
                <a:solidFill>
                  <a:schemeClr val="accent2"/>
                </a:solidFill>
                <a:latin typeface="Google Sans"/>
                <a:ea typeface="+mn-ea"/>
                <a:cs typeface="+mn-cs"/>
              </a:rPr>
              <a:t>	Consistency Need</a:t>
            </a:r>
          </a:p>
          <a:p>
            <a:r>
              <a:rPr lang="en-US" sz="1500" dirty="0">
                <a:solidFill>
                  <a:schemeClr val="accent6"/>
                </a:solidFill>
                <a:latin typeface="Google Sans"/>
                <a:ea typeface="+mn-ea"/>
                <a:cs typeface="+mn-cs"/>
              </a:rPr>
              <a:t>Payments	                     Strong</a:t>
            </a:r>
          </a:p>
          <a:p>
            <a:r>
              <a:rPr lang="en-US" sz="1500" dirty="0">
                <a:solidFill>
                  <a:schemeClr val="accent6"/>
                </a:solidFill>
                <a:latin typeface="Google Sans"/>
                <a:ea typeface="+mn-ea"/>
                <a:cs typeface="+mn-cs"/>
              </a:rPr>
              <a:t>Social feeds	Eventual</a:t>
            </a:r>
          </a:p>
          <a:p>
            <a:r>
              <a:rPr lang="en-US" sz="1500" dirty="0">
                <a:solidFill>
                  <a:schemeClr val="accent6"/>
                </a:solidFill>
                <a:latin typeface="Google Sans"/>
                <a:ea typeface="+mn-ea"/>
                <a:cs typeface="+mn-cs"/>
              </a:rPr>
              <a:t>Analytics	                     Relaxed</a:t>
            </a:r>
          </a:p>
          <a:p>
            <a:r>
              <a:rPr lang="en-US" sz="1500" dirty="0">
                <a:solidFill>
                  <a:schemeClr val="accent6"/>
                </a:solidFill>
                <a:latin typeface="Google Sans"/>
                <a:ea typeface="+mn-ea"/>
                <a:cs typeface="+mn-cs"/>
              </a:rPr>
              <a:t>👉 Usually systems become poly-consistency architecture</a:t>
            </a:r>
          </a:p>
          <a:p>
            <a:endParaRPr lang="en-US" sz="1500" dirty="0">
              <a:solidFill>
                <a:schemeClr val="accent6"/>
              </a:solidFill>
              <a:latin typeface="Google Sans"/>
              <a:ea typeface="+mn-ea"/>
              <a:cs typeface="+mn-cs"/>
            </a:endParaRPr>
          </a:p>
          <a:p>
            <a:r>
              <a:rPr lang="en-US" sz="1500" dirty="0">
                <a:solidFill>
                  <a:schemeClr val="accent6"/>
                </a:solidFill>
                <a:latin typeface="Google Sans"/>
                <a:ea typeface="+mn-ea"/>
                <a:cs typeface="+mn-cs"/>
              </a:rPr>
              <a:t>3️⃣</a:t>
            </a:r>
            <a:r>
              <a:rPr lang="en-US" sz="1500" dirty="0">
                <a:solidFill>
                  <a:schemeClr val="accent2"/>
                </a:solidFill>
                <a:latin typeface="Google Sans"/>
                <a:ea typeface="+mn-ea"/>
                <a:cs typeface="+mn-cs"/>
              </a:rPr>
              <a:t> Multi-Region Deployment Strategies</a:t>
            </a:r>
          </a:p>
          <a:p>
            <a:r>
              <a:rPr lang="en-US" sz="1500" dirty="0">
                <a:solidFill>
                  <a:schemeClr val="accent2"/>
                </a:solidFill>
                <a:latin typeface="Google Sans"/>
                <a:ea typeface="+mn-ea"/>
                <a:cs typeface="+mn-cs"/>
              </a:rPr>
              <a:t>🟢 Active-Passive </a:t>
            </a:r>
          </a:p>
          <a:p>
            <a:r>
              <a:rPr lang="en-US" sz="1500" dirty="0">
                <a:solidFill>
                  <a:schemeClr val="accent6"/>
                </a:solidFill>
                <a:latin typeface="Google Sans"/>
                <a:ea typeface="+mn-ea"/>
                <a:cs typeface="+mn-cs"/>
              </a:rPr>
              <a:t>One primary region</a:t>
            </a:r>
          </a:p>
          <a:p>
            <a:r>
              <a:rPr lang="en-US" sz="1500" dirty="0">
                <a:solidFill>
                  <a:schemeClr val="accent6"/>
                </a:solidFill>
                <a:latin typeface="Google Sans"/>
                <a:ea typeface="+mn-ea"/>
                <a:cs typeface="+mn-cs"/>
              </a:rPr>
              <a:t>Others standby</a:t>
            </a:r>
          </a:p>
          <a:p>
            <a:r>
              <a:rPr lang="en-US" sz="1500" dirty="0">
                <a:solidFill>
                  <a:schemeClr val="accent6"/>
                </a:solidFill>
                <a:latin typeface="Google Sans"/>
                <a:ea typeface="+mn-ea"/>
                <a:cs typeface="+mn-cs"/>
              </a:rPr>
              <a:t>Easier consistency</a:t>
            </a:r>
          </a:p>
          <a:p>
            <a:r>
              <a:rPr lang="en-US" sz="1500" dirty="0">
                <a:solidFill>
                  <a:schemeClr val="accent6"/>
                </a:solidFill>
                <a:latin typeface="Google Sans"/>
                <a:ea typeface="+mn-ea"/>
                <a:cs typeface="+mn-cs"/>
              </a:rPr>
              <a:t>Slower failover</a:t>
            </a:r>
          </a:p>
        </p:txBody>
      </p:sp>
    </p:spTree>
    <p:extLst>
      <p:ext uri="{BB962C8B-B14F-4D97-AF65-F5344CB8AC3E}">
        <p14:creationId xmlns:p14="http://schemas.microsoft.com/office/powerpoint/2010/main" val="3564042861"/>
      </p:ext>
    </p:extLst>
  </p:cSld>
  <p:clrMapOvr>
    <a:masterClrMapping/>
  </p:clrMapOvr>
</p:sld>
</file>

<file path=ppt/slides/slide4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3FE44-9E9D-D4B8-7219-47AC0E547F3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5D23B17-C439-43B4-9CB1-FF4059F8128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0B5E0A9-E2E8-FC78-A9F2-324F4D9C742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47206EAD-3ED6-F1E7-148A-3A66B917D7D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F686FF3B-6308-D4B7-567A-2556203993B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A623A0F4-2A86-0BD7-3BDD-744ACAF326B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245258A5-83B0-F892-8317-96C28FEFDCD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Global System Design</a:t>
              </a:r>
              <a:endParaRPr lang="en-US" sz="2500" kern="1200" dirty="0">
                <a:solidFill>
                  <a:schemeClr val="bg1"/>
                </a:solidFill>
              </a:endParaRPr>
            </a:p>
          </p:txBody>
        </p:sp>
      </p:grpSp>
      <p:sp>
        <p:nvSpPr>
          <p:cNvPr id="6" name="object 2">
            <a:extLst>
              <a:ext uri="{FF2B5EF4-FFF2-40B4-BE49-F238E27FC236}">
                <a16:creationId xmlns:a16="http://schemas.microsoft.com/office/drawing/2014/main" id="{EAB6D354-C41C-CED2-592D-52126229790F}"/>
              </a:ext>
            </a:extLst>
          </p:cNvPr>
          <p:cNvSpPr txBox="1">
            <a:spLocks/>
          </p:cNvSpPr>
          <p:nvPr/>
        </p:nvSpPr>
        <p:spPr>
          <a:xfrm>
            <a:off x="20320" y="676592"/>
            <a:ext cx="9168589"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700" dirty="0">
                <a:solidFill>
                  <a:schemeClr val="accent2"/>
                </a:solidFill>
                <a:latin typeface="Google Sans"/>
                <a:ea typeface="+mn-ea"/>
                <a:cs typeface="+mn-cs"/>
              </a:rPr>
              <a:t>🌍 Global System Design – Specific Considerations</a:t>
            </a:r>
          </a:p>
          <a:p>
            <a:r>
              <a:rPr lang="en-US" sz="1500" dirty="0">
                <a:solidFill>
                  <a:schemeClr val="accent6"/>
                </a:solidFill>
                <a:latin typeface="Google Sans"/>
                <a:ea typeface="+mn-ea"/>
                <a:cs typeface="+mn-cs"/>
              </a:rPr>
              <a:t>3️⃣</a:t>
            </a:r>
            <a:r>
              <a:rPr lang="en-US" sz="1500" dirty="0">
                <a:solidFill>
                  <a:schemeClr val="accent2"/>
                </a:solidFill>
                <a:latin typeface="Google Sans"/>
                <a:ea typeface="+mn-ea"/>
                <a:cs typeface="+mn-cs"/>
              </a:rPr>
              <a:t> Multi-Region Deployment Strategies</a:t>
            </a:r>
          </a:p>
          <a:p>
            <a:r>
              <a:rPr lang="en-US" sz="1500" dirty="0">
                <a:solidFill>
                  <a:schemeClr val="accent2"/>
                </a:solidFill>
                <a:latin typeface="Google Sans"/>
                <a:ea typeface="+mn-ea"/>
                <a:cs typeface="+mn-cs"/>
              </a:rPr>
              <a:t>🟢 Active-Active</a:t>
            </a:r>
          </a:p>
          <a:p>
            <a:r>
              <a:rPr lang="en-US" sz="1500" dirty="0">
                <a:solidFill>
                  <a:schemeClr val="accent6"/>
                </a:solidFill>
                <a:latin typeface="Google Sans"/>
                <a:ea typeface="+mn-ea"/>
                <a:cs typeface="+mn-cs"/>
              </a:rPr>
              <a:t>Multiple writable regions</a:t>
            </a:r>
          </a:p>
          <a:p>
            <a:r>
              <a:rPr lang="en-US" sz="1500" dirty="0" err="1">
                <a:solidFill>
                  <a:schemeClr val="accent6"/>
                </a:solidFill>
                <a:latin typeface="Google Sans"/>
                <a:ea typeface="+mn-ea"/>
                <a:cs typeface="+mn-cs"/>
              </a:rPr>
              <a:t>Requires:Conflict</a:t>
            </a:r>
            <a:r>
              <a:rPr lang="en-US" sz="1500" dirty="0">
                <a:solidFill>
                  <a:schemeClr val="accent6"/>
                </a:solidFill>
                <a:latin typeface="Google Sans"/>
                <a:ea typeface="+mn-ea"/>
                <a:cs typeface="+mn-cs"/>
              </a:rPr>
              <a:t> resolution</a:t>
            </a:r>
          </a:p>
          <a:p>
            <a:r>
              <a:rPr lang="en-US" sz="1500" dirty="0">
                <a:solidFill>
                  <a:schemeClr val="accent6"/>
                </a:solidFill>
                <a:latin typeface="Google Sans"/>
                <a:ea typeface="+mn-ea"/>
                <a:cs typeface="+mn-cs"/>
              </a:rPr>
              <a:t>Global load balancing</a:t>
            </a:r>
          </a:p>
          <a:p>
            <a:r>
              <a:rPr lang="en-US" sz="1500" dirty="0">
                <a:solidFill>
                  <a:schemeClr val="accent6"/>
                </a:solidFill>
                <a:latin typeface="Google Sans"/>
                <a:ea typeface="+mn-ea"/>
                <a:cs typeface="+mn-cs"/>
              </a:rPr>
              <a:t>Distributed transactions avoidance</a:t>
            </a:r>
          </a:p>
          <a:p>
            <a:r>
              <a:rPr lang="en-US" sz="1500" dirty="0">
                <a:solidFill>
                  <a:schemeClr val="accent2"/>
                </a:solidFill>
                <a:latin typeface="Google Sans"/>
                <a:ea typeface="+mn-ea"/>
                <a:cs typeface="+mn-cs"/>
              </a:rPr>
              <a:t>🟢 Cell-based Architecture(same code in different deployment units)</a:t>
            </a:r>
          </a:p>
          <a:p>
            <a:r>
              <a:rPr lang="en-US" sz="1500" dirty="0">
                <a:solidFill>
                  <a:schemeClr val="accent6"/>
                </a:solidFill>
                <a:latin typeface="Google Sans"/>
                <a:ea typeface="+mn-ea"/>
                <a:cs typeface="+mn-cs"/>
              </a:rPr>
              <a:t>Independent region units</a:t>
            </a:r>
          </a:p>
          <a:p>
            <a:r>
              <a:rPr lang="en-US" sz="1500" dirty="0">
                <a:solidFill>
                  <a:schemeClr val="accent6"/>
                </a:solidFill>
                <a:latin typeface="Google Sans"/>
                <a:ea typeface="+mn-ea"/>
                <a:cs typeface="+mn-cs"/>
              </a:rPr>
              <a:t>Failure isolated per cell</a:t>
            </a:r>
          </a:p>
          <a:p>
            <a:r>
              <a:rPr lang="en-US" sz="1500" dirty="0">
                <a:solidFill>
                  <a:schemeClr val="accent6"/>
                </a:solidFill>
                <a:latin typeface="Google Sans"/>
                <a:ea typeface="+mn-ea"/>
                <a:cs typeface="+mn-cs"/>
              </a:rPr>
              <a:t>Massive scalability</a:t>
            </a:r>
          </a:p>
          <a:p>
            <a:r>
              <a:rPr lang="en-US" sz="1500" dirty="0">
                <a:solidFill>
                  <a:schemeClr val="accent2"/>
                </a:solidFill>
                <a:latin typeface="Google Sans"/>
                <a:ea typeface="+mn-ea"/>
                <a:cs typeface="+mn-cs"/>
              </a:rPr>
              <a:t>4️⃣ Data Replication &amp; Partitioning</a:t>
            </a:r>
          </a:p>
          <a:p>
            <a:r>
              <a:rPr lang="en-US" sz="1500" dirty="0">
                <a:solidFill>
                  <a:schemeClr val="accent2"/>
                </a:solidFill>
                <a:latin typeface="Google Sans"/>
              </a:rPr>
              <a:t>✔ Geo-Distributed Databases: </a:t>
            </a:r>
            <a:r>
              <a:rPr lang="en-US" sz="1500" dirty="0">
                <a:solidFill>
                  <a:schemeClr val="accent6"/>
                </a:solidFill>
                <a:latin typeface="Google Sans"/>
              </a:rPr>
              <a:t>Choose databases that support replication across multiple geographic regions to provide low-latency reads and writes, such as Cassandra, DynamoDB, or </a:t>
            </a:r>
            <a:r>
              <a:rPr lang="en-US" sz="1500" dirty="0" err="1">
                <a:solidFill>
                  <a:schemeClr val="accent6"/>
                </a:solidFill>
                <a:latin typeface="Google Sans"/>
              </a:rPr>
              <a:t>CockroachDB</a:t>
            </a:r>
            <a:r>
              <a:rPr lang="en-US" sz="1500" dirty="0">
                <a:solidFill>
                  <a:schemeClr val="accent6"/>
                </a:solidFill>
                <a:latin typeface="Google Sans"/>
              </a:rPr>
              <a:t>.</a:t>
            </a:r>
          </a:p>
          <a:p>
            <a:r>
              <a:rPr lang="en-US" sz="1500" dirty="0">
                <a:solidFill>
                  <a:schemeClr val="accent2"/>
                </a:solidFill>
                <a:latin typeface="Google Sans"/>
                <a:ea typeface="+mn-ea"/>
                <a:cs typeface="+mn-cs"/>
              </a:rPr>
              <a:t>✔ Geo-sharding</a:t>
            </a:r>
          </a:p>
          <a:p>
            <a:r>
              <a:rPr lang="en-US" sz="1500" dirty="0">
                <a:solidFill>
                  <a:schemeClr val="accent6"/>
                </a:solidFill>
                <a:latin typeface="Google Sans"/>
                <a:ea typeface="+mn-ea"/>
                <a:cs typeface="+mn-cs"/>
              </a:rPr>
              <a:t>Partition users by </a:t>
            </a:r>
            <a:r>
              <a:rPr lang="en-US" sz="1500" dirty="0" err="1">
                <a:solidFill>
                  <a:schemeClr val="accent6"/>
                </a:solidFill>
                <a:latin typeface="Google Sans"/>
                <a:ea typeface="+mn-ea"/>
                <a:cs typeface="+mn-cs"/>
              </a:rPr>
              <a:t>geography:EU</a:t>
            </a:r>
            <a:r>
              <a:rPr lang="en-US" sz="1500" dirty="0">
                <a:solidFill>
                  <a:schemeClr val="accent6"/>
                </a:solidFill>
                <a:latin typeface="Google Sans"/>
                <a:ea typeface="+mn-ea"/>
                <a:cs typeface="+mn-cs"/>
              </a:rPr>
              <a:t> users → EU cluster</a:t>
            </a:r>
          </a:p>
          <a:p>
            <a:r>
              <a:rPr lang="en-US" sz="1500" dirty="0">
                <a:solidFill>
                  <a:schemeClr val="accent6"/>
                </a:solidFill>
                <a:latin typeface="Google Sans"/>
                <a:ea typeface="+mn-ea"/>
                <a:cs typeface="+mn-cs"/>
              </a:rPr>
              <a:t>APAC → APAC cluster</a:t>
            </a:r>
          </a:p>
          <a:p>
            <a:r>
              <a:rPr lang="en-US" sz="1500" dirty="0" err="1">
                <a:solidFill>
                  <a:schemeClr val="accent6"/>
                </a:solidFill>
                <a:latin typeface="Google Sans"/>
                <a:ea typeface="+mn-ea"/>
                <a:cs typeface="+mn-cs"/>
              </a:rPr>
              <a:t>Benefits:Compliance</a:t>
            </a:r>
            <a:r>
              <a:rPr lang="en-US" sz="1500" dirty="0">
                <a:solidFill>
                  <a:schemeClr val="accent6"/>
                </a:solidFill>
                <a:latin typeface="Google Sans"/>
                <a:ea typeface="+mn-ea"/>
                <a:cs typeface="+mn-cs"/>
              </a:rPr>
              <a:t>, Lower latency, Cost optimization</a:t>
            </a:r>
          </a:p>
          <a:p>
            <a:r>
              <a:rPr lang="en-US" sz="1500" dirty="0">
                <a:solidFill>
                  <a:schemeClr val="accent2"/>
                </a:solidFill>
                <a:latin typeface="Google Sans"/>
                <a:ea typeface="+mn-ea"/>
                <a:cs typeface="+mn-cs"/>
              </a:rPr>
              <a:t>✔ Replication Models</a:t>
            </a:r>
          </a:p>
          <a:p>
            <a:r>
              <a:rPr lang="en-US" sz="1500" dirty="0">
                <a:solidFill>
                  <a:schemeClr val="accent6"/>
                </a:solidFill>
                <a:latin typeface="Google Sans"/>
                <a:ea typeface="+mn-ea"/>
                <a:cs typeface="+mn-cs"/>
              </a:rPr>
              <a:t>Synchronous replication</a:t>
            </a:r>
          </a:p>
          <a:p>
            <a:r>
              <a:rPr lang="en-US" sz="1500" dirty="0">
                <a:solidFill>
                  <a:schemeClr val="accent6"/>
                </a:solidFill>
                <a:latin typeface="Google Sans"/>
                <a:ea typeface="+mn-ea"/>
                <a:cs typeface="+mn-cs"/>
              </a:rPr>
              <a:t>Strong consistency</a:t>
            </a:r>
          </a:p>
          <a:p>
            <a:r>
              <a:rPr lang="en-US" sz="1500" dirty="0">
                <a:solidFill>
                  <a:schemeClr val="accent6"/>
                </a:solidFill>
                <a:latin typeface="Google Sans"/>
                <a:ea typeface="+mn-ea"/>
                <a:cs typeface="+mn-cs"/>
              </a:rPr>
              <a:t>High latency</a:t>
            </a:r>
          </a:p>
          <a:p>
            <a:r>
              <a:rPr lang="en-US" sz="1500" dirty="0">
                <a:solidFill>
                  <a:schemeClr val="accent6"/>
                </a:solidFill>
                <a:latin typeface="Google Sans"/>
                <a:ea typeface="+mn-ea"/>
                <a:cs typeface="+mn-cs"/>
              </a:rPr>
              <a:t>Risk of global outage</a:t>
            </a:r>
          </a:p>
        </p:txBody>
      </p:sp>
    </p:spTree>
    <p:extLst>
      <p:ext uri="{BB962C8B-B14F-4D97-AF65-F5344CB8AC3E}">
        <p14:creationId xmlns:p14="http://schemas.microsoft.com/office/powerpoint/2010/main" val="2562110818"/>
      </p:ext>
    </p:extLst>
  </p:cSld>
  <p:clrMapOvr>
    <a:masterClrMapping/>
  </p:clrMapOvr>
</p:sld>
</file>

<file path=ppt/slides/slide4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04929-7A1E-98B4-88ED-50404AE167F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5CCCFCC-5C67-5B9E-A30E-48D118C90C9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A6F3650-7EC4-FBE0-66B5-B372778C639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21A8C8C-40BE-7646-DCC3-648935DF641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6D6E7C78-B71A-60A7-33DA-18F55DD92FE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96730810-E4D5-F72C-241D-AAF4205B0BB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C48B700-95A6-4DA8-6786-1362D6EA630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Global System Design</a:t>
              </a:r>
              <a:endParaRPr lang="en-US" sz="2500" kern="1200" dirty="0">
                <a:solidFill>
                  <a:schemeClr val="bg1"/>
                </a:solidFill>
              </a:endParaRPr>
            </a:p>
          </p:txBody>
        </p:sp>
      </p:grpSp>
      <p:sp>
        <p:nvSpPr>
          <p:cNvPr id="6" name="object 2">
            <a:extLst>
              <a:ext uri="{FF2B5EF4-FFF2-40B4-BE49-F238E27FC236}">
                <a16:creationId xmlns:a16="http://schemas.microsoft.com/office/drawing/2014/main" id="{B13F49A5-6E04-CE0F-0123-620C2EDF0F74}"/>
              </a:ext>
            </a:extLst>
          </p:cNvPr>
          <p:cNvSpPr txBox="1">
            <a:spLocks/>
          </p:cNvSpPr>
          <p:nvPr/>
        </p:nvSpPr>
        <p:spPr>
          <a:xfrm>
            <a:off x="20320" y="676592"/>
            <a:ext cx="9168589"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700" dirty="0">
                <a:solidFill>
                  <a:schemeClr val="accent2"/>
                </a:solidFill>
                <a:latin typeface="Google Sans"/>
                <a:ea typeface="+mn-ea"/>
                <a:cs typeface="+mn-cs"/>
              </a:rPr>
              <a:t>🌍 Global System Design – Specific Considerations</a:t>
            </a:r>
          </a:p>
          <a:p>
            <a:r>
              <a:rPr lang="en-US" sz="1500" dirty="0">
                <a:solidFill>
                  <a:schemeClr val="accent2"/>
                </a:solidFill>
                <a:latin typeface="Google Sans"/>
              </a:rPr>
              <a:t>✔ Replication Models</a:t>
            </a:r>
          </a:p>
          <a:p>
            <a:r>
              <a:rPr lang="en-US" sz="1500" dirty="0">
                <a:solidFill>
                  <a:schemeClr val="accent6"/>
                </a:solidFill>
                <a:latin typeface="Google Sans"/>
              </a:rPr>
              <a:t>Asynchronous replication</a:t>
            </a:r>
          </a:p>
          <a:p>
            <a:r>
              <a:rPr lang="en-US" sz="1500" dirty="0">
                <a:solidFill>
                  <a:schemeClr val="accent6"/>
                </a:solidFill>
                <a:latin typeface="Google Sans"/>
              </a:rPr>
              <a:t>Fast</a:t>
            </a:r>
          </a:p>
          <a:p>
            <a:r>
              <a:rPr lang="en-US" sz="1500" dirty="0">
                <a:solidFill>
                  <a:schemeClr val="accent6"/>
                </a:solidFill>
                <a:latin typeface="Google Sans"/>
                <a:ea typeface="+mn-ea"/>
                <a:cs typeface="+mn-cs"/>
              </a:rPr>
              <a:t>Conflict handling required</a:t>
            </a:r>
          </a:p>
          <a:p>
            <a:r>
              <a:rPr lang="en-US" sz="1500" dirty="0">
                <a:solidFill>
                  <a:schemeClr val="accent2"/>
                </a:solidFill>
                <a:latin typeface="Google Sans"/>
                <a:ea typeface="+mn-ea"/>
                <a:cs typeface="+mn-cs"/>
              </a:rPr>
              <a:t>5️⃣ Disaster Recovery &amp; Fault Isolation</a:t>
            </a:r>
          </a:p>
          <a:p>
            <a:r>
              <a:rPr lang="en-US" sz="1500" dirty="0">
                <a:solidFill>
                  <a:schemeClr val="accent6"/>
                </a:solidFill>
                <a:latin typeface="Google Sans"/>
                <a:ea typeface="+mn-ea"/>
                <a:cs typeface="+mn-cs"/>
              </a:rPr>
              <a:t>Global design must assume: Entire region can disappear.</a:t>
            </a:r>
          </a:p>
          <a:p>
            <a:r>
              <a:rPr lang="en-US" sz="1500" dirty="0">
                <a:solidFill>
                  <a:schemeClr val="accent2"/>
                </a:solidFill>
                <a:latin typeface="Google Sans"/>
                <a:ea typeface="+mn-ea"/>
                <a:cs typeface="+mn-cs"/>
              </a:rPr>
              <a:t>✔ Blast radius containment</a:t>
            </a:r>
          </a:p>
          <a:p>
            <a:r>
              <a:rPr lang="en-US" sz="1500" dirty="0">
                <a:solidFill>
                  <a:schemeClr val="accent6"/>
                </a:solidFill>
                <a:latin typeface="Google Sans"/>
                <a:ea typeface="+mn-ea"/>
                <a:cs typeface="+mn-cs"/>
              </a:rPr>
              <a:t>Regional isolation</a:t>
            </a:r>
          </a:p>
          <a:p>
            <a:r>
              <a:rPr lang="en-US" sz="1500" dirty="0">
                <a:solidFill>
                  <a:schemeClr val="accent6"/>
                </a:solidFill>
                <a:latin typeface="Google Sans"/>
                <a:ea typeface="+mn-ea"/>
                <a:cs typeface="+mn-cs"/>
              </a:rPr>
              <a:t>Failover routing</a:t>
            </a:r>
          </a:p>
          <a:p>
            <a:r>
              <a:rPr lang="en-US" sz="1500" dirty="0">
                <a:solidFill>
                  <a:schemeClr val="accent6"/>
                </a:solidFill>
                <a:latin typeface="Google Sans"/>
                <a:ea typeface="+mn-ea"/>
                <a:cs typeface="+mn-cs"/>
              </a:rPr>
              <a:t>Traffic draining</a:t>
            </a:r>
          </a:p>
          <a:p>
            <a:r>
              <a:rPr lang="en-US" sz="1500" dirty="0">
                <a:solidFill>
                  <a:schemeClr val="accent2"/>
                </a:solidFill>
                <a:latin typeface="Google Sans"/>
                <a:ea typeface="+mn-ea"/>
                <a:cs typeface="+mn-cs"/>
              </a:rPr>
              <a:t>✔ DR metrics</a:t>
            </a:r>
          </a:p>
          <a:p>
            <a:r>
              <a:rPr lang="en-US" sz="1500" dirty="0">
                <a:solidFill>
                  <a:schemeClr val="accent6"/>
                </a:solidFill>
                <a:latin typeface="Google Sans"/>
                <a:ea typeface="+mn-ea"/>
                <a:cs typeface="+mn-cs"/>
              </a:rPr>
              <a:t>RPO (Recovery Point Objective)</a:t>
            </a:r>
          </a:p>
          <a:p>
            <a:r>
              <a:rPr lang="en-US" sz="1500" dirty="0">
                <a:solidFill>
                  <a:schemeClr val="accent6"/>
                </a:solidFill>
                <a:latin typeface="Google Sans"/>
                <a:ea typeface="+mn-ea"/>
                <a:cs typeface="+mn-cs"/>
              </a:rPr>
              <a:t>RTO (Recovery Time Objective)</a:t>
            </a:r>
          </a:p>
          <a:p>
            <a:r>
              <a:rPr lang="en-US" sz="1500" dirty="0">
                <a:solidFill>
                  <a:schemeClr val="accent2"/>
                </a:solidFill>
                <a:latin typeface="Google Sans"/>
                <a:ea typeface="+mn-ea"/>
                <a:cs typeface="+mn-cs"/>
              </a:rPr>
              <a:t>6️⃣ Traffic Routing &amp; Load Balancing</a:t>
            </a:r>
          </a:p>
          <a:p>
            <a:r>
              <a:rPr lang="en-US" sz="1500" dirty="0">
                <a:solidFill>
                  <a:schemeClr val="accent2"/>
                </a:solidFill>
                <a:latin typeface="Google Sans"/>
                <a:ea typeface="+mn-ea"/>
                <a:cs typeface="+mn-cs"/>
              </a:rPr>
              <a:t>✔ Geo-DNS / Anycast</a:t>
            </a:r>
          </a:p>
          <a:p>
            <a:r>
              <a:rPr lang="en-US" sz="1500" dirty="0">
                <a:solidFill>
                  <a:schemeClr val="accent6"/>
                </a:solidFill>
                <a:latin typeface="Google Sans"/>
                <a:ea typeface="+mn-ea"/>
                <a:cs typeface="+mn-cs"/>
              </a:rPr>
              <a:t>Route users to nearest healthy region.</a:t>
            </a:r>
          </a:p>
          <a:p>
            <a:r>
              <a:rPr lang="en-US" sz="1500" dirty="0">
                <a:solidFill>
                  <a:schemeClr val="accent2"/>
                </a:solidFill>
                <a:latin typeface="Google Sans"/>
                <a:ea typeface="+mn-ea"/>
                <a:cs typeface="+mn-cs"/>
              </a:rPr>
              <a:t>✔ Smart routing considerations</a:t>
            </a:r>
          </a:p>
          <a:p>
            <a:r>
              <a:rPr lang="en-US" sz="1500" dirty="0">
                <a:solidFill>
                  <a:schemeClr val="accent2"/>
                </a:solidFill>
                <a:latin typeface="Google Sans"/>
                <a:ea typeface="+mn-ea"/>
                <a:cs typeface="+mn-cs"/>
              </a:rPr>
              <a:t>Latency</a:t>
            </a:r>
          </a:p>
          <a:p>
            <a:r>
              <a:rPr lang="en-US" sz="1500" dirty="0">
                <a:solidFill>
                  <a:schemeClr val="accent6"/>
                </a:solidFill>
                <a:latin typeface="Google Sans"/>
                <a:ea typeface="+mn-ea"/>
                <a:cs typeface="+mn-cs"/>
              </a:rPr>
              <a:t>Region health</a:t>
            </a:r>
          </a:p>
          <a:p>
            <a:r>
              <a:rPr lang="en-US" sz="1500" dirty="0">
                <a:solidFill>
                  <a:schemeClr val="accent6"/>
                </a:solidFill>
                <a:latin typeface="Google Sans"/>
                <a:ea typeface="+mn-ea"/>
                <a:cs typeface="+mn-cs"/>
              </a:rPr>
              <a:t>Cost</a:t>
            </a:r>
          </a:p>
          <a:p>
            <a:r>
              <a:rPr lang="en-US" sz="1500" dirty="0">
                <a:solidFill>
                  <a:schemeClr val="accent6"/>
                </a:solidFill>
                <a:latin typeface="Google Sans"/>
                <a:ea typeface="+mn-ea"/>
                <a:cs typeface="+mn-cs"/>
              </a:rPr>
              <a:t>Legal constraints</a:t>
            </a:r>
          </a:p>
        </p:txBody>
      </p:sp>
    </p:spTree>
    <p:extLst>
      <p:ext uri="{BB962C8B-B14F-4D97-AF65-F5344CB8AC3E}">
        <p14:creationId xmlns:p14="http://schemas.microsoft.com/office/powerpoint/2010/main" val="3338025277"/>
      </p:ext>
    </p:extLst>
  </p:cSld>
  <p:clrMapOvr>
    <a:masterClrMapping/>
  </p:clrMapOvr>
</p:sld>
</file>

<file path=ppt/slides/slide4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0A0E7-24AF-E93C-AF97-EE772EB5B3F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C2377F4-E91D-4882-65EF-96B5D50B4CC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CA75405-3F03-395A-A807-2E794429E67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2C00BF0-24C3-A898-3F59-125A81EC00D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E712365E-63CA-6BD5-4C96-0D03E3887C3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AAC807D-5D07-C740-ECB1-81E4BB4A4DE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8D47A40-2AF7-8A2F-D390-A858AEBD4BD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Global System Design</a:t>
              </a:r>
              <a:endParaRPr lang="en-US" sz="2500" kern="1200" dirty="0">
                <a:solidFill>
                  <a:schemeClr val="bg1"/>
                </a:solidFill>
              </a:endParaRPr>
            </a:p>
          </p:txBody>
        </p:sp>
      </p:grpSp>
      <p:sp>
        <p:nvSpPr>
          <p:cNvPr id="6" name="object 2">
            <a:extLst>
              <a:ext uri="{FF2B5EF4-FFF2-40B4-BE49-F238E27FC236}">
                <a16:creationId xmlns:a16="http://schemas.microsoft.com/office/drawing/2014/main" id="{387C389F-E2B2-5A26-23B2-BB0A2FE12C6F}"/>
              </a:ext>
            </a:extLst>
          </p:cNvPr>
          <p:cNvSpPr txBox="1">
            <a:spLocks/>
          </p:cNvSpPr>
          <p:nvPr/>
        </p:nvSpPr>
        <p:spPr>
          <a:xfrm>
            <a:off x="20320" y="676592"/>
            <a:ext cx="9168589"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700" dirty="0">
                <a:solidFill>
                  <a:schemeClr val="accent2"/>
                </a:solidFill>
                <a:latin typeface="Google Sans"/>
                <a:ea typeface="+mn-ea"/>
                <a:cs typeface="+mn-cs"/>
              </a:rPr>
              <a:t>🌍 Global System Design – Specific Considerations</a:t>
            </a:r>
          </a:p>
          <a:p>
            <a:r>
              <a:rPr lang="en-US" sz="1500" dirty="0">
                <a:solidFill>
                  <a:schemeClr val="accent2"/>
                </a:solidFill>
                <a:latin typeface="Google Sans"/>
              </a:rPr>
              <a:t>6️⃣ Traffic Routing &amp; Load Balancing</a:t>
            </a:r>
          </a:p>
          <a:p>
            <a:r>
              <a:rPr lang="en-US" sz="1500" dirty="0">
                <a:solidFill>
                  <a:schemeClr val="accent2"/>
                </a:solidFill>
                <a:latin typeface="Google Sans"/>
                <a:ea typeface="+mn-ea"/>
                <a:cs typeface="+mn-cs"/>
              </a:rPr>
              <a:t>✔ Failover automation</a:t>
            </a:r>
          </a:p>
          <a:p>
            <a:r>
              <a:rPr lang="en-US" sz="1500" dirty="0">
                <a:solidFill>
                  <a:schemeClr val="accent6"/>
                </a:solidFill>
                <a:latin typeface="Google Sans"/>
              </a:rPr>
              <a:t>Health checks</a:t>
            </a:r>
          </a:p>
          <a:p>
            <a:r>
              <a:rPr lang="en-US" sz="1500" dirty="0">
                <a:solidFill>
                  <a:schemeClr val="accent6"/>
                </a:solidFill>
                <a:latin typeface="Google Sans"/>
              </a:rPr>
              <a:t>Circuit breakers</a:t>
            </a:r>
          </a:p>
          <a:p>
            <a:r>
              <a:rPr lang="en-US" sz="1500" dirty="0">
                <a:solidFill>
                  <a:schemeClr val="accent6"/>
                </a:solidFill>
                <a:latin typeface="Google Sans"/>
                <a:ea typeface="+mn-ea"/>
                <a:cs typeface="+mn-cs"/>
              </a:rPr>
              <a:t>Health checks</a:t>
            </a:r>
          </a:p>
          <a:p>
            <a:r>
              <a:rPr lang="en-US" sz="1500" dirty="0">
                <a:solidFill>
                  <a:schemeClr val="accent6"/>
                </a:solidFill>
                <a:latin typeface="Google Sans"/>
                <a:ea typeface="+mn-ea"/>
                <a:cs typeface="+mn-cs"/>
              </a:rPr>
              <a:t>Circuit breakers</a:t>
            </a:r>
          </a:p>
          <a:p>
            <a:r>
              <a:rPr lang="en-US" sz="1500" dirty="0">
                <a:solidFill>
                  <a:schemeClr val="accent6"/>
                </a:solidFill>
                <a:latin typeface="Google Sans"/>
                <a:ea typeface="+mn-ea"/>
                <a:cs typeface="+mn-cs"/>
              </a:rPr>
              <a:t>Automatic traffic shift</a:t>
            </a:r>
          </a:p>
          <a:p>
            <a:r>
              <a:rPr lang="en-US" sz="1500" dirty="0">
                <a:solidFill>
                  <a:schemeClr val="accent2"/>
                </a:solidFill>
                <a:latin typeface="Google Sans"/>
                <a:ea typeface="+mn-ea"/>
                <a:cs typeface="+mn-cs"/>
              </a:rPr>
              <a:t>7️⃣ Compliance, Legal &amp; Data Sovereignty</a:t>
            </a:r>
          </a:p>
          <a:p>
            <a:r>
              <a:rPr lang="en-US" sz="1500" dirty="0">
                <a:solidFill>
                  <a:schemeClr val="accent6"/>
                </a:solidFill>
                <a:latin typeface="Google Sans"/>
                <a:ea typeface="+mn-ea"/>
                <a:cs typeface="+mn-cs"/>
              </a:rPr>
              <a:t>Often the most underestimated challenge.</a:t>
            </a:r>
          </a:p>
          <a:p>
            <a:r>
              <a:rPr lang="en-US" sz="1500" dirty="0">
                <a:solidFill>
                  <a:schemeClr val="accent6"/>
                </a:solidFill>
                <a:latin typeface="Google Sans"/>
                <a:ea typeface="+mn-ea"/>
                <a:cs typeface="+mn-cs"/>
              </a:rPr>
              <a:t>Different countries </a:t>
            </a:r>
            <a:r>
              <a:rPr lang="en-US" sz="1500" dirty="0" err="1">
                <a:solidFill>
                  <a:schemeClr val="accent6"/>
                </a:solidFill>
                <a:latin typeface="Google Sans"/>
                <a:ea typeface="+mn-ea"/>
                <a:cs typeface="+mn-cs"/>
              </a:rPr>
              <a:t>require:Data</a:t>
            </a:r>
            <a:r>
              <a:rPr lang="en-US" sz="1500" dirty="0">
                <a:solidFill>
                  <a:schemeClr val="accent6"/>
                </a:solidFill>
                <a:latin typeface="Google Sans"/>
                <a:ea typeface="+mn-ea"/>
                <a:cs typeface="+mn-cs"/>
              </a:rPr>
              <a:t> storage restrictions</a:t>
            </a:r>
          </a:p>
          <a:p>
            <a:r>
              <a:rPr lang="en-US" sz="1500" dirty="0">
                <a:solidFill>
                  <a:schemeClr val="accent6"/>
                </a:solidFill>
                <a:latin typeface="Google Sans"/>
                <a:ea typeface="+mn-ea"/>
                <a:cs typeface="+mn-cs"/>
              </a:rPr>
              <a:t>Encryption mandates</a:t>
            </a:r>
          </a:p>
          <a:p>
            <a:r>
              <a:rPr lang="en-US" sz="1500" dirty="0">
                <a:solidFill>
                  <a:schemeClr val="accent6"/>
                </a:solidFill>
                <a:latin typeface="Google Sans"/>
                <a:ea typeface="+mn-ea"/>
                <a:cs typeface="+mn-cs"/>
              </a:rPr>
              <a:t>Audit logging</a:t>
            </a:r>
          </a:p>
          <a:p>
            <a:r>
              <a:rPr lang="en-US" sz="1500" dirty="0">
                <a:solidFill>
                  <a:schemeClr val="accent6"/>
                </a:solidFill>
                <a:latin typeface="Google Sans"/>
                <a:ea typeface="+mn-ea"/>
                <a:cs typeface="+mn-cs"/>
              </a:rPr>
              <a:t>Right to be forgotten</a:t>
            </a:r>
          </a:p>
          <a:p>
            <a:r>
              <a:rPr lang="en-US" sz="1500" dirty="0">
                <a:solidFill>
                  <a:schemeClr val="accent6"/>
                </a:solidFill>
                <a:latin typeface="Google Sans"/>
                <a:ea typeface="+mn-ea"/>
                <a:cs typeface="+mn-cs"/>
              </a:rPr>
              <a:t>Cross-border transfer restrictions</a:t>
            </a:r>
          </a:p>
          <a:p>
            <a:r>
              <a:rPr lang="en-US" sz="1500" dirty="0">
                <a:solidFill>
                  <a:schemeClr val="accent6"/>
                </a:solidFill>
                <a:latin typeface="Google Sans"/>
                <a:ea typeface="+mn-ea"/>
                <a:cs typeface="+mn-cs"/>
              </a:rPr>
              <a:t>You must </a:t>
            </a:r>
            <a:r>
              <a:rPr lang="en-US" sz="1500" dirty="0" err="1">
                <a:solidFill>
                  <a:schemeClr val="accent6"/>
                </a:solidFill>
                <a:latin typeface="Google Sans"/>
                <a:ea typeface="+mn-ea"/>
                <a:cs typeface="+mn-cs"/>
              </a:rPr>
              <a:t>design:Region-scoped</a:t>
            </a:r>
            <a:r>
              <a:rPr lang="en-US" sz="1500" dirty="0">
                <a:solidFill>
                  <a:schemeClr val="accent6"/>
                </a:solidFill>
                <a:latin typeface="Google Sans"/>
                <a:ea typeface="+mn-ea"/>
                <a:cs typeface="+mn-cs"/>
              </a:rPr>
              <a:t> storage</a:t>
            </a:r>
          </a:p>
          <a:p>
            <a:r>
              <a:rPr lang="en-US" sz="1500" dirty="0">
                <a:solidFill>
                  <a:schemeClr val="accent6"/>
                </a:solidFill>
                <a:latin typeface="Google Sans"/>
                <a:ea typeface="+mn-ea"/>
                <a:cs typeface="+mn-cs"/>
              </a:rPr>
              <a:t>Encryption boundary controls</a:t>
            </a:r>
          </a:p>
          <a:p>
            <a:r>
              <a:rPr lang="en-US" sz="1500" dirty="0">
                <a:solidFill>
                  <a:schemeClr val="accent6"/>
                </a:solidFill>
                <a:latin typeface="Google Sans"/>
                <a:ea typeface="+mn-ea"/>
                <a:cs typeface="+mn-cs"/>
              </a:rPr>
              <a:t>Separate processing pipelines</a:t>
            </a:r>
          </a:p>
          <a:p>
            <a:r>
              <a:rPr lang="en-US" sz="1500" dirty="0">
                <a:solidFill>
                  <a:schemeClr val="accent2"/>
                </a:solidFill>
                <a:latin typeface="Google Sans"/>
                <a:ea typeface="+mn-ea"/>
                <a:cs typeface="+mn-cs"/>
              </a:rPr>
              <a:t>Localization/Internationalization:</a:t>
            </a:r>
            <a:r>
              <a:rPr lang="en-US" sz="1500" dirty="0">
                <a:solidFill>
                  <a:schemeClr val="accent6"/>
                </a:solidFill>
                <a:latin typeface="Google Sans"/>
                <a:ea typeface="+mn-ea"/>
                <a:cs typeface="+mn-cs"/>
              </a:rPr>
              <a:t> Design systems to support multiple languages, time zones, and currencies. </a:t>
            </a:r>
          </a:p>
          <a:p>
            <a:r>
              <a:rPr lang="en-US" sz="1500" dirty="0">
                <a:solidFill>
                  <a:schemeClr val="accent2"/>
                </a:solidFill>
                <a:latin typeface="Google Sans"/>
                <a:ea typeface="+mn-ea"/>
                <a:cs typeface="+mn-cs"/>
              </a:rPr>
              <a:t>8️⃣ Time &amp; Clock Synchronization</a:t>
            </a:r>
          </a:p>
          <a:p>
            <a:r>
              <a:rPr lang="en-US" sz="1500" dirty="0">
                <a:solidFill>
                  <a:schemeClr val="accent6"/>
                </a:solidFill>
                <a:latin typeface="Google Sans"/>
                <a:ea typeface="+mn-ea"/>
                <a:cs typeface="+mn-cs"/>
              </a:rPr>
              <a:t>Global systems must </a:t>
            </a:r>
            <a:r>
              <a:rPr lang="en-US" sz="1500" dirty="0" err="1">
                <a:solidFill>
                  <a:schemeClr val="accent6"/>
                </a:solidFill>
                <a:latin typeface="Google Sans"/>
                <a:ea typeface="+mn-ea"/>
                <a:cs typeface="+mn-cs"/>
              </a:rPr>
              <a:t>handle:Time</a:t>
            </a:r>
            <a:r>
              <a:rPr lang="en-US" sz="1500" dirty="0">
                <a:solidFill>
                  <a:schemeClr val="accent6"/>
                </a:solidFill>
                <a:latin typeface="Google Sans"/>
                <a:ea typeface="+mn-ea"/>
                <a:cs typeface="+mn-cs"/>
              </a:rPr>
              <a:t> zone differences</a:t>
            </a:r>
          </a:p>
          <a:p>
            <a:r>
              <a:rPr lang="en-US" sz="1500" dirty="0">
                <a:solidFill>
                  <a:schemeClr val="accent6"/>
                </a:solidFill>
                <a:latin typeface="Google Sans"/>
                <a:ea typeface="+mn-ea"/>
                <a:cs typeface="+mn-cs"/>
              </a:rPr>
              <a:t>Clock drift</a:t>
            </a:r>
          </a:p>
          <a:p>
            <a:r>
              <a:rPr lang="en-US" sz="1500" dirty="0">
                <a:solidFill>
                  <a:schemeClr val="accent6"/>
                </a:solidFill>
                <a:latin typeface="Google Sans"/>
                <a:ea typeface="+mn-ea"/>
                <a:cs typeface="+mn-cs"/>
              </a:rPr>
              <a:t>Ordering events</a:t>
            </a:r>
          </a:p>
        </p:txBody>
      </p:sp>
    </p:spTree>
    <p:extLst>
      <p:ext uri="{BB962C8B-B14F-4D97-AF65-F5344CB8AC3E}">
        <p14:creationId xmlns:p14="http://schemas.microsoft.com/office/powerpoint/2010/main" val="1600459703"/>
      </p:ext>
    </p:extLst>
  </p:cSld>
  <p:clrMapOvr>
    <a:masterClrMapping/>
  </p:clrMapOvr>
</p:sld>
</file>

<file path=ppt/slides/slide4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4519F-B5CB-084B-C0DB-0B22F9B2455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88719EE-836F-6D6E-D0FD-79A3EC9738B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1A3EBA1-5106-74CF-50DF-99C270359D3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9138E06-CCE9-8AAA-385F-465546C2C67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AE5D2FF5-B876-2134-35B6-52338D5129F1}"/>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9A318B8-A9C5-192A-E6E1-4500008538C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DFDAD19-64D2-6B48-AB01-C28EBA6B842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Global System Design</a:t>
              </a:r>
              <a:endParaRPr lang="en-US" sz="2500" kern="1200" dirty="0">
                <a:solidFill>
                  <a:schemeClr val="bg1"/>
                </a:solidFill>
              </a:endParaRPr>
            </a:p>
          </p:txBody>
        </p:sp>
      </p:grpSp>
      <p:sp>
        <p:nvSpPr>
          <p:cNvPr id="6" name="object 2">
            <a:extLst>
              <a:ext uri="{FF2B5EF4-FFF2-40B4-BE49-F238E27FC236}">
                <a16:creationId xmlns:a16="http://schemas.microsoft.com/office/drawing/2014/main" id="{B1978F70-E8A9-48E8-3400-03E3981A66A9}"/>
              </a:ext>
            </a:extLst>
          </p:cNvPr>
          <p:cNvSpPr txBox="1">
            <a:spLocks/>
          </p:cNvSpPr>
          <p:nvPr/>
        </p:nvSpPr>
        <p:spPr>
          <a:xfrm>
            <a:off x="20320" y="676592"/>
            <a:ext cx="9168589"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700" dirty="0">
                <a:solidFill>
                  <a:schemeClr val="accent2"/>
                </a:solidFill>
                <a:latin typeface="Google Sans"/>
                <a:ea typeface="+mn-ea"/>
                <a:cs typeface="+mn-cs"/>
              </a:rPr>
              <a:t>🌍 Global System Design – Specific Considerations</a:t>
            </a:r>
          </a:p>
          <a:p>
            <a:r>
              <a:rPr lang="en-US" sz="1500" dirty="0">
                <a:solidFill>
                  <a:schemeClr val="accent2"/>
                </a:solidFill>
                <a:latin typeface="Google Sans"/>
              </a:rPr>
              <a:t>8️⃣ Time &amp; Clock Synchronization</a:t>
            </a:r>
          </a:p>
          <a:p>
            <a:r>
              <a:rPr lang="en-US" sz="1500" dirty="0">
                <a:solidFill>
                  <a:schemeClr val="accent2"/>
                </a:solidFill>
                <a:latin typeface="Google Sans"/>
              </a:rPr>
              <a:t>Solutions:</a:t>
            </a:r>
          </a:p>
          <a:p>
            <a:r>
              <a:rPr lang="en-US" sz="1500" dirty="0">
                <a:solidFill>
                  <a:schemeClr val="accent6"/>
                </a:solidFill>
                <a:latin typeface="Google Sans"/>
              </a:rPr>
              <a:t>Logical/Hybrid clocks</a:t>
            </a:r>
          </a:p>
          <a:p>
            <a:r>
              <a:rPr lang="en-US" sz="1500" dirty="0">
                <a:solidFill>
                  <a:schemeClr val="accent6"/>
                </a:solidFill>
                <a:latin typeface="Google Sans"/>
              </a:rPr>
              <a:t>External time sync systems</a:t>
            </a:r>
          </a:p>
          <a:p>
            <a:r>
              <a:rPr lang="en-US" sz="1500" dirty="0">
                <a:solidFill>
                  <a:schemeClr val="accent6"/>
                </a:solidFill>
                <a:latin typeface="Google Sans"/>
              </a:rPr>
              <a:t>Timestamp conflict resolution</a:t>
            </a:r>
          </a:p>
          <a:p>
            <a:r>
              <a:rPr lang="en-US" sz="1500" dirty="0">
                <a:solidFill>
                  <a:schemeClr val="accent2"/>
                </a:solidFill>
                <a:latin typeface="Google Sans"/>
                <a:ea typeface="+mn-ea"/>
                <a:cs typeface="+mn-cs"/>
              </a:rPr>
              <a:t>9️⃣ Observability Across Regions</a:t>
            </a:r>
          </a:p>
          <a:p>
            <a:r>
              <a:rPr lang="en-US" sz="1500" dirty="0">
                <a:solidFill>
                  <a:schemeClr val="accent6"/>
                </a:solidFill>
                <a:latin typeface="Google Sans"/>
                <a:ea typeface="+mn-ea"/>
                <a:cs typeface="+mn-cs"/>
              </a:rPr>
              <a:t>Harder than single region.</a:t>
            </a:r>
          </a:p>
          <a:p>
            <a:r>
              <a:rPr lang="en-US" sz="1500" dirty="0">
                <a:solidFill>
                  <a:schemeClr val="accent2"/>
                </a:solidFill>
                <a:latin typeface="Google Sans"/>
                <a:ea typeface="+mn-ea"/>
                <a:cs typeface="+mn-cs"/>
              </a:rPr>
              <a:t>✔ You must design:</a:t>
            </a:r>
          </a:p>
          <a:p>
            <a:r>
              <a:rPr lang="en-US" sz="1500" dirty="0">
                <a:solidFill>
                  <a:schemeClr val="accent6"/>
                </a:solidFill>
                <a:latin typeface="Google Sans"/>
                <a:ea typeface="+mn-ea"/>
                <a:cs typeface="+mn-cs"/>
              </a:rPr>
              <a:t>Global tracing</a:t>
            </a:r>
          </a:p>
          <a:p>
            <a:r>
              <a:rPr lang="en-US" sz="1500" dirty="0">
                <a:solidFill>
                  <a:schemeClr val="accent6"/>
                </a:solidFill>
                <a:latin typeface="Google Sans"/>
                <a:ea typeface="+mn-ea"/>
                <a:cs typeface="+mn-cs"/>
              </a:rPr>
              <a:t>Correlation IDs</a:t>
            </a:r>
          </a:p>
          <a:p>
            <a:r>
              <a:rPr lang="en-US" sz="1500" dirty="0">
                <a:solidFill>
                  <a:schemeClr val="accent6"/>
                </a:solidFill>
                <a:latin typeface="Google Sans"/>
                <a:ea typeface="+mn-ea"/>
                <a:cs typeface="+mn-cs"/>
              </a:rPr>
              <a:t>Region aware logging</a:t>
            </a:r>
          </a:p>
          <a:p>
            <a:r>
              <a:rPr lang="en-US" sz="1500" dirty="0">
                <a:solidFill>
                  <a:schemeClr val="accent6"/>
                </a:solidFill>
                <a:latin typeface="Google Sans"/>
                <a:ea typeface="+mn-ea"/>
                <a:cs typeface="+mn-cs"/>
              </a:rPr>
              <a:t>Distributed metrics aggregation</a:t>
            </a:r>
          </a:p>
          <a:p>
            <a:r>
              <a:rPr lang="en-US" sz="1500" dirty="0">
                <a:solidFill>
                  <a:schemeClr val="accent2"/>
                </a:solidFill>
                <a:latin typeface="Google Sans"/>
                <a:ea typeface="+mn-ea"/>
                <a:cs typeface="+mn-cs"/>
              </a:rPr>
              <a:t>✔ Debugging becomes complex</a:t>
            </a:r>
          </a:p>
          <a:p>
            <a:r>
              <a:rPr lang="en-US" sz="1500" dirty="0">
                <a:solidFill>
                  <a:schemeClr val="accent6"/>
                </a:solidFill>
                <a:latin typeface="Google Sans"/>
                <a:ea typeface="+mn-ea"/>
                <a:cs typeface="+mn-cs"/>
              </a:rPr>
              <a:t>A single request may </a:t>
            </a:r>
            <a:r>
              <a:rPr lang="en-US" sz="1500" dirty="0" err="1">
                <a:solidFill>
                  <a:schemeClr val="accent6"/>
                </a:solidFill>
                <a:latin typeface="Google Sans"/>
                <a:ea typeface="+mn-ea"/>
                <a:cs typeface="+mn-cs"/>
              </a:rPr>
              <a:t>traverse:CDN</a:t>
            </a:r>
            <a:r>
              <a:rPr lang="en-US" sz="1500" dirty="0">
                <a:solidFill>
                  <a:schemeClr val="accent6"/>
                </a:solidFill>
                <a:latin typeface="Google Sans"/>
                <a:ea typeface="+mn-ea"/>
                <a:cs typeface="+mn-cs"/>
              </a:rPr>
              <a:t>, Edge, Multiple regions, Multiple storage layers</a:t>
            </a:r>
          </a:p>
          <a:p>
            <a:r>
              <a:rPr lang="en-US" sz="1500" dirty="0">
                <a:solidFill>
                  <a:schemeClr val="accent2"/>
                </a:solidFill>
                <a:latin typeface="Google Sans"/>
                <a:ea typeface="+mn-ea"/>
                <a:cs typeface="+mn-cs"/>
              </a:rPr>
              <a:t>🔟 Cost Optimization</a:t>
            </a:r>
          </a:p>
          <a:p>
            <a:r>
              <a:rPr lang="en-US" sz="1500" dirty="0">
                <a:solidFill>
                  <a:schemeClr val="accent6"/>
                </a:solidFill>
                <a:latin typeface="Google Sans"/>
                <a:ea typeface="+mn-ea"/>
                <a:cs typeface="+mn-cs"/>
              </a:rPr>
              <a:t>Global systems </a:t>
            </a:r>
            <a:r>
              <a:rPr lang="en-US" sz="1500" dirty="0" err="1">
                <a:solidFill>
                  <a:schemeClr val="accent6"/>
                </a:solidFill>
                <a:latin typeface="Google Sans"/>
                <a:ea typeface="+mn-ea"/>
                <a:cs typeface="+mn-cs"/>
              </a:rPr>
              <a:t>introduce:Cross-region</a:t>
            </a:r>
            <a:r>
              <a:rPr lang="en-US" sz="1500" dirty="0">
                <a:solidFill>
                  <a:schemeClr val="accent6"/>
                </a:solidFill>
                <a:latin typeface="Google Sans"/>
                <a:ea typeface="+mn-ea"/>
                <a:cs typeface="+mn-cs"/>
              </a:rPr>
              <a:t> bandwidth costs</a:t>
            </a:r>
          </a:p>
          <a:p>
            <a:r>
              <a:rPr lang="en-US" sz="1500" dirty="0">
                <a:solidFill>
                  <a:schemeClr val="accent6"/>
                </a:solidFill>
                <a:latin typeface="Google Sans"/>
                <a:ea typeface="+mn-ea"/>
                <a:cs typeface="+mn-cs"/>
              </a:rPr>
              <a:t>Data replication cost</a:t>
            </a:r>
          </a:p>
          <a:p>
            <a:r>
              <a:rPr lang="en-US" sz="1500" dirty="0">
                <a:solidFill>
                  <a:schemeClr val="accent6"/>
                </a:solidFill>
                <a:latin typeface="Google Sans"/>
                <a:ea typeface="+mn-ea"/>
                <a:cs typeface="+mn-cs"/>
              </a:rPr>
              <a:t>Multi-region compute duplication</a:t>
            </a:r>
          </a:p>
          <a:p>
            <a:r>
              <a:rPr lang="en-US" sz="1500" dirty="0">
                <a:solidFill>
                  <a:schemeClr val="accent6"/>
                </a:solidFill>
                <a:latin typeface="Google Sans"/>
                <a:ea typeface="+mn-ea"/>
                <a:cs typeface="+mn-cs"/>
              </a:rPr>
              <a:t>Design </a:t>
            </a:r>
            <a:r>
              <a:rPr lang="en-US" sz="1500" dirty="0" err="1">
                <a:solidFill>
                  <a:schemeClr val="accent6"/>
                </a:solidFill>
                <a:latin typeface="Google Sans"/>
                <a:ea typeface="+mn-ea"/>
                <a:cs typeface="+mn-cs"/>
              </a:rPr>
              <a:t>choices:Tiered</a:t>
            </a:r>
            <a:r>
              <a:rPr lang="en-US" sz="1500" dirty="0">
                <a:solidFill>
                  <a:schemeClr val="accent6"/>
                </a:solidFill>
                <a:latin typeface="Google Sans"/>
                <a:ea typeface="+mn-ea"/>
                <a:cs typeface="+mn-cs"/>
              </a:rPr>
              <a:t> storage</a:t>
            </a:r>
          </a:p>
          <a:p>
            <a:r>
              <a:rPr lang="en-US" sz="1500" dirty="0">
                <a:solidFill>
                  <a:schemeClr val="accent6"/>
                </a:solidFill>
                <a:latin typeface="Google Sans"/>
                <a:ea typeface="+mn-ea"/>
                <a:cs typeface="+mn-cs"/>
              </a:rPr>
              <a:t>Smart caching</a:t>
            </a:r>
          </a:p>
          <a:p>
            <a:r>
              <a:rPr lang="en-US" sz="1500" dirty="0">
                <a:solidFill>
                  <a:schemeClr val="accent6"/>
                </a:solidFill>
                <a:latin typeface="Google Sans"/>
                <a:ea typeface="+mn-ea"/>
                <a:cs typeface="+mn-cs"/>
              </a:rPr>
              <a:t>Read local / Write global patterns</a:t>
            </a:r>
          </a:p>
        </p:txBody>
      </p:sp>
    </p:spTree>
    <p:extLst>
      <p:ext uri="{BB962C8B-B14F-4D97-AF65-F5344CB8AC3E}">
        <p14:creationId xmlns:p14="http://schemas.microsoft.com/office/powerpoint/2010/main" val="2890975966"/>
      </p:ext>
    </p:extLst>
  </p:cSld>
  <p:clrMapOvr>
    <a:masterClrMapping/>
  </p:clrMapOvr>
</p:sld>
</file>

<file path=ppt/slides/slide4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A0F76-2F9F-FE27-04C1-A9586CB001D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6343CAA-2ED2-3C7A-52BC-B845FDD885D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DC968C0-2A45-B13B-B9E6-FA30230337D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BACD36A-3B78-5EB9-0B2A-02E5B1C22A8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926DCD46-3B8F-E8DC-EC16-A33351879A1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973D6FF0-41A1-EEDD-C409-79642D83471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C7F3089-DC32-C1EA-F00C-E18B8BDCEFC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Global System Design</a:t>
              </a:r>
              <a:endParaRPr lang="en-US" sz="2500" kern="1200" dirty="0">
                <a:solidFill>
                  <a:schemeClr val="bg1"/>
                </a:solidFill>
              </a:endParaRPr>
            </a:p>
          </p:txBody>
        </p:sp>
      </p:grpSp>
      <p:sp>
        <p:nvSpPr>
          <p:cNvPr id="6" name="object 2">
            <a:extLst>
              <a:ext uri="{FF2B5EF4-FFF2-40B4-BE49-F238E27FC236}">
                <a16:creationId xmlns:a16="http://schemas.microsoft.com/office/drawing/2014/main" id="{2C4A81B0-98BE-4892-DE84-D254061033DE}"/>
              </a:ext>
            </a:extLst>
          </p:cNvPr>
          <p:cNvSpPr txBox="1">
            <a:spLocks/>
          </p:cNvSpPr>
          <p:nvPr/>
        </p:nvSpPr>
        <p:spPr>
          <a:xfrm>
            <a:off x="20320" y="676592"/>
            <a:ext cx="9168589"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700" dirty="0">
                <a:solidFill>
                  <a:schemeClr val="accent2"/>
                </a:solidFill>
                <a:latin typeface="Google Sans"/>
                <a:ea typeface="+mn-ea"/>
                <a:cs typeface="+mn-cs"/>
              </a:rPr>
              <a:t>🌍 Global System Design – Specific Considerations</a:t>
            </a:r>
          </a:p>
          <a:p>
            <a:r>
              <a:rPr lang="en-US" sz="1500" dirty="0">
                <a:solidFill>
                  <a:schemeClr val="accent2"/>
                </a:solidFill>
                <a:latin typeface="Google Sans"/>
              </a:rPr>
              <a:t>1️⃣1️⃣ Deployment &amp; Release Strategies</a:t>
            </a:r>
          </a:p>
          <a:p>
            <a:r>
              <a:rPr lang="en-US" sz="1500" dirty="0">
                <a:solidFill>
                  <a:schemeClr val="accent2"/>
                </a:solidFill>
                <a:latin typeface="Google Sans"/>
              </a:rPr>
              <a:t>✔ Multi-region rollout</a:t>
            </a:r>
          </a:p>
          <a:p>
            <a:r>
              <a:rPr lang="en-US" sz="1500" dirty="0">
                <a:solidFill>
                  <a:schemeClr val="accent6"/>
                </a:solidFill>
                <a:latin typeface="Google Sans"/>
              </a:rPr>
              <a:t>Canary per region</a:t>
            </a:r>
          </a:p>
          <a:p>
            <a:r>
              <a:rPr lang="en-US" sz="1500" dirty="0">
                <a:solidFill>
                  <a:schemeClr val="accent6"/>
                </a:solidFill>
                <a:latin typeface="Google Sans"/>
              </a:rPr>
              <a:t>Progressive rollout waves</a:t>
            </a:r>
          </a:p>
          <a:p>
            <a:r>
              <a:rPr lang="en-US" sz="1500" dirty="0">
                <a:solidFill>
                  <a:schemeClr val="accent6"/>
                </a:solidFill>
                <a:latin typeface="Google Sans"/>
              </a:rPr>
              <a:t>Region based feature flags</a:t>
            </a:r>
          </a:p>
          <a:p>
            <a:r>
              <a:rPr lang="en-US" sz="1500" dirty="0">
                <a:solidFill>
                  <a:schemeClr val="accent2"/>
                </a:solidFill>
                <a:latin typeface="Google Sans"/>
                <a:ea typeface="+mn-ea"/>
                <a:cs typeface="+mn-cs"/>
              </a:rPr>
              <a:t>✔ Backward compatibility becomes critical</a:t>
            </a:r>
          </a:p>
          <a:p>
            <a:r>
              <a:rPr lang="en-US" sz="1500" dirty="0">
                <a:solidFill>
                  <a:schemeClr val="accent6"/>
                </a:solidFill>
                <a:latin typeface="Google Sans"/>
                <a:ea typeface="+mn-ea"/>
                <a:cs typeface="+mn-cs"/>
              </a:rPr>
              <a:t>Different regions may run different versions temporarily.</a:t>
            </a:r>
          </a:p>
          <a:p>
            <a:r>
              <a:rPr lang="en-US" sz="1500" dirty="0">
                <a:solidFill>
                  <a:schemeClr val="accent2"/>
                </a:solidFill>
                <a:latin typeface="Google Sans"/>
                <a:ea typeface="+mn-ea"/>
                <a:cs typeface="+mn-cs"/>
              </a:rPr>
              <a:t>1️⃣2️⃣ Security Expansion</a:t>
            </a:r>
          </a:p>
          <a:p>
            <a:r>
              <a:rPr lang="en-US" sz="1500" dirty="0">
                <a:solidFill>
                  <a:schemeClr val="accent6"/>
                </a:solidFill>
                <a:latin typeface="Google Sans"/>
                <a:ea typeface="+mn-ea"/>
                <a:cs typeface="+mn-cs"/>
              </a:rPr>
              <a:t>Global expands attack </a:t>
            </a:r>
            <a:r>
              <a:rPr lang="en-US" sz="1500" dirty="0" err="1">
                <a:solidFill>
                  <a:schemeClr val="accent6"/>
                </a:solidFill>
                <a:latin typeface="Google Sans"/>
                <a:ea typeface="+mn-ea"/>
                <a:cs typeface="+mn-cs"/>
              </a:rPr>
              <a:t>surface:Region-specific</a:t>
            </a:r>
            <a:r>
              <a:rPr lang="en-US" sz="1500" dirty="0">
                <a:solidFill>
                  <a:schemeClr val="accent6"/>
                </a:solidFill>
                <a:latin typeface="Google Sans"/>
                <a:ea typeface="+mn-ea"/>
                <a:cs typeface="+mn-cs"/>
              </a:rPr>
              <a:t> threat models</a:t>
            </a:r>
          </a:p>
          <a:p>
            <a:r>
              <a:rPr lang="en-US" sz="1500" dirty="0">
                <a:solidFill>
                  <a:schemeClr val="accent6"/>
                </a:solidFill>
                <a:latin typeface="Google Sans"/>
                <a:ea typeface="+mn-ea"/>
                <a:cs typeface="+mn-cs"/>
              </a:rPr>
              <a:t>Different regulatory audit needs</a:t>
            </a:r>
          </a:p>
          <a:p>
            <a:r>
              <a:rPr lang="en-US" sz="1500" dirty="0">
                <a:solidFill>
                  <a:schemeClr val="accent6"/>
                </a:solidFill>
                <a:latin typeface="Google Sans"/>
                <a:ea typeface="+mn-ea"/>
                <a:cs typeface="+mn-cs"/>
              </a:rPr>
              <a:t>Distributed identity &amp; auth</a:t>
            </a:r>
          </a:p>
          <a:p>
            <a:r>
              <a:rPr lang="en-US" sz="1500" dirty="0">
                <a:solidFill>
                  <a:schemeClr val="accent6"/>
                </a:solidFill>
                <a:latin typeface="Google Sans"/>
                <a:ea typeface="+mn-ea"/>
                <a:cs typeface="+mn-cs"/>
              </a:rPr>
              <a:t>Secret replication management</a:t>
            </a:r>
          </a:p>
          <a:p>
            <a:r>
              <a:rPr lang="en-US" sz="1500" dirty="0">
                <a:solidFill>
                  <a:schemeClr val="accent6"/>
                </a:solidFill>
                <a:latin typeface="Google Sans"/>
                <a:ea typeface="+mn-ea"/>
                <a:cs typeface="+mn-cs"/>
              </a:rPr>
              <a:t>DDoS global mitigation</a:t>
            </a:r>
          </a:p>
          <a:p>
            <a:r>
              <a:rPr lang="en-US" sz="1500" dirty="0">
                <a:solidFill>
                  <a:schemeClr val="accent2"/>
                </a:solidFill>
                <a:latin typeface="Google Sans"/>
                <a:ea typeface="+mn-ea"/>
                <a:cs typeface="+mn-cs"/>
              </a:rPr>
              <a:t>1️⃣3️⃣ Networking Complexity</a:t>
            </a:r>
          </a:p>
          <a:p>
            <a:r>
              <a:rPr lang="en-US" sz="1500" dirty="0">
                <a:solidFill>
                  <a:schemeClr val="accent6"/>
                </a:solidFill>
                <a:latin typeface="Google Sans"/>
                <a:ea typeface="+mn-ea"/>
                <a:cs typeface="+mn-cs"/>
              </a:rPr>
              <a:t>Must </a:t>
            </a:r>
            <a:r>
              <a:rPr lang="en-US" sz="1500" dirty="0" err="1">
                <a:solidFill>
                  <a:schemeClr val="accent6"/>
                </a:solidFill>
                <a:latin typeface="Google Sans"/>
                <a:ea typeface="+mn-ea"/>
                <a:cs typeface="+mn-cs"/>
              </a:rPr>
              <a:t>handle:Inter-region</a:t>
            </a:r>
            <a:r>
              <a:rPr lang="en-US" sz="1500" dirty="0">
                <a:solidFill>
                  <a:schemeClr val="accent6"/>
                </a:solidFill>
                <a:latin typeface="Google Sans"/>
                <a:ea typeface="+mn-ea"/>
                <a:cs typeface="+mn-cs"/>
              </a:rPr>
              <a:t> private networking</a:t>
            </a:r>
          </a:p>
          <a:p>
            <a:r>
              <a:rPr lang="en-US" sz="1500" dirty="0">
                <a:solidFill>
                  <a:schemeClr val="accent6"/>
                </a:solidFill>
                <a:latin typeface="Google Sans"/>
                <a:ea typeface="+mn-ea"/>
                <a:cs typeface="+mn-cs"/>
              </a:rPr>
              <a:t>Service mesh across regions</a:t>
            </a:r>
          </a:p>
          <a:p>
            <a:r>
              <a:rPr lang="en-US" sz="1500" dirty="0">
                <a:solidFill>
                  <a:schemeClr val="accent6"/>
                </a:solidFill>
                <a:latin typeface="Google Sans"/>
                <a:ea typeface="+mn-ea"/>
                <a:cs typeface="+mn-cs"/>
              </a:rPr>
              <a:t>TLS termination at edge vs region</a:t>
            </a:r>
          </a:p>
          <a:p>
            <a:r>
              <a:rPr lang="en-US" sz="1500" dirty="0">
                <a:solidFill>
                  <a:schemeClr val="accent6"/>
                </a:solidFill>
                <a:latin typeface="Google Sans"/>
                <a:ea typeface="+mn-ea"/>
                <a:cs typeface="+mn-cs"/>
              </a:rPr>
              <a:t>Traffic shaping</a:t>
            </a:r>
          </a:p>
          <a:p>
            <a:r>
              <a:rPr lang="en-US" sz="1500" dirty="0">
                <a:solidFill>
                  <a:schemeClr val="accent2"/>
                </a:solidFill>
                <a:latin typeface="Google Sans"/>
                <a:ea typeface="+mn-ea"/>
                <a:cs typeface="+mn-cs"/>
              </a:rPr>
              <a:t>1️⃣4️⃣ UX &amp; Product Localization</a:t>
            </a:r>
          </a:p>
          <a:p>
            <a:r>
              <a:rPr lang="en-US" sz="1500" dirty="0">
                <a:solidFill>
                  <a:schemeClr val="accent6"/>
                </a:solidFill>
                <a:latin typeface="Google Sans"/>
                <a:ea typeface="+mn-ea"/>
                <a:cs typeface="+mn-cs"/>
              </a:rPr>
              <a:t>Often ignored by engineers but crucial:</a:t>
            </a:r>
          </a:p>
          <a:p>
            <a:r>
              <a:rPr lang="en-US" sz="1500" dirty="0">
                <a:solidFill>
                  <a:schemeClr val="accent6"/>
                </a:solidFill>
                <a:latin typeface="Google Sans"/>
                <a:ea typeface="+mn-ea"/>
                <a:cs typeface="+mn-cs"/>
              </a:rPr>
              <a:t>Language localization</a:t>
            </a:r>
          </a:p>
          <a:p>
            <a:r>
              <a:rPr lang="en-US" sz="1500" dirty="0">
                <a:solidFill>
                  <a:schemeClr val="accent6"/>
                </a:solidFill>
                <a:latin typeface="Google Sans"/>
                <a:ea typeface="+mn-ea"/>
                <a:cs typeface="+mn-cs"/>
              </a:rPr>
              <a:t>Cultural UX differences</a:t>
            </a:r>
          </a:p>
        </p:txBody>
      </p:sp>
    </p:spTree>
    <p:extLst>
      <p:ext uri="{BB962C8B-B14F-4D97-AF65-F5344CB8AC3E}">
        <p14:creationId xmlns:p14="http://schemas.microsoft.com/office/powerpoint/2010/main" val="2793263850"/>
      </p:ext>
    </p:extLst>
  </p:cSld>
  <p:clrMapOvr>
    <a:masterClrMapping/>
  </p:clrMapOvr>
</p:sld>
</file>

<file path=ppt/slides/slide4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53AC3-77C1-0726-69B8-04C89524D04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17D7307-75C9-7BC7-11D2-2B3226F66CB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31FF27E-C822-5E68-E332-AE4642BFE0D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79C23F09-AAE7-4F8B-E760-0D2B905264B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B9C4EFD1-086F-3C31-8338-3B8BC5FAA52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C2A5B36-0207-41A6-3859-849C5801DCA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9F99DF1-D45F-93E2-BEDB-07E14E964D3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Global System Design</a:t>
              </a:r>
              <a:endParaRPr lang="en-US" sz="2500" kern="1200" dirty="0">
                <a:solidFill>
                  <a:schemeClr val="bg1"/>
                </a:solidFill>
              </a:endParaRPr>
            </a:p>
          </p:txBody>
        </p:sp>
      </p:grpSp>
      <p:sp>
        <p:nvSpPr>
          <p:cNvPr id="6" name="object 2">
            <a:extLst>
              <a:ext uri="{FF2B5EF4-FFF2-40B4-BE49-F238E27FC236}">
                <a16:creationId xmlns:a16="http://schemas.microsoft.com/office/drawing/2014/main" id="{9BA7DB29-3946-3675-16D8-8CCC51DA6F3E}"/>
              </a:ext>
            </a:extLst>
          </p:cNvPr>
          <p:cNvSpPr txBox="1">
            <a:spLocks/>
          </p:cNvSpPr>
          <p:nvPr/>
        </p:nvSpPr>
        <p:spPr>
          <a:xfrm>
            <a:off x="20320" y="676592"/>
            <a:ext cx="9168589" cy="53091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700" dirty="0">
                <a:solidFill>
                  <a:schemeClr val="accent2"/>
                </a:solidFill>
                <a:latin typeface="Google Sans"/>
                <a:ea typeface="+mn-ea"/>
                <a:cs typeface="+mn-cs"/>
              </a:rPr>
              <a:t>🌍 Global System Design – Specific Considerations</a:t>
            </a:r>
          </a:p>
          <a:p>
            <a:r>
              <a:rPr lang="en-US" sz="1500" dirty="0">
                <a:solidFill>
                  <a:schemeClr val="accent2"/>
                </a:solidFill>
                <a:latin typeface="Google Sans"/>
              </a:rPr>
              <a:t>1️⃣4️⃣ UX &amp; Product Localization</a:t>
            </a:r>
          </a:p>
          <a:p>
            <a:r>
              <a:rPr lang="en-US" sz="1500" dirty="0">
                <a:solidFill>
                  <a:schemeClr val="accent6"/>
                </a:solidFill>
                <a:latin typeface="Google Sans"/>
              </a:rPr>
              <a:t>Currency handling</a:t>
            </a:r>
          </a:p>
          <a:p>
            <a:r>
              <a:rPr lang="en-US" sz="1500" dirty="0">
                <a:solidFill>
                  <a:schemeClr val="accent6"/>
                </a:solidFill>
                <a:latin typeface="Google Sans"/>
              </a:rPr>
              <a:t>Regional feature toggles</a:t>
            </a:r>
          </a:p>
          <a:p>
            <a:r>
              <a:rPr lang="en-US" sz="1500" dirty="0">
                <a:solidFill>
                  <a:schemeClr val="accent6"/>
                </a:solidFill>
                <a:latin typeface="Google Sans"/>
              </a:rPr>
              <a:t>Holiday/event traffic spikes</a:t>
            </a:r>
          </a:p>
          <a:p>
            <a:r>
              <a:rPr lang="en-US" sz="1500" dirty="0">
                <a:solidFill>
                  <a:schemeClr val="accent2"/>
                </a:solidFill>
                <a:latin typeface="Google Sans"/>
                <a:ea typeface="+mn-ea"/>
                <a:cs typeface="+mn-cs"/>
              </a:rPr>
              <a:t>1️⃣5️⃣ Data Migration &amp; Evolution</a:t>
            </a:r>
          </a:p>
          <a:p>
            <a:r>
              <a:rPr lang="en-US" sz="1500" dirty="0">
                <a:solidFill>
                  <a:schemeClr val="accent6"/>
                </a:solidFill>
                <a:latin typeface="Google Sans"/>
                <a:ea typeface="+mn-ea"/>
                <a:cs typeface="+mn-cs"/>
              </a:rPr>
              <a:t>Global schema changes become risky: Rolling migrations</a:t>
            </a:r>
          </a:p>
          <a:p>
            <a:r>
              <a:rPr lang="en-US" sz="1500" dirty="0">
                <a:solidFill>
                  <a:schemeClr val="accent6"/>
                </a:solidFill>
                <a:latin typeface="Google Sans"/>
                <a:ea typeface="+mn-ea"/>
                <a:cs typeface="+mn-cs"/>
              </a:rPr>
              <a:t>Dual writes</a:t>
            </a:r>
          </a:p>
          <a:p>
            <a:r>
              <a:rPr lang="en-US" sz="1500" dirty="0">
                <a:solidFill>
                  <a:schemeClr val="accent6"/>
                </a:solidFill>
                <a:latin typeface="Google Sans"/>
                <a:ea typeface="+mn-ea"/>
                <a:cs typeface="+mn-cs"/>
              </a:rPr>
              <a:t>Shadow traffic</a:t>
            </a:r>
          </a:p>
          <a:p>
            <a:r>
              <a:rPr lang="en-US" sz="1500" dirty="0">
                <a:solidFill>
                  <a:schemeClr val="accent6"/>
                </a:solidFill>
                <a:latin typeface="Google Sans"/>
                <a:ea typeface="+mn-ea"/>
                <a:cs typeface="+mn-cs"/>
              </a:rPr>
              <a:t>Versioned APIs</a:t>
            </a:r>
          </a:p>
          <a:p>
            <a:r>
              <a:rPr lang="en-US" sz="1500" dirty="0">
                <a:solidFill>
                  <a:schemeClr val="accent2"/>
                </a:solidFill>
                <a:latin typeface="Google Sans"/>
                <a:ea typeface="+mn-ea"/>
                <a:cs typeface="+mn-cs"/>
              </a:rPr>
              <a:t>🧠 Core Design Mindset Shift</a:t>
            </a:r>
          </a:p>
          <a:p>
            <a:r>
              <a:rPr lang="en-US" sz="1500" dirty="0">
                <a:solidFill>
                  <a:schemeClr val="accent6"/>
                </a:solidFill>
                <a:latin typeface="Google Sans"/>
                <a:ea typeface="+mn-ea"/>
                <a:cs typeface="+mn-cs"/>
              </a:rPr>
              <a:t>Single region </a:t>
            </a:r>
            <a:r>
              <a:rPr lang="en-US" sz="1500" dirty="0" err="1">
                <a:solidFill>
                  <a:schemeClr val="accent6"/>
                </a:solidFill>
                <a:latin typeface="Google Sans"/>
                <a:ea typeface="+mn-ea"/>
                <a:cs typeface="+mn-cs"/>
              </a:rPr>
              <a:t>thinking:"How</a:t>
            </a:r>
            <a:r>
              <a:rPr lang="en-US" sz="1500" dirty="0">
                <a:solidFill>
                  <a:schemeClr val="accent6"/>
                </a:solidFill>
                <a:latin typeface="Google Sans"/>
                <a:ea typeface="+mn-ea"/>
                <a:cs typeface="+mn-cs"/>
              </a:rPr>
              <a:t> do I scale?</a:t>
            </a:r>
          </a:p>
          <a:p>
            <a:r>
              <a:rPr lang="en-US" sz="1500" dirty="0">
                <a:solidFill>
                  <a:schemeClr val="accent6"/>
                </a:solidFill>
                <a:latin typeface="Google Sans"/>
                <a:ea typeface="+mn-ea"/>
                <a:cs typeface="+mn-cs"/>
              </a:rPr>
              <a:t>"Global system </a:t>
            </a:r>
            <a:r>
              <a:rPr lang="en-US" sz="1500" dirty="0" err="1">
                <a:solidFill>
                  <a:schemeClr val="accent6"/>
                </a:solidFill>
                <a:latin typeface="Google Sans"/>
                <a:ea typeface="+mn-ea"/>
                <a:cs typeface="+mn-cs"/>
              </a:rPr>
              <a:t>thinking:"How</a:t>
            </a:r>
            <a:r>
              <a:rPr lang="en-US" sz="1500" dirty="0">
                <a:solidFill>
                  <a:schemeClr val="accent6"/>
                </a:solidFill>
                <a:latin typeface="Google Sans"/>
                <a:ea typeface="+mn-ea"/>
                <a:cs typeface="+mn-cs"/>
              </a:rPr>
              <a:t> do I scale safely across failure, latency, compliance, and inconsistency?“</a:t>
            </a:r>
          </a:p>
          <a:p>
            <a:r>
              <a:rPr lang="en-US" sz="1500" dirty="0">
                <a:solidFill>
                  <a:schemeClr val="accent2"/>
                </a:solidFill>
                <a:latin typeface="Google Sans"/>
                <a:ea typeface="+mn-ea"/>
                <a:cs typeface="+mn-cs"/>
              </a:rPr>
              <a:t>🔥 Common Global Architecture Patterns</a:t>
            </a:r>
          </a:p>
          <a:p>
            <a:r>
              <a:rPr lang="en-US" sz="1500" dirty="0">
                <a:solidFill>
                  <a:schemeClr val="accent6"/>
                </a:solidFill>
                <a:latin typeface="Google Sans"/>
                <a:ea typeface="+mn-ea"/>
                <a:cs typeface="+mn-cs"/>
              </a:rPr>
              <a:t>Edge → Regional API → Regional Data → Global async sync</a:t>
            </a:r>
          </a:p>
          <a:p>
            <a:r>
              <a:rPr lang="en-US" sz="1500" dirty="0">
                <a:solidFill>
                  <a:schemeClr val="accent6"/>
                </a:solidFill>
                <a:latin typeface="Google Sans"/>
                <a:ea typeface="+mn-ea"/>
                <a:cs typeface="+mn-cs"/>
              </a:rPr>
              <a:t>Read local / Write home region</a:t>
            </a:r>
          </a:p>
          <a:p>
            <a:r>
              <a:rPr lang="en-US" sz="1500" dirty="0">
                <a:solidFill>
                  <a:schemeClr val="accent6"/>
                </a:solidFill>
                <a:latin typeface="Google Sans"/>
                <a:ea typeface="+mn-ea"/>
                <a:cs typeface="+mn-cs"/>
              </a:rPr>
              <a:t>Federated services per geography</a:t>
            </a:r>
          </a:p>
          <a:p>
            <a:r>
              <a:rPr lang="en-US" sz="1500" dirty="0">
                <a:solidFill>
                  <a:schemeClr val="accent6"/>
                </a:solidFill>
                <a:latin typeface="Google Sans"/>
                <a:ea typeface="+mn-ea"/>
                <a:cs typeface="+mn-cs"/>
              </a:rPr>
              <a:t>Event driven global synchronization</a:t>
            </a:r>
          </a:p>
          <a:p>
            <a:r>
              <a:rPr lang="en-US" sz="1500" dirty="0">
                <a:solidFill>
                  <a:schemeClr val="accent6"/>
                </a:solidFill>
                <a:latin typeface="Google Sans"/>
                <a:ea typeface="+mn-ea"/>
                <a:cs typeface="+mn-cs"/>
              </a:rPr>
              <a:t>Cell based isolation</a:t>
            </a:r>
          </a:p>
          <a:p>
            <a:r>
              <a:rPr lang="en-US" sz="1500" dirty="0">
                <a:solidFill>
                  <a:schemeClr val="accent2"/>
                </a:solidFill>
                <a:latin typeface="Google Sans"/>
                <a:ea typeface="+mn-ea"/>
                <a:cs typeface="+mn-cs"/>
              </a:rPr>
              <a:t>⚠️ Classic Real-World Gotchas</a:t>
            </a:r>
          </a:p>
          <a:p>
            <a:r>
              <a:rPr lang="en-US" sz="1500" dirty="0">
                <a:solidFill>
                  <a:schemeClr val="accent6"/>
                </a:solidFill>
                <a:latin typeface="Google Sans"/>
                <a:ea typeface="+mn-ea"/>
                <a:cs typeface="+mn-cs"/>
              </a:rPr>
              <a:t>Cascading region failovers causing global outage</a:t>
            </a:r>
          </a:p>
          <a:p>
            <a:r>
              <a:rPr lang="en-US" sz="1500" dirty="0">
                <a:solidFill>
                  <a:schemeClr val="accent6"/>
                </a:solidFill>
                <a:latin typeface="Google Sans"/>
                <a:ea typeface="+mn-ea"/>
                <a:cs typeface="+mn-cs"/>
              </a:rPr>
              <a:t>Conflict storms during network partition recovery</a:t>
            </a:r>
          </a:p>
          <a:p>
            <a:r>
              <a:rPr lang="en-US" sz="1500" dirty="0">
                <a:solidFill>
                  <a:schemeClr val="accent6"/>
                </a:solidFill>
                <a:latin typeface="Google Sans"/>
                <a:ea typeface="+mn-ea"/>
                <a:cs typeface="+mn-cs"/>
              </a:rPr>
              <a:t>Cross-region thundering herd</a:t>
            </a:r>
          </a:p>
        </p:txBody>
      </p:sp>
    </p:spTree>
    <p:extLst>
      <p:ext uri="{BB962C8B-B14F-4D97-AF65-F5344CB8AC3E}">
        <p14:creationId xmlns:p14="http://schemas.microsoft.com/office/powerpoint/2010/main" val="2437974847"/>
      </p:ext>
    </p:extLst>
  </p:cSld>
  <p:clrMapOvr>
    <a:masterClrMapping/>
  </p:clrMapOvr>
</p:sld>
</file>

<file path=ppt/slides/slide4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106FA-C38F-3F50-B2E9-E6EA690F2EF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30479CC-1FB8-C61C-8C99-9A7D7E6FC08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1F6F098-F01F-2406-8D0B-E064A6A2799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58D421B-171B-885C-0579-5F26338CF40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E7044BEE-19BE-116E-EEAF-7CC8F9185B63}"/>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9B04815-8D28-598F-92BC-F9ED8B44C7B3}"/>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5D83DE89-0185-0D55-5043-414AC347230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Global System Design</a:t>
              </a:r>
              <a:endParaRPr lang="en-US" sz="2500" kern="1200" dirty="0">
                <a:solidFill>
                  <a:schemeClr val="bg1"/>
                </a:solidFill>
              </a:endParaRPr>
            </a:p>
          </p:txBody>
        </p:sp>
      </p:grpSp>
      <p:sp>
        <p:nvSpPr>
          <p:cNvPr id="6" name="object 2">
            <a:extLst>
              <a:ext uri="{FF2B5EF4-FFF2-40B4-BE49-F238E27FC236}">
                <a16:creationId xmlns:a16="http://schemas.microsoft.com/office/drawing/2014/main" id="{89C27FC3-56FA-4AE7-6034-DE35D726C53C}"/>
              </a:ext>
            </a:extLst>
          </p:cNvPr>
          <p:cNvSpPr txBox="1">
            <a:spLocks/>
          </p:cNvSpPr>
          <p:nvPr/>
        </p:nvSpPr>
        <p:spPr>
          <a:xfrm>
            <a:off x="20320" y="676592"/>
            <a:ext cx="9168589" cy="461664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700" dirty="0">
                <a:solidFill>
                  <a:schemeClr val="accent2"/>
                </a:solidFill>
                <a:latin typeface="Google Sans"/>
                <a:ea typeface="+mn-ea"/>
                <a:cs typeface="+mn-cs"/>
              </a:rPr>
              <a:t>🌍 Global System Design – Specific Considerations</a:t>
            </a:r>
          </a:p>
          <a:p>
            <a:r>
              <a:rPr lang="en-US" sz="1500" dirty="0">
                <a:solidFill>
                  <a:schemeClr val="accent2"/>
                </a:solidFill>
                <a:latin typeface="Google Sans"/>
              </a:rPr>
              <a:t>⚠️ Classic Real-World Gotchas</a:t>
            </a:r>
          </a:p>
          <a:p>
            <a:r>
              <a:rPr lang="en-US" sz="1500" dirty="0">
                <a:solidFill>
                  <a:schemeClr val="accent6"/>
                </a:solidFill>
                <a:latin typeface="Google Sans"/>
              </a:rPr>
              <a:t>Hidden compliance violations</a:t>
            </a:r>
          </a:p>
          <a:p>
            <a:r>
              <a:rPr lang="en-US" sz="1500" dirty="0">
                <a:solidFill>
                  <a:schemeClr val="accent6"/>
                </a:solidFill>
                <a:latin typeface="Google Sans"/>
              </a:rPr>
              <a:t>Debugging partial data replication bugs</a:t>
            </a:r>
          </a:p>
          <a:p>
            <a:r>
              <a:rPr lang="en-US" sz="1500" dirty="0">
                <a:solidFill>
                  <a:schemeClr val="accent6"/>
                </a:solidFill>
                <a:latin typeface="Google Sans"/>
              </a:rPr>
              <a:t>Cost explosion due to inter-region traffic</a:t>
            </a:r>
          </a:p>
          <a:p>
            <a:endParaRPr lang="en-US" sz="1500" dirty="0">
              <a:solidFill>
                <a:schemeClr val="accent2"/>
              </a:solidFill>
              <a:latin typeface="Google Sans"/>
              <a:ea typeface="+mn-ea"/>
              <a:cs typeface="+mn-cs"/>
            </a:endParaRPr>
          </a:p>
          <a:p>
            <a:r>
              <a:rPr lang="en-US" sz="1500" dirty="0">
                <a:solidFill>
                  <a:schemeClr val="accent2"/>
                </a:solidFill>
                <a:latin typeface="Google Sans"/>
                <a:ea typeface="+mn-ea"/>
                <a:cs typeface="+mn-cs"/>
              </a:rPr>
              <a:t>🚀 Checklist</a:t>
            </a:r>
          </a:p>
          <a:p>
            <a:r>
              <a:rPr lang="en-US" sz="1500" dirty="0">
                <a:solidFill>
                  <a:schemeClr val="accent2"/>
                </a:solidFill>
                <a:latin typeface="Google Sans"/>
                <a:ea typeface="+mn-ea"/>
                <a:cs typeface="+mn-cs"/>
              </a:rPr>
              <a:t>If designing global system, always address:</a:t>
            </a:r>
          </a:p>
          <a:p>
            <a:r>
              <a:rPr lang="en-US" sz="1500" dirty="0">
                <a:solidFill>
                  <a:schemeClr val="accent6"/>
                </a:solidFill>
                <a:latin typeface="Google Sans"/>
                <a:ea typeface="+mn-ea"/>
                <a:cs typeface="+mn-cs"/>
              </a:rPr>
              <a:t>✅ Latency strategy</a:t>
            </a:r>
          </a:p>
          <a:p>
            <a:r>
              <a:rPr lang="en-US" sz="1500" dirty="0">
                <a:solidFill>
                  <a:schemeClr val="accent6"/>
                </a:solidFill>
                <a:latin typeface="Google Sans"/>
                <a:ea typeface="+mn-ea"/>
                <a:cs typeface="+mn-cs"/>
              </a:rPr>
              <a:t>✅ Data consistency model</a:t>
            </a:r>
          </a:p>
          <a:p>
            <a:r>
              <a:rPr lang="en-US" sz="1500" dirty="0">
                <a:solidFill>
                  <a:schemeClr val="accent6"/>
                </a:solidFill>
                <a:latin typeface="Google Sans"/>
                <a:ea typeface="+mn-ea"/>
                <a:cs typeface="+mn-cs"/>
              </a:rPr>
              <a:t>✅ Replication design</a:t>
            </a:r>
          </a:p>
          <a:p>
            <a:r>
              <a:rPr lang="en-US" sz="1500" dirty="0">
                <a:solidFill>
                  <a:schemeClr val="accent6"/>
                </a:solidFill>
                <a:latin typeface="Google Sans"/>
                <a:ea typeface="+mn-ea"/>
                <a:cs typeface="+mn-cs"/>
              </a:rPr>
              <a:t>✅ Failover &amp; DR</a:t>
            </a:r>
          </a:p>
          <a:p>
            <a:r>
              <a:rPr lang="en-US" sz="1500" dirty="0">
                <a:solidFill>
                  <a:schemeClr val="accent6"/>
                </a:solidFill>
                <a:latin typeface="Google Sans"/>
                <a:ea typeface="+mn-ea"/>
                <a:cs typeface="+mn-cs"/>
              </a:rPr>
              <a:t>✅ Compliance &amp; sovereignty</a:t>
            </a:r>
          </a:p>
          <a:p>
            <a:r>
              <a:rPr lang="en-US" sz="1500" dirty="0">
                <a:solidFill>
                  <a:schemeClr val="accent6"/>
                </a:solidFill>
                <a:latin typeface="Google Sans"/>
                <a:ea typeface="+mn-ea"/>
                <a:cs typeface="+mn-cs"/>
              </a:rPr>
              <a:t>✅ Routing &amp; traffic management</a:t>
            </a:r>
          </a:p>
          <a:p>
            <a:r>
              <a:rPr lang="en-US" sz="1500" dirty="0">
                <a:solidFill>
                  <a:schemeClr val="accent6"/>
                </a:solidFill>
                <a:latin typeface="Google Sans"/>
                <a:ea typeface="+mn-ea"/>
                <a:cs typeface="+mn-cs"/>
              </a:rPr>
              <a:t>✅ Observability</a:t>
            </a:r>
          </a:p>
          <a:p>
            <a:r>
              <a:rPr lang="en-US" sz="1500" dirty="0">
                <a:solidFill>
                  <a:schemeClr val="accent6"/>
                </a:solidFill>
                <a:latin typeface="Google Sans"/>
                <a:ea typeface="+mn-ea"/>
                <a:cs typeface="+mn-cs"/>
              </a:rPr>
              <a:t>✅ Cost control</a:t>
            </a:r>
          </a:p>
          <a:p>
            <a:r>
              <a:rPr lang="en-US" sz="1500" dirty="0">
                <a:solidFill>
                  <a:schemeClr val="accent6"/>
                </a:solidFill>
                <a:latin typeface="Google Sans"/>
                <a:ea typeface="+mn-ea"/>
                <a:cs typeface="+mn-cs"/>
              </a:rPr>
              <a:t>✅ Deployment strategy</a:t>
            </a:r>
          </a:p>
          <a:p>
            <a:r>
              <a:rPr lang="en-US" sz="1500" dirty="0">
                <a:solidFill>
                  <a:schemeClr val="accent6"/>
                </a:solidFill>
                <a:latin typeface="Google Sans"/>
                <a:ea typeface="+mn-ea"/>
                <a:cs typeface="+mn-cs"/>
              </a:rPr>
              <a:t>✅ Conflict resolution</a:t>
            </a:r>
          </a:p>
          <a:p>
            <a:endParaRPr lang="en-US" sz="1500" dirty="0">
              <a:solidFill>
                <a:schemeClr val="accent6"/>
              </a:solidFill>
              <a:latin typeface="Google Sans"/>
              <a:ea typeface="+mn-ea"/>
              <a:cs typeface="+mn-cs"/>
            </a:endParaRP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3512336268"/>
      </p:ext>
    </p:extLst>
  </p:cSld>
  <p:clrMapOvr>
    <a:masterClrMapping/>
  </p:clrMapOvr>
</p:sld>
</file>

<file path=ppt/slides/slide4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103F9-C190-A0F7-1B39-5077EB5992A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94FC772-656E-1E2B-F652-A7CEC2C4AC1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F4DA7EA-14DE-880D-F3D0-D0D362A5C29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615DE74-5AAF-6D61-560E-2F14B8AAB6F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523FB066-24CD-6054-C394-4F77333E345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DB60019-F0E4-D303-9C2D-FDF096C448B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E4A34EC1-30C2-87F2-9BB4-9D693D2F152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Global System Design</a:t>
              </a:r>
              <a:endParaRPr lang="en-US" sz="2500" kern="1200" dirty="0">
                <a:solidFill>
                  <a:schemeClr val="bg1"/>
                </a:solidFill>
              </a:endParaRPr>
            </a:p>
          </p:txBody>
        </p:sp>
      </p:grpSp>
      <p:sp>
        <p:nvSpPr>
          <p:cNvPr id="6" name="object 2">
            <a:extLst>
              <a:ext uri="{FF2B5EF4-FFF2-40B4-BE49-F238E27FC236}">
                <a16:creationId xmlns:a16="http://schemas.microsoft.com/office/drawing/2014/main" id="{4EE7B57D-B99B-D072-396D-8C97E9FCA13E}"/>
              </a:ext>
            </a:extLst>
          </p:cNvPr>
          <p:cNvSpPr txBox="1">
            <a:spLocks/>
          </p:cNvSpPr>
          <p:nvPr/>
        </p:nvSpPr>
        <p:spPr>
          <a:xfrm>
            <a:off x="20320" y="676592"/>
            <a:ext cx="9168589" cy="161582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For Further Exploration(mainly Global System Design Considerations) – </a:t>
            </a:r>
          </a:p>
          <a:p>
            <a:pPr marL="12700" marR="5080"/>
            <a:r>
              <a:rPr lang="en-US" sz="1500" dirty="0">
                <a:hlinkClick r:id="rId2"/>
              </a:rPr>
              <a:t>What are the biggest challenges of designing a global system architecture?</a:t>
            </a:r>
            <a:endParaRPr lang="en-US" sz="1500" dirty="0"/>
          </a:p>
          <a:p>
            <a:pPr marL="12700" marR="5080"/>
            <a:r>
              <a:rPr lang="en-US" sz="1500" dirty="0">
                <a:hlinkClick r:id="rId3"/>
              </a:rPr>
              <a:t>Localization Checklist: Top Tips and Tools</a:t>
            </a:r>
            <a:endParaRPr lang="en-US" sz="1500" dirty="0"/>
          </a:p>
          <a:p>
            <a:pPr marL="12700" marR="5080"/>
            <a:r>
              <a:rPr lang="en-IN" sz="1500" dirty="0">
                <a:hlinkClick r:id="rId4"/>
              </a:rPr>
              <a:t>Availability Regions and Zones for AWS, Azure &amp; GCP – BMC Software | Blogs</a:t>
            </a:r>
            <a:endParaRPr lang="en-IN" sz="1500" dirty="0"/>
          </a:p>
          <a:p>
            <a:pPr marL="12700" marR="5080"/>
            <a:r>
              <a:rPr lang="en-IN" sz="1500" dirty="0">
                <a:hlinkClick r:id="rId5"/>
              </a:rPr>
              <a:t>AWS Global Cloud Infrastructure: Regions, Zones &amp; More – BMC Software | Blogs</a:t>
            </a:r>
            <a:endParaRPr lang="en-IN" sz="1500" dirty="0"/>
          </a:p>
          <a:p>
            <a:pPr marL="12700" marR="5080"/>
            <a:r>
              <a:rPr lang="en-US" sz="1500" dirty="0">
                <a:hlinkClick r:id="rId6"/>
              </a:rPr>
              <a:t>Azure Global Infrastructure Cheat Sheet</a:t>
            </a:r>
            <a:endParaRPr lang="en-US" sz="1500" kern="0" spc="-80" dirty="0">
              <a:solidFill>
                <a:schemeClr val="accent2"/>
              </a:solidFill>
            </a:endParaRP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1038578953"/>
      </p:ext>
    </p:extLst>
  </p:cSld>
  <p:clrMapOvr>
    <a:masterClrMapping/>
  </p:clrMapOvr>
</p:sld>
</file>

<file path=ppt/slides/slide4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B04F7-1BA7-648A-1877-ABB8E53EB50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0B71C18-2A6D-4DDF-C3BE-C39799D4470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32CAC4F-69D2-9DE4-634A-B3CA78D01D2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05D7AC40-ACC7-7D6F-C854-84625BFD966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AE52115C-63B3-0A00-3903-319C9C54E09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C11D46A-7A83-BE68-19E5-7BCE143AB05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B0755E1-894C-07CF-DCF7-AA7E78EE8A6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Storage</a:t>
              </a:r>
              <a:endParaRPr lang="en-US" sz="2500" kern="1200" dirty="0">
                <a:solidFill>
                  <a:schemeClr val="bg1"/>
                </a:solidFill>
              </a:endParaRPr>
            </a:p>
          </p:txBody>
        </p:sp>
      </p:grpSp>
      <p:sp>
        <p:nvSpPr>
          <p:cNvPr id="3" name="object 2">
            <a:extLst>
              <a:ext uri="{FF2B5EF4-FFF2-40B4-BE49-F238E27FC236}">
                <a16:creationId xmlns:a16="http://schemas.microsoft.com/office/drawing/2014/main" id="{2D4B054D-DBDF-1C6E-673B-BC9793CBFD9D}"/>
              </a:ext>
            </a:extLst>
          </p:cNvPr>
          <p:cNvSpPr txBox="1">
            <a:spLocks/>
          </p:cNvSpPr>
          <p:nvPr/>
        </p:nvSpPr>
        <p:spPr>
          <a:xfrm>
            <a:off x="20320" y="676592"/>
            <a:ext cx="9168589"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6"/>
                </a:solidFill>
                <a:latin typeface="Google Sans"/>
                <a:ea typeface="+mn-ea"/>
                <a:cs typeface="+mn-cs"/>
              </a:rPr>
              <a:t>A Distributed Storage System (DSS) divides large datasets into smaller chunks and stores them across multiple physical servers (nodes), which are often commodity hardware. </a:t>
            </a:r>
          </a:p>
          <a:p>
            <a:r>
              <a:rPr lang="en-US" sz="1500" dirty="0">
                <a:solidFill>
                  <a:schemeClr val="accent2"/>
                </a:solidFill>
                <a:latin typeface="Google Sans"/>
                <a:ea typeface="+mn-ea"/>
                <a:cs typeface="+mn-cs"/>
              </a:rPr>
              <a:t>Node/Replica:</a:t>
            </a:r>
            <a:r>
              <a:rPr lang="en-US" sz="1500" dirty="0">
                <a:solidFill>
                  <a:schemeClr val="accent6"/>
                </a:solidFill>
                <a:latin typeface="Google Sans"/>
                <a:ea typeface="+mn-ea"/>
                <a:cs typeface="+mn-cs"/>
              </a:rPr>
              <a:t> An independent machine with its own CPU, memory, and storage, working together to provide a unified storage service.</a:t>
            </a:r>
          </a:p>
          <a:p>
            <a:r>
              <a:rPr lang="en-US" sz="1500" dirty="0">
                <a:solidFill>
                  <a:schemeClr val="accent2"/>
                </a:solidFill>
                <a:latin typeface="Google Sans"/>
                <a:ea typeface="+mn-ea"/>
                <a:cs typeface="+mn-cs"/>
              </a:rPr>
              <a:t>Data Partitioning (Sharding): </a:t>
            </a:r>
            <a:r>
              <a:rPr lang="en-US" sz="1500" dirty="0">
                <a:solidFill>
                  <a:schemeClr val="accent6"/>
                </a:solidFill>
                <a:latin typeface="Google Sans"/>
                <a:ea typeface="+mn-ea"/>
                <a:cs typeface="+mn-cs"/>
              </a:rPr>
              <a:t>The process of dividing a dataset into smaller, manageable subsets (shards) and distributing them across multiple nodes to improve scalability.</a:t>
            </a:r>
          </a:p>
          <a:p>
            <a:r>
              <a:rPr lang="en-US" sz="1500" dirty="0">
                <a:solidFill>
                  <a:schemeClr val="accent2"/>
                </a:solidFill>
                <a:latin typeface="Google Sans"/>
                <a:ea typeface="+mn-ea"/>
                <a:cs typeface="+mn-cs"/>
              </a:rPr>
              <a:t>Data Replication: </a:t>
            </a:r>
            <a:r>
              <a:rPr lang="en-US" sz="1500" dirty="0">
                <a:solidFill>
                  <a:schemeClr val="accent6"/>
                </a:solidFill>
                <a:latin typeface="Google Sans"/>
                <a:ea typeface="+mn-ea"/>
                <a:cs typeface="+mn-cs"/>
              </a:rPr>
              <a:t>The process of creating and maintaining multiple copies of data on different nodes to ensure high availability and data durability.</a:t>
            </a:r>
          </a:p>
          <a:p>
            <a:r>
              <a:rPr lang="en-US" sz="1500" dirty="0">
                <a:solidFill>
                  <a:schemeClr val="accent2"/>
                </a:solidFill>
                <a:latin typeface="Google Sans"/>
                <a:ea typeface="+mn-ea"/>
                <a:cs typeface="+mn-cs"/>
              </a:rPr>
              <a:t>Transparency: </a:t>
            </a:r>
            <a:r>
              <a:rPr lang="en-US" sz="1500" dirty="0">
                <a:solidFill>
                  <a:schemeClr val="accent6"/>
                </a:solidFill>
                <a:latin typeface="Google Sans"/>
                <a:ea typeface="+mn-ea"/>
                <a:cs typeface="+mn-cs"/>
              </a:rPr>
              <a:t>The ability of the distributed system to appear as a single, centralized file system to users, hiding the complexity of data distribution.</a:t>
            </a:r>
          </a:p>
          <a:p>
            <a:r>
              <a:rPr lang="en-US" sz="1500" dirty="0">
                <a:solidFill>
                  <a:schemeClr val="accent2"/>
                </a:solidFill>
                <a:latin typeface="Google Sans"/>
                <a:ea typeface="+mn-ea"/>
                <a:cs typeface="+mn-cs"/>
              </a:rPr>
              <a:t>Fault Tolerance/Resilience: </a:t>
            </a:r>
            <a:r>
              <a:rPr lang="en-US" sz="1500" dirty="0">
                <a:solidFill>
                  <a:schemeClr val="accent6"/>
                </a:solidFill>
                <a:latin typeface="Google Sans"/>
                <a:ea typeface="+mn-ea"/>
                <a:cs typeface="+mn-cs"/>
              </a:rPr>
              <a:t>The system’s ability to continue operating despite node failures, network failures, or disk failures. </a:t>
            </a:r>
          </a:p>
          <a:p>
            <a:r>
              <a:rPr lang="en-US" sz="1500" dirty="0">
                <a:solidFill>
                  <a:schemeClr val="accent2"/>
                </a:solidFill>
                <a:latin typeface="Google Sans"/>
                <a:ea typeface="+mn-ea"/>
                <a:cs typeface="+mn-cs"/>
              </a:rPr>
              <a:t>Core Architectural Models</a:t>
            </a:r>
          </a:p>
          <a:p>
            <a:r>
              <a:rPr lang="en-US" sz="1500" dirty="0">
                <a:solidFill>
                  <a:schemeClr val="accent2"/>
                </a:solidFill>
                <a:latin typeface="Google Sans"/>
                <a:ea typeface="+mn-ea"/>
                <a:cs typeface="+mn-cs"/>
              </a:rPr>
              <a:t>Master-Slave (Centralized Metadata): </a:t>
            </a:r>
            <a:r>
              <a:rPr lang="en-US" sz="1500" dirty="0">
                <a:solidFill>
                  <a:schemeClr val="accent6"/>
                </a:solidFill>
                <a:latin typeface="Google Sans"/>
                <a:ea typeface="+mn-ea"/>
                <a:cs typeface="+mn-cs"/>
              </a:rPr>
              <a:t>A single master node (e.g., </a:t>
            </a:r>
            <a:r>
              <a:rPr lang="en-US" sz="1500" dirty="0" err="1">
                <a:solidFill>
                  <a:schemeClr val="accent6"/>
                </a:solidFill>
                <a:latin typeface="Google Sans"/>
                <a:ea typeface="+mn-ea"/>
                <a:cs typeface="+mn-cs"/>
              </a:rPr>
              <a:t>NameNode</a:t>
            </a:r>
            <a:r>
              <a:rPr lang="en-US" sz="1500" dirty="0">
                <a:solidFill>
                  <a:schemeClr val="accent6"/>
                </a:solidFill>
                <a:latin typeface="Google Sans"/>
                <a:ea typeface="+mn-ea"/>
                <a:cs typeface="+mn-cs"/>
              </a:rPr>
              <a:t> in HDFS) manages metadata, while slave nodes (</a:t>
            </a:r>
            <a:r>
              <a:rPr lang="en-US" sz="1500" dirty="0" err="1">
                <a:solidFill>
                  <a:schemeClr val="accent6"/>
                </a:solidFill>
                <a:latin typeface="Google Sans"/>
                <a:ea typeface="+mn-ea"/>
                <a:cs typeface="+mn-cs"/>
              </a:rPr>
              <a:t>DataNodes</a:t>
            </a:r>
            <a:r>
              <a:rPr lang="en-US" sz="1500" dirty="0">
                <a:solidFill>
                  <a:schemeClr val="accent6"/>
                </a:solidFill>
                <a:latin typeface="Google Sans"/>
                <a:ea typeface="+mn-ea"/>
                <a:cs typeface="+mn-cs"/>
              </a:rPr>
              <a:t>) handle data storage and I/O.</a:t>
            </a:r>
          </a:p>
          <a:p>
            <a:r>
              <a:rPr lang="en-US" sz="1500" dirty="0">
                <a:solidFill>
                  <a:schemeClr val="accent2"/>
                </a:solidFill>
                <a:latin typeface="Google Sans"/>
                <a:ea typeface="+mn-ea"/>
                <a:cs typeface="+mn-cs"/>
              </a:rPr>
              <a:t>Peer-to-Peer (P2P/Decentralized):</a:t>
            </a:r>
            <a:r>
              <a:rPr lang="en-US" sz="1500" dirty="0">
                <a:solidFill>
                  <a:schemeClr val="accent6"/>
                </a:solidFill>
                <a:latin typeface="Google Sans"/>
                <a:ea typeface="+mn-ea"/>
                <a:cs typeface="+mn-cs"/>
              </a:rPr>
              <a:t> Nodes are equal and cooperate to share resources without a central master (e.g., Dynamo).</a:t>
            </a:r>
          </a:p>
          <a:p>
            <a:r>
              <a:rPr lang="en-US" sz="1500" dirty="0">
                <a:solidFill>
                  <a:schemeClr val="accent2"/>
                </a:solidFill>
                <a:latin typeface="Google Sans"/>
                <a:ea typeface="+mn-ea"/>
                <a:cs typeface="+mn-cs"/>
              </a:rPr>
              <a:t>Object Storage Architecture: </a:t>
            </a:r>
            <a:r>
              <a:rPr lang="en-US" sz="1500" dirty="0">
                <a:solidFill>
                  <a:schemeClr val="accent6"/>
                </a:solidFill>
                <a:latin typeface="Google Sans"/>
                <a:ea typeface="+mn-ea"/>
                <a:cs typeface="+mn-cs"/>
              </a:rPr>
              <a:t>Data is arranged as objects, containing data, metadata, and a unique identifier in a flat namespace (e.g., Amazon S3, Azure Blob).</a:t>
            </a:r>
          </a:p>
          <a:p>
            <a:r>
              <a:rPr lang="en-US" sz="1500" dirty="0">
                <a:solidFill>
                  <a:schemeClr val="accent2"/>
                </a:solidFill>
                <a:latin typeface="Google Sans"/>
                <a:ea typeface="+mn-ea"/>
                <a:cs typeface="+mn-cs"/>
              </a:rPr>
              <a:t>Distributed File System (DFS):</a:t>
            </a:r>
            <a:r>
              <a:rPr lang="en-US" sz="1500" dirty="0">
                <a:solidFill>
                  <a:schemeClr val="accent6"/>
                </a:solidFill>
                <a:latin typeface="Google Sans"/>
                <a:ea typeface="+mn-ea"/>
                <a:cs typeface="+mn-cs"/>
              </a:rPr>
              <a:t> Manages files in a hierarchical structure across multiple nodes (e.g., HDFS, GFS).</a:t>
            </a:r>
          </a:p>
          <a:p>
            <a:r>
              <a:rPr lang="en-US" sz="1500" dirty="0">
                <a:solidFill>
                  <a:schemeClr val="accent2"/>
                </a:solidFill>
                <a:latin typeface="Google Sans"/>
                <a:ea typeface="+mn-ea"/>
                <a:cs typeface="+mn-cs"/>
              </a:rPr>
              <a:t>Distributed Block Storage: </a:t>
            </a:r>
            <a:r>
              <a:rPr lang="en-US" sz="1500" dirty="0">
                <a:solidFill>
                  <a:schemeClr val="accent6"/>
                </a:solidFill>
                <a:latin typeface="Google Sans"/>
                <a:ea typeface="+mn-ea"/>
                <a:cs typeface="+mn-cs"/>
              </a:rPr>
              <a:t>Stores data in fixed-sized blocks, providing high-performance, raw, low-level storage (e.g., SAN). </a:t>
            </a:r>
          </a:p>
        </p:txBody>
      </p:sp>
    </p:spTree>
    <p:extLst>
      <p:ext uri="{BB962C8B-B14F-4D97-AF65-F5344CB8AC3E}">
        <p14:creationId xmlns:p14="http://schemas.microsoft.com/office/powerpoint/2010/main" val="4172316691"/>
      </p:ext>
    </p:extLst>
  </p:cSld>
  <p:clrMapOvr>
    <a:masterClrMapping/>
  </p:clrMapOvr>
</p:sld>
</file>

<file path=ppt/slides/slide4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E62B9-ADBA-2A55-24B9-4149270D356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E1CFE4A-E07F-66D4-B9BB-CFBFEA4BBDA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6D4BE6E-8AC0-A3A2-92F9-4942E8C7A0F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257776D-8D93-8405-08F7-3734C106354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B70B3387-7E57-08A0-40EC-D26FCD9967B6}"/>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0D0BFE8-E8B4-FA9A-603D-03345390BC7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3F779BF9-BFE8-1AFA-9A7C-C1B0F7AFB2A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Storage</a:t>
              </a:r>
              <a:endParaRPr lang="en-US" sz="2500" kern="1200" dirty="0">
                <a:solidFill>
                  <a:schemeClr val="bg1"/>
                </a:solidFill>
              </a:endParaRPr>
            </a:p>
          </p:txBody>
        </p:sp>
      </p:grpSp>
      <p:sp>
        <p:nvSpPr>
          <p:cNvPr id="3" name="object 2">
            <a:extLst>
              <a:ext uri="{FF2B5EF4-FFF2-40B4-BE49-F238E27FC236}">
                <a16:creationId xmlns:a16="http://schemas.microsoft.com/office/drawing/2014/main" id="{5784DACC-0498-FE09-5C8E-68CD1639243A}"/>
              </a:ext>
            </a:extLst>
          </p:cNvPr>
          <p:cNvSpPr txBox="1">
            <a:spLocks/>
          </p:cNvSpPr>
          <p:nvPr/>
        </p:nvSpPr>
        <p:spPr>
          <a:xfrm>
            <a:off x="20320" y="676592"/>
            <a:ext cx="9168589" cy="146193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Distributed Storage Types</a:t>
            </a:r>
          </a:p>
          <a:p>
            <a:r>
              <a:rPr lang="en-US" sz="1500" dirty="0">
                <a:solidFill>
                  <a:schemeClr val="accent6"/>
                </a:solidFill>
                <a:latin typeface="Google Sans"/>
                <a:ea typeface="+mn-ea"/>
                <a:cs typeface="+mn-cs"/>
              </a:rPr>
              <a:t>Distributed storage systems are primarily categorized by how they store data: </a:t>
            </a:r>
          </a:p>
          <a:p>
            <a:r>
              <a:rPr lang="en-US" sz="1500" dirty="0">
                <a:solidFill>
                  <a:schemeClr val="accent2"/>
                </a:solidFill>
                <a:latin typeface="Google Sans"/>
                <a:ea typeface="+mn-ea"/>
                <a:cs typeface="+mn-cs"/>
              </a:rPr>
              <a:t>Block Storage:</a:t>
            </a:r>
            <a:r>
              <a:rPr lang="en-US" sz="1500" dirty="0">
                <a:solidFill>
                  <a:schemeClr val="accent6"/>
                </a:solidFill>
                <a:latin typeface="Google Sans"/>
                <a:ea typeface="+mn-ea"/>
                <a:cs typeface="+mn-cs"/>
              </a:rPr>
              <a:t> Data is split into fixed-sized raw blocks, managed like individual hard drives.</a:t>
            </a:r>
          </a:p>
          <a:p>
            <a:r>
              <a:rPr lang="en-US" sz="1500" dirty="0">
                <a:solidFill>
                  <a:schemeClr val="accent2"/>
                </a:solidFill>
                <a:latin typeface="Google Sans"/>
                <a:ea typeface="+mn-ea"/>
                <a:cs typeface="+mn-cs"/>
              </a:rPr>
              <a:t>File Storage:</a:t>
            </a:r>
            <a:r>
              <a:rPr lang="en-US" sz="1500" dirty="0">
                <a:solidFill>
                  <a:schemeClr val="accent6"/>
                </a:solidFill>
                <a:latin typeface="Google Sans"/>
                <a:ea typeface="+mn-ea"/>
                <a:cs typeface="+mn-cs"/>
              </a:rPr>
              <a:t> Data is organized in a hierarchical structure (files and directories).</a:t>
            </a:r>
          </a:p>
          <a:p>
            <a:r>
              <a:rPr lang="en-US" sz="1500" dirty="0">
                <a:solidFill>
                  <a:schemeClr val="accent2"/>
                </a:solidFill>
                <a:latin typeface="Google Sans"/>
                <a:ea typeface="+mn-ea"/>
                <a:cs typeface="+mn-cs"/>
              </a:rPr>
              <a:t>Object Storage:</a:t>
            </a:r>
            <a:r>
              <a:rPr lang="en-US" sz="1500" dirty="0">
                <a:solidFill>
                  <a:schemeClr val="accent6"/>
                </a:solidFill>
                <a:latin typeface="Google Sans"/>
                <a:ea typeface="+mn-ea"/>
                <a:cs typeface="+mn-cs"/>
              </a:rPr>
              <a:t> Data is stored as objects (data + metadata) in a flat, non-hierarchical namespace, usually identified by a key. </a:t>
            </a:r>
          </a:p>
        </p:txBody>
      </p:sp>
      <p:pic>
        <p:nvPicPr>
          <p:cNvPr id="10" name="Picture 9">
            <a:extLst>
              <a:ext uri="{FF2B5EF4-FFF2-40B4-BE49-F238E27FC236}">
                <a16:creationId xmlns:a16="http://schemas.microsoft.com/office/drawing/2014/main" id="{8A1A71A7-9EBF-C8FF-E43E-240A679C7F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23939"/>
            <a:ext cx="9119409" cy="3719661"/>
          </a:xfrm>
          <a:prstGeom prst="rect">
            <a:avLst/>
          </a:prstGeom>
        </p:spPr>
      </p:pic>
    </p:spTree>
    <p:extLst>
      <p:ext uri="{BB962C8B-B14F-4D97-AF65-F5344CB8AC3E}">
        <p14:creationId xmlns:p14="http://schemas.microsoft.com/office/powerpoint/2010/main" val="37886963"/>
      </p:ext>
    </p:extLst>
  </p:cSld>
  <p:clrMapOvr>
    <a:masterClrMapping/>
  </p:clrMapOvr>
</p:sld>
</file>

<file path=ppt/slides/slide4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A7561-ACB3-9064-8DE6-7CE55D3481A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1AA6587-1CA8-3E76-CA26-61B5C755844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262B9B8-BD31-D054-176C-93A865362DA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CADD65D-18D1-62D3-B939-CD49D19E89F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B9FA50C7-E69A-C6D5-D4D6-ACCE4C1C9D63}"/>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7E1B842E-70C3-5494-6FF5-D1930377BDB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08F01D0-CB68-8522-59D5-44986A6824E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Storage</a:t>
              </a:r>
              <a:endParaRPr lang="en-US" sz="2500" kern="1200" dirty="0">
                <a:solidFill>
                  <a:schemeClr val="bg1"/>
                </a:solidFill>
              </a:endParaRPr>
            </a:p>
          </p:txBody>
        </p:sp>
      </p:grpSp>
      <p:sp>
        <p:nvSpPr>
          <p:cNvPr id="3" name="object 2">
            <a:extLst>
              <a:ext uri="{FF2B5EF4-FFF2-40B4-BE49-F238E27FC236}">
                <a16:creationId xmlns:a16="http://schemas.microsoft.com/office/drawing/2014/main" id="{6B52AF7B-2223-A063-2D17-1B071BBC15A6}"/>
              </a:ext>
            </a:extLst>
          </p:cNvPr>
          <p:cNvSpPr txBox="1">
            <a:spLocks/>
          </p:cNvSpPr>
          <p:nvPr/>
        </p:nvSpPr>
        <p:spPr>
          <a:xfrm>
            <a:off x="20320" y="676592"/>
            <a:ext cx="9168589"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Distributed Storage Types</a:t>
            </a:r>
          </a:p>
        </p:txBody>
      </p:sp>
      <p:pic>
        <p:nvPicPr>
          <p:cNvPr id="14" name="Picture 13">
            <a:extLst>
              <a:ext uri="{FF2B5EF4-FFF2-40B4-BE49-F238E27FC236}">
                <a16:creationId xmlns:a16="http://schemas.microsoft.com/office/drawing/2014/main" id="{9A728F72-2C92-F738-8975-875E37C89C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409631"/>
            <a:ext cx="8701137" cy="1333569"/>
          </a:xfrm>
          <a:prstGeom prst="rect">
            <a:avLst/>
          </a:prstGeom>
        </p:spPr>
      </p:pic>
      <p:sp>
        <p:nvSpPr>
          <p:cNvPr id="15" name="object 2">
            <a:extLst>
              <a:ext uri="{FF2B5EF4-FFF2-40B4-BE49-F238E27FC236}">
                <a16:creationId xmlns:a16="http://schemas.microsoft.com/office/drawing/2014/main" id="{15729D64-B49C-38CB-C3F2-7F6DBB2B80FA}"/>
              </a:ext>
            </a:extLst>
          </p:cNvPr>
          <p:cNvSpPr txBox="1">
            <a:spLocks/>
          </p:cNvSpPr>
          <p:nvPr/>
        </p:nvSpPr>
        <p:spPr>
          <a:xfrm>
            <a:off x="20320" y="2711202"/>
            <a:ext cx="9168589" cy="33085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Key Distributed Computing Concepts (Specific to Storage Type)</a:t>
            </a:r>
          </a:p>
          <a:p>
            <a:r>
              <a:rPr lang="en-US" sz="1500" dirty="0">
                <a:solidFill>
                  <a:schemeClr val="accent2"/>
                </a:solidFill>
                <a:latin typeface="Google Sans"/>
                <a:ea typeface="+mn-ea"/>
                <a:cs typeface="+mn-cs"/>
              </a:rPr>
              <a:t>1. Block Storage Computing Concepts</a:t>
            </a:r>
          </a:p>
          <a:p>
            <a:r>
              <a:rPr lang="en-US" sz="1500" dirty="0">
                <a:solidFill>
                  <a:schemeClr val="accent2"/>
                </a:solidFill>
                <a:latin typeface="Google Sans"/>
                <a:ea typeface="+mn-ea"/>
                <a:cs typeface="+mn-cs"/>
              </a:rPr>
              <a:t>Data Striping:</a:t>
            </a:r>
            <a:r>
              <a:rPr lang="en-US" sz="1500" dirty="0">
                <a:solidFill>
                  <a:schemeClr val="accent6"/>
                </a:solidFill>
                <a:latin typeface="Google Sans"/>
                <a:ea typeface="+mn-ea"/>
                <a:cs typeface="+mn-cs"/>
              </a:rPr>
              <a:t> Breaking a block into smaller chunks and spreading them across nodes to improve throughput.</a:t>
            </a:r>
          </a:p>
          <a:p>
            <a:r>
              <a:rPr lang="en-US" sz="1500" dirty="0">
                <a:solidFill>
                  <a:schemeClr val="accent2"/>
                </a:solidFill>
                <a:latin typeface="Google Sans"/>
                <a:ea typeface="+mn-ea"/>
                <a:cs typeface="+mn-cs"/>
              </a:rPr>
              <a:t>Block-level Replication: </a:t>
            </a:r>
            <a:r>
              <a:rPr lang="en-US" sz="1500" dirty="0">
                <a:solidFill>
                  <a:schemeClr val="accent6"/>
                </a:solidFill>
                <a:latin typeface="Google Sans"/>
                <a:ea typeface="+mn-ea"/>
                <a:cs typeface="+mn-cs"/>
              </a:rPr>
              <a:t>Maintaining synchronous copies of blocks across different storage nodes to ensure that if one node fails, the block remains accessible. </a:t>
            </a:r>
          </a:p>
          <a:p>
            <a:r>
              <a:rPr lang="en-US" sz="1500" dirty="0">
                <a:solidFill>
                  <a:schemeClr val="accent2"/>
                </a:solidFill>
                <a:latin typeface="Google Sans"/>
                <a:ea typeface="+mn-ea"/>
                <a:cs typeface="+mn-cs"/>
              </a:rPr>
              <a:t>2. Distributed File Systems (DFS) Computing Concepts</a:t>
            </a:r>
          </a:p>
          <a:p>
            <a:r>
              <a:rPr lang="en-US" sz="1500" dirty="0">
                <a:solidFill>
                  <a:schemeClr val="accent2"/>
                </a:solidFill>
                <a:latin typeface="Google Sans"/>
                <a:ea typeface="+mn-ea"/>
                <a:cs typeface="+mn-cs"/>
              </a:rPr>
              <a:t>Metadata Management: </a:t>
            </a:r>
            <a:r>
              <a:rPr lang="en-US" sz="1500" dirty="0">
                <a:solidFill>
                  <a:schemeClr val="accent6"/>
                </a:solidFill>
                <a:latin typeface="Google Sans"/>
                <a:ea typeface="+mn-ea"/>
                <a:cs typeface="+mn-cs"/>
              </a:rPr>
              <a:t>The </a:t>
            </a:r>
            <a:r>
              <a:rPr lang="en-US" sz="1500" dirty="0" err="1">
                <a:solidFill>
                  <a:schemeClr val="accent6"/>
                </a:solidFill>
                <a:latin typeface="Google Sans"/>
                <a:ea typeface="+mn-ea"/>
                <a:cs typeface="+mn-cs"/>
              </a:rPr>
              <a:t>NameNode</a:t>
            </a:r>
            <a:r>
              <a:rPr lang="en-US" sz="1500" dirty="0">
                <a:solidFill>
                  <a:schemeClr val="accent6"/>
                </a:solidFill>
                <a:latin typeface="Google Sans"/>
                <a:ea typeface="+mn-ea"/>
                <a:cs typeface="+mn-cs"/>
              </a:rPr>
              <a:t> (in HDFS) manages the file system tree, file permissions, and mapping of files to data blocks.</a:t>
            </a:r>
          </a:p>
          <a:p>
            <a:r>
              <a:rPr lang="en-US" sz="1500" dirty="0">
                <a:solidFill>
                  <a:schemeClr val="accent2"/>
                </a:solidFill>
                <a:latin typeface="Google Sans"/>
                <a:ea typeface="+mn-ea"/>
                <a:cs typeface="+mn-cs"/>
              </a:rPr>
              <a:t>Data Locality:</a:t>
            </a:r>
            <a:r>
              <a:rPr lang="en-US" sz="1500" dirty="0">
                <a:solidFill>
                  <a:schemeClr val="accent6"/>
                </a:solidFill>
                <a:latin typeface="Google Sans"/>
                <a:ea typeface="+mn-ea"/>
                <a:cs typeface="+mn-cs"/>
              </a:rPr>
              <a:t> The computing framework (e.g., MapReduce) schedules computation tasks on the same node where the data resides, minimizing network transfer.</a:t>
            </a:r>
          </a:p>
          <a:p>
            <a:r>
              <a:rPr lang="en-US" sz="1500" dirty="0">
                <a:solidFill>
                  <a:schemeClr val="accent2"/>
                </a:solidFill>
                <a:latin typeface="Google Sans"/>
                <a:ea typeface="+mn-ea"/>
                <a:cs typeface="+mn-cs"/>
              </a:rPr>
              <a:t>Streaming Data Access: </a:t>
            </a:r>
            <a:r>
              <a:rPr lang="en-US" sz="1500" dirty="0">
                <a:solidFill>
                  <a:schemeClr val="accent6"/>
                </a:solidFill>
                <a:latin typeface="Google Sans"/>
                <a:ea typeface="+mn-ea"/>
                <a:cs typeface="+mn-cs"/>
              </a:rPr>
              <a:t>Optimized for reading large files in a stream (Write-Once-Read-Many). </a:t>
            </a:r>
          </a:p>
          <a:p>
            <a:r>
              <a:rPr lang="en-US" sz="1500" dirty="0">
                <a:solidFill>
                  <a:schemeClr val="accent2"/>
                </a:solidFill>
                <a:latin typeface="Google Sans"/>
                <a:ea typeface="+mn-ea"/>
                <a:cs typeface="+mn-cs"/>
              </a:rPr>
              <a:t>3. Distributed Object Storage Computing Concepts</a:t>
            </a:r>
          </a:p>
          <a:p>
            <a:r>
              <a:rPr lang="en-US" sz="1500" dirty="0">
                <a:solidFill>
                  <a:schemeClr val="accent2"/>
                </a:solidFill>
                <a:latin typeface="Google Sans"/>
                <a:ea typeface="+mn-ea"/>
                <a:cs typeface="+mn-cs"/>
              </a:rPr>
              <a:t>Flat Namespace/DHT:</a:t>
            </a:r>
            <a:r>
              <a:rPr lang="en-US" sz="1500" dirty="0">
                <a:solidFill>
                  <a:schemeClr val="accent6"/>
                </a:solidFill>
                <a:latin typeface="Google Sans"/>
                <a:ea typeface="+mn-ea"/>
                <a:cs typeface="+mn-cs"/>
              </a:rPr>
              <a:t> Uses Distributed Hash Tables (DHT) or hash-based routing to identify which nodes store a specific object's data and metadata.</a:t>
            </a:r>
          </a:p>
        </p:txBody>
      </p:sp>
      <p:pic>
        <p:nvPicPr>
          <p:cNvPr id="10" name="Picture 9">
            <a:extLst>
              <a:ext uri="{FF2B5EF4-FFF2-40B4-BE49-F238E27FC236}">
                <a16:creationId xmlns:a16="http://schemas.microsoft.com/office/drawing/2014/main" id="{0B7424E8-AD92-B382-8980-32828817B7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918876"/>
            <a:ext cx="9067800" cy="546128"/>
          </a:xfrm>
          <a:prstGeom prst="rect">
            <a:avLst/>
          </a:prstGeom>
        </p:spPr>
      </p:pic>
    </p:spTree>
    <p:extLst>
      <p:ext uri="{BB962C8B-B14F-4D97-AF65-F5344CB8AC3E}">
        <p14:creationId xmlns:p14="http://schemas.microsoft.com/office/powerpoint/2010/main" val="1084112561"/>
      </p:ext>
    </p:extLst>
  </p:cSld>
  <p:clrMapOvr>
    <a:masterClrMapping/>
  </p:clrMapOvr>
</p:sld>
</file>

<file path=ppt/slides/slide4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144DB-939E-930C-59BD-80AD10494A9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9535A7F-EC9D-A2E0-1C00-F8CA01F4DB1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EDA2805-E424-C5A2-59C6-85F9D775F92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4649675-1E6B-0696-560A-64F2D95375E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59F4E1D0-8408-8725-2CF9-E95EFE780FA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8A7EF095-26E8-1581-A7F1-4841386512D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2DFD583F-31FE-72F7-1D72-0F32F335425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Storage</a:t>
              </a:r>
              <a:endParaRPr lang="en-US" sz="2500" kern="1200" dirty="0">
                <a:solidFill>
                  <a:schemeClr val="bg1"/>
                </a:solidFill>
              </a:endParaRPr>
            </a:p>
          </p:txBody>
        </p:sp>
      </p:grpSp>
      <p:sp>
        <p:nvSpPr>
          <p:cNvPr id="15" name="object 2">
            <a:extLst>
              <a:ext uri="{FF2B5EF4-FFF2-40B4-BE49-F238E27FC236}">
                <a16:creationId xmlns:a16="http://schemas.microsoft.com/office/drawing/2014/main" id="{55D51EB5-F67A-06A9-4090-0D82462174CE}"/>
              </a:ext>
            </a:extLst>
          </p:cNvPr>
          <p:cNvSpPr txBox="1">
            <a:spLocks/>
          </p:cNvSpPr>
          <p:nvPr/>
        </p:nvSpPr>
        <p:spPr>
          <a:xfrm>
            <a:off x="44911" y="704612"/>
            <a:ext cx="9168589"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Key Distributed Computing Concepts (Specific to Storage Type)</a:t>
            </a:r>
          </a:p>
          <a:p>
            <a:r>
              <a:rPr lang="en-US" sz="1500" dirty="0">
                <a:solidFill>
                  <a:schemeClr val="accent2"/>
                </a:solidFill>
                <a:latin typeface="Google Sans"/>
                <a:ea typeface="+mn-ea"/>
                <a:cs typeface="+mn-cs"/>
              </a:rPr>
              <a:t>3. Distributed Object Storage Computing Concepts</a:t>
            </a:r>
          </a:p>
          <a:p>
            <a:r>
              <a:rPr lang="en-US" sz="1500" dirty="0">
                <a:solidFill>
                  <a:schemeClr val="accent2"/>
                </a:solidFill>
                <a:latin typeface="Google Sans"/>
                <a:ea typeface="+mn-ea"/>
                <a:cs typeface="+mn-cs"/>
              </a:rPr>
              <a:t>Tunable Consistency:</a:t>
            </a:r>
            <a:r>
              <a:rPr lang="en-US" sz="1500" dirty="0">
                <a:solidFill>
                  <a:schemeClr val="accent6"/>
                </a:solidFill>
                <a:latin typeface="Google Sans"/>
                <a:ea typeface="+mn-ea"/>
                <a:cs typeface="+mn-cs"/>
              </a:rPr>
              <a:t> Allows developers to choose between consistency and availability </a:t>
            </a:r>
          </a:p>
          <a:p>
            <a:r>
              <a:rPr lang="en-US" sz="1500" dirty="0">
                <a:solidFill>
                  <a:schemeClr val="accent2"/>
                </a:solidFill>
                <a:latin typeface="Google Sans"/>
                <a:ea typeface="+mn-ea"/>
                <a:cs typeface="+mn-cs"/>
              </a:rPr>
              <a:t>Data Versioning:</a:t>
            </a:r>
            <a:r>
              <a:rPr lang="en-US" sz="1500" dirty="0">
                <a:solidFill>
                  <a:schemeClr val="accent6"/>
                </a:solidFill>
                <a:latin typeface="Google Sans"/>
                <a:ea typeface="+mn-ea"/>
                <a:cs typeface="+mn-cs"/>
              </a:rPr>
              <a:t> Handling conflicts by storing multiple versions of an object. </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Core Distributed Storage Principles (Applicable Across Types) </a:t>
            </a:r>
          </a:p>
          <a:p>
            <a:r>
              <a:rPr lang="en-US" sz="1500" dirty="0">
                <a:solidFill>
                  <a:schemeClr val="accent2"/>
                </a:solidFill>
                <a:latin typeface="Google Sans"/>
                <a:ea typeface="+mn-ea"/>
                <a:cs typeface="+mn-cs"/>
              </a:rPr>
              <a:t>CAP Theorem: </a:t>
            </a:r>
            <a:r>
              <a:rPr lang="en-US" sz="1500" dirty="0">
                <a:solidFill>
                  <a:schemeClr val="accent6"/>
                </a:solidFill>
                <a:latin typeface="Google Sans"/>
                <a:ea typeface="+mn-ea"/>
                <a:cs typeface="+mn-cs"/>
              </a:rPr>
              <a:t>States a system can only provide two out of three: Consistency, Availability, and Partition Tolerance. Most modern distributed systems are AP (Availability + Partition Tolerance) with Eventual Consistency.</a:t>
            </a:r>
          </a:p>
          <a:p>
            <a:r>
              <a:rPr lang="en-US" sz="1500" dirty="0">
                <a:solidFill>
                  <a:schemeClr val="accent2"/>
                </a:solidFill>
                <a:latin typeface="Google Sans"/>
                <a:ea typeface="+mn-ea"/>
                <a:cs typeface="+mn-cs"/>
              </a:rPr>
              <a:t>Sharding/Partitioning:</a:t>
            </a:r>
            <a:r>
              <a:rPr lang="en-US" sz="1500" dirty="0">
                <a:solidFill>
                  <a:schemeClr val="accent6"/>
                </a:solidFill>
                <a:latin typeface="Google Sans"/>
                <a:ea typeface="+mn-ea"/>
                <a:cs typeface="+mn-cs"/>
              </a:rPr>
              <a:t> Horizontally dividing data into subsets (shards) and distributing them across nodes to prevent bottlenecks and improve scaling.</a:t>
            </a:r>
          </a:p>
          <a:p>
            <a:r>
              <a:rPr lang="en-US" sz="1500" dirty="0">
                <a:solidFill>
                  <a:schemeClr val="accent2"/>
                </a:solidFill>
                <a:latin typeface="Google Sans"/>
                <a:ea typeface="+mn-ea"/>
                <a:cs typeface="+mn-cs"/>
              </a:rPr>
              <a:t>Erasure Coding:</a:t>
            </a:r>
            <a:r>
              <a:rPr lang="en-US" sz="1500" dirty="0">
                <a:solidFill>
                  <a:schemeClr val="accent6"/>
                </a:solidFill>
                <a:latin typeface="Google Sans"/>
                <a:ea typeface="+mn-ea"/>
                <a:cs typeface="+mn-cs"/>
              </a:rPr>
              <a:t> An alternative to replication, this method splits data into  fragments, calculates  parity fragments, and stores them, allowing data recovery even if nodes fail, saving space.</a:t>
            </a:r>
          </a:p>
          <a:p>
            <a:r>
              <a:rPr lang="en-US" sz="1500" dirty="0">
                <a:solidFill>
                  <a:schemeClr val="accent2"/>
                </a:solidFill>
                <a:latin typeface="Google Sans"/>
                <a:ea typeface="+mn-ea"/>
                <a:cs typeface="+mn-cs"/>
              </a:rPr>
              <a:t>Replication (Synchronous vs Asynchronous):</a:t>
            </a:r>
            <a:r>
              <a:rPr lang="en-US" sz="1500" dirty="0">
                <a:solidFill>
                  <a:schemeClr val="accent6"/>
                </a:solidFill>
                <a:latin typeface="Google Sans"/>
                <a:ea typeface="+mn-ea"/>
                <a:cs typeface="+mn-cs"/>
              </a:rPr>
              <a:t> Synchronous ensures all nodes are updated before confirming a write (higher latency, high consistency), while asynchronous confirms immediately and updates replicas later (lower latency, eventual consistency). </a:t>
            </a:r>
          </a:p>
          <a:p>
            <a:endParaRPr lang="en-US" sz="1500" dirty="0">
              <a:solidFill>
                <a:schemeClr val="accent6"/>
              </a:solidFill>
              <a:latin typeface="Google Sans"/>
              <a:ea typeface="+mn-ea"/>
              <a:cs typeface="+mn-cs"/>
            </a:endParaRP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Storage Tiering</a:t>
            </a:r>
          </a:p>
          <a:p>
            <a:r>
              <a:rPr lang="en-US" sz="1500" dirty="0">
                <a:solidFill>
                  <a:schemeClr val="accent6"/>
                </a:solidFill>
                <a:latin typeface="Google Sans"/>
                <a:ea typeface="+mn-ea"/>
                <a:cs typeface="+mn-cs"/>
              </a:rPr>
              <a:t>Storage tiering is a data management technique that optimizes storage costs and performance by moving data between different types of storage media based on usage, age, or criticality. </a:t>
            </a:r>
          </a:p>
        </p:txBody>
      </p:sp>
    </p:spTree>
    <p:extLst>
      <p:ext uri="{BB962C8B-B14F-4D97-AF65-F5344CB8AC3E}">
        <p14:creationId xmlns:p14="http://schemas.microsoft.com/office/powerpoint/2010/main" val="56330220"/>
      </p:ext>
    </p:extLst>
  </p:cSld>
  <p:clrMapOvr>
    <a:masterClrMapping/>
  </p:clrMapOvr>
</p:sld>
</file>

<file path=ppt/slides/slide4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1606D-5E41-757C-2CFD-6FA48845CB9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66CAC31-B303-3630-75A3-532B6695B23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695A960-5CA1-32CB-1C4E-C92C990C955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C12A6CD-5EB8-4498-23A8-0BA853C8868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A73734D3-92B2-D8AD-7E04-84FBA7FEC89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4C443A8-D188-F2BA-5B01-67EAF5FA389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C481D7EF-073D-9D3C-1741-ABE3BA67D0F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Storage</a:t>
              </a:r>
              <a:endParaRPr lang="en-US" sz="2500" kern="1200" dirty="0">
                <a:solidFill>
                  <a:schemeClr val="bg1"/>
                </a:solidFill>
              </a:endParaRPr>
            </a:p>
          </p:txBody>
        </p:sp>
      </p:grpSp>
      <p:sp>
        <p:nvSpPr>
          <p:cNvPr id="15" name="object 2">
            <a:extLst>
              <a:ext uri="{FF2B5EF4-FFF2-40B4-BE49-F238E27FC236}">
                <a16:creationId xmlns:a16="http://schemas.microsoft.com/office/drawing/2014/main" id="{CFCA17DD-B690-25A9-A665-B6D7F6B71C6A}"/>
              </a:ext>
            </a:extLst>
          </p:cNvPr>
          <p:cNvSpPr txBox="1">
            <a:spLocks/>
          </p:cNvSpPr>
          <p:nvPr/>
        </p:nvSpPr>
        <p:spPr>
          <a:xfrm>
            <a:off x="44911" y="704612"/>
            <a:ext cx="9168589"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Storage Tiering</a:t>
            </a:r>
          </a:p>
        </p:txBody>
      </p:sp>
      <p:pic>
        <p:nvPicPr>
          <p:cNvPr id="6" name="Picture 5">
            <a:extLst>
              <a:ext uri="{FF2B5EF4-FFF2-40B4-BE49-F238E27FC236}">
                <a16:creationId xmlns:a16="http://schemas.microsoft.com/office/drawing/2014/main" id="{B1382F51-E0AC-4CC1-976A-2CB638302A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12" y="1051126"/>
            <a:ext cx="9022888" cy="2771512"/>
          </a:xfrm>
          <a:prstGeom prst="rect">
            <a:avLst/>
          </a:prstGeom>
        </p:spPr>
      </p:pic>
      <p:pic>
        <p:nvPicPr>
          <p:cNvPr id="11" name="Picture 10">
            <a:extLst>
              <a:ext uri="{FF2B5EF4-FFF2-40B4-BE49-F238E27FC236}">
                <a16:creationId xmlns:a16="http://schemas.microsoft.com/office/drawing/2014/main" id="{3002B10A-7D04-4932-2022-332B3987B8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822638"/>
            <a:ext cx="9022887" cy="749362"/>
          </a:xfrm>
          <a:prstGeom prst="rect">
            <a:avLst/>
          </a:prstGeom>
        </p:spPr>
      </p:pic>
      <p:sp>
        <p:nvSpPr>
          <p:cNvPr id="12" name="object 2">
            <a:extLst>
              <a:ext uri="{FF2B5EF4-FFF2-40B4-BE49-F238E27FC236}">
                <a16:creationId xmlns:a16="http://schemas.microsoft.com/office/drawing/2014/main" id="{630D8E67-7640-2D95-2A76-225A4ADE7D23}"/>
              </a:ext>
            </a:extLst>
          </p:cNvPr>
          <p:cNvSpPr txBox="1">
            <a:spLocks/>
          </p:cNvSpPr>
          <p:nvPr/>
        </p:nvSpPr>
        <p:spPr>
          <a:xfrm>
            <a:off x="44911" y="4529584"/>
            <a:ext cx="9168589" cy="146193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Breakdown of Tiers</a:t>
            </a:r>
          </a:p>
          <a:p>
            <a:r>
              <a:rPr lang="en-US" sz="1500" dirty="0">
                <a:solidFill>
                  <a:schemeClr val="accent2"/>
                </a:solidFill>
                <a:latin typeface="Google Sans"/>
                <a:ea typeface="+mn-ea"/>
                <a:cs typeface="+mn-cs"/>
              </a:rPr>
              <a:t>1. Tier 0 / Tier 1 (Hot Data)</a:t>
            </a:r>
          </a:p>
          <a:p>
            <a:r>
              <a:rPr lang="en-US" sz="1500" dirty="0">
                <a:solidFill>
                  <a:schemeClr val="accent2"/>
                </a:solidFill>
                <a:latin typeface="Google Sans"/>
                <a:ea typeface="+mn-ea"/>
                <a:cs typeface="+mn-cs"/>
              </a:rPr>
              <a:t>Description: </a:t>
            </a:r>
            <a:r>
              <a:rPr lang="en-US" sz="1500" dirty="0">
                <a:solidFill>
                  <a:schemeClr val="accent6"/>
                </a:solidFill>
                <a:latin typeface="Google Sans"/>
                <a:ea typeface="+mn-ea"/>
                <a:cs typeface="+mn-cs"/>
              </a:rPr>
              <a:t>This is the highest performance tier, designed for data that is constantly in use or requires sub-millisecond latency.</a:t>
            </a:r>
          </a:p>
          <a:p>
            <a:r>
              <a:rPr lang="en-US" sz="1500" dirty="0">
                <a:solidFill>
                  <a:schemeClr val="accent2"/>
                </a:solidFill>
                <a:latin typeface="Google Sans"/>
                <a:ea typeface="+mn-ea"/>
                <a:cs typeface="+mn-cs"/>
              </a:rPr>
              <a:t>Characteristics: </a:t>
            </a:r>
            <a:r>
              <a:rPr lang="en-US" sz="1500" dirty="0">
                <a:solidFill>
                  <a:schemeClr val="accent6"/>
                </a:solidFill>
                <a:latin typeface="Google Sans"/>
                <a:ea typeface="+mn-ea"/>
                <a:cs typeface="+mn-cs"/>
              </a:rPr>
              <a:t>Highest storage costs, lowest access costs.</a:t>
            </a:r>
          </a:p>
          <a:p>
            <a:r>
              <a:rPr lang="en-US" sz="1500" dirty="0">
                <a:solidFill>
                  <a:schemeClr val="accent2"/>
                </a:solidFill>
                <a:latin typeface="Google Sans"/>
                <a:ea typeface="+mn-ea"/>
                <a:cs typeface="+mn-cs"/>
              </a:rPr>
              <a:t>Use Cases: </a:t>
            </a:r>
            <a:r>
              <a:rPr lang="en-US" sz="1500" dirty="0">
                <a:solidFill>
                  <a:schemeClr val="accent6"/>
                </a:solidFill>
                <a:latin typeface="Google Sans"/>
                <a:ea typeface="+mn-ea"/>
                <a:cs typeface="+mn-cs"/>
              </a:rPr>
              <a:t>Production databases, high-frequency trading applications, active virtual machine disks. </a:t>
            </a:r>
          </a:p>
        </p:txBody>
      </p:sp>
    </p:spTree>
    <p:extLst>
      <p:ext uri="{BB962C8B-B14F-4D97-AF65-F5344CB8AC3E}">
        <p14:creationId xmlns:p14="http://schemas.microsoft.com/office/powerpoint/2010/main" val="694716652"/>
      </p:ext>
    </p:extLst>
  </p:cSld>
  <p:clrMapOvr>
    <a:masterClrMapping/>
  </p:clrMapOvr>
</p:sld>
</file>

<file path=ppt/slides/slide4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4653E-14AE-D6F5-6B9D-509695D1170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7214435-D5AB-1E02-2440-8AADF5EBA93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739026E-C222-9A3C-1F55-64ED4009FA8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0F45EA3-C6A7-33B1-92BF-3CB2876588F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BA8953EE-8BE8-BF57-1680-0B12A6B77DB5}"/>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D8313B2-A9F9-78E3-0C0B-844547B381DD}"/>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2FB9500-3A6C-A050-D122-474066DE5F0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Storage</a:t>
              </a:r>
              <a:endParaRPr lang="en-US" sz="2500" kern="1200" dirty="0">
                <a:solidFill>
                  <a:schemeClr val="bg1"/>
                </a:solidFill>
              </a:endParaRPr>
            </a:p>
          </p:txBody>
        </p:sp>
      </p:grpSp>
      <p:sp>
        <p:nvSpPr>
          <p:cNvPr id="15" name="object 2">
            <a:extLst>
              <a:ext uri="{FF2B5EF4-FFF2-40B4-BE49-F238E27FC236}">
                <a16:creationId xmlns:a16="http://schemas.microsoft.com/office/drawing/2014/main" id="{9F2B6F71-DA57-7E59-2361-8B51E0BDC0A1}"/>
              </a:ext>
            </a:extLst>
          </p:cNvPr>
          <p:cNvSpPr txBox="1">
            <a:spLocks/>
          </p:cNvSpPr>
          <p:nvPr/>
        </p:nvSpPr>
        <p:spPr>
          <a:xfrm>
            <a:off x="44911" y="704612"/>
            <a:ext cx="9168589"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Storage Tiering</a:t>
            </a:r>
          </a:p>
        </p:txBody>
      </p:sp>
      <p:sp>
        <p:nvSpPr>
          <p:cNvPr id="12" name="object 2">
            <a:extLst>
              <a:ext uri="{FF2B5EF4-FFF2-40B4-BE49-F238E27FC236}">
                <a16:creationId xmlns:a16="http://schemas.microsoft.com/office/drawing/2014/main" id="{3361851F-8480-B088-34F5-FD9782332C6F}"/>
              </a:ext>
            </a:extLst>
          </p:cNvPr>
          <p:cNvSpPr txBox="1">
            <a:spLocks/>
          </p:cNvSpPr>
          <p:nvPr/>
        </p:nvSpPr>
        <p:spPr>
          <a:xfrm>
            <a:off x="60083" y="976670"/>
            <a:ext cx="9168589" cy="43088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Breakdown of Tiers</a:t>
            </a:r>
          </a:p>
          <a:p>
            <a:r>
              <a:rPr lang="en-US" sz="1500" dirty="0">
                <a:solidFill>
                  <a:schemeClr val="accent2"/>
                </a:solidFill>
                <a:latin typeface="Google Sans"/>
                <a:ea typeface="+mn-ea"/>
                <a:cs typeface="+mn-cs"/>
              </a:rPr>
              <a:t>2. Tier 2 (Warm Data)</a:t>
            </a:r>
          </a:p>
          <a:p>
            <a:r>
              <a:rPr lang="en-US" sz="1500" dirty="0">
                <a:solidFill>
                  <a:schemeClr val="accent2"/>
                </a:solidFill>
                <a:latin typeface="Google Sans"/>
                <a:ea typeface="+mn-ea"/>
                <a:cs typeface="+mn-cs"/>
              </a:rPr>
              <a:t>Description: </a:t>
            </a:r>
            <a:r>
              <a:rPr lang="en-US" sz="1500" dirty="0">
                <a:solidFill>
                  <a:schemeClr val="accent6"/>
                </a:solidFill>
                <a:latin typeface="Google Sans"/>
                <a:ea typeface="+mn-ea"/>
                <a:cs typeface="+mn-cs"/>
              </a:rPr>
              <a:t>Designed for data that is accessed frequently but does not require the instant performance of Tier 1.</a:t>
            </a:r>
          </a:p>
          <a:p>
            <a:r>
              <a:rPr lang="en-US" sz="1500" dirty="0">
                <a:solidFill>
                  <a:schemeClr val="accent2"/>
                </a:solidFill>
                <a:latin typeface="Google Sans"/>
                <a:ea typeface="+mn-ea"/>
                <a:cs typeface="+mn-cs"/>
              </a:rPr>
              <a:t>Characteristics:</a:t>
            </a:r>
            <a:r>
              <a:rPr lang="en-US" sz="1500" dirty="0">
                <a:solidFill>
                  <a:schemeClr val="accent6"/>
                </a:solidFill>
                <a:latin typeface="Google Sans"/>
                <a:ea typeface="+mn-ea"/>
                <a:cs typeface="+mn-cs"/>
              </a:rPr>
              <a:t> Balanced cost-performance ratio.</a:t>
            </a:r>
          </a:p>
          <a:p>
            <a:r>
              <a:rPr lang="en-US" sz="1500" dirty="0">
                <a:solidFill>
                  <a:schemeClr val="accent2"/>
                </a:solidFill>
                <a:latin typeface="Google Sans"/>
                <a:ea typeface="+mn-ea"/>
                <a:cs typeface="+mn-cs"/>
              </a:rPr>
              <a:t>Use Cases: </a:t>
            </a:r>
            <a:r>
              <a:rPr lang="en-US" sz="1500" dirty="0">
                <a:solidFill>
                  <a:schemeClr val="accent6"/>
                </a:solidFill>
                <a:latin typeface="Google Sans"/>
                <a:ea typeface="+mn-ea"/>
                <a:cs typeface="+mn-cs"/>
              </a:rPr>
              <a:t>Frequently accessed project files, reporting data, content-based solutions. </a:t>
            </a:r>
          </a:p>
          <a:p>
            <a:r>
              <a:rPr lang="en-US" sz="1500" dirty="0">
                <a:solidFill>
                  <a:schemeClr val="accent2"/>
                </a:solidFill>
                <a:latin typeface="Google Sans"/>
                <a:ea typeface="+mn-ea"/>
                <a:cs typeface="+mn-cs"/>
              </a:rPr>
              <a:t>3. Tier 3 (Cold Data)</a:t>
            </a:r>
          </a:p>
          <a:p>
            <a:r>
              <a:rPr lang="en-US" sz="1500" dirty="0">
                <a:solidFill>
                  <a:schemeClr val="accent2"/>
                </a:solidFill>
                <a:latin typeface="Google Sans"/>
                <a:ea typeface="+mn-ea"/>
                <a:cs typeface="+mn-cs"/>
              </a:rPr>
              <a:t>Description: </a:t>
            </a:r>
            <a:r>
              <a:rPr lang="en-US" sz="1500" dirty="0">
                <a:solidFill>
                  <a:schemeClr val="accent6"/>
                </a:solidFill>
                <a:latin typeface="Google Sans"/>
                <a:ea typeface="+mn-ea"/>
                <a:cs typeface="+mn-cs"/>
              </a:rPr>
              <a:t>Data that is not accessed often but must be immediately available when needed.</a:t>
            </a:r>
          </a:p>
          <a:p>
            <a:r>
              <a:rPr lang="en-US" sz="1500" dirty="0">
                <a:solidFill>
                  <a:schemeClr val="accent2"/>
                </a:solidFill>
                <a:latin typeface="Google Sans"/>
                <a:ea typeface="+mn-ea"/>
                <a:cs typeface="+mn-cs"/>
              </a:rPr>
              <a:t>Characteristics:</a:t>
            </a:r>
            <a:r>
              <a:rPr lang="en-US" sz="1500" dirty="0">
                <a:solidFill>
                  <a:schemeClr val="accent6"/>
                </a:solidFill>
                <a:latin typeface="Google Sans"/>
                <a:ea typeface="+mn-ea"/>
                <a:cs typeface="+mn-cs"/>
              </a:rPr>
              <a:t> Low storage costs, but higher access/retrieval fees.</a:t>
            </a:r>
          </a:p>
          <a:p>
            <a:r>
              <a:rPr lang="en-US" sz="1500" dirty="0">
                <a:solidFill>
                  <a:schemeClr val="accent2"/>
                </a:solidFill>
                <a:latin typeface="Google Sans"/>
                <a:ea typeface="+mn-ea"/>
                <a:cs typeface="+mn-cs"/>
              </a:rPr>
              <a:t>Use Cases: </a:t>
            </a:r>
            <a:r>
              <a:rPr lang="en-US" sz="1500" dirty="0">
                <a:solidFill>
                  <a:schemeClr val="accent6"/>
                </a:solidFill>
                <a:latin typeface="Google Sans"/>
                <a:ea typeface="+mn-ea"/>
                <a:cs typeface="+mn-cs"/>
              </a:rPr>
              <a:t>Monthly reports, backups, compliance data (30-90+ days old). </a:t>
            </a:r>
          </a:p>
          <a:p>
            <a:r>
              <a:rPr lang="en-US" sz="1500" dirty="0">
                <a:solidFill>
                  <a:schemeClr val="accent2"/>
                </a:solidFill>
                <a:latin typeface="Google Sans"/>
                <a:ea typeface="+mn-ea"/>
                <a:cs typeface="+mn-cs"/>
              </a:rPr>
              <a:t>4. Tier 4 (Archive/Archive Data)</a:t>
            </a:r>
          </a:p>
          <a:p>
            <a:r>
              <a:rPr lang="en-US" sz="1500" dirty="0">
                <a:solidFill>
                  <a:schemeClr val="accent2"/>
                </a:solidFill>
                <a:latin typeface="Google Sans"/>
                <a:ea typeface="+mn-ea"/>
                <a:cs typeface="+mn-cs"/>
              </a:rPr>
              <a:t>Description: </a:t>
            </a:r>
            <a:r>
              <a:rPr lang="en-US" sz="1500" dirty="0">
                <a:solidFill>
                  <a:schemeClr val="accent6"/>
                </a:solidFill>
                <a:latin typeface="Google Sans"/>
                <a:ea typeface="+mn-ea"/>
                <a:cs typeface="+mn-cs"/>
              </a:rPr>
              <a:t>Optimized for data that is rarely, if ever, accessed and has very long retention requirements.</a:t>
            </a:r>
          </a:p>
          <a:p>
            <a:r>
              <a:rPr lang="en-US" sz="1500" dirty="0">
                <a:solidFill>
                  <a:schemeClr val="accent2"/>
                </a:solidFill>
                <a:latin typeface="Google Sans"/>
                <a:ea typeface="+mn-ea"/>
                <a:cs typeface="+mn-cs"/>
              </a:rPr>
              <a:t>Characteristics:</a:t>
            </a:r>
            <a:r>
              <a:rPr lang="en-US" sz="1500" dirty="0">
                <a:solidFill>
                  <a:schemeClr val="accent6"/>
                </a:solidFill>
                <a:latin typeface="Google Sans"/>
                <a:ea typeface="+mn-ea"/>
                <a:cs typeface="+mn-cs"/>
              </a:rPr>
              <a:t> Lowest storage cost, high latency (hours to retrieve), offline or near-offline.</a:t>
            </a:r>
          </a:p>
          <a:p>
            <a:r>
              <a:rPr lang="en-US" sz="1500" dirty="0">
                <a:solidFill>
                  <a:schemeClr val="accent2"/>
                </a:solidFill>
                <a:latin typeface="Google Sans"/>
                <a:ea typeface="+mn-ea"/>
                <a:cs typeface="+mn-cs"/>
              </a:rPr>
              <a:t>Use Cases:</a:t>
            </a:r>
            <a:r>
              <a:rPr lang="en-US" sz="1500" dirty="0">
                <a:solidFill>
                  <a:schemeClr val="accent6"/>
                </a:solidFill>
                <a:latin typeface="Google Sans"/>
                <a:ea typeface="+mn-ea"/>
                <a:cs typeface="+mn-cs"/>
              </a:rPr>
              <a:t> Regulatory compliance archives, legal hold data, inactive historical data. </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Key Considerations</a:t>
            </a:r>
          </a:p>
          <a:p>
            <a:r>
              <a:rPr lang="en-US" sz="1500" dirty="0">
                <a:solidFill>
                  <a:schemeClr val="accent2"/>
                </a:solidFill>
                <a:latin typeface="Google Sans"/>
                <a:ea typeface="+mn-ea"/>
                <a:cs typeface="+mn-cs"/>
              </a:rPr>
              <a:t>Data Lifecycle Management: </a:t>
            </a:r>
            <a:r>
              <a:rPr lang="en-US" sz="1500" dirty="0">
                <a:solidFill>
                  <a:schemeClr val="accent6"/>
                </a:solidFill>
                <a:latin typeface="Google Sans"/>
                <a:ea typeface="+mn-ea"/>
                <a:cs typeface="+mn-cs"/>
              </a:rPr>
              <a:t>Automated rules that move data from hot to cold to archive as it ages.</a:t>
            </a:r>
          </a:p>
          <a:p>
            <a:r>
              <a:rPr lang="en-US" sz="1500" dirty="0">
                <a:solidFill>
                  <a:schemeClr val="accent2"/>
                </a:solidFill>
                <a:latin typeface="Google Sans"/>
                <a:ea typeface="+mn-ea"/>
                <a:cs typeface="+mn-cs"/>
              </a:rPr>
              <a:t>Retrieval Fees:</a:t>
            </a:r>
            <a:r>
              <a:rPr lang="en-US" sz="1500" dirty="0">
                <a:solidFill>
                  <a:schemeClr val="accent6"/>
                </a:solidFill>
                <a:latin typeface="Google Sans"/>
                <a:ea typeface="+mn-ea"/>
                <a:cs typeface="+mn-cs"/>
              </a:rPr>
              <a:t> While Archive/Cold tiers have low storage costs, they charge significantly for retrieving data.</a:t>
            </a:r>
          </a:p>
          <a:p>
            <a:r>
              <a:rPr lang="en-US" sz="1500" dirty="0">
                <a:solidFill>
                  <a:schemeClr val="accent2"/>
                </a:solidFill>
                <a:latin typeface="Google Sans"/>
                <a:ea typeface="+mn-ea"/>
                <a:cs typeface="+mn-cs"/>
              </a:rPr>
              <a:t>Performance Trade-off: </a:t>
            </a:r>
            <a:r>
              <a:rPr lang="en-US" sz="1500" dirty="0">
                <a:solidFill>
                  <a:schemeClr val="accent6"/>
                </a:solidFill>
                <a:latin typeface="Google Sans"/>
                <a:ea typeface="+mn-ea"/>
                <a:cs typeface="+mn-cs"/>
              </a:rPr>
              <a:t>As storage cost decreases, performance (latency and throughput) also decreases. </a:t>
            </a:r>
          </a:p>
        </p:txBody>
      </p:sp>
    </p:spTree>
    <p:extLst>
      <p:ext uri="{BB962C8B-B14F-4D97-AF65-F5344CB8AC3E}">
        <p14:creationId xmlns:p14="http://schemas.microsoft.com/office/powerpoint/2010/main" val="4264945071"/>
      </p:ext>
    </p:extLst>
  </p:cSld>
  <p:clrMapOvr>
    <a:masterClrMapping/>
  </p:clrMapOvr>
</p:sld>
</file>

<file path=ppt/slides/slide4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B0284E-7153-6A55-BA59-70736FA2584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8B45482-43E9-8AF5-5F2F-01CC35A1DD1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C4DE413-553B-4861-D961-C12D1F6325C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FE4CE5F-BD0A-6EEA-F4F5-1B32E7F1E43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69E2FE75-3D61-7252-616A-E4C61E55D9B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A14CA82-E180-DC35-3193-CC5F99E917A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28499D9F-E288-FA63-F762-4C653E9259AD}"/>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Storage</a:t>
              </a:r>
              <a:endParaRPr lang="en-US" sz="2500" kern="1200" dirty="0">
                <a:solidFill>
                  <a:schemeClr val="bg1"/>
                </a:solidFill>
              </a:endParaRPr>
            </a:p>
          </p:txBody>
        </p:sp>
      </p:grpSp>
      <p:sp>
        <p:nvSpPr>
          <p:cNvPr id="15" name="object 2">
            <a:extLst>
              <a:ext uri="{FF2B5EF4-FFF2-40B4-BE49-F238E27FC236}">
                <a16:creationId xmlns:a16="http://schemas.microsoft.com/office/drawing/2014/main" id="{3B999ED5-3B83-E3E9-391B-9293C4ADA00A}"/>
              </a:ext>
            </a:extLst>
          </p:cNvPr>
          <p:cNvSpPr txBox="1">
            <a:spLocks/>
          </p:cNvSpPr>
          <p:nvPr/>
        </p:nvSpPr>
        <p:spPr>
          <a:xfrm>
            <a:off x="44911" y="704612"/>
            <a:ext cx="9168589"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For Further Exploration</a:t>
            </a:r>
          </a:p>
          <a:p>
            <a:r>
              <a:rPr lang="en-US" sz="1500" dirty="0">
                <a:hlinkClick r:id="rId2"/>
              </a:rPr>
              <a:t>Learn the Differences Between Block, File and Object Storage.</a:t>
            </a:r>
            <a:endParaRPr lang="en-US" sz="1500" dirty="0"/>
          </a:p>
          <a:p>
            <a:r>
              <a:rPr lang="en-US" sz="1500" dirty="0">
                <a:hlinkClick r:id="rId3"/>
              </a:rPr>
              <a:t>What is Erasure Coding? | </a:t>
            </a:r>
            <a:r>
              <a:rPr lang="en-US" sz="1500" dirty="0" err="1">
                <a:hlinkClick r:id="rId3"/>
              </a:rPr>
              <a:t>MinIO</a:t>
            </a:r>
            <a:endParaRPr lang="en-US" sz="1500" dirty="0"/>
          </a:p>
          <a:p>
            <a:r>
              <a:rPr lang="en-US" sz="1500" dirty="0">
                <a:hlinkClick r:id="rId4"/>
              </a:rPr>
              <a:t>Erasure coding - by Alex Xu - </a:t>
            </a:r>
            <a:r>
              <a:rPr lang="en-US" sz="1500" dirty="0" err="1">
                <a:hlinkClick r:id="rId4"/>
              </a:rPr>
              <a:t>ByteByteGo</a:t>
            </a:r>
            <a:r>
              <a:rPr lang="en-US" sz="1500" dirty="0">
                <a:hlinkClick r:id="rId4"/>
              </a:rPr>
              <a:t> Newsletter</a:t>
            </a:r>
            <a:endParaRPr lang="en-US" sz="1500" dirty="0"/>
          </a:p>
          <a:p>
            <a:r>
              <a:rPr lang="en-IN" sz="1600" dirty="0">
                <a:hlinkClick r:id="rId5"/>
              </a:rPr>
              <a:t>Erasure Coding Demystified – YouTube</a:t>
            </a:r>
            <a:endParaRPr lang="en-IN" sz="1600" dirty="0"/>
          </a:p>
          <a:p>
            <a:endParaRPr lang="en-US" sz="1500" dirty="0">
              <a:solidFill>
                <a:schemeClr val="accent2"/>
              </a:solidFill>
              <a:latin typeface="Google Sans"/>
              <a:ea typeface="+mn-ea"/>
              <a:cs typeface="+mn-cs"/>
            </a:endParaRPr>
          </a:p>
        </p:txBody>
      </p:sp>
    </p:spTree>
    <p:extLst>
      <p:ext uri="{BB962C8B-B14F-4D97-AF65-F5344CB8AC3E}">
        <p14:creationId xmlns:p14="http://schemas.microsoft.com/office/powerpoint/2010/main" val="2181907382"/>
      </p:ext>
    </p:extLst>
  </p:cSld>
  <p:clrMapOvr>
    <a:masterClrMapping/>
  </p:clrMapOvr>
</p:sld>
</file>

<file path=ppt/slides/slide4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5EFCA-46F2-F2B4-52FE-5F23D621676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2A3C474-2E3C-A736-2620-E06351B2F74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D353389-F260-FFFF-BEE1-1ED0A1305EC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72EB971-37C6-5EA2-A574-A40B1E6F8DF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49E5CDCB-EE62-633B-3848-E14BF702041A}"/>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F2729D5A-06DE-EB4B-89EF-C261251E5E7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2352599-A6A5-835C-C56A-59BC13BFFC2F}"/>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a:t>
              </a:r>
              <a:r>
                <a:rPr lang="en-US" sz="2500" b="1" dirty="0"/>
                <a:t>Messaging</a:t>
              </a:r>
              <a:endParaRPr lang="en-US" sz="2500" kern="1200" dirty="0">
                <a:solidFill>
                  <a:schemeClr val="bg1"/>
                </a:solidFill>
              </a:endParaRPr>
            </a:p>
          </p:txBody>
        </p:sp>
      </p:grpSp>
      <p:sp>
        <p:nvSpPr>
          <p:cNvPr id="3" name="object 2">
            <a:extLst>
              <a:ext uri="{FF2B5EF4-FFF2-40B4-BE49-F238E27FC236}">
                <a16:creationId xmlns:a16="http://schemas.microsoft.com/office/drawing/2014/main" id="{75750BDC-B29C-001D-88F0-3A14F882D373}"/>
              </a:ext>
            </a:extLst>
          </p:cNvPr>
          <p:cNvSpPr txBox="1">
            <a:spLocks/>
          </p:cNvSpPr>
          <p:nvPr/>
        </p:nvSpPr>
        <p:spPr>
          <a:xfrm>
            <a:off x="44911" y="704612"/>
            <a:ext cx="9168589" cy="45397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Fundamental Components &amp; Architectural Patterns</a:t>
            </a:r>
          </a:p>
          <a:p>
            <a:r>
              <a:rPr lang="en-US" sz="1500" dirty="0">
                <a:solidFill>
                  <a:schemeClr val="accent2"/>
                </a:solidFill>
                <a:latin typeface="Google Sans"/>
                <a:ea typeface="+mn-ea"/>
                <a:cs typeface="+mn-cs"/>
              </a:rPr>
              <a:t>Producer: </a:t>
            </a:r>
            <a:r>
              <a:rPr lang="en-US" sz="1500" dirty="0">
                <a:solidFill>
                  <a:schemeClr val="accent6"/>
                </a:solidFill>
                <a:latin typeface="Google Sans"/>
                <a:ea typeface="+mn-ea"/>
                <a:cs typeface="+mn-cs"/>
              </a:rPr>
              <a:t>Applications that generate and send messages to the system.</a:t>
            </a:r>
          </a:p>
          <a:p>
            <a:r>
              <a:rPr lang="en-US" sz="1500" dirty="0">
                <a:solidFill>
                  <a:schemeClr val="accent2"/>
                </a:solidFill>
                <a:latin typeface="Google Sans"/>
                <a:ea typeface="+mn-ea"/>
                <a:cs typeface="+mn-cs"/>
              </a:rPr>
              <a:t>Consumer: </a:t>
            </a:r>
            <a:r>
              <a:rPr lang="en-US" sz="1500" dirty="0">
                <a:solidFill>
                  <a:schemeClr val="accent6"/>
                </a:solidFill>
                <a:latin typeface="Google Sans"/>
                <a:ea typeface="+mn-ea"/>
                <a:cs typeface="+mn-cs"/>
              </a:rPr>
              <a:t>Applications that receive and process messages.</a:t>
            </a:r>
          </a:p>
          <a:p>
            <a:r>
              <a:rPr lang="en-US" sz="1500" dirty="0">
                <a:solidFill>
                  <a:schemeClr val="accent2"/>
                </a:solidFill>
                <a:latin typeface="Google Sans"/>
                <a:ea typeface="+mn-ea"/>
                <a:cs typeface="+mn-cs"/>
              </a:rPr>
              <a:t>Message Broker: </a:t>
            </a:r>
            <a:r>
              <a:rPr lang="en-US" sz="1500" dirty="0">
                <a:solidFill>
                  <a:schemeClr val="accent6"/>
                </a:solidFill>
                <a:latin typeface="Google Sans"/>
                <a:ea typeface="+mn-ea"/>
                <a:cs typeface="+mn-cs"/>
              </a:rPr>
              <a:t>The intermediary node(s) that receive, store, and route messages.</a:t>
            </a:r>
          </a:p>
          <a:p>
            <a:r>
              <a:rPr lang="en-US" sz="1500" dirty="0">
                <a:solidFill>
                  <a:schemeClr val="accent2"/>
                </a:solidFill>
                <a:latin typeface="Google Sans"/>
                <a:ea typeface="+mn-ea"/>
                <a:cs typeface="+mn-cs"/>
              </a:rPr>
              <a:t>Message Queue (Point-to-Point):</a:t>
            </a:r>
            <a:r>
              <a:rPr lang="en-US" sz="1500" dirty="0">
                <a:solidFill>
                  <a:schemeClr val="accent6"/>
                </a:solidFill>
                <a:latin typeface="Google Sans"/>
                <a:ea typeface="+mn-ea"/>
                <a:cs typeface="+mn-cs"/>
              </a:rPr>
              <a:t> Messages are stored in a queue. A single message is consumed by only one consumer, ideal for task distribution (e.g., RabbitMQ, AWS SQS).</a:t>
            </a:r>
          </a:p>
          <a:p>
            <a:r>
              <a:rPr lang="en-US" sz="1500" dirty="0">
                <a:solidFill>
                  <a:schemeClr val="accent2"/>
                </a:solidFill>
                <a:latin typeface="Google Sans"/>
                <a:ea typeface="+mn-ea"/>
                <a:cs typeface="+mn-cs"/>
              </a:rPr>
              <a:t>Publish-Subscribe (Pub/Sub):</a:t>
            </a:r>
            <a:r>
              <a:rPr lang="en-US" sz="1500" dirty="0">
                <a:solidFill>
                  <a:schemeClr val="accent6"/>
                </a:solidFill>
                <a:latin typeface="Google Sans"/>
                <a:ea typeface="+mn-ea"/>
                <a:cs typeface="+mn-cs"/>
              </a:rPr>
              <a:t> Messages are published to a "topic." Multiple subscribers can receive the same message simultaneously, ideal for event broadcasting (e.g., Apache Kafka, SNS).</a:t>
            </a:r>
          </a:p>
          <a:p>
            <a:r>
              <a:rPr lang="en-US" sz="1500" dirty="0">
                <a:solidFill>
                  <a:schemeClr val="accent2"/>
                </a:solidFill>
                <a:latin typeface="Google Sans"/>
                <a:ea typeface="+mn-ea"/>
                <a:cs typeface="+mn-cs"/>
              </a:rPr>
              <a:t>Log-Based Streaming:</a:t>
            </a:r>
            <a:r>
              <a:rPr lang="en-US" sz="1500" dirty="0">
                <a:solidFill>
                  <a:schemeClr val="accent6"/>
                </a:solidFill>
                <a:latin typeface="Google Sans"/>
                <a:ea typeface="+mn-ea"/>
                <a:cs typeface="+mn-cs"/>
              </a:rPr>
              <a:t> Messages are appended to a durable, ordered log. Consumers track their position (offset) and can replay events. </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Message Delivery Semantics (Reliability)</a:t>
            </a:r>
          </a:p>
          <a:p>
            <a:r>
              <a:rPr lang="en-US" sz="1500" dirty="0">
                <a:solidFill>
                  <a:schemeClr val="accent2"/>
                </a:solidFill>
                <a:latin typeface="Google Sans"/>
                <a:ea typeface="+mn-ea"/>
                <a:cs typeface="+mn-cs"/>
              </a:rPr>
              <a:t>At-most-once:</a:t>
            </a:r>
            <a:r>
              <a:rPr lang="en-US" sz="1500" dirty="0">
                <a:solidFill>
                  <a:schemeClr val="accent6"/>
                </a:solidFill>
                <a:latin typeface="Google Sans"/>
                <a:ea typeface="+mn-ea"/>
                <a:cs typeface="+mn-cs"/>
              </a:rPr>
              <a:t> Messages are delivered zero or one time. No retries. Messages can be lost but never duplicated.</a:t>
            </a:r>
          </a:p>
          <a:p>
            <a:r>
              <a:rPr lang="en-US" sz="1500" dirty="0">
                <a:solidFill>
                  <a:schemeClr val="accent2"/>
                </a:solidFill>
                <a:latin typeface="Google Sans"/>
                <a:ea typeface="+mn-ea"/>
                <a:cs typeface="+mn-cs"/>
              </a:rPr>
              <a:t>At-least-once:</a:t>
            </a:r>
            <a:r>
              <a:rPr lang="en-US" sz="1500" dirty="0">
                <a:solidFill>
                  <a:schemeClr val="accent6"/>
                </a:solidFill>
                <a:latin typeface="Google Sans"/>
                <a:ea typeface="+mn-ea"/>
                <a:cs typeface="+mn-cs"/>
              </a:rPr>
              <a:t> Messages are guaranteed to be delivered at least once. Retries happen if no acknowledgment is received. Duplicates are possible.</a:t>
            </a:r>
          </a:p>
          <a:p>
            <a:r>
              <a:rPr lang="en-US" sz="1500" dirty="0">
                <a:solidFill>
                  <a:schemeClr val="accent2"/>
                </a:solidFill>
                <a:latin typeface="Google Sans"/>
                <a:ea typeface="+mn-ea"/>
                <a:cs typeface="+mn-cs"/>
              </a:rPr>
              <a:t>Exactly-once: </a:t>
            </a:r>
            <a:r>
              <a:rPr lang="en-US" sz="1500" dirty="0">
                <a:solidFill>
                  <a:schemeClr val="accent6"/>
                </a:solidFill>
                <a:latin typeface="Google Sans"/>
                <a:ea typeface="+mn-ea"/>
                <a:cs typeface="+mn-cs"/>
              </a:rPr>
              <a:t>Each message is delivered and processed exactly once. This is the hardest to achieve but crucial for financial systems.</a:t>
            </a:r>
          </a:p>
          <a:p>
            <a:r>
              <a:rPr lang="en-US" sz="1500" dirty="0">
                <a:solidFill>
                  <a:schemeClr val="accent2"/>
                </a:solidFill>
                <a:latin typeface="Google Sans"/>
                <a:ea typeface="+mn-ea"/>
                <a:cs typeface="+mn-cs"/>
              </a:rPr>
              <a:t>Idempotency: </a:t>
            </a:r>
            <a:r>
              <a:rPr lang="en-US" sz="1500" dirty="0">
                <a:solidFill>
                  <a:schemeClr val="accent6"/>
                </a:solidFill>
                <a:latin typeface="Google Sans"/>
                <a:ea typeface="+mn-ea"/>
                <a:cs typeface="+mn-cs"/>
              </a:rPr>
              <a:t>A crucial design pattern where processing the same message multiple times has the same effect as processing it once. This is used to solve duplicate delivery issues. </a:t>
            </a:r>
          </a:p>
        </p:txBody>
      </p:sp>
    </p:spTree>
    <p:extLst>
      <p:ext uri="{BB962C8B-B14F-4D97-AF65-F5344CB8AC3E}">
        <p14:creationId xmlns:p14="http://schemas.microsoft.com/office/powerpoint/2010/main" val="4254306133"/>
      </p:ext>
    </p:extLst>
  </p:cSld>
  <p:clrMapOvr>
    <a:masterClrMapping/>
  </p:clrMapOvr>
</p:sld>
</file>

<file path=ppt/slides/slide4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2B003-12B5-FCD3-E0DC-E380B7A1969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B934A69-14FD-0C18-DCE1-56E09461BF4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E6FFC22-F9D0-AC2B-1FA7-FB37B35105F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57E7849-0080-D21D-EA2D-D30CD5435A1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453DB6D1-9D36-8833-3C59-19E02BB5BFDF}"/>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8430CA0E-2940-5C37-BA41-C25486E34A1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161AD11E-2F7D-5359-8516-08FA87B61106}"/>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a:t>
              </a:r>
              <a:r>
                <a:rPr lang="en-US" sz="2500" b="1" dirty="0"/>
                <a:t>Messaging</a:t>
              </a:r>
              <a:endParaRPr lang="en-US" sz="2500" kern="1200" dirty="0">
                <a:solidFill>
                  <a:schemeClr val="bg1"/>
                </a:solidFill>
              </a:endParaRPr>
            </a:p>
          </p:txBody>
        </p:sp>
      </p:grpSp>
      <p:sp>
        <p:nvSpPr>
          <p:cNvPr id="3" name="object 2">
            <a:extLst>
              <a:ext uri="{FF2B5EF4-FFF2-40B4-BE49-F238E27FC236}">
                <a16:creationId xmlns:a16="http://schemas.microsoft.com/office/drawing/2014/main" id="{C1975F77-AD5D-FAE3-DB95-66C40019F743}"/>
              </a:ext>
            </a:extLst>
          </p:cNvPr>
          <p:cNvSpPr txBox="1">
            <a:spLocks/>
          </p:cNvSpPr>
          <p:nvPr/>
        </p:nvSpPr>
        <p:spPr>
          <a:xfrm>
            <a:off x="44911" y="704612"/>
            <a:ext cx="9168589" cy="51860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Core Distributed Messaging Concepts</a:t>
            </a:r>
          </a:p>
          <a:p>
            <a:r>
              <a:rPr lang="en-US" sz="1400" dirty="0">
                <a:solidFill>
                  <a:schemeClr val="accent2"/>
                </a:solidFill>
                <a:latin typeface="Google Sans"/>
                <a:ea typeface="+mn-ea"/>
                <a:cs typeface="+mn-cs"/>
              </a:rPr>
              <a:t>Persistence &amp; Durability: </a:t>
            </a:r>
            <a:r>
              <a:rPr lang="en-US" sz="1400" dirty="0">
                <a:solidFill>
                  <a:schemeClr val="accent6"/>
                </a:solidFill>
                <a:latin typeface="Google Sans"/>
                <a:ea typeface="+mn-ea"/>
                <a:cs typeface="+mn-cs"/>
              </a:rPr>
              <a:t>Messages are written to disk to survive broker crashes, shutdowns, or network issues.</a:t>
            </a:r>
          </a:p>
          <a:p>
            <a:r>
              <a:rPr lang="en-US" sz="1400" dirty="0">
                <a:solidFill>
                  <a:schemeClr val="accent2"/>
                </a:solidFill>
                <a:latin typeface="Google Sans"/>
                <a:ea typeface="+mn-ea"/>
                <a:cs typeface="+mn-cs"/>
              </a:rPr>
              <a:t>Consumer Groups: </a:t>
            </a:r>
            <a:r>
              <a:rPr lang="en-US" sz="1400" dirty="0">
                <a:solidFill>
                  <a:schemeClr val="accent6"/>
                </a:solidFill>
                <a:latin typeface="Google Sans"/>
                <a:ea typeface="+mn-ea"/>
                <a:cs typeface="+mn-cs"/>
              </a:rPr>
              <a:t>In distributed logging (e.g., Kafka), a group of consumers share a topic's load. Each consumer reads from a unique partition, allowing for parallel consumption.</a:t>
            </a:r>
          </a:p>
          <a:p>
            <a:r>
              <a:rPr lang="en-US" sz="1400" dirty="0">
                <a:solidFill>
                  <a:schemeClr val="accent2"/>
                </a:solidFill>
                <a:latin typeface="Google Sans"/>
                <a:ea typeface="+mn-ea"/>
                <a:cs typeface="+mn-cs"/>
              </a:rPr>
              <a:t>Message Ordering: </a:t>
            </a:r>
            <a:r>
              <a:rPr lang="en-US" sz="1400" dirty="0">
                <a:solidFill>
                  <a:schemeClr val="accent6"/>
                </a:solidFill>
                <a:latin typeface="Google Sans"/>
                <a:ea typeface="+mn-ea"/>
                <a:cs typeface="+mn-cs"/>
              </a:rPr>
              <a:t>Ensuring messages are processed in the order they were sent. Often guaranteed only within a single partition or shard.</a:t>
            </a:r>
          </a:p>
          <a:p>
            <a:r>
              <a:rPr lang="en-US" sz="1400" dirty="0">
                <a:solidFill>
                  <a:schemeClr val="accent2"/>
                </a:solidFill>
                <a:latin typeface="Google Sans"/>
                <a:ea typeface="+mn-ea"/>
                <a:cs typeface="+mn-cs"/>
              </a:rPr>
              <a:t>Dead-Letter Queues (DLQ): </a:t>
            </a:r>
            <a:r>
              <a:rPr lang="en-US" sz="1400" dirty="0">
                <a:solidFill>
                  <a:schemeClr val="accent6"/>
                </a:solidFill>
                <a:latin typeface="Google Sans"/>
                <a:ea typeface="+mn-ea"/>
                <a:cs typeface="+mn-cs"/>
              </a:rPr>
              <a:t>A special queue where messages that fail processing multiple times are sent for manual inspection.</a:t>
            </a:r>
          </a:p>
          <a:p>
            <a:r>
              <a:rPr lang="en-US" sz="1400" dirty="0">
                <a:solidFill>
                  <a:schemeClr val="accent2"/>
                </a:solidFill>
                <a:latin typeface="Google Sans"/>
                <a:ea typeface="+mn-ea"/>
                <a:cs typeface="+mn-cs"/>
              </a:rPr>
              <a:t>Backpressure: </a:t>
            </a:r>
            <a:r>
              <a:rPr lang="en-US" sz="1400" dirty="0">
                <a:solidFill>
                  <a:schemeClr val="accent6"/>
                </a:solidFill>
                <a:latin typeface="Google Sans"/>
                <a:ea typeface="+mn-ea"/>
                <a:cs typeface="+mn-cs"/>
              </a:rPr>
              <a:t>A mechanism allowing consumers to signal they are overloaded, forcing producers to slow down and preventing system crashes.</a:t>
            </a:r>
          </a:p>
          <a:p>
            <a:r>
              <a:rPr lang="en-US" sz="1400" dirty="0">
                <a:solidFill>
                  <a:schemeClr val="accent2"/>
                </a:solidFill>
                <a:latin typeface="Google Sans"/>
                <a:ea typeface="+mn-ea"/>
                <a:cs typeface="+mn-cs"/>
              </a:rPr>
              <a:t>Message Routing: </a:t>
            </a:r>
            <a:r>
              <a:rPr lang="en-US" sz="1400" dirty="0">
                <a:solidFill>
                  <a:schemeClr val="accent6"/>
                </a:solidFill>
                <a:latin typeface="Google Sans"/>
                <a:ea typeface="+mn-ea"/>
                <a:cs typeface="+mn-cs"/>
              </a:rPr>
              <a:t>Sophisticated rules for directing messages from producers to specific queues (e.g., using Exchanges in RabbitMQ).</a:t>
            </a:r>
          </a:p>
          <a:p>
            <a:r>
              <a:rPr lang="en-US" sz="1400" dirty="0">
                <a:solidFill>
                  <a:schemeClr val="accent2"/>
                </a:solidFill>
                <a:latin typeface="Google Sans"/>
                <a:ea typeface="+mn-ea"/>
                <a:cs typeface="+mn-cs"/>
              </a:rPr>
              <a:t>Compaction:</a:t>
            </a:r>
            <a:r>
              <a:rPr lang="en-US" sz="1400" dirty="0">
                <a:solidFill>
                  <a:schemeClr val="accent6"/>
                </a:solidFill>
                <a:latin typeface="Google Sans"/>
                <a:ea typeface="+mn-ea"/>
                <a:cs typeface="+mn-cs"/>
              </a:rPr>
              <a:t> A mechanism to only keep the latest message for a given key, reducing storage for long-term logs. </a:t>
            </a:r>
          </a:p>
          <a:p>
            <a:endParaRPr lang="en-US" sz="1400" dirty="0">
              <a:solidFill>
                <a:schemeClr val="accent6"/>
              </a:solidFill>
              <a:latin typeface="Google Sans"/>
              <a:ea typeface="+mn-ea"/>
              <a:cs typeface="+mn-cs"/>
            </a:endParaRPr>
          </a:p>
          <a:p>
            <a:r>
              <a:rPr lang="en-US" sz="2000" dirty="0">
                <a:solidFill>
                  <a:schemeClr val="accent2"/>
                </a:solidFill>
                <a:latin typeface="Google Sans"/>
                <a:ea typeface="+mn-ea"/>
                <a:cs typeface="+mn-cs"/>
              </a:rPr>
              <a:t>Distributed Systems Principles in Messaging</a:t>
            </a:r>
          </a:p>
          <a:p>
            <a:r>
              <a:rPr lang="en-US" sz="1400" dirty="0">
                <a:solidFill>
                  <a:schemeClr val="accent2"/>
                </a:solidFill>
                <a:latin typeface="Google Sans"/>
                <a:ea typeface="+mn-ea"/>
                <a:cs typeface="+mn-cs"/>
              </a:rPr>
              <a:t>Partitioning (Sharding):</a:t>
            </a:r>
            <a:r>
              <a:rPr lang="en-US" sz="1400" dirty="0">
                <a:solidFill>
                  <a:schemeClr val="accent6"/>
                </a:solidFill>
                <a:latin typeface="Google Sans"/>
                <a:ea typeface="+mn-ea"/>
                <a:cs typeface="+mn-cs"/>
              </a:rPr>
              <a:t> Topics are divided into partitions spread across multiple brokers, allowing horizontal scaling and parallel processing.</a:t>
            </a:r>
          </a:p>
          <a:p>
            <a:r>
              <a:rPr lang="en-US" sz="1400" dirty="0">
                <a:solidFill>
                  <a:schemeClr val="accent2"/>
                </a:solidFill>
                <a:latin typeface="Google Sans"/>
                <a:ea typeface="+mn-ea"/>
                <a:cs typeface="+mn-cs"/>
              </a:rPr>
              <a:t>Replication: </a:t>
            </a:r>
            <a:r>
              <a:rPr lang="en-US" sz="1400" dirty="0">
                <a:solidFill>
                  <a:schemeClr val="accent6"/>
                </a:solidFill>
                <a:latin typeface="Google Sans"/>
                <a:ea typeface="+mn-ea"/>
                <a:cs typeface="+mn-cs"/>
              </a:rPr>
              <a:t>Copying messages across multiple brokers to ensure data safety if a node fails.</a:t>
            </a:r>
          </a:p>
          <a:p>
            <a:r>
              <a:rPr lang="en-US" sz="1700" dirty="0">
                <a:solidFill>
                  <a:schemeClr val="accent2"/>
                </a:solidFill>
                <a:latin typeface="Google Sans"/>
                <a:ea typeface="+mn-ea"/>
                <a:cs typeface="+mn-cs"/>
              </a:rPr>
              <a:t>  </a:t>
            </a:r>
            <a:r>
              <a:rPr lang="en-US" sz="1600" dirty="0">
                <a:solidFill>
                  <a:schemeClr val="accent2"/>
                </a:solidFill>
                <a:latin typeface="Google Sans"/>
                <a:ea typeface="+mn-ea"/>
                <a:cs typeface="+mn-cs"/>
              </a:rPr>
              <a:t>Consistency vs. Availability (CAP Theorem):</a:t>
            </a:r>
          </a:p>
          <a:p>
            <a:r>
              <a:rPr lang="en-US" sz="1400" dirty="0">
                <a:solidFill>
                  <a:schemeClr val="accent2"/>
                </a:solidFill>
                <a:latin typeface="Google Sans"/>
                <a:ea typeface="+mn-ea"/>
                <a:cs typeface="+mn-cs"/>
              </a:rPr>
              <a:t>   CP (Consistent &amp; Partition Tolerant):</a:t>
            </a:r>
            <a:r>
              <a:rPr lang="en-US" sz="1400" dirty="0">
                <a:solidFill>
                  <a:schemeClr val="accent6"/>
                </a:solidFill>
                <a:latin typeface="Google Sans"/>
                <a:ea typeface="+mn-ea"/>
                <a:cs typeface="+mn-cs"/>
              </a:rPr>
              <a:t> Prefers consistency, might refuse requests if a node is down (e.g., Kafka, Pulsar).</a:t>
            </a:r>
          </a:p>
          <a:p>
            <a:r>
              <a:rPr lang="en-US" sz="1400" dirty="0">
                <a:solidFill>
                  <a:schemeClr val="accent2"/>
                </a:solidFill>
                <a:latin typeface="Google Sans"/>
                <a:ea typeface="+mn-ea"/>
                <a:cs typeface="+mn-cs"/>
              </a:rPr>
              <a:t>   AP (Available &amp; Partition Tolerant): </a:t>
            </a:r>
            <a:r>
              <a:rPr lang="en-US" sz="1400" dirty="0">
                <a:solidFill>
                  <a:schemeClr val="accent6"/>
                </a:solidFill>
                <a:latin typeface="Google Sans"/>
                <a:ea typeface="+mn-ea"/>
                <a:cs typeface="+mn-cs"/>
              </a:rPr>
              <a:t>Prefers availability, might deliver stale data (e.g., some pub-sub systems).</a:t>
            </a:r>
          </a:p>
          <a:p>
            <a:r>
              <a:rPr lang="en-US" sz="1400" dirty="0">
                <a:solidFill>
                  <a:schemeClr val="accent2"/>
                </a:solidFill>
                <a:latin typeface="Google Sans"/>
                <a:ea typeface="+mn-ea"/>
                <a:cs typeface="+mn-cs"/>
              </a:rPr>
              <a:t>Eventual Consistency:</a:t>
            </a:r>
            <a:r>
              <a:rPr lang="en-US" sz="1400" dirty="0">
                <a:solidFill>
                  <a:schemeClr val="accent6"/>
                </a:solidFill>
                <a:latin typeface="Google Sans"/>
                <a:ea typeface="+mn-ea"/>
                <a:cs typeface="+mn-cs"/>
              </a:rPr>
              <a:t> In distributed systems, it may take time for all nodes to agree, but they will eventually.</a:t>
            </a:r>
          </a:p>
          <a:p>
            <a:r>
              <a:rPr lang="en-US" sz="1400" dirty="0">
                <a:solidFill>
                  <a:schemeClr val="accent2"/>
                </a:solidFill>
                <a:latin typeface="Google Sans"/>
                <a:ea typeface="+mn-ea"/>
                <a:cs typeface="+mn-cs"/>
              </a:rPr>
              <a:t>Service Discovery:</a:t>
            </a:r>
            <a:r>
              <a:rPr lang="en-US" sz="1400" dirty="0">
                <a:solidFill>
                  <a:schemeClr val="accent6"/>
                </a:solidFill>
                <a:latin typeface="Google Sans"/>
                <a:ea typeface="+mn-ea"/>
                <a:cs typeface="+mn-cs"/>
              </a:rPr>
              <a:t> Mechanism to locate message brokers in a dynamic environment (e.g., Zookeeper, Consul). </a:t>
            </a:r>
          </a:p>
        </p:txBody>
      </p:sp>
    </p:spTree>
    <p:extLst>
      <p:ext uri="{BB962C8B-B14F-4D97-AF65-F5344CB8AC3E}">
        <p14:creationId xmlns:p14="http://schemas.microsoft.com/office/powerpoint/2010/main" val="1001804740"/>
      </p:ext>
    </p:extLst>
  </p:cSld>
  <p:clrMapOvr>
    <a:masterClrMapping/>
  </p:clrMapOvr>
</p:sld>
</file>

<file path=ppt/slides/slide4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EC10C-A363-5792-A55E-FC92FA2B494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7F44536-82FD-FA7B-D3EC-C83F298E45D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72E8E23-2A84-4014-E7F0-114E2B03A2A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99EE332-4D97-F0A9-C84C-02857AFA96A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087E4779-B73F-B755-4068-44150FC08CBB}"/>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38A0BAB1-2B68-4468-1BC1-51400EABA7C2}"/>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D48EF973-1F18-39FE-D33F-95EE4E11C94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a:t>
              </a:r>
              <a:r>
                <a:rPr lang="en-US" sz="2500" b="1" dirty="0"/>
                <a:t>Messaging</a:t>
              </a:r>
              <a:endParaRPr lang="en-US" sz="2500" kern="1200" dirty="0">
                <a:solidFill>
                  <a:schemeClr val="bg1"/>
                </a:solidFill>
              </a:endParaRPr>
            </a:p>
          </p:txBody>
        </p:sp>
      </p:grpSp>
      <p:sp>
        <p:nvSpPr>
          <p:cNvPr id="3" name="object 2">
            <a:extLst>
              <a:ext uri="{FF2B5EF4-FFF2-40B4-BE49-F238E27FC236}">
                <a16:creationId xmlns:a16="http://schemas.microsoft.com/office/drawing/2014/main" id="{2AD01CC5-5576-CBCA-7119-0460012E3FEB}"/>
              </a:ext>
            </a:extLst>
          </p:cNvPr>
          <p:cNvSpPr txBox="1">
            <a:spLocks/>
          </p:cNvSpPr>
          <p:nvPr/>
        </p:nvSpPr>
        <p:spPr>
          <a:xfrm>
            <a:off x="44911" y="704612"/>
            <a:ext cx="9168589" cy="116955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Common Challenges</a:t>
            </a:r>
          </a:p>
          <a:p>
            <a:r>
              <a:rPr lang="en-US" sz="1400" dirty="0">
                <a:solidFill>
                  <a:schemeClr val="accent2"/>
                </a:solidFill>
                <a:latin typeface="Google Sans"/>
                <a:ea typeface="+mn-ea"/>
                <a:cs typeface="+mn-cs"/>
              </a:rPr>
              <a:t>Message Ordering Complexity: </a:t>
            </a:r>
            <a:r>
              <a:rPr lang="en-US" sz="1400" dirty="0">
                <a:solidFill>
                  <a:schemeClr val="accent6"/>
                </a:solidFill>
                <a:latin typeface="Google Sans"/>
                <a:ea typeface="+mn-ea"/>
                <a:cs typeface="+mn-cs"/>
              </a:rPr>
              <a:t>Ordering across multiple partitions or in distributed systems with high concurrency is difficult.</a:t>
            </a:r>
          </a:p>
          <a:p>
            <a:r>
              <a:rPr lang="en-US" sz="1400" dirty="0">
                <a:solidFill>
                  <a:schemeClr val="accent2"/>
                </a:solidFill>
                <a:latin typeface="Google Sans"/>
                <a:ea typeface="+mn-ea"/>
                <a:cs typeface="+mn-cs"/>
              </a:rPr>
              <a:t>Consumer Lag: </a:t>
            </a:r>
            <a:r>
              <a:rPr lang="en-US" sz="1400" dirty="0">
                <a:solidFill>
                  <a:schemeClr val="accent6"/>
                </a:solidFill>
                <a:latin typeface="Google Sans"/>
                <a:ea typeface="+mn-ea"/>
                <a:cs typeface="+mn-cs"/>
              </a:rPr>
              <a:t>When consumers process messages slower than producers create them, leading to increased latency.</a:t>
            </a:r>
          </a:p>
          <a:p>
            <a:r>
              <a:rPr lang="en-US" sz="1400" dirty="0">
                <a:solidFill>
                  <a:schemeClr val="accent2"/>
                </a:solidFill>
                <a:latin typeface="Google Sans"/>
                <a:ea typeface="+mn-ea"/>
                <a:cs typeface="+mn-cs"/>
              </a:rPr>
              <a:t>Network Partition Failure: </a:t>
            </a:r>
            <a:r>
              <a:rPr lang="en-US" sz="1400" dirty="0">
                <a:solidFill>
                  <a:schemeClr val="accent6"/>
                </a:solidFill>
                <a:latin typeface="Google Sans"/>
                <a:ea typeface="+mn-ea"/>
                <a:cs typeface="+mn-cs"/>
              </a:rPr>
              <a:t>If brokers cannot communicate, the system must handle data consistency. </a:t>
            </a:r>
          </a:p>
        </p:txBody>
      </p:sp>
      <p:pic>
        <p:nvPicPr>
          <p:cNvPr id="13" name="Picture 12">
            <a:extLst>
              <a:ext uri="{FF2B5EF4-FFF2-40B4-BE49-F238E27FC236}">
                <a16:creationId xmlns:a16="http://schemas.microsoft.com/office/drawing/2014/main" id="{B7DF7A3E-73D0-67C1-6B7E-64FB49C658B7}"/>
              </a:ext>
            </a:extLst>
          </p:cNvPr>
          <p:cNvPicPr>
            <a:picLocks noChangeAspect="1"/>
          </p:cNvPicPr>
          <p:nvPr/>
        </p:nvPicPr>
        <p:blipFill>
          <a:blip r:embed="rId2"/>
          <a:stretch>
            <a:fillRect/>
          </a:stretch>
        </p:blipFill>
        <p:spPr>
          <a:xfrm>
            <a:off x="152400" y="1961745"/>
            <a:ext cx="8839200" cy="3905656"/>
          </a:xfrm>
          <a:prstGeom prst="rect">
            <a:avLst/>
          </a:prstGeom>
        </p:spPr>
      </p:pic>
    </p:spTree>
    <p:extLst>
      <p:ext uri="{BB962C8B-B14F-4D97-AF65-F5344CB8AC3E}">
        <p14:creationId xmlns:p14="http://schemas.microsoft.com/office/powerpoint/2010/main" val="4236430836"/>
      </p:ext>
    </p:extLst>
  </p:cSld>
  <p:clrMapOvr>
    <a:masterClrMapping/>
  </p:clrMapOvr>
</p:sld>
</file>

<file path=ppt/slides/slide4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2E4CF-F832-E28A-D3B7-828AD214AE7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686091A-D42F-D189-9AB6-D93239F0B3D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B68D753-EAE2-F8AC-A33B-56E8B720ACB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A8F4D850-C6BF-3494-FF22-3EA5C2E09BC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2E9D4516-5C69-418B-C92A-FE4DAAD0B619}"/>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E3DB3D00-5BB6-ADEC-F3B1-BA38BB4E623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12F0635F-41E4-15D0-11CE-414F9AAD690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a:t>
              </a:r>
              <a:r>
                <a:rPr lang="en-US" sz="2500" b="1" dirty="0"/>
                <a:t>Messaging</a:t>
              </a:r>
              <a:endParaRPr lang="en-US" sz="2500" kern="1200" dirty="0">
                <a:solidFill>
                  <a:schemeClr val="bg1"/>
                </a:solidFill>
              </a:endParaRPr>
            </a:p>
          </p:txBody>
        </p:sp>
      </p:grpSp>
      <p:sp>
        <p:nvSpPr>
          <p:cNvPr id="3" name="object 2">
            <a:extLst>
              <a:ext uri="{FF2B5EF4-FFF2-40B4-BE49-F238E27FC236}">
                <a16:creationId xmlns:a16="http://schemas.microsoft.com/office/drawing/2014/main" id="{FBBF70DE-7B47-7D55-0AD8-1F2EFFCE62E0}"/>
              </a:ext>
            </a:extLst>
          </p:cNvPr>
          <p:cNvSpPr txBox="1">
            <a:spLocks/>
          </p:cNvSpPr>
          <p:nvPr/>
        </p:nvSpPr>
        <p:spPr>
          <a:xfrm>
            <a:off x="44911" y="704612"/>
            <a:ext cx="9168589" cy="537070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ISR(In-Sync Replicas)</a:t>
            </a:r>
            <a:endParaRPr lang="en-US" sz="2000" dirty="0">
              <a:solidFill>
                <a:schemeClr val="accent2"/>
              </a:solidFill>
              <a:latin typeface="Google Sans"/>
              <a:ea typeface="+mn-ea"/>
              <a:cs typeface="+mn-cs"/>
            </a:endParaRPr>
          </a:p>
          <a:p>
            <a:r>
              <a:rPr lang="en-US" sz="1400" dirty="0">
                <a:solidFill>
                  <a:schemeClr val="accent6"/>
                </a:solidFill>
                <a:latin typeface="Google Sans"/>
                <a:ea typeface="+mn-ea"/>
                <a:cs typeface="+mn-cs"/>
              </a:rPr>
              <a:t>In-Sync Replicas (ISR) are the set of Kafka topic partition replicas currently up-to-date with the leader. During a leader failure, the controller selects a new leader from the ISR to ensure zero data loss. If no ISR is available, the system may use "unclean leader election" (if enabled) to prioritize availability over data consistency. </a:t>
            </a:r>
          </a:p>
          <a:p>
            <a:r>
              <a:rPr lang="en-US" sz="1700" dirty="0">
                <a:solidFill>
                  <a:schemeClr val="accent2"/>
                </a:solidFill>
                <a:latin typeface="Google Sans"/>
                <a:ea typeface="+mn-ea"/>
                <a:cs typeface="+mn-cs"/>
              </a:rPr>
              <a:t>Key Aspects of ISR and Leader Election:</a:t>
            </a:r>
          </a:p>
          <a:p>
            <a:r>
              <a:rPr lang="en-US" sz="1400" dirty="0">
                <a:solidFill>
                  <a:schemeClr val="accent2"/>
                </a:solidFill>
                <a:latin typeface="Google Sans"/>
                <a:ea typeface="+mn-ea"/>
                <a:cs typeface="+mn-cs"/>
              </a:rPr>
              <a:t>Definition of ISR: </a:t>
            </a:r>
            <a:r>
              <a:rPr lang="en-US" sz="1400" dirty="0">
                <a:solidFill>
                  <a:schemeClr val="accent6"/>
                </a:solidFill>
                <a:latin typeface="Google Sans"/>
                <a:ea typeface="+mn-ea"/>
                <a:cs typeface="+mn-cs"/>
              </a:rPr>
              <a:t>Replicas that are fully caught up with the leader within a specified time, meaning they have all committed messages.</a:t>
            </a:r>
          </a:p>
          <a:p>
            <a:r>
              <a:rPr lang="en-US" sz="1400" dirty="0">
                <a:solidFill>
                  <a:schemeClr val="accent2"/>
                </a:solidFill>
                <a:latin typeface="Google Sans"/>
                <a:ea typeface="+mn-ea"/>
                <a:cs typeface="+mn-cs"/>
              </a:rPr>
              <a:t>Election Process: </a:t>
            </a:r>
            <a:r>
              <a:rPr lang="en-US" sz="1400" dirty="0">
                <a:solidFill>
                  <a:schemeClr val="accent6"/>
                </a:solidFill>
                <a:latin typeface="Google Sans"/>
                <a:ea typeface="+mn-ea"/>
                <a:cs typeface="+mn-cs"/>
              </a:rPr>
              <a:t>When a leader fails, the controller (via </a:t>
            </a:r>
            <a:r>
              <a:rPr lang="en-US" sz="1400" dirty="0" err="1">
                <a:solidFill>
                  <a:schemeClr val="accent6"/>
                </a:solidFill>
                <a:latin typeface="Google Sans"/>
                <a:ea typeface="+mn-ea"/>
                <a:cs typeface="+mn-cs"/>
              </a:rPr>
              <a:t>ZooKeeper</a:t>
            </a:r>
            <a:r>
              <a:rPr lang="en-US" sz="1400" dirty="0">
                <a:solidFill>
                  <a:schemeClr val="accent6"/>
                </a:solidFill>
                <a:latin typeface="Google Sans"/>
                <a:ea typeface="+mn-ea"/>
                <a:cs typeface="+mn-cs"/>
              </a:rPr>
              <a:t> or </a:t>
            </a:r>
            <a:r>
              <a:rPr lang="en-US" sz="1400" dirty="0" err="1">
                <a:solidFill>
                  <a:schemeClr val="accent6"/>
                </a:solidFill>
                <a:latin typeface="Google Sans"/>
                <a:ea typeface="+mn-ea"/>
                <a:cs typeface="+mn-cs"/>
              </a:rPr>
              <a:t>KRaft</a:t>
            </a:r>
            <a:r>
              <a:rPr lang="en-US" sz="1400" dirty="0">
                <a:solidFill>
                  <a:schemeClr val="accent6"/>
                </a:solidFill>
                <a:latin typeface="Google Sans"/>
                <a:ea typeface="+mn-ea"/>
                <a:cs typeface="+mn-cs"/>
              </a:rPr>
              <a:t>) chooses a new leader from the current ISR list.</a:t>
            </a:r>
          </a:p>
          <a:p>
            <a:r>
              <a:rPr lang="en-US" sz="1400" dirty="0">
                <a:solidFill>
                  <a:schemeClr val="accent2"/>
                </a:solidFill>
                <a:latin typeface="Google Sans"/>
                <a:ea typeface="+mn-ea"/>
                <a:cs typeface="+mn-cs"/>
              </a:rPr>
              <a:t>Data Integrity:</a:t>
            </a:r>
            <a:r>
              <a:rPr lang="en-US" sz="1400" dirty="0">
                <a:solidFill>
                  <a:schemeClr val="accent6"/>
                </a:solidFill>
                <a:latin typeface="Google Sans"/>
                <a:ea typeface="+mn-ea"/>
                <a:cs typeface="+mn-cs"/>
              </a:rPr>
              <a:t> Because the new leader is chosen from the ISR, it is guaranteed to have the most recent, committed data, preventing data loss.</a:t>
            </a:r>
          </a:p>
          <a:p>
            <a:r>
              <a:rPr lang="en-US" sz="1400" dirty="0">
                <a:solidFill>
                  <a:schemeClr val="accent2"/>
                </a:solidFill>
                <a:latin typeface="Google Sans"/>
                <a:ea typeface="+mn-ea"/>
                <a:cs typeface="+mn-cs"/>
              </a:rPr>
              <a:t>Unclean Leader Election: </a:t>
            </a:r>
            <a:r>
              <a:rPr lang="en-US" sz="1400" dirty="0">
                <a:solidFill>
                  <a:schemeClr val="accent6"/>
                </a:solidFill>
                <a:latin typeface="Google Sans"/>
                <a:ea typeface="+mn-ea"/>
                <a:cs typeface="+mn-cs"/>
              </a:rPr>
              <a:t>If all replicas in the ISR are down, Kafka can allow a non-ISR follower to become the leader. This prevents downtime but causes data loss, which is controlled by the </a:t>
            </a:r>
            <a:r>
              <a:rPr lang="en-US" sz="1400" dirty="0" err="1">
                <a:solidFill>
                  <a:schemeClr val="accent6"/>
                </a:solidFill>
                <a:latin typeface="Google Sans"/>
                <a:ea typeface="+mn-ea"/>
                <a:cs typeface="+mn-cs"/>
              </a:rPr>
              <a:t>unclean.leader.election.enable</a:t>
            </a:r>
            <a:r>
              <a:rPr lang="en-US" sz="1400" dirty="0">
                <a:solidFill>
                  <a:schemeClr val="accent6"/>
                </a:solidFill>
                <a:latin typeface="Google Sans"/>
                <a:ea typeface="+mn-ea"/>
                <a:cs typeface="+mn-cs"/>
              </a:rPr>
              <a:t> parameter.</a:t>
            </a:r>
          </a:p>
          <a:p>
            <a:r>
              <a:rPr lang="en-US" sz="1400" dirty="0">
                <a:solidFill>
                  <a:schemeClr val="accent2"/>
                </a:solidFill>
                <a:latin typeface="Google Sans"/>
                <a:ea typeface="+mn-ea"/>
                <a:cs typeface="+mn-cs"/>
              </a:rPr>
              <a:t>Preferred Leader: </a:t>
            </a:r>
            <a:r>
              <a:rPr lang="en-US" sz="1400" dirty="0">
                <a:solidFill>
                  <a:schemeClr val="accent6"/>
                </a:solidFill>
                <a:latin typeface="Google Sans"/>
                <a:ea typeface="+mn-ea"/>
                <a:cs typeface="+mn-cs"/>
              </a:rPr>
              <a:t>The first replica in the assigned list is the "preferred" leader. Tools can be used to re-elect the preferred leader to balance the load.</a:t>
            </a:r>
          </a:p>
          <a:p>
            <a:r>
              <a:rPr lang="en-US" sz="1400" dirty="0" err="1">
                <a:solidFill>
                  <a:schemeClr val="accent2"/>
                </a:solidFill>
                <a:latin typeface="Google Sans"/>
                <a:ea typeface="+mn-ea"/>
                <a:cs typeface="+mn-cs"/>
              </a:rPr>
              <a:t>KRaft</a:t>
            </a:r>
            <a:r>
              <a:rPr lang="en-US" sz="1400" dirty="0">
                <a:solidFill>
                  <a:schemeClr val="accent2"/>
                </a:solidFill>
                <a:latin typeface="Google Sans"/>
                <a:ea typeface="+mn-ea"/>
                <a:cs typeface="+mn-cs"/>
              </a:rPr>
              <a:t>/Modern Approach: </a:t>
            </a:r>
            <a:r>
              <a:rPr lang="en-US" sz="1400" dirty="0">
                <a:solidFill>
                  <a:schemeClr val="accent6"/>
                </a:solidFill>
                <a:latin typeface="Google Sans"/>
                <a:ea typeface="+mn-ea"/>
                <a:cs typeface="+mn-cs"/>
              </a:rPr>
              <a:t>In newer Kafka versions (using </a:t>
            </a:r>
            <a:r>
              <a:rPr lang="en-US" sz="1400" dirty="0" err="1">
                <a:solidFill>
                  <a:schemeClr val="accent6"/>
                </a:solidFill>
                <a:latin typeface="Google Sans"/>
                <a:ea typeface="+mn-ea"/>
                <a:cs typeface="+mn-cs"/>
              </a:rPr>
              <a:t>KRaft</a:t>
            </a:r>
            <a:r>
              <a:rPr lang="en-US" sz="1400" dirty="0">
                <a:solidFill>
                  <a:schemeClr val="accent6"/>
                </a:solidFill>
                <a:latin typeface="Google Sans"/>
                <a:ea typeface="+mn-ea"/>
                <a:cs typeface="+mn-cs"/>
              </a:rPr>
              <a:t>), the controller maintains a list of Eligible Leader Replicas (ELR) to select a new leader even if the main ISR is unavailable. </a:t>
            </a:r>
          </a:p>
          <a:p>
            <a:endParaRPr lang="en-US" sz="1400" dirty="0">
              <a:solidFill>
                <a:schemeClr val="accent6"/>
              </a:solidFill>
              <a:latin typeface="Google Sans"/>
              <a:ea typeface="+mn-ea"/>
              <a:cs typeface="+mn-cs"/>
            </a:endParaRPr>
          </a:p>
          <a:p>
            <a:r>
              <a:rPr lang="en-US" sz="1800" dirty="0">
                <a:solidFill>
                  <a:schemeClr val="accent2"/>
                </a:solidFill>
                <a:latin typeface="Google Sans"/>
              </a:rPr>
              <a:t>Key Topics in ISR &amp; Leader Election</a:t>
            </a:r>
          </a:p>
          <a:p>
            <a:r>
              <a:rPr lang="en-US" sz="1400" dirty="0">
                <a:solidFill>
                  <a:schemeClr val="accent2"/>
                </a:solidFill>
                <a:latin typeface="Google Sans"/>
              </a:rPr>
              <a:t>1. </a:t>
            </a:r>
            <a:r>
              <a:rPr lang="en-US" sz="1400" dirty="0" err="1">
                <a:solidFill>
                  <a:schemeClr val="accent2"/>
                </a:solidFill>
                <a:latin typeface="Google Sans"/>
              </a:rPr>
              <a:t>min.insync.replicas</a:t>
            </a:r>
            <a:r>
              <a:rPr lang="en-US" sz="1400" dirty="0">
                <a:solidFill>
                  <a:schemeClr val="accent2"/>
                </a:solidFill>
                <a:latin typeface="Google Sans"/>
              </a:rPr>
              <a:t>:</a:t>
            </a:r>
            <a:r>
              <a:rPr lang="en-US" sz="1400" dirty="0">
                <a:solidFill>
                  <a:schemeClr val="accent6"/>
                </a:solidFill>
                <a:latin typeface="Google Sans"/>
              </a:rPr>
              <a:t> How this configuration affects data </a:t>
            </a:r>
            <a:r>
              <a:rPr lang="en-US" sz="1400" dirty="0" err="1">
                <a:solidFill>
                  <a:schemeClr val="accent6"/>
                </a:solidFill>
                <a:latin typeface="Google Sans"/>
              </a:rPr>
              <a:t>durabilty</a:t>
            </a:r>
            <a:r>
              <a:rPr lang="en-US" sz="1400" dirty="0">
                <a:solidFill>
                  <a:schemeClr val="accent6"/>
                </a:solidFill>
                <a:latin typeface="Google Sans"/>
              </a:rPr>
              <a:t>.</a:t>
            </a:r>
          </a:p>
          <a:p>
            <a:r>
              <a:rPr lang="en-US" sz="1400" dirty="0">
                <a:solidFill>
                  <a:schemeClr val="accent2"/>
                </a:solidFill>
                <a:latin typeface="Google Sans"/>
              </a:rPr>
              <a:t>2. replica.lag.time.max.ms:</a:t>
            </a:r>
            <a:r>
              <a:rPr lang="en-US" sz="1400" dirty="0">
                <a:solidFill>
                  <a:schemeClr val="accent6"/>
                </a:solidFill>
                <a:latin typeface="Google Sans"/>
              </a:rPr>
              <a:t> How Kafka determines when a follower is out of sync.</a:t>
            </a:r>
          </a:p>
          <a:p>
            <a:r>
              <a:rPr lang="en-US" sz="1400" dirty="0">
                <a:solidFill>
                  <a:schemeClr val="accent2"/>
                </a:solidFill>
                <a:latin typeface="Google Sans"/>
              </a:rPr>
              <a:t>3. Unclean Leader Election (</a:t>
            </a:r>
            <a:r>
              <a:rPr lang="en-US" sz="1400" dirty="0" err="1">
                <a:solidFill>
                  <a:schemeClr val="accent2"/>
                </a:solidFill>
                <a:latin typeface="Google Sans"/>
              </a:rPr>
              <a:t>unclean.leader.election.enable</a:t>
            </a:r>
            <a:r>
              <a:rPr lang="en-US" sz="1400" dirty="0">
                <a:solidFill>
                  <a:schemeClr val="accent2"/>
                </a:solidFill>
                <a:latin typeface="Google Sans"/>
              </a:rPr>
              <a:t>):</a:t>
            </a:r>
            <a:r>
              <a:rPr lang="en-US" sz="1400" dirty="0">
                <a:solidFill>
                  <a:schemeClr val="accent6"/>
                </a:solidFill>
                <a:latin typeface="Google Sans"/>
              </a:rPr>
              <a:t> The tradeoff between availability and data consistency.</a:t>
            </a:r>
          </a:p>
          <a:p>
            <a:r>
              <a:rPr lang="en-US" sz="1400" dirty="0">
                <a:solidFill>
                  <a:schemeClr val="accent2"/>
                </a:solidFill>
                <a:latin typeface="Google Sans"/>
              </a:rPr>
              <a:t>4. Preferred Leader Election: </a:t>
            </a:r>
            <a:r>
              <a:rPr lang="en-US" sz="1400" dirty="0">
                <a:solidFill>
                  <a:schemeClr val="accent6"/>
                </a:solidFill>
                <a:latin typeface="Google Sans"/>
              </a:rPr>
              <a:t>Why Kafka prefers certain replicas as leaders.</a:t>
            </a:r>
          </a:p>
          <a:p>
            <a:r>
              <a:rPr lang="en-US" sz="1400" dirty="0">
                <a:solidFill>
                  <a:schemeClr val="accent2"/>
                </a:solidFill>
                <a:latin typeface="Google Sans"/>
              </a:rPr>
              <a:t>5. </a:t>
            </a:r>
            <a:r>
              <a:rPr lang="en-US" sz="1400" dirty="0" err="1">
                <a:solidFill>
                  <a:schemeClr val="accent2"/>
                </a:solidFill>
                <a:latin typeface="Google Sans"/>
              </a:rPr>
              <a:t>KRaft</a:t>
            </a:r>
            <a:r>
              <a:rPr lang="en-US" sz="1400" dirty="0">
                <a:solidFill>
                  <a:schemeClr val="accent2"/>
                </a:solidFill>
                <a:latin typeface="Google Sans"/>
              </a:rPr>
              <a:t>/Eligible Leader Replicas (ELR):</a:t>
            </a:r>
            <a:r>
              <a:rPr lang="en-US" sz="1400" dirty="0">
                <a:solidFill>
                  <a:schemeClr val="accent6"/>
                </a:solidFill>
                <a:latin typeface="Google Sans"/>
              </a:rPr>
              <a:t> Modern leader election mechanisms (Kafka 4.0+). </a:t>
            </a:r>
          </a:p>
          <a:p>
            <a:endParaRPr lang="en-US" sz="1400" dirty="0">
              <a:solidFill>
                <a:schemeClr val="accent6"/>
              </a:solidFill>
              <a:latin typeface="Google Sans"/>
              <a:ea typeface="+mn-ea"/>
              <a:cs typeface="+mn-cs"/>
            </a:endParaRPr>
          </a:p>
        </p:txBody>
      </p:sp>
    </p:spTree>
    <p:extLst>
      <p:ext uri="{BB962C8B-B14F-4D97-AF65-F5344CB8AC3E}">
        <p14:creationId xmlns:p14="http://schemas.microsoft.com/office/powerpoint/2010/main" val="1638788659"/>
      </p:ext>
    </p:extLst>
  </p:cSld>
  <p:clrMapOvr>
    <a:masterClrMapping/>
  </p:clrMapOvr>
</p:sld>
</file>

<file path=ppt/slides/slide4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66C71-880B-5606-9577-3DB926A27F8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70AEB09-B4FA-DF42-E7AF-335B60A2EC8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E4F956E-8424-CDDC-BD42-C26A944155B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D0FB5457-B5CD-56C4-9596-82FEB0DC433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5FEF0FA2-6524-D311-43FA-A68667E69CEA}"/>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5114885C-E840-A532-1B02-187E4FF141F5}"/>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3E12C7C9-D5CA-9D1B-4E3A-D9A287472C03}"/>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a:t>
              </a:r>
              <a:r>
                <a:rPr lang="en-US" sz="2500" b="1" dirty="0"/>
                <a:t>Messaging</a:t>
              </a:r>
              <a:endParaRPr lang="en-US" sz="2500" kern="1200" dirty="0">
                <a:solidFill>
                  <a:schemeClr val="bg1"/>
                </a:solidFill>
              </a:endParaRPr>
            </a:p>
          </p:txBody>
        </p:sp>
      </p:grpSp>
      <p:sp>
        <p:nvSpPr>
          <p:cNvPr id="3" name="object 2">
            <a:extLst>
              <a:ext uri="{FF2B5EF4-FFF2-40B4-BE49-F238E27FC236}">
                <a16:creationId xmlns:a16="http://schemas.microsoft.com/office/drawing/2014/main" id="{F511AD16-0603-C7F2-8F3A-9341D7CFD3D8}"/>
              </a:ext>
            </a:extLst>
          </p:cNvPr>
          <p:cNvSpPr txBox="1">
            <a:spLocks/>
          </p:cNvSpPr>
          <p:nvPr/>
        </p:nvSpPr>
        <p:spPr>
          <a:xfrm>
            <a:off x="44911" y="704612"/>
            <a:ext cx="9168589" cy="121571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Kafka Tuning</a:t>
            </a:r>
          </a:p>
          <a:p>
            <a:r>
              <a:rPr lang="en-US" sz="1400" dirty="0">
                <a:solidFill>
                  <a:schemeClr val="accent6"/>
                </a:solidFill>
                <a:latin typeface="Google Sans"/>
                <a:ea typeface="+mn-ea"/>
                <a:cs typeface="+mn-cs"/>
              </a:rPr>
              <a:t>Optimizing Apache Kafka for high performance requires a holistic approach, balancing throughput (volume) and latency (speed) across brokers, producers, and consumers. The industry is moving towards Kafka 4.0 with Kraft mode by default, which simplifies architecture and enhances efficiency.</a:t>
            </a:r>
          </a:p>
          <a:p>
            <a:r>
              <a:rPr lang="en-US" sz="1700" dirty="0">
                <a:solidFill>
                  <a:schemeClr val="accent2"/>
                </a:solidFill>
                <a:latin typeface="Google Sans"/>
                <a:ea typeface="+mn-ea"/>
                <a:cs typeface="+mn-cs"/>
              </a:rPr>
              <a:t>Producer Tuning(Throughput vs Latency)</a:t>
            </a:r>
          </a:p>
        </p:txBody>
      </p:sp>
      <p:pic>
        <p:nvPicPr>
          <p:cNvPr id="14" name="Picture 13">
            <a:extLst>
              <a:ext uri="{FF2B5EF4-FFF2-40B4-BE49-F238E27FC236}">
                <a16:creationId xmlns:a16="http://schemas.microsoft.com/office/drawing/2014/main" id="{2B51713A-2CCD-CDCE-4DA7-72DAF244D5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885799"/>
            <a:ext cx="8915400" cy="2457601"/>
          </a:xfrm>
          <a:prstGeom prst="rect">
            <a:avLst/>
          </a:prstGeom>
        </p:spPr>
      </p:pic>
      <p:pic>
        <p:nvPicPr>
          <p:cNvPr id="16" name="Picture 15">
            <a:extLst>
              <a:ext uri="{FF2B5EF4-FFF2-40B4-BE49-F238E27FC236}">
                <a16:creationId xmlns:a16="http://schemas.microsoft.com/office/drawing/2014/main" id="{219E1993-92E1-A7A1-84DC-0B5FF87903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191" y="4343401"/>
            <a:ext cx="8890809" cy="1600200"/>
          </a:xfrm>
          <a:prstGeom prst="rect">
            <a:avLst/>
          </a:prstGeom>
        </p:spPr>
      </p:pic>
    </p:spTree>
    <p:extLst>
      <p:ext uri="{BB962C8B-B14F-4D97-AF65-F5344CB8AC3E}">
        <p14:creationId xmlns:p14="http://schemas.microsoft.com/office/powerpoint/2010/main" val="976625545"/>
      </p:ext>
    </p:extLst>
  </p:cSld>
  <p:clrMapOvr>
    <a:masterClrMapping/>
  </p:clrMapOvr>
</p:sld>
</file>

<file path=ppt/slides/slide4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08DBD-16AE-EE51-2216-7336BBA3E81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E3F1409-D704-6E90-58ED-CD2310013D9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CCC6C54-7DE8-74AB-8CDC-712340FD591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8186331-448F-F86F-5A8D-C7A1FF0EB9F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AE9FE490-C982-23AC-18F3-6F5BBFDEAB80}"/>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F5CEDE1-67B9-FD1C-388D-33B2F7C37FD7}"/>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8EF3762-6B85-94D0-96EC-C68B73DBC0B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a:t>
              </a:r>
              <a:r>
                <a:rPr lang="en-US" sz="2500" b="1" dirty="0"/>
                <a:t>Messaging</a:t>
              </a:r>
              <a:endParaRPr lang="en-US" sz="2500" kern="1200" dirty="0">
                <a:solidFill>
                  <a:schemeClr val="bg1"/>
                </a:solidFill>
              </a:endParaRPr>
            </a:p>
          </p:txBody>
        </p:sp>
      </p:grpSp>
      <p:sp>
        <p:nvSpPr>
          <p:cNvPr id="3" name="object 2">
            <a:extLst>
              <a:ext uri="{FF2B5EF4-FFF2-40B4-BE49-F238E27FC236}">
                <a16:creationId xmlns:a16="http://schemas.microsoft.com/office/drawing/2014/main" id="{C5C672BF-6235-9F6A-4558-BBE54A85F5B1}"/>
              </a:ext>
            </a:extLst>
          </p:cNvPr>
          <p:cNvSpPr txBox="1">
            <a:spLocks/>
          </p:cNvSpPr>
          <p:nvPr/>
        </p:nvSpPr>
        <p:spPr>
          <a:xfrm>
            <a:off x="44911" y="704612"/>
            <a:ext cx="9168589" cy="5693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Kafka Tuning</a:t>
            </a:r>
          </a:p>
          <a:p>
            <a:r>
              <a:rPr lang="en-US" sz="1700" dirty="0">
                <a:solidFill>
                  <a:schemeClr val="accent2"/>
                </a:solidFill>
                <a:latin typeface="Google Sans"/>
              </a:rPr>
              <a:t>Broker Tuning(Efficiency &amp; Reliability)</a:t>
            </a:r>
          </a:p>
        </p:txBody>
      </p:sp>
      <p:pic>
        <p:nvPicPr>
          <p:cNvPr id="14" name="Picture 13">
            <a:extLst>
              <a:ext uri="{FF2B5EF4-FFF2-40B4-BE49-F238E27FC236}">
                <a16:creationId xmlns:a16="http://schemas.microsoft.com/office/drawing/2014/main" id="{88360AAE-1D60-5EBF-1C67-3B9D0FE4B2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11" y="1258759"/>
            <a:ext cx="8946689" cy="4049808"/>
          </a:xfrm>
          <a:prstGeom prst="rect">
            <a:avLst/>
          </a:prstGeom>
        </p:spPr>
      </p:pic>
      <p:pic>
        <p:nvPicPr>
          <p:cNvPr id="16" name="Picture 15">
            <a:extLst>
              <a:ext uri="{FF2B5EF4-FFF2-40B4-BE49-F238E27FC236}">
                <a16:creationId xmlns:a16="http://schemas.microsoft.com/office/drawing/2014/main" id="{CD4F3BCB-E86D-B7A9-3A36-F03239E72D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5308567"/>
            <a:ext cx="8839200" cy="635033"/>
          </a:xfrm>
          <a:prstGeom prst="rect">
            <a:avLst/>
          </a:prstGeom>
        </p:spPr>
      </p:pic>
    </p:spTree>
    <p:extLst>
      <p:ext uri="{BB962C8B-B14F-4D97-AF65-F5344CB8AC3E}">
        <p14:creationId xmlns:p14="http://schemas.microsoft.com/office/powerpoint/2010/main" val="725725502"/>
      </p:ext>
    </p:extLst>
  </p:cSld>
  <p:clrMapOvr>
    <a:masterClrMapping/>
  </p:clrMapOvr>
</p:sld>
</file>

<file path=ppt/slides/slide4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F6BEA-3B20-6FE3-C11C-105C0395C25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FE836F1-1278-A1F5-B8F0-FC6A8112389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00339A8-C73C-62CC-754A-1CF478DE050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AA0015D-18F7-5B05-E03A-19D1C39E705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ED143477-5C43-7CC3-76D1-F73F6E5224FD}"/>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470DB4F5-7A4A-7056-C739-D1AF8411714A}"/>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0E20BCD8-2781-BFBB-66F9-55EF86A8246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a:t>
              </a:r>
              <a:r>
                <a:rPr lang="en-US" sz="2500" b="1" dirty="0"/>
                <a:t>Messaging</a:t>
              </a:r>
              <a:endParaRPr lang="en-US" sz="2500" kern="1200" dirty="0">
                <a:solidFill>
                  <a:schemeClr val="bg1"/>
                </a:solidFill>
              </a:endParaRPr>
            </a:p>
          </p:txBody>
        </p:sp>
      </p:grpSp>
      <p:sp>
        <p:nvSpPr>
          <p:cNvPr id="3" name="object 2">
            <a:extLst>
              <a:ext uri="{FF2B5EF4-FFF2-40B4-BE49-F238E27FC236}">
                <a16:creationId xmlns:a16="http://schemas.microsoft.com/office/drawing/2014/main" id="{FCC98B9A-CC0C-B1D3-1AD9-E51433BFB384}"/>
              </a:ext>
            </a:extLst>
          </p:cNvPr>
          <p:cNvSpPr txBox="1">
            <a:spLocks/>
          </p:cNvSpPr>
          <p:nvPr/>
        </p:nvSpPr>
        <p:spPr>
          <a:xfrm>
            <a:off x="44911" y="704612"/>
            <a:ext cx="9168589" cy="56938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Kafka Tuning</a:t>
            </a:r>
          </a:p>
          <a:p>
            <a:r>
              <a:rPr lang="en-US" sz="1700" dirty="0">
                <a:solidFill>
                  <a:schemeClr val="accent2"/>
                </a:solidFill>
                <a:latin typeface="Google Sans"/>
              </a:rPr>
              <a:t>Consumer Tuning(Scaling Consumption)</a:t>
            </a:r>
          </a:p>
        </p:txBody>
      </p:sp>
      <p:pic>
        <p:nvPicPr>
          <p:cNvPr id="10" name="Picture 9">
            <a:extLst>
              <a:ext uri="{FF2B5EF4-FFF2-40B4-BE49-F238E27FC236}">
                <a16:creationId xmlns:a16="http://schemas.microsoft.com/office/drawing/2014/main" id="{90A142B3-0341-7E3E-C50A-B0549B2351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320" y="1286824"/>
            <a:ext cx="9047480" cy="4047176"/>
          </a:xfrm>
          <a:prstGeom prst="rect">
            <a:avLst/>
          </a:prstGeom>
        </p:spPr>
      </p:pic>
      <p:pic>
        <p:nvPicPr>
          <p:cNvPr id="12" name="Picture 11">
            <a:extLst>
              <a:ext uri="{FF2B5EF4-FFF2-40B4-BE49-F238E27FC236}">
                <a16:creationId xmlns:a16="http://schemas.microsoft.com/office/drawing/2014/main" id="{F8CB6AE4-955C-4F9D-B997-027512C37A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5264119"/>
            <a:ext cx="8701137" cy="603281"/>
          </a:xfrm>
          <a:prstGeom prst="rect">
            <a:avLst/>
          </a:prstGeom>
        </p:spPr>
      </p:pic>
    </p:spTree>
    <p:extLst>
      <p:ext uri="{BB962C8B-B14F-4D97-AF65-F5344CB8AC3E}">
        <p14:creationId xmlns:p14="http://schemas.microsoft.com/office/powerpoint/2010/main" val="236998502"/>
      </p:ext>
    </p:extLst>
  </p:cSld>
  <p:clrMapOvr>
    <a:masterClrMapping/>
  </p:clrMapOvr>
</p:sld>
</file>

<file path=ppt/slides/slide4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4D5C79-E88C-0B91-F604-492F4CCF41B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3B7DA01-F35D-F778-8A6F-E9E07A75FE6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EF1EF13-76E7-1D6A-38CF-93791487B8F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2B50565-773F-10D1-EC88-21F275245AD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589901E1-F2D6-A574-B7E5-2EA727F16D28}"/>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66371B91-3E77-C500-AB81-F3260ED4E93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1C581504-23C9-9CEF-5CD4-3478EB0C3E30}"/>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a:t>
              </a:r>
              <a:r>
                <a:rPr lang="en-US" sz="2500" b="1" dirty="0"/>
                <a:t>Messaging</a:t>
              </a:r>
              <a:endParaRPr lang="en-US" sz="2500" kern="1200" dirty="0">
                <a:solidFill>
                  <a:schemeClr val="bg1"/>
                </a:solidFill>
              </a:endParaRPr>
            </a:p>
          </p:txBody>
        </p:sp>
      </p:grpSp>
      <p:sp>
        <p:nvSpPr>
          <p:cNvPr id="3" name="object 2">
            <a:extLst>
              <a:ext uri="{FF2B5EF4-FFF2-40B4-BE49-F238E27FC236}">
                <a16:creationId xmlns:a16="http://schemas.microsoft.com/office/drawing/2014/main" id="{4DBA038C-9364-A94F-BAEE-546FEA81D4EA}"/>
              </a:ext>
            </a:extLst>
          </p:cNvPr>
          <p:cNvSpPr txBox="1">
            <a:spLocks/>
          </p:cNvSpPr>
          <p:nvPr/>
        </p:nvSpPr>
        <p:spPr>
          <a:xfrm>
            <a:off x="44911" y="704612"/>
            <a:ext cx="9168589" cy="577081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rPr>
              <a:t>Kafka Tuning</a:t>
            </a:r>
          </a:p>
          <a:p>
            <a:r>
              <a:rPr lang="en-US" sz="1700" dirty="0">
                <a:solidFill>
                  <a:schemeClr val="accent2"/>
                </a:solidFill>
                <a:latin typeface="Google Sans"/>
              </a:rPr>
              <a:t>Infrastructure &amp; OS Level Best Practices</a:t>
            </a:r>
          </a:p>
          <a:p>
            <a:r>
              <a:rPr lang="en-US" sz="1400" dirty="0">
                <a:solidFill>
                  <a:schemeClr val="accent6"/>
                </a:solidFill>
                <a:latin typeface="Google Sans"/>
              </a:rPr>
              <a:t>Kafka relies heavily on the Operating System Page Cache for performance. </a:t>
            </a:r>
          </a:p>
          <a:p>
            <a:r>
              <a:rPr lang="en-US" sz="1400" dirty="0">
                <a:solidFill>
                  <a:schemeClr val="accent2"/>
                </a:solidFill>
                <a:latin typeface="Google Sans"/>
              </a:rPr>
              <a:t>JVM Heap Size: </a:t>
            </a:r>
            <a:r>
              <a:rPr lang="en-US" sz="1400" dirty="0">
                <a:solidFill>
                  <a:schemeClr val="accent6"/>
                </a:solidFill>
                <a:latin typeface="Google Sans"/>
              </a:rPr>
              <a:t>Set to 4GB–8GB. Do not allocate all RAM; leave the rest for the OS Page Cache.</a:t>
            </a:r>
          </a:p>
          <a:p>
            <a:r>
              <a:rPr lang="en-US" sz="1400" dirty="0">
                <a:solidFill>
                  <a:schemeClr val="accent2"/>
                </a:solidFill>
                <a:latin typeface="Google Sans"/>
              </a:rPr>
              <a:t>Storage: </a:t>
            </a:r>
            <a:r>
              <a:rPr lang="en-US" sz="1400" dirty="0">
                <a:solidFill>
                  <a:schemeClr val="accent6"/>
                </a:solidFill>
                <a:latin typeface="Google Sans"/>
              </a:rPr>
              <a:t>Use SSDs/</a:t>
            </a:r>
            <a:r>
              <a:rPr lang="en-US" sz="1400" dirty="0" err="1">
                <a:solidFill>
                  <a:schemeClr val="accent6"/>
                </a:solidFill>
                <a:latin typeface="Google Sans"/>
              </a:rPr>
              <a:t>NVMe</a:t>
            </a:r>
            <a:r>
              <a:rPr lang="en-US" sz="1400" dirty="0">
                <a:solidFill>
                  <a:schemeClr val="accent6"/>
                </a:solidFill>
                <a:latin typeface="Google Sans"/>
              </a:rPr>
              <a:t> for log directories to handle heavy I/O and log compaction.</a:t>
            </a:r>
          </a:p>
          <a:p>
            <a:r>
              <a:rPr lang="en-US" sz="1400" dirty="0">
                <a:solidFill>
                  <a:schemeClr val="accent2"/>
                </a:solidFill>
                <a:latin typeface="Google Sans"/>
              </a:rPr>
              <a:t>Garbage Collection:</a:t>
            </a:r>
            <a:r>
              <a:rPr lang="en-US" sz="1400" dirty="0">
                <a:solidFill>
                  <a:schemeClr val="accent6"/>
                </a:solidFill>
                <a:latin typeface="Google Sans"/>
              </a:rPr>
              <a:t> Use G1GC for lower latency or Parallel GC for max throughput.</a:t>
            </a:r>
          </a:p>
          <a:p>
            <a:r>
              <a:rPr lang="en-US" sz="1400" dirty="0">
                <a:solidFill>
                  <a:schemeClr val="accent2"/>
                </a:solidFill>
                <a:latin typeface="Google Sans"/>
              </a:rPr>
              <a:t>File System:</a:t>
            </a:r>
            <a:r>
              <a:rPr lang="en-US" sz="1400" dirty="0">
                <a:solidFill>
                  <a:schemeClr val="accent6"/>
                </a:solidFill>
                <a:latin typeface="Google Sans"/>
              </a:rPr>
              <a:t> Use XFS or ext4; disable access time updates (</a:t>
            </a:r>
            <a:r>
              <a:rPr lang="en-US" sz="1400" dirty="0" err="1">
                <a:solidFill>
                  <a:schemeClr val="accent6"/>
                </a:solidFill>
                <a:latin typeface="Google Sans"/>
              </a:rPr>
              <a:t>noatime</a:t>
            </a:r>
            <a:r>
              <a:rPr lang="en-US" sz="1400" dirty="0">
                <a:solidFill>
                  <a:schemeClr val="accent6"/>
                </a:solidFill>
                <a:latin typeface="Google Sans"/>
              </a:rPr>
              <a:t>) to save disk writes.</a:t>
            </a:r>
          </a:p>
          <a:p>
            <a:endParaRPr lang="en-US" sz="2000" dirty="0">
              <a:solidFill>
                <a:schemeClr val="accent2"/>
              </a:solidFill>
              <a:latin typeface="Google Sans"/>
            </a:endParaRPr>
          </a:p>
          <a:p>
            <a:r>
              <a:rPr lang="en-US" sz="2000" dirty="0">
                <a:solidFill>
                  <a:schemeClr val="accent2"/>
                </a:solidFill>
                <a:latin typeface="Google Sans"/>
              </a:rPr>
              <a:t>Messaging Best Practices In general </a:t>
            </a:r>
          </a:p>
          <a:p>
            <a:r>
              <a:rPr lang="en-US" sz="1400" dirty="0">
                <a:solidFill>
                  <a:schemeClr val="accent2"/>
                </a:solidFill>
                <a:latin typeface="Google Sans"/>
              </a:rPr>
              <a:t>Use </a:t>
            </a:r>
            <a:r>
              <a:rPr lang="en-US" sz="1400" dirty="0" err="1">
                <a:solidFill>
                  <a:schemeClr val="accent2"/>
                </a:solidFill>
                <a:latin typeface="Google Sans"/>
              </a:rPr>
              <a:t>IDempotent</a:t>
            </a:r>
            <a:r>
              <a:rPr lang="en-US" sz="1400" dirty="0">
                <a:solidFill>
                  <a:schemeClr val="accent2"/>
                </a:solidFill>
                <a:latin typeface="Google Sans"/>
              </a:rPr>
              <a:t> Consumers: </a:t>
            </a:r>
            <a:r>
              <a:rPr lang="en-US" sz="1400" dirty="0">
                <a:solidFill>
                  <a:schemeClr val="accent6"/>
                </a:solidFill>
                <a:latin typeface="Google Sans"/>
              </a:rPr>
              <a:t>Design consumers to handle duplicates.</a:t>
            </a:r>
          </a:p>
          <a:p>
            <a:r>
              <a:rPr lang="en-US" sz="1400" dirty="0">
                <a:solidFill>
                  <a:schemeClr val="accent2"/>
                </a:solidFill>
                <a:latin typeface="Google Sans"/>
              </a:rPr>
              <a:t>Monitor Queue Depth &amp; Consumer Lag:</a:t>
            </a:r>
            <a:r>
              <a:rPr lang="en-US" sz="1400" dirty="0">
                <a:solidFill>
                  <a:schemeClr val="accent6"/>
                </a:solidFill>
                <a:latin typeface="Google Sans"/>
              </a:rPr>
              <a:t> Crucial for understanding if the system is keeping up.</a:t>
            </a:r>
          </a:p>
          <a:p>
            <a:r>
              <a:rPr lang="en-US" sz="1400" dirty="0">
                <a:solidFill>
                  <a:schemeClr val="accent2"/>
                </a:solidFill>
                <a:latin typeface="Google Sans"/>
              </a:rPr>
              <a:t>Use Proper Partition Key: </a:t>
            </a:r>
            <a:r>
              <a:rPr lang="en-US" sz="1400" dirty="0">
                <a:solidFill>
                  <a:schemeClr val="accent6"/>
                </a:solidFill>
                <a:latin typeface="Google Sans"/>
              </a:rPr>
              <a:t>To ensure strict ordering for specific entities (e.g., </a:t>
            </a:r>
            <a:r>
              <a:rPr lang="en-US" sz="1400" dirty="0" err="1">
                <a:solidFill>
                  <a:schemeClr val="accent6"/>
                </a:solidFill>
                <a:latin typeface="Google Sans"/>
              </a:rPr>
              <a:t>user_id</a:t>
            </a:r>
            <a:r>
              <a:rPr lang="en-US" sz="1400" dirty="0">
                <a:solidFill>
                  <a:schemeClr val="accent6"/>
                </a:solidFill>
                <a:latin typeface="Google Sans"/>
              </a:rPr>
              <a:t>).</a:t>
            </a:r>
          </a:p>
          <a:p>
            <a:r>
              <a:rPr lang="en-US" sz="1400" dirty="0">
                <a:solidFill>
                  <a:schemeClr val="accent2"/>
                </a:solidFill>
                <a:latin typeface="Google Sans"/>
              </a:rPr>
              <a:t>Use DLQs:</a:t>
            </a:r>
            <a:r>
              <a:rPr lang="en-US" sz="1400" dirty="0">
                <a:solidFill>
                  <a:schemeClr val="accent6"/>
                </a:solidFill>
                <a:latin typeface="Google Sans"/>
              </a:rPr>
              <a:t> Always have a plan for failing messages.</a:t>
            </a:r>
          </a:p>
          <a:p>
            <a:r>
              <a:rPr lang="en-US" sz="1400" dirty="0">
                <a:solidFill>
                  <a:schemeClr val="accent2"/>
                </a:solidFill>
                <a:latin typeface="Google Sans"/>
              </a:rPr>
              <a:t>Use Schema Registry: </a:t>
            </a:r>
            <a:r>
              <a:rPr lang="en-US" sz="1400" dirty="0">
                <a:solidFill>
                  <a:schemeClr val="accent6"/>
                </a:solidFill>
                <a:latin typeface="Google Sans"/>
              </a:rPr>
              <a:t>Enforce message structure (e.g., Avro, </a:t>
            </a:r>
            <a:r>
              <a:rPr lang="en-US" sz="1400" dirty="0" err="1">
                <a:solidFill>
                  <a:schemeClr val="accent6"/>
                </a:solidFill>
                <a:latin typeface="Google Sans"/>
              </a:rPr>
              <a:t>Protobuf</a:t>
            </a:r>
            <a:r>
              <a:rPr lang="en-US" sz="1400" dirty="0">
                <a:solidFill>
                  <a:schemeClr val="accent6"/>
                </a:solidFill>
                <a:latin typeface="Google Sans"/>
              </a:rPr>
              <a:t>) for data integrity. </a:t>
            </a:r>
          </a:p>
          <a:p>
            <a:endParaRPr lang="en-US" sz="1400" dirty="0">
              <a:solidFill>
                <a:schemeClr val="accent6"/>
              </a:solidFill>
              <a:latin typeface="Google Sans"/>
            </a:endParaRPr>
          </a:p>
          <a:p>
            <a:r>
              <a:rPr lang="en-US" sz="2000" dirty="0">
                <a:solidFill>
                  <a:schemeClr val="accent2"/>
                </a:solidFill>
                <a:latin typeface="Google Sans"/>
              </a:rPr>
              <a:t>Some Important (Final) Core Concepts </a:t>
            </a:r>
          </a:p>
          <a:p>
            <a:r>
              <a:rPr lang="en-US" sz="1400" dirty="0">
                <a:solidFill>
                  <a:schemeClr val="accent2"/>
                </a:solidFill>
                <a:latin typeface="Google Sans"/>
              </a:rPr>
              <a:t>Batch vs. Streaming: </a:t>
            </a:r>
            <a:r>
              <a:rPr lang="en-US" sz="1400" dirty="0">
                <a:solidFill>
                  <a:schemeClr val="accent6"/>
                </a:solidFill>
                <a:latin typeface="Google Sans"/>
              </a:rPr>
              <a:t>Batch handles large datasets in bulk (latency: hours), while streaming handles individual records in real-time (latency: milliseconds/seconds).</a:t>
            </a:r>
          </a:p>
          <a:p>
            <a:r>
              <a:rPr lang="en-US" sz="1400" dirty="0">
                <a:solidFill>
                  <a:schemeClr val="accent2"/>
                </a:solidFill>
                <a:latin typeface="Google Sans"/>
              </a:rPr>
              <a:t>Event Time:</a:t>
            </a:r>
            <a:r>
              <a:rPr lang="en-US" sz="1400" dirty="0">
                <a:solidFill>
                  <a:schemeClr val="accent6"/>
                </a:solidFill>
                <a:latin typeface="Google Sans"/>
              </a:rPr>
              <a:t> The time an event occurred at the source. This is essential for correct results, even if data arrives late.</a:t>
            </a:r>
          </a:p>
          <a:p>
            <a:r>
              <a:rPr lang="en-US" sz="1400" dirty="0">
                <a:solidFill>
                  <a:schemeClr val="accent2"/>
                </a:solidFill>
                <a:latin typeface="Google Sans"/>
              </a:rPr>
              <a:t>Processing Time: </a:t>
            </a:r>
            <a:r>
              <a:rPr lang="en-US" sz="1400" dirty="0">
                <a:solidFill>
                  <a:schemeClr val="accent6"/>
                </a:solidFill>
                <a:latin typeface="Google Sans"/>
              </a:rPr>
              <a:t>The time the computer processing the data (e.g., Spark/Flink) receives the event.</a:t>
            </a:r>
          </a:p>
          <a:p>
            <a:r>
              <a:rPr lang="en-US" sz="1400" dirty="0">
                <a:solidFill>
                  <a:schemeClr val="accent2"/>
                </a:solidFill>
                <a:latin typeface="Google Sans"/>
              </a:rPr>
              <a:t>Watermarks: </a:t>
            </a:r>
            <a:r>
              <a:rPr lang="en-US" sz="1400" dirty="0">
                <a:solidFill>
                  <a:schemeClr val="accent6"/>
                </a:solidFill>
                <a:latin typeface="Google Sans"/>
              </a:rPr>
              <a:t>A mechanism to deal with out-of-order events. It tells the system "how long to wait" for late data before moving on, crucial for event-time processing. </a:t>
            </a:r>
          </a:p>
          <a:p>
            <a:endParaRPr lang="en-US" sz="2000" dirty="0">
              <a:solidFill>
                <a:schemeClr val="accent2"/>
              </a:solidFill>
              <a:latin typeface="Google Sans"/>
            </a:endParaRPr>
          </a:p>
          <a:p>
            <a:endParaRPr lang="en-US" sz="1600" dirty="0">
              <a:solidFill>
                <a:schemeClr val="accent6"/>
              </a:solidFill>
              <a:latin typeface="Google Sans"/>
            </a:endParaRPr>
          </a:p>
        </p:txBody>
      </p:sp>
    </p:spTree>
    <p:extLst>
      <p:ext uri="{BB962C8B-B14F-4D97-AF65-F5344CB8AC3E}">
        <p14:creationId xmlns:p14="http://schemas.microsoft.com/office/powerpoint/2010/main" val="331879865"/>
      </p:ext>
    </p:extLst>
  </p:cSld>
  <p:clrMapOvr>
    <a:masterClrMapping/>
  </p:clrMapOvr>
</p:sld>
</file>

<file path=ppt/slides/slide4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484E8-FFC9-B9A5-1E7F-68787F2FA73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E20D702-4BBA-92C3-095C-CBA998AF125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C0FB80F-D127-38B9-0E96-C911EAA83F6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E68F5EB-7D01-07C5-AF8B-4D2DFB62C8D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510B2462-8D30-35F8-7298-39926CFFB563}"/>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1B915E56-BDF0-362F-8306-7A783FC7EB4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C68D5890-3581-BBE5-36C9-A0EC38088B79}"/>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a:t>
              </a:r>
              <a:r>
                <a:rPr lang="en-US" sz="2500" b="1" dirty="0"/>
                <a:t>Messaging</a:t>
              </a:r>
              <a:endParaRPr lang="en-US" sz="2500" kern="1200" dirty="0">
                <a:solidFill>
                  <a:schemeClr val="bg1"/>
                </a:solidFill>
              </a:endParaRPr>
            </a:p>
          </p:txBody>
        </p:sp>
      </p:grpSp>
      <p:sp>
        <p:nvSpPr>
          <p:cNvPr id="3" name="object 2">
            <a:extLst>
              <a:ext uri="{FF2B5EF4-FFF2-40B4-BE49-F238E27FC236}">
                <a16:creationId xmlns:a16="http://schemas.microsoft.com/office/drawing/2014/main" id="{74C63BFF-EA6E-0ED6-447C-A7035AFC666A}"/>
              </a:ext>
            </a:extLst>
          </p:cNvPr>
          <p:cNvSpPr txBox="1">
            <a:spLocks/>
          </p:cNvSpPr>
          <p:nvPr/>
        </p:nvSpPr>
        <p:spPr>
          <a:xfrm>
            <a:off x="44911" y="704612"/>
            <a:ext cx="9168589" cy="204671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For Further Exploration</a:t>
            </a:r>
          </a:p>
          <a:p>
            <a:r>
              <a:rPr lang="en-US" sz="1400" dirty="0">
                <a:hlinkClick r:id="rId2"/>
              </a:rPr>
              <a:t>The Log: What every software engineer should know about real-time data's unifying abstraction</a:t>
            </a:r>
            <a:endParaRPr lang="en-US" sz="1400" dirty="0"/>
          </a:p>
          <a:p>
            <a:r>
              <a:rPr lang="en-US" sz="1400" dirty="0">
                <a:hlinkClick r:id="rId3"/>
              </a:rPr>
              <a:t>Resources for Apache Kafka, Data Streaming, Apache Flink, and More</a:t>
            </a:r>
            <a:endParaRPr lang="en-US" sz="1400" dirty="0"/>
          </a:p>
          <a:p>
            <a:r>
              <a:rPr lang="en-IN" sz="1400" dirty="0">
                <a:hlinkClick r:id="rId4"/>
              </a:rPr>
              <a:t>Hussein Nasser – YouTube</a:t>
            </a:r>
            <a:endParaRPr lang="en-IN" sz="1400" dirty="0"/>
          </a:p>
          <a:p>
            <a:r>
              <a:rPr lang="en-IN" sz="1400" dirty="0">
                <a:hlinkClick r:id="rId5"/>
              </a:rPr>
              <a:t>Home - Enterprise Integration Patterns</a:t>
            </a:r>
            <a:endParaRPr lang="en-IN" sz="1400" dirty="0"/>
          </a:p>
          <a:p>
            <a:r>
              <a:rPr lang="en-US" sz="1400" dirty="0">
                <a:hlinkClick r:id="rId6"/>
              </a:rPr>
              <a:t>The Internals of Apache Kafka</a:t>
            </a:r>
            <a:endParaRPr lang="en-US" sz="1400" dirty="0"/>
          </a:p>
          <a:p>
            <a:r>
              <a:rPr lang="en-US" sz="1400" dirty="0">
                <a:hlinkClick r:id="rId7"/>
              </a:rPr>
              <a:t>Some .NET Background </a:t>
            </a:r>
            <a:r>
              <a:rPr lang="en-US" sz="1400">
                <a:hlinkClick r:id="rId7"/>
              </a:rPr>
              <a:t>Services Notes</a:t>
            </a:r>
            <a:endParaRPr lang="en-US" sz="1400" dirty="0"/>
          </a:p>
          <a:p>
            <a:r>
              <a:rPr lang="en-IN" sz="1400" dirty="0">
                <a:hlinkClick r:id="rId8"/>
              </a:rPr>
              <a:t>Some Messaging Notes</a:t>
            </a:r>
            <a:endParaRPr lang="en-US" sz="1400" dirty="0"/>
          </a:p>
          <a:p>
            <a:endParaRPr lang="en-US" sz="1500" dirty="0">
              <a:solidFill>
                <a:schemeClr val="accent2"/>
              </a:solidFill>
              <a:latin typeface="Google Sans"/>
              <a:ea typeface="+mn-ea"/>
              <a:cs typeface="+mn-cs"/>
            </a:endParaRPr>
          </a:p>
        </p:txBody>
      </p:sp>
    </p:spTree>
    <p:extLst>
      <p:ext uri="{BB962C8B-B14F-4D97-AF65-F5344CB8AC3E}">
        <p14:creationId xmlns:p14="http://schemas.microsoft.com/office/powerpoint/2010/main" val="699044774"/>
      </p:ext>
    </p:extLst>
  </p:cSld>
  <p:clrMapOvr>
    <a:masterClrMapping/>
  </p:clrMapOvr>
</p:sld>
</file>

<file path=ppt/slides/slide4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85502-F4EA-554A-E353-4A1E1372E51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BE7C8FD-66C5-20CC-E0A9-C460EEB19DD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5E5519F-BF9D-A54B-BE86-6A637E1F217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B80C9C9F-AA1D-C5BD-9D59-16053FD0D3E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B5019626-0B87-7685-194F-080CAA9ECAFC}"/>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188EA3E-72B7-5E38-9FB2-9820AC400A9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7BE8C8E0-8593-2F68-0493-514B1DD211C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a:t>
              </a:r>
              <a:r>
                <a:rPr lang="en-US" sz="2500" b="1" dirty="0"/>
                <a:t>Batch Processing</a:t>
              </a:r>
              <a:endParaRPr lang="en-US" sz="2500" kern="1200" dirty="0">
                <a:solidFill>
                  <a:schemeClr val="bg1"/>
                </a:solidFill>
              </a:endParaRPr>
            </a:p>
          </p:txBody>
        </p:sp>
      </p:grpSp>
      <p:sp>
        <p:nvSpPr>
          <p:cNvPr id="3" name="object 2">
            <a:extLst>
              <a:ext uri="{FF2B5EF4-FFF2-40B4-BE49-F238E27FC236}">
                <a16:creationId xmlns:a16="http://schemas.microsoft.com/office/drawing/2014/main" id="{8E02C6D2-29D3-4230-6B8F-CAABD6F7B60F}"/>
              </a:ext>
            </a:extLst>
          </p:cNvPr>
          <p:cNvSpPr txBox="1">
            <a:spLocks/>
          </p:cNvSpPr>
          <p:nvPr/>
        </p:nvSpPr>
        <p:spPr>
          <a:xfrm>
            <a:off x="44911" y="704612"/>
            <a:ext cx="9168589"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dirty="0">
                <a:solidFill>
                  <a:schemeClr val="accent6"/>
                </a:solidFill>
                <a:latin typeface="Google Sans"/>
                <a:ea typeface="+mn-ea"/>
                <a:cs typeface="+mn-cs"/>
              </a:rPr>
              <a:t>Distributed batch processing systems are designed to process massive, high-volume datasets by distributing computations across a cluster of nodes, favoring high throughput and efficiency over low-latency responses. These systems, such as Apache Hadoop (MapReduce) and Apache Spark, are critical for ETL (Extract, Transform, Load), daily reports, and financial reconciliation, where data is processed in periodic, non-interactive "batches". </a:t>
            </a:r>
          </a:p>
          <a:p>
            <a:r>
              <a:rPr lang="en-US" sz="1500" dirty="0">
                <a:solidFill>
                  <a:schemeClr val="accent2"/>
                </a:solidFill>
                <a:latin typeface="Google Sans"/>
                <a:ea typeface="+mn-ea"/>
                <a:cs typeface="+mn-cs"/>
              </a:rPr>
              <a:t>Fundamental Architectural Concepts</a:t>
            </a:r>
          </a:p>
          <a:p>
            <a:r>
              <a:rPr lang="en-US" sz="1500" dirty="0">
                <a:solidFill>
                  <a:schemeClr val="accent2"/>
                </a:solidFill>
                <a:latin typeface="Google Sans"/>
                <a:ea typeface="+mn-ea"/>
                <a:cs typeface="+mn-cs"/>
              </a:rPr>
              <a:t>Divide and Conquer (Data Parallelism):</a:t>
            </a:r>
            <a:r>
              <a:rPr lang="en-US" sz="1500" dirty="0">
                <a:solidFill>
                  <a:schemeClr val="accent6"/>
                </a:solidFill>
                <a:latin typeface="Google Sans"/>
                <a:ea typeface="+mn-ea"/>
                <a:cs typeface="+mn-cs"/>
              </a:rPr>
              <a:t> The core principle. A large dataset is partitioned into smaller chunks, which are processed independently and in parallel by multiple worker nodes.</a:t>
            </a:r>
          </a:p>
          <a:p>
            <a:r>
              <a:rPr lang="en-US" sz="1500" dirty="0">
                <a:solidFill>
                  <a:schemeClr val="accent2"/>
                </a:solidFill>
                <a:latin typeface="Google Sans"/>
                <a:ea typeface="+mn-ea"/>
                <a:cs typeface="+mn-cs"/>
              </a:rPr>
              <a:t>Master-Worker Architecture:</a:t>
            </a:r>
            <a:r>
              <a:rPr lang="en-US" sz="1500" dirty="0">
                <a:solidFill>
                  <a:schemeClr val="accent6"/>
                </a:solidFill>
                <a:latin typeface="Google Sans"/>
                <a:ea typeface="+mn-ea"/>
                <a:cs typeface="+mn-cs"/>
              </a:rPr>
              <a:t> A central scheduler (e.g., YARN </a:t>
            </a:r>
            <a:r>
              <a:rPr lang="en-US" sz="1500" dirty="0" err="1">
                <a:solidFill>
                  <a:schemeClr val="accent6"/>
                </a:solidFill>
                <a:latin typeface="Google Sans"/>
                <a:ea typeface="+mn-ea"/>
                <a:cs typeface="+mn-cs"/>
              </a:rPr>
              <a:t>ResourceManager</a:t>
            </a:r>
            <a:r>
              <a:rPr lang="en-US" sz="1500" dirty="0">
                <a:solidFill>
                  <a:schemeClr val="accent6"/>
                </a:solidFill>
                <a:latin typeface="Google Sans"/>
                <a:ea typeface="+mn-ea"/>
                <a:cs typeface="+mn-cs"/>
              </a:rPr>
              <a:t>, Spark Driver) manages the orchestration, while worker nodes (e.g., </a:t>
            </a:r>
            <a:r>
              <a:rPr lang="en-US" sz="1500" dirty="0" err="1">
                <a:solidFill>
                  <a:schemeClr val="accent6"/>
                </a:solidFill>
                <a:latin typeface="Google Sans"/>
                <a:ea typeface="+mn-ea"/>
                <a:cs typeface="+mn-cs"/>
              </a:rPr>
              <a:t>TaskTrackers</a:t>
            </a:r>
            <a:r>
              <a:rPr lang="en-US" sz="1500" dirty="0">
                <a:solidFill>
                  <a:schemeClr val="accent6"/>
                </a:solidFill>
                <a:latin typeface="Google Sans"/>
                <a:ea typeface="+mn-ea"/>
                <a:cs typeface="+mn-cs"/>
              </a:rPr>
              <a:t>, Spark Executors) perform the actual computation.</a:t>
            </a:r>
          </a:p>
          <a:p>
            <a:r>
              <a:rPr lang="en-US" sz="1500" dirty="0">
                <a:solidFill>
                  <a:schemeClr val="accent2"/>
                </a:solidFill>
                <a:latin typeface="Google Sans"/>
                <a:ea typeface="+mn-ea"/>
                <a:cs typeface="+mn-cs"/>
              </a:rPr>
              <a:t>Distributed File System (DFS):</a:t>
            </a:r>
            <a:r>
              <a:rPr lang="en-US" sz="1500" dirty="0">
                <a:solidFill>
                  <a:schemeClr val="accent6"/>
                </a:solidFill>
                <a:latin typeface="Google Sans"/>
                <a:ea typeface="+mn-ea"/>
                <a:cs typeface="+mn-cs"/>
              </a:rPr>
              <a:t> Data is not stored on one machine but distributed across the cluster (e.g., HDFS, S3). This provides high availability, fault tolerance through replication, and enables data locality.</a:t>
            </a:r>
          </a:p>
          <a:p>
            <a:r>
              <a:rPr lang="en-US" sz="1500" dirty="0">
                <a:solidFill>
                  <a:schemeClr val="accent2"/>
                </a:solidFill>
                <a:latin typeface="Google Sans"/>
                <a:ea typeface="+mn-ea"/>
                <a:cs typeface="+mn-cs"/>
              </a:rPr>
              <a:t>Resource Manager:</a:t>
            </a:r>
            <a:r>
              <a:rPr lang="en-US" sz="1500" dirty="0">
                <a:solidFill>
                  <a:schemeClr val="accent6"/>
                </a:solidFill>
                <a:latin typeface="Google Sans"/>
                <a:ea typeface="+mn-ea"/>
                <a:cs typeface="+mn-cs"/>
              </a:rPr>
              <a:t> A component that handles node monitoring and allocates compute resources (CPU, Memory) to batch jobs, crucial for managing cluster utilization. </a:t>
            </a:r>
          </a:p>
          <a:p>
            <a:r>
              <a:rPr lang="en-US" sz="1500" dirty="0">
                <a:solidFill>
                  <a:schemeClr val="accent2"/>
                </a:solidFill>
                <a:latin typeface="Google Sans"/>
                <a:ea typeface="+mn-ea"/>
                <a:cs typeface="+mn-cs"/>
              </a:rPr>
              <a:t>Data Processing Models</a:t>
            </a:r>
          </a:p>
          <a:p>
            <a:r>
              <a:rPr lang="en-US" sz="1500" dirty="0">
                <a:solidFill>
                  <a:schemeClr val="accent2"/>
                </a:solidFill>
                <a:latin typeface="Google Sans"/>
                <a:ea typeface="+mn-ea"/>
                <a:cs typeface="+mn-cs"/>
              </a:rPr>
              <a:t>MapReduce: </a:t>
            </a:r>
            <a:r>
              <a:rPr lang="en-US" sz="1500" dirty="0">
                <a:solidFill>
                  <a:schemeClr val="accent6"/>
                </a:solidFill>
                <a:latin typeface="Google Sans"/>
                <a:ea typeface="+mn-ea"/>
                <a:cs typeface="+mn-cs"/>
              </a:rPr>
              <a:t>A programming model for processing large datasets in parallel. It breaks jobs into:</a:t>
            </a:r>
          </a:p>
          <a:p>
            <a:r>
              <a:rPr lang="en-US" sz="1500" dirty="0">
                <a:solidFill>
                  <a:schemeClr val="accent2"/>
                </a:solidFill>
                <a:latin typeface="Google Sans"/>
                <a:ea typeface="+mn-ea"/>
                <a:cs typeface="+mn-cs"/>
              </a:rPr>
              <a:t>  Map: </a:t>
            </a:r>
            <a:r>
              <a:rPr lang="en-US" sz="1500" dirty="0">
                <a:solidFill>
                  <a:schemeClr val="accent6"/>
                </a:solidFill>
                <a:latin typeface="Google Sans"/>
                <a:ea typeface="+mn-ea"/>
                <a:cs typeface="+mn-cs"/>
              </a:rPr>
              <a:t>Transforming input data into key-value pairs.</a:t>
            </a:r>
          </a:p>
          <a:p>
            <a:r>
              <a:rPr lang="en-US" sz="1500" dirty="0">
                <a:solidFill>
                  <a:schemeClr val="accent2"/>
                </a:solidFill>
                <a:latin typeface="Google Sans"/>
                <a:ea typeface="+mn-ea"/>
                <a:cs typeface="+mn-cs"/>
              </a:rPr>
              <a:t>  Shuffle/Sort:</a:t>
            </a:r>
            <a:r>
              <a:rPr lang="en-US" sz="1500" dirty="0">
                <a:solidFill>
                  <a:schemeClr val="accent6"/>
                </a:solidFill>
                <a:latin typeface="Google Sans"/>
                <a:ea typeface="+mn-ea"/>
                <a:cs typeface="+mn-cs"/>
              </a:rPr>
              <a:t> Transferring data across the network to group it by key.</a:t>
            </a:r>
          </a:p>
          <a:p>
            <a:r>
              <a:rPr lang="en-US" sz="1500" dirty="0">
                <a:solidFill>
                  <a:schemeClr val="accent2"/>
                </a:solidFill>
                <a:latin typeface="Google Sans"/>
                <a:ea typeface="+mn-ea"/>
                <a:cs typeface="+mn-cs"/>
              </a:rPr>
              <a:t>  Reduce: </a:t>
            </a:r>
            <a:r>
              <a:rPr lang="en-US" sz="1500" dirty="0">
                <a:solidFill>
                  <a:schemeClr val="accent6"/>
                </a:solidFill>
                <a:latin typeface="Google Sans"/>
                <a:ea typeface="+mn-ea"/>
                <a:cs typeface="+mn-cs"/>
              </a:rPr>
              <a:t>Aggregating the sorted data.</a:t>
            </a:r>
          </a:p>
          <a:p>
            <a:r>
              <a:rPr lang="en-US" sz="1500" dirty="0">
                <a:solidFill>
                  <a:schemeClr val="accent2"/>
                </a:solidFill>
                <a:latin typeface="Google Sans"/>
                <a:ea typeface="+mn-ea"/>
                <a:cs typeface="+mn-cs"/>
              </a:rPr>
              <a:t>In-Memory Processing:</a:t>
            </a:r>
            <a:r>
              <a:rPr lang="en-US" sz="1500" dirty="0">
                <a:solidFill>
                  <a:schemeClr val="accent6"/>
                </a:solidFill>
                <a:latin typeface="Google Sans"/>
                <a:ea typeface="+mn-ea"/>
                <a:cs typeface="+mn-cs"/>
              </a:rPr>
              <a:t> Unlike disk-heavy MapReduce, engines like Apache Spark cache data in memory across worker nodes, significantly accelerating iterative algorithms.</a:t>
            </a:r>
          </a:p>
          <a:p>
            <a:r>
              <a:rPr lang="en-US" sz="1500" dirty="0">
                <a:solidFill>
                  <a:schemeClr val="accent2"/>
                </a:solidFill>
                <a:latin typeface="Google Sans"/>
                <a:ea typeface="+mn-ea"/>
                <a:cs typeface="+mn-cs"/>
              </a:rPr>
              <a:t>Data Partitioning/Sharding: </a:t>
            </a:r>
            <a:r>
              <a:rPr lang="en-US" sz="1500" dirty="0">
                <a:solidFill>
                  <a:schemeClr val="accent6"/>
                </a:solidFill>
                <a:latin typeface="Google Sans"/>
                <a:ea typeface="+mn-ea"/>
                <a:cs typeface="+mn-cs"/>
              </a:rPr>
              <a:t>Splitting data into partitions to be processed by different tasks. Proper partitioning is crucial to avoid data skew, where one node receives too much data, causing a bottleneck.</a:t>
            </a:r>
          </a:p>
        </p:txBody>
      </p:sp>
    </p:spTree>
    <p:extLst>
      <p:ext uri="{BB962C8B-B14F-4D97-AF65-F5344CB8AC3E}">
        <p14:creationId xmlns:p14="http://schemas.microsoft.com/office/powerpoint/2010/main" val="2403233960"/>
      </p:ext>
    </p:extLst>
  </p:cSld>
  <p:clrMapOvr>
    <a:masterClrMapping/>
  </p:clrMapOvr>
</p:sld>
</file>

<file path=ppt/slides/slide4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04EA4-0542-C810-DE80-FE22EFC3D75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044B70B-E64D-5C7E-C32E-709FE8F2646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EA0E725-CA44-4DC2-9662-84AC6716728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9C2349B9-7114-F1EF-3B43-2998AB4CDD0D}"/>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DF253C87-3416-6C82-39F5-3089A11FCACA}"/>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843E3D6-D4C7-76CB-0600-F3AEB453F58B}"/>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B187E417-81B5-B2BC-617D-AB598176DD9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a:t>
              </a:r>
              <a:r>
                <a:rPr lang="en-US" sz="2500" b="1" dirty="0"/>
                <a:t>Batch Processing</a:t>
              </a:r>
              <a:endParaRPr lang="en-US" sz="2500" kern="1200" dirty="0">
                <a:solidFill>
                  <a:schemeClr val="bg1"/>
                </a:solidFill>
              </a:endParaRPr>
            </a:p>
          </p:txBody>
        </p:sp>
      </p:grpSp>
      <p:sp>
        <p:nvSpPr>
          <p:cNvPr id="3" name="object 2">
            <a:extLst>
              <a:ext uri="{FF2B5EF4-FFF2-40B4-BE49-F238E27FC236}">
                <a16:creationId xmlns:a16="http://schemas.microsoft.com/office/drawing/2014/main" id="{BAD5A52E-2187-18D0-E8F4-0B6F46AB3431}"/>
              </a:ext>
            </a:extLst>
          </p:cNvPr>
          <p:cNvSpPr txBox="1">
            <a:spLocks/>
          </p:cNvSpPr>
          <p:nvPr/>
        </p:nvSpPr>
        <p:spPr>
          <a:xfrm>
            <a:off x="44911" y="704612"/>
            <a:ext cx="9168589" cy="42319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Data Processing Models</a:t>
            </a:r>
          </a:p>
          <a:p>
            <a:r>
              <a:rPr lang="en-US" sz="1500" dirty="0">
                <a:solidFill>
                  <a:schemeClr val="accent2"/>
                </a:solidFill>
                <a:latin typeface="Google Sans"/>
                <a:ea typeface="+mn-ea"/>
                <a:cs typeface="+mn-cs"/>
              </a:rPr>
              <a:t>DAG (Directed Acyclic Graph): </a:t>
            </a:r>
            <a:r>
              <a:rPr lang="en-US" sz="1500" dirty="0">
                <a:solidFill>
                  <a:schemeClr val="accent6"/>
                </a:solidFill>
                <a:latin typeface="Google Sans"/>
                <a:ea typeface="+mn-ea"/>
                <a:cs typeface="+mn-cs"/>
              </a:rPr>
              <a:t>Modern frameworks (Spark, Tez) build a graph of tasks. This allows the optimizer to plan dependencies and execute non-dependent tasks in parallel.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Key Distributed Computing Principles for Batch</a:t>
            </a:r>
          </a:p>
          <a:p>
            <a:r>
              <a:rPr lang="en-US" sz="1500" dirty="0">
                <a:solidFill>
                  <a:schemeClr val="accent2"/>
                </a:solidFill>
                <a:latin typeface="Google Sans"/>
                <a:ea typeface="+mn-ea"/>
                <a:cs typeface="+mn-cs"/>
              </a:rPr>
              <a:t>Data Locality (Bring Computation to Data): </a:t>
            </a:r>
            <a:r>
              <a:rPr lang="en-US" sz="1500" dirty="0">
                <a:solidFill>
                  <a:schemeClr val="accent6"/>
                </a:solidFill>
                <a:latin typeface="Google Sans"/>
                <a:ea typeface="+mn-ea"/>
                <a:cs typeface="+mn-cs"/>
              </a:rPr>
              <a:t>To minimize network congestion, the scheduler attempts to run a map task on the same node where the data chunk resides. If not possible, it moves to the same rack, or, as a last resort, across the cluster.</a:t>
            </a:r>
          </a:p>
          <a:p>
            <a:r>
              <a:rPr lang="en-US" sz="1500" dirty="0">
                <a:solidFill>
                  <a:schemeClr val="accent2"/>
                </a:solidFill>
                <a:latin typeface="Google Sans"/>
                <a:ea typeface="+mn-ea"/>
                <a:cs typeface="+mn-cs"/>
              </a:rPr>
              <a:t>Fault Tolerance (Idempotency and Retries):</a:t>
            </a:r>
            <a:r>
              <a:rPr lang="en-US" sz="1500" dirty="0">
                <a:solidFill>
                  <a:schemeClr val="accent6"/>
                </a:solidFill>
                <a:latin typeface="Google Sans"/>
                <a:ea typeface="+mn-ea"/>
                <a:cs typeface="+mn-cs"/>
              </a:rPr>
              <a:t> Because batch jobs run for long periods, node failures are common. </a:t>
            </a:r>
            <a:r>
              <a:rPr lang="en-US" sz="1500" dirty="0">
                <a:solidFill>
                  <a:schemeClr val="accent2"/>
                </a:solidFill>
                <a:latin typeface="Google Sans"/>
                <a:ea typeface="+mn-ea"/>
                <a:cs typeface="+mn-cs"/>
              </a:rPr>
              <a:t>Systems handle this by:</a:t>
            </a:r>
          </a:p>
          <a:p>
            <a:r>
              <a:rPr lang="en-US" sz="1500" dirty="0">
                <a:solidFill>
                  <a:schemeClr val="accent2"/>
                </a:solidFill>
                <a:latin typeface="Google Sans"/>
                <a:ea typeface="+mn-ea"/>
                <a:cs typeface="+mn-cs"/>
              </a:rPr>
              <a:t>  Re-executing tasks: </a:t>
            </a:r>
            <a:r>
              <a:rPr lang="en-US" sz="1500" dirty="0">
                <a:solidFill>
                  <a:schemeClr val="accent6"/>
                </a:solidFill>
                <a:latin typeface="Google Sans"/>
                <a:ea typeface="+mn-ea"/>
                <a:cs typeface="+mn-cs"/>
              </a:rPr>
              <a:t>If a node fails, the master re-schedules its tasks on other nodes.</a:t>
            </a:r>
          </a:p>
          <a:p>
            <a:r>
              <a:rPr lang="en-US" sz="1500" dirty="0">
                <a:solidFill>
                  <a:schemeClr val="accent2"/>
                </a:solidFill>
                <a:latin typeface="Google Sans"/>
                <a:ea typeface="+mn-ea"/>
                <a:cs typeface="+mn-cs"/>
              </a:rPr>
              <a:t>  Checkpointing:</a:t>
            </a:r>
            <a:r>
              <a:rPr lang="en-US" sz="1500" dirty="0">
                <a:solidFill>
                  <a:schemeClr val="accent6"/>
                </a:solidFill>
                <a:latin typeface="Google Sans"/>
                <a:ea typeface="+mn-ea"/>
                <a:cs typeface="+mn-cs"/>
              </a:rPr>
              <a:t> Periodically saving the state of the job to disk.</a:t>
            </a:r>
          </a:p>
          <a:p>
            <a:r>
              <a:rPr lang="en-US" sz="1500" dirty="0">
                <a:solidFill>
                  <a:schemeClr val="accent2"/>
                </a:solidFill>
                <a:latin typeface="Google Sans"/>
                <a:ea typeface="+mn-ea"/>
                <a:cs typeface="+mn-cs"/>
              </a:rPr>
              <a:t>Speculative Execution: </a:t>
            </a:r>
            <a:r>
              <a:rPr lang="en-US" sz="1500" dirty="0">
                <a:solidFill>
                  <a:schemeClr val="accent6"/>
                </a:solidFill>
                <a:latin typeface="Google Sans"/>
                <a:ea typeface="+mn-ea"/>
                <a:cs typeface="+mn-cs"/>
              </a:rPr>
              <a:t>If a task is running too slowly, the system launches a duplicate task on another node and takes the result of whichever finishes first.</a:t>
            </a:r>
          </a:p>
          <a:p>
            <a:r>
              <a:rPr lang="en-US" sz="1500" dirty="0">
                <a:solidFill>
                  <a:schemeClr val="accent2"/>
                </a:solidFill>
                <a:latin typeface="Google Sans"/>
                <a:ea typeface="+mn-ea"/>
                <a:cs typeface="+mn-cs"/>
              </a:rPr>
              <a:t>Asynchronous Execution:</a:t>
            </a:r>
            <a:r>
              <a:rPr lang="en-US" sz="1500" dirty="0">
                <a:solidFill>
                  <a:schemeClr val="accent6"/>
                </a:solidFill>
                <a:latin typeface="Google Sans"/>
                <a:ea typeface="+mn-ea"/>
                <a:cs typeface="+mn-cs"/>
              </a:rPr>
              <a:t> Users submit a job, and the system executes it in the background, freeing the user from waiting for completion.</a:t>
            </a:r>
          </a:p>
          <a:p>
            <a:r>
              <a:rPr lang="en-US" sz="1500" dirty="0">
                <a:solidFill>
                  <a:schemeClr val="accent2"/>
                </a:solidFill>
                <a:latin typeface="Google Sans"/>
                <a:ea typeface="+mn-ea"/>
                <a:cs typeface="+mn-cs"/>
              </a:rPr>
              <a:t>State Management:</a:t>
            </a:r>
            <a:r>
              <a:rPr lang="en-US" sz="1500" dirty="0">
                <a:solidFill>
                  <a:schemeClr val="accent6"/>
                </a:solidFill>
                <a:latin typeface="Google Sans"/>
                <a:ea typeface="+mn-ea"/>
                <a:cs typeface="+mn-cs"/>
              </a:rPr>
              <a:t> In complex workflows, the state of the batch (e.g., "stage 1 done", "stage 2 failed") must be maintained, often using distributed coordination services like Zookeeper or Airflow. </a:t>
            </a:r>
          </a:p>
        </p:txBody>
      </p:sp>
    </p:spTree>
    <p:extLst>
      <p:ext uri="{BB962C8B-B14F-4D97-AF65-F5344CB8AC3E}">
        <p14:creationId xmlns:p14="http://schemas.microsoft.com/office/powerpoint/2010/main" val="3535548823"/>
      </p:ext>
    </p:extLst>
  </p:cSld>
  <p:clrMapOvr>
    <a:masterClrMapping/>
  </p:clrMapOvr>
</p:sld>
</file>

<file path=ppt/slides/slide4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8608D-0778-744F-6023-F73ACC8AC4B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2585B71-627F-ED2D-4B16-7A9ED2D024A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E3B6D7C-3F62-E7C1-6320-D50BA55EF38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3D0F0AF7-7E51-CA06-3F5D-9E9CA0AC469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A147C17C-C573-0DDE-2952-72DC9B89B2B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8C43057F-E465-1211-F963-18E1907AAAF8}"/>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4806448C-2A7D-E58D-7E0F-51669D4151BE}"/>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a:t>
              </a:r>
              <a:r>
                <a:rPr lang="en-US" sz="2500" b="1" dirty="0"/>
                <a:t>Batch Processing</a:t>
              </a:r>
              <a:endParaRPr lang="en-US" sz="2500" kern="1200" dirty="0">
                <a:solidFill>
                  <a:schemeClr val="bg1"/>
                </a:solidFill>
              </a:endParaRPr>
            </a:p>
          </p:txBody>
        </p:sp>
      </p:grpSp>
      <p:sp>
        <p:nvSpPr>
          <p:cNvPr id="3" name="object 2">
            <a:extLst>
              <a:ext uri="{FF2B5EF4-FFF2-40B4-BE49-F238E27FC236}">
                <a16:creationId xmlns:a16="http://schemas.microsoft.com/office/drawing/2014/main" id="{08B8F433-3680-8CFF-39F2-36245BCE6A8B}"/>
              </a:ext>
            </a:extLst>
          </p:cNvPr>
          <p:cNvSpPr txBox="1">
            <a:spLocks/>
          </p:cNvSpPr>
          <p:nvPr/>
        </p:nvSpPr>
        <p:spPr>
          <a:xfrm>
            <a:off x="44911" y="704612"/>
            <a:ext cx="9168589" cy="430887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Data Flow Patterns</a:t>
            </a:r>
          </a:p>
          <a:p>
            <a:r>
              <a:rPr lang="en-US" sz="1500" dirty="0">
                <a:solidFill>
                  <a:schemeClr val="accent2"/>
                </a:solidFill>
                <a:latin typeface="Google Sans"/>
                <a:ea typeface="+mn-ea"/>
                <a:cs typeface="+mn-cs"/>
              </a:rPr>
              <a:t>Batch Pipelines (ETL): </a:t>
            </a:r>
            <a:r>
              <a:rPr lang="en-US" sz="1500" dirty="0">
                <a:solidFill>
                  <a:schemeClr val="accent6"/>
                </a:solidFill>
                <a:latin typeface="Google Sans"/>
                <a:ea typeface="+mn-ea"/>
                <a:cs typeface="+mn-cs"/>
              </a:rPr>
              <a:t>Data is collected from various sources, stored in a data lake, transformed, and loaded into a data warehouse (e.g., Hive/Spark).</a:t>
            </a:r>
          </a:p>
          <a:p>
            <a:r>
              <a:rPr lang="en-US" sz="1500" dirty="0">
                <a:solidFill>
                  <a:schemeClr val="accent2"/>
                </a:solidFill>
                <a:latin typeface="Google Sans"/>
                <a:ea typeface="+mn-ea"/>
                <a:cs typeface="+mn-cs"/>
              </a:rPr>
              <a:t>Workflow Orchestration:</a:t>
            </a:r>
            <a:r>
              <a:rPr lang="en-US" sz="1500" dirty="0">
                <a:solidFill>
                  <a:schemeClr val="accent6"/>
                </a:solidFill>
                <a:latin typeface="Google Sans"/>
                <a:ea typeface="+mn-ea"/>
                <a:cs typeface="+mn-cs"/>
              </a:rPr>
              <a:t> Linking multiple batch steps in a directed acyclic graph (DAG). For example, a "splitter" sends different data types to different queues, while a "merger" combines outputs.</a:t>
            </a:r>
          </a:p>
          <a:p>
            <a:r>
              <a:rPr lang="en-US" sz="1500" dirty="0">
                <a:solidFill>
                  <a:schemeClr val="accent2"/>
                </a:solidFill>
                <a:latin typeface="Google Sans"/>
                <a:ea typeface="+mn-ea"/>
                <a:cs typeface="+mn-cs"/>
              </a:rPr>
              <a:t>Micro-batches:</a:t>
            </a:r>
            <a:r>
              <a:rPr lang="en-US" sz="1500" dirty="0">
                <a:solidFill>
                  <a:schemeClr val="accent6"/>
                </a:solidFill>
                <a:latin typeface="Google Sans"/>
                <a:ea typeface="+mn-ea"/>
                <a:cs typeface="+mn-cs"/>
              </a:rPr>
              <a:t> A hybrid approach where streaming data is accumulated over short intervals (seconds) and processed using batch techniques, providing lower latency than traditional batching. </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Performance Optimization</a:t>
            </a:r>
          </a:p>
          <a:p>
            <a:r>
              <a:rPr lang="en-US" sz="1500" dirty="0">
                <a:solidFill>
                  <a:schemeClr val="accent2"/>
                </a:solidFill>
                <a:latin typeface="Google Sans"/>
                <a:ea typeface="+mn-ea"/>
                <a:cs typeface="+mn-cs"/>
              </a:rPr>
              <a:t>Data Serialization:</a:t>
            </a:r>
            <a:r>
              <a:rPr lang="en-US" sz="1500" dirty="0">
                <a:solidFill>
                  <a:schemeClr val="accent6"/>
                </a:solidFill>
                <a:latin typeface="Google Sans"/>
                <a:ea typeface="+mn-ea"/>
                <a:cs typeface="+mn-cs"/>
              </a:rPr>
              <a:t> Using efficient binary formats (e.g., Parquet, Avro, </a:t>
            </a:r>
            <a:r>
              <a:rPr lang="en-US" sz="1500" dirty="0" err="1">
                <a:solidFill>
                  <a:schemeClr val="accent6"/>
                </a:solidFill>
                <a:latin typeface="Google Sans"/>
                <a:ea typeface="+mn-ea"/>
                <a:cs typeface="+mn-cs"/>
              </a:rPr>
              <a:t>Kryo</a:t>
            </a:r>
            <a:r>
              <a:rPr lang="en-US" sz="1500" dirty="0">
                <a:solidFill>
                  <a:schemeClr val="accent6"/>
                </a:solidFill>
                <a:latin typeface="Google Sans"/>
                <a:ea typeface="+mn-ea"/>
                <a:cs typeface="+mn-cs"/>
              </a:rPr>
              <a:t>) instead of text (CSV/JSON) to reduce disk I/O and network transfer.</a:t>
            </a:r>
          </a:p>
          <a:p>
            <a:r>
              <a:rPr lang="en-US" sz="1500" dirty="0">
                <a:solidFill>
                  <a:schemeClr val="accent2"/>
                </a:solidFill>
                <a:latin typeface="Google Sans"/>
                <a:ea typeface="+mn-ea"/>
                <a:cs typeface="+mn-cs"/>
              </a:rPr>
              <a:t>Adaptive Batching: </a:t>
            </a:r>
            <a:r>
              <a:rPr lang="en-US" sz="1500" dirty="0">
                <a:solidFill>
                  <a:schemeClr val="accent6"/>
                </a:solidFill>
                <a:latin typeface="Google Sans"/>
                <a:ea typeface="+mn-ea"/>
                <a:cs typeface="+mn-cs"/>
              </a:rPr>
              <a:t>Dynamically adjusting the size of batches and the number of nodes based on the current load.</a:t>
            </a:r>
          </a:p>
          <a:p>
            <a:r>
              <a:rPr lang="en-US" sz="1500" dirty="0">
                <a:solidFill>
                  <a:schemeClr val="accent2"/>
                </a:solidFill>
                <a:latin typeface="Google Sans"/>
                <a:ea typeface="+mn-ea"/>
                <a:cs typeface="+mn-cs"/>
              </a:rPr>
              <a:t>Data Compression:</a:t>
            </a:r>
            <a:r>
              <a:rPr lang="en-US" sz="1500" dirty="0">
                <a:solidFill>
                  <a:schemeClr val="accent6"/>
                </a:solidFill>
                <a:latin typeface="Google Sans"/>
                <a:ea typeface="+mn-ea"/>
                <a:cs typeface="+mn-cs"/>
              </a:rPr>
              <a:t> Compressing data at rest and during shuffle phases to save space and reduce network load. </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For Further Exploration</a:t>
            </a:r>
          </a:p>
          <a:p>
            <a:r>
              <a:rPr lang="en-US" sz="2000" dirty="0">
                <a:hlinkClick r:id="rId2"/>
              </a:rPr>
              <a:t>Class materials for a distributed systems lecture series</a:t>
            </a:r>
            <a:endParaRPr lang="en-US" sz="2000" dirty="0"/>
          </a:p>
          <a:p>
            <a:r>
              <a:rPr lang="en-US" sz="2000" dirty="0">
                <a:hlinkClick r:id="rId3"/>
              </a:rPr>
              <a:t>Distributed Computing with Python</a:t>
            </a:r>
            <a:endParaRPr lang="en-US" sz="2000" dirty="0">
              <a:solidFill>
                <a:schemeClr val="accent2"/>
              </a:solidFill>
              <a:latin typeface="Google Sans"/>
              <a:ea typeface="+mn-ea"/>
              <a:cs typeface="+mn-cs"/>
            </a:endParaRPr>
          </a:p>
        </p:txBody>
      </p:sp>
    </p:spTree>
    <p:extLst>
      <p:ext uri="{BB962C8B-B14F-4D97-AF65-F5344CB8AC3E}">
        <p14:creationId xmlns:p14="http://schemas.microsoft.com/office/powerpoint/2010/main" val="1299110798"/>
      </p:ext>
    </p:extLst>
  </p:cSld>
  <p:clrMapOvr>
    <a:masterClrMapping/>
  </p:clrMapOvr>
</p:sld>
</file>

<file path=ppt/slides/slide4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6BD51-9379-FFE0-B3DE-EF77E391AC3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072E9CE-68CB-9EF6-EDE3-1A2FED4CC4A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0F3E9BD-3E5B-F30B-F070-4D8090FC3F3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60D8B1B2-7A37-878E-8550-1C65B81598D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B2808649-9E04-5E98-574B-85F9337891A3}"/>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8A9ABB86-B3B1-78F7-3648-9FE70E604BA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134E628-2308-D41C-6A4B-226F9338B8EC}"/>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a:t>
              </a:r>
              <a:r>
                <a:rPr lang="en-US" sz="2500" b="1" dirty="0"/>
                <a:t>Streaming</a:t>
              </a:r>
              <a:endParaRPr lang="en-US" sz="2500" kern="1200" dirty="0">
                <a:solidFill>
                  <a:schemeClr val="bg1"/>
                </a:solidFill>
              </a:endParaRPr>
            </a:p>
          </p:txBody>
        </p:sp>
      </p:grpSp>
      <p:sp>
        <p:nvSpPr>
          <p:cNvPr id="3" name="object 2">
            <a:extLst>
              <a:ext uri="{FF2B5EF4-FFF2-40B4-BE49-F238E27FC236}">
                <a16:creationId xmlns:a16="http://schemas.microsoft.com/office/drawing/2014/main" id="{185D146A-0A4E-E180-3EDC-CACDA064AC9F}"/>
              </a:ext>
            </a:extLst>
          </p:cNvPr>
          <p:cNvSpPr txBox="1">
            <a:spLocks/>
          </p:cNvSpPr>
          <p:nvPr/>
        </p:nvSpPr>
        <p:spPr>
          <a:xfrm>
            <a:off x="44911" y="704612"/>
            <a:ext cx="9168589" cy="30777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.NET’s </a:t>
            </a:r>
            <a:r>
              <a:rPr lang="en-US" sz="2000" dirty="0" err="1">
                <a:solidFill>
                  <a:schemeClr val="accent2"/>
                </a:solidFill>
                <a:latin typeface="Google Sans"/>
                <a:ea typeface="+mn-ea"/>
                <a:cs typeface="+mn-cs"/>
              </a:rPr>
              <a:t>System.IO.Stream</a:t>
            </a:r>
            <a:r>
              <a:rPr lang="en-US" sz="2000" dirty="0">
                <a:solidFill>
                  <a:schemeClr val="accent2"/>
                </a:solidFill>
                <a:latin typeface="Google Sans"/>
                <a:ea typeface="+mn-ea"/>
                <a:cs typeface="+mn-cs"/>
              </a:rPr>
              <a:t> Limitations w.r.t Distributed Stream Processing</a:t>
            </a:r>
          </a:p>
        </p:txBody>
      </p:sp>
      <p:pic>
        <p:nvPicPr>
          <p:cNvPr id="10" name="Picture 9">
            <a:extLst>
              <a:ext uri="{FF2B5EF4-FFF2-40B4-BE49-F238E27FC236}">
                <a16:creationId xmlns:a16="http://schemas.microsoft.com/office/drawing/2014/main" id="{CB78635C-625F-11FE-1487-65407BF632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11" y="1069777"/>
            <a:ext cx="8946689" cy="2088848"/>
          </a:xfrm>
          <a:prstGeom prst="rect">
            <a:avLst/>
          </a:prstGeom>
        </p:spPr>
      </p:pic>
      <p:pic>
        <p:nvPicPr>
          <p:cNvPr id="12" name="Picture 11">
            <a:extLst>
              <a:ext uri="{FF2B5EF4-FFF2-40B4-BE49-F238E27FC236}">
                <a16:creationId xmlns:a16="http://schemas.microsoft.com/office/drawing/2014/main" id="{FE17FD7F-A94C-0828-405F-11EF264782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11" y="3158626"/>
            <a:ext cx="8624936" cy="1883211"/>
          </a:xfrm>
          <a:prstGeom prst="rect">
            <a:avLst/>
          </a:prstGeom>
        </p:spPr>
      </p:pic>
      <p:pic>
        <p:nvPicPr>
          <p:cNvPr id="14" name="Picture 13">
            <a:extLst>
              <a:ext uri="{FF2B5EF4-FFF2-40B4-BE49-F238E27FC236}">
                <a16:creationId xmlns:a16="http://schemas.microsoft.com/office/drawing/2014/main" id="{4EB3FA2B-883A-23BA-F27D-B851C450F6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864" y="5041838"/>
            <a:ext cx="8701136" cy="596962"/>
          </a:xfrm>
          <a:prstGeom prst="rect">
            <a:avLst/>
          </a:prstGeom>
        </p:spPr>
      </p:pic>
    </p:spTree>
    <p:extLst>
      <p:ext uri="{BB962C8B-B14F-4D97-AF65-F5344CB8AC3E}">
        <p14:creationId xmlns:p14="http://schemas.microsoft.com/office/powerpoint/2010/main" val="3487227571"/>
      </p:ext>
    </p:extLst>
  </p:cSld>
  <p:clrMapOvr>
    <a:masterClrMapping/>
  </p:clrMapOvr>
</p:sld>
</file>

<file path=ppt/slides/slide5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B187B-6DAC-FF44-324D-C0ADB7741E9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D590A19-BFA5-2CF8-EFA3-EA5F0DF6D1E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798A576-1DB5-B2DF-1E6F-355050433DE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26B80EC4-AACE-45D8-FDD7-8C834BC3E6D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2C53ED58-D988-ACE7-7ADF-AE6BB148D104}"/>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D3BF9158-C476-B766-F1D0-637733AD8E19}"/>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17426BF-CF87-8F5A-29B9-EB821A650C27}"/>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a:t>
              </a:r>
              <a:r>
                <a:rPr lang="en-US" sz="2500" b="1" dirty="0"/>
                <a:t>Streaming</a:t>
              </a:r>
              <a:endParaRPr lang="en-US" sz="2500" kern="1200" dirty="0">
                <a:solidFill>
                  <a:schemeClr val="bg1"/>
                </a:solidFill>
              </a:endParaRPr>
            </a:p>
          </p:txBody>
        </p:sp>
      </p:grpSp>
      <p:sp>
        <p:nvSpPr>
          <p:cNvPr id="13" name="object 2">
            <a:extLst>
              <a:ext uri="{FF2B5EF4-FFF2-40B4-BE49-F238E27FC236}">
                <a16:creationId xmlns:a16="http://schemas.microsoft.com/office/drawing/2014/main" id="{25CCBE21-5A02-01FE-7D5F-0BE033E10770}"/>
              </a:ext>
            </a:extLst>
          </p:cNvPr>
          <p:cNvSpPr txBox="1">
            <a:spLocks/>
          </p:cNvSpPr>
          <p:nvPr/>
        </p:nvSpPr>
        <p:spPr>
          <a:xfrm>
            <a:off x="44911" y="704612"/>
            <a:ext cx="9168589" cy="553997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700" dirty="0">
                <a:solidFill>
                  <a:schemeClr val="accent2"/>
                </a:solidFill>
                <a:latin typeface="Google Sans"/>
                <a:ea typeface="+mn-ea"/>
                <a:cs typeface="+mn-cs"/>
              </a:rPr>
              <a:t>Fundamental Paradigm: Data in Motion</a:t>
            </a:r>
          </a:p>
          <a:p>
            <a:r>
              <a:rPr lang="en-US" sz="1500" dirty="0">
                <a:solidFill>
                  <a:schemeClr val="accent6"/>
                </a:solidFill>
                <a:latin typeface="Google Sans"/>
                <a:ea typeface="+mn-ea"/>
                <a:cs typeface="+mn-cs"/>
              </a:rPr>
              <a:t>Unlike traditional Batch Processing (computing on a finite set of data at rest), Stream Processing operates on unbounded, continuous data streams. </a:t>
            </a:r>
          </a:p>
          <a:p>
            <a:r>
              <a:rPr lang="en-US" sz="1500" dirty="0">
                <a:solidFill>
                  <a:schemeClr val="accent2"/>
                </a:solidFill>
                <a:latin typeface="Google Sans"/>
                <a:ea typeface="+mn-ea"/>
                <a:cs typeface="+mn-cs"/>
              </a:rPr>
              <a:t>Data Velocity:</a:t>
            </a:r>
            <a:r>
              <a:rPr lang="en-US" sz="1500" dirty="0">
                <a:solidFill>
                  <a:schemeClr val="accent6"/>
                </a:solidFill>
                <a:latin typeface="Google Sans"/>
                <a:ea typeface="+mn-ea"/>
                <a:cs typeface="+mn-cs"/>
              </a:rPr>
              <a:t> High-speed, real-time ingestion and processing.</a:t>
            </a:r>
          </a:p>
          <a:p>
            <a:r>
              <a:rPr lang="en-US" sz="1500" dirty="0">
                <a:solidFill>
                  <a:schemeClr val="accent2"/>
                </a:solidFill>
                <a:latin typeface="Google Sans"/>
                <a:ea typeface="+mn-ea"/>
                <a:cs typeface="+mn-cs"/>
              </a:rPr>
              <a:t>Data Variety: </a:t>
            </a:r>
            <a:r>
              <a:rPr lang="en-US" sz="1500" dirty="0">
                <a:solidFill>
                  <a:schemeClr val="accent6"/>
                </a:solidFill>
                <a:latin typeface="Google Sans"/>
                <a:ea typeface="+mn-ea"/>
                <a:cs typeface="+mn-cs"/>
              </a:rPr>
              <a:t>Heterogeneous sources (IoT, logs, clickstreams) requiring ingestion via brokers like Kafka.</a:t>
            </a:r>
          </a:p>
          <a:p>
            <a:r>
              <a:rPr lang="en-US" sz="1500" dirty="0">
                <a:solidFill>
                  <a:schemeClr val="accent2"/>
                </a:solidFill>
                <a:latin typeface="Google Sans"/>
                <a:ea typeface="+mn-ea"/>
                <a:cs typeface="+mn-cs"/>
              </a:rPr>
              <a:t>Continuous Querying:</a:t>
            </a:r>
            <a:r>
              <a:rPr lang="en-US" sz="1500" dirty="0">
                <a:solidFill>
                  <a:schemeClr val="accent6"/>
                </a:solidFill>
                <a:latin typeface="Google Sans"/>
                <a:ea typeface="+mn-ea"/>
                <a:cs typeface="+mn-cs"/>
              </a:rPr>
              <a:t> Running continuous SQL or procedural logic rather than one-time jobs. </a:t>
            </a:r>
          </a:p>
          <a:p>
            <a:endParaRPr lang="en-US" sz="1500" dirty="0">
              <a:solidFill>
                <a:schemeClr val="accent6"/>
              </a:solidFill>
              <a:latin typeface="Google Sans"/>
              <a:ea typeface="+mn-ea"/>
              <a:cs typeface="+mn-cs"/>
            </a:endParaRPr>
          </a:p>
          <a:p>
            <a:r>
              <a:rPr lang="en-US" sz="1700" dirty="0">
                <a:solidFill>
                  <a:schemeClr val="accent2"/>
                </a:solidFill>
                <a:latin typeface="Google Sans"/>
                <a:ea typeface="+mn-ea"/>
                <a:cs typeface="+mn-cs"/>
              </a:rPr>
              <a:t>Time and Ordering Concepts</a:t>
            </a:r>
          </a:p>
          <a:p>
            <a:r>
              <a:rPr lang="en-US" sz="1500" dirty="0">
                <a:solidFill>
                  <a:schemeClr val="accent6"/>
                </a:solidFill>
                <a:latin typeface="Google Sans"/>
                <a:ea typeface="+mn-ea"/>
                <a:cs typeface="+mn-cs"/>
              </a:rPr>
              <a:t>In distributed systems, the lack of a global clock makes time management complex. </a:t>
            </a:r>
          </a:p>
          <a:p>
            <a:r>
              <a:rPr lang="en-US" sz="1500" dirty="0">
                <a:solidFill>
                  <a:schemeClr val="accent2"/>
                </a:solidFill>
                <a:latin typeface="Google Sans"/>
                <a:ea typeface="+mn-ea"/>
                <a:cs typeface="+mn-cs"/>
              </a:rPr>
              <a:t>Event Time:</a:t>
            </a:r>
            <a:r>
              <a:rPr lang="en-US" sz="1500" dirty="0">
                <a:solidFill>
                  <a:schemeClr val="accent6"/>
                </a:solidFill>
                <a:latin typeface="Google Sans"/>
                <a:ea typeface="+mn-ea"/>
                <a:cs typeface="+mn-cs"/>
              </a:rPr>
              <a:t> The time the event actually occurred on the producer device.</a:t>
            </a:r>
          </a:p>
          <a:p>
            <a:r>
              <a:rPr lang="en-US" sz="1500" dirty="0">
                <a:solidFill>
                  <a:schemeClr val="accent2"/>
                </a:solidFill>
                <a:latin typeface="Google Sans"/>
                <a:ea typeface="+mn-ea"/>
                <a:cs typeface="+mn-cs"/>
              </a:rPr>
              <a:t>Processing Time: </a:t>
            </a:r>
            <a:r>
              <a:rPr lang="en-US" sz="1500" dirty="0">
                <a:solidFill>
                  <a:schemeClr val="accent6"/>
                </a:solidFill>
                <a:latin typeface="Google Sans"/>
                <a:ea typeface="+mn-ea"/>
                <a:cs typeface="+mn-cs"/>
              </a:rPr>
              <a:t>The time the event is processed by the computing node.</a:t>
            </a:r>
          </a:p>
          <a:p>
            <a:r>
              <a:rPr lang="en-US" sz="1500" dirty="0">
                <a:solidFill>
                  <a:schemeClr val="accent2"/>
                </a:solidFill>
                <a:latin typeface="Google Sans"/>
                <a:ea typeface="+mn-ea"/>
                <a:cs typeface="+mn-cs"/>
              </a:rPr>
              <a:t>Ingestion Time: </a:t>
            </a:r>
            <a:r>
              <a:rPr lang="en-US" sz="1500" dirty="0">
                <a:solidFill>
                  <a:schemeClr val="accent6"/>
                </a:solidFill>
                <a:latin typeface="Google Sans"/>
                <a:ea typeface="+mn-ea"/>
                <a:cs typeface="+mn-cs"/>
              </a:rPr>
              <a:t>The time the event hits the messaging broker.</a:t>
            </a:r>
          </a:p>
          <a:p>
            <a:r>
              <a:rPr lang="en-US" sz="1500" dirty="0">
                <a:solidFill>
                  <a:schemeClr val="accent2"/>
                </a:solidFill>
                <a:latin typeface="Google Sans"/>
                <a:ea typeface="+mn-ea"/>
                <a:cs typeface="+mn-cs"/>
              </a:rPr>
              <a:t>Event Time Skew:</a:t>
            </a:r>
            <a:r>
              <a:rPr lang="en-US" sz="1500" dirty="0">
                <a:solidFill>
                  <a:schemeClr val="accent6"/>
                </a:solidFill>
                <a:latin typeface="Google Sans"/>
                <a:ea typeface="+mn-ea"/>
                <a:cs typeface="+mn-cs"/>
              </a:rPr>
              <a:t> Out-of-order data arrival (event A happens before B, but arrives after).</a:t>
            </a:r>
          </a:p>
          <a:p>
            <a:r>
              <a:rPr lang="en-US" sz="1500" dirty="0">
                <a:solidFill>
                  <a:schemeClr val="accent2"/>
                </a:solidFill>
                <a:latin typeface="Google Sans"/>
                <a:ea typeface="+mn-ea"/>
                <a:cs typeface="+mn-cs"/>
              </a:rPr>
              <a:t>Watermarks:</a:t>
            </a:r>
            <a:r>
              <a:rPr lang="en-US" sz="1500" dirty="0">
                <a:solidFill>
                  <a:schemeClr val="accent6"/>
                </a:solidFill>
                <a:latin typeface="Google Sans"/>
                <a:ea typeface="+mn-ea"/>
                <a:cs typeface="+mn-cs"/>
              </a:rPr>
              <a:t> A technique used to measure the progress of event time, allowing the system to handle late-arriving data by waiting for a specific threshold before closing a window. </a:t>
            </a:r>
          </a:p>
          <a:p>
            <a:endParaRPr lang="en-US" sz="1500" dirty="0">
              <a:solidFill>
                <a:schemeClr val="accent6"/>
              </a:solidFill>
              <a:latin typeface="Google Sans"/>
              <a:ea typeface="+mn-ea"/>
              <a:cs typeface="+mn-cs"/>
            </a:endParaRPr>
          </a:p>
          <a:p>
            <a:r>
              <a:rPr lang="en-US" sz="1700" dirty="0">
                <a:solidFill>
                  <a:schemeClr val="accent2"/>
                </a:solidFill>
                <a:latin typeface="Google Sans"/>
                <a:ea typeface="+mn-ea"/>
                <a:cs typeface="+mn-cs"/>
              </a:rPr>
              <a:t>Windowing and Aggregation</a:t>
            </a:r>
          </a:p>
          <a:p>
            <a:r>
              <a:rPr lang="en-US" sz="1500" dirty="0">
                <a:solidFill>
                  <a:schemeClr val="accent6"/>
                </a:solidFill>
                <a:latin typeface="Google Sans"/>
                <a:ea typeface="+mn-ea"/>
                <a:cs typeface="+mn-cs"/>
              </a:rPr>
              <a:t>Since streams are infinite, they must be partitioned into finite "buckets" for processing. </a:t>
            </a:r>
          </a:p>
          <a:p>
            <a:r>
              <a:rPr lang="en-US" sz="1500" dirty="0">
                <a:solidFill>
                  <a:schemeClr val="accent2"/>
                </a:solidFill>
                <a:latin typeface="Google Sans"/>
                <a:ea typeface="+mn-ea"/>
                <a:cs typeface="+mn-cs"/>
              </a:rPr>
              <a:t>Tumbling Windows: </a:t>
            </a:r>
            <a:r>
              <a:rPr lang="en-US" sz="1500" dirty="0">
                <a:solidFill>
                  <a:schemeClr val="accent6"/>
                </a:solidFill>
                <a:latin typeface="Google Sans"/>
                <a:ea typeface="+mn-ea"/>
                <a:cs typeface="+mn-cs"/>
              </a:rPr>
              <a:t>Fixed-size, non-overlapping windows (e.g., 5-minute sales summary).</a:t>
            </a:r>
          </a:p>
          <a:p>
            <a:r>
              <a:rPr lang="en-US" sz="1500" dirty="0">
                <a:solidFill>
                  <a:schemeClr val="accent2"/>
                </a:solidFill>
                <a:latin typeface="Google Sans"/>
                <a:ea typeface="+mn-ea"/>
                <a:cs typeface="+mn-cs"/>
              </a:rPr>
              <a:t>Sliding Windows: </a:t>
            </a:r>
            <a:r>
              <a:rPr lang="en-US" sz="1500" dirty="0">
                <a:solidFill>
                  <a:schemeClr val="accent6"/>
                </a:solidFill>
                <a:latin typeface="Google Sans"/>
                <a:ea typeface="+mn-ea"/>
                <a:cs typeface="+mn-cs"/>
              </a:rPr>
              <a:t>Overlapping windows that move forward by a specified interval (e.g., "last 10 minutes, updated every 1 minute").</a:t>
            </a:r>
          </a:p>
          <a:p>
            <a:r>
              <a:rPr lang="en-US" sz="1500" dirty="0">
                <a:solidFill>
                  <a:schemeClr val="accent2"/>
                </a:solidFill>
                <a:latin typeface="Google Sans"/>
                <a:ea typeface="+mn-ea"/>
                <a:cs typeface="+mn-cs"/>
              </a:rPr>
              <a:t>Session Windows: </a:t>
            </a:r>
            <a:r>
              <a:rPr lang="en-US" sz="1500" dirty="0">
                <a:solidFill>
                  <a:schemeClr val="accent6"/>
                </a:solidFill>
                <a:latin typeface="Google Sans"/>
                <a:ea typeface="+mn-ea"/>
                <a:cs typeface="+mn-cs"/>
              </a:rPr>
              <a:t>Grouped by gaps in activity, ideal for user behavior tracking (e.g., "active user session").</a:t>
            </a:r>
          </a:p>
          <a:p>
            <a:r>
              <a:rPr lang="en-US" sz="1500" dirty="0">
                <a:solidFill>
                  <a:schemeClr val="accent6"/>
                </a:solidFill>
                <a:latin typeface="Google Sans"/>
                <a:ea typeface="+mn-ea"/>
                <a:cs typeface="+mn-cs"/>
              </a:rPr>
              <a:t>Count-based Windows: Based on number of events rather than time (e.g., "average of last 100 events"). </a:t>
            </a:r>
          </a:p>
        </p:txBody>
      </p:sp>
    </p:spTree>
    <p:extLst>
      <p:ext uri="{BB962C8B-B14F-4D97-AF65-F5344CB8AC3E}">
        <p14:creationId xmlns:p14="http://schemas.microsoft.com/office/powerpoint/2010/main" val="28170420"/>
      </p:ext>
    </p:extLst>
  </p:cSld>
  <p:clrMapOvr>
    <a:masterClrMapping/>
  </p:clrMapOvr>
</p:sld>
</file>

<file path=ppt/slides/slide5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B43F5-A5D9-11B6-EF04-EFC890508E2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E476B15-C719-2DD0-426E-568053F18B3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AC60D4E-B211-B458-530B-3890D506C76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804FB83A-DC55-B00C-E575-35933D71DDD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D380FD7A-8E0F-C8EF-9A38-8C582127F717}"/>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FEDB73C2-9A2E-1564-F298-1DBE5F30DEF6}"/>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9FC91611-68DC-5BBD-4640-C2C293CB9CC1}"/>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a:t>
              </a:r>
              <a:r>
                <a:rPr lang="en-US" sz="2500" b="1" dirty="0"/>
                <a:t>Streaming</a:t>
              </a:r>
              <a:endParaRPr lang="en-US" sz="2500" kern="1200" dirty="0">
                <a:solidFill>
                  <a:schemeClr val="bg1"/>
                </a:solidFill>
              </a:endParaRPr>
            </a:p>
          </p:txBody>
        </p:sp>
      </p:grpSp>
      <p:sp>
        <p:nvSpPr>
          <p:cNvPr id="13" name="object 2">
            <a:extLst>
              <a:ext uri="{FF2B5EF4-FFF2-40B4-BE49-F238E27FC236}">
                <a16:creationId xmlns:a16="http://schemas.microsoft.com/office/drawing/2014/main" id="{A7857714-C286-20AA-9608-C8B99F50C6D3}"/>
              </a:ext>
            </a:extLst>
          </p:cNvPr>
          <p:cNvSpPr txBox="1">
            <a:spLocks/>
          </p:cNvSpPr>
          <p:nvPr/>
        </p:nvSpPr>
        <p:spPr>
          <a:xfrm>
            <a:off x="44911" y="704612"/>
            <a:ext cx="9168589"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Stateful Stream Processing</a:t>
            </a:r>
          </a:p>
          <a:p>
            <a:r>
              <a:rPr lang="en-US" sz="1500" dirty="0">
                <a:solidFill>
                  <a:schemeClr val="accent6"/>
                </a:solidFill>
                <a:latin typeface="Google Sans"/>
                <a:ea typeface="+mn-ea"/>
                <a:cs typeface="+mn-cs"/>
              </a:rPr>
              <a:t>Stateful processing is the ability to remember information from past events to process current ones (e.g., user profiles, aggregations). </a:t>
            </a:r>
          </a:p>
          <a:p>
            <a:r>
              <a:rPr lang="en-US" sz="1500" dirty="0">
                <a:solidFill>
                  <a:schemeClr val="accent2"/>
                </a:solidFill>
                <a:latin typeface="Google Sans"/>
                <a:ea typeface="+mn-ea"/>
                <a:cs typeface="+mn-cs"/>
              </a:rPr>
              <a:t>Distributed State Store: </a:t>
            </a:r>
            <a:r>
              <a:rPr lang="en-US" sz="1500" dirty="0">
                <a:solidFill>
                  <a:schemeClr val="accent6"/>
                </a:solidFill>
                <a:latin typeface="Google Sans"/>
                <a:ea typeface="+mn-ea"/>
                <a:cs typeface="+mn-cs"/>
              </a:rPr>
              <a:t>The state is partitioned and managed across different worker nodes.</a:t>
            </a:r>
          </a:p>
          <a:p>
            <a:r>
              <a:rPr lang="en-US" sz="1500" dirty="0">
                <a:solidFill>
                  <a:schemeClr val="accent2"/>
                </a:solidFill>
                <a:latin typeface="Google Sans"/>
                <a:ea typeface="+mn-ea"/>
                <a:cs typeface="+mn-cs"/>
              </a:rPr>
              <a:t>State Backend:</a:t>
            </a:r>
            <a:r>
              <a:rPr lang="en-US" sz="1500" dirty="0">
                <a:solidFill>
                  <a:schemeClr val="accent6"/>
                </a:solidFill>
                <a:latin typeface="Google Sans"/>
                <a:ea typeface="+mn-ea"/>
                <a:cs typeface="+mn-cs"/>
              </a:rPr>
              <a:t> Mechanisms like </a:t>
            </a:r>
            <a:r>
              <a:rPr lang="en-US" sz="1500" dirty="0" err="1">
                <a:solidFill>
                  <a:schemeClr val="accent6"/>
                </a:solidFill>
                <a:latin typeface="Google Sans"/>
                <a:ea typeface="+mn-ea"/>
                <a:cs typeface="+mn-cs"/>
              </a:rPr>
              <a:t>RocksDB</a:t>
            </a:r>
            <a:r>
              <a:rPr lang="en-US" sz="1500" dirty="0">
                <a:solidFill>
                  <a:schemeClr val="accent6"/>
                </a:solidFill>
                <a:latin typeface="Google Sans"/>
                <a:ea typeface="+mn-ea"/>
                <a:cs typeface="+mn-cs"/>
              </a:rPr>
              <a:t> (used in Flink) are used to store state on local disk when it exceeds RAM.</a:t>
            </a:r>
          </a:p>
          <a:p>
            <a:r>
              <a:rPr lang="en-US" sz="1500" dirty="0">
                <a:solidFill>
                  <a:schemeClr val="accent2"/>
                </a:solidFill>
                <a:latin typeface="Google Sans"/>
                <a:ea typeface="+mn-ea"/>
                <a:cs typeface="+mn-cs"/>
              </a:rPr>
              <a:t>State Management:</a:t>
            </a:r>
            <a:r>
              <a:rPr lang="en-US" sz="1500" dirty="0">
                <a:solidFill>
                  <a:schemeClr val="accent6"/>
                </a:solidFill>
                <a:latin typeface="Google Sans"/>
                <a:ea typeface="+mn-ea"/>
                <a:cs typeface="+mn-cs"/>
              </a:rPr>
              <a:t> Involves periodically saving state to persistent storage for fault tolerance (checkpointing). </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Fault Tolerance and Consistency Semantics </a:t>
            </a:r>
          </a:p>
          <a:p>
            <a:r>
              <a:rPr lang="en-US" sz="1500" dirty="0">
                <a:solidFill>
                  <a:schemeClr val="accent6"/>
                </a:solidFill>
                <a:latin typeface="Google Sans"/>
                <a:ea typeface="+mn-ea"/>
                <a:cs typeface="+mn-cs"/>
              </a:rPr>
              <a:t>SPEs must guarantee correctness even when nodes fail or network partitions occur. </a:t>
            </a:r>
          </a:p>
          <a:p>
            <a:r>
              <a:rPr lang="en-US" sz="1500" dirty="0">
                <a:solidFill>
                  <a:schemeClr val="accent2"/>
                </a:solidFill>
                <a:latin typeface="Google Sans"/>
                <a:ea typeface="+mn-ea"/>
                <a:cs typeface="+mn-cs"/>
              </a:rPr>
              <a:t>Idempotent Operations:</a:t>
            </a:r>
            <a:r>
              <a:rPr lang="en-US" sz="1500" dirty="0">
                <a:solidFill>
                  <a:schemeClr val="accent6"/>
                </a:solidFill>
                <a:latin typeface="Google Sans"/>
                <a:ea typeface="+mn-ea"/>
                <a:cs typeface="+mn-cs"/>
              </a:rPr>
              <a:t> Operations that produce the same result regardless of how many times they are executed.</a:t>
            </a:r>
          </a:p>
          <a:p>
            <a:r>
              <a:rPr lang="en-US" sz="1500" dirty="0">
                <a:solidFill>
                  <a:schemeClr val="accent2"/>
                </a:solidFill>
                <a:latin typeface="Google Sans"/>
                <a:ea typeface="+mn-ea"/>
                <a:cs typeface="+mn-cs"/>
              </a:rPr>
              <a:t>At-most-once:</a:t>
            </a:r>
            <a:r>
              <a:rPr lang="en-US" sz="1500" dirty="0">
                <a:solidFill>
                  <a:schemeClr val="accent6"/>
                </a:solidFill>
                <a:latin typeface="Google Sans"/>
                <a:ea typeface="+mn-ea"/>
                <a:cs typeface="+mn-cs"/>
              </a:rPr>
              <a:t> Fastest, but messages can be lost.</a:t>
            </a:r>
          </a:p>
          <a:p>
            <a:r>
              <a:rPr lang="en-US" sz="1500" dirty="0">
                <a:solidFill>
                  <a:schemeClr val="accent2"/>
                </a:solidFill>
                <a:latin typeface="Google Sans"/>
                <a:ea typeface="+mn-ea"/>
                <a:cs typeface="+mn-cs"/>
              </a:rPr>
              <a:t>At-least-once:</a:t>
            </a:r>
            <a:r>
              <a:rPr lang="en-US" sz="1500" dirty="0">
                <a:solidFill>
                  <a:schemeClr val="accent6"/>
                </a:solidFill>
                <a:latin typeface="Google Sans"/>
                <a:ea typeface="+mn-ea"/>
                <a:cs typeface="+mn-cs"/>
              </a:rPr>
              <a:t> Messages are never lost, but can be duplicated. Requires idempotency downstream.</a:t>
            </a:r>
          </a:p>
          <a:p>
            <a:r>
              <a:rPr lang="en-US" sz="1500" dirty="0">
                <a:solidFill>
                  <a:schemeClr val="accent2"/>
                </a:solidFill>
                <a:latin typeface="Google Sans"/>
                <a:ea typeface="+mn-ea"/>
                <a:cs typeface="+mn-cs"/>
              </a:rPr>
              <a:t>Exactly-once:</a:t>
            </a:r>
            <a:r>
              <a:rPr lang="en-US" sz="1500" dirty="0">
                <a:solidFill>
                  <a:schemeClr val="accent6"/>
                </a:solidFill>
                <a:latin typeface="Google Sans"/>
                <a:ea typeface="+mn-ea"/>
                <a:cs typeface="+mn-cs"/>
              </a:rPr>
              <a:t> Hardest to achieve. Ensures every event affects the final state exactly once. Achieved through distributed snapshots (e.g., Flink's checkpointing).</a:t>
            </a:r>
          </a:p>
          <a:p>
            <a:r>
              <a:rPr lang="en-US" sz="1500" dirty="0">
                <a:solidFill>
                  <a:schemeClr val="accent2"/>
                </a:solidFill>
                <a:latin typeface="Google Sans"/>
                <a:ea typeface="+mn-ea"/>
                <a:cs typeface="+mn-cs"/>
              </a:rPr>
              <a:t>Distributed Snapshots (Chandy-Lamport Algorithm): </a:t>
            </a:r>
            <a:r>
              <a:rPr lang="en-US" sz="1500" dirty="0">
                <a:solidFill>
                  <a:schemeClr val="accent6"/>
                </a:solidFill>
                <a:latin typeface="Google Sans"/>
                <a:ea typeface="+mn-ea"/>
                <a:cs typeface="+mn-cs"/>
              </a:rPr>
              <a:t>A mechanism where barriers are injected into the stream to save a consistent state of the system across all nodes without stopping the pipeline. </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Data Partitioning and Parallelism</a:t>
            </a:r>
          </a:p>
          <a:p>
            <a:r>
              <a:rPr lang="en-US" sz="1500" dirty="0">
                <a:solidFill>
                  <a:schemeClr val="accent6"/>
                </a:solidFill>
                <a:latin typeface="Google Sans"/>
                <a:ea typeface="+mn-ea"/>
                <a:cs typeface="+mn-cs"/>
              </a:rPr>
              <a:t>To handle high volume, data is distributed across multiple nodes (parallelism). </a:t>
            </a:r>
          </a:p>
          <a:p>
            <a:r>
              <a:rPr lang="en-US" sz="1500" dirty="0">
                <a:solidFill>
                  <a:schemeClr val="accent2"/>
                </a:solidFill>
                <a:latin typeface="Google Sans"/>
                <a:ea typeface="+mn-ea"/>
                <a:cs typeface="+mn-cs"/>
              </a:rPr>
              <a:t>Partitioning/Sharding:</a:t>
            </a:r>
            <a:r>
              <a:rPr lang="en-US" sz="1500" dirty="0">
                <a:solidFill>
                  <a:schemeClr val="accent6"/>
                </a:solidFill>
                <a:latin typeface="Google Sans"/>
                <a:ea typeface="+mn-ea"/>
                <a:cs typeface="+mn-cs"/>
              </a:rPr>
              <a:t> Dividing the data stream based on a key (e.g., </a:t>
            </a:r>
            <a:r>
              <a:rPr lang="en-US" sz="1500" dirty="0" err="1">
                <a:solidFill>
                  <a:schemeClr val="accent6"/>
                </a:solidFill>
                <a:latin typeface="Google Sans"/>
                <a:ea typeface="+mn-ea"/>
                <a:cs typeface="+mn-cs"/>
              </a:rPr>
              <a:t>user_id</a:t>
            </a:r>
            <a:r>
              <a:rPr lang="en-US" sz="1500" dirty="0">
                <a:solidFill>
                  <a:schemeClr val="accent6"/>
                </a:solidFill>
                <a:latin typeface="Google Sans"/>
                <a:ea typeface="+mn-ea"/>
                <a:cs typeface="+mn-cs"/>
              </a:rPr>
              <a:t>) to ensure all events for a key go to the same processor.</a:t>
            </a:r>
          </a:p>
        </p:txBody>
      </p:sp>
    </p:spTree>
    <p:extLst>
      <p:ext uri="{BB962C8B-B14F-4D97-AF65-F5344CB8AC3E}">
        <p14:creationId xmlns:p14="http://schemas.microsoft.com/office/powerpoint/2010/main" val="2757916986"/>
      </p:ext>
    </p:extLst>
  </p:cSld>
  <p:clrMapOvr>
    <a:masterClrMapping/>
  </p:clrMapOvr>
</p:sld>
</file>

<file path=ppt/slides/slide5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17229-F09E-4A63-1DE9-EE4D08CBA8E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07CCDCD-F8D0-4FDC-973F-2C72855A6EC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2239FE8-398E-CA8C-80C8-3FE856A68A2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A1A5F04-A97D-1449-B9E7-81B971B2E56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69C29849-7B5B-8A4F-1C31-69B01EFF02A3}"/>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2FFE3C35-CF0E-509D-EA4A-38AC88D73051}"/>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8E8E5412-11E1-52C2-92D9-E3A06551FD54}"/>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a:t>
              </a:r>
              <a:r>
                <a:rPr lang="en-US" sz="2500" b="1" dirty="0"/>
                <a:t>Streaming</a:t>
              </a:r>
              <a:endParaRPr lang="en-US" sz="2500" kern="1200" dirty="0">
                <a:solidFill>
                  <a:schemeClr val="bg1"/>
                </a:solidFill>
              </a:endParaRPr>
            </a:p>
          </p:txBody>
        </p:sp>
      </p:grpSp>
      <p:sp>
        <p:nvSpPr>
          <p:cNvPr id="13" name="object 2">
            <a:extLst>
              <a:ext uri="{FF2B5EF4-FFF2-40B4-BE49-F238E27FC236}">
                <a16:creationId xmlns:a16="http://schemas.microsoft.com/office/drawing/2014/main" id="{2200A6F6-9A2B-4846-7BC7-E5BBA51B6385}"/>
              </a:ext>
            </a:extLst>
          </p:cNvPr>
          <p:cNvSpPr txBox="1">
            <a:spLocks/>
          </p:cNvSpPr>
          <p:nvPr/>
        </p:nvSpPr>
        <p:spPr>
          <a:xfrm>
            <a:off x="44911" y="704612"/>
            <a:ext cx="9168589" cy="50013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Data Partitioning and Parallelism</a:t>
            </a:r>
          </a:p>
          <a:p>
            <a:r>
              <a:rPr lang="en-US" sz="1500" dirty="0">
                <a:solidFill>
                  <a:schemeClr val="accent6"/>
                </a:solidFill>
                <a:latin typeface="Google Sans"/>
                <a:ea typeface="+mn-ea"/>
                <a:cs typeface="+mn-cs"/>
              </a:rPr>
              <a:t>To handle high volume, data is distributed across multiple nodes (parallelism). </a:t>
            </a:r>
          </a:p>
          <a:p>
            <a:r>
              <a:rPr lang="en-US" sz="1500" dirty="0">
                <a:solidFill>
                  <a:schemeClr val="accent2"/>
                </a:solidFill>
                <a:latin typeface="Google Sans"/>
                <a:ea typeface="+mn-ea"/>
                <a:cs typeface="+mn-cs"/>
              </a:rPr>
              <a:t>Partitioning/Sharding:</a:t>
            </a:r>
            <a:r>
              <a:rPr lang="en-US" sz="1500" dirty="0">
                <a:solidFill>
                  <a:schemeClr val="accent6"/>
                </a:solidFill>
                <a:latin typeface="Google Sans"/>
                <a:ea typeface="+mn-ea"/>
                <a:cs typeface="+mn-cs"/>
              </a:rPr>
              <a:t> Dividing the data stream based on a key (e.g., </a:t>
            </a:r>
            <a:r>
              <a:rPr lang="en-US" sz="1500" dirty="0" err="1">
                <a:solidFill>
                  <a:schemeClr val="accent6"/>
                </a:solidFill>
                <a:latin typeface="Google Sans"/>
                <a:ea typeface="+mn-ea"/>
                <a:cs typeface="+mn-cs"/>
              </a:rPr>
              <a:t>user_id</a:t>
            </a:r>
            <a:r>
              <a:rPr lang="en-US" sz="1500" dirty="0">
                <a:solidFill>
                  <a:schemeClr val="accent6"/>
                </a:solidFill>
                <a:latin typeface="Google Sans"/>
                <a:ea typeface="+mn-ea"/>
                <a:cs typeface="+mn-cs"/>
              </a:rPr>
              <a:t>) to ensure all events for a key go to the same processor.</a:t>
            </a:r>
          </a:p>
          <a:p>
            <a:r>
              <a:rPr lang="en-US" sz="1500" dirty="0">
                <a:solidFill>
                  <a:schemeClr val="accent2"/>
                </a:solidFill>
                <a:latin typeface="Google Sans"/>
                <a:ea typeface="+mn-ea"/>
                <a:cs typeface="+mn-cs"/>
              </a:rPr>
              <a:t>Key Grouping: </a:t>
            </a:r>
            <a:r>
              <a:rPr lang="en-US" sz="1500" dirty="0">
                <a:solidFill>
                  <a:schemeClr val="accent6"/>
                </a:solidFill>
                <a:latin typeface="Google Sans"/>
                <a:ea typeface="+mn-ea"/>
                <a:cs typeface="+mn-cs"/>
              </a:rPr>
              <a:t>Co-locating data with the same key to enable stateful operations like joins.</a:t>
            </a:r>
          </a:p>
          <a:p>
            <a:r>
              <a:rPr lang="en-US" sz="1500" dirty="0">
                <a:solidFill>
                  <a:schemeClr val="accent2"/>
                </a:solidFill>
                <a:latin typeface="Google Sans"/>
                <a:ea typeface="+mn-ea"/>
                <a:cs typeface="+mn-cs"/>
              </a:rPr>
              <a:t>Rebalancing: </a:t>
            </a:r>
            <a:r>
              <a:rPr lang="en-US" sz="1500" dirty="0">
                <a:solidFill>
                  <a:schemeClr val="accent6"/>
                </a:solidFill>
                <a:latin typeface="Google Sans"/>
                <a:ea typeface="+mn-ea"/>
                <a:cs typeface="+mn-cs"/>
              </a:rPr>
              <a:t>Redistributing partitions when nodes are added or removed to ensure load balancing.</a:t>
            </a:r>
          </a:p>
          <a:p>
            <a:r>
              <a:rPr lang="en-US" sz="1500" dirty="0">
                <a:solidFill>
                  <a:schemeClr val="accent2"/>
                </a:solidFill>
                <a:latin typeface="Google Sans"/>
                <a:ea typeface="+mn-ea"/>
                <a:cs typeface="+mn-cs"/>
              </a:rPr>
              <a:t>Backpressure: </a:t>
            </a:r>
            <a:r>
              <a:rPr lang="en-US" sz="1500" dirty="0">
                <a:solidFill>
                  <a:schemeClr val="accent6"/>
                </a:solidFill>
                <a:latin typeface="Google Sans"/>
                <a:ea typeface="+mn-ea"/>
                <a:cs typeface="+mn-cs"/>
              </a:rPr>
              <a:t>A crucial mechanism where slow consumers notify producers to slow down, preventing memory overflow. </a:t>
            </a:r>
          </a:p>
          <a:p>
            <a:endParaRPr lang="en-US" sz="1500" dirty="0">
              <a:solidFill>
                <a:schemeClr val="accent6"/>
              </a:solidFill>
              <a:latin typeface="Google Sans"/>
              <a:ea typeface="+mn-ea"/>
              <a:cs typeface="+mn-cs"/>
            </a:endParaRPr>
          </a:p>
          <a:p>
            <a:r>
              <a:rPr lang="en-US" sz="2000" dirty="0">
                <a:solidFill>
                  <a:schemeClr val="accent2"/>
                </a:solidFill>
                <a:latin typeface="Google Sans"/>
                <a:ea typeface="+mn-ea"/>
                <a:cs typeface="+mn-cs"/>
              </a:rPr>
              <a:t>Data Flow and Topologies</a:t>
            </a:r>
          </a:p>
          <a:p>
            <a:r>
              <a:rPr lang="en-US" sz="1500" dirty="0">
                <a:solidFill>
                  <a:schemeClr val="accent2"/>
                </a:solidFill>
                <a:latin typeface="Google Sans"/>
                <a:ea typeface="+mn-ea"/>
                <a:cs typeface="+mn-cs"/>
              </a:rPr>
              <a:t>Directed Acyclic Graph (DAG):</a:t>
            </a:r>
            <a:r>
              <a:rPr lang="en-US" sz="1500" dirty="0">
                <a:solidFill>
                  <a:schemeClr val="accent6"/>
                </a:solidFill>
                <a:latin typeface="Google Sans"/>
                <a:ea typeface="+mn-ea"/>
                <a:cs typeface="+mn-cs"/>
              </a:rPr>
              <a:t> Most stream processors define applications as DAGs, where nodes are operators (map, reduce, join) and edges are data streams.</a:t>
            </a:r>
          </a:p>
          <a:p>
            <a:r>
              <a:rPr lang="en-US" sz="1500" dirty="0">
                <a:solidFill>
                  <a:schemeClr val="accent2"/>
                </a:solidFill>
                <a:latin typeface="Google Sans"/>
                <a:ea typeface="+mn-ea"/>
                <a:cs typeface="+mn-cs"/>
              </a:rPr>
              <a:t>Source/Sink:</a:t>
            </a:r>
            <a:r>
              <a:rPr lang="en-US" sz="1500" dirty="0">
                <a:solidFill>
                  <a:schemeClr val="accent6"/>
                </a:solidFill>
                <a:latin typeface="Google Sans"/>
                <a:ea typeface="+mn-ea"/>
                <a:cs typeface="+mn-cs"/>
              </a:rPr>
              <a:t> Data producers (e.g., Kafka topic) are sources; data destinations (e.g., Database, S3) are sinks.</a:t>
            </a:r>
          </a:p>
          <a:p>
            <a:r>
              <a:rPr lang="en-US" sz="1500" dirty="0">
                <a:solidFill>
                  <a:schemeClr val="accent2"/>
                </a:solidFill>
                <a:latin typeface="Google Sans"/>
                <a:ea typeface="+mn-ea"/>
                <a:cs typeface="+mn-cs"/>
              </a:rPr>
              <a:t>Stream/Table Duality: </a:t>
            </a:r>
            <a:r>
              <a:rPr lang="en-US" sz="1500" dirty="0">
                <a:solidFill>
                  <a:schemeClr val="accent6"/>
                </a:solidFill>
                <a:latin typeface="Google Sans"/>
                <a:ea typeface="+mn-ea"/>
                <a:cs typeface="+mn-cs"/>
              </a:rPr>
              <a:t>The concept that a table is a snapshot of a stream at a point in time, and a stream is a log of changes to a table (used in Kappa Architecture). </a:t>
            </a:r>
          </a:p>
          <a:p>
            <a:endParaRPr lang="en-US" sz="1500" dirty="0">
              <a:solidFill>
                <a:schemeClr val="accent6"/>
              </a:solidFill>
              <a:latin typeface="Google Sans"/>
              <a:ea typeface="+mn-ea"/>
              <a:cs typeface="+mn-cs"/>
            </a:endParaRPr>
          </a:p>
          <a:p>
            <a:r>
              <a:rPr lang="en-US" sz="1500" dirty="0">
                <a:solidFill>
                  <a:schemeClr val="accent2"/>
                </a:solidFill>
                <a:latin typeface="Google Sans"/>
                <a:ea typeface="+mn-ea"/>
                <a:cs typeface="+mn-cs"/>
              </a:rPr>
              <a:t>Common Architectures</a:t>
            </a:r>
          </a:p>
          <a:p>
            <a:r>
              <a:rPr lang="en-US" sz="1500" dirty="0">
                <a:solidFill>
                  <a:schemeClr val="accent2"/>
                </a:solidFill>
                <a:latin typeface="Google Sans"/>
                <a:ea typeface="+mn-ea"/>
                <a:cs typeface="+mn-cs"/>
              </a:rPr>
              <a:t>Lambda Architecture:</a:t>
            </a:r>
            <a:r>
              <a:rPr lang="en-US" sz="1500" dirty="0">
                <a:solidFill>
                  <a:schemeClr val="accent6"/>
                </a:solidFill>
                <a:latin typeface="Google Sans"/>
                <a:ea typeface="+mn-ea"/>
                <a:cs typeface="+mn-cs"/>
              </a:rPr>
              <a:t> Uses a fast "speed layer" for real-time and a "batch layer" (like Hadoop) for accurate, historical data.</a:t>
            </a:r>
          </a:p>
          <a:p>
            <a:r>
              <a:rPr lang="en-US" sz="1500" dirty="0">
                <a:solidFill>
                  <a:schemeClr val="accent2"/>
                </a:solidFill>
                <a:latin typeface="Google Sans"/>
                <a:ea typeface="+mn-ea"/>
                <a:cs typeface="+mn-cs"/>
              </a:rPr>
              <a:t>Kappa Architecture: </a:t>
            </a:r>
            <a:r>
              <a:rPr lang="en-US" sz="1500" dirty="0">
                <a:solidFill>
                  <a:schemeClr val="accent6"/>
                </a:solidFill>
                <a:latin typeface="Google Sans"/>
                <a:ea typeface="+mn-ea"/>
                <a:cs typeface="+mn-cs"/>
              </a:rPr>
              <a:t>A modern approach that removes the batch layer and processes everything through a single, high-throughput stream processor. </a:t>
            </a:r>
          </a:p>
        </p:txBody>
      </p:sp>
    </p:spTree>
    <p:extLst>
      <p:ext uri="{BB962C8B-B14F-4D97-AF65-F5344CB8AC3E}">
        <p14:creationId xmlns:p14="http://schemas.microsoft.com/office/powerpoint/2010/main" val="1329433717"/>
      </p:ext>
    </p:extLst>
  </p:cSld>
  <p:clrMapOvr>
    <a:masterClrMapping/>
  </p:clrMapOvr>
</p:sld>
</file>

<file path=ppt/slides/slide5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69738-B4AE-6B41-732B-03592538E0C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CBDED83-9813-A315-BB87-7E480A238EC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87170A2-14B1-C3A0-82AA-4E0BBE89A25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C6FE2FA6-B891-0C44-CE5A-73B4A6EDDA4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E5A3AB0F-E229-0457-C85D-65E1D918644A}"/>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CF1FA287-A2CF-5483-14A3-757F64BD047C}"/>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6557EAE2-E534-6100-D2AA-3E415821F9DA}"/>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a:t>
              </a:r>
              <a:r>
                <a:rPr lang="en-US" sz="2500" b="1" dirty="0"/>
                <a:t>Streaming</a:t>
              </a:r>
              <a:endParaRPr lang="en-US" sz="2500" kern="1200" dirty="0">
                <a:solidFill>
                  <a:schemeClr val="bg1"/>
                </a:solidFill>
              </a:endParaRPr>
            </a:p>
          </p:txBody>
        </p:sp>
      </p:grpSp>
      <p:sp>
        <p:nvSpPr>
          <p:cNvPr id="13" name="object 2">
            <a:extLst>
              <a:ext uri="{FF2B5EF4-FFF2-40B4-BE49-F238E27FC236}">
                <a16:creationId xmlns:a16="http://schemas.microsoft.com/office/drawing/2014/main" id="{81B91B1B-5326-7A80-5715-D9A6187A0D5B}"/>
              </a:ext>
            </a:extLst>
          </p:cNvPr>
          <p:cNvSpPr txBox="1">
            <a:spLocks/>
          </p:cNvSpPr>
          <p:nvPr/>
        </p:nvSpPr>
        <p:spPr>
          <a:xfrm>
            <a:off x="44911" y="704612"/>
            <a:ext cx="9168589" cy="146193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Emerging Trends and Optimization</a:t>
            </a:r>
          </a:p>
          <a:p>
            <a:r>
              <a:rPr lang="en-US" sz="1500" dirty="0">
                <a:solidFill>
                  <a:schemeClr val="accent2"/>
                </a:solidFill>
                <a:latin typeface="Google Sans"/>
                <a:ea typeface="+mn-ea"/>
                <a:cs typeface="+mn-cs"/>
              </a:rPr>
              <a:t>Streaming SQL: </a:t>
            </a:r>
            <a:r>
              <a:rPr lang="en-US" sz="1500" dirty="0">
                <a:solidFill>
                  <a:schemeClr val="accent6"/>
                </a:solidFill>
                <a:latin typeface="Google Sans"/>
                <a:ea typeface="+mn-ea"/>
                <a:cs typeface="+mn-cs"/>
              </a:rPr>
              <a:t>Allowing SQL queries to run on unbounded streams (e.g., Flink SQL, KSQL).</a:t>
            </a:r>
          </a:p>
          <a:p>
            <a:r>
              <a:rPr lang="en-US" sz="1500" dirty="0">
                <a:solidFill>
                  <a:schemeClr val="accent2"/>
                </a:solidFill>
                <a:latin typeface="Google Sans"/>
                <a:ea typeface="+mn-ea"/>
                <a:cs typeface="+mn-cs"/>
              </a:rPr>
              <a:t>Edge Streaming:</a:t>
            </a:r>
            <a:r>
              <a:rPr lang="en-US" sz="1500" dirty="0">
                <a:solidFill>
                  <a:schemeClr val="accent6"/>
                </a:solidFill>
                <a:latin typeface="Google Sans"/>
                <a:ea typeface="+mn-ea"/>
                <a:cs typeface="+mn-cs"/>
              </a:rPr>
              <a:t> Processing data closer to the source (IoT devices) to reduce latency.</a:t>
            </a:r>
          </a:p>
          <a:p>
            <a:r>
              <a:rPr lang="en-US" sz="1500" dirty="0">
                <a:solidFill>
                  <a:schemeClr val="accent2"/>
                </a:solidFill>
                <a:latin typeface="Google Sans"/>
                <a:ea typeface="+mn-ea"/>
                <a:cs typeface="+mn-cs"/>
              </a:rPr>
              <a:t>Serverless Streaming: </a:t>
            </a:r>
            <a:r>
              <a:rPr lang="en-US" sz="1500" dirty="0">
                <a:solidFill>
                  <a:schemeClr val="accent6"/>
                </a:solidFill>
                <a:latin typeface="Google Sans"/>
                <a:ea typeface="+mn-ea"/>
                <a:cs typeface="+mn-cs"/>
              </a:rPr>
              <a:t>Managed services that </a:t>
            </a:r>
            <a:r>
              <a:rPr lang="en-US" sz="1500" dirty="0" err="1">
                <a:solidFill>
                  <a:schemeClr val="accent6"/>
                </a:solidFill>
                <a:latin typeface="Google Sans"/>
                <a:ea typeface="+mn-ea"/>
                <a:cs typeface="+mn-cs"/>
              </a:rPr>
              <a:t>autoscale</a:t>
            </a:r>
            <a:r>
              <a:rPr lang="en-US" sz="1500" dirty="0">
                <a:solidFill>
                  <a:schemeClr val="accent6"/>
                </a:solidFill>
                <a:latin typeface="Google Sans"/>
                <a:ea typeface="+mn-ea"/>
                <a:cs typeface="+mn-cs"/>
              </a:rPr>
              <a:t> resources based on traffic.</a:t>
            </a:r>
          </a:p>
          <a:p>
            <a:r>
              <a:rPr lang="en-US" sz="1500" dirty="0">
                <a:solidFill>
                  <a:schemeClr val="accent2"/>
                </a:solidFill>
                <a:latin typeface="Google Sans"/>
                <a:ea typeface="+mn-ea"/>
                <a:cs typeface="+mn-cs"/>
              </a:rPr>
              <a:t>WASM (</a:t>
            </a:r>
            <a:r>
              <a:rPr lang="en-US" sz="1500" dirty="0" err="1">
                <a:solidFill>
                  <a:schemeClr val="accent2"/>
                </a:solidFill>
                <a:latin typeface="Google Sans"/>
                <a:ea typeface="+mn-ea"/>
                <a:cs typeface="+mn-cs"/>
              </a:rPr>
              <a:t>WebAssembly</a:t>
            </a:r>
            <a:r>
              <a:rPr lang="en-US" sz="1500" dirty="0">
                <a:solidFill>
                  <a:schemeClr val="accent2"/>
                </a:solidFill>
                <a:latin typeface="Google Sans"/>
                <a:ea typeface="+mn-ea"/>
                <a:cs typeface="+mn-cs"/>
              </a:rPr>
              <a:t>): </a:t>
            </a:r>
            <a:r>
              <a:rPr lang="en-US" sz="1500" dirty="0">
                <a:solidFill>
                  <a:schemeClr val="accent6"/>
                </a:solidFill>
                <a:latin typeface="Google Sans"/>
                <a:ea typeface="+mn-ea"/>
                <a:cs typeface="+mn-cs"/>
              </a:rPr>
              <a:t>Used for sandboxing user-defined functions within the stream engine for safety and performance. </a:t>
            </a:r>
          </a:p>
        </p:txBody>
      </p:sp>
      <p:pic>
        <p:nvPicPr>
          <p:cNvPr id="6" name="Picture 5">
            <a:extLst>
              <a:ext uri="{FF2B5EF4-FFF2-40B4-BE49-F238E27FC236}">
                <a16:creationId xmlns:a16="http://schemas.microsoft.com/office/drawing/2014/main" id="{891FE675-853F-1C54-A3BD-ADFE48F43B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440" y="2166551"/>
            <a:ext cx="8895160" cy="1795849"/>
          </a:xfrm>
          <a:prstGeom prst="rect">
            <a:avLst/>
          </a:prstGeom>
        </p:spPr>
      </p:pic>
      <p:sp>
        <p:nvSpPr>
          <p:cNvPr id="10" name="object 2">
            <a:extLst>
              <a:ext uri="{FF2B5EF4-FFF2-40B4-BE49-F238E27FC236}">
                <a16:creationId xmlns:a16="http://schemas.microsoft.com/office/drawing/2014/main" id="{29226FA3-0E00-2EB2-98BD-15B828C53AA7}"/>
              </a:ext>
            </a:extLst>
          </p:cNvPr>
          <p:cNvSpPr txBox="1">
            <a:spLocks/>
          </p:cNvSpPr>
          <p:nvPr/>
        </p:nvSpPr>
        <p:spPr>
          <a:xfrm>
            <a:off x="51611" y="4481661"/>
            <a:ext cx="9168589" cy="146193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Emerging Trends and Optimization</a:t>
            </a:r>
          </a:p>
          <a:p>
            <a:r>
              <a:rPr lang="en-US" sz="1500" dirty="0">
                <a:solidFill>
                  <a:schemeClr val="accent2"/>
                </a:solidFill>
                <a:latin typeface="Google Sans"/>
                <a:ea typeface="+mn-ea"/>
                <a:cs typeface="+mn-cs"/>
              </a:rPr>
              <a:t>Streaming SQL: </a:t>
            </a:r>
            <a:r>
              <a:rPr lang="en-US" sz="1500" dirty="0">
                <a:solidFill>
                  <a:schemeClr val="accent6"/>
                </a:solidFill>
                <a:latin typeface="Google Sans"/>
                <a:ea typeface="+mn-ea"/>
                <a:cs typeface="+mn-cs"/>
              </a:rPr>
              <a:t>Allowing SQL queries to run on unbounded streams (e.g., Flink SQL, KSQL).</a:t>
            </a:r>
          </a:p>
          <a:p>
            <a:r>
              <a:rPr lang="en-US" sz="1500" dirty="0">
                <a:solidFill>
                  <a:schemeClr val="accent2"/>
                </a:solidFill>
                <a:latin typeface="Google Sans"/>
                <a:ea typeface="+mn-ea"/>
                <a:cs typeface="+mn-cs"/>
              </a:rPr>
              <a:t>Edge Streaming:</a:t>
            </a:r>
            <a:r>
              <a:rPr lang="en-US" sz="1500" dirty="0">
                <a:solidFill>
                  <a:schemeClr val="accent6"/>
                </a:solidFill>
                <a:latin typeface="Google Sans"/>
                <a:ea typeface="+mn-ea"/>
                <a:cs typeface="+mn-cs"/>
              </a:rPr>
              <a:t> Processing data closer to the source (IoT devices) to reduce latency.</a:t>
            </a:r>
          </a:p>
          <a:p>
            <a:r>
              <a:rPr lang="en-US" sz="1500" dirty="0">
                <a:solidFill>
                  <a:schemeClr val="accent2"/>
                </a:solidFill>
                <a:latin typeface="Google Sans"/>
                <a:ea typeface="+mn-ea"/>
                <a:cs typeface="+mn-cs"/>
              </a:rPr>
              <a:t>Serverless Streaming: </a:t>
            </a:r>
            <a:r>
              <a:rPr lang="en-US" sz="1500" dirty="0">
                <a:solidFill>
                  <a:schemeClr val="accent6"/>
                </a:solidFill>
                <a:latin typeface="Google Sans"/>
                <a:ea typeface="+mn-ea"/>
                <a:cs typeface="+mn-cs"/>
              </a:rPr>
              <a:t>Managed services that </a:t>
            </a:r>
            <a:r>
              <a:rPr lang="en-US" sz="1500" dirty="0" err="1">
                <a:solidFill>
                  <a:schemeClr val="accent6"/>
                </a:solidFill>
                <a:latin typeface="Google Sans"/>
                <a:ea typeface="+mn-ea"/>
                <a:cs typeface="+mn-cs"/>
              </a:rPr>
              <a:t>autoscale</a:t>
            </a:r>
            <a:r>
              <a:rPr lang="en-US" sz="1500" dirty="0">
                <a:solidFill>
                  <a:schemeClr val="accent6"/>
                </a:solidFill>
                <a:latin typeface="Google Sans"/>
                <a:ea typeface="+mn-ea"/>
                <a:cs typeface="+mn-cs"/>
              </a:rPr>
              <a:t> resources based on traffic.</a:t>
            </a:r>
          </a:p>
          <a:p>
            <a:r>
              <a:rPr lang="en-US" sz="1500" dirty="0">
                <a:solidFill>
                  <a:schemeClr val="accent2"/>
                </a:solidFill>
                <a:latin typeface="Google Sans"/>
                <a:ea typeface="+mn-ea"/>
                <a:cs typeface="+mn-cs"/>
              </a:rPr>
              <a:t>WASM (</a:t>
            </a:r>
            <a:r>
              <a:rPr lang="en-US" sz="1500" dirty="0" err="1">
                <a:solidFill>
                  <a:schemeClr val="accent2"/>
                </a:solidFill>
                <a:latin typeface="Google Sans"/>
                <a:ea typeface="+mn-ea"/>
                <a:cs typeface="+mn-cs"/>
              </a:rPr>
              <a:t>WebAssembly</a:t>
            </a:r>
            <a:r>
              <a:rPr lang="en-US" sz="1500" dirty="0">
                <a:solidFill>
                  <a:schemeClr val="accent2"/>
                </a:solidFill>
                <a:latin typeface="Google Sans"/>
                <a:ea typeface="+mn-ea"/>
                <a:cs typeface="+mn-cs"/>
              </a:rPr>
              <a:t>): </a:t>
            </a:r>
            <a:r>
              <a:rPr lang="en-US" sz="1500" dirty="0">
                <a:solidFill>
                  <a:schemeClr val="accent6"/>
                </a:solidFill>
                <a:latin typeface="Google Sans"/>
                <a:ea typeface="+mn-ea"/>
                <a:cs typeface="+mn-cs"/>
              </a:rPr>
              <a:t>Used for sandboxing user-defined functions within the stream engine for safety and performance. </a:t>
            </a:r>
          </a:p>
        </p:txBody>
      </p:sp>
    </p:spTree>
    <p:extLst>
      <p:ext uri="{BB962C8B-B14F-4D97-AF65-F5344CB8AC3E}">
        <p14:creationId xmlns:p14="http://schemas.microsoft.com/office/powerpoint/2010/main" val="236801023"/>
      </p:ext>
    </p:extLst>
  </p:cSld>
  <p:clrMapOvr>
    <a:masterClrMapping/>
  </p:clrMapOvr>
</p:sld>
</file>

<file path=ppt/slides/slide5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7F5B3-9737-C5AE-8F77-075DC546EB6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F42635C-18ED-73BE-22C8-F1C247193E6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48D2A80-85F4-D739-EBB1-D651CD4C95F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2" name="object 2">
            <a:extLst>
              <a:ext uri="{FF2B5EF4-FFF2-40B4-BE49-F238E27FC236}">
                <a16:creationId xmlns:a16="http://schemas.microsoft.com/office/drawing/2014/main" id="{5F308818-449B-D78B-D5F7-957286514E3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grpSp>
        <p:nvGrpSpPr>
          <p:cNvPr id="7" name="Group 6">
            <a:extLst>
              <a:ext uri="{FF2B5EF4-FFF2-40B4-BE49-F238E27FC236}">
                <a16:creationId xmlns:a16="http://schemas.microsoft.com/office/drawing/2014/main" id="{32E23014-5EEF-9B39-5E8A-5BEAFE5D5DD4}"/>
              </a:ext>
            </a:extLst>
          </p:cNvPr>
          <p:cNvGrpSpPr/>
          <p:nvPr/>
        </p:nvGrpSpPr>
        <p:grpSpPr>
          <a:xfrm>
            <a:off x="20320" y="-30047"/>
            <a:ext cx="9123680" cy="481253"/>
            <a:chOff x="0" y="0"/>
            <a:chExt cx="8716300" cy="481253"/>
          </a:xfrm>
        </p:grpSpPr>
        <p:sp>
          <p:nvSpPr>
            <p:cNvPr id="8" name="Rectangle: Rounded Corners 7">
              <a:extLst>
                <a:ext uri="{FF2B5EF4-FFF2-40B4-BE49-F238E27FC236}">
                  <a16:creationId xmlns:a16="http://schemas.microsoft.com/office/drawing/2014/main" id="{0372C713-9A58-F7F8-E9B2-2E5B2B77B29F}"/>
                </a:ext>
              </a:extLst>
            </p:cNvPr>
            <p:cNvSpPr/>
            <p:nvPr/>
          </p:nvSpPr>
          <p:spPr>
            <a:xfrm>
              <a:off x="0" y="0"/>
              <a:ext cx="8716300" cy="481253"/>
            </a:xfrm>
            <a:prstGeom prst="roundRect">
              <a:avLst/>
            </a:prstGeom>
          </p:spPr>
          <p:style>
            <a:lnRef idx="2">
              <a:schemeClr val="lt1">
                <a:hueOff val="0"/>
                <a:satOff val="0"/>
                <a:lumOff val="0"/>
                <a:alphaOff val="0"/>
              </a:schemeClr>
            </a:lnRef>
            <a:fillRef idx="1">
              <a:schemeClr val="accent6">
                <a:hueOff val="0"/>
                <a:satOff val="0"/>
                <a:lumOff val="0"/>
                <a:alphaOff val="0"/>
              </a:schemeClr>
            </a:fillRef>
            <a:effectRef idx="0">
              <a:schemeClr val="accent6">
                <a:hueOff val="0"/>
                <a:satOff val="0"/>
                <a:lumOff val="0"/>
                <a:alphaOff val="0"/>
              </a:schemeClr>
            </a:effectRef>
            <a:fontRef idx="minor">
              <a:schemeClr val="lt1"/>
            </a:fontRef>
          </p:style>
          <p:txBody>
            <a:bodyPr/>
            <a:lstStyle/>
            <a:p>
              <a:endParaRPr lang="en-IN"/>
            </a:p>
          </p:txBody>
        </p:sp>
        <p:sp>
          <p:nvSpPr>
            <p:cNvPr id="9" name="Rectangle: Rounded Corners 4">
              <a:extLst>
                <a:ext uri="{FF2B5EF4-FFF2-40B4-BE49-F238E27FC236}">
                  <a16:creationId xmlns:a16="http://schemas.microsoft.com/office/drawing/2014/main" id="{A749F1DC-B638-D921-FBC4-DF720E3B87FB}"/>
                </a:ext>
              </a:extLst>
            </p:cNvPr>
            <p:cNvSpPr txBox="1"/>
            <p:nvPr/>
          </p:nvSpPr>
          <p:spPr>
            <a:xfrm>
              <a:off x="23493" y="23493"/>
              <a:ext cx="8669314" cy="43426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b="1" i="0" kern="1200" dirty="0"/>
                <a:t>Distributed </a:t>
              </a:r>
              <a:r>
                <a:rPr lang="en-US" sz="2500" b="1" dirty="0"/>
                <a:t>Streaming</a:t>
              </a:r>
              <a:endParaRPr lang="en-US" sz="2500" kern="1200" dirty="0">
                <a:solidFill>
                  <a:schemeClr val="bg1"/>
                </a:solidFill>
              </a:endParaRPr>
            </a:p>
          </p:txBody>
        </p:sp>
      </p:grpSp>
      <p:sp>
        <p:nvSpPr>
          <p:cNvPr id="13" name="object 2">
            <a:extLst>
              <a:ext uri="{FF2B5EF4-FFF2-40B4-BE49-F238E27FC236}">
                <a16:creationId xmlns:a16="http://schemas.microsoft.com/office/drawing/2014/main" id="{14DBB201-34F6-D7EE-7E72-DBC7164EB3EC}"/>
              </a:ext>
            </a:extLst>
          </p:cNvPr>
          <p:cNvSpPr txBox="1">
            <a:spLocks/>
          </p:cNvSpPr>
          <p:nvPr/>
        </p:nvSpPr>
        <p:spPr>
          <a:xfrm>
            <a:off x="44911" y="704612"/>
            <a:ext cx="9168589" cy="15388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For Further Exploration</a:t>
            </a:r>
          </a:p>
          <a:p>
            <a:r>
              <a:rPr lang="en-US" sz="2000" dirty="0">
                <a:hlinkClick r:id="rId2"/>
              </a:rPr>
              <a:t>Batch vs. streaming data processing</a:t>
            </a:r>
            <a:endParaRPr lang="en-US" sz="2000" dirty="0">
              <a:solidFill>
                <a:schemeClr val="accent2"/>
              </a:solidFill>
              <a:latin typeface="Google Sans"/>
            </a:endParaRPr>
          </a:p>
          <a:p>
            <a:r>
              <a:rPr lang="en-US" sz="2000" dirty="0">
                <a:hlinkClick r:id="rId3"/>
              </a:rPr>
              <a:t>Streaming 102: The world beyond batch – O’Reilly</a:t>
            </a:r>
            <a:endParaRPr lang="en-US" sz="2000" dirty="0"/>
          </a:p>
          <a:p>
            <a:r>
              <a:rPr lang="en-US" sz="2000" dirty="0">
                <a:hlinkClick r:id="rId4"/>
              </a:rPr>
              <a:t>Awesome-streaming</a:t>
            </a:r>
            <a:endParaRPr lang="en-US" sz="2000" dirty="0"/>
          </a:p>
          <a:p>
            <a:r>
              <a:rPr lang="en-IN" sz="2000" dirty="0">
                <a:hlinkClick r:id="rId5"/>
              </a:rPr>
              <a:t>Streaming Protocols</a:t>
            </a:r>
            <a:endParaRPr lang="en-US" sz="2000" dirty="0">
              <a:solidFill>
                <a:schemeClr val="accent2"/>
              </a:solidFill>
              <a:latin typeface="Google Sans"/>
              <a:ea typeface="+mn-ea"/>
              <a:cs typeface="+mn-cs"/>
            </a:endParaRPr>
          </a:p>
        </p:txBody>
      </p:sp>
    </p:spTree>
    <p:extLst>
      <p:ext uri="{BB962C8B-B14F-4D97-AF65-F5344CB8AC3E}">
        <p14:creationId xmlns:p14="http://schemas.microsoft.com/office/powerpoint/2010/main" val="3684214324"/>
      </p:ext>
    </p:extLst>
  </p:cSld>
  <p:clrMapOvr>
    <a:masterClrMapping/>
  </p:clrMapOvr>
</p:sld>
</file>

<file path=ppt/slides/slide5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41063-66C1-D521-CD6A-663198A3BA0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B2973A9-BD7B-A96F-8154-B590F75BFFA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FD9A374-5350-F8B7-4C50-853D0E31BB8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2A713A7-0E8E-1379-9971-D35C520E07F6}"/>
              </a:ext>
            </a:extLst>
          </p:cNvPr>
          <p:cNvGraphicFramePr/>
          <p:nvPr>
            <p:extLst>
              <p:ext uri="{D42A27DB-BD31-4B8C-83A1-F6EECF244321}">
                <p14:modId xmlns:p14="http://schemas.microsoft.com/office/powerpoint/2010/main" val="1099905604"/>
              </p:ext>
            </p:extLst>
          </p:nvPr>
        </p:nvGraphicFramePr>
        <p:xfrm>
          <a:off x="199099" y="34425"/>
          <a:ext cx="8915399" cy="38403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F87F2121-6E08-F3DA-97D4-61114B52FE4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046B161-6E2A-D7B2-89CC-1139510B0F0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61CF1E0-6BCF-56D3-A969-BF787FE390E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670E0CD-27A4-190F-2E3B-CB240F849A99}"/>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BFF46334-F0C7-1E90-98F1-5CA82A8C22E3}"/>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3190F1F5-DF12-96CE-A6C0-AD21E462E72A}"/>
              </a:ext>
            </a:extLst>
          </p:cNvPr>
          <p:cNvSpPr txBox="1">
            <a:spLocks/>
          </p:cNvSpPr>
          <p:nvPr/>
        </p:nvSpPr>
        <p:spPr>
          <a:xfrm>
            <a:off x="259531" y="712232"/>
            <a:ext cx="8624937"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IN" sz="1950" kern="0" spc="-80" dirty="0">
                <a:solidFill>
                  <a:schemeClr val="accent6"/>
                </a:solidFill>
              </a:rPr>
              <a:t>Impedance mismatch means some form of mismatch between source(s) and destination(s) happening like - </a:t>
            </a:r>
          </a:p>
          <a:p>
            <a:r>
              <a:rPr lang="en-IN" sz="1950" kern="0" spc="-80" dirty="0">
                <a:solidFill>
                  <a:schemeClr val="accent2"/>
                </a:solidFill>
              </a:rPr>
              <a:t>Transformations</a:t>
            </a:r>
            <a:r>
              <a:rPr lang="en-IN" sz="1950" kern="0" spc="-80" dirty="0">
                <a:solidFill>
                  <a:schemeClr val="accent6"/>
                </a:solidFill>
              </a:rPr>
              <a:t> – T in ETL tries to match the source data format to the destination using some form of transformation. Similarly ORM tries to match the object world with the relational world.</a:t>
            </a:r>
          </a:p>
          <a:p>
            <a:r>
              <a:rPr lang="en-IN" sz="1950" kern="0" spc="-80" dirty="0">
                <a:solidFill>
                  <a:schemeClr val="accent2"/>
                </a:solidFill>
              </a:rPr>
              <a:t>Client(s) &amp; Server(s) Interactions – </a:t>
            </a:r>
            <a:r>
              <a:rPr lang="en-IN" sz="1950" kern="0" spc="-80" dirty="0">
                <a:solidFill>
                  <a:schemeClr val="accent6"/>
                </a:solidFill>
              </a:rPr>
              <a:t>Both clients and servers(DBs or APIs or SB Topics/Queues) in general needs scaling at thread or core or machine level so that both matches as much as possible without any impedance. Similar requirements are there for Availability. Also Connection pools, Timeouts at clients &amp; </a:t>
            </a:r>
            <a:r>
              <a:rPr lang="en-IN" sz="1950" kern="0" spc="-80" dirty="0" err="1">
                <a:solidFill>
                  <a:schemeClr val="accent6"/>
                </a:solidFill>
              </a:rPr>
              <a:t>RateLimits</a:t>
            </a:r>
            <a:r>
              <a:rPr lang="en-IN" sz="1950" kern="0" spc="-80" dirty="0">
                <a:solidFill>
                  <a:schemeClr val="accent6"/>
                </a:solidFill>
              </a:rPr>
              <a:t>(Throughput/Latency/Batch Sizes/Quotas) at servers can create such impedance mismatches w.r.t time, volume etc. </a:t>
            </a:r>
            <a:r>
              <a:rPr lang="en-IN" sz="1950" kern="0" spc="-80" dirty="0" err="1">
                <a:solidFill>
                  <a:schemeClr val="accent6"/>
                </a:solidFill>
              </a:rPr>
              <a:t>Infact</a:t>
            </a:r>
            <a:r>
              <a:rPr lang="en-IN" sz="1950" kern="0" spc="-80" dirty="0">
                <a:solidFill>
                  <a:schemeClr val="accent6"/>
                </a:solidFill>
              </a:rPr>
              <a:t>, most “Vs of Big Data” needs rectification of some sort w.r.t Impedance Mismatch. </a:t>
            </a:r>
          </a:p>
          <a:p>
            <a:r>
              <a:rPr lang="en-US" sz="1950" kern="0" spc="-80" dirty="0">
                <a:solidFill>
                  <a:schemeClr val="accent6"/>
                </a:solidFill>
              </a:rPr>
              <a:t>Sometimes an explicit intermediary component needs to be introduced in between client(s) &amp; server(s) to mitigate impedance mismatch like e.g. </a:t>
            </a:r>
            <a:r>
              <a:rPr lang="en-US" sz="1950" dirty="0">
                <a:hlinkClick r:id="rId8"/>
              </a:rPr>
              <a:t>Queue-Based Load Leveling pattern</a:t>
            </a:r>
            <a:endParaRPr lang="en-US" sz="1950" kern="0" spc="-80" dirty="0">
              <a:solidFill>
                <a:schemeClr val="accent6"/>
              </a:solidFill>
            </a:endParaRPr>
          </a:p>
        </p:txBody>
      </p:sp>
    </p:spTree>
    <p:extLst>
      <p:ext uri="{BB962C8B-B14F-4D97-AF65-F5344CB8AC3E}">
        <p14:creationId xmlns:p14="http://schemas.microsoft.com/office/powerpoint/2010/main" val="1445929223"/>
      </p:ext>
    </p:extLst>
  </p:cSld>
  <p:clrMapOvr>
    <a:masterClrMapping/>
  </p:clrMapOvr>
</p:sld>
</file>

<file path=ppt/slides/slide5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3F02D-9C4B-6F46-A48D-9D018085C55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C8C4DC9-EB70-A69C-8DF4-F9DA5805965C}"/>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64CA2BB-0BB1-0DDB-D38A-1512C654EEEA}"/>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6AC858A-F911-A9A1-6C44-5D3722B94E15}"/>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33021D5D-2E3A-6060-E18C-C4079E866FA3}"/>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204A4A68-32FC-9162-5433-32E3786F77E3}"/>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304B7D5B-2EDD-64EF-17E2-826BF30EF770}"/>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520EB72D-97C9-1279-61B7-7120A272C1B1}"/>
              </a:ext>
            </a:extLst>
          </p:cNvPr>
          <p:cNvSpPr txBox="1">
            <a:spLocks/>
          </p:cNvSpPr>
          <p:nvPr/>
        </p:nvSpPr>
        <p:spPr>
          <a:xfrm>
            <a:off x="55803" y="774902"/>
            <a:ext cx="8624937" cy="515525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For Further Exploration(in General)</a:t>
            </a:r>
          </a:p>
          <a:p>
            <a:r>
              <a:rPr lang="en-IN" sz="1500" dirty="0">
                <a:hlinkClick r:id="rId7"/>
              </a:rPr>
              <a:t>Understanding Distributed Systems</a:t>
            </a:r>
            <a:endParaRPr lang="en-IN" sz="1500" dirty="0"/>
          </a:p>
          <a:p>
            <a:r>
              <a:rPr lang="en-US" sz="1500" dirty="0">
                <a:hlinkClick r:id="rId8"/>
              </a:rPr>
              <a:t>System Design Interview: An insider's guide – 2 Volume Set</a:t>
            </a:r>
            <a:endParaRPr lang="en-US" sz="1500" dirty="0"/>
          </a:p>
          <a:p>
            <a:r>
              <a:rPr lang="en-US" sz="1500" dirty="0">
                <a:hlinkClick r:id="rId9"/>
              </a:rPr>
              <a:t>Designing High-Performance Distributed Systems</a:t>
            </a:r>
            <a:endParaRPr lang="en-US" sz="1500" dirty="0"/>
          </a:p>
          <a:p>
            <a:r>
              <a:rPr lang="en-IN" sz="1500" dirty="0">
                <a:hlinkClick r:id="rId10"/>
              </a:rPr>
              <a:t>High Scalability</a:t>
            </a:r>
            <a:endParaRPr lang="en-US" sz="1500" dirty="0">
              <a:solidFill>
                <a:schemeClr val="accent2"/>
              </a:solidFill>
              <a:latin typeface="Google Sans"/>
              <a:ea typeface="+mn-ea"/>
              <a:cs typeface="+mn-cs"/>
            </a:endParaRPr>
          </a:p>
          <a:p>
            <a:r>
              <a:rPr lang="en-US" sz="1500" dirty="0">
                <a:hlinkClick r:id="rId11"/>
              </a:rPr>
              <a:t>Distributed Systems 4th edition</a:t>
            </a:r>
            <a:endParaRPr lang="en-US" sz="1500" dirty="0"/>
          </a:p>
          <a:p>
            <a:r>
              <a:rPr lang="en-IN" sz="1500" dirty="0">
                <a:hlinkClick r:id="rId12"/>
              </a:rPr>
              <a:t>Distributed Systems: Concepts and Design</a:t>
            </a:r>
            <a:endParaRPr lang="en-US" sz="1500" dirty="0">
              <a:solidFill>
                <a:schemeClr val="accent2"/>
              </a:solidFill>
              <a:latin typeface="Google Sans"/>
            </a:endParaRPr>
          </a:p>
          <a:p>
            <a:r>
              <a:rPr lang="en-US" sz="1500" dirty="0">
                <a:hlinkClick r:id="rId13"/>
              </a:rPr>
              <a:t>Cloud and Distributed Computing : Algorithms and Systems</a:t>
            </a:r>
          </a:p>
          <a:p>
            <a:r>
              <a:rPr lang="en-US" sz="1500" dirty="0">
                <a:hlinkClick r:id="rId13"/>
              </a:rPr>
              <a:t>Distributed Systems: 6 Must read books</a:t>
            </a:r>
            <a:endParaRPr lang="en-US" sz="1500" dirty="0"/>
          </a:p>
          <a:p>
            <a:r>
              <a:rPr lang="en-US" sz="1500" dirty="0">
                <a:hlinkClick r:id="rId14"/>
              </a:rPr>
              <a:t>Patterns Of Distributed Systems Summary</a:t>
            </a:r>
            <a:endParaRPr lang="en-US" sz="1500" dirty="0"/>
          </a:p>
          <a:p>
            <a:r>
              <a:rPr lang="en-IN" sz="1500" dirty="0">
                <a:hlinkClick r:id="rId15"/>
              </a:rPr>
              <a:t>Database Internals</a:t>
            </a:r>
            <a:endParaRPr lang="en-IN" sz="1500" dirty="0"/>
          </a:p>
          <a:p>
            <a:r>
              <a:rPr lang="en-IN" sz="1500" dirty="0">
                <a:hlinkClick r:id="rId16"/>
              </a:rPr>
              <a:t>Distributed Algorithms</a:t>
            </a:r>
            <a:endParaRPr lang="en-US" sz="1500" dirty="0"/>
          </a:p>
          <a:p>
            <a:r>
              <a:rPr lang="en-US" sz="1500" dirty="0">
                <a:hlinkClick r:id="rId17"/>
              </a:rPr>
              <a:t>Distributed Computing: Principles, Algorithms, and Systems</a:t>
            </a:r>
            <a:endParaRPr lang="en-US" sz="1500" dirty="0"/>
          </a:p>
          <a:p>
            <a:r>
              <a:rPr lang="en-US" sz="1500" dirty="0">
                <a:hlinkClick r:id="rId18"/>
              </a:rPr>
              <a:t>System-design-101</a:t>
            </a:r>
            <a:endParaRPr lang="en-US" sz="1500" dirty="0"/>
          </a:p>
          <a:p>
            <a:r>
              <a:rPr lang="en-IN" sz="1500" dirty="0">
                <a:hlinkClick r:id="rId19"/>
              </a:rPr>
              <a:t>System Design </a:t>
            </a:r>
            <a:r>
              <a:rPr lang="en-IN" sz="1500" dirty="0" err="1">
                <a:hlinkClick r:id="rId19"/>
              </a:rPr>
              <a:t>TradeOff</a:t>
            </a:r>
            <a:r>
              <a:rPr lang="en-IN" sz="1500" dirty="0">
                <a:hlinkClick r:id="rId19"/>
              </a:rPr>
              <a:t> Series | LinkedIn</a:t>
            </a:r>
            <a:endParaRPr lang="en-IN" sz="1500" dirty="0"/>
          </a:p>
          <a:p>
            <a:r>
              <a:rPr lang="en-IN" sz="1500" dirty="0">
                <a:hlinkClick r:id="rId20"/>
              </a:rPr>
              <a:t>System Design Blueprint: The Ultimate Guide</a:t>
            </a:r>
            <a:endParaRPr lang="en-US" sz="1500" dirty="0"/>
          </a:p>
          <a:p>
            <a:pPr marL="12700" marR="5080"/>
            <a:r>
              <a:rPr lang="en-US" sz="1500" dirty="0">
                <a:hlinkClick r:id="rId21"/>
              </a:rPr>
              <a:t>System Design at Google</a:t>
            </a:r>
            <a:endParaRPr lang="en-US" sz="1500" dirty="0"/>
          </a:p>
          <a:p>
            <a:pPr marL="12700" marR="5080"/>
            <a:r>
              <a:rPr lang="en-IN" sz="1500" dirty="0">
                <a:hlinkClick r:id="rId22"/>
              </a:rPr>
              <a:t>System Design Roadmap</a:t>
            </a:r>
            <a:endParaRPr lang="en-US" sz="1500" dirty="0"/>
          </a:p>
          <a:p>
            <a:pPr marL="12700" marR="5080"/>
            <a:r>
              <a:rPr lang="en-IN" sz="1500" dirty="0">
                <a:hlinkClick r:id="rId23"/>
              </a:rPr>
              <a:t>System Design Resources | LinkedIn</a:t>
            </a:r>
            <a:endParaRPr lang="en-US" sz="1500" dirty="0"/>
          </a:p>
          <a:p>
            <a:r>
              <a:rPr lang="en-US" sz="1500" dirty="0">
                <a:hlinkClick r:id="rId24"/>
              </a:rPr>
              <a:t>Awesome-System-Design-Resources</a:t>
            </a:r>
            <a:endParaRPr lang="en-US" sz="1500" dirty="0"/>
          </a:p>
          <a:p>
            <a:r>
              <a:rPr lang="en-US" sz="1500" dirty="0">
                <a:hlinkClick r:id="rId25"/>
              </a:rPr>
              <a:t>Awesome Distributed Systems</a:t>
            </a:r>
            <a:endParaRPr lang="en-US" sz="1500" dirty="0"/>
          </a:p>
          <a:p>
            <a:r>
              <a:rPr lang="en-US" sz="1500" dirty="0">
                <a:hlinkClick r:id="rId26"/>
              </a:rPr>
              <a:t>Awesome-System-Design</a:t>
            </a:r>
            <a:endParaRPr lang="en-US" sz="1500" dirty="0"/>
          </a:p>
        </p:txBody>
      </p:sp>
    </p:spTree>
    <p:extLst>
      <p:ext uri="{BB962C8B-B14F-4D97-AF65-F5344CB8AC3E}">
        <p14:creationId xmlns:p14="http://schemas.microsoft.com/office/powerpoint/2010/main" val="2476472934"/>
      </p:ext>
    </p:extLst>
  </p:cSld>
  <p:clrMapOvr>
    <a:masterClrMapping/>
  </p:clrMapOvr>
</p:sld>
</file>

<file path=ppt/slides/slide5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1FFF0-8C00-C06D-5958-682AF4C56D9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A574710-F2B0-356C-429D-7BDE69A4D211}"/>
              </a:ext>
            </a:extLst>
          </p:cNvPr>
          <p:cNvSpPr/>
          <p:nvPr/>
        </p:nvSpPr>
        <p:spPr>
          <a:xfrm>
            <a:off x="1574799" y="7136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0143387-CA03-EC56-FE1F-DC72154353B4}"/>
              </a:ext>
            </a:extLst>
          </p:cNvPr>
          <p:cNvSpPr/>
          <p:nvPr/>
        </p:nvSpPr>
        <p:spPr>
          <a:xfrm>
            <a:off x="1574799" y="56872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042CB4C-E65B-6BDC-4C54-6E3D003EBF53}"/>
              </a:ext>
            </a:extLst>
          </p:cNvPr>
          <p:cNvGraphicFramePr/>
          <p:nvPr/>
        </p:nvGraphicFramePr>
        <p:xfrm>
          <a:off x="0" y="51695"/>
          <a:ext cx="8716300" cy="48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object 2">
            <a:extLst>
              <a:ext uri="{FF2B5EF4-FFF2-40B4-BE49-F238E27FC236}">
                <a16:creationId xmlns:a16="http://schemas.microsoft.com/office/drawing/2014/main" id="{F187A3C6-8807-1017-4B63-4685BD757BA9}"/>
              </a:ext>
            </a:extLst>
          </p:cNvPr>
          <p:cNvSpPr txBox="1">
            <a:spLocks/>
          </p:cNvSpPr>
          <p:nvPr/>
        </p:nvSpPr>
        <p:spPr>
          <a:xfrm>
            <a:off x="381903" y="3581400"/>
            <a:ext cx="8624937" cy="36933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p:txBody>
      </p:sp>
      <p:sp>
        <p:nvSpPr>
          <p:cNvPr id="2" name="object 2">
            <a:extLst>
              <a:ext uri="{FF2B5EF4-FFF2-40B4-BE49-F238E27FC236}">
                <a16:creationId xmlns:a16="http://schemas.microsoft.com/office/drawing/2014/main" id="{BC8B287F-1914-4E83-D689-89E24C2E3768}"/>
              </a:ext>
            </a:extLst>
          </p:cNvPr>
          <p:cNvSpPr txBox="1">
            <a:spLocks/>
          </p:cNvSpPr>
          <p:nvPr/>
        </p:nvSpPr>
        <p:spPr>
          <a:xfrm>
            <a:off x="275300" y="1098685"/>
            <a:ext cx="8624937" cy="6771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220" dirty="0">
                <a:solidFill>
                  <a:schemeClr val="accent6"/>
                </a:solidFill>
              </a:rPr>
              <a:t> </a:t>
            </a:r>
          </a:p>
          <a:p>
            <a:pPr marL="12700" marR="5080"/>
            <a:endParaRPr lang="en-US" sz="2000" kern="0" spc="-220" dirty="0">
              <a:solidFill>
                <a:schemeClr val="accent6"/>
              </a:solidFill>
            </a:endParaRPr>
          </a:p>
        </p:txBody>
      </p:sp>
      <p:sp>
        <p:nvSpPr>
          <p:cNvPr id="10" name="object 2">
            <a:extLst>
              <a:ext uri="{FF2B5EF4-FFF2-40B4-BE49-F238E27FC236}">
                <a16:creationId xmlns:a16="http://schemas.microsoft.com/office/drawing/2014/main" id="{33C3A401-8E44-9275-AD2C-78BBC3D93B78}"/>
              </a:ext>
            </a:extLst>
          </p:cNvPr>
          <p:cNvSpPr txBox="1">
            <a:spLocks/>
          </p:cNvSpPr>
          <p:nvPr/>
        </p:nvSpPr>
        <p:spPr>
          <a:xfrm>
            <a:off x="275300" y="1098685"/>
            <a:ext cx="8624937" cy="110799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algn="l"/>
            <a:r>
              <a:rPr lang="en-US" sz="2400" kern="0" spc="-220" dirty="0">
                <a:solidFill>
                  <a:schemeClr val="accent6"/>
                </a:solidFill>
              </a:rPr>
              <a:t> </a:t>
            </a:r>
          </a:p>
          <a:p>
            <a:pPr algn="l"/>
            <a:endParaRPr lang="en-US" sz="2400" kern="0" spc="-220" dirty="0">
              <a:solidFill>
                <a:schemeClr val="accent6"/>
              </a:solidFill>
            </a:endParaRPr>
          </a:p>
          <a:p>
            <a:pPr marL="12700" marR="5080"/>
            <a:endParaRPr lang="en-US" sz="2400" kern="0" spc="-220" dirty="0">
              <a:solidFill>
                <a:schemeClr val="accent6"/>
              </a:solidFill>
            </a:endParaRPr>
          </a:p>
        </p:txBody>
      </p:sp>
      <p:sp>
        <p:nvSpPr>
          <p:cNvPr id="7" name="object 2">
            <a:extLst>
              <a:ext uri="{FF2B5EF4-FFF2-40B4-BE49-F238E27FC236}">
                <a16:creationId xmlns:a16="http://schemas.microsoft.com/office/drawing/2014/main" id="{154ADAD6-DAA4-32E3-A619-2787A705002C}"/>
              </a:ext>
            </a:extLst>
          </p:cNvPr>
          <p:cNvSpPr txBox="1">
            <a:spLocks/>
          </p:cNvSpPr>
          <p:nvPr/>
        </p:nvSpPr>
        <p:spPr>
          <a:xfrm>
            <a:off x="55803" y="821829"/>
            <a:ext cx="8624937" cy="278537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dirty="0">
                <a:solidFill>
                  <a:schemeClr val="accent2"/>
                </a:solidFill>
                <a:latin typeface="Google Sans"/>
                <a:ea typeface="+mn-ea"/>
                <a:cs typeface="+mn-cs"/>
              </a:rPr>
              <a:t>For Further Exploration(in General)</a:t>
            </a:r>
          </a:p>
          <a:p>
            <a:r>
              <a:rPr lang="en-IN" sz="1500" dirty="0">
                <a:hlinkClick r:id="rId7"/>
              </a:rPr>
              <a:t>System Design PDFs - by Alex Xu - </a:t>
            </a:r>
            <a:r>
              <a:rPr lang="en-IN" sz="1500" dirty="0" err="1">
                <a:hlinkClick r:id="rId7"/>
              </a:rPr>
              <a:t>ByteByteGo</a:t>
            </a:r>
            <a:r>
              <a:rPr lang="en-IN" sz="1500" dirty="0">
                <a:hlinkClick r:id="rId7"/>
              </a:rPr>
              <a:t> Newsletter</a:t>
            </a:r>
            <a:endParaRPr lang="en-IN" sz="1500" dirty="0"/>
          </a:p>
          <a:p>
            <a:pPr marL="12700" marR="5080"/>
            <a:r>
              <a:rPr lang="en-IN" sz="1400" dirty="0">
                <a:hlinkClick r:id="rId8"/>
              </a:rPr>
              <a:t>System-Design: System Design for Web-Apps</a:t>
            </a:r>
            <a:endParaRPr lang="en-IN" sz="1400" dirty="0"/>
          </a:p>
          <a:p>
            <a:pPr marL="12700" marR="5080"/>
            <a:r>
              <a:rPr lang="en-US" sz="1400" dirty="0">
                <a:hlinkClick r:id="rId9"/>
              </a:rPr>
              <a:t>System-Design-Architecture</a:t>
            </a:r>
            <a:endParaRPr lang="en-US" sz="1400" dirty="0"/>
          </a:p>
          <a:p>
            <a:pPr marL="12700" marR="5080"/>
            <a:r>
              <a:rPr lang="en-US" sz="1400" dirty="0">
                <a:hlinkClick r:id="rId10"/>
              </a:rPr>
              <a:t>System Design on AWS[Book]</a:t>
            </a:r>
            <a:endParaRPr lang="en-US" sz="1400" dirty="0"/>
          </a:p>
          <a:p>
            <a:pPr marL="12700" marR="5080"/>
            <a:r>
              <a:rPr lang="en-IN" sz="1400" dirty="0">
                <a:hlinkClick r:id="rId11"/>
              </a:rPr>
              <a:t>Comprehensive List of System Design Problems | LinkedIn</a:t>
            </a:r>
            <a:endParaRPr lang="en-IN" sz="1400" dirty="0"/>
          </a:p>
          <a:p>
            <a:r>
              <a:rPr lang="en-IN" sz="1500" dirty="0">
                <a:hlinkClick r:id="rId12"/>
              </a:rPr>
              <a:t>The Amazon Builders' Library</a:t>
            </a:r>
            <a:endParaRPr lang="en-US" sz="1500" dirty="0"/>
          </a:p>
          <a:p>
            <a:r>
              <a:rPr lang="en-US" sz="1500" dirty="0">
                <a:hlinkClick r:id="rId13"/>
              </a:rPr>
              <a:t>Maelstrom</a:t>
            </a:r>
            <a:endParaRPr lang="en-US" sz="1500" dirty="0"/>
          </a:p>
          <a:p>
            <a:r>
              <a:rPr lang="en-IN" sz="1500" dirty="0">
                <a:hlinkClick r:id="rId14"/>
              </a:rPr>
              <a:t>Jepsen</a:t>
            </a:r>
            <a:endParaRPr lang="en-IN" sz="1500" dirty="0"/>
          </a:p>
          <a:p>
            <a:r>
              <a:rPr lang="en-US" sz="1500" dirty="0">
                <a:hlinkClick r:id="rId15"/>
              </a:rPr>
              <a:t>Engineering Blogs</a:t>
            </a:r>
            <a:endParaRPr lang="en-US" sz="1500" dirty="0"/>
          </a:p>
          <a:p>
            <a:endParaRPr lang="en-US" sz="1500" kern="0" spc="-80" dirty="0">
              <a:solidFill>
                <a:schemeClr val="accent2"/>
              </a:solidFill>
            </a:endParaRPr>
          </a:p>
          <a:p>
            <a:endParaRPr lang="en-US" sz="1500" dirty="0">
              <a:solidFill>
                <a:schemeClr val="accent6"/>
              </a:solidFill>
              <a:latin typeface="Google Sans"/>
              <a:ea typeface="+mn-ea"/>
              <a:cs typeface="+mn-cs"/>
            </a:endParaRPr>
          </a:p>
        </p:txBody>
      </p:sp>
    </p:spTree>
    <p:extLst>
      <p:ext uri="{BB962C8B-B14F-4D97-AF65-F5344CB8AC3E}">
        <p14:creationId xmlns:p14="http://schemas.microsoft.com/office/powerpoint/2010/main" val="419666480"/>
      </p:ext>
    </p:extLst>
  </p:cSld>
  <p:clrMapOvr>
    <a:masterClrMapping/>
  </p:clrMapOvr>
</p:sld>
</file>

<file path=ppt/slides/slide5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7B45A-D6AE-E9DD-AD44-C6D6771E023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243CBF9-2703-0585-C512-D0D2A9347F4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86162E5-4F02-EA90-06F2-87172486D25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5BF9642-B28F-8C90-25B1-AB5A7ED7BE56}"/>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A549BC0A-0B41-6E49-3DD9-260691DAEAC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C95423D-BFC5-E67B-93E5-C7DA5287010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C7AC530-CC3F-36C0-2DC8-902A04BBC771}"/>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2635BA30-CB66-5D91-92FD-0CF1D32DA239}"/>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0FB82FC9-E781-CD8C-BE38-DC16A3E7CBDD}"/>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pic>
        <p:nvPicPr>
          <p:cNvPr id="11" name="Picture 10">
            <a:extLst>
              <a:ext uri="{FF2B5EF4-FFF2-40B4-BE49-F238E27FC236}">
                <a16:creationId xmlns:a16="http://schemas.microsoft.com/office/drawing/2014/main" id="{54C0A6BF-EBEB-EA24-3AD2-9435E85B30CE}"/>
              </a:ext>
            </a:extLst>
          </p:cNvPr>
          <p:cNvPicPr>
            <a:picLocks noChangeAspect="1"/>
          </p:cNvPicPr>
          <p:nvPr/>
        </p:nvPicPr>
        <p:blipFill>
          <a:blip r:embed="rId8"/>
          <a:stretch>
            <a:fillRect/>
          </a:stretch>
        </p:blipFill>
        <p:spPr>
          <a:xfrm>
            <a:off x="138063" y="762000"/>
            <a:ext cx="8686799" cy="5147175"/>
          </a:xfrm>
          <a:prstGeom prst="rect">
            <a:avLst/>
          </a:prstGeom>
        </p:spPr>
      </p:pic>
    </p:spTree>
    <p:extLst>
      <p:ext uri="{BB962C8B-B14F-4D97-AF65-F5344CB8AC3E}">
        <p14:creationId xmlns:p14="http://schemas.microsoft.com/office/powerpoint/2010/main" val="4213402727"/>
      </p:ext>
    </p:extLst>
  </p:cSld>
  <p:clrMapOvr>
    <a:masterClrMapping/>
  </p:clrMapOvr>
</p:sld>
</file>

<file path=ppt/slides/slide5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B2E9F-8B80-CDAD-18E0-55DED670126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16AA43D-893C-7E69-A4A6-48BA64E0748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4EFA347-0798-B054-646D-FA663FE88BF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1E216F8-C0B8-C12C-028D-B791510FECC4}"/>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AA4D6FB2-57E1-5777-9EB6-2E06134B2BE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49BA72F-703E-D819-D872-AA347CA9E3E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B1A5908-E051-D083-6186-4825DCAC297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4F82282A-43AE-6A36-0D36-7004F3B6C608}"/>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C01F3E76-971E-FCFB-5EE0-1D767794C7B5}"/>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D4573BAC-8A25-24BB-CF33-F6DDED4FBA6F}"/>
              </a:ext>
            </a:extLst>
          </p:cNvPr>
          <p:cNvSpPr txBox="1">
            <a:spLocks/>
          </p:cNvSpPr>
          <p:nvPr/>
        </p:nvSpPr>
        <p:spPr>
          <a:xfrm>
            <a:off x="228600" y="762000"/>
            <a:ext cx="8624937" cy="47089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700" kern="0" spc="-80" dirty="0">
                <a:solidFill>
                  <a:schemeClr val="accent2"/>
                </a:solidFill>
              </a:rPr>
              <a:t>🚦 1. What is P2P Networking?</a:t>
            </a:r>
          </a:p>
          <a:p>
            <a:r>
              <a:rPr lang="en-US" sz="1700" kern="0" spc="-80" dirty="0">
                <a:solidFill>
                  <a:schemeClr val="accent6"/>
                </a:solidFill>
              </a:rPr>
              <a:t>In a Peer-to-Peer network, each node (peer) is both a client and a server.</a:t>
            </a:r>
          </a:p>
          <a:p>
            <a:r>
              <a:rPr lang="en-US" sz="1700" kern="0" spc="-80" dirty="0">
                <a:solidFill>
                  <a:schemeClr val="accent6"/>
                </a:solidFill>
              </a:rPr>
              <a:t>No central server controls the system.</a:t>
            </a:r>
          </a:p>
          <a:p>
            <a:r>
              <a:rPr lang="en-US" sz="1700" kern="0" spc="-80" dirty="0">
                <a:solidFill>
                  <a:schemeClr val="accent2"/>
                </a:solidFill>
              </a:rPr>
              <a:t>Every peer can:</a:t>
            </a:r>
          </a:p>
          <a:p>
            <a:r>
              <a:rPr lang="en-US" sz="1700" kern="0" spc="-80" dirty="0">
                <a:solidFill>
                  <a:schemeClr val="accent6"/>
                </a:solidFill>
              </a:rPr>
              <a:t>Request resources</a:t>
            </a:r>
          </a:p>
          <a:p>
            <a:r>
              <a:rPr lang="en-US" sz="1700" kern="0" spc="-80" dirty="0">
                <a:solidFill>
                  <a:schemeClr val="accent6"/>
                </a:solidFill>
              </a:rPr>
              <a:t>Provide resources</a:t>
            </a:r>
          </a:p>
          <a:p>
            <a:r>
              <a:rPr lang="en-US" sz="1700" kern="0" spc="-80" dirty="0">
                <a:solidFill>
                  <a:schemeClr val="accent6"/>
                </a:solidFill>
              </a:rPr>
              <a:t>Route messages</a:t>
            </a:r>
          </a:p>
          <a:p>
            <a:r>
              <a:rPr lang="en-US" sz="1700" kern="0" spc="-80" dirty="0">
                <a:solidFill>
                  <a:schemeClr val="accent6"/>
                </a:solidFill>
              </a:rPr>
              <a:t>Store/replicate data</a:t>
            </a:r>
          </a:p>
          <a:p>
            <a:r>
              <a:rPr lang="en-US" sz="1700" kern="0" spc="-80" dirty="0">
                <a:solidFill>
                  <a:schemeClr val="accent2"/>
                </a:solidFill>
              </a:rPr>
              <a:t>Compared to Client-Server Model:</a:t>
            </a:r>
          </a:p>
          <a:p>
            <a:endParaRPr lang="en-US" sz="1700" kern="0" spc="-80" dirty="0">
              <a:solidFill>
                <a:schemeClr val="accent6"/>
              </a:solidFill>
            </a:endParaRPr>
          </a:p>
          <a:p>
            <a:endParaRPr lang="en-US" sz="1700" kern="0" spc="-80" dirty="0">
              <a:solidFill>
                <a:schemeClr val="accent6"/>
              </a:solidFill>
            </a:endParaRPr>
          </a:p>
          <a:p>
            <a:endParaRPr lang="en-US" sz="1700" kern="0" spc="-80" dirty="0">
              <a:solidFill>
                <a:schemeClr val="accent6"/>
              </a:solidFill>
            </a:endParaRPr>
          </a:p>
          <a:p>
            <a:endParaRPr lang="en-US" sz="1700" kern="0" spc="-80" dirty="0">
              <a:solidFill>
                <a:schemeClr val="accent6"/>
              </a:solidFill>
            </a:endParaRPr>
          </a:p>
          <a:p>
            <a:endParaRPr lang="en-US" sz="1700" kern="0" spc="-80" dirty="0">
              <a:solidFill>
                <a:schemeClr val="accent6"/>
              </a:solidFill>
            </a:endParaRPr>
          </a:p>
          <a:p>
            <a:endParaRPr lang="en-US" sz="1700" kern="0" spc="-80" dirty="0">
              <a:solidFill>
                <a:schemeClr val="accent6"/>
              </a:solidFill>
            </a:endParaRPr>
          </a:p>
          <a:p>
            <a:endParaRPr lang="en-US" sz="1700" kern="0" spc="-80" dirty="0">
              <a:solidFill>
                <a:schemeClr val="accent6"/>
              </a:solidFill>
            </a:endParaRPr>
          </a:p>
          <a:p>
            <a:endParaRPr lang="en-US" sz="1700" kern="0" spc="-80" dirty="0">
              <a:solidFill>
                <a:schemeClr val="accent6"/>
              </a:solidFill>
            </a:endParaRPr>
          </a:p>
          <a:p>
            <a:endParaRPr lang="en-US" sz="1700" kern="0" spc="-80" dirty="0">
              <a:solidFill>
                <a:schemeClr val="accent6"/>
              </a:solidFill>
            </a:endParaRPr>
          </a:p>
        </p:txBody>
      </p:sp>
      <p:pic>
        <p:nvPicPr>
          <p:cNvPr id="13" name="Picture 12" descr="A screenshot of a computer&#10;&#10;AI-generated content may be incorrect.">
            <a:extLst>
              <a:ext uri="{FF2B5EF4-FFF2-40B4-BE49-F238E27FC236}">
                <a16:creationId xmlns:a16="http://schemas.microsoft.com/office/drawing/2014/main" id="{FFB41951-120A-8BEA-4B3F-3F83840FC71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8599" y="3136799"/>
            <a:ext cx="8853537" cy="2772376"/>
          </a:xfrm>
          <a:prstGeom prst="rect">
            <a:avLst/>
          </a:prstGeom>
        </p:spPr>
      </p:pic>
    </p:spTree>
    <p:extLst>
      <p:ext uri="{BB962C8B-B14F-4D97-AF65-F5344CB8AC3E}">
        <p14:creationId xmlns:p14="http://schemas.microsoft.com/office/powerpoint/2010/main" val="2880898923"/>
      </p:ext>
    </p:extLst>
  </p:cSld>
  <p:clrMapOvr>
    <a:masterClrMapping/>
  </p:clrMapOvr>
</p:sld>
</file>

<file path=ppt/slides/slide5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F829D-8A08-23A1-2514-AA531A05F08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D7B25E3-9BFA-7C6C-27F2-79E37E3016E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13B9238-A0BB-F33F-2328-B038A0E06B3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7C2A7A8-5456-4A4A-56BC-7F50FB798069}"/>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0D6A247A-44C4-E698-3B64-7B68C9F2F32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DE23C42-34A9-307C-6B0F-69D3BD9749A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5249D28-2114-54F1-4723-E043B17D53A4}"/>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B4307B8-8011-BF92-116D-C35BD1B26AE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8AEECB87-2408-B38F-737D-15910979C8C8}"/>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A05794BA-4641-5226-D558-427DE4D5C386}"/>
              </a:ext>
            </a:extLst>
          </p:cNvPr>
          <p:cNvSpPr txBox="1">
            <a:spLocks/>
          </p:cNvSpPr>
          <p:nvPr/>
        </p:nvSpPr>
        <p:spPr>
          <a:xfrm>
            <a:off x="228600" y="762000"/>
            <a:ext cx="8624937" cy="51860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700" kern="0" spc="-80" dirty="0">
                <a:solidFill>
                  <a:schemeClr val="accent2"/>
                </a:solidFill>
              </a:rPr>
              <a:t>🧱 2. Types of P2P Architectures</a:t>
            </a:r>
          </a:p>
          <a:p>
            <a:r>
              <a:rPr lang="en-US" sz="1600" kern="0" spc="-80" dirty="0">
                <a:solidFill>
                  <a:schemeClr val="accent2"/>
                </a:solidFill>
              </a:rPr>
              <a:t>A. Unstructured P2P</a:t>
            </a:r>
          </a:p>
          <a:p>
            <a:r>
              <a:rPr lang="en-US" sz="1600" kern="0" spc="-80" dirty="0">
                <a:solidFill>
                  <a:schemeClr val="accent6"/>
                </a:solidFill>
              </a:rPr>
              <a:t>No predefined organization. Nodes join randomly.</a:t>
            </a:r>
          </a:p>
          <a:p>
            <a:r>
              <a:rPr lang="en-US" sz="1600" kern="0" spc="-80" dirty="0">
                <a:solidFill>
                  <a:schemeClr val="accent2"/>
                </a:solidFill>
              </a:rPr>
              <a:t>Examples: </a:t>
            </a:r>
            <a:r>
              <a:rPr lang="en-US" sz="1600" kern="0" spc="-80" dirty="0">
                <a:solidFill>
                  <a:schemeClr val="accent6"/>
                </a:solidFill>
              </a:rPr>
              <a:t>Early Gnutella, </a:t>
            </a:r>
            <a:r>
              <a:rPr lang="en-US" sz="1600" kern="0" spc="-80" dirty="0" err="1">
                <a:solidFill>
                  <a:schemeClr val="accent6"/>
                </a:solidFill>
              </a:rPr>
              <a:t>KaZaA</a:t>
            </a:r>
            <a:r>
              <a:rPr lang="en-US" sz="1600" kern="0" spc="-80" dirty="0">
                <a:solidFill>
                  <a:schemeClr val="accent6"/>
                </a:solidFill>
              </a:rPr>
              <a:t>, Napster hybrid parts.</a:t>
            </a:r>
          </a:p>
          <a:p>
            <a:r>
              <a:rPr lang="en-US" sz="1600" kern="0" spc="-80" dirty="0">
                <a:solidFill>
                  <a:schemeClr val="accent2"/>
                </a:solidFill>
              </a:rPr>
              <a:t>Search:</a:t>
            </a:r>
            <a:r>
              <a:rPr lang="en-US" sz="1600" kern="0" spc="-80" dirty="0">
                <a:solidFill>
                  <a:schemeClr val="accent6"/>
                </a:solidFill>
              </a:rPr>
              <a:t> Flood queries → e.g., “Ask your neighbors, then they ask theirs.”</a:t>
            </a:r>
          </a:p>
          <a:p>
            <a:r>
              <a:rPr lang="en-US" sz="1600" kern="0" spc="-80" dirty="0">
                <a:solidFill>
                  <a:schemeClr val="accent2"/>
                </a:solidFill>
              </a:rPr>
              <a:t>Pros: </a:t>
            </a:r>
            <a:r>
              <a:rPr lang="en-US" sz="1600" kern="0" spc="-80" dirty="0">
                <a:solidFill>
                  <a:schemeClr val="accent6"/>
                </a:solidFill>
              </a:rPr>
              <a:t>Simple, easy node joining/leaving</a:t>
            </a:r>
          </a:p>
          <a:p>
            <a:r>
              <a:rPr lang="en-US" sz="1600" kern="0" spc="-80" dirty="0">
                <a:solidFill>
                  <a:schemeClr val="accent2"/>
                </a:solidFill>
              </a:rPr>
              <a:t>Cons: </a:t>
            </a:r>
            <a:r>
              <a:rPr lang="en-US" sz="1600" kern="0" spc="-80" dirty="0">
                <a:solidFill>
                  <a:schemeClr val="accent6"/>
                </a:solidFill>
              </a:rPr>
              <a:t>Search is inefficient → O(n) or flooding</a:t>
            </a:r>
          </a:p>
          <a:p>
            <a:endParaRPr lang="en-US" sz="1600" kern="0" spc="-80" dirty="0">
              <a:solidFill>
                <a:schemeClr val="accent6"/>
              </a:solidFill>
            </a:endParaRPr>
          </a:p>
          <a:p>
            <a:r>
              <a:rPr lang="en-US" sz="1600" kern="0" spc="-80" dirty="0">
                <a:solidFill>
                  <a:schemeClr val="accent2"/>
                </a:solidFill>
              </a:rPr>
              <a:t>B. Structured P2P</a:t>
            </a:r>
          </a:p>
          <a:p>
            <a:r>
              <a:rPr lang="en-US" sz="1600" kern="0" spc="-80" dirty="0">
                <a:solidFill>
                  <a:schemeClr val="accent6"/>
                </a:solidFill>
              </a:rPr>
              <a:t>Uses Distributed Hash Tables (DHTs)</a:t>
            </a:r>
          </a:p>
          <a:p>
            <a:r>
              <a:rPr lang="en-US" sz="1600" kern="0" spc="-80" dirty="0">
                <a:solidFill>
                  <a:schemeClr val="accent6"/>
                </a:solidFill>
              </a:rPr>
              <a:t>Data is placed at specific nodes based on hashes.</a:t>
            </a:r>
          </a:p>
          <a:p>
            <a:r>
              <a:rPr lang="en-US" sz="1600" kern="0" spc="-80" dirty="0">
                <a:solidFill>
                  <a:schemeClr val="accent2"/>
                </a:solidFill>
              </a:rPr>
              <a:t>Examples:</a:t>
            </a:r>
            <a:r>
              <a:rPr lang="en-US" sz="1600" kern="0" spc="-80" dirty="0">
                <a:solidFill>
                  <a:schemeClr val="accent6"/>
                </a:solidFill>
              </a:rPr>
              <a:t> Chord, </a:t>
            </a:r>
            <a:r>
              <a:rPr lang="en-US" sz="1600" kern="0" spc="-80" dirty="0" err="1">
                <a:solidFill>
                  <a:schemeClr val="accent6"/>
                </a:solidFill>
              </a:rPr>
              <a:t>Kademlia</a:t>
            </a:r>
            <a:r>
              <a:rPr lang="en-US" sz="1600" kern="0" spc="-80" dirty="0">
                <a:solidFill>
                  <a:schemeClr val="accent6"/>
                </a:solidFill>
              </a:rPr>
              <a:t> (BitTorrent), Pastry, CAN</a:t>
            </a:r>
          </a:p>
          <a:p>
            <a:r>
              <a:rPr lang="en-US" sz="1600" kern="0" spc="-80" dirty="0">
                <a:solidFill>
                  <a:schemeClr val="accent2"/>
                </a:solidFill>
              </a:rPr>
              <a:t>Search Complexity: </a:t>
            </a:r>
            <a:r>
              <a:rPr lang="en-US" sz="1600" kern="0" spc="-80" dirty="0">
                <a:solidFill>
                  <a:schemeClr val="accent6"/>
                </a:solidFill>
              </a:rPr>
              <a:t>O(log n)</a:t>
            </a:r>
          </a:p>
          <a:p>
            <a:r>
              <a:rPr lang="en-US" sz="1600" kern="0" spc="-80" dirty="0">
                <a:solidFill>
                  <a:schemeClr val="accent2"/>
                </a:solidFill>
              </a:rPr>
              <a:t>Pros: </a:t>
            </a:r>
            <a:r>
              <a:rPr lang="en-US" sz="1600" kern="0" spc="-80" dirty="0">
                <a:solidFill>
                  <a:schemeClr val="accent6"/>
                </a:solidFill>
              </a:rPr>
              <a:t>Fast lookup, scalable</a:t>
            </a:r>
          </a:p>
          <a:p>
            <a:r>
              <a:rPr lang="en-US" sz="1600" kern="0" spc="-80" dirty="0">
                <a:solidFill>
                  <a:schemeClr val="accent2"/>
                </a:solidFill>
              </a:rPr>
              <a:t>Cons: </a:t>
            </a:r>
            <a:r>
              <a:rPr lang="en-US" sz="1600" kern="0" spc="-80" dirty="0">
                <a:solidFill>
                  <a:schemeClr val="accent6"/>
                </a:solidFill>
              </a:rPr>
              <a:t>More complex maintenance when nodes join/leave</a:t>
            </a:r>
          </a:p>
          <a:p>
            <a:endParaRPr lang="en-US" sz="1600" kern="0" spc="-80" dirty="0">
              <a:solidFill>
                <a:schemeClr val="accent6"/>
              </a:solidFill>
            </a:endParaRPr>
          </a:p>
          <a:p>
            <a:r>
              <a:rPr lang="en-US" sz="1600" kern="0" spc="-80" dirty="0">
                <a:solidFill>
                  <a:schemeClr val="accent2"/>
                </a:solidFill>
              </a:rPr>
              <a:t>C. Hybrid P2P</a:t>
            </a:r>
          </a:p>
          <a:p>
            <a:r>
              <a:rPr lang="en-US" sz="1600" kern="0" spc="-80" dirty="0">
                <a:solidFill>
                  <a:schemeClr val="accent6"/>
                </a:solidFill>
              </a:rPr>
              <a:t>Mostly P2P but has some centralized components</a:t>
            </a:r>
          </a:p>
          <a:p>
            <a:r>
              <a:rPr lang="en-US" sz="1600" kern="0" spc="-80" dirty="0">
                <a:solidFill>
                  <a:schemeClr val="accent2"/>
                </a:solidFill>
              </a:rPr>
              <a:t>Examples:</a:t>
            </a:r>
            <a:r>
              <a:rPr lang="en-US" sz="1600" kern="0" spc="-80" dirty="0">
                <a:solidFill>
                  <a:schemeClr val="accent6"/>
                </a:solidFill>
              </a:rPr>
              <a:t> BitTorrent trackers, Skype </a:t>
            </a:r>
            <a:r>
              <a:rPr lang="en-US" sz="1600" kern="0" spc="-80" dirty="0" err="1">
                <a:solidFill>
                  <a:schemeClr val="accent6"/>
                </a:solidFill>
              </a:rPr>
              <a:t>supernodes</a:t>
            </a:r>
            <a:endParaRPr lang="en-US" sz="1600" kern="0" spc="-80" dirty="0">
              <a:solidFill>
                <a:schemeClr val="accent6"/>
              </a:solidFill>
            </a:endParaRPr>
          </a:p>
          <a:p>
            <a:r>
              <a:rPr lang="en-US" sz="1600" kern="0" spc="-80" dirty="0">
                <a:solidFill>
                  <a:schemeClr val="accent2"/>
                </a:solidFill>
              </a:rPr>
              <a:t>Pros:</a:t>
            </a:r>
            <a:r>
              <a:rPr lang="en-US" sz="1600" kern="0" spc="-80" dirty="0">
                <a:solidFill>
                  <a:schemeClr val="accent6"/>
                </a:solidFill>
              </a:rPr>
              <a:t> Easier peer discovery</a:t>
            </a:r>
          </a:p>
          <a:p>
            <a:r>
              <a:rPr lang="en-US" sz="1600" kern="0" spc="-80" dirty="0">
                <a:solidFill>
                  <a:schemeClr val="accent2"/>
                </a:solidFill>
              </a:rPr>
              <a:t>Cons: </a:t>
            </a:r>
            <a:r>
              <a:rPr lang="en-US" sz="1600" kern="0" spc="-80" dirty="0">
                <a:solidFill>
                  <a:schemeClr val="accent6"/>
                </a:solidFill>
              </a:rPr>
              <a:t>Partial centralization → risk of censorship / chokepoint</a:t>
            </a:r>
          </a:p>
        </p:txBody>
      </p:sp>
    </p:spTree>
    <p:extLst>
      <p:ext uri="{BB962C8B-B14F-4D97-AF65-F5344CB8AC3E}">
        <p14:creationId xmlns:p14="http://schemas.microsoft.com/office/powerpoint/2010/main" val="4075373364"/>
      </p:ext>
    </p:extLst>
  </p:cSld>
  <p:clrMapOvr>
    <a:masterClrMapping/>
  </p:clrMapOvr>
</p:sld>
</file>

<file path=ppt/slides/slide5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4E2C2-A361-6474-58D1-395E15CBD56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3EF3D8A6-2BB8-EB53-2568-6DD458D5662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CB77A15-5A6C-9098-6973-4B35680E20E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CE5C00D-48BB-0F41-9010-A66E3B7A64BA}"/>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E4853B69-AE9C-62C4-0CED-E33EF74577F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26DD738-9ECD-F0FF-C9DF-AA596B4D684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1ACFEC5-FEA9-3C2E-E2C0-04B2720FB19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531EFD47-D2C6-CF8E-2B12-8441DBE06DF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5C4060FE-B7CE-4544-3D61-130AB6A4F198}"/>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47DE63B6-1D12-E191-8764-1BD2209F0D72}"/>
              </a:ext>
            </a:extLst>
          </p:cNvPr>
          <p:cNvSpPr txBox="1">
            <a:spLocks/>
          </p:cNvSpPr>
          <p:nvPr/>
        </p:nvSpPr>
        <p:spPr>
          <a:xfrm>
            <a:off x="228600" y="762000"/>
            <a:ext cx="8624937" cy="52475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700" kern="0" spc="-80" dirty="0">
                <a:solidFill>
                  <a:schemeClr val="accent2"/>
                </a:solidFill>
              </a:rPr>
              <a:t>🎛️ 3. Key Building Blocks of P2P Networks</a:t>
            </a:r>
          </a:p>
          <a:p>
            <a:r>
              <a:rPr lang="en-US" sz="1800" kern="0" spc="-80" dirty="0">
                <a:solidFill>
                  <a:schemeClr val="accent2"/>
                </a:solidFill>
              </a:rPr>
              <a:t>1. Overlay Network</a:t>
            </a:r>
          </a:p>
          <a:p>
            <a:r>
              <a:rPr lang="en-US" sz="1800" kern="0" spc="-80" dirty="0">
                <a:solidFill>
                  <a:schemeClr val="accent6"/>
                </a:solidFill>
              </a:rPr>
              <a:t>This is a logical network built on top of the internet.</a:t>
            </a:r>
          </a:p>
          <a:p>
            <a:r>
              <a:rPr lang="en-US" sz="1800" kern="0" spc="-80" dirty="0">
                <a:solidFill>
                  <a:schemeClr val="accent6"/>
                </a:solidFill>
              </a:rPr>
              <a:t>Nodes maintain neighbor lists → e.g., </a:t>
            </a:r>
            <a:r>
              <a:rPr lang="en-US" sz="1800" kern="0" spc="-80" dirty="0" err="1">
                <a:solidFill>
                  <a:schemeClr val="accent6"/>
                </a:solidFill>
              </a:rPr>
              <a:t>Kademlia</a:t>
            </a:r>
            <a:r>
              <a:rPr lang="en-US" sz="1800" kern="0" spc="-80" dirty="0">
                <a:solidFill>
                  <a:schemeClr val="accent6"/>
                </a:solidFill>
              </a:rPr>
              <a:t> keeps k closest nodes.</a:t>
            </a:r>
          </a:p>
          <a:p>
            <a:endParaRPr lang="en-US" sz="1800" kern="0" spc="-80" dirty="0">
              <a:solidFill>
                <a:schemeClr val="accent6"/>
              </a:solidFill>
            </a:endParaRPr>
          </a:p>
          <a:p>
            <a:r>
              <a:rPr lang="en-US" sz="1800" kern="0" spc="-80" dirty="0">
                <a:solidFill>
                  <a:schemeClr val="accent2"/>
                </a:solidFill>
              </a:rPr>
              <a:t>2. Peer Discovery</a:t>
            </a:r>
          </a:p>
          <a:p>
            <a:r>
              <a:rPr lang="en-US" sz="1800" kern="0" spc="-80" dirty="0">
                <a:solidFill>
                  <a:schemeClr val="accent2"/>
                </a:solidFill>
              </a:rPr>
              <a:t>How peers find each other:</a:t>
            </a:r>
          </a:p>
          <a:p>
            <a:r>
              <a:rPr lang="en-US" sz="1800" kern="0" spc="-80" dirty="0">
                <a:solidFill>
                  <a:schemeClr val="accent6"/>
                </a:solidFill>
              </a:rPr>
              <a:t>DNS bootstrap nodes</a:t>
            </a:r>
          </a:p>
          <a:p>
            <a:r>
              <a:rPr lang="en-US" sz="1800" kern="0" spc="-80" dirty="0">
                <a:solidFill>
                  <a:schemeClr val="accent6"/>
                </a:solidFill>
              </a:rPr>
              <a:t>Distributed Hash Table lookup</a:t>
            </a:r>
          </a:p>
          <a:p>
            <a:r>
              <a:rPr lang="en-US" sz="1800" kern="0" spc="-80" dirty="0">
                <a:solidFill>
                  <a:schemeClr val="accent6"/>
                </a:solidFill>
              </a:rPr>
              <a:t>Trackers</a:t>
            </a:r>
          </a:p>
          <a:p>
            <a:r>
              <a:rPr lang="en-US" sz="1800" kern="0" spc="-80" dirty="0">
                <a:solidFill>
                  <a:schemeClr val="accent6"/>
                </a:solidFill>
              </a:rPr>
              <a:t>Multicast / LAN discovery</a:t>
            </a:r>
          </a:p>
          <a:p>
            <a:r>
              <a:rPr lang="en-US" sz="1800" kern="0" spc="-80" dirty="0">
                <a:solidFill>
                  <a:schemeClr val="accent6"/>
                </a:solidFill>
              </a:rPr>
              <a:t>WebRTC signaling servers</a:t>
            </a:r>
          </a:p>
          <a:p>
            <a:endParaRPr lang="en-US" sz="1800" kern="0" spc="-80" dirty="0">
              <a:solidFill>
                <a:schemeClr val="accent6"/>
              </a:solidFill>
            </a:endParaRPr>
          </a:p>
          <a:p>
            <a:r>
              <a:rPr lang="en-US" sz="1800" kern="0" spc="-80" dirty="0">
                <a:solidFill>
                  <a:schemeClr val="accent2"/>
                </a:solidFill>
              </a:rPr>
              <a:t>3. Routing &amp; Lookup</a:t>
            </a:r>
          </a:p>
          <a:p>
            <a:r>
              <a:rPr lang="en-US" sz="1800" kern="0" spc="-80" dirty="0">
                <a:solidFill>
                  <a:schemeClr val="accent2"/>
                </a:solidFill>
              </a:rPr>
              <a:t>Core to structured P2P:</a:t>
            </a:r>
          </a:p>
          <a:p>
            <a:r>
              <a:rPr lang="en-US" sz="1800" kern="0" spc="-80" dirty="0">
                <a:solidFill>
                  <a:schemeClr val="accent6"/>
                </a:solidFill>
              </a:rPr>
              <a:t>DHT maps Key → Node</a:t>
            </a:r>
          </a:p>
          <a:p>
            <a:r>
              <a:rPr lang="en-US" sz="1800" kern="0" spc="-80" dirty="0">
                <a:solidFill>
                  <a:schemeClr val="accent6"/>
                </a:solidFill>
              </a:rPr>
              <a:t>A search for a key routes via responsible peers</a:t>
            </a:r>
          </a:p>
          <a:p>
            <a:r>
              <a:rPr lang="en-US" sz="1800" kern="0" spc="-80" dirty="0">
                <a:solidFill>
                  <a:schemeClr val="accent2"/>
                </a:solidFill>
              </a:rPr>
              <a:t>Example (</a:t>
            </a:r>
            <a:r>
              <a:rPr lang="en-US" sz="1800" kern="0" spc="-80" dirty="0" err="1">
                <a:solidFill>
                  <a:schemeClr val="accent2"/>
                </a:solidFill>
              </a:rPr>
              <a:t>Kademlia</a:t>
            </a:r>
            <a:r>
              <a:rPr lang="en-US" sz="1800" kern="0" spc="-80" dirty="0">
                <a:solidFill>
                  <a:schemeClr val="accent2"/>
                </a:solidFill>
              </a:rPr>
              <a:t> approach):</a:t>
            </a:r>
            <a:r>
              <a:rPr lang="en-US" sz="1800" kern="0" spc="-80" dirty="0">
                <a:solidFill>
                  <a:schemeClr val="accent6"/>
                </a:solidFill>
              </a:rPr>
              <a:t> XR = XOR(</a:t>
            </a:r>
            <a:r>
              <a:rPr lang="en-US" sz="1800" kern="0" spc="-80" dirty="0" err="1">
                <a:solidFill>
                  <a:schemeClr val="accent6"/>
                </a:solidFill>
              </a:rPr>
              <a:t>NodeID</a:t>
            </a:r>
            <a:r>
              <a:rPr lang="en-US" sz="1800" kern="0" spc="-80" dirty="0">
                <a:solidFill>
                  <a:schemeClr val="accent6"/>
                </a:solidFill>
              </a:rPr>
              <a:t>, Key)</a:t>
            </a:r>
          </a:p>
          <a:p>
            <a:r>
              <a:rPr lang="en-US" sz="1800" kern="0" spc="-80" dirty="0">
                <a:solidFill>
                  <a:schemeClr val="accent6"/>
                </a:solidFill>
              </a:rPr>
              <a:t>Pick the node with minimum XR</a:t>
            </a:r>
          </a:p>
        </p:txBody>
      </p:sp>
    </p:spTree>
    <p:extLst>
      <p:ext uri="{BB962C8B-B14F-4D97-AF65-F5344CB8AC3E}">
        <p14:creationId xmlns:p14="http://schemas.microsoft.com/office/powerpoint/2010/main" val="1573734671"/>
      </p:ext>
    </p:extLst>
  </p:cSld>
  <p:clrMapOvr>
    <a:masterClrMapping/>
  </p:clrMapOvr>
</p:sld>
</file>

<file path=ppt/slides/slide5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2BE51-47F7-76D2-7062-192297C175E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08A7D52-3166-779D-6CAB-C332B8C4FFD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3F94A2A-14C8-E53E-6936-E51C7BBEEC2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5F2D932-365D-D896-28EE-C8249551E058}"/>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979AB96C-596E-02C5-FACB-D0DE169503D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8CD54A0-8A42-ADB8-1070-037DE5D93DC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74FD02A-FDB9-02DB-882D-C7ABF42D30D4}"/>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0BE6E6A6-00AA-8F46-A0C2-BB73F3EEE09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D40FD62F-B008-6F7A-F0C7-2EFFBC01743C}"/>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7E4C58BA-75E5-5E01-CCF4-DC83D5F3725E}"/>
              </a:ext>
            </a:extLst>
          </p:cNvPr>
          <p:cNvSpPr txBox="1">
            <a:spLocks/>
          </p:cNvSpPr>
          <p:nvPr/>
        </p:nvSpPr>
        <p:spPr>
          <a:xfrm>
            <a:off x="228600" y="762000"/>
            <a:ext cx="8624937" cy="50783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80" dirty="0">
                <a:solidFill>
                  <a:schemeClr val="accent2"/>
                </a:solidFill>
              </a:rPr>
              <a:t>4. Replication</a:t>
            </a:r>
          </a:p>
          <a:p>
            <a:r>
              <a:rPr lang="en-US" sz="1500" kern="0" spc="-80" dirty="0">
                <a:solidFill>
                  <a:schemeClr val="accent6"/>
                </a:solidFill>
              </a:rPr>
              <a:t>To prevent data loss when peers go offline:</a:t>
            </a:r>
          </a:p>
          <a:p>
            <a:r>
              <a:rPr lang="en-US" sz="1500" kern="0" spc="-80" dirty="0">
                <a:solidFill>
                  <a:schemeClr val="accent6"/>
                </a:solidFill>
              </a:rPr>
              <a:t>Replicate to neighbors</a:t>
            </a:r>
          </a:p>
          <a:p>
            <a:r>
              <a:rPr lang="en-US" sz="1500" kern="0" spc="-80" dirty="0">
                <a:solidFill>
                  <a:schemeClr val="accent6"/>
                </a:solidFill>
              </a:rPr>
              <a:t>Replicate to k-closest nodes</a:t>
            </a:r>
          </a:p>
          <a:p>
            <a:r>
              <a:rPr lang="en-US" sz="1500" kern="0" spc="-80" dirty="0">
                <a:solidFill>
                  <a:schemeClr val="accent6"/>
                </a:solidFill>
              </a:rPr>
              <a:t>Use erasure coding</a:t>
            </a:r>
          </a:p>
          <a:p>
            <a:endParaRPr lang="en-US" sz="1500" kern="0" spc="-80" dirty="0">
              <a:solidFill>
                <a:schemeClr val="accent6"/>
              </a:solidFill>
            </a:endParaRPr>
          </a:p>
          <a:p>
            <a:r>
              <a:rPr lang="en-US" sz="1500" kern="0" spc="-80" dirty="0">
                <a:solidFill>
                  <a:schemeClr val="accent2"/>
                </a:solidFill>
              </a:rPr>
              <a:t>5. NAT Traversal</a:t>
            </a:r>
          </a:p>
          <a:p>
            <a:r>
              <a:rPr lang="en-US" sz="1500" kern="0" spc="-80" dirty="0">
                <a:solidFill>
                  <a:schemeClr val="accent6"/>
                </a:solidFill>
              </a:rPr>
              <a:t>Nodes behind NAT can’t accept inbound connections.</a:t>
            </a:r>
          </a:p>
          <a:p>
            <a:r>
              <a:rPr lang="en-US" sz="1500" kern="0" spc="-80" dirty="0">
                <a:solidFill>
                  <a:schemeClr val="accent2"/>
                </a:solidFill>
              </a:rPr>
              <a:t>Solutions:</a:t>
            </a:r>
          </a:p>
          <a:p>
            <a:r>
              <a:rPr lang="en-US" sz="1500" kern="0" spc="-80" dirty="0">
                <a:solidFill>
                  <a:schemeClr val="accent6"/>
                </a:solidFill>
              </a:rPr>
              <a:t>STUN (discover your public </a:t>
            </a:r>
            <a:r>
              <a:rPr lang="en-US" sz="1500" kern="0" spc="-80" dirty="0" err="1">
                <a:solidFill>
                  <a:schemeClr val="accent6"/>
                </a:solidFill>
              </a:rPr>
              <a:t>IP:port</a:t>
            </a:r>
            <a:r>
              <a:rPr lang="en-US" sz="1500" kern="0" spc="-80" dirty="0">
                <a:solidFill>
                  <a:schemeClr val="accent6"/>
                </a:solidFill>
              </a:rPr>
              <a:t>)</a:t>
            </a:r>
          </a:p>
          <a:p>
            <a:r>
              <a:rPr lang="en-US" sz="1500" kern="0" spc="-80" dirty="0">
                <a:solidFill>
                  <a:schemeClr val="accent6"/>
                </a:solidFill>
              </a:rPr>
              <a:t>TURN (relay data via server if needed)</a:t>
            </a:r>
          </a:p>
          <a:p>
            <a:r>
              <a:rPr lang="en-US" sz="1500" kern="0" spc="-80" dirty="0">
                <a:solidFill>
                  <a:schemeClr val="accent6"/>
                </a:solidFill>
              </a:rPr>
              <a:t>ICE Framework (try all paths until one succeeds)</a:t>
            </a:r>
          </a:p>
          <a:p>
            <a:r>
              <a:rPr lang="en-US" sz="1500" kern="0" spc="-80" dirty="0">
                <a:solidFill>
                  <a:schemeClr val="accent6"/>
                </a:solidFill>
              </a:rPr>
              <a:t>Used heavily in WebRTC and P2P voice apps like Skype.</a:t>
            </a:r>
          </a:p>
          <a:p>
            <a:endParaRPr lang="en-US" sz="1500" kern="0" spc="-80" dirty="0">
              <a:solidFill>
                <a:schemeClr val="accent6"/>
              </a:solidFill>
            </a:endParaRPr>
          </a:p>
          <a:p>
            <a:r>
              <a:rPr lang="en-US" sz="1500" kern="0" spc="-80" dirty="0">
                <a:solidFill>
                  <a:schemeClr val="accent2"/>
                </a:solidFill>
              </a:rPr>
              <a:t>🔑 4. Distributed Hash Tables (DHTs)</a:t>
            </a:r>
          </a:p>
          <a:p>
            <a:r>
              <a:rPr lang="en-US" sz="1500" kern="0" spc="-80" dirty="0">
                <a:solidFill>
                  <a:schemeClr val="accent6"/>
                </a:solidFill>
              </a:rPr>
              <a:t>DHTs allow scalable, structured lookup.</a:t>
            </a:r>
          </a:p>
          <a:p>
            <a:r>
              <a:rPr lang="en-US" sz="1500" kern="0" spc="-80" dirty="0">
                <a:solidFill>
                  <a:schemeClr val="accent2"/>
                </a:solidFill>
              </a:rPr>
              <a:t>DHT	      Routing base	              Max hops	                 Architectures used in</a:t>
            </a:r>
          </a:p>
          <a:p>
            <a:r>
              <a:rPr lang="en-US" sz="1500" kern="0" spc="-80" dirty="0">
                <a:solidFill>
                  <a:schemeClr val="accent6"/>
                </a:solidFill>
              </a:rPr>
              <a:t>Chord	      Ring	                                O(log n)	                 Academic / historical</a:t>
            </a:r>
          </a:p>
          <a:p>
            <a:r>
              <a:rPr lang="en-US" sz="1500" kern="0" spc="-80" dirty="0" err="1">
                <a:solidFill>
                  <a:schemeClr val="accent6"/>
                </a:solidFill>
              </a:rPr>
              <a:t>Kademlia</a:t>
            </a:r>
            <a:r>
              <a:rPr lang="en-US" sz="1500" kern="0" spc="-80" dirty="0">
                <a:solidFill>
                  <a:schemeClr val="accent6"/>
                </a:solidFill>
              </a:rPr>
              <a:t>        XOR distance	              O(log n)	                 BitTorrent, IPFS, Ethereum</a:t>
            </a:r>
          </a:p>
          <a:p>
            <a:r>
              <a:rPr lang="en-US" sz="1500" kern="0" spc="-80" dirty="0">
                <a:solidFill>
                  <a:schemeClr val="accent6"/>
                </a:solidFill>
              </a:rPr>
              <a:t>Pastry	      Prefix routing	              O(log n)	                 PAST storage system</a:t>
            </a:r>
          </a:p>
          <a:p>
            <a:r>
              <a:rPr lang="en-US" sz="1500" kern="0" spc="-80" dirty="0">
                <a:solidFill>
                  <a:schemeClr val="accent6"/>
                </a:solidFill>
              </a:rPr>
              <a:t>CAN	      Multi-dimensional             O(n^(1/d))	                 Academic</a:t>
            </a:r>
          </a:p>
          <a:p>
            <a:r>
              <a:rPr lang="en-US" sz="1500" kern="0" spc="-80" dirty="0" err="1">
                <a:solidFill>
                  <a:schemeClr val="accent6"/>
                </a:solidFill>
              </a:rPr>
              <a:t>Kademlia</a:t>
            </a:r>
            <a:r>
              <a:rPr lang="en-US" sz="1500" kern="0" spc="-80" dirty="0">
                <a:solidFill>
                  <a:schemeClr val="accent6"/>
                </a:solidFill>
              </a:rPr>
              <a:t> is the most widely used today.</a:t>
            </a:r>
          </a:p>
        </p:txBody>
      </p:sp>
    </p:spTree>
    <p:extLst>
      <p:ext uri="{BB962C8B-B14F-4D97-AF65-F5344CB8AC3E}">
        <p14:creationId xmlns:p14="http://schemas.microsoft.com/office/powerpoint/2010/main" val="4187388271"/>
      </p:ext>
    </p:extLst>
  </p:cSld>
  <p:clrMapOvr>
    <a:masterClrMapping/>
  </p:clrMapOvr>
</p:sld>
</file>

<file path=ppt/slides/slide5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0773F-49AA-B449-F024-D0756057CD9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3111ED7-3A07-E1BE-37E1-C68C291FF69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734BFEE-4501-6C0E-9D2A-BD8A1AE35CE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6E2E611-AD3E-0308-AA1E-EBD456B2B74B}"/>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DA7778C6-9B3B-44D5-2831-B4CF80E97E7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E2BDE68-BA2B-A92E-FDED-B15F76FAB5B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DC2426C-512A-FCEB-6DC3-BACA6AFCA21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CEF98D72-69D0-6F75-591E-2370332A297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AF9E250A-BC7E-9845-385B-F342BE3132F6}"/>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A4D1252F-DF58-81AD-2169-D154EBD5F5E1}"/>
              </a:ext>
            </a:extLst>
          </p:cNvPr>
          <p:cNvSpPr txBox="1">
            <a:spLocks/>
          </p:cNvSpPr>
          <p:nvPr/>
        </p:nvSpPr>
        <p:spPr>
          <a:xfrm>
            <a:off x="228600" y="762000"/>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700" kern="0" spc="-80" dirty="0">
                <a:solidFill>
                  <a:schemeClr val="accent2"/>
                </a:solidFill>
              </a:rPr>
              <a:t>🎡 5. Real-World P2P Systems</a:t>
            </a:r>
          </a:p>
          <a:p>
            <a:endParaRPr lang="en-US" sz="1700" kern="0" spc="-80" dirty="0">
              <a:solidFill>
                <a:schemeClr val="accent6"/>
              </a:solidFill>
            </a:endParaRPr>
          </a:p>
          <a:p>
            <a:endParaRPr lang="en-US" sz="1700" kern="0" spc="-80" dirty="0">
              <a:solidFill>
                <a:schemeClr val="accent6"/>
              </a:solidFill>
            </a:endParaRPr>
          </a:p>
          <a:p>
            <a:endParaRPr lang="en-US" sz="1700" kern="0" spc="-80" dirty="0">
              <a:solidFill>
                <a:schemeClr val="accent6"/>
              </a:solidFill>
            </a:endParaRPr>
          </a:p>
          <a:p>
            <a:endParaRPr lang="en-US" sz="1700" kern="0" spc="-80" dirty="0">
              <a:solidFill>
                <a:schemeClr val="accent6"/>
              </a:solidFill>
            </a:endParaRPr>
          </a:p>
          <a:p>
            <a:endParaRPr lang="en-US" sz="1700" kern="0" spc="-80" dirty="0">
              <a:solidFill>
                <a:schemeClr val="accent6"/>
              </a:solidFill>
            </a:endParaRPr>
          </a:p>
          <a:p>
            <a:endParaRPr lang="en-US" sz="1700" kern="0" spc="-80" dirty="0">
              <a:solidFill>
                <a:schemeClr val="accent6"/>
              </a:solidFill>
            </a:endParaRPr>
          </a:p>
          <a:p>
            <a:endParaRPr lang="en-US" sz="1700" kern="0" spc="-80" dirty="0">
              <a:solidFill>
                <a:schemeClr val="accent6"/>
              </a:solidFill>
            </a:endParaRPr>
          </a:p>
          <a:p>
            <a:endParaRPr lang="en-US" sz="1700" kern="0" spc="-80" dirty="0">
              <a:solidFill>
                <a:schemeClr val="accent6"/>
              </a:solidFill>
            </a:endParaRPr>
          </a:p>
          <a:p>
            <a:endParaRPr lang="en-US" sz="1700" kern="0" spc="-80" dirty="0">
              <a:solidFill>
                <a:schemeClr val="accent6"/>
              </a:solidFill>
            </a:endParaRPr>
          </a:p>
          <a:p>
            <a:endParaRPr lang="en-US" sz="1700" kern="0" spc="-80" dirty="0">
              <a:solidFill>
                <a:schemeClr val="accent6"/>
              </a:solidFill>
            </a:endParaRPr>
          </a:p>
          <a:p>
            <a:endParaRPr lang="en-US" sz="1700" kern="0" spc="-80" dirty="0">
              <a:solidFill>
                <a:schemeClr val="accent6"/>
              </a:solidFill>
            </a:endParaRPr>
          </a:p>
          <a:p>
            <a:endParaRPr lang="en-US" sz="1700" kern="0" spc="-80" dirty="0">
              <a:solidFill>
                <a:schemeClr val="accent6"/>
              </a:solidFill>
            </a:endParaRPr>
          </a:p>
          <a:p>
            <a:r>
              <a:rPr lang="en-US" sz="1700" kern="0" spc="-80" dirty="0">
                <a:solidFill>
                  <a:schemeClr val="accent2"/>
                </a:solidFill>
              </a:rPr>
              <a:t>🧬 6. Data Persistence &amp; Consistency Approaches</a:t>
            </a:r>
          </a:p>
          <a:p>
            <a:r>
              <a:rPr lang="en-US" sz="1700" kern="0" spc="-80" dirty="0">
                <a:solidFill>
                  <a:schemeClr val="accent6"/>
                </a:solidFill>
              </a:rPr>
              <a:t>P2P must tolerate churn (peers joining/leaving frequently).</a:t>
            </a:r>
          </a:p>
          <a:p>
            <a:r>
              <a:rPr lang="en-US" sz="1700" kern="0" spc="-80" dirty="0">
                <a:solidFill>
                  <a:schemeClr val="accent2"/>
                </a:solidFill>
              </a:rPr>
              <a:t>Strategy	                                    Use Case	                           Example</a:t>
            </a:r>
          </a:p>
          <a:p>
            <a:r>
              <a:rPr lang="en-US" sz="1700" kern="0" spc="-80" dirty="0">
                <a:solidFill>
                  <a:schemeClr val="accent6"/>
                </a:solidFill>
              </a:rPr>
              <a:t>Replication to k nodes	     General resilience	           </a:t>
            </a:r>
            <a:r>
              <a:rPr lang="en-US" sz="1700" kern="0" spc="-80" dirty="0" err="1">
                <a:solidFill>
                  <a:schemeClr val="accent6"/>
                </a:solidFill>
              </a:rPr>
              <a:t>Kademlia</a:t>
            </a:r>
            <a:endParaRPr lang="en-US" sz="1700" kern="0" spc="-80" dirty="0">
              <a:solidFill>
                <a:schemeClr val="accent6"/>
              </a:solidFill>
            </a:endParaRPr>
          </a:p>
          <a:p>
            <a:r>
              <a:rPr lang="en-US" sz="1700" kern="0" spc="-80" dirty="0">
                <a:solidFill>
                  <a:schemeClr val="accent6"/>
                </a:solidFill>
              </a:rPr>
              <a:t>Merkle DAGs	                     Immutable chains                      IPFS, Git</a:t>
            </a:r>
          </a:p>
          <a:p>
            <a:r>
              <a:rPr lang="en-US" sz="1700" kern="0" spc="-80" dirty="0">
                <a:solidFill>
                  <a:schemeClr val="accent6"/>
                </a:solidFill>
              </a:rPr>
              <a:t>Gossip / epidemic protocols   Blockchain propagation	           Bitcoin, Ethereum</a:t>
            </a:r>
          </a:p>
          <a:p>
            <a:r>
              <a:rPr lang="en-US" sz="1700" kern="0" spc="-80" dirty="0">
                <a:solidFill>
                  <a:schemeClr val="accent6"/>
                </a:solidFill>
              </a:rPr>
              <a:t>CRDTs	                                    Conflict-free shared data          Collaborative editors</a:t>
            </a:r>
          </a:p>
        </p:txBody>
      </p:sp>
      <p:pic>
        <p:nvPicPr>
          <p:cNvPr id="13" name="Picture 12" descr="A table with text on it&#10;&#10;AI-generated content may be incorrect.">
            <a:extLst>
              <a:ext uri="{FF2B5EF4-FFF2-40B4-BE49-F238E27FC236}">
                <a16:creationId xmlns:a16="http://schemas.microsoft.com/office/drawing/2014/main" id="{A1C262D1-1CBD-EDF8-94D3-71E93C14627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06748" y="1026560"/>
            <a:ext cx="8915399" cy="2914800"/>
          </a:xfrm>
          <a:prstGeom prst="rect">
            <a:avLst/>
          </a:prstGeom>
        </p:spPr>
      </p:pic>
    </p:spTree>
    <p:extLst>
      <p:ext uri="{BB962C8B-B14F-4D97-AF65-F5344CB8AC3E}">
        <p14:creationId xmlns:p14="http://schemas.microsoft.com/office/powerpoint/2010/main" val="3245327935"/>
      </p:ext>
    </p:extLst>
  </p:cSld>
  <p:clrMapOvr>
    <a:masterClrMapping/>
  </p:clrMapOvr>
</p:sld>
</file>

<file path=ppt/slides/slide5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07D4B-EF22-580D-793D-9E9B6FF277A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7DDB223-5A0E-3DFD-2F31-7D3DBDEDC7E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2028FBB-BE16-DB7C-54E8-E426507AA07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1AE325D-9E33-3555-75CD-3A8E4F006CF1}"/>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ADDC8711-B97A-6D53-1FBD-82CD42E5BC7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0A661B6-265E-C819-6467-AA74310FFF2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D05A67E-313B-5472-45CF-1FA466401EB9}"/>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165DF126-0F28-B33E-54BB-2A78156C0A3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D4CFB540-A828-C08B-7814-FBD6E083ED8A}"/>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CE4439F3-657E-409E-7D76-E333EC1127F6}"/>
              </a:ext>
            </a:extLst>
          </p:cNvPr>
          <p:cNvSpPr txBox="1">
            <a:spLocks/>
          </p:cNvSpPr>
          <p:nvPr/>
        </p:nvSpPr>
        <p:spPr>
          <a:xfrm>
            <a:off x="228600" y="762000"/>
            <a:ext cx="8624937" cy="517064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kern="0" spc="-80" dirty="0">
                <a:solidFill>
                  <a:schemeClr val="accent2"/>
                </a:solidFill>
              </a:rPr>
              <a:t>🔒 7. Security Challenges &amp; Mechanisms</a:t>
            </a:r>
          </a:p>
          <a:p>
            <a:r>
              <a:rPr lang="en-US" sz="1600" kern="0" spc="-80" dirty="0">
                <a:solidFill>
                  <a:schemeClr val="accent2"/>
                </a:solidFill>
              </a:rPr>
              <a:t>Problem	                                Solution</a:t>
            </a:r>
          </a:p>
          <a:p>
            <a:r>
              <a:rPr lang="en-US" sz="1600" kern="0" spc="-80" dirty="0">
                <a:solidFill>
                  <a:schemeClr val="accent6"/>
                </a:solidFill>
              </a:rPr>
              <a:t>Sybil attacks (fake peers)	 Proof-of-Work / Stake / Identity attestations</a:t>
            </a:r>
          </a:p>
          <a:p>
            <a:r>
              <a:rPr lang="en-US" sz="1600" kern="0" spc="-80" dirty="0">
                <a:solidFill>
                  <a:schemeClr val="accent6"/>
                </a:solidFill>
              </a:rPr>
              <a:t>Man-in-the-middle	                 End-to-end encryption</a:t>
            </a:r>
          </a:p>
          <a:p>
            <a:r>
              <a:rPr lang="en-US" sz="1600" kern="0" spc="-80" dirty="0">
                <a:solidFill>
                  <a:schemeClr val="accent6"/>
                </a:solidFill>
              </a:rPr>
              <a:t>Data poisoning	                 Hash-based verification (Merkle trees)</a:t>
            </a:r>
          </a:p>
          <a:p>
            <a:r>
              <a:rPr lang="en-US" sz="1600" kern="0" spc="-80" dirty="0">
                <a:solidFill>
                  <a:schemeClr val="accent6"/>
                </a:solidFill>
              </a:rPr>
              <a:t>Eclipse attacks	                 Limit peer influence, rotate peer tables</a:t>
            </a:r>
          </a:p>
          <a:p>
            <a:r>
              <a:rPr lang="en-US" sz="1600" kern="0" spc="-80" dirty="0">
                <a:solidFill>
                  <a:schemeClr val="accent6"/>
                </a:solidFill>
              </a:rPr>
              <a:t>Public key cryptography is core to all P2P identity systems.</a:t>
            </a:r>
          </a:p>
          <a:p>
            <a:endParaRPr lang="en-US" sz="1600" kern="0" spc="-80" dirty="0">
              <a:solidFill>
                <a:schemeClr val="accent6"/>
              </a:solidFill>
            </a:endParaRPr>
          </a:p>
          <a:p>
            <a:r>
              <a:rPr lang="en-US" sz="1600" kern="0" spc="-80" dirty="0">
                <a:solidFill>
                  <a:schemeClr val="accent2"/>
                </a:solidFill>
              </a:rPr>
              <a:t>🌍 8. Performance Characteristics</a:t>
            </a:r>
          </a:p>
          <a:p>
            <a:r>
              <a:rPr lang="en-US" sz="1600" kern="0" spc="-80" dirty="0">
                <a:solidFill>
                  <a:schemeClr val="accent2"/>
                </a:solidFill>
              </a:rPr>
              <a:t>Metric	                    P2P Impact</a:t>
            </a:r>
          </a:p>
          <a:p>
            <a:r>
              <a:rPr lang="en-US" sz="1600" kern="0" spc="-80" dirty="0">
                <a:solidFill>
                  <a:schemeClr val="accent6"/>
                </a:solidFill>
              </a:rPr>
              <a:t>Scalability	    Very high; more peers = more resources</a:t>
            </a:r>
          </a:p>
          <a:p>
            <a:r>
              <a:rPr lang="en-US" sz="1600" kern="0" spc="-80" dirty="0">
                <a:solidFill>
                  <a:schemeClr val="accent6"/>
                </a:solidFill>
              </a:rPr>
              <a:t>Latency	                    Variable, often higher than client-server</a:t>
            </a:r>
          </a:p>
          <a:p>
            <a:r>
              <a:rPr lang="en-US" sz="1600" kern="0" spc="-80" dirty="0">
                <a:solidFill>
                  <a:schemeClr val="accent6"/>
                </a:solidFill>
              </a:rPr>
              <a:t>Reliability	    High with replication, low without</a:t>
            </a:r>
          </a:p>
          <a:p>
            <a:r>
              <a:rPr lang="en-US" sz="1600" kern="0" spc="-80" dirty="0">
                <a:solidFill>
                  <a:schemeClr val="accent6"/>
                </a:solidFill>
              </a:rPr>
              <a:t>Bandwidth usage	    Can be high (neighbor communication)</a:t>
            </a:r>
          </a:p>
          <a:p>
            <a:endParaRPr lang="en-US" sz="1600" kern="0" spc="-80" dirty="0">
              <a:solidFill>
                <a:schemeClr val="accent6"/>
              </a:solidFill>
            </a:endParaRPr>
          </a:p>
          <a:p>
            <a:r>
              <a:rPr lang="en-US" sz="1600" kern="0" spc="-80" dirty="0">
                <a:solidFill>
                  <a:schemeClr val="accent2"/>
                </a:solidFill>
              </a:rPr>
              <a:t>✅ 9. When to Use P2P</a:t>
            </a:r>
          </a:p>
          <a:p>
            <a:r>
              <a:rPr lang="en-US" sz="1600" kern="0" spc="-80" dirty="0">
                <a:solidFill>
                  <a:schemeClr val="accent2"/>
                </a:solidFill>
              </a:rPr>
              <a:t>✅ You should use P2P when:</a:t>
            </a:r>
          </a:p>
          <a:p>
            <a:r>
              <a:rPr lang="en-US" sz="1600" kern="0" spc="-80" dirty="0">
                <a:solidFill>
                  <a:schemeClr val="accent6"/>
                </a:solidFill>
              </a:rPr>
              <a:t>Resources are widely distributed</a:t>
            </a:r>
          </a:p>
          <a:p>
            <a:r>
              <a:rPr lang="en-US" sz="1600" kern="0" spc="-80" dirty="0">
                <a:solidFill>
                  <a:schemeClr val="accent6"/>
                </a:solidFill>
              </a:rPr>
              <a:t>Central authority is undesirable/expensive</a:t>
            </a:r>
          </a:p>
          <a:p>
            <a:r>
              <a:rPr lang="en-US" sz="1600" kern="0" spc="-80" dirty="0">
                <a:solidFill>
                  <a:schemeClr val="accent6"/>
                </a:solidFill>
              </a:rPr>
              <a:t>The system must scale massively</a:t>
            </a:r>
          </a:p>
          <a:p>
            <a:r>
              <a:rPr lang="en-US" sz="1600" kern="0" spc="-80" dirty="0">
                <a:solidFill>
                  <a:schemeClr val="accent6"/>
                </a:solidFill>
              </a:rPr>
              <a:t>Failover / decentralization is needed</a:t>
            </a:r>
          </a:p>
        </p:txBody>
      </p:sp>
    </p:spTree>
    <p:extLst>
      <p:ext uri="{BB962C8B-B14F-4D97-AF65-F5344CB8AC3E}">
        <p14:creationId xmlns:p14="http://schemas.microsoft.com/office/powerpoint/2010/main" val="2792803397"/>
      </p:ext>
    </p:extLst>
  </p:cSld>
  <p:clrMapOvr>
    <a:masterClrMapping/>
  </p:clrMapOvr>
</p:sld>
</file>

<file path=ppt/slides/slide5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78BB2-9792-6C9C-3CBE-8F35CC4A3B9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511DE9D-5D93-A92C-C3F8-D16444B558A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A40A8B5-0D40-B146-A9D8-CFD0B9FC188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3FE2345-2B65-B69D-B770-1FA3BCE8B8E1}"/>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1D820682-BA61-D8C0-1516-4B7D3AB5FF3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119C083-86E8-08FC-C9BB-3D0E27BE812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80E8849-44B8-1717-CBD5-730CA6C28746}"/>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7FA916A-1A49-93E6-3B42-7BE93505600B}"/>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1200FEE6-8321-45D5-BA41-DFB24E0CBC41}"/>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DBADF545-1442-EED6-B47D-F41C36F85515}"/>
              </a:ext>
            </a:extLst>
          </p:cNvPr>
          <p:cNvSpPr txBox="1">
            <a:spLocks/>
          </p:cNvSpPr>
          <p:nvPr/>
        </p:nvSpPr>
        <p:spPr>
          <a:xfrm>
            <a:off x="228600" y="762000"/>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kern="0" spc="-80" dirty="0">
                <a:solidFill>
                  <a:schemeClr val="accent2"/>
                </a:solidFill>
              </a:rPr>
              <a:t>❌ Not ideal when:</a:t>
            </a:r>
          </a:p>
          <a:p>
            <a:r>
              <a:rPr lang="en-US" sz="1600" kern="0" spc="-80" dirty="0">
                <a:solidFill>
                  <a:schemeClr val="accent6"/>
                </a:solidFill>
              </a:rPr>
              <a:t>Strong consistency is required</a:t>
            </a:r>
          </a:p>
          <a:p>
            <a:r>
              <a:rPr lang="en-US" sz="1600" kern="0" spc="-80" dirty="0">
                <a:solidFill>
                  <a:schemeClr val="accent6"/>
                </a:solidFill>
              </a:rPr>
              <a:t>Very low latency is required</a:t>
            </a:r>
          </a:p>
          <a:p>
            <a:r>
              <a:rPr lang="en-US" sz="1600" kern="0" spc="-80" dirty="0">
                <a:solidFill>
                  <a:schemeClr val="accent6"/>
                </a:solidFill>
              </a:rPr>
              <a:t>Regulatory compliance requires central auditability</a:t>
            </a:r>
          </a:p>
          <a:p>
            <a:endParaRPr lang="en-US" sz="1600" kern="0" spc="-80" dirty="0">
              <a:solidFill>
                <a:schemeClr val="accent6"/>
              </a:solidFill>
            </a:endParaRPr>
          </a:p>
          <a:p>
            <a:r>
              <a:rPr lang="en-US" sz="1600" kern="0" spc="-80" dirty="0">
                <a:solidFill>
                  <a:schemeClr val="accent2"/>
                </a:solidFill>
              </a:rPr>
              <a:t>🎯 Summary (In One Sentence)</a:t>
            </a:r>
          </a:p>
          <a:p>
            <a:r>
              <a:rPr lang="en-US" sz="1600" kern="0" spc="-80" dirty="0">
                <a:solidFill>
                  <a:schemeClr val="accent6"/>
                </a:solidFill>
              </a:rPr>
              <a:t>P2P networks distribute storage, compute, and control across many nodes using overlay networks, distributed hash tables, gossip, and cryptography to achieve scalability, decentralization, and resilience — without relying on a central server.</a:t>
            </a:r>
          </a:p>
          <a:p>
            <a:endParaRPr lang="en-US" sz="1600" kern="0" spc="-80" dirty="0">
              <a:solidFill>
                <a:schemeClr val="accent6"/>
              </a:solidFill>
            </a:endParaRPr>
          </a:p>
          <a:p>
            <a:r>
              <a:rPr lang="en-US" sz="2000" kern="0" spc="-80" dirty="0">
                <a:solidFill>
                  <a:schemeClr val="accent2"/>
                </a:solidFill>
              </a:rPr>
              <a:t>Overlay Networks</a:t>
            </a:r>
          </a:p>
          <a:p>
            <a:r>
              <a:rPr lang="en-US" sz="1600" kern="0" spc="-80" dirty="0">
                <a:solidFill>
                  <a:schemeClr val="accent2"/>
                </a:solidFill>
              </a:rPr>
              <a:t>🧭 1. What is an Overlay Network?</a:t>
            </a:r>
          </a:p>
          <a:p>
            <a:r>
              <a:rPr lang="en-US" sz="1600" kern="0" spc="-80" dirty="0">
                <a:solidFill>
                  <a:schemeClr val="accent6"/>
                </a:solidFill>
              </a:rPr>
              <a:t>An Overlay Network is a logical network built on top of an existing physical network (usually the Internet).</a:t>
            </a:r>
          </a:p>
          <a:p>
            <a:r>
              <a:rPr lang="en-US" sz="1600" kern="0" spc="-80" dirty="0">
                <a:solidFill>
                  <a:schemeClr val="accent6"/>
                </a:solidFill>
              </a:rPr>
              <a:t>Nodes are connected by virtual links that correspond to paths on the underlying Internet.</a:t>
            </a:r>
          </a:p>
          <a:p>
            <a:r>
              <a:rPr lang="en-US" sz="1600" kern="0" spc="-80" dirty="0">
                <a:solidFill>
                  <a:schemeClr val="accent6"/>
                </a:solidFill>
              </a:rPr>
              <a:t>Think of it as a "network on top of a network".</a:t>
            </a:r>
          </a:p>
          <a:p>
            <a:r>
              <a:rPr lang="en-US" sz="1600" kern="0" spc="-80" dirty="0">
                <a:solidFill>
                  <a:schemeClr val="accent6"/>
                </a:solidFill>
              </a:rPr>
              <a:t>Application Layer</a:t>
            </a:r>
          </a:p>
          <a:p>
            <a:r>
              <a:rPr lang="en-US" sz="1600" kern="0" spc="-80" dirty="0">
                <a:solidFill>
                  <a:schemeClr val="accent6"/>
                </a:solidFill>
              </a:rPr>
              <a:t>   ↑</a:t>
            </a:r>
          </a:p>
          <a:p>
            <a:r>
              <a:rPr lang="en-US" sz="1600" kern="0" spc="-80" dirty="0">
                <a:solidFill>
                  <a:schemeClr val="accent6"/>
                </a:solidFill>
              </a:rPr>
              <a:t>Overlay Network (logical links between peers)</a:t>
            </a:r>
          </a:p>
          <a:p>
            <a:r>
              <a:rPr lang="en-US" sz="1600" kern="0" spc="-80" dirty="0">
                <a:solidFill>
                  <a:schemeClr val="accent6"/>
                </a:solidFill>
              </a:rPr>
              <a:t>   ↑</a:t>
            </a:r>
          </a:p>
          <a:p>
            <a:r>
              <a:rPr lang="en-US" sz="1600" kern="0" spc="-80" dirty="0">
                <a:solidFill>
                  <a:schemeClr val="accent6"/>
                </a:solidFill>
              </a:rPr>
              <a:t>Physical Network (actual IP/TCP/UDP routes)</a:t>
            </a:r>
          </a:p>
        </p:txBody>
      </p:sp>
    </p:spTree>
    <p:extLst>
      <p:ext uri="{BB962C8B-B14F-4D97-AF65-F5344CB8AC3E}">
        <p14:creationId xmlns:p14="http://schemas.microsoft.com/office/powerpoint/2010/main" val="3578862022"/>
      </p:ext>
    </p:extLst>
  </p:cSld>
  <p:clrMapOvr>
    <a:masterClrMapping/>
  </p:clrMapOvr>
</p:sld>
</file>

<file path=ppt/slides/slide5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80D13-8250-9E0E-2F20-9C1AD72B3FD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F0573BF-7627-F9B8-26FB-DBA50956669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C71BA63-53E3-11A6-35B6-33C2151914A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4471715-0E2A-4FF4-592B-E4E6A14AAC7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F4B1F2C9-ECA2-7BAE-D50B-624C3ACA581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0149EA5-5694-D330-8EAA-8092AFFDA69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6028E87-2588-4223-AE5C-910921B05C7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6442C1A3-A6B6-C840-9EB9-BDCDD1FE56D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50FAE8DF-1E9C-67C3-6DFC-631B5215EEC5}"/>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D0B9A0A4-FAEC-B973-2C81-08C831676F7A}"/>
              </a:ext>
            </a:extLst>
          </p:cNvPr>
          <p:cNvSpPr txBox="1">
            <a:spLocks/>
          </p:cNvSpPr>
          <p:nvPr/>
        </p:nvSpPr>
        <p:spPr>
          <a:xfrm>
            <a:off x="228600" y="762000"/>
            <a:ext cx="8624937" cy="52475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80" dirty="0">
                <a:solidFill>
                  <a:schemeClr val="accent2"/>
                </a:solidFill>
              </a:rPr>
              <a:t>Overlay Networks</a:t>
            </a:r>
          </a:p>
          <a:p>
            <a:r>
              <a:rPr lang="en-US" sz="1700" kern="0" spc="-80" dirty="0">
                <a:solidFill>
                  <a:schemeClr val="accent2"/>
                </a:solidFill>
              </a:rPr>
              <a:t>Why do we need overlays?</a:t>
            </a:r>
          </a:p>
          <a:p>
            <a:r>
              <a:rPr lang="en-US" sz="1700" kern="0" spc="-80" dirty="0">
                <a:solidFill>
                  <a:schemeClr val="accent2"/>
                </a:solidFill>
              </a:rPr>
              <a:t>Native internet routing doesn’t support:</a:t>
            </a:r>
          </a:p>
          <a:p>
            <a:r>
              <a:rPr lang="en-US" sz="1700" kern="0" spc="-80" dirty="0">
                <a:solidFill>
                  <a:schemeClr val="accent6"/>
                </a:solidFill>
              </a:rPr>
              <a:t>Efficient peer discovery</a:t>
            </a:r>
          </a:p>
          <a:p>
            <a:r>
              <a:rPr lang="en-US" sz="1700" kern="0" spc="-80" dirty="0">
                <a:solidFill>
                  <a:schemeClr val="accent6"/>
                </a:solidFill>
              </a:rPr>
              <a:t>Content-based addressing</a:t>
            </a:r>
          </a:p>
          <a:p>
            <a:r>
              <a:rPr lang="en-US" sz="1700" kern="0" spc="-80" dirty="0">
                <a:solidFill>
                  <a:schemeClr val="accent6"/>
                </a:solidFill>
              </a:rPr>
              <a:t>Distributed file lookup</a:t>
            </a:r>
          </a:p>
          <a:p>
            <a:r>
              <a:rPr lang="en-US" sz="1700" kern="0" spc="-80" dirty="0">
                <a:solidFill>
                  <a:schemeClr val="accent6"/>
                </a:solidFill>
              </a:rPr>
              <a:t>Routing based on node IDs, not IPs</a:t>
            </a:r>
          </a:p>
          <a:p>
            <a:r>
              <a:rPr lang="en-US" sz="1700" kern="0" spc="-80" dirty="0">
                <a:solidFill>
                  <a:schemeClr val="accent6"/>
                </a:solidFill>
              </a:rPr>
              <a:t>So, Overlay Networks add custom control logic above IP.</a:t>
            </a:r>
          </a:p>
          <a:p>
            <a:endParaRPr lang="en-US" sz="1700" kern="0" spc="-80" dirty="0">
              <a:solidFill>
                <a:schemeClr val="accent6"/>
              </a:solidFill>
            </a:endParaRPr>
          </a:p>
          <a:p>
            <a:r>
              <a:rPr lang="en-US" sz="1700" kern="0" spc="-80" dirty="0">
                <a:solidFill>
                  <a:schemeClr val="accent2"/>
                </a:solidFill>
              </a:rPr>
              <a:t>🧱 2. Fundamental Components of Overlay Networks</a:t>
            </a:r>
          </a:p>
          <a:p>
            <a:endParaRPr lang="en-US" sz="1700" kern="0" spc="-80" dirty="0">
              <a:solidFill>
                <a:schemeClr val="accent2"/>
              </a:solidFill>
            </a:endParaRPr>
          </a:p>
          <a:p>
            <a:endParaRPr lang="en-US" sz="1700" kern="0" spc="-80" dirty="0">
              <a:solidFill>
                <a:schemeClr val="accent2"/>
              </a:solidFill>
            </a:endParaRPr>
          </a:p>
          <a:p>
            <a:endParaRPr lang="en-US" sz="1700" kern="0" spc="-80" dirty="0">
              <a:solidFill>
                <a:schemeClr val="accent2"/>
              </a:solidFill>
            </a:endParaRPr>
          </a:p>
          <a:p>
            <a:endParaRPr lang="en-US" sz="1700" kern="0" spc="-80" dirty="0">
              <a:solidFill>
                <a:schemeClr val="accent2"/>
              </a:solidFill>
            </a:endParaRPr>
          </a:p>
          <a:p>
            <a:endParaRPr lang="en-US" sz="1700" kern="0" spc="-80" dirty="0">
              <a:solidFill>
                <a:schemeClr val="accent2"/>
              </a:solidFill>
            </a:endParaRPr>
          </a:p>
          <a:p>
            <a:endParaRPr lang="en-US" sz="1700" kern="0" spc="-80" dirty="0">
              <a:solidFill>
                <a:schemeClr val="accent2"/>
              </a:solidFill>
            </a:endParaRPr>
          </a:p>
          <a:p>
            <a:endParaRPr lang="en-US" sz="1700" kern="0" spc="-80" dirty="0">
              <a:solidFill>
                <a:schemeClr val="accent2"/>
              </a:solidFill>
            </a:endParaRPr>
          </a:p>
          <a:p>
            <a:endParaRPr lang="en-US" sz="1700" kern="0" spc="-80" dirty="0">
              <a:solidFill>
                <a:schemeClr val="accent2"/>
              </a:solidFill>
            </a:endParaRPr>
          </a:p>
          <a:p>
            <a:r>
              <a:rPr lang="en-US" sz="1700" kern="0" spc="-80" dirty="0">
                <a:solidFill>
                  <a:schemeClr val="accent6"/>
                </a:solidFill>
              </a:rPr>
              <a:t>Overlay networks define how nodes see each other, not how the Internet actually wires them.</a:t>
            </a:r>
          </a:p>
        </p:txBody>
      </p:sp>
      <p:pic>
        <p:nvPicPr>
          <p:cNvPr id="13" name="Picture 12" descr="A screen shot of a table&#10;&#10;AI-generated content may be incorrect.">
            <a:extLst>
              <a:ext uri="{FF2B5EF4-FFF2-40B4-BE49-F238E27FC236}">
                <a16:creationId xmlns:a16="http://schemas.microsoft.com/office/drawing/2014/main" id="{A5E81BA6-B65D-433E-E77E-8CB27D3ED28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8600" y="3429000"/>
            <a:ext cx="8915399" cy="1988909"/>
          </a:xfrm>
          <a:prstGeom prst="rect">
            <a:avLst/>
          </a:prstGeom>
        </p:spPr>
      </p:pic>
    </p:spTree>
    <p:extLst>
      <p:ext uri="{BB962C8B-B14F-4D97-AF65-F5344CB8AC3E}">
        <p14:creationId xmlns:p14="http://schemas.microsoft.com/office/powerpoint/2010/main" val="3612650932"/>
      </p:ext>
    </p:extLst>
  </p:cSld>
  <p:clrMapOvr>
    <a:masterClrMapping/>
  </p:clrMapOvr>
</p:sld>
</file>

<file path=ppt/slides/slide5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CEAD7-4D8D-53A3-5941-CCC9C662EE0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610B9FA-A752-9D8E-5C0A-114933BC653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7EAA9D6-84BC-23F8-1A77-28204D46DC5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D4E1313-A807-4BA4-78F9-F1005E7D58E0}"/>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C898D783-27E5-8303-340F-EA343CC0544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6CED477-55ED-3307-B5CA-C8C997B03A6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5CE033E-7170-C3D8-CBE3-8CC9F5C9ECBD}"/>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165E693C-B8AF-4C1C-8F3C-B6B83B9C8BFB}"/>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AAA5DDAF-9BB5-CD95-513F-0D860B9DF851}"/>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9EC600F7-D5F3-79C7-AFDB-BF345EE988CE}"/>
              </a:ext>
            </a:extLst>
          </p:cNvPr>
          <p:cNvSpPr txBox="1">
            <a:spLocks/>
          </p:cNvSpPr>
          <p:nvPr/>
        </p:nvSpPr>
        <p:spPr>
          <a:xfrm>
            <a:off x="228600" y="762000"/>
            <a:ext cx="8624937" cy="501675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80" dirty="0">
                <a:solidFill>
                  <a:schemeClr val="accent2"/>
                </a:solidFill>
              </a:rPr>
              <a:t>Overlay Networks</a:t>
            </a:r>
          </a:p>
          <a:p>
            <a:r>
              <a:rPr lang="en-US" sz="1700" kern="0" spc="-80" dirty="0">
                <a:solidFill>
                  <a:schemeClr val="accent2"/>
                </a:solidFill>
              </a:rPr>
              <a:t>🧱 3. Overlay vs Underlay (Physical Network)</a:t>
            </a:r>
          </a:p>
          <a:p>
            <a:r>
              <a:rPr lang="en-US" sz="1700" kern="0" spc="-80" dirty="0">
                <a:solidFill>
                  <a:schemeClr val="accent2"/>
                </a:solidFill>
              </a:rPr>
              <a:t>Feature	                Underlay (IP Network)	    Overlay</a:t>
            </a:r>
          </a:p>
          <a:p>
            <a:r>
              <a:rPr lang="en-US" sz="1700" kern="0" spc="-80" dirty="0">
                <a:solidFill>
                  <a:schemeClr val="accent6"/>
                </a:solidFill>
              </a:rPr>
              <a:t>Purpose	                Deliver packets physically	    Add routing/search/application logic</a:t>
            </a:r>
          </a:p>
          <a:p>
            <a:r>
              <a:rPr lang="en-US" sz="1700" kern="0" spc="-80" dirty="0">
                <a:solidFill>
                  <a:schemeClr val="accent6"/>
                </a:solidFill>
              </a:rPr>
              <a:t>Routing Key	IP addresses	                    Node IDs, hashes, metadata</a:t>
            </a:r>
          </a:p>
          <a:p>
            <a:r>
              <a:rPr lang="en-US" sz="1700" kern="0" spc="-80" dirty="0">
                <a:solidFill>
                  <a:schemeClr val="accent6"/>
                </a:solidFill>
              </a:rPr>
              <a:t>Maintained By	ISPs / Network layer	    Application layer</a:t>
            </a:r>
          </a:p>
          <a:p>
            <a:r>
              <a:rPr lang="en-US" sz="1700" kern="0" spc="-80" dirty="0">
                <a:solidFill>
                  <a:schemeClr val="accent6"/>
                </a:solidFill>
              </a:rPr>
              <a:t>Structure	Fixed	                                    Dynamic and adaptive</a:t>
            </a:r>
          </a:p>
          <a:p>
            <a:r>
              <a:rPr lang="en-US" sz="1700" kern="0" spc="-80" dirty="0">
                <a:solidFill>
                  <a:schemeClr val="accent6"/>
                </a:solidFill>
              </a:rPr>
              <a:t>Failure Handling	IP rerouting	                    Overlay-specific algorithms</a:t>
            </a:r>
          </a:p>
          <a:p>
            <a:r>
              <a:rPr lang="en-US" sz="1700" kern="0" spc="-80" dirty="0">
                <a:solidFill>
                  <a:schemeClr val="accent6"/>
                </a:solidFill>
              </a:rPr>
              <a:t>Overlay networks provide flexibility without changing the internet.</a:t>
            </a:r>
          </a:p>
          <a:p>
            <a:endParaRPr lang="en-US" sz="1700" kern="0" spc="-80" dirty="0">
              <a:solidFill>
                <a:schemeClr val="accent6"/>
              </a:solidFill>
            </a:endParaRPr>
          </a:p>
          <a:p>
            <a:r>
              <a:rPr lang="en-US" sz="1700" kern="0" spc="-80" dirty="0">
                <a:solidFill>
                  <a:schemeClr val="accent2"/>
                </a:solidFill>
              </a:rPr>
              <a:t>🧭 4. Types of Overlay Networks</a:t>
            </a:r>
          </a:p>
          <a:p>
            <a:r>
              <a:rPr lang="en-US" sz="1700" kern="0" spc="-80" dirty="0">
                <a:solidFill>
                  <a:schemeClr val="accent2"/>
                </a:solidFill>
              </a:rPr>
              <a:t>1. Unstructured Overlays</a:t>
            </a:r>
          </a:p>
          <a:p>
            <a:r>
              <a:rPr lang="en-US" sz="1700" kern="0" spc="-80" dirty="0">
                <a:solidFill>
                  <a:schemeClr val="accent6"/>
                </a:solidFill>
              </a:rPr>
              <a:t>Nodes connect arbitrarily.</a:t>
            </a:r>
          </a:p>
          <a:p>
            <a:r>
              <a:rPr lang="en-US" sz="1700" kern="0" spc="-80" dirty="0">
                <a:solidFill>
                  <a:schemeClr val="accent2"/>
                </a:solidFill>
              </a:rPr>
              <a:t>Examples: </a:t>
            </a:r>
            <a:r>
              <a:rPr lang="en-US" sz="1700" kern="0" spc="-80" dirty="0">
                <a:solidFill>
                  <a:schemeClr val="accent6"/>
                </a:solidFill>
              </a:rPr>
              <a:t>Gnutella, </a:t>
            </a:r>
            <a:r>
              <a:rPr lang="en-US" sz="1700" kern="0" spc="-80" dirty="0" err="1">
                <a:solidFill>
                  <a:schemeClr val="accent6"/>
                </a:solidFill>
              </a:rPr>
              <a:t>KaZaA</a:t>
            </a:r>
            <a:r>
              <a:rPr lang="en-US" sz="1700" kern="0" spc="-80" dirty="0">
                <a:solidFill>
                  <a:schemeClr val="accent6"/>
                </a:solidFill>
              </a:rPr>
              <a:t> early networks</a:t>
            </a:r>
          </a:p>
          <a:p>
            <a:r>
              <a:rPr lang="en-US" sz="1700" kern="0" spc="-80" dirty="0">
                <a:solidFill>
                  <a:schemeClr val="accent6"/>
                </a:solidFill>
              </a:rPr>
              <a:t>Search = Flooding</a:t>
            </a:r>
          </a:p>
          <a:p>
            <a:r>
              <a:rPr lang="en-US" sz="1700" kern="0" spc="-80" dirty="0">
                <a:solidFill>
                  <a:schemeClr val="accent6"/>
                </a:solidFill>
              </a:rPr>
              <a:t>Fast join/leave</a:t>
            </a:r>
          </a:p>
          <a:p>
            <a:r>
              <a:rPr lang="en-US" sz="1700" kern="0" spc="-80" dirty="0">
                <a:solidFill>
                  <a:schemeClr val="accent6"/>
                </a:solidFill>
              </a:rPr>
              <a:t>Poor search scalability</a:t>
            </a:r>
          </a:p>
          <a:p>
            <a:r>
              <a:rPr lang="en-US" sz="1700" kern="0" spc="-80" dirty="0">
                <a:solidFill>
                  <a:schemeClr val="accent6"/>
                </a:solidFill>
              </a:rPr>
              <a:t>Node—Node—Node—Node</a:t>
            </a:r>
          </a:p>
          <a:p>
            <a:r>
              <a:rPr lang="en-US" sz="1700" kern="0" spc="-80" dirty="0">
                <a:solidFill>
                  <a:schemeClr val="accent6"/>
                </a:solidFill>
              </a:rPr>
              <a:t>Links form random mesh</a:t>
            </a:r>
          </a:p>
        </p:txBody>
      </p:sp>
    </p:spTree>
    <p:extLst>
      <p:ext uri="{BB962C8B-B14F-4D97-AF65-F5344CB8AC3E}">
        <p14:creationId xmlns:p14="http://schemas.microsoft.com/office/powerpoint/2010/main" val="435493288"/>
      </p:ext>
    </p:extLst>
  </p:cSld>
  <p:clrMapOvr>
    <a:masterClrMapping/>
  </p:clrMapOvr>
</p:sld>
</file>

<file path=ppt/slides/slide5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D559BD-14BC-E170-294A-C2FD09EB2C8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9990614-BE86-E12C-6EB6-72438F7438D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926A6AE-42BB-58D2-D893-0E5DAB153B6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15C4B63-CB54-715F-C5CF-531686019D6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5A627BDA-201D-5392-6352-F38DD3DC4FB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534B9F94-8CF6-BDAB-DA56-9F1009359DD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3E9F95E-CA4F-0E16-BB15-3E5FD801A9A5}"/>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558DE08F-C6D1-1680-DE72-91C4E2CE92A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0ABC2139-3F34-428D-0A4B-E33C241F6B6F}"/>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94CE22ED-9484-F5A8-E640-61CEE611DDAE}"/>
              </a:ext>
            </a:extLst>
          </p:cNvPr>
          <p:cNvSpPr txBox="1">
            <a:spLocks/>
          </p:cNvSpPr>
          <p:nvPr/>
        </p:nvSpPr>
        <p:spPr>
          <a:xfrm>
            <a:off x="228600" y="762000"/>
            <a:ext cx="8624937"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800" kern="0" spc="-80" dirty="0">
                <a:solidFill>
                  <a:schemeClr val="accent2"/>
                </a:solidFill>
              </a:rPr>
              <a:t>Overlay Networks</a:t>
            </a:r>
          </a:p>
          <a:p>
            <a:r>
              <a:rPr lang="en-US" sz="1700" kern="0" spc="-80" dirty="0">
                <a:solidFill>
                  <a:schemeClr val="accent2"/>
                </a:solidFill>
              </a:rPr>
              <a:t>🧭 4. Types of Overlay Networks</a:t>
            </a:r>
          </a:p>
          <a:p>
            <a:r>
              <a:rPr lang="en-US" sz="1700" kern="0" spc="-80" dirty="0">
                <a:solidFill>
                  <a:schemeClr val="accent2"/>
                </a:solidFill>
              </a:rPr>
              <a:t>2. Structured Overlays (Use DHTs)</a:t>
            </a:r>
          </a:p>
          <a:p>
            <a:r>
              <a:rPr lang="en-US" sz="1700" kern="0" spc="-80" dirty="0">
                <a:solidFill>
                  <a:schemeClr val="accent6"/>
                </a:solidFill>
              </a:rPr>
              <a:t>Nodes maintain structured topology → ensures predictable search.</a:t>
            </a:r>
          </a:p>
          <a:p>
            <a:r>
              <a:rPr lang="en-US" sz="1700" kern="0" spc="-80" dirty="0">
                <a:solidFill>
                  <a:schemeClr val="accent2"/>
                </a:solidFill>
              </a:rPr>
              <a:t>Examples: </a:t>
            </a:r>
            <a:r>
              <a:rPr lang="en-US" sz="1700" kern="0" spc="-80" dirty="0">
                <a:solidFill>
                  <a:schemeClr val="accent6"/>
                </a:solidFill>
              </a:rPr>
              <a:t>Chord, </a:t>
            </a:r>
            <a:r>
              <a:rPr lang="en-US" sz="1700" kern="0" spc="-80" dirty="0" err="1">
                <a:solidFill>
                  <a:schemeClr val="accent6"/>
                </a:solidFill>
              </a:rPr>
              <a:t>Kademlia</a:t>
            </a:r>
            <a:r>
              <a:rPr lang="en-US" sz="1700" kern="0" spc="-80" dirty="0">
                <a:solidFill>
                  <a:schemeClr val="accent6"/>
                </a:solidFill>
              </a:rPr>
              <a:t>, Pastry, CAN, Tapestry</a:t>
            </a:r>
          </a:p>
          <a:p>
            <a:r>
              <a:rPr lang="en-US" sz="1700" kern="0" spc="-80" dirty="0">
                <a:solidFill>
                  <a:schemeClr val="accent6"/>
                </a:solidFill>
              </a:rPr>
              <a:t>Data stored based on hash(key) → mapped to specific node ID</a:t>
            </a:r>
          </a:p>
          <a:p>
            <a:r>
              <a:rPr lang="en-US" sz="1700" kern="0" spc="-80" dirty="0">
                <a:solidFill>
                  <a:schemeClr val="accent6"/>
                </a:solidFill>
              </a:rPr>
              <a:t>Search = O(log n) hops</a:t>
            </a:r>
          </a:p>
          <a:p>
            <a:r>
              <a:rPr lang="en-US" sz="1700" kern="0" spc="-80" dirty="0">
                <a:solidFill>
                  <a:schemeClr val="accent2"/>
                </a:solidFill>
              </a:rPr>
              <a:t>3. Hybrid Overlays</a:t>
            </a:r>
          </a:p>
          <a:p>
            <a:r>
              <a:rPr lang="en-US" sz="1700" kern="0" spc="-80" dirty="0">
                <a:solidFill>
                  <a:schemeClr val="accent6"/>
                </a:solidFill>
              </a:rPr>
              <a:t>Combination of central coordination + decentralization.</a:t>
            </a:r>
          </a:p>
          <a:p>
            <a:r>
              <a:rPr lang="en-US" sz="1700" kern="0" spc="-80" dirty="0">
                <a:solidFill>
                  <a:schemeClr val="accent2"/>
                </a:solidFill>
              </a:rPr>
              <a:t>Examples: </a:t>
            </a:r>
            <a:r>
              <a:rPr lang="en-US" sz="1700" kern="0" spc="-80" dirty="0">
                <a:solidFill>
                  <a:schemeClr val="accent6"/>
                </a:solidFill>
              </a:rPr>
              <a:t>BitTorrent Trackers, Skype </a:t>
            </a:r>
            <a:r>
              <a:rPr lang="en-US" sz="1700" kern="0" spc="-80" dirty="0" err="1">
                <a:solidFill>
                  <a:schemeClr val="accent6"/>
                </a:solidFill>
              </a:rPr>
              <a:t>Supernodes</a:t>
            </a:r>
            <a:endParaRPr lang="en-US" sz="1700" kern="0" spc="-80" dirty="0">
              <a:solidFill>
                <a:schemeClr val="accent6"/>
              </a:solidFill>
            </a:endParaRPr>
          </a:p>
          <a:p>
            <a:r>
              <a:rPr lang="en-US" sz="1700" kern="0" spc="-80" dirty="0">
                <a:solidFill>
                  <a:schemeClr val="accent6"/>
                </a:solidFill>
              </a:rPr>
              <a:t>Faster peer discovery</a:t>
            </a:r>
          </a:p>
          <a:p>
            <a:r>
              <a:rPr lang="en-US" sz="1700" kern="0" spc="-80" dirty="0">
                <a:solidFill>
                  <a:schemeClr val="accent6"/>
                </a:solidFill>
              </a:rPr>
              <a:t>But introduces partial central dependency</a:t>
            </a:r>
          </a:p>
          <a:p>
            <a:endParaRPr lang="en-US" sz="1700" kern="0" spc="-80" dirty="0">
              <a:solidFill>
                <a:schemeClr val="accent6"/>
              </a:solidFill>
            </a:endParaRPr>
          </a:p>
          <a:p>
            <a:r>
              <a:rPr lang="en-US" sz="1700" kern="0" spc="-80" dirty="0">
                <a:solidFill>
                  <a:schemeClr val="accent2"/>
                </a:solidFill>
              </a:rPr>
              <a:t>🧩 5. Overlay Topology Designs</a:t>
            </a:r>
          </a:p>
          <a:p>
            <a:r>
              <a:rPr lang="en-US" sz="1700" kern="0" spc="-80" dirty="0">
                <a:solidFill>
                  <a:schemeClr val="accent2"/>
                </a:solidFill>
              </a:rPr>
              <a:t>Topology	         Used In	                      Key Idea</a:t>
            </a:r>
          </a:p>
          <a:p>
            <a:r>
              <a:rPr lang="en-US" sz="1700" kern="0" spc="-80" dirty="0">
                <a:solidFill>
                  <a:schemeClr val="accent6"/>
                </a:solidFill>
              </a:rPr>
              <a:t>Ring	                         Chord	                      Nodes arranged in modulo ID space</a:t>
            </a:r>
          </a:p>
          <a:p>
            <a:r>
              <a:rPr lang="en-US" sz="1700" kern="0" spc="-80" dirty="0">
                <a:solidFill>
                  <a:schemeClr val="accent6"/>
                </a:solidFill>
              </a:rPr>
              <a:t>XOR Metric Graph	         </a:t>
            </a:r>
            <a:r>
              <a:rPr lang="en-US" sz="1700" kern="0" spc="-80" dirty="0" err="1">
                <a:solidFill>
                  <a:schemeClr val="accent6"/>
                </a:solidFill>
              </a:rPr>
              <a:t>Kademlia</a:t>
            </a:r>
            <a:r>
              <a:rPr lang="en-US" sz="1700" kern="0" spc="-80" dirty="0">
                <a:solidFill>
                  <a:schemeClr val="accent6"/>
                </a:solidFill>
              </a:rPr>
              <a:t>, IPFS	      “Distance” = XOR of node IDs</a:t>
            </a:r>
          </a:p>
          <a:p>
            <a:r>
              <a:rPr lang="en-US" sz="1700" kern="0" spc="-80" dirty="0">
                <a:solidFill>
                  <a:schemeClr val="accent6"/>
                </a:solidFill>
              </a:rPr>
              <a:t>Tree / Prefix Routing    Pastry / Tapestry	      Route based on shared prefix</a:t>
            </a:r>
          </a:p>
          <a:p>
            <a:r>
              <a:rPr lang="en-US" sz="1700" kern="0" spc="-80" dirty="0">
                <a:solidFill>
                  <a:schemeClr val="accent6"/>
                </a:solidFill>
              </a:rPr>
              <a:t>d-Dimensional Torus    CAN	                      Map ID space to multi-d grid</a:t>
            </a:r>
          </a:p>
        </p:txBody>
      </p:sp>
    </p:spTree>
    <p:extLst>
      <p:ext uri="{BB962C8B-B14F-4D97-AF65-F5344CB8AC3E}">
        <p14:creationId xmlns:p14="http://schemas.microsoft.com/office/powerpoint/2010/main" val="2356951550"/>
      </p:ext>
    </p:extLst>
  </p:cSld>
  <p:clrMapOvr>
    <a:masterClrMapping/>
  </p:clrMapOvr>
</p:sld>
</file>

<file path=ppt/slides/slide5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5F512-4F77-297E-8392-33D0D42D096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2FDD057-1580-84DB-760F-BAD89DE17E3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63BA5A6-2D6A-6F81-52A9-44DF48E3099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8F342EC-AEE4-6EBF-AACF-54E3548F9A0E}"/>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C98F579B-7E13-B16C-D73F-E14310D6165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5BFC9409-0AF6-5CD7-1ADB-C85CAE4BBEC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94519E1-0743-7ABB-7A58-F8EE13CE886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15CD51F-906F-2792-DC4C-42E84A820A59}"/>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AC422475-3504-ABCB-42F4-23A8D8E6440A}"/>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99AA0C1C-F027-00FD-9A3B-ECB2A5C9A2DA}"/>
              </a:ext>
            </a:extLst>
          </p:cNvPr>
          <p:cNvSpPr txBox="1">
            <a:spLocks/>
          </p:cNvSpPr>
          <p:nvPr/>
        </p:nvSpPr>
        <p:spPr>
          <a:xfrm>
            <a:off x="228600" y="762000"/>
            <a:ext cx="8624937" cy="498598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800" kern="0" spc="-80" dirty="0">
                <a:solidFill>
                  <a:schemeClr val="accent2"/>
                </a:solidFill>
              </a:rPr>
              <a:t>Overlay Networks</a:t>
            </a:r>
          </a:p>
          <a:p>
            <a:r>
              <a:rPr lang="en-US" sz="1700" kern="0" spc="-80" dirty="0">
                <a:solidFill>
                  <a:schemeClr val="accent2"/>
                </a:solidFill>
              </a:rPr>
              <a:t>🔀 6. Routing in Overlay Networks</a:t>
            </a:r>
          </a:p>
          <a:p>
            <a:r>
              <a:rPr lang="en-US" sz="1700" kern="0" spc="-80" dirty="0">
                <a:solidFill>
                  <a:schemeClr val="accent2"/>
                </a:solidFill>
              </a:rPr>
              <a:t>Greedy Routing</a:t>
            </a:r>
          </a:p>
          <a:p>
            <a:r>
              <a:rPr lang="en-US" sz="1700" kern="0" spc="-80" dirty="0">
                <a:solidFill>
                  <a:schemeClr val="accent6"/>
                </a:solidFill>
              </a:rPr>
              <a:t>Forward to neighbor closer to destination (using overlay distance metric).</a:t>
            </a:r>
          </a:p>
          <a:p>
            <a:r>
              <a:rPr lang="en-US" sz="1700" kern="0" spc="-80" dirty="0">
                <a:solidFill>
                  <a:schemeClr val="accent2"/>
                </a:solidFill>
              </a:rPr>
              <a:t>Used in: </a:t>
            </a:r>
            <a:r>
              <a:rPr lang="en-US" sz="1700" kern="0" spc="-80" dirty="0" err="1">
                <a:solidFill>
                  <a:schemeClr val="accent6"/>
                </a:solidFill>
              </a:rPr>
              <a:t>Kademlia</a:t>
            </a:r>
            <a:r>
              <a:rPr lang="en-US" sz="1700" kern="0" spc="-80" dirty="0">
                <a:solidFill>
                  <a:schemeClr val="accent6"/>
                </a:solidFill>
              </a:rPr>
              <a:t> XOR routing</a:t>
            </a:r>
          </a:p>
          <a:p>
            <a:r>
              <a:rPr lang="en-US" sz="1700" kern="0" spc="-80" dirty="0">
                <a:solidFill>
                  <a:schemeClr val="accent2"/>
                </a:solidFill>
              </a:rPr>
              <a:t>Consistent Hashing</a:t>
            </a:r>
          </a:p>
          <a:p>
            <a:r>
              <a:rPr lang="en-US" sz="1700" kern="0" spc="-80" dirty="0">
                <a:solidFill>
                  <a:schemeClr val="accent6"/>
                </a:solidFill>
              </a:rPr>
              <a:t>Maps keys + nodes into the same ID space.</a:t>
            </a:r>
          </a:p>
          <a:p>
            <a:r>
              <a:rPr lang="en-US" sz="1700" kern="0" spc="-80" dirty="0">
                <a:solidFill>
                  <a:schemeClr val="accent2"/>
                </a:solidFill>
              </a:rPr>
              <a:t>Used in: </a:t>
            </a:r>
            <a:r>
              <a:rPr lang="en-US" sz="1700" kern="0" spc="-80" dirty="0">
                <a:solidFill>
                  <a:schemeClr val="accent6"/>
                </a:solidFill>
              </a:rPr>
              <a:t>Chord</a:t>
            </a:r>
          </a:p>
          <a:p>
            <a:r>
              <a:rPr lang="en-US" sz="1700" kern="0" spc="-80" dirty="0">
                <a:solidFill>
                  <a:schemeClr val="accent2"/>
                </a:solidFill>
              </a:rPr>
              <a:t>Example:</a:t>
            </a:r>
          </a:p>
          <a:p>
            <a:r>
              <a:rPr lang="en-US" sz="1700" kern="0" spc="-80" dirty="0" err="1">
                <a:solidFill>
                  <a:schemeClr val="accent6"/>
                </a:solidFill>
              </a:rPr>
              <a:t>NodeID</a:t>
            </a:r>
            <a:r>
              <a:rPr lang="en-US" sz="1700" kern="0" spc="-80" dirty="0">
                <a:solidFill>
                  <a:schemeClr val="accent6"/>
                </a:solidFill>
              </a:rPr>
              <a:t> = Hash(IP + Port)</a:t>
            </a:r>
          </a:p>
          <a:p>
            <a:r>
              <a:rPr lang="en-US" sz="1700" kern="0" spc="-80" dirty="0" err="1">
                <a:solidFill>
                  <a:schemeClr val="accent6"/>
                </a:solidFill>
              </a:rPr>
              <a:t>KeyID</a:t>
            </a:r>
            <a:r>
              <a:rPr lang="en-US" sz="1700" kern="0" spc="-80" dirty="0">
                <a:solidFill>
                  <a:schemeClr val="accent6"/>
                </a:solidFill>
              </a:rPr>
              <a:t> = Hash(Content)</a:t>
            </a:r>
          </a:p>
          <a:p>
            <a:r>
              <a:rPr lang="en-US" sz="1700" kern="0" spc="-80" dirty="0">
                <a:solidFill>
                  <a:schemeClr val="accent6"/>
                </a:solidFill>
              </a:rPr>
              <a:t>Store Key at Node with closest </a:t>
            </a:r>
            <a:r>
              <a:rPr lang="en-US" sz="1700" kern="0" spc="-80" dirty="0" err="1">
                <a:solidFill>
                  <a:schemeClr val="accent6"/>
                </a:solidFill>
              </a:rPr>
              <a:t>NodeID</a:t>
            </a:r>
            <a:r>
              <a:rPr lang="en-US" sz="1700" kern="0" spc="-80" dirty="0">
                <a:solidFill>
                  <a:schemeClr val="accent6"/>
                </a:solidFill>
              </a:rPr>
              <a:t> ≥ </a:t>
            </a:r>
            <a:r>
              <a:rPr lang="en-US" sz="1700" kern="0" spc="-80" dirty="0" err="1">
                <a:solidFill>
                  <a:schemeClr val="accent6"/>
                </a:solidFill>
              </a:rPr>
              <a:t>KeyID</a:t>
            </a:r>
            <a:endParaRPr lang="en-US" sz="1700" kern="0" spc="-80" dirty="0">
              <a:solidFill>
                <a:schemeClr val="accent6"/>
              </a:solidFill>
            </a:endParaRPr>
          </a:p>
          <a:p>
            <a:endParaRPr lang="en-US" sz="1700" kern="0" spc="-80" dirty="0">
              <a:solidFill>
                <a:schemeClr val="accent6"/>
              </a:solidFill>
            </a:endParaRPr>
          </a:p>
          <a:p>
            <a:r>
              <a:rPr lang="en-US" sz="1700" kern="0" spc="-80" dirty="0">
                <a:solidFill>
                  <a:schemeClr val="accent2"/>
                </a:solidFill>
              </a:rPr>
              <a:t>Routing Table Maintenance</a:t>
            </a:r>
          </a:p>
          <a:p>
            <a:r>
              <a:rPr lang="en-US" sz="1700" kern="0" spc="-80" dirty="0">
                <a:solidFill>
                  <a:schemeClr val="accent2"/>
                </a:solidFill>
              </a:rPr>
              <a:t>Nodes periodically:</a:t>
            </a:r>
          </a:p>
          <a:p>
            <a:r>
              <a:rPr lang="en-US" sz="1700" kern="0" spc="-80" dirty="0">
                <a:solidFill>
                  <a:schemeClr val="accent6"/>
                </a:solidFill>
              </a:rPr>
              <a:t>Refresh buckets / finger tables</a:t>
            </a:r>
          </a:p>
          <a:p>
            <a:r>
              <a:rPr lang="en-US" sz="1700" kern="0" spc="-80" dirty="0">
                <a:solidFill>
                  <a:schemeClr val="accent6"/>
                </a:solidFill>
              </a:rPr>
              <a:t>Remove dead peers</a:t>
            </a:r>
          </a:p>
          <a:p>
            <a:r>
              <a:rPr lang="en-US" sz="1700" kern="0" spc="-80" dirty="0">
                <a:solidFill>
                  <a:schemeClr val="accent6"/>
                </a:solidFill>
              </a:rPr>
              <a:t>Add new peers discovered</a:t>
            </a:r>
          </a:p>
          <a:p>
            <a:endParaRPr lang="en-US" sz="1700" kern="0" spc="-80" dirty="0">
              <a:solidFill>
                <a:schemeClr val="accent6"/>
              </a:solidFill>
            </a:endParaRPr>
          </a:p>
        </p:txBody>
      </p:sp>
    </p:spTree>
    <p:extLst>
      <p:ext uri="{BB962C8B-B14F-4D97-AF65-F5344CB8AC3E}">
        <p14:creationId xmlns:p14="http://schemas.microsoft.com/office/powerpoint/2010/main" val="3142958567"/>
      </p:ext>
    </p:extLst>
  </p:cSld>
  <p:clrMapOvr>
    <a:masterClrMapping/>
  </p:clrMapOvr>
</p:sld>
</file>

<file path=ppt/slides/slide5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75240-9EB3-1DC3-5B3E-8A2C1830AE6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0203FB0-125E-6CDA-8CEA-C559D0AFF2E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E6C48F0-D64E-B18A-FF69-45DB3C229D5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5E29A69-B2E9-F8CF-2601-5FC5CFDE5D98}"/>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D9EB83EF-D9C4-ABF3-ECFF-015CB7AA6AF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F31C2AC-6473-221A-4847-54799C16047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14D61D3-3F77-3CA6-7E23-B75DD810117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E661C0EB-B32C-B340-F531-B45ACFE1C386}"/>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33D4059F-1ABB-F093-8331-6EFF6768AFA4}"/>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842C8385-A296-54FA-84BB-6273683FD45C}"/>
              </a:ext>
            </a:extLst>
          </p:cNvPr>
          <p:cNvSpPr txBox="1">
            <a:spLocks/>
          </p:cNvSpPr>
          <p:nvPr/>
        </p:nvSpPr>
        <p:spPr>
          <a:xfrm>
            <a:off x="228600" y="762000"/>
            <a:ext cx="8624937" cy="52168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80" dirty="0">
                <a:solidFill>
                  <a:schemeClr val="accent2"/>
                </a:solidFill>
              </a:rPr>
              <a:t>Overlay Networks</a:t>
            </a:r>
          </a:p>
          <a:p>
            <a:r>
              <a:rPr lang="en-US" sz="1450" kern="0" spc="-80" dirty="0">
                <a:solidFill>
                  <a:schemeClr val="accent2"/>
                </a:solidFill>
              </a:rPr>
              <a:t>🗂️ 7. Distributed Hash Table (DHT) as Overlay Networks</a:t>
            </a:r>
          </a:p>
          <a:p>
            <a:r>
              <a:rPr lang="en-US" sz="1450" kern="0" spc="-80" dirty="0">
                <a:solidFill>
                  <a:schemeClr val="accent2"/>
                </a:solidFill>
              </a:rPr>
              <a:t>DHT	        Core Idea	                         Routing Cost         Used In</a:t>
            </a:r>
          </a:p>
          <a:p>
            <a:r>
              <a:rPr lang="en-US" sz="1450" kern="0" spc="-80" dirty="0">
                <a:solidFill>
                  <a:schemeClr val="accent6"/>
                </a:solidFill>
              </a:rPr>
              <a:t>Chord	        Ring with finger table	         O(log n)	        Academic, early P2P</a:t>
            </a:r>
          </a:p>
          <a:p>
            <a:r>
              <a:rPr lang="en-US" sz="1450" kern="0" spc="-80" dirty="0" err="1">
                <a:solidFill>
                  <a:schemeClr val="accent6"/>
                </a:solidFill>
              </a:rPr>
              <a:t>Kademlia</a:t>
            </a:r>
            <a:r>
              <a:rPr lang="en-US" sz="1450" kern="0" spc="-80" dirty="0">
                <a:solidFill>
                  <a:schemeClr val="accent6"/>
                </a:solidFill>
              </a:rPr>
              <a:t>        XOR metric space	         O(log n)	        BitTorrent, Ethereum, IPFS</a:t>
            </a:r>
          </a:p>
          <a:p>
            <a:r>
              <a:rPr lang="en-US" sz="1450" kern="0" spc="-80" dirty="0">
                <a:solidFill>
                  <a:schemeClr val="accent6"/>
                </a:solidFill>
              </a:rPr>
              <a:t>Pastry	         Prefix-based routing	         O(log n)	        PAST storage</a:t>
            </a:r>
          </a:p>
          <a:p>
            <a:r>
              <a:rPr lang="en-US" sz="1450" kern="0" spc="-80" dirty="0">
                <a:solidFill>
                  <a:schemeClr val="accent6"/>
                </a:solidFill>
              </a:rPr>
              <a:t>CAN	         Coordinates in d-d space    O(n^(1/d))	        Research</a:t>
            </a:r>
          </a:p>
          <a:p>
            <a:endParaRPr lang="en-US" sz="1450" kern="0" spc="-80" dirty="0">
              <a:solidFill>
                <a:schemeClr val="accent6"/>
              </a:solidFill>
            </a:endParaRPr>
          </a:p>
          <a:p>
            <a:r>
              <a:rPr lang="en-US" sz="1450" kern="0" spc="-80" dirty="0">
                <a:solidFill>
                  <a:schemeClr val="accent2"/>
                </a:solidFill>
              </a:rPr>
              <a:t>🔍 8. Overlay Lookup Example (</a:t>
            </a:r>
            <a:r>
              <a:rPr lang="en-US" sz="1450" kern="0" spc="-80" dirty="0" err="1">
                <a:solidFill>
                  <a:schemeClr val="accent2"/>
                </a:solidFill>
              </a:rPr>
              <a:t>Kademlia</a:t>
            </a:r>
            <a:r>
              <a:rPr lang="en-US" sz="1450" kern="0" spc="-80" dirty="0">
                <a:solidFill>
                  <a:schemeClr val="accent2"/>
                </a:solidFill>
              </a:rPr>
              <a:t>)</a:t>
            </a:r>
          </a:p>
          <a:p>
            <a:r>
              <a:rPr lang="en-US" sz="1450" kern="0" spc="-80" dirty="0">
                <a:solidFill>
                  <a:schemeClr val="accent6"/>
                </a:solidFill>
              </a:rPr>
              <a:t>Want to find node responsible for key K.</a:t>
            </a:r>
          </a:p>
          <a:p>
            <a:r>
              <a:rPr lang="en-US" sz="1450" kern="0" spc="-80" dirty="0">
                <a:solidFill>
                  <a:schemeClr val="accent6"/>
                </a:solidFill>
              </a:rPr>
              <a:t>Compute XOR(</a:t>
            </a:r>
            <a:r>
              <a:rPr lang="en-US" sz="1450" kern="0" spc="-80" dirty="0" err="1">
                <a:solidFill>
                  <a:schemeClr val="accent6"/>
                </a:solidFill>
              </a:rPr>
              <a:t>NodeID</a:t>
            </a:r>
            <a:r>
              <a:rPr lang="en-US" sz="1450" kern="0" spc="-80" dirty="0">
                <a:solidFill>
                  <a:schemeClr val="accent6"/>
                </a:solidFill>
              </a:rPr>
              <a:t>, K) for neighbors.</a:t>
            </a:r>
          </a:p>
          <a:p>
            <a:r>
              <a:rPr lang="en-US" sz="1450" kern="0" spc="-80" dirty="0">
                <a:solidFill>
                  <a:schemeClr val="accent6"/>
                </a:solidFill>
              </a:rPr>
              <a:t>Forward query to node with smallest XOR value.</a:t>
            </a:r>
          </a:p>
          <a:p>
            <a:r>
              <a:rPr lang="en-US" sz="1450" kern="0" spc="-80" dirty="0">
                <a:solidFill>
                  <a:schemeClr val="accent6"/>
                </a:solidFill>
              </a:rPr>
              <a:t>Repeat until convergence.</a:t>
            </a:r>
          </a:p>
          <a:p>
            <a:r>
              <a:rPr lang="en-US" sz="1450" kern="0" spc="-80" dirty="0">
                <a:solidFill>
                  <a:schemeClr val="accent6"/>
                </a:solidFill>
              </a:rPr>
              <a:t>This makes lookups extremely scalable.</a:t>
            </a:r>
          </a:p>
          <a:p>
            <a:endParaRPr lang="en-US" sz="1450" kern="0" spc="-80" dirty="0">
              <a:solidFill>
                <a:schemeClr val="accent6"/>
              </a:solidFill>
            </a:endParaRPr>
          </a:p>
          <a:p>
            <a:r>
              <a:rPr lang="en-US" sz="1450" kern="0" spc="-80" dirty="0">
                <a:solidFill>
                  <a:schemeClr val="accent2"/>
                </a:solidFill>
              </a:rPr>
              <a:t>🌐 9. Real-World Overlay Networks</a:t>
            </a:r>
          </a:p>
          <a:p>
            <a:r>
              <a:rPr lang="en-US" sz="1450" kern="0" spc="-80" dirty="0">
                <a:solidFill>
                  <a:schemeClr val="accent2"/>
                </a:solidFill>
              </a:rPr>
              <a:t>System	                                           Overlay Role</a:t>
            </a:r>
          </a:p>
          <a:p>
            <a:r>
              <a:rPr lang="en-US" sz="1450" kern="0" spc="-80" dirty="0">
                <a:solidFill>
                  <a:schemeClr val="accent6"/>
                </a:solidFill>
              </a:rPr>
              <a:t>BitTorrent DHT	                        Peer discovery for torrents</a:t>
            </a:r>
          </a:p>
          <a:p>
            <a:r>
              <a:rPr lang="en-US" sz="1450" kern="0" spc="-80" dirty="0">
                <a:solidFill>
                  <a:schemeClr val="accent6"/>
                </a:solidFill>
              </a:rPr>
              <a:t>Ethereum / Bitcoin	                        Gossip &amp; block propagation</a:t>
            </a:r>
          </a:p>
          <a:p>
            <a:r>
              <a:rPr lang="en-US" sz="1450" kern="0" spc="-80" dirty="0">
                <a:solidFill>
                  <a:schemeClr val="accent6"/>
                </a:solidFill>
              </a:rPr>
              <a:t>IPFS / libp2p	                        Content addressing using </a:t>
            </a:r>
            <a:r>
              <a:rPr lang="en-US" sz="1450" kern="0" spc="-80" dirty="0" err="1">
                <a:solidFill>
                  <a:schemeClr val="accent6"/>
                </a:solidFill>
              </a:rPr>
              <a:t>Kademlia</a:t>
            </a:r>
            <a:r>
              <a:rPr lang="en-US" sz="1450" kern="0" spc="-80" dirty="0">
                <a:solidFill>
                  <a:schemeClr val="accent6"/>
                </a:solidFill>
              </a:rPr>
              <a:t> overlay</a:t>
            </a:r>
          </a:p>
          <a:p>
            <a:r>
              <a:rPr lang="en-US" sz="1450" kern="0" spc="-80" dirty="0">
                <a:solidFill>
                  <a:schemeClr val="accent6"/>
                </a:solidFill>
              </a:rPr>
              <a:t>WebRTC Mesh	                        Overlay routing media between peers</a:t>
            </a:r>
          </a:p>
          <a:p>
            <a:r>
              <a:rPr lang="en-US" sz="1450" kern="0" spc="-80" dirty="0">
                <a:solidFill>
                  <a:schemeClr val="accent6"/>
                </a:solidFill>
              </a:rPr>
              <a:t>Tor	                                           Onion-routing overlay for anonymity</a:t>
            </a:r>
          </a:p>
          <a:p>
            <a:r>
              <a:rPr lang="en-US" sz="1450" kern="0" spc="-80" dirty="0">
                <a:solidFill>
                  <a:schemeClr val="accent6"/>
                </a:solidFill>
              </a:rPr>
              <a:t>CDN Peer Caches (P2P CDN)             Mesh overlays for offloading traffic</a:t>
            </a:r>
          </a:p>
        </p:txBody>
      </p:sp>
    </p:spTree>
    <p:extLst>
      <p:ext uri="{BB962C8B-B14F-4D97-AF65-F5344CB8AC3E}">
        <p14:creationId xmlns:p14="http://schemas.microsoft.com/office/powerpoint/2010/main" val="781054504"/>
      </p:ext>
    </p:extLst>
  </p:cSld>
  <p:clrMapOvr>
    <a:masterClrMapping/>
  </p:clrMapOvr>
</p:sld>
</file>

<file path=ppt/slides/slide5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F0C23-DCDC-F77A-5B48-CF02677901F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D0AF1A1-580D-69FD-883A-1CA2586D201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42C5562-3232-28E9-5A21-E7C8E4B3CA9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42B483C-37EC-474D-B8C4-E0BA31B19FC0}"/>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AEE768E1-BCC6-0DB6-39DD-C5E1B2ADB40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9C74E9C-E378-5A68-BEE2-EDD8E39A0BD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2DC89B2-B14E-F30B-8818-C5B133C94689}"/>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F796CCB9-5B19-F717-7E98-C74018B07326}"/>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66CB5FAF-55A0-09A8-4E3C-E35BC554554E}"/>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5F797E99-78EA-D133-96E8-6CF67E94B563}"/>
              </a:ext>
            </a:extLst>
          </p:cNvPr>
          <p:cNvSpPr txBox="1">
            <a:spLocks/>
          </p:cNvSpPr>
          <p:nvPr/>
        </p:nvSpPr>
        <p:spPr>
          <a:xfrm>
            <a:off x="228600" y="762000"/>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80" dirty="0">
                <a:solidFill>
                  <a:schemeClr val="accent2"/>
                </a:solidFill>
              </a:rPr>
              <a:t>Overlay Networks</a:t>
            </a:r>
          </a:p>
          <a:p>
            <a:r>
              <a:rPr lang="en-US" sz="1600" kern="0" spc="-80" dirty="0">
                <a:solidFill>
                  <a:schemeClr val="accent2"/>
                </a:solidFill>
              </a:rPr>
              <a:t>🔒 10. Security &amp; Attack Resilience</a:t>
            </a:r>
          </a:p>
          <a:p>
            <a:r>
              <a:rPr lang="en-US" sz="1600" kern="0" spc="-80" dirty="0">
                <a:solidFill>
                  <a:schemeClr val="accent2"/>
                </a:solidFill>
              </a:rPr>
              <a:t>Threat	                                                              Overlay Countermeasure</a:t>
            </a:r>
          </a:p>
          <a:p>
            <a:r>
              <a:rPr lang="en-US" sz="1600" kern="0" spc="-80" dirty="0">
                <a:solidFill>
                  <a:schemeClr val="accent6"/>
                </a:solidFill>
              </a:rPr>
              <a:t>Sybil Attack (fake nodes)	                             Identity proofs, staking</a:t>
            </a:r>
          </a:p>
          <a:p>
            <a:r>
              <a:rPr lang="en-US" sz="1600" kern="0" spc="-80" dirty="0">
                <a:solidFill>
                  <a:schemeClr val="accent6"/>
                </a:solidFill>
              </a:rPr>
              <a:t>Eclipse Attack (control routing table)	             Multiple routing paths, node rotation</a:t>
            </a:r>
          </a:p>
          <a:p>
            <a:r>
              <a:rPr lang="en-US" sz="1600" kern="0" spc="-80" dirty="0">
                <a:solidFill>
                  <a:schemeClr val="accent6"/>
                </a:solidFill>
              </a:rPr>
              <a:t>Routing Poisoning	                                              Message signing, hash verification</a:t>
            </a:r>
          </a:p>
          <a:p>
            <a:r>
              <a:rPr lang="en-US" sz="1600" kern="0" spc="-80" dirty="0">
                <a:solidFill>
                  <a:schemeClr val="accent6"/>
                </a:solidFill>
              </a:rPr>
              <a:t>Traffic Analysis	                                              Onion routing (Tor)</a:t>
            </a:r>
          </a:p>
          <a:p>
            <a:r>
              <a:rPr lang="en-US" sz="1600" kern="0" spc="-80" dirty="0">
                <a:solidFill>
                  <a:schemeClr val="accent6"/>
                </a:solidFill>
              </a:rPr>
              <a:t>Overlay networks rely heavily on public key cryptography + message signatures.</a:t>
            </a:r>
          </a:p>
          <a:p>
            <a:endParaRPr lang="en-US" sz="1600" kern="0" spc="-80" dirty="0">
              <a:solidFill>
                <a:schemeClr val="accent6"/>
              </a:solidFill>
            </a:endParaRPr>
          </a:p>
          <a:p>
            <a:r>
              <a:rPr lang="en-US" sz="1600" kern="0" spc="-80" dirty="0">
                <a:solidFill>
                  <a:schemeClr val="accent2"/>
                </a:solidFill>
              </a:rPr>
              <a:t>⚖️ 11. Performance Considerations</a:t>
            </a:r>
          </a:p>
          <a:p>
            <a:r>
              <a:rPr lang="en-US" sz="1600" kern="0" spc="-80" dirty="0">
                <a:solidFill>
                  <a:schemeClr val="accent2"/>
                </a:solidFill>
              </a:rPr>
              <a:t>Factor	                                Effect</a:t>
            </a:r>
          </a:p>
          <a:p>
            <a:r>
              <a:rPr lang="en-US" sz="1600" kern="0" spc="-80" dirty="0">
                <a:solidFill>
                  <a:schemeClr val="accent6"/>
                </a:solidFill>
              </a:rPr>
              <a:t>Topology choice	                Impacts routing efficiency</a:t>
            </a:r>
          </a:p>
          <a:p>
            <a:r>
              <a:rPr lang="en-US" sz="1600" kern="0" spc="-80" dirty="0">
                <a:solidFill>
                  <a:schemeClr val="accent6"/>
                </a:solidFill>
              </a:rPr>
              <a:t>Node churn rate	                Requires robust maintenance</a:t>
            </a:r>
          </a:p>
          <a:p>
            <a:r>
              <a:rPr lang="en-US" sz="1600" kern="0" spc="-80" dirty="0">
                <a:solidFill>
                  <a:schemeClr val="accent6"/>
                </a:solidFill>
              </a:rPr>
              <a:t>NAT Traversal needs	Affects link formation</a:t>
            </a:r>
          </a:p>
          <a:p>
            <a:r>
              <a:rPr lang="en-US" sz="1600" kern="0" spc="-80" dirty="0">
                <a:solidFill>
                  <a:schemeClr val="accent6"/>
                </a:solidFill>
              </a:rPr>
              <a:t>Data replication	                Required for reliability</a:t>
            </a:r>
          </a:p>
          <a:p>
            <a:r>
              <a:rPr lang="en-US" sz="1600" kern="0" spc="-80" dirty="0">
                <a:solidFill>
                  <a:schemeClr val="accent6"/>
                </a:solidFill>
              </a:rPr>
              <a:t>Gossip frequency	                Affects bandwidth usage</a:t>
            </a:r>
          </a:p>
          <a:p>
            <a:endParaRPr lang="en-US" sz="1600" kern="0" spc="-80" dirty="0">
              <a:solidFill>
                <a:schemeClr val="accent6"/>
              </a:solidFill>
            </a:endParaRPr>
          </a:p>
          <a:p>
            <a:r>
              <a:rPr lang="en-US" sz="1600" kern="0" spc="-80" dirty="0">
                <a:solidFill>
                  <a:schemeClr val="accent2"/>
                </a:solidFill>
              </a:rPr>
              <a:t>🧠 12. Summary (Key Understanding)</a:t>
            </a:r>
          </a:p>
          <a:p>
            <a:r>
              <a:rPr lang="en-US" sz="1600" kern="0" spc="-80" dirty="0">
                <a:solidFill>
                  <a:schemeClr val="accent6"/>
                </a:solidFill>
              </a:rPr>
              <a:t>Overlay Networks create logical peer-to-peer topologies above the physical Internet to enable scalable routing, lookup, storage, and communication behaviors that native IP networks do not </a:t>
            </a:r>
            <a:r>
              <a:rPr lang="en-US" sz="1600" kern="0" spc="-80" dirty="0" err="1">
                <a:solidFill>
                  <a:schemeClr val="accent6"/>
                </a:solidFill>
              </a:rPr>
              <a:t>provide.They</a:t>
            </a:r>
            <a:r>
              <a:rPr lang="en-US" sz="1600" kern="0" spc="-80" dirty="0">
                <a:solidFill>
                  <a:schemeClr val="accent6"/>
                </a:solidFill>
              </a:rPr>
              <a:t> define who talks to whom logically — not physically.</a:t>
            </a:r>
          </a:p>
        </p:txBody>
      </p:sp>
    </p:spTree>
    <p:extLst>
      <p:ext uri="{BB962C8B-B14F-4D97-AF65-F5344CB8AC3E}">
        <p14:creationId xmlns:p14="http://schemas.microsoft.com/office/powerpoint/2010/main" val="122227974"/>
      </p:ext>
    </p:extLst>
  </p:cSld>
  <p:clrMapOvr>
    <a:masterClrMapping/>
  </p:clrMapOvr>
</p:sld>
</file>

<file path=ppt/slides/slide5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303BF-303B-01AD-3639-A9F28B925D2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A03E069-7684-705B-C8A3-1E2F5D62664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200BA13-6214-4B23-CD9A-EC7FDD0BB9C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FA169A2-C3F3-36D5-DD72-1D795D8348D1}"/>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A702DD40-369C-D42E-97E8-F6253AE683B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9E3ABBB-7091-C9EC-46BA-BDFB286E471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DB94FDD-5B68-C5E0-665D-D81100A2805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E0E4466F-065F-9CC6-A8C6-EB6EA62086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AFD061A3-E5F0-F767-5013-3ACA8BF624D5}"/>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88F503DC-F3C0-86D3-92B8-ADC6EAC28F84}"/>
              </a:ext>
            </a:extLst>
          </p:cNvPr>
          <p:cNvSpPr txBox="1">
            <a:spLocks/>
          </p:cNvSpPr>
          <p:nvPr/>
        </p:nvSpPr>
        <p:spPr>
          <a:xfrm>
            <a:off x="228600" y="762000"/>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80" dirty="0">
                <a:solidFill>
                  <a:schemeClr val="accent2"/>
                </a:solidFill>
              </a:rPr>
              <a:t>DHT(Distributed Hash Table)</a:t>
            </a:r>
          </a:p>
          <a:p>
            <a:r>
              <a:rPr lang="en-US" sz="1600" kern="0" spc="-80" dirty="0">
                <a:solidFill>
                  <a:schemeClr val="accent2"/>
                </a:solidFill>
              </a:rPr>
              <a:t>What is a Distributed Hash Table?</a:t>
            </a:r>
          </a:p>
          <a:p>
            <a:r>
              <a:rPr lang="en-US" sz="1600" kern="0" spc="-80" dirty="0">
                <a:solidFill>
                  <a:schemeClr val="accent6"/>
                </a:solidFill>
              </a:rPr>
              <a:t>A Distributed Hash Table (DHT) is a decentralized data lookup system that maps keys → values across a network of nodes without any central server.</a:t>
            </a:r>
          </a:p>
          <a:p>
            <a:r>
              <a:rPr lang="en-US" sz="1600" kern="0" spc="-80" dirty="0">
                <a:solidFill>
                  <a:schemeClr val="accent2"/>
                </a:solidFill>
              </a:rPr>
              <a:t>Think of it as:</a:t>
            </a:r>
          </a:p>
          <a:p>
            <a:r>
              <a:rPr lang="en-US" sz="1600" kern="0" spc="-80" dirty="0">
                <a:solidFill>
                  <a:schemeClr val="accent6"/>
                </a:solidFill>
              </a:rPr>
              <a:t>A decentralized version of a hash table spread across many machines.</a:t>
            </a:r>
          </a:p>
          <a:p>
            <a:r>
              <a:rPr lang="en-US" sz="1600" kern="0" spc="-80" dirty="0">
                <a:solidFill>
                  <a:schemeClr val="accent2"/>
                </a:solidFill>
              </a:rPr>
              <a:t>Core Goal:</a:t>
            </a:r>
          </a:p>
          <a:p>
            <a:r>
              <a:rPr lang="en-US" sz="1600" kern="0" spc="-80" dirty="0">
                <a:solidFill>
                  <a:schemeClr val="accent6"/>
                </a:solidFill>
              </a:rPr>
              <a:t>Given a key, find the node that is responsible for storing its value — efficiently (in O(log n) hops), even if nodes join/leave continuously.</a:t>
            </a:r>
          </a:p>
          <a:p>
            <a:endParaRPr lang="en-US" sz="1600" kern="0" spc="-80" dirty="0">
              <a:solidFill>
                <a:schemeClr val="accent6"/>
              </a:solidFill>
            </a:endParaRPr>
          </a:p>
          <a:p>
            <a:r>
              <a:rPr lang="en-US" sz="1600" kern="0" spc="-80" dirty="0">
                <a:solidFill>
                  <a:schemeClr val="accent2"/>
                </a:solidFill>
              </a:rPr>
              <a:t>🎯 2. Why Do We Need DHTs?</a:t>
            </a:r>
          </a:p>
          <a:p>
            <a:r>
              <a:rPr lang="en-US" sz="1600" kern="0" spc="-80" dirty="0">
                <a:solidFill>
                  <a:schemeClr val="accent2"/>
                </a:solidFill>
              </a:rPr>
              <a:t>Traditional client-server lookup has:</a:t>
            </a:r>
          </a:p>
          <a:p>
            <a:r>
              <a:rPr lang="en-US" sz="1600" kern="0" spc="-80" dirty="0">
                <a:solidFill>
                  <a:schemeClr val="accent6"/>
                </a:solidFill>
              </a:rPr>
              <a:t>Single failure point</a:t>
            </a:r>
          </a:p>
          <a:p>
            <a:r>
              <a:rPr lang="en-US" sz="1600" kern="0" spc="-80" dirty="0">
                <a:solidFill>
                  <a:schemeClr val="accent6"/>
                </a:solidFill>
              </a:rPr>
              <a:t>Scalability limits</a:t>
            </a:r>
          </a:p>
          <a:p>
            <a:r>
              <a:rPr lang="en-US" sz="1600" kern="0" spc="-80" dirty="0">
                <a:solidFill>
                  <a:schemeClr val="accent6"/>
                </a:solidFill>
              </a:rPr>
              <a:t>Central control</a:t>
            </a:r>
          </a:p>
          <a:p>
            <a:r>
              <a:rPr lang="en-US" sz="1600" kern="0" spc="-80" dirty="0">
                <a:solidFill>
                  <a:schemeClr val="accent2"/>
                </a:solidFill>
              </a:rPr>
              <a:t>DHTs solve this by:</a:t>
            </a:r>
          </a:p>
          <a:p>
            <a:r>
              <a:rPr lang="en-US" sz="1600" kern="0" spc="-80" dirty="0">
                <a:solidFill>
                  <a:schemeClr val="accent2"/>
                </a:solidFill>
              </a:rPr>
              <a:t>Feature	                                 Benefit</a:t>
            </a:r>
          </a:p>
          <a:p>
            <a:r>
              <a:rPr lang="en-US" sz="1600" kern="0" spc="-80" dirty="0">
                <a:solidFill>
                  <a:schemeClr val="accent6"/>
                </a:solidFill>
              </a:rPr>
              <a:t>Distributed storage	No single server bottleneck</a:t>
            </a:r>
          </a:p>
          <a:p>
            <a:r>
              <a:rPr lang="en-US" sz="1600" kern="0" spc="-80" dirty="0">
                <a:solidFill>
                  <a:schemeClr val="accent6"/>
                </a:solidFill>
              </a:rPr>
              <a:t>Deterministic placement	Anyone can find where data should be</a:t>
            </a:r>
          </a:p>
          <a:p>
            <a:r>
              <a:rPr lang="en-US" sz="1600" kern="0" spc="-80" dirty="0">
                <a:solidFill>
                  <a:schemeClr val="accent6"/>
                </a:solidFill>
              </a:rPr>
              <a:t>Efficient lookup	                 O(log n) hops even in huge networks</a:t>
            </a:r>
          </a:p>
          <a:p>
            <a:r>
              <a:rPr lang="en-US" sz="1600" kern="0" spc="-80" dirty="0">
                <a:solidFill>
                  <a:schemeClr val="accent6"/>
                </a:solidFill>
              </a:rPr>
              <a:t>Fault tolerance	                 Replicate data across nodes</a:t>
            </a:r>
          </a:p>
        </p:txBody>
      </p:sp>
    </p:spTree>
    <p:extLst>
      <p:ext uri="{BB962C8B-B14F-4D97-AF65-F5344CB8AC3E}">
        <p14:creationId xmlns:p14="http://schemas.microsoft.com/office/powerpoint/2010/main" val="2162599635"/>
      </p:ext>
    </p:extLst>
  </p:cSld>
  <p:clrMapOvr>
    <a:masterClrMapping/>
  </p:clrMapOvr>
</p:sld>
</file>

<file path=ppt/slides/slide5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7C192-01C4-2C84-4C62-41177046DF9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DE8D53D-AC18-5E37-BE5B-10ED48D244F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6641983-D61C-0C19-D9D5-39774CEE1FD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5FCCB89-077D-51AE-FAA0-3F19DB8EE3C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C8F6713A-1CAA-F108-47F5-C6FBB59D9A9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70F4226-279F-0BB4-0B8D-EBB31F0E059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4323D43-D75E-85F8-5D99-B2772870BA1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66E7BD9A-EAAC-63B1-73A0-241639B5FAD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7125F741-4DCB-5D59-6117-183D66CF2F74}"/>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19B931DD-5D55-B7DA-9B24-FDDEA4902B44}"/>
              </a:ext>
            </a:extLst>
          </p:cNvPr>
          <p:cNvSpPr txBox="1">
            <a:spLocks/>
          </p:cNvSpPr>
          <p:nvPr/>
        </p:nvSpPr>
        <p:spPr>
          <a:xfrm>
            <a:off x="228600" y="762000"/>
            <a:ext cx="8624937" cy="449353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80" dirty="0">
                <a:solidFill>
                  <a:schemeClr val="accent2"/>
                </a:solidFill>
              </a:rPr>
              <a:t>DHT(Distributed Hash Table)</a:t>
            </a:r>
          </a:p>
          <a:p>
            <a:r>
              <a:rPr lang="en-US" sz="1600" kern="0" spc="-80" dirty="0">
                <a:solidFill>
                  <a:schemeClr val="accent2"/>
                </a:solidFill>
              </a:rPr>
              <a:t>🔢 3. Key Idea: Consistent Hashing</a:t>
            </a:r>
          </a:p>
          <a:p>
            <a:r>
              <a:rPr lang="en-US" sz="1600" kern="0" spc="-80" dirty="0">
                <a:solidFill>
                  <a:schemeClr val="accent6"/>
                </a:solidFill>
              </a:rPr>
              <a:t>Both node IDs and key IDs are assigned using a hash function (e.g., SHA-1).</a:t>
            </a:r>
          </a:p>
          <a:p>
            <a:r>
              <a:rPr lang="en-US" sz="1600" kern="0" spc="-80" dirty="0" err="1">
                <a:solidFill>
                  <a:schemeClr val="accent6"/>
                </a:solidFill>
              </a:rPr>
              <a:t>NodeID</a:t>
            </a:r>
            <a:r>
              <a:rPr lang="en-US" sz="1600" kern="0" spc="-80" dirty="0">
                <a:solidFill>
                  <a:schemeClr val="accent6"/>
                </a:solidFill>
              </a:rPr>
              <a:t>  = Hash(IP + Port)</a:t>
            </a:r>
          </a:p>
          <a:p>
            <a:r>
              <a:rPr lang="en-US" sz="1600" kern="0" spc="-80" dirty="0" err="1">
                <a:solidFill>
                  <a:schemeClr val="accent6"/>
                </a:solidFill>
              </a:rPr>
              <a:t>KeyID</a:t>
            </a:r>
            <a:r>
              <a:rPr lang="en-US" sz="1600" kern="0" spc="-80" dirty="0">
                <a:solidFill>
                  <a:schemeClr val="accent6"/>
                </a:solidFill>
              </a:rPr>
              <a:t>   = Hash(</a:t>
            </a:r>
            <a:r>
              <a:rPr lang="en-US" sz="1600" kern="0" spc="-80" dirty="0" err="1">
                <a:solidFill>
                  <a:schemeClr val="accent6"/>
                </a:solidFill>
              </a:rPr>
              <a:t>KeyName</a:t>
            </a:r>
            <a:r>
              <a:rPr lang="en-US" sz="1600" kern="0" spc="-80" dirty="0">
                <a:solidFill>
                  <a:schemeClr val="accent6"/>
                </a:solidFill>
              </a:rPr>
              <a:t> or Content)</a:t>
            </a:r>
          </a:p>
          <a:p>
            <a:r>
              <a:rPr lang="en-US" sz="1600" kern="0" spc="-80" dirty="0">
                <a:solidFill>
                  <a:schemeClr val="accent6"/>
                </a:solidFill>
              </a:rPr>
              <a:t>Nodes form a structured overlay network where each key is stored at the peer "closest" to it (how closeness is measured depends on the DHT algorithm).</a:t>
            </a:r>
          </a:p>
          <a:p>
            <a:r>
              <a:rPr lang="en-US" sz="1600" kern="0" spc="-80" dirty="0">
                <a:solidFill>
                  <a:schemeClr val="accent6"/>
                </a:solidFill>
              </a:rPr>
              <a:t>This avoids reassigning many keys when nodes join/leave.</a:t>
            </a:r>
          </a:p>
          <a:p>
            <a:endParaRPr lang="en-US" sz="1600" kern="0" spc="-80" dirty="0">
              <a:solidFill>
                <a:schemeClr val="accent6"/>
              </a:solidFill>
            </a:endParaRPr>
          </a:p>
          <a:p>
            <a:r>
              <a:rPr lang="en-US" sz="1600" kern="0" spc="-80" dirty="0">
                <a:solidFill>
                  <a:schemeClr val="accent2"/>
                </a:solidFill>
              </a:rPr>
              <a:t>🧱 4. Essential Concepts in Every DHT</a:t>
            </a:r>
          </a:p>
          <a:p>
            <a:r>
              <a:rPr lang="en-US" sz="1600" kern="0" spc="-80" dirty="0">
                <a:solidFill>
                  <a:schemeClr val="accent2"/>
                </a:solidFill>
              </a:rPr>
              <a:t>Concept	                    Meaning</a:t>
            </a:r>
          </a:p>
          <a:p>
            <a:r>
              <a:rPr lang="en-US" sz="1600" kern="0" spc="-80" dirty="0">
                <a:solidFill>
                  <a:schemeClr val="accent6"/>
                </a:solidFill>
              </a:rPr>
              <a:t>Node ID	                    Unique identifier for each peer in ID space</a:t>
            </a:r>
          </a:p>
          <a:p>
            <a:r>
              <a:rPr lang="en-US" sz="1600" kern="0" spc="-80" dirty="0">
                <a:solidFill>
                  <a:schemeClr val="accent6"/>
                </a:solidFill>
              </a:rPr>
              <a:t>Key ID	                    Identifier for stored data</a:t>
            </a:r>
          </a:p>
          <a:p>
            <a:r>
              <a:rPr lang="en-US" sz="1600" kern="0" spc="-80" dirty="0">
                <a:solidFill>
                  <a:schemeClr val="accent6"/>
                </a:solidFill>
              </a:rPr>
              <a:t>Routing Table	   Stores selected neighbor nodes to forward queries</a:t>
            </a:r>
          </a:p>
          <a:p>
            <a:r>
              <a:rPr lang="en-US" sz="1600" kern="0" spc="-80" dirty="0">
                <a:solidFill>
                  <a:schemeClr val="accent6"/>
                </a:solidFill>
              </a:rPr>
              <a:t>Lookup Algorithm	   Finds the node responsible for a given Key ID</a:t>
            </a:r>
          </a:p>
          <a:p>
            <a:r>
              <a:rPr lang="en-US" sz="1600" kern="0" spc="-80" dirty="0">
                <a:solidFill>
                  <a:schemeClr val="accent6"/>
                </a:solidFill>
              </a:rPr>
              <a:t>Replication	   Store copies to survive node failures</a:t>
            </a:r>
          </a:p>
          <a:p>
            <a:r>
              <a:rPr lang="en-US" sz="1600" kern="0" spc="-80" dirty="0">
                <a:solidFill>
                  <a:schemeClr val="accent6"/>
                </a:solidFill>
              </a:rPr>
              <a:t>Churn Handling	   Mechanisms to handle nodes joining/leaving frequently</a:t>
            </a:r>
          </a:p>
          <a:p>
            <a:endParaRPr lang="en-US" sz="1600" kern="0" spc="-80" dirty="0">
              <a:solidFill>
                <a:schemeClr val="accent6"/>
              </a:solidFill>
            </a:endParaRPr>
          </a:p>
        </p:txBody>
      </p:sp>
    </p:spTree>
    <p:extLst>
      <p:ext uri="{BB962C8B-B14F-4D97-AF65-F5344CB8AC3E}">
        <p14:creationId xmlns:p14="http://schemas.microsoft.com/office/powerpoint/2010/main" val="1353441738"/>
      </p:ext>
    </p:extLst>
  </p:cSld>
  <p:clrMapOvr>
    <a:masterClrMapping/>
  </p:clrMapOvr>
</p:sld>
</file>

<file path=ppt/slides/slide5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D95C2-F33F-5DBF-C2C3-DA015C01C8E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A70FFF9-F3F3-753D-5E79-91421004064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EA7339E-4E9B-1A76-B7E7-1C2023FB480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6597942-64F5-B30D-BF0F-51C59AA458BF}"/>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310DCB22-4A10-DBAE-DB15-61A698EB63F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536EDC8-1773-87BF-8AEF-6B5D45179EC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7317E52-9E97-2E66-72B4-DBB2317400D9}"/>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3A9D608-C290-F98C-69B1-D1BC77C586F2}"/>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A6E1F0DC-A10C-23B9-8D92-A425324BE385}"/>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E39CFEC4-7CFB-2E70-F87A-868DEF92F730}"/>
              </a:ext>
            </a:extLst>
          </p:cNvPr>
          <p:cNvSpPr txBox="1">
            <a:spLocks/>
          </p:cNvSpPr>
          <p:nvPr/>
        </p:nvSpPr>
        <p:spPr>
          <a:xfrm>
            <a:off x="228600" y="762000"/>
            <a:ext cx="8624937" cy="30162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80" dirty="0">
                <a:solidFill>
                  <a:schemeClr val="accent2"/>
                </a:solidFill>
              </a:rPr>
              <a:t>DHT(Distributed Hash Table)</a:t>
            </a:r>
          </a:p>
          <a:p>
            <a:r>
              <a:rPr lang="en-US" sz="1600" kern="0" spc="-80" dirty="0">
                <a:solidFill>
                  <a:schemeClr val="accent2"/>
                </a:solidFill>
              </a:rPr>
              <a:t>🧩 5. The DHT Lookup Problem</a:t>
            </a:r>
          </a:p>
          <a:p>
            <a:r>
              <a:rPr lang="en-US" sz="1600" kern="0" spc="-80" dirty="0">
                <a:solidFill>
                  <a:schemeClr val="accent2"/>
                </a:solidFill>
              </a:rPr>
              <a:t>Problem:</a:t>
            </a:r>
          </a:p>
          <a:p>
            <a:r>
              <a:rPr lang="en-US" sz="1600" kern="0" spc="-80" dirty="0">
                <a:solidFill>
                  <a:schemeClr val="accent6"/>
                </a:solidFill>
              </a:rPr>
              <a:t>Given a </a:t>
            </a:r>
            <a:r>
              <a:rPr lang="en-US" sz="1600" kern="0" spc="-80" dirty="0" err="1">
                <a:solidFill>
                  <a:schemeClr val="accent6"/>
                </a:solidFill>
              </a:rPr>
              <a:t>KeyID</a:t>
            </a:r>
            <a:r>
              <a:rPr lang="en-US" sz="1600" kern="0" spc="-80" dirty="0">
                <a:solidFill>
                  <a:schemeClr val="accent6"/>
                </a:solidFill>
              </a:rPr>
              <a:t>, find which node’s ID is closest to it.</a:t>
            </a:r>
          </a:p>
          <a:p>
            <a:r>
              <a:rPr lang="en-US" sz="1600" kern="0" spc="-80" dirty="0">
                <a:solidFill>
                  <a:schemeClr val="accent2"/>
                </a:solidFill>
              </a:rPr>
              <a:t>Solution Strategy:</a:t>
            </a:r>
          </a:p>
          <a:p>
            <a:r>
              <a:rPr lang="en-US" sz="1600" kern="0" spc="-80" dirty="0">
                <a:solidFill>
                  <a:schemeClr val="accent2"/>
                </a:solidFill>
              </a:rPr>
              <a:t>At each step:</a:t>
            </a:r>
          </a:p>
          <a:p>
            <a:r>
              <a:rPr lang="en-US" sz="1600" kern="0" spc="-80" dirty="0">
                <a:solidFill>
                  <a:schemeClr val="accent6"/>
                </a:solidFill>
              </a:rPr>
              <a:t>Compute distance between target </a:t>
            </a:r>
            <a:r>
              <a:rPr lang="en-US" sz="1600" kern="0" spc="-80" dirty="0" err="1">
                <a:solidFill>
                  <a:schemeClr val="accent6"/>
                </a:solidFill>
              </a:rPr>
              <a:t>KeyID</a:t>
            </a:r>
            <a:r>
              <a:rPr lang="en-US" sz="1600" kern="0" spc="-80" dirty="0">
                <a:solidFill>
                  <a:schemeClr val="accent6"/>
                </a:solidFill>
              </a:rPr>
              <a:t> and known peers.</a:t>
            </a:r>
          </a:p>
          <a:p>
            <a:r>
              <a:rPr lang="en-US" sz="1600" kern="0" spc="-80" dirty="0">
                <a:solidFill>
                  <a:schemeClr val="accent6"/>
                </a:solidFill>
              </a:rPr>
              <a:t>Forward request to peer that is closer than current.</a:t>
            </a:r>
          </a:p>
          <a:p>
            <a:r>
              <a:rPr lang="en-US" sz="1600" kern="0" spc="-80" dirty="0">
                <a:solidFill>
                  <a:schemeClr val="accent6"/>
                </a:solidFill>
              </a:rPr>
              <a:t>Continue until no closer peer exists.</a:t>
            </a:r>
          </a:p>
          <a:p>
            <a:r>
              <a:rPr lang="en-US" sz="1600" kern="0" spc="-80" dirty="0">
                <a:solidFill>
                  <a:schemeClr val="accent6"/>
                </a:solidFill>
              </a:rPr>
              <a:t>This guarantees convergence in O(log n) steps.</a:t>
            </a:r>
          </a:p>
          <a:p>
            <a:endParaRPr lang="en-US" sz="1600" kern="0" spc="-80" dirty="0">
              <a:solidFill>
                <a:schemeClr val="accent6"/>
              </a:solidFill>
            </a:endParaRPr>
          </a:p>
          <a:p>
            <a:r>
              <a:rPr lang="en-US" sz="1600" kern="0" spc="-80" dirty="0">
                <a:solidFill>
                  <a:schemeClr val="accent2"/>
                </a:solidFill>
              </a:rPr>
              <a:t>🌀 6. Major DHT Algorithms (With Routing Style)</a:t>
            </a:r>
          </a:p>
        </p:txBody>
      </p:sp>
      <p:pic>
        <p:nvPicPr>
          <p:cNvPr id="14" name="Picture 13" descr="A table with text on it&#10;&#10;AI-generated content may be incorrect.">
            <a:extLst>
              <a:ext uri="{FF2B5EF4-FFF2-40B4-BE49-F238E27FC236}">
                <a16:creationId xmlns:a16="http://schemas.microsoft.com/office/drawing/2014/main" id="{7F4890D1-7986-17E8-FF9B-8229A3C2E99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66738" y="3746360"/>
            <a:ext cx="8839199" cy="2162815"/>
          </a:xfrm>
          <a:prstGeom prst="rect">
            <a:avLst/>
          </a:prstGeom>
        </p:spPr>
      </p:pic>
    </p:spTree>
    <p:extLst>
      <p:ext uri="{BB962C8B-B14F-4D97-AF65-F5344CB8AC3E}">
        <p14:creationId xmlns:p14="http://schemas.microsoft.com/office/powerpoint/2010/main" val="806110654"/>
      </p:ext>
    </p:extLst>
  </p:cSld>
  <p:clrMapOvr>
    <a:masterClrMapping/>
  </p:clrMapOvr>
</p:sld>
</file>

<file path=ppt/slides/slide5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06581-5DF5-117B-CE29-2CE3B75DF4D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B24A0C9-C4EB-895D-9CCE-29E8B15B668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467965A-8D45-4784-5687-1988E76ECDE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48C0D45-3367-7803-B5C5-E95773732BD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503411D2-2DFD-1DF1-8F69-C77C80A5484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926FE65-A68A-0675-1254-E293B352A76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530ED4A-4898-CB83-E03A-73EBC0B9AFA4}"/>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8DC5D47-F98E-1B39-81E6-243725150CB8}"/>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D26D3882-EE31-471B-1FEC-7B2AC81A2A36}"/>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CFE2F23E-512A-B7BD-4B17-155952BCB09B}"/>
              </a:ext>
            </a:extLst>
          </p:cNvPr>
          <p:cNvSpPr txBox="1">
            <a:spLocks/>
          </p:cNvSpPr>
          <p:nvPr/>
        </p:nvSpPr>
        <p:spPr>
          <a:xfrm>
            <a:off x="228600" y="762000"/>
            <a:ext cx="8624937" cy="52322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80" dirty="0">
                <a:solidFill>
                  <a:schemeClr val="accent2"/>
                </a:solidFill>
              </a:rPr>
              <a:t>DHT(Distributed Hash Table)</a:t>
            </a:r>
          </a:p>
          <a:p>
            <a:r>
              <a:rPr lang="en-US" sz="1600" kern="0" spc="-80" dirty="0">
                <a:solidFill>
                  <a:schemeClr val="accent2"/>
                </a:solidFill>
              </a:rPr>
              <a:t>⭐ The Most Important One: </a:t>
            </a:r>
            <a:r>
              <a:rPr lang="en-US" sz="1600" kern="0" spc="-80" dirty="0" err="1">
                <a:solidFill>
                  <a:schemeClr val="accent2"/>
                </a:solidFill>
              </a:rPr>
              <a:t>Kademlia</a:t>
            </a:r>
            <a:endParaRPr lang="en-US" sz="1600" kern="0" spc="-80" dirty="0">
              <a:solidFill>
                <a:schemeClr val="accent2"/>
              </a:solidFill>
            </a:endParaRPr>
          </a:p>
          <a:p>
            <a:r>
              <a:rPr lang="en-US" sz="1600" kern="0" spc="-80" dirty="0">
                <a:solidFill>
                  <a:schemeClr val="accent2"/>
                </a:solidFill>
              </a:rPr>
              <a:t>Why </a:t>
            </a:r>
            <a:r>
              <a:rPr lang="en-US" sz="1600" kern="0" spc="-80" dirty="0" err="1">
                <a:solidFill>
                  <a:schemeClr val="accent2"/>
                </a:solidFill>
              </a:rPr>
              <a:t>Kademlia</a:t>
            </a:r>
            <a:r>
              <a:rPr lang="en-US" sz="1600" kern="0" spc="-80" dirty="0">
                <a:solidFill>
                  <a:schemeClr val="accent2"/>
                </a:solidFill>
              </a:rPr>
              <a:t> dominates:</a:t>
            </a:r>
          </a:p>
          <a:p>
            <a:r>
              <a:rPr lang="en-US" sz="1600" kern="0" spc="-80" dirty="0">
                <a:solidFill>
                  <a:schemeClr val="accent6"/>
                </a:solidFill>
              </a:rPr>
              <a:t>Robust under churn</a:t>
            </a:r>
          </a:p>
          <a:p>
            <a:r>
              <a:rPr lang="en-US" sz="1600" kern="0" spc="-80" dirty="0">
                <a:solidFill>
                  <a:schemeClr val="accent6"/>
                </a:solidFill>
              </a:rPr>
              <a:t>Easy NAT traversal (UDP messages)</a:t>
            </a:r>
          </a:p>
          <a:p>
            <a:r>
              <a:rPr lang="en-US" sz="1600" kern="0" spc="-80" dirty="0">
                <a:solidFill>
                  <a:schemeClr val="accent6"/>
                </a:solidFill>
              </a:rPr>
              <a:t>Symmetric routing → simpler logic</a:t>
            </a:r>
          </a:p>
          <a:p>
            <a:r>
              <a:rPr lang="en-US" sz="1600" kern="0" spc="-80" dirty="0">
                <a:solidFill>
                  <a:schemeClr val="accent6"/>
                </a:solidFill>
              </a:rPr>
              <a:t>Used in BitTorrent, Ethereum, IPFS, libp2p Mainline DHT</a:t>
            </a:r>
          </a:p>
          <a:p>
            <a:r>
              <a:rPr lang="en-US" sz="1600" kern="0" spc="-80" dirty="0">
                <a:solidFill>
                  <a:schemeClr val="accent2"/>
                </a:solidFill>
              </a:rPr>
              <a:t>Key Concept:</a:t>
            </a:r>
          </a:p>
          <a:p>
            <a:r>
              <a:rPr lang="en-US" sz="1600" kern="0" spc="-80" dirty="0">
                <a:solidFill>
                  <a:schemeClr val="accent6"/>
                </a:solidFill>
              </a:rPr>
              <a:t>distance(A, B) = XOR(A, B)</a:t>
            </a:r>
          </a:p>
          <a:p>
            <a:r>
              <a:rPr lang="en-US" sz="1600" kern="0" spc="-80" dirty="0">
                <a:solidFill>
                  <a:schemeClr val="accent6"/>
                </a:solidFill>
              </a:rPr>
              <a:t>Smaller XOR = closer in overlay space</a:t>
            </a:r>
          </a:p>
          <a:p>
            <a:r>
              <a:rPr lang="en-US" sz="1600" kern="0" spc="-80" dirty="0" err="1">
                <a:solidFill>
                  <a:schemeClr val="accent2"/>
                </a:solidFill>
              </a:rPr>
              <a:t>Kademlia</a:t>
            </a:r>
            <a:r>
              <a:rPr lang="en-US" sz="1600" kern="0" spc="-80" dirty="0">
                <a:solidFill>
                  <a:schemeClr val="accent2"/>
                </a:solidFill>
              </a:rPr>
              <a:t> Routing Table:</a:t>
            </a:r>
          </a:p>
          <a:p>
            <a:r>
              <a:rPr lang="en-US" sz="1600" kern="0" spc="-80" dirty="0">
                <a:solidFill>
                  <a:schemeClr val="accent6"/>
                </a:solidFill>
              </a:rPr>
              <a:t>Organized into k-buckets</a:t>
            </a:r>
          </a:p>
          <a:p>
            <a:r>
              <a:rPr lang="en-US" sz="1600" kern="0" spc="-80" dirty="0">
                <a:solidFill>
                  <a:schemeClr val="accent6"/>
                </a:solidFill>
              </a:rPr>
              <a:t>Each bucket holds nodes by XOR distance range</a:t>
            </a:r>
          </a:p>
          <a:p>
            <a:r>
              <a:rPr lang="en-US" sz="1600" kern="0" spc="-80" dirty="0">
                <a:solidFill>
                  <a:schemeClr val="accent6"/>
                </a:solidFill>
              </a:rPr>
              <a:t>Ensures redundancy and diversity</a:t>
            </a:r>
          </a:p>
          <a:p>
            <a:endParaRPr lang="en-US" sz="1600" kern="0" spc="-80" dirty="0">
              <a:solidFill>
                <a:schemeClr val="accent6"/>
              </a:solidFill>
            </a:endParaRPr>
          </a:p>
          <a:p>
            <a:r>
              <a:rPr lang="en-US" sz="1600" kern="0" spc="-80" dirty="0">
                <a:solidFill>
                  <a:schemeClr val="accent2"/>
                </a:solidFill>
              </a:rPr>
              <a:t>🔄 7. Lookup Walkthrough (</a:t>
            </a:r>
            <a:r>
              <a:rPr lang="en-US" sz="1600" kern="0" spc="-80" dirty="0" err="1">
                <a:solidFill>
                  <a:schemeClr val="accent2"/>
                </a:solidFill>
              </a:rPr>
              <a:t>Kademlia</a:t>
            </a:r>
            <a:r>
              <a:rPr lang="en-US" sz="1600" kern="0" spc="-80" dirty="0">
                <a:solidFill>
                  <a:schemeClr val="accent2"/>
                </a:solidFill>
              </a:rPr>
              <a:t>)</a:t>
            </a:r>
          </a:p>
          <a:p>
            <a:r>
              <a:rPr lang="en-US" sz="1600" kern="0" spc="-80" dirty="0">
                <a:solidFill>
                  <a:schemeClr val="accent6"/>
                </a:solidFill>
              </a:rPr>
              <a:t>Goal: Find </a:t>
            </a:r>
            <a:r>
              <a:rPr lang="en-US" sz="1600" kern="0" spc="-80" dirty="0" err="1">
                <a:solidFill>
                  <a:schemeClr val="accent6"/>
                </a:solidFill>
              </a:rPr>
              <a:t>KeyID</a:t>
            </a:r>
            <a:r>
              <a:rPr lang="en-US" sz="1600" kern="0" spc="-80" dirty="0">
                <a:solidFill>
                  <a:schemeClr val="accent6"/>
                </a:solidFill>
              </a:rPr>
              <a:t> = K</a:t>
            </a:r>
          </a:p>
          <a:p>
            <a:r>
              <a:rPr lang="en-US" sz="1600" kern="0" spc="-80" dirty="0">
                <a:solidFill>
                  <a:schemeClr val="accent6"/>
                </a:solidFill>
              </a:rPr>
              <a:t>1. Choose </a:t>
            </a:r>
            <a:r>
              <a:rPr lang="el-GR" sz="1600" kern="0" spc="-80" dirty="0">
                <a:solidFill>
                  <a:schemeClr val="accent6"/>
                </a:solidFill>
              </a:rPr>
              <a:t>α </a:t>
            </a:r>
            <a:r>
              <a:rPr lang="en-US" sz="1600" kern="0" spc="-80" dirty="0">
                <a:solidFill>
                  <a:schemeClr val="accent6"/>
                </a:solidFill>
              </a:rPr>
              <a:t>closest nodes we know → send lookup request.</a:t>
            </a:r>
          </a:p>
          <a:p>
            <a:r>
              <a:rPr lang="en-US" sz="1600" kern="0" spc="-80" dirty="0">
                <a:solidFill>
                  <a:schemeClr val="accent6"/>
                </a:solidFill>
              </a:rPr>
              <a:t>2. Each node returns peers closer to K.</a:t>
            </a:r>
          </a:p>
          <a:p>
            <a:r>
              <a:rPr lang="en-US" sz="1600" kern="0" spc="-80" dirty="0">
                <a:solidFill>
                  <a:schemeClr val="accent6"/>
                </a:solidFill>
              </a:rPr>
              <a:t>3. Update candidate list and repeat.</a:t>
            </a:r>
          </a:p>
          <a:p>
            <a:r>
              <a:rPr lang="en-US" sz="1600" kern="0" spc="-80" dirty="0">
                <a:solidFill>
                  <a:schemeClr val="accent6"/>
                </a:solidFill>
              </a:rPr>
              <a:t>4. Stop when no closer nodes are found.</a:t>
            </a:r>
          </a:p>
        </p:txBody>
      </p:sp>
    </p:spTree>
    <p:extLst>
      <p:ext uri="{BB962C8B-B14F-4D97-AF65-F5344CB8AC3E}">
        <p14:creationId xmlns:p14="http://schemas.microsoft.com/office/powerpoint/2010/main" val="2678929949"/>
      </p:ext>
    </p:extLst>
  </p:cSld>
  <p:clrMapOvr>
    <a:masterClrMapping/>
  </p:clrMapOvr>
</p:sld>
</file>

<file path=ppt/slides/slide5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382D6-4E2D-3B7B-8246-B48AFDB1E0F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8B77E15-56A2-08B4-516E-B9E7B8DFE9D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1B21FDE-3940-3D9A-9ADB-D14BCFABFBE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A83B0C8-AD36-FBE1-08BC-6AB0E3572DB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9EB5D092-B329-70C7-4BC2-F1C60DBB7C8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3DF10B2-3901-5AD9-534F-AFE843831C9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905C6A1-D6F3-52A6-D1C4-6FB2E19F51D9}"/>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55778ABD-3E76-AE79-0E8D-8EACF4A1636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78729045-887B-A6C7-E7C0-2564124F1A46}"/>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AB924E77-4243-620C-0BA5-F110628103A1}"/>
              </a:ext>
            </a:extLst>
          </p:cNvPr>
          <p:cNvSpPr txBox="1">
            <a:spLocks/>
          </p:cNvSpPr>
          <p:nvPr/>
        </p:nvSpPr>
        <p:spPr>
          <a:xfrm>
            <a:off x="228600" y="762000"/>
            <a:ext cx="8624937" cy="35086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80" dirty="0">
                <a:solidFill>
                  <a:schemeClr val="accent2"/>
                </a:solidFill>
              </a:rPr>
              <a:t>DHT(Distributed Hash Table)</a:t>
            </a:r>
          </a:p>
          <a:p>
            <a:r>
              <a:rPr lang="en-US" sz="1600" kern="0" spc="-80" dirty="0">
                <a:solidFill>
                  <a:schemeClr val="accent6"/>
                </a:solidFill>
              </a:rPr>
              <a:t>This is called iterative lookup or progressive refinement.</a:t>
            </a:r>
          </a:p>
          <a:p>
            <a:r>
              <a:rPr lang="en-US" sz="1600" kern="0" spc="-80" dirty="0">
                <a:solidFill>
                  <a:schemeClr val="accent6"/>
                </a:solidFill>
              </a:rPr>
              <a:t>Runs in: O(log n) hop rounds, typically ~4–7 in public networks.</a:t>
            </a:r>
          </a:p>
          <a:p>
            <a:endParaRPr lang="en-US" sz="1600" kern="0" spc="-80" dirty="0">
              <a:solidFill>
                <a:schemeClr val="accent6"/>
              </a:solidFill>
            </a:endParaRPr>
          </a:p>
          <a:p>
            <a:r>
              <a:rPr lang="en-US" sz="1600" kern="0" spc="-80" dirty="0">
                <a:solidFill>
                  <a:schemeClr val="accent2"/>
                </a:solidFill>
              </a:rPr>
              <a:t>🗄 8. Data Storage &amp; Replication</a:t>
            </a:r>
          </a:p>
          <a:p>
            <a:r>
              <a:rPr lang="en-US" sz="1600" kern="0" spc="-80" dirty="0">
                <a:solidFill>
                  <a:schemeClr val="accent6"/>
                </a:solidFill>
              </a:rPr>
              <a:t>To survive node failures (churn), DHTs store each key at:</a:t>
            </a:r>
          </a:p>
          <a:p>
            <a:r>
              <a:rPr lang="en-US" sz="1600" kern="0" spc="-80" dirty="0">
                <a:solidFill>
                  <a:schemeClr val="accent6"/>
                </a:solidFill>
              </a:rPr>
              <a:t>The k closest nodes to </a:t>
            </a:r>
            <a:r>
              <a:rPr lang="en-US" sz="1600" kern="0" spc="-80" dirty="0" err="1">
                <a:solidFill>
                  <a:schemeClr val="accent6"/>
                </a:solidFill>
              </a:rPr>
              <a:t>KeyID</a:t>
            </a:r>
            <a:r>
              <a:rPr lang="en-US" sz="1600" kern="0" spc="-80" dirty="0">
                <a:solidFill>
                  <a:schemeClr val="accent6"/>
                </a:solidFill>
              </a:rPr>
              <a:t>, not just one.</a:t>
            </a:r>
          </a:p>
          <a:p>
            <a:r>
              <a:rPr lang="en-US" sz="1600" kern="0" spc="-80" dirty="0">
                <a:solidFill>
                  <a:schemeClr val="accent6"/>
                </a:solidFill>
              </a:rPr>
              <a:t>And periodically (every T seconds):</a:t>
            </a:r>
          </a:p>
          <a:p>
            <a:r>
              <a:rPr lang="en-US" sz="1600" kern="0" spc="-80" dirty="0">
                <a:solidFill>
                  <a:schemeClr val="accent6"/>
                </a:solidFill>
              </a:rPr>
              <a:t>Nodes refresh routing tables</a:t>
            </a:r>
          </a:p>
          <a:p>
            <a:r>
              <a:rPr lang="en-US" sz="1600" kern="0" spc="-80" dirty="0">
                <a:solidFill>
                  <a:schemeClr val="accent6"/>
                </a:solidFill>
              </a:rPr>
              <a:t>Re-replicate lost keys</a:t>
            </a:r>
          </a:p>
          <a:p>
            <a:r>
              <a:rPr lang="en-US" sz="1600" kern="0" spc="-80" dirty="0">
                <a:solidFill>
                  <a:schemeClr val="accent6"/>
                </a:solidFill>
              </a:rPr>
              <a:t>Drop unreachable peers</a:t>
            </a:r>
          </a:p>
          <a:p>
            <a:r>
              <a:rPr lang="en-US" sz="1600" kern="0" spc="-80" dirty="0">
                <a:solidFill>
                  <a:schemeClr val="accent6"/>
                </a:solidFill>
              </a:rPr>
              <a:t>This allows DHTs to remain stable even if 30–60% of peers churn hourly.</a:t>
            </a:r>
          </a:p>
          <a:p>
            <a:endParaRPr lang="en-US" sz="1600" kern="0" spc="-80" dirty="0">
              <a:solidFill>
                <a:schemeClr val="accent6"/>
              </a:solidFill>
            </a:endParaRPr>
          </a:p>
          <a:p>
            <a:r>
              <a:rPr lang="en-US" sz="1600" kern="0" spc="-80" dirty="0">
                <a:solidFill>
                  <a:schemeClr val="accent2"/>
                </a:solidFill>
              </a:rPr>
              <a:t>🛡 9. Security Challenges</a:t>
            </a:r>
          </a:p>
        </p:txBody>
      </p:sp>
      <p:pic>
        <p:nvPicPr>
          <p:cNvPr id="13" name="Picture 12" descr="A screenshot of a computer&#10;&#10;AI-generated content may be incorrect.">
            <a:extLst>
              <a:ext uri="{FF2B5EF4-FFF2-40B4-BE49-F238E27FC236}">
                <a16:creationId xmlns:a16="http://schemas.microsoft.com/office/drawing/2014/main" id="{24D28260-8FF6-4E35-B999-F235E1B7906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52400" y="4235332"/>
            <a:ext cx="8915399" cy="1673844"/>
          </a:xfrm>
          <a:prstGeom prst="rect">
            <a:avLst/>
          </a:prstGeom>
        </p:spPr>
      </p:pic>
    </p:spTree>
    <p:extLst>
      <p:ext uri="{BB962C8B-B14F-4D97-AF65-F5344CB8AC3E}">
        <p14:creationId xmlns:p14="http://schemas.microsoft.com/office/powerpoint/2010/main" val="3452564728"/>
      </p:ext>
    </p:extLst>
  </p:cSld>
  <p:clrMapOvr>
    <a:masterClrMapping/>
  </p:clrMapOvr>
</p:sld>
</file>

<file path=ppt/slides/slide5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DD95E-05A6-5811-8AF8-476BEE5D4F1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37A1D39-FB14-19E4-6DCE-CD73C4FCF2C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304E22F-2DDB-CD90-8242-AFB06BCD99E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96A8F13-E6F6-A35E-066E-17595EBB62A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469346E1-51B7-74C3-8CC7-B8F3F677605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768903E-9B27-3EFB-5C56-D3C3990848E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FD1B363-8FE7-EE7E-D584-1057131E76AD}"/>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17F35B67-9F7B-2A00-7AC6-9D968FEA773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7AB971A6-608E-66E9-3158-3AEE576BF920}"/>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6CEEF898-1FF9-03C6-4FBA-C4C91F5DA1D4}"/>
              </a:ext>
            </a:extLst>
          </p:cNvPr>
          <p:cNvSpPr txBox="1">
            <a:spLocks/>
          </p:cNvSpPr>
          <p:nvPr/>
        </p:nvSpPr>
        <p:spPr>
          <a:xfrm>
            <a:off x="228600" y="762000"/>
            <a:ext cx="8624937" cy="301621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80" dirty="0">
                <a:solidFill>
                  <a:schemeClr val="accent2"/>
                </a:solidFill>
              </a:rPr>
              <a:t>DHT(Distributed Hash Table)</a:t>
            </a:r>
          </a:p>
          <a:p>
            <a:r>
              <a:rPr lang="en-US" sz="1600" kern="0" spc="-80" dirty="0">
                <a:solidFill>
                  <a:schemeClr val="accent2"/>
                </a:solidFill>
              </a:rPr>
              <a:t>🌍 10. Real-World DHT Systems</a:t>
            </a:r>
          </a:p>
          <a:p>
            <a:r>
              <a:rPr lang="en-US" sz="1600" kern="0" spc="-80" dirty="0">
                <a:solidFill>
                  <a:schemeClr val="accent2"/>
                </a:solidFill>
              </a:rPr>
              <a:t>System	                                 What DHT Enables</a:t>
            </a:r>
          </a:p>
          <a:p>
            <a:r>
              <a:rPr lang="en-US" sz="1600" kern="0" spc="-80" dirty="0">
                <a:solidFill>
                  <a:schemeClr val="accent6"/>
                </a:solidFill>
              </a:rPr>
              <a:t>BitTorrent Mainline DHT	Find peers sharing a torrent (no tracker needed)</a:t>
            </a:r>
          </a:p>
          <a:p>
            <a:r>
              <a:rPr lang="en-US" sz="1600" kern="0" spc="-80" dirty="0">
                <a:solidFill>
                  <a:schemeClr val="accent6"/>
                </a:solidFill>
              </a:rPr>
              <a:t>IPFS	                                 Content lookup via CID → </a:t>
            </a:r>
            <a:r>
              <a:rPr lang="en-US" sz="1600" kern="0" spc="-80" dirty="0" err="1">
                <a:solidFill>
                  <a:schemeClr val="accent6"/>
                </a:solidFill>
              </a:rPr>
              <a:t>Kademlia</a:t>
            </a:r>
            <a:endParaRPr lang="en-US" sz="1600" kern="0" spc="-80" dirty="0">
              <a:solidFill>
                <a:schemeClr val="accent6"/>
              </a:solidFill>
            </a:endParaRPr>
          </a:p>
          <a:p>
            <a:r>
              <a:rPr lang="en-US" sz="1600" kern="0" spc="-80" dirty="0">
                <a:solidFill>
                  <a:schemeClr val="accent6"/>
                </a:solidFill>
              </a:rPr>
              <a:t>Ethereum	                Node discovery and block propagation</a:t>
            </a:r>
          </a:p>
          <a:p>
            <a:r>
              <a:rPr lang="en-US" sz="1600" kern="0" spc="-80" dirty="0">
                <a:solidFill>
                  <a:schemeClr val="accent6"/>
                </a:solidFill>
              </a:rPr>
              <a:t>libp2p	                                 General purpose distributed networking layer</a:t>
            </a:r>
          </a:p>
          <a:p>
            <a:endParaRPr lang="en-US" sz="1600" kern="0" spc="-80" dirty="0">
              <a:solidFill>
                <a:schemeClr val="accent6"/>
              </a:solidFill>
            </a:endParaRPr>
          </a:p>
          <a:p>
            <a:r>
              <a:rPr lang="en-US" sz="1600" kern="0" spc="-80" dirty="0">
                <a:solidFill>
                  <a:schemeClr val="accent2"/>
                </a:solidFill>
              </a:rPr>
              <a:t>✅ 11. Summary (In One Sentence)</a:t>
            </a:r>
          </a:p>
          <a:p>
            <a:r>
              <a:rPr lang="en-US" sz="1600" kern="0" spc="-80" dirty="0">
                <a:solidFill>
                  <a:schemeClr val="accent6"/>
                </a:solidFill>
              </a:rPr>
              <a:t>DHTs provide a scalable, fault-tolerant, deterministic mechanism for locating data in a decentralized network using structured overlay topology, consistent hashing, and efficient O(log n) lookup routing.          </a:t>
            </a:r>
          </a:p>
        </p:txBody>
      </p:sp>
    </p:spTree>
    <p:extLst>
      <p:ext uri="{BB962C8B-B14F-4D97-AF65-F5344CB8AC3E}">
        <p14:creationId xmlns:p14="http://schemas.microsoft.com/office/powerpoint/2010/main" val="1987905777"/>
      </p:ext>
    </p:extLst>
  </p:cSld>
  <p:clrMapOvr>
    <a:masterClrMapping/>
  </p:clrMapOvr>
</p:sld>
</file>

<file path=ppt/slides/slide5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A5D75-B0A1-9646-84CF-44926E890BE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AC231BF-EC25-8DFD-FA69-C8A2DBDCD50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87A46BD-A9FD-8EFE-1C70-0A984533B53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CB3E490-A60A-3E1A-2E32-EE728C8D214C}"/>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53EEFC33-0A7F-8A97-4085-2635D39794C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AA19D89-06E7-E22E-C40E-BCA08B0C54D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98C6054-92B2-9334-C157-BF7EADEC3594}"/>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AB6FFA62-2189-64BA-0729-A9292CC3C0B8}"/>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0B3A84A3-55DD-63B6-84F7-E6A0AFA5D70A}"/>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952E945D-9EF7-D000-D1C1-652814305B00}"/>
              </a:ext>
            </a:extLst>
          </p:cNvPr>
          <p:cNvSpPr txBox="1">
            <a:spLocks/>
          </p:cNvSpPr>
          <p:nvPr/>
        </p:nvSpPr>
        <p:spPr>
          <a:xfrm>
            <a:off x="228600" y="762000"/>
            <a:ext cx="8624937" cy="369331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80" dirty="0">
                <a:solidFill>
                  <a:schemeClr val="accent2"/>
                </a:solidFill>
              </a:rPr>
              <a:t>For Further Exploration –</a:t>
            </a:r>
          </a:p>
          <a:p>
            <a:r>
              <a:rPr lang="en-IN" sz="2000" dirty="0">
                <a:hlinkClick r:id="rId8"/>
              </a:rPr>
              <a:t>Peer-to-Peer </a:t>
            </a:r>
            <a:r>
              <a:rPr lang="en-IN" sz="2000" dirty="0">
                <a:hlinkClick r:id="rId9"/>
              </a:rPr>
              <a:t>–</a:t>
            </a:r>
            <a:r>
              <a:rPr lang="en-IN" sz="2000" dirty="0">
                <a:hlinkClick r:id="rId8"/>
              </a:rPr>
              <a:t> Wikipedia</a:t>
            </a:r>
            <a:endParaRPr lang="en-IN" sz="2000" dirty="0"/>
          </a:p>
          <a:p>
            <a:r>
              <a:rPr lang="en-US" sz="2000" dirty="0">
                <a:hlinkClick r:id="rId10"/>
              </a:rPr>
              <a:t>What is P2P (Peer-to-Peer Process)? </a:t>
            </a:r>
            <a:r>
              <a:rPr lang="en-US" sz="2000" dirty="0">
                <a:hlinkClick r:id="rId9"/>
              </a:rPr>
              <a:t>–</a:t>
            </a:r>
            <a:r>
              <a:rPr lang="en-US" sz="2000" dirty="0">
                <a:hlinkClick r:id="rId10"/>
              </a:rPr>
              <a:t> </a:t>
            </a:r>
            <a:r>
              <a:rPr lang="en-US" sz="2000" dirty="0" err="1">
                <a:hlinkClick r:id="rId10"/>
              </a:rPr>
              <a:t>GeeksforGeeks</a:t>
            </a:r>
            <a:endParaRPr lang="en-US" sz="2000" dirty="0"/>
          </a:p>
          <a:p>
            <a:r>
              <a:rPr lang="en-IN" sz="2000" dirty="0">
                <a:hlinkClick r:id="rId11"/>
              </a:rPr>
              <a:t>Peer-to-Peer (P2P) Architecture </a:t>
            </a:r>
            <a:r>
              <a:rPr lang="en-IN" sz="2000" dirty="0">
                <a:hlinkClick r:id="rId9"/>
              </a:rPr>
              <a:t>–</a:t>
            </a:r>
            <a:r>
              <a:rPr lang="en-IN" sz="2000" dirty="0">
                <a:hlinkClick r:id="rId11"/>
              </a:rPr>
              <a:t> </a:t>
            </a:r>
            <a:r>
              <a:rPr lang="en-IN" sz="2000" dirty="0" err="1">
                <a:hlinkClick r:id="rId11"/>
              </a:rPr>
              <a:t>GeeksforGeeks</a:t>
            </a:r>
            <a:endParaRPr lang="en-IN" sz="2000" dirty="0"/>
          </a:p>
          <a:p>
            <a:r>
              <a:rPr lang="en-US" sz="2000" dirty="0">
                <a:hlinkClick r:id="rId12"/>
              </a:rPr>
              <a:t>MIT 6.824: Distributed Systems</a:t>
            </a:r>
            <a:endParaRPr lang="en-US" sz="2000" dirty="0"/>
          </a:p>
          <a:p>
            <a:r>
              <a:rPr lang="en-US" sz="2000" dirty="0">
                <a:hlinkClick r:id="rId13"/>
              </a:rPr>
              <a:t>Peer To Peer Networks – NPTEL Course</a:t>
            </a:r>
            <a:endParaRPr lang="en-US" sz="2000" dirty="0"/>
          </a:p>
          <a:p>
            <a:r>
              <a:rPr lang="en-IN" sz="2000" dirty="0">
                <a:hlinkClick r:id="rId14"/>
              </a:rPr>
              <a:t>Cloud and Distributed Computing: Algorithms and Systems</a:t>
            </a:r>
            <a:endParaRPr lang="en-IN" sz="2000" dirty="0"/>
          </a:p>
          <a:p>
            <a:r>
              <a:rPr lang="en-US" sz="2000" dirty="0">
                <a:hlinkClick r:id="rId15"/>
              </a:rPr>
              <a:t>Gossip Protocol Explained - High Scalability</a:t>
            </a:r>
            <a:endParaRPr lang="en-IN" sz="2000" dirty="0"/>
          </a:p>
          <a:p>
            <a:r>
              <a:rPr lang="en-US" sz="2000" dirty="0">
                <a:hlinkClick r:id="rId9"/>
              </a:rPr>
              <a:t>The </a:t>
            </a:r>
            <a:r>
              <a:rPr lang="en-US" sz="2000" dirty="0" err="1">
                <a:hlinkClick r:id="rId9"/>
              </a:rPr>
              <a:t>Kademlia</a:t>
            </a:r>
            <a:r>
              <a:rPr lang="en-US" sz="2000" dirty="0">
                <a:hlinkClick r:id="rId9"/>
              </a:rPr>
              <a:t> Protocol Succinctly</a:t>
            </a:r>
            <a:r>
              <a:rPr lang="en-US" sz="2000" dirty="0"/>
              <a:t> </a:t>
            </a:r>
            <a:endParaRPr lang="en-US" sz="2000" dirty="0">
              <a:hlinkClick r:id="rId16"/>
            </a:endParaRPr>
          </a:p>
          <a:p>
            <a:r>
              <a:rPr lang="en-US" sz="2000" dirty="0">
                <a:hlinkClick r:id="rId17"/>
              </a:rPr>
              <a:t>Graph-theoretic analysis of structured peer-to-peer systems</a:t>
            </a:r>
            <a:endParaRPr lang="en-US" sz="2000" dirty="0"/>
          </a:p>
          <a:p>
            <a:r>
              <a:rPr lang="en-US" sz="2000" dirty="0">
                <a:hlinkClick r:id="rId16"/>
              </a:rPr>
              <a:t>Wolf Garbe's answer to What are good books on P2P technology</a:t>
            </a:r>
            <a:endParaRPr lang="en-US" sz="2000" dirty="0"/>
          </a:p>
          <a:p>
            <a:endParaRPr lang="en-US" sz="2000" dirty="0"/>
          </a:p>
        </p:txBody>
      </p:sp>
    </p:spTree>
    <p:extLst>
      <p:ext uri="{BB962C8B-B14F-4D97-AF65-F5344CB8AC3E}">
        <p14:creationId xmlns:p14="http://schemas.microsoft.com/office/powerpoint/2010/main" val="3275776283"/>
      </p:ext>
    </p:extLst>
  </p:cSld>
  <p:clrMapOvr>
    <a:masterClrMapping/>
  </p:clrMapOvr>
</p:sld>
</file>

<file path=ppt/slides/slide5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EEF22-1236-A305-7431-45AB0F5A9D7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7299413-C406-9009-74FE-ED1E6F020D18}"/>
              </a:ext>
            </a:extLst>
          </p:cNvPr>
          <p:cNvSpPr/>
          <p:nvPr/>
        </p:nvSpPr>
        <p:spPr>
          <a:xfrm>
            <a:off x="1717040" y="1029336"/>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257840D-DBA7-D6EB-2225-67AC8585362B}"/>
              </a:ext>
            </a:extLst>
          </p:cNvPr>
          <p:cNvSpPr/>
          <p:nvPr/>
        </p:nvSpPr>
        <p:spPr>
          <a:xfrm>
            <a:off x="1726565" y="894342"/>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42FDBDB-99B7-C4DD-AD1E-61F4201A2B1F}"/>
              </a:ext>
            </a:extLst>
          </p:cNvPr>
          <p:cNvGraphicFramePr/>
          <p:nvPr/>
        </p:nvGraphicFramePr>
        <p:xfrm>
          <a:off x="0" y="101997"/>
          <a:ext cx="9144000" cy="818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DF5ACF8A-7868-A908-49B6-8593F013FC4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289012F-C790-3705-059E-74CDB543523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727220F-1B38-A2DC-22E9-BC34F702836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D9B03B9-21CB-C3F4-A0A3-6135106A80EB}"/>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FF32EAB8-4FC6-B048-DE97-B6E791CE5D4C}"/>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0" name="object 2">
            <a:extLst>
              <a:ext uri="{FF2B5EF4-FFF2-40B4-BE49-F238E27FC236}">
                <a16:creationId xmlns:a16="http://schemas.microsoft.com/office/drawing/2014/main" id="{6A680E60-C06E-00BE-A458-8405FC62A491}"/>
              </a:ext>
            </a:extLst>
          </p:cNvPr>
          <p:cNvSpPr txBox="1">
            <a:spLocks/>
          </p:cNvSpPr>
          <p:nvPr/>
        </p:nvSpPr>
        <p:spPr>
          <a:xfrm>
            <a:off x="76201" y="1143000"/>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kern="0" spc="-80" dirty="0">
                <a:solidFill>
                  <a:schemeClr val="accent2"/>
                </a:solidFill>
              </a:rPr>
              <a:t>1. What is Blockchain?</a:t>
            </a:r>
          </a:p>
          <a:p>
            <a:r>
              <a:rPr lang="en-US" sz="1600" kern="0" spc="-80" dirty="0">
                <a:solidFill>
                  <a:schemeClr val="accent6"/>
                </a:solidFill>
              </a:rPr>
              <a:t>A blockchain is a distributed, decentralized digital ledger that records transactions in a secure, transparent, and immutable way.</a:t>
            </a:r>
          </a:p>
          <a:p>
            <a:r>
              <a:rPr lang="en-US" sz="1600" kern="0" spc="-80" dirty="0">
                <a:solidFill>
                  <a:schemeClr val="accent2"/>
                </a:solidFill>
              </a:rPr>
              <a:t>Key characteristics:</a:t>
            </a:r>
          </a:p>
          <a:p>
            <a:r>
              <a:rPr lang="en-US" sz="1600" kern="0" spc="-80" dirty="0">
                <a:solidFill>
                  <a:schemeClr val="accent2"/>
                </a:solidFill>
              </a:rPr>
              <a:t>Decentralization:</a:t>
            </a:r>
            <a:r>
              <a:rPr lang="en-US" sz="1600" kern="0" spc="-80" dirty="0">
                <a:solidFill>
                  <a:schemeClr val="accent6"/>
                </a:solidFill>
              </a:rPr>
              <a:t> No single authority controls it. Every participant (node) maintains a copy of the ledger.</a:t>
            </a:r>
          </a:p>
          <a:p>
            <a:r>
              <a:rPr lang="en-US" sz="1600" kern="0" spc="-80" dirty="0">
                <a:solidFill>
                  <a:schemeClr val="accent2"/>
                </a:solidFill>
              </a:rPr>
              <a:t>Immutability: </a:t>
            </a:r>
            <a:r>
              <a:rPr lang="en-US" sz="1600" kern="0" spc="-80" dirty="0">
                <a:solidFill>
                  <a:schemeClr val="accent6"/>
                </a:solidFill>
              </a:rPr>
              <a:t>Once data is written into a block and added to the chain, it cannot be altered without network consensus.</a:t>
            </a:r>
          </a:p>
          <a:p>
            <a:r>
              <a:rPr lang="en-US" sz="1600" kern="0" spc="-80" dirty="0">
                <a:solidFill>
                  <a:schemeClr val="accent2"/>
                </a:solidFill>
              </a:rPr>
              <a:t>Transparency: </a:t>
            </a:r>
            <a:r>
              <a:rPr lang="en-US" sz="1600" kern="0" spc="-80" dirty="0">
                <a:solidFill>
                  <a:schemeClr val="accent6"/>
                </a:solidFill>
              </a:rPr>
              <a:t>Transactions are visible to all participants (in public blockchains).</a:t>
            </a:r>
          </a:p>
          <a:p>
            <a:r>
              <a:rPr lang="en-US" sz="1600" kern="0" spc="-80" dirty="0">
                <a:solidFill>
                  <a:schemeClr val="accent2"/>
                </a:solidFill>
              </a:rPr>
              <a:t>Security:</a:t>
            </a:r>
            <a:r>
              <a:rPr lang="en-US" sz="1600" kern="0" spc="-80" dirty="0">
                <a:solidFill>
                  <a:schemeClr val="accent6"/>
                </a:solidFill>
              </a:rPr>
              <a:t> Cryptography ensures authenticity, integrity, and non-repudiation.</a:t>
            </a:r>
          </a:p>
          <a:p>
            <a:r>
              <a:rPr lang="en-US" sz="1600" kern="0" spc="-80" dirty="0">
                <a:solidFill>
                  <a:schemeClr val="accent2"/>
                </a:solidFill>
              </a:rPr>
              <a:t>Analogy:</a:t>
            </a:r>
            <a:r>
              <a:rPr lang="en-US" sz="1600" kern="0" spc="-80" dirty="0">
                <a:solidFill>
                  <a:schemeClr val="accent6"/>
                </a:solidFill>
              </a:rPr>
              <a:t> Think of it as a Google Sheet shared among thousands of people worldwide. Everyone sees the same data, and no one can secretly change it.</a:t>
            </a:r>
          </a:p>
          <a:p>
            <a:endParaRPr lang="en-US" sz="1600" kern="0" spc="-80" dirty="0">
              <a:solidFill>
                <a:schemeClr val="accent6"/>
              </a:solidFill>
            </a:endParaRPr>
          </a:p>
          <a:p>
            <a:r>
              <a:rPr lang="en-US" sz="1600" kern="0" spc="-80" dirty="0">
                <a:solidFill>
                  <a:schemeClr val="accent2"/>
                </a:solidFill>
              </a:rPr>
              <a:t>2. Core Components of Blockchain</a:t>
            </a:r>
          </a:p>
          <a:p>
            <a:r>
              <a:rPr lang="en-US" sz="1600" kern="0" spc="-80" dirty="0">
                <a:solidFill>
                  <a:schemeClr val="accent2"/>
                </a:solidFill>
              </a:rPr>
              <a:t>2.1 Block</a:t>
            </a:r>
          </a:p>
          <a:p>
            <a:r>
              <a:rPr lang="en-US" sz="1600" kern="0" spc="-80" dirty="0">
                <a:solidFill>
                  <a:schemeClr val="accent6"/>
                </a:solidFill>
              </a:rPr>
              <a:t>A block is a unit of storage containing:</a:t>
            </a:r>
          </a:p>
          <a:p>
            <a:r>
              <a:rPr lang="en-US" sz="1600" kern="0" spc="-80" dirty="0">
                <a:solidFill>
                  <a:schemeClr val="accent2"/>
                </a:solidFill>
              </a:rPr>
              <a:t>Data/Transactions: </a:t>
            </a:r>
            <a:r>
              <a:rPr lang="en-US" sz="1600" kern="0" spc="-80" dirty="0">
                <a:solidFill>
                  <a:schemeClr val="accent6"/>
                </a:solidFill>
              </a:rPr>
              <a:t>Details of financial or non-financial transactions.</a:t>
            </a:r>
          </a:p>
          <a:p>
            <a:r>
              <a:rPr lang="en-US" sz="1600" kern="0" spc="-80" dirty="0">
                <a:solidFill>
                  <a:schemeClr val="accent2"/>
                </a:solidFill>
              </a:rPr>
              <a:t>Previous Hash:</a:t>
            </a:r>
            <a:r>
              <a:rPr lang="en-US" sz="1600" kern="0" spc="-80" dirty="0">
                <a:solidFill>
                  <a:schemeClr val="accent6"/>
                </a:solidFill>
              </a:rPr>
              <a:t> A cryptographic hash of the previous block (links blocks together).</a:t>
            </a:r>
          </a:p>
          <a:p>
            <a:r>
              <a:rPr lang="en-US" sz="1600" kern="0" spc="-80" dirty="0">
                <a:solidFill>
                  <a:schemeClr val="accent2"/>
                </a:solidFill>
              </a:rPr>
              <a:t>Current Hash: </a:t>
            </a:r>
            <a:r>
              <a:rPr lang="en-US" sz="1600" kern="0" spc="-80" dirty="0">
                <a:solidFill>
                  <a:schemeClr val="accent6"/>
                </a:solidFill>
              </a:rPr>
              <a:t>Unique identifier generated by hashing the block content.</a:t>
            </a:r>
          </a:p>
          <a:p>
            <a:r>
              <a:rPr lang="en-US" sz="1600" kern="0" spc="-80" dirty="0">
                <a:solidFill>
                  <a:schemeClr val="accent2"/>
                </a:solidFill>
              </a:rPr>
              <a:t>Timestamp:</a:t>
            </a:r>
            <a:r>
              <a:rPr lang="en-US" sz="1600" kern="0" spc="-80" dirty="0">
                <a:solidFill>
                  <a:schemeClr val="accent6"/>
                </a:solidFill>
              </a:rPr>
              <a:t> When the block was created.</a:t>
            </a:r>
          </a:p>
        </p:txBody>
      </p:sp>
    </p:spTree>
    <p:extLst>
      <p:ext uri="{BB962C8B-B14F-4D97-AF65-F5344CB8AC3E}">
        <p14:creationId xmlns:p14="http://schemas.microsoft.com/office/powerpoint/2010/main" val="3823082343"/>
      </p:ext>
    </p:extLst>
  </p:cSld>
  <p:clrMapOvr>
    <a:masterClrMapping/>
  </p:clrMapOvr>
</p:sld>
</file>

<file path=ppt/slides/slide5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096B6-4F05-6694-F801-A14224A3675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694C57E-7E8B-2FAB-3915-3CE7610D89BD}"/>
              </a:ext>
            </a:extLst>
          </p:cNvPr>
          <p:cNvSpPr/>
          <p:nvPr/>
        </p:nvSpPr>
        <p:spPr>
          <a:xfrm>
            <a:off x="1726565" y="112321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E9DAADD-F399-121F-565B-9DBC6DBE89AF}"/>
              </a:ext>
            </a:extLst>
          </p:cNvPr>
          <p:cNvSpPr/>
          <p:nvPr/>
        </p:nvSpPr>
        <p:spPr>
          <a:xfrm>
            <a:off x="1726565" y="9513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D2B7345-CBAF-8438-7B19-57BF654D9193}"/>
              </a:ext>
            </a:extLst>
          </p:cNvPr>
          <p:cNvGraphicFramePr/>
          <p:nvPr/>
        </p:nvGraphicFramePr>
        <p:xfrm>
          <a:off x="0" y="101997"/>
          <a:ext cx="9144000" cy="818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AFB0806F-828F-CBA4-ACBB-E801B04921C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B8BB7D8-AF46-7022-772B-C1207F0EDBB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2B0B2FD-140A-1264-878A-E65A9042967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B0D92E6-46DB-D3A7-ECD1-970877FB62B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E40BF5E0-AC6A-4A99-349B-F670C08B0BC9}"/>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0" name="object 2">
            <a:extLst>
              <a:ext uri="{FF2B5EF4-FFF2-40B4-BE49-F238E27FC236}">
                <a16:creationId xmlns:a16="http://schemas.microsoft.com/office/drawing/2014/main" id="{E5F16481-AAF7-157B-C12C-CC12F5025CDB}"/>
              </a:ext>
            </a:extLst>
          </p:cNvPr>
          <p:cNvSpPr txBox="1">
            <a:spLocks/>
          </p:cNvSpPr>
          <p:nvPr/>
        </p:nvSpPr>
        <p:spPr>
          <a:xfrm>
            <a:off x="138063" y="1267831"/>
            <a:ext cx="8624937" cy="443198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kern="0" spc="-80" dirty="0">
                <a:solidFill>
                  <a:schemeClr val="accent2"/>
                </a:solidFill>
              </a:rPr>
              <a:t>Nonce: </a:t>
            </a:r>
            <a:r>
              <a:rPr lang="en-US" sz="1600" kern="0" spc="-80" dirty="0">
                <a:solidFill>
                  <a:schemeClr val="accent6"/>
                </a:solidFill>
              </a:rPr>
              <a:t>A number used for mining (proof of work).</a:t>
            </a:r>
          </a:p>
          <a:p>
            <a:endParaRPr lang="en-US" sz="1600" kern="0" spc="-80" dirty="0">
              <a:solidFill>
                <a:schemeClr val="accent6"/>
              </a:solidFill>
            </a:endParaRPr>
          </a:p>
          <a:p>
            <a:r>
              <a:rPr lang="en-US" sz="1600" kern="0" spc="-80" dirty="0">
                <a:solidFill>
                  <a:schemeClr val="accent2"/>
                </a:solidFill>
              </a:rPr>
              <a:t>2.2 Chain</a:t>
            </a:r>
          </a:p>
          <a:p>
            <a:r>
              <a:rPr lang="en-US" sz="1600" kern="0" spc="-80" dirty="0">
                <a:solidFill>
                  <a:schemeClr val="accent6"/>
                </a:solidFill>
              </a:rPr>
              <a:t>Blocks are linked in chronological order to form a chain. Tampering with one block breaks the chain, ensuring integrity.</a:t>
            </a:r>
          </a:p>
          <a:p>
            <a:endParaRPr lang="en-US" sz="1600" kern="0" spc="-80" dirty="0">
              <a:solidFill>
                <a:schemeClr val="accent6"/>
              </a:solidFill>
            </a:endParaRPr>
          </a:p>
          <a:p>
            <a:r>
              <a:rPr lang="en-US" sz="1600" kern="0" spc="-80" dirty="0">
                <a:solidFill>
                  <a:schemeClr val="accent2"/>
                </a:solidFill>
              </a:rPr>
              <a:t>2.3 Node</a:t>
            </a:r>
          </a:p>
          <a:p>
            <a:r>
              <a:rPr lang="en-US" sz="1600" kern="0" spc="-80" dirty="0">
                <a:solidFill>
                  <a:schemeClr val="accent6"/>
                </a:solidFill>
              </a:rPr>
              <a:t>A node is any computer connected to the blockchain network. Types of nodes:</a:t>
            </a:r>
          </a:p>
          <a:p>
            <a:r>
              <a:rPr lang="en-US" sz="1600" kern="0" spc="-80" dirty="0">
                <a:solidFill>
                  <a:schemeClr val="accent2"/>
                </a:solidFill>
              </a:rPr>
              <a:t>Full Node: </a:t>
            </a:r>
            <a:r>
              <a:rPr lang="en-US" sz="1600" kern="0" spc="-80" dirty="0">
                <a:solidFill>
                  <a:schemeClr val="accent6"/>
                </a:solidFill>
              </a:rPr>
              <a:t>Stores the entire blockchain.</a:t>
            </a:r>
          </a:p>
          <a:p>
            <a:r>
              <a:rPr lang="en-US" sz="1600" kern="0" spc="-80" dirty="0">
                <a:solidFill>
                  <a:schemeClr val="accent2"/>
                </a:solidFill>
              </a:rPr>
              <a:t>Lightweight Node (SPV):</a:t>
            </a:r>
            <a:r>
              <a:rPr lang="en-US" sz="1600" kern="0" spc="-80" dirty="0">
                <a:solidFill>
                  <a:schemeClr val="accent6"/>
                </a:solidFill>
              </a:rPr>
              <a:t> Stores only block headers.</a:t>
            </a:r>
          </a:p>
          <a:p>
            <a:r>
              <a:rPr lang="en-US" sz="1600" kern="0" spc="-80" dirty="0">
                <a:solidFill>
                  <a:schemeClr val="accent2"/>
                </a:solidFill>
              </a:rPr>
              <a:t>Validator Node:</a:t>
            </a:r>
            <a:r>
              <a:rPr lang="en-US" sz="1600" kern="0" spc="-80" dirty="0">
                <a:solidFill>
                  <a:schemeClr val="accent6"/>
                </a:solidFill>
              </a:rPr>
              <a:t> Verifies transactions and creates blocks.</a:t>
            </a:r>
          </a:p>
          <a:p>
            <a:endParaRPr lang="en-US" sz="1600" kern="0" spc="-80" dirty="0">
              <a:solidFill>
                <a:schemeClr val="accent6"/>
              </a:solidFill>
            </a:endParaRPr>
          </a:p>
          <a:p>
            <a:r>
              <a:rPr lang="en-US" sz="1600" kern="0" spc="-80" dirty="0">
                <a:solidFill>
                  <a:schemeClr val="accent2"/>
                </a:solidFill>
              </a:rPr>
              <a:t>2.4 Ledger</a:t>
            </a:r>
          </a:p>
          <a:p>
            <a:r>
              <a:rPr lang="en-US" sz="1600" kern="0" spc="-80" dirty="0">
                <a:solidFill>
                  <a:schemeClr val="accent6"/>
                </a:solidFill>
              </a:rPr>
              <a:t>The ledger is the complete record of all transactions. It can be:</a:t>
            </a:r>
          </a:p>
          <a:p>
            <a:r>
              <a:rPr lang="en-US" sz="1600" kern="0" spc="-80" dirty="0">
                <a:solidFill>
                  <a:schemeClr val="accent2"/>
                </a:solidFill>
              </a:rPr>
              <a:t>Public Ledger:</a:t>
            </a:r>
            <a:r>
              <a:rPr lang="en-US" sz="1600" kern="0" spc="-80" dirty="0">
                <a:solidFill>
                  <a:schemeClr val="accent6"/>
                </a:solidFill>
              </a:rPr>
              <a:t> Accessible to anyone (e.g., Bitcoin, Ethereum).</a:t>
            </a:r>
          </a:p>
          <a:p>
            <a:r>
              <a:rPr lang="en-US" sz="1600" kern="0" spc="-80" dirty="0">
                <a:solidFill>
                  <a:schemeClr val="accent2"/>
                </a:solidFill>
              </a:rPr>
              <a:t>Private Ledger: </a:t>
            </a:r>
            <a:r>
              <a:rPr lang="en-US" sz="1600" kern="0" spc="-80" dirty="0">
                <a:solidFill>
                  <a:schemeClr val="accent6"/>
                </a:solidFill>
              </a:rPr>
              <a:t>Restricted access (used in enterprises).</a:t>
            </a:r>
          </a:p>
          <a:p>
            <a:r>
              <a:rPr lang="en-US" sz="1600" kern="0" spc="-80" dirty="0">
                <a:solidFill>
                  <a:schemeClr val="accent2"/>
                </a:solidFill>
              </a:rPr>
              <a:t>Consortium Ledger: </a:t>
            </a:r>
            <a:r>
              <a:rPr lang="en-US" sz="1600" kern="0" spc="-80" dirty="0">
                <a:solidFill>
                  <a:schemeClr val="accent6"/>
                </a:solidFill>
              </a:rPr>
              <a:t>Shared among a group of organizations.</a:t>
            </a:r>
          </a:p>
          <a:p>
            <a:endParaRPr lang="en-US" sz="1600" kern="0" spc="-80" dirty="0">
              <a:solidFill>
                <a:schemeClr val="accent6"/>
              </a:solidFill>
            </a:endParaRPr>
          </a:p>
        </p:txBody>
      </p:sp>
    </p:spTree>
    <p:extLst>
      <p:ext uri="{BB962C8B-B14F-4D97-AF65-F5344CB8AC3E}">
        <p14:creationId xmlns:p14="http://schemas.microsoft.com/office/powerpoint/2010/main" val="1641684471"/>
      </p:ext>
    </p:extLst>
  </p:cSld>
  <p:clrMapOvr>
    <a:masterClrMapping/>
  </p:clrMapOvr>
</p:sld>
</file>

<file path=ppt/slides/slide5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3F019-B93B-98F1-6E3F-DD7E83E1418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828C214-DFC1-92F9-D6B5-6AD8F260AF69}"/>
              </a:ext>
            </a:extLst>
          </p:cNvPr>
          <p:cNvSpPr/>
          <p:nvPr/>
        </p:nvSpPr>
        <p:spPr>
          <a:xfrm>
            <a:off x="1726565" y="112321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E8ADCCC-3865-B9E7-EB39-DED15B530AC0}"/>
              </a:ext>
            </a:extLst>
          </p:cNvPr>
          <p:cNvSpPr/>
          <p:nvPr/>
        </p:nvSpPr>
        <p:spPr>
          <a:xfrm>
            <a:off x="1726565" y="9513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C398EBF-6486-2DA5-CDA3-92D2F4E12CA7}"/>
              </a:ext>
            </a:extLst>
          </p:cNvPr>
          <p:cNvGraphicFramePr/>
          <p:nvPr/>
        </p:nvGraphicFramePr>
        <p:xfrm>
          <a:off x="0" y="101997"/>
          <a:ext cx="9144000" cy="818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1F8E0FBA-2F7F-94F9-6DDE-BAD43E290E1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8130BE48-F553-F466-5535-5D77F26677F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F5ECA7B-86F8-5DEA-EFAA-A9E0513A12C4}"/>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21A82AF-7F60-F614-BDA1-201BBC9D5F6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9A9F88BC-16BD-8ED3-28B6-D8FD2A9E1779}"/>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0" name="object 2">
            <a:extLst>
              <a:ext uri="{FF2B5EF4-FFF2-40B4-BE49-F238E27FC236}">
                <a16:creationId xmlns:a16="http://schemas.microsoft.com/office/drawing/2014/main" id="{884B513A-EA89-8259-3069-9E13FD9F043E}"/>
              </a:ext>
            </a:extLst>
          </p:cNvPr>
          <p:cNvSpPr txBox="1">
            <a:spLocks/>
          </p:cNvSpPr>
          <p:nvPr/>
        </p:nvSpPr>
        <p:spPr>
          <a:xfrm>
            <a:off x="138063" y="1267831"/>
            <a:ext cx="8624937" cy="418576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kern="0" spc="-80" dirty="0">
                <a:solidFill>
                  <a:schemeClr val="accent2"/>
                </a:solidFill>
              </a:rPr>
              <a:t>3. Blockchain Architecture</a:t>
            </a:r>
          </a:p>
          <a:p>
            <a:r>
              <a:rPr lang="en-US" sz="1600" kern="0" spc="-80" dirty="0">
                <a:solidFill>
                  <a:schemeClr val="accent2"/>
                </a:solidFill>
              </a:rPr>
              <a:t>3.1 Layers</a:t>
            </a:r>
          </a:p>
          <a:p>
            <a:r>
              <a:rPr lang="en-US" sz="1600" kern="0" spc="-80" dirty="0">
                <a:solidFill>
                  <a:schemeClr val="accent2"/>
                </a:solidFill>
              </a:rPr>
              <a:t>Application Layer: </a:t>
            </a:r>
            <a:r>
              <a:rPr lang="en-US" sz="1600" kern="0" spc="-80" dirty="0">
                <a:solidFill>
                  <a:schemeClr val="accent6"/>
                </a:solidFill>
              </a:rPr>
              <a:t>Interfaces and apps for users (wallets, DeFi apps, </a:t>
            </a:r>
            <a:r>
              <a:rPr lang="en-US" sz="1600" kern="0" spc="-80" dirty="0" err="1">
                <a:solidFill>
                  <a:schemeClr val="accent6"/>
                </a:solidFill>
              </a:rPr>
              <a:t>dApps</a:t>
            </a:r>
            <a:r>
              <a:rPr lang="en-US" sz="1600" kern="0" spc="-80" dirty="0">
                <a:solidFill>
                  <a:schemeClr val="accent6"/>
                </a:solidFill>
              </a:rPr>
              <a:t>).</a:t>
            </a:r>
          </a:p>
          <a:p>
            <a:r>
              <a:rPr lang="en-US" sz="1600" kern="0" spc="-80" dirty="0">
                <a:solidFill>
                  <a:schemeClr val="accent2"/>
                </a:solidFill>
              </a:rPr>
              <a:t>Contract Layer: </a:t>
            </a:r>
            <a:r>
              <a:rPr lang="en-US" sz="1600" kern="0" spc="-80" dirty="0">
                <a:solidFill>
                  <a:schemeClr val="accent6"/>
                </a:solidFill>
              </a:rPr>
              <a:t>Smart contracts (Ethereum) automate agreements.</a:t>
            </a:r>
          </a:p>
          <a:p>
            <a:r>
              <a:rPr lang="en-US" sz="1600" kern="0" spc="-80" dirty="0">
                <a:solidFill>
                  <a:schemeClr val="accent2"/>
                </a:solidFill>
              </a:rPr>
              <a:t>Consensus Layer: </a:t>
            </a:r>
            <a:r>
              <a:rPr lang="en-US" sz="1600" kern="0" spc="-80" dirty="0">
                <a:solidFill>
                  <a:schemeClr val="accent6"/>
                </a:solidFill>
              </a:rPr>
              <a:t>Ensures all nodes agree on the ledger state.</a:t>
            </a:r>
          </a:p>
          <a:p>
            <a:r>
              <a:rPr lang="en-US" sz="1600" kern="0" spc="-80" dirty="0">
                <a:solidFill>
                  <a:schemeClr val="accent2"/>
                </a:solidFill>
              </a:rPr>
              <a:t>Network Layer: </a:t>
            </a:r>
            <a:r>
              <a:rPr lang="en-US" sz="1600" kern="0" spc="-80" dirty="0">
                <a:solidFill>
                  <a:schemeClr val="accent6"/>
                </a:solidFill>
              </a:rPr>
              <a:t>Peer-to-peer network for communication.</a:t>
            </a:r>
          </a:p>
          <a:p>
            <a:r>
              <a:rPr lang="en-US" sz="1600" kern="0" spc="-80" dirty="0">
                <a:solidFill>
                  <a:schemeClr val="accent2"/>
                </a:solidFill>
              </a:rPr>
              <a:t>Data Layer: </a:t>
            </a:r>
            <a:r>
              <a:rPr lang="en-US" sz="1600" kern="0" spc="-80" dirty="0">
                <a:solidFill>
                  <a:schemeClr val="accent6"/>
                </a:solidFill>
              </a:rPr>
              <a:t>Stores the chain of blocks.</a:t>
            </a:r>
          </a:p>
          <a:p>
            <a:endParaRPr lang="en-US" sz="1600" kern="0" spc="-80" dirty="0">
              <a:solidFill>
                <a:schemeClr val="accent6"/>
              </a:solidFill>
            </a:endParaRPr>
          </a:p>
          <a:p>
            <a:r>
              <a:rPr lang="en-US" sz="1600" kern="0" spc="-80" dirty="0">
                <a:solidFill>
                  <a:schemeClr val="accent2"/>
                </a:solidFill>
              </a:rPr>
              <a:t>3.2 Types of Blockchain</a:t>
            </a:r>
          </a:p>
          <a:p>
            <a:r>
              <a:rPr lang="en-US" sz="1600" kern="0" spc="-80" dirty="0">
                <a:solidFill>
                  <a:schemeClr val="accent2"/>
                </a:solidFill>
              </a:rPr>
              <a:t>Public Blockchain: </a:t>
            </a:r>
            <a:r>
              <a:rPr lang="en-US" sz="1600" kern="0" spc="-80" dirty="0">
                <a:solidFill>
                  <a:schemeClr val="accent6"/>
                </a:solidFill>
              </a:rPr>
              <a:t>Open to anyone (Bitcoin, Ethereum).</a:t>
            </a:r>
          </a:p>
          <a:p>
            <a:r>
              <a:rPr lang="en-US" sz="1600" kern="0" spc="-80" dirty="0">
                <a:solidFill>
                  <a:schemeClr val="accent2"/>
                </a:solidFill>
              </a:rPr>
              <a:t>Private Blockchain: </a:t>
            </a:r>
            <a:r>
              <a:rPr lang="en-US" sz="1600" kern="0" spc="-80" dirty="0">
                <a:solidFill>
                  <a:schemeClr val="accent6"/>
                </a:solidFill>
              </a:rPr>
              <a:t>Restricted to certain participants (Hyperledger Fabric).</a:t>
            </a:r>
          </a:p>
          <a:p>
            <a:r>
              <a:rPr lang="en-US" sz="1600" kern="0" spc="-80" dirty="0">
                <a:solidFill>
                  <a:schemeClr val="accent2"/>
                </a:solidFill>
              </a:rPr>
              <a:t>Consortium Blockchain: </a:t>
            </a:r>
            <a:r>
              <a:rPr lang="en-US" sz="1600" kern="0" spc="-80" dirty="0">
                <a:solidFill>
                  <a:schemeClr val="accent6"/>
                </a:solidFill>
              </a:rPr>
              <a:t>Governed by a group (e.g., banks consortium).</a:t>
            </a:r>
          </a:p>
          <a:p>
            <a:r>
              <a:rPr lang="en-US" sz="1600" kern="0" spc="-80" dirty="0">
                <a:solidFill>
                  <a:schemeClr val="accent2"/>
                </a:solidFill>
              </a:rPr>
              <a:t>Hybrid Blockchain: </a:t>
            </a:r>
            <a:r>
              <a:rPr lang="en-US" sz="1600" kern="0" spc="-80" dirty="0">
                <a:solidFill>
                  <a:schemeClr val="accent6"/>
                </a:solidFill>
              </a:rPr>
              <a:t>Mix of public and private features.</a:t>
            </a:r>
          </a:p>
          <a:p>
            <a:endParaRPr lang="en-US" sz="1600" kern="0" spc="-80" dirty="0">
              <a:solidFill>
                <a:schemeClr val="accent6"/>
              </a:solidFill>
            </a:endParaRPr>
          </a:p>
          <a:p>
            <a:r>
              <a:rPr lang="en-US" sz="1600" kern="0" spc="-80" dirty="0">
                <a:solidFill>
                  <a:schemeClr val="accent2"/>
                </a:solidFill>
              </a:rPr>
              <a:t>4. Consensus Mechanisms</a:t>
            </a:r>
          </a:p>
          <a:p>
            <a:r>
              <a:rPr lang="en-US" sz="1600" kern="0" spc="-80" dirty="0">
                <a:solidFill>
                  <a:schemeClr val="accent6"/>
                </a:solidFill>
              </a:rPr>
              <a:t>Consensus ensures all nodes agree on the blockchain state. </a:t>
            </a:r>
          </a:p>
          <a:p>
            <a:r>
              <a:rPr lang="en-US" sz="1600" kern="0" spc="-80" dirty="0">
                <a:solidFill>
                  <a:schemeClr val="accent2"/>
                </a:solidFill>
              </a:rPr>
              <a:t>Main mechanisms:</a:t>
            </a:r>
          </a:p>
        </p:txBody>
      </p:sp>
    </p:spTree>
    <p:extLst>
      <p:ext uri="{BB962C8B-B14F-4D97-AF65-F5344CB8AC3E}">
        <p14:creationId xmlns:p14="http://schemas.microsoft.com/office/powerpoint/2010/main" val="2780646397"/>
      </p:ext>
    </p:extLst>
  </p:cSld>
  <p:clrMapOvr>
    <a:masterClrMapping/>
  </p:clrMapOvr>
</p:sld>
</file>

<file path=ppt/slides/slide5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63A7E-D9A7-7EC4-FDA1-34161B3867F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DDB31F3-2F62-76A4-816F-165035EFD9BC}"/>
              </a:ext>
            </a:extLst>
          </p:cNvPr>
          <p:cNvSpPr/>
          <p:nvPr/>
        </p:nvSpPr>
        <p:spPr>
          <a:xfrm>
            <a:off x="1726565" y="112321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AAF86EB-15EA-62BB-269A-979BC4D3E128}"/>
              </a:ext>
            </a:extLst>
          </p:cNvPr>
          <p:cNvSpPr/>
          <p:nvPr/>
        </p:nvSpPr>
        <p:spPr>
          <a:xfrm>
            <a:off x="1726565" y="9513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4F514D0-EB3E-6A72-0903-CA4508C08571}"/>
              </a:ext>
            </a:extLst>
          </p:cNvPr>
          <p:cNvGraphicFramePr/>
          <p:nvPr/>
        </p:nvGraphicFramePr>
        <p:xfrm>
          <a:off x="0" y="101997"/>
          <a:ext cx="9144000" cy="818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DF413130-B92B-ED1A-3FC0-E2764376407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80B1791-4C35-32F9-A5C9-9048EF86CF1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5A9B35B-6738-A205-7D9D-CD480E601665}"/>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65BBED1-DAEA-8EB2-4D2C-609E9256A41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4545A4BB-F75B-9048-658D-07F6791CF1FE}"/>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0" name="object 2">
            <a:extLst>
              <a:ext uri="{FF2B5EF4-FFF2-40B4-BE49-F238E27FC236}">
                <a16:creationId xmlns:a16="http://schemas.microsoft.com/office/drawing/2014/main" id="{643BA6E4-BF93-5B9C-F4F1-3B192ADB2375}"/>
              </a:ext>
            </a:extLst>
          </p:cNvPr>
          <p:cNvSpPr txBox="1">
            <a:spLocks/>
          </p:cNvSpPr>
          <p:nvPr/>
        </p:nvSpPr>
        <p:spPr>
          <a:xfrm>
            <a:off x="138063" y="1267831"/>
            <a:ext cx="8624937" cy="492442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kern="0" spc="-80" dirty="0">
                <a:solidFill>
                  <a:schemeClr val="accent2"/>
                </a:solidFill>
              </a:rPr>
              <a:t>4.1 Proof of Work (PoW)</a:t>
            </a:r>
          </a:p>
          <a:p>
            <a:r>
              <a:rPr lang="en-US" sz="1600" kern="0" spc="-80" dirty="0">
                <a:solidFill>
                  <a:schemeClr val="accent6"/>
                </a:solidFill>
              </a:rPr>
              <a:t>Used by Bitcoin.</a:t>
            </a:r>
          </a:p>
          <a:p>
            <a:r>
              <a:rPr lang="en-US" sz="1600" kern="0" spc="-80" dirty="0">
                <a:solidFill>
                  <a:schemeClr val="accent6"/>
                </a:solidFill>
              </a:rPr>
              <a:t>Miners solve cryptographic puzzles.</a:t>
            </a:r>
          </a:p>
          <a:p>
            <a:r>
              <a:rPr lang="en-US" sz="1600" kern="0" spc="-80" dirty="0">
                <a:solidFill>
                  <a:schemeClr val="accent6"/>
                </a:solidFill>
              </a:rPr>
              <a:t>Energy-intensive but highly secure.</a:t>
            </a:r>
          </a:p>
          <a:p>
            <a:endParaRPr lang="en-US" sz="1600" kern="0" spc="-80" dirty="0">
              <a:solidFill>
                <a:schemeClr val="accent6"/>
              </a:solidFill>
            </a:endParaRPr>
          </a:p>
          <a:p>
            <a:r>
              <a:rPr lang="en-US" sz="1600" kern="0" spc="-80" dirty="0">
                <a:solidFill>
                  <a:schemeClr val="accent2"/>
                </a:solidFill>
              </a:rPr>
              <a:t>4.2 Proof of Stake (</a:t>
            </a:r>
            <a:r>
              <a:rPr lang="en-US" sz="1600" kern="0" spc="-80" dirty="0" err="1">
                <a:solidFill>
                  <a:schemeClr val="accent2"/>
                </a:solidFill>
              </a:rPr>
              <a:t>PoS</a:t>
            </a:r>
            <a:r>
              <a:rPr lang="en-US" sz="1600" kern="0" spc="-80" dirty="0">
                <a:solidFill>
                  <a:schemeClr val="accent2"/>
                </a:solidFill>
              </a:rPr>
              <a:t>)</a:t>
            </a:r>
          </a:p>
          <a:p>
            <a:r>
              <a:rPr lang="en-US" sz="1600" kern="0" spc="-80" dirty="0">
                <a:solidFill>
                  <a:schemeClr val="accent6"/>
                </a:solidFill>
              </a:rPr>
              <a:t>Validators stake cryptocurrency to validate blocks.</a:t>
            </a:r>
          </a:p>
          <a:p>
            <a:r>
              <a:rPr lang="en-US" sz="1600" kern="0" spc="-80" dirty="0">
                <a:solidFill>
                  <a:schemeClr val="accent6"/>
                </a:solidFill>
              </a:rPr>
              <a:t>Energy-efficient, rewards proportional to stake.</a:t>
            </a:r>
          </a:p>
          <a:p>
            <a:endParaRPr lang="en-US" sz="1600" kern="0" spc="-80" dirty="0">
              <a:solidFill>
                <a:schemeClr val="accent6"/>
              </a:solidFill>
            </a:endParaRPr>
          </a:p>
          <a:p>
            <a:r>
              <a:rPr lang="en-US" sz="1600" kern="0" spc="-80" dirty="0">
                <a:solidFill>
                  <a:schemeClr val="accent2"/>
                </a:solidFill>
              </a:rPr>
              <a:t>4.3 Delegated Proof of Stake (</a:t>
            </a:r>
            <a:r>
              <a:rPr lang="en-US" sz="1600" kern="0" spc="-80" dirty="0" err="1">
                <a:solidFill>
                  <a:schemeClr val="accent2"/>
                </a:solidFill>
              </a:rPr>
              <a:t>DPoS</a:t>
            </a:r>
            <a:r>
              <a:rPr lang="en-US" sz="1600" kern="0" spc="-80" dirty="0">
                <a:solidFill>
                  <a:schemeClr val="accent2"/>
                </a:solidFill>
              </a:rPr>
              <a:t>)</a:t>
            </a:r>
          </a:p>
          <a:p>
            <a:r>
              <a:rPr lang="en-US" sz="1600" kern="0" spc="-80" dirty="0">
                <a:solidFill>
                  <a:schemeClr val="accent6"/>
                </a:solidFill>
              </a:rPr>
              <a:t>Stakeholders elect delegates to validate transactions.</a:t>
            </a:r>
          </a:p>
          <a:p>
            <a:r>
              <a:rPr lang="en-US" sz="1600" kern="0" spc="-80" dirty="0">
                <a:solidFill>
                  <a:schemeClr val="accent6"/>
                </a:solidFill>
              </a:rPr>
              <a:t>Faster and scalable.</a:t>
            </a:r>
          </a:p>
          <a:p>
            <a:endParaRPr lang="en-US" sz="1600" kern="0" spc="-80" dirty="0">
              <a:solidFill>
                <a:schemeClr val="accent6"/>
              </a:solidFill>
            </a:endParaRPr>
          </a:p>
          <a:p>
            <a:r>
              <a:rPr lang="en-US" sz="1600" kern="0" spc="-80" dirty="0">
                <a:solidFill>
                  <a:schemeClr val="accent2"/>
                </a:solidFill>
              </a:rPr>
              <a:t>4.4 Practical Byzantine Fault Tolerance (PBFT)</a:t>
            </a:r>
          </a:p>
          <a:p>
            <a:r>
              <a:rPr lang="en-US" sz="1600" kern="0" spc="-80" dirty="0">
                <a:solidFill>
                  <a:schemeClr val="accent6"/>
                </a:solidFill>
              </a:rPr>
              <a:t>Used in private blockchains.</a:t>
            </a:r>
          </a:p>
          <a:p>
            <a:r>
              <a:rPr lang="en-US" sz="1600" kern="0" spc="-80" dirty="0">
                <a:solidFill>
                  <a:schemeClr val="accent6"/>
                </a:solidFill>
              </a:rPr>
              <a:t>Tolerates faulty or malicious nodes.</a:t>
            </a:r>
          </a:p>
          <a:p>
            <a:endParaRPr lang="en-US" sz="1600" kern="0" spc="-80" dirty="0">
              <a:solidFill>
                <a:schemeClr val="accent6"/>
              </a:solidFill>
            </a:endParaRPr>
          </a:p>
          <a:p>
            <a:r>
              <a:rPr lang="en-US" sz="1600" kern="0" spc="-80" dirty="0">
                <a:solidFill>
                  <a:schemeClr val="accent2"/>
                </a:solidFill>
              </a:rPr>
              <a:t>4.5 Other Mechanisms</a:t>
            </a:r>
          </a:p>
          <a:p>
            <a:r>
              <a:rPr lang="en-US" sz="1600" kern="0" spc="-80" dirty="0">
                <a:solidFill>
                  <a:schemeClr val="accent6"/>
                </a:solidFill>
              </a:rPr>
              <a:t>Proof of Authority (</a:t>
            </a:r>
            <a:r>
              <a:rPr lang="en-US" sz="1600" kern="0" spc="-80" dirty="0" err="1">
                <a:solidFill>
                  <a:schemeClr val="accent6"/>
                </a:solidFill>
              </a:rPr>
              <a:t>PoA</a:t>
            </a:r>
            <a:r>
              <a:rPr lang="en-US" sz="1600" kern="0" spc="-80" dirty="0">
                <a:solidFill>
                  <a:schemeClr val="accent6"/>
                </a:solidFill>
              </a:rPr>
              <a:t>), Proof of Elapsed Time (</a:t>
            </a:r>
            <a:r>
              <a:rPr lang="en-US" sz="1600" kern="0" spc="-80" dirty="0" err="1">
                <a:solidFill>
                  <a:schemeClr val="accent6"/>
                </a:solidFill>
              </a:rPr>
              <a:t>PoET</a:t>
            </a:r>
            <a:r>
              <a:rPr lang="en-US" sz="1600" kern="0" spc="-80" dirty="0">
                <a:solidFill>
                  <a:schemeClr val="accent6"/>
                </a:solidFill>
              </a:rPr>
              <a:t>), Hybrid models.</a:t>
            </a:r>
          </a:p>
          <a:p>
            <a:endParaRPr lang="en-US" sz="1600" kern="0" spc="-80" dirty="0">
              <a:solidFill>
                <a:schemeClr val="accent6"/>
              </a:solidFill>
            </a:endParaRPr>
          </a:p>
        </p:txBody>
      </p:sp>
    </p:spTree>
    <p:extLst>
      <p:ext uri="{BB962C8B-B14F-4D97-AF65-F5344CB8AC3E}">
        <p14:creationId xmlns:p14="http://schemas.microsoft.com/office/powerpoint/2010/main" val="2593485275"/>
      </p:ext>
    </p:extLst>
  </p:cSld>
  <p:clrMapOvr>
    <a:masterClrMapping/>
  </p:clrMapOvr>
</p:sld>
</file>

<file path=ppt/slides/slide5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780658-9076-B96B-E2B8-F6CD1F31A6A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55E586A-D37A-69B9-8733-1BBCD0D05C9D}"/>
              </a:ext>
            </a:extLst>
          </p:cNvPr>
          <p:cNvSpPr/>
          <p:nvPr/>
        </p:nvSpPr>
        <p:spPr>
          <a:xfrm>
            <a:off x="1726565" y="112321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DAB60B0-FBA7-71B8-7A0B-C75211BED353}"/>
              </a:ext>
            </a:extLst>
          </p:cNvPr>
          <p:cNvSpPr/>
          <p:nvPr/>
        </p:nvSpPr>
        <p:spPr>
          <a:xfrm>
            <a:off x="1726565" y="9513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4E57B26-D6E9-A005-0BD4-D7389A093CD0}"/>
              </a:ext>
            </a:extLst>
          </p:cNvPr>
          <p:cNvGraphicFramePr/>
          <p:nvPr/>
        </p:nvGraphicFramePr>
        <p:xfrm>
          <a:off x="0" y="101997"/>
          <a:ext cx="9144000" cy="818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CDCE6D72-82CA-89B6-230C-C8DD2324AE3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C3E3001-20CD-34F7-2767-5B79963672D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4047445B-2B58-DEAB-B8CE-6C8C29E52C81}"/>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9856D7E-6C0A-DA95-76AF-9103FE59E04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F28A27EA-EDDC-95FA-77EC-CDBF12625E19}"/>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0" name="object 2">
            <a:extLst>
              <a:ext uri="{FF2B5EF4-FFF2-40B4-BE49-F238E27FC236}">
                <a16:creationId xmlns:a16="http://schemas.microsoft.com/office/drawing/2014/main" id="{FA153625-3CE1-BDB9-0D7A-0F553697F36F}"/>
              </a:ext>
            </a:extLst>
          </p:cNvPr>
          <p:cNvSpPr txBox="1">
            <a:spLocks/>
          </p:cNvSpPr>
          <p:nvPr/>
        </p:nvSpPr>
        <p:spPr>
          <a:xfrm>
            <a:off x="76201" y="1158716"/>
            <a:ext cx="8624937" cy="486287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80" kern="0" spc="-80" dirty="0">
                <a:solidFill>
                  <a:schemeClr val="accent2"/>
                </a:solidFill>
              </a:rPr>
              <a:t>5. Smart Contracts</a:t>
            </a:r>
          </a:p>
          <a:p>
            <a:r>
              <a:rPr lang="en-US" sz="1580" kern="0" spc="-80" dirty="0">
                <a:solidFill>
                  <a:schemeClr val="accent2"/>
                </a:solidFill>
              </a:rPr>
              <a:t>Definition: </a:t>
            </a:r>
            <a:r>
              <a:rPr lang="en-US" sz="1580" kern="0" spc="-80" dirty="0">
                <a:solidFill>
                  <a:schemeClr val="accent6"/>
                </a:solidFill>
              </a:rPr>
              <a:t>Self-executing contracts with rules coded in software.</a:t>
            </a:r>
          </a:p>
          <a:p>
            <a:r>
              <a:rPr lang="en-US" sz="1580" kern="0" spc="-80" dirty="0">
                <a:solidFill>
                  <a:schemeClr val="accent2"/>
                </a:solidFill>
              </a:rPr>
              <a:t>Features:</a:t>
            </a:r>
          </a:p>
          <a:p>
            <a:r>
              <a:rPr lang="en-US" sz="1580" kern="0" spc="-80" dirty="0">
                <a:solidFill>
                  <a:schemeClr val="accent6"/>
                </a:solidFill>
              </a:rPr>
              <a:t>Autonomous execution</a:t>
            </a:r>
          </a:p>
          <a:p>
            <a:r>
              <a:rPr lang="en-US" sz="1580" kern="0" spc="-80" dirty="0">
                <a:solidFill>
                  <a:schemeClr val="accent6"/>
                </a:solidFill>
              </a:rPr>
              <a:t>Immutable once deployed</a:t>
            </a:r>
          </a:p>
          <a:p>
            <a:r>
              <a:rPr lang="en-US" sz="1580" kern="0" spc="-80" dirty="0">
                <a:solidFill>
                  <a:schemeClr val="accent6"/>
                </a:solidFill>
              </a:rPr>
              <a:t>Transparent to participants</a:t>
            </a:r>
          </a:p>
          <a:p>
            <a:r>
              <a:rPr lang="en-US" sz="1580" kern="0" spc="-80" dirty="0">
                <a:solidFill>
                  <a:schemeClr val="accent2"/>
                </a:solidFill>
              </a:rPr>
              <a:t>Use Cases: </a:t>
            </a:r>
            <a:r>
              <a:rPr lang="en-US" sz="1580" kern="0" spc="-80" dirty="0">
                <a:solidFill>
                  <a:schemeClr val="accent6"/>
                </a:solidFill>
              </a:rPr>
              <a:t>Token issuance, decentralized finance (DeFi), supply chain automation.</a:t>
            </a:r>
          </a:p>
          <a:p>
            <a:endParaRPr lang="en-US" sz="1580" kern="0" spc="-80" dirty="0">
              <a:solidFill>
                <a:schemeClr val="accent6"/>
              </a:solidFill>
            </a:endParaRPr>
          </a:p>
          <a:p>
            <a:r>
              <a:rPr lang="en-US" sz="1580" kern="0" spc="-80" dirty="0">
                <a:solidFill>
                  <a:schemeClr val="accent2"/>
                </a:solidFill>
              </a:rPr>
              <a:t>6. Tokens and Cryptocurrency</a:t>
            </a:r>
          </a:p>
          <a:p>
            <a:r>
              <a:rPr lang="en-US" sz="1580" kern="0" spc="-80" dirty="0">
                <a:solidFill>
                  <a:schemeClr val="accent2"/>
                </a:solidFill>
              </a:rPr>
              <a:t>Cryptocurrency:</a:t>
            </a:r>
            <a:r>
              <a:rPr lang="en-US" sz="1580" kern="0" spc="-80" dirty="0">
                <a:solidFill>
                  <a:schemeClr val="accent6"/>
                </a:solidFill>
              </a:rPr>
              <a:t> Digital currency built on blockchain (Bitcoin, Ether).</a:t>
            </a:r>
          </a:p>
          <a:p>
            <a:r>
              <a:rPr lang="en-US" sz="1580" kern="0" spc="-80" dirty="0">
                <a:solidFill>
                  <a:schemeClr val="accent2"/>
                </a:solidFill>
              </a:rPr>
              <a:t>Tokens:</a:t>
            </a:r>
            <a:r>
              <a:rPr lang="en-US" sz="1580" kern="0" spc="-80" dirty="0">
                <a:solidFill>
                  <a:schemeClr val="accent6"/>
                </a:solidFill>
              </a:rPr>
              <a:t> Represent assets, rights, or utility within an ecosystem.</a:t>
            </a:r>
          </a:p>
          <a:p>
            <a:r>
              <a:rPr lang="en-US" sz="1580" kern="0" spc="-80" dirty="0">
                <a:solidFill>
                  <a:schemeClr val="accent2"/>
                </a:solidFill>
              </a:rPr>
              <a:t>Utility Token: </a:t>
            </a:r>
            <a:r>
              <a:rPr lang="en-US" sz="1580" kern="0" spc="-80" dirty="0">
                <a:solidFill>
                  <a:schemeClr val="accent6"/>
                </a:solidFill>
              </a:rPr>
              <a:t>Grants access to a service.</a:t>
            </a:r>
          </a:p>
          <a:p>
            <a:r>
              <a:rPr lang="en-US" sz="1580" kern="0" spc="-80" dirty="0">
                <a:solidFill>
                  <a:schemeClr val="accent2"/>
                </a:solidFill>
              </a:rPr>
              <a:t>Security Token: </a:t>
            </a:r>
            <a:r>
              <a:rPr lang="en-US" sz="1580" kern="0" spc="-80" dirty="0">
                <a:solidFill>
                  <a:schemeClr val="accent6"/>
                </a:solidFill>
              </a:rPr>
              <a:t>Represents ownership in assets.</a:t>
            </a:r>
          </a:p>
          <a:p>
            <a:r>
              <a:rPr lang="en-US" sz="1580" kern="0" spc="-80" dirty="0">
                <a:solidFill>
                  <a:schemeClr val="accent2"/>
                </a:solidFill>
              </a:rPr>
              <a:t>NFTs (Non-Fungible Tokens): </a:t>
            </a:r>
            <a:r>
              <a:rPr lang="en-US" sz="1580" kern="0" spc="-80" dirty="0">
                <a:solidFill>
                  <a:schemeClr val="accent6"/>
                </a:solidFill>
              </a:rPr>
              <a:t>Unique digital assets.</a:t>
            </a:r>
          </a:p>
          <a:p>
            <a:endParaRPr lang="en-US" sz="1580" kern="0" spc="-80" dirty="0">
              <a:solidFill>
                <a:schemeClr val="accent6"/>
              </a:solidFill>
            </a:endParaRPr>
          </a:p>
          <a:p>
            <a:r>
              <a:rPr lang="en-US" sz="1580" kern="0" spc="-80" dirty="0">
                <a:solidFill>
                  <a:schemeClr val="accent2"/>
                </a:solidFill>
              </a:rPr>
              <a:t>7. Security in Blockchain</a:t>
            </a:r>
          </a:p>
          <a:p>
            <a:r>
              <a:rPr lang="en-US" sz="1580" kern="0" spc="-80" dirty="0">
                <a:solidFill>
                  <a:schemeClr val="accent2"/>
                </a:solidFill>
              </a:rPr>
              <a:t>Cryptography:</a:t>
            </a:r>
            <a:r>
              <a:rPr lang="en-US" sz="1580" kern="0" spc="-80" dirty="0">
                <a:solidFill>
                  <a:schemeClr val="accent6"/>
                </a:solidFill>
              </a:rPr>
              <a:t> Hashing (SHA-256, Keccak-256) and digital signatures (ECDSA).</a:t>
            </a:r>
          </a:p>
          <a:p>
            <a:r>
              <a:rPr lang="en-US" sz="1580" kern="0" spc="-80" dirty="0">
                <a:solidFill>
                  <a:schemeClr val="accent2"/>
                </a:solidFill>
              </a:rPr>
              <a:t>Immutability: </a:t>
            </a:r>
            <a:r>
              <a:rPr lang="en-US" sz="1580" kern="0" spc="-80" dirty="0">
                <a:solidFill>
                  <a:schemeClr val="accent6"/>
                </a:solidFill>
              </a:rPr>
              <a:t>Changing a block requires altering all subsequent blocks.</a:t>
            </a:r>
          </a:p>
          <a:p>
            <a:r>
              <a:rPr lang="en-US" sz="1580" kern="0" spc="-80" dirty="0">
                <a:solidFill>
                  <a:schemeClr val="accent2"/>
                </a:solidFill>
              </a:rPr>
              <a:t>51% Attack:</a:t>
            </a:r>
            <a:r>
              <a:rPr lang="en-US" sz="1580" kern="0" spc="-80" dirty="0">
                <a:solidFill>
                  <a:schemeClr val="accent6"/>
                </a:solidFill>
              </a:rPr>
              <a:t> If a malicious actor controls 51% of network computing power, they can manipulate the chain.</a:t>
            </a:r>
          </a:p>
        </p:txBody>
      </p:sp>
    </p:spTree>
    <p:extLst>
      <p:ext uri="{BB962C8B-B14F-4D97-AF65-F5344CB8AC3E}">
        <p14:creationId xmlns:p14="http://schemas.microsoft.com/office/powerpoint/2010/main" val="3430699207"/>
      </p:ext>
    </p:extLst>
  </p:cSld>
  <p:clrMapOvr>
    <a:masterClrMapping/>
  </p:clrMapOvr>
</p:sld>
</file>

<file path=ppt/slides/slide5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0B4131-A239-8307-C16D-E11FB25BAB0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D62E9AA-07BF-BB80-206B-C33E002D39AA}"/>
              </a:ext>
            </a:extLst>
          </p:cNvPr>
          <p:cNvSpPr/>
          <p:nvPr/>
        </p:nvSpPr>
        <p:spPr>
          <a:xfrm>
            <a:off x="1726565" y="112321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3349BA0-AF99-3165-CB82-4872A09E6493}"/>
              </a:ext>
            </a:extLst>
          </p:cNvPr>
          <p:cNvSpPr/>
          <p:nvPr/>
        </p:nvSpPr>
        <p:spPr>
          <a:xfrm>
            <a:off x="1726565" y="9513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500F071-E7D5-830B-0243-076A2531C771}"/>
              </a:ext>
            </a:extLst>
          </p:cNvPr>
          <p:cNvGraphicFramePr/>
          <p:nvPr/>
        </p:nvGraphicFramePr>
        <p:xfrm>
          <a:off x="0" y="101997"/>
          <a:ext cx="9144000" cy="818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2E5D0EE0-1727-4BC2-3622-E1CF253F162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29EA261-F199-A76A-2110-1A6FF89F0CE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23BF1A4-8D7B-01CD-47CD-80FB06D30751}"/>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5883C809-D328-65E3-21E7-9215D73E9E89}"/>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CBEE5EAC-CCA2-6121-7266-A7A2545A732C}"/>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0" name="object 2">
            <a:extLst>
              <a:ext uri="{FF2B5EF4-FFF2-40B4-BE49-F238E27FC236}">
                <a16:creationId xmlns:a16="http://schemas.microsoft.com/office/drawing/2014/main" id="{0F9C3C95-399A-14E9-A3CF-20208884E05D}"/>
              </a:ext>
            </a:extLst>
          </p:cNvPr>
          <p:cNvSpPr txBox="1">
            <a:spLocks/>
          </p:cNvSpPr>
          <p:nvPr/>
        </p:nvSpPr>
        <p:spPr>
          <a:xfrm>
            <a:off x="57151" y="1206341"/>
            <a:ext cx="8624937" cy="48320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70" kern="0" spc="-80" dirty="0">
                <a:solidFill>
                  <a:schemeClr val="accent2"/>
                </a:solidFill>
              </a:rPr>
              <a:t>8. Blockchain Use Cases</a:t>
            </a:r>
          </a:p>
          <a:p>
            <a:r>
              <a:rPr lang="en-US" sz="1570" kern="0" spc="-80" dirty="0">
                <a:solidFill>
                  <a:schemeClr val="accent2"/>
                </a:solidFill>
              </a:rPr>
              <a:t>8.1 Finance</a:t>
            </a:r>
          </a:p>
          <a:p>
            <a:r>
              <a:rPr lang="en-US" sz="1570" kern="0" spc="-80" dirty="0">
                <a:solidFill>
                  <a:schemeClr val="accent6"/>
                </a:solidFill>
              </a:rPr>
              <a:t>Cryptocurrency payments</a:t>
            </a:r>
          </a:p>
          <a:p>
            <a:r>
              <a:rPr lang="en-US" sz="1570" kern="0" spc="-80" dirty="0">
                <a:solidFill>
                  <a:schemeClr val="accent6"/>
                </a:solidFill>
              </a:rPr>
              <a:t>Cross-border transfers</a:t>
            </a:r>
          </a:p>
          <a:p>
            <a:r>
              <a:rPr lang="en-US" sz="1570" kern="0" spc="-80" dirty="0">
                <a:solidFill>
                  <a:schemeClr val="accent6"/>
                </a:solidFill>
              </a:rPr>
              <a:t>Decentralized exchanges (DEXs)</a:t>
            </a:r>
          </a:p>
          <a:p>
            <a:r>
              <a:rPr lang="en-US" sz="1570" kern="0" spc="-80" dirty="0">
                <a:solidFill>
                  <a:schemeClr val="accent2"/>
                </a:solidFill>
              </a:rPr>
              <a:t>8.2 Supply Chain</a:t>
            </a:r>
          </a:p>
          <a:p>
            <a:r>
              <a:rPr lang="en-US" sz="1570" kern="0" spc="-80" dirty="0">
                <a:solidFill>
                  <a:schemeClr val="accent6"/>
                </a:solidFill>
              </a:rPr>
              <a:t>Track product origin</a:t>
            </a:r>
          </a:p>
          <a:p>
            <a:r>
              <a:rPr lang="en-US" sz="1570" kern="0" spc="-80" dirty="0">
                <a:solidFill>
                  <a:schemeClr val="accent6"/>
                </a:solidFill>
              </a:rPr>
              <a:t>Ensure authenticity</a:t>
            </a:r>
          </a:p>
          <a:p>
            <a:r>
              <a:rPr lang="en-US" sz="1570" kern="0" spc="-80" dirty="0">
                <a:solidFill>
                  <a:schemeClr val="accent6"/>
                </a:solidFill>
              </a:rPr>
              <a:t>Reduce fraud</a:t>
            </a:r>
          </a:p>
          <a:p>
            <a:r>
              <a:rPr lang="en-US" sz="1570" kern="0" spc="-80" dirty="0">
                <a:solidFill>
                  <a:schemeClr val="accent2"/>
                </a:solidFill>
              </a:rPr>
              <a:t>8.3 Healthcare</a:t>
            </a:r>
          </a:p>
          <a:p>
            <a:r>
              <a:rPr lang="en-US" sz="1570" kern="0" spc="-80" dirty="0">
                <a:solidFill>
                  <a:schemeClr val="accent6"/>
                </a:solidFill>
              </a:rPr>
              <a:t>Secure patient records</a:t>
            </a:r>
          </a:p>
          <a:p>
            <a:r>
              <a:rPr lang="en-US" sz="1570" kern="0" spc="-80" dirty="0">
                <a:solidFill>
                  <a:schemeClr val="accent6"/>
                </a:solidFill>
              </a:rPr>
              <a:t>Medical data sharing</a:t>
            </a:r>
          </a:p>
          <a:p>
            <a:r>
              <a:rPr lang="en-US" sz="1570" kern="0" spc="-80" dirty="0">
                <a:solidFill>
                  <a:schemeClr val="accent6"/>
                </a:solidFill>
              </a:rPr>
              <a:t>Drug traceability</a:t>
            </a:r>
          </a:p>
          <a:p>
            <a:r>
              <a:rPr lang="en-US" sz="1570" kern="0" spc="-80" dirty="0">
                <a:solidFill>
                  <a:schemeClr val="accent2"/>
                </a:solidFill>
              </a:rPr>
              <a:t>8.4 Governance</a:t>
            </a:r>
          </a:p>
          <a:p>
            <a:r>
              <a:rPr lang="en-US" sz="1570" kern="0" spc="-80" dirty="0">
                <a:solidFill>
                  <a:schemeClr val="accent6"/>
                </a:solidFill>
              </a:rPr>
              <a:t>Digital voting systems</a:t>
            </a:r>
          </a:p>
          <a:p>
            <a:r>
              <a:rPr lang="en-US" sz="1570" kern="0" spc="-80" dirty="0">
                <a:solidFill>
                  <a:schemeClr val="accent6"/>
                </a:solidFill>
              </a:rPr>
              <a:t>Transparent government records</a:t>
            </a:r>
          </a:p>
          <a:p>
            <a:r>
              <a:rPr lang="en-US" sz="1570" kern="0" spc="-80" dirty="0">
                <a:solidFill>
                  <a:schemeClr val="accent2"/>
                </a:solidFill>
              </a:rPr>
              <a:t>8.5 Other Emerging Uses</a:t>
            </a:r>
          </a:p>
          <a:p>
            <a:r>
              <a:rPr lang="en-US" sz="1570" kern="0" spc="-80" dirty="0">
                <a:solidFill>
                  <a:schemeClr val="accent6"/>
                </a:solidFill>
              </a:rPr>
              <a:t>Identity management</a:t>
            </a:r>
          </a:p>
          <a:p>
            <a:r>
              <a:rPr lang="en-US" sz="1570" kern="0" spc="-80" dirty="0">
                <a:solidFill>
                  <a:schemeClr val="accent6"/>
                </a:solidFill>
              </a:rPr>
              <a:t>Real estate</a:t>
            </a:r>
          </a:p>
          <a:p>
            <a:r>
              <a:rPr lang="en-US" sz="1570" kern="0" spc="-80" dirty="0">
                <a:solidFill>
                  <a:schemeClr val="accent6"/>
                </a:solidFill>
              </a:rPr>
              <a:t>Intellectual property protection</a:t>
            </a:r>
          </a:p>
        </p:txBody>
      </p:sp>
    </p:spTree>
    <p:extLst>
      <p:ext uri="{BB962C8B-B14F-4D97-AF65-F5344CB8AC3E}">
        <p14:creationId xmlns:p14="http://schemas.microsoft.com/office/powerpoint/2010/main" val="247610180"/>
      </p:ext>
    </p:extLst>
  </p:cSld>
  <p:clrMapOvr>
    <a:masterClrMapping/>
  </p:clrMapOvr>
</p:sld>
</file>

<file path=ppt/slides/slide5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86DFC-D251-8E1E-C858-D59323F6AF5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51A923A-364D-476C-419B-1DE132D75397}"/>
              </a:ext>
            </a:extLst>
          </p:cNvPr>
          <p:cNvSpPr/>
          <p:nvPr/>
        </p:nvSpPr>
        <p:spPr>
          <a:xfrm>
            <a:off x="1726565" y="112321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3F539AD-9D35-EFA5-E2B4-D277DC0292D8}"/>
              </a:ext>
            </a:extLst>
          </p:cNvPr>
          <p:cNvSpPr/>
          <p:nvPr/>
        </p:nvSpPr>
        <p:spPr>
          <a:xfrm>
            <a:off x="1726565" y="9513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8F8BDE9-EF79-E39D-6793-6CC7AE33403F}"/>
              </a:ext>
            </a:extLst>
          </p:cNvPr>
          <p:cNvGraphicFramePr/>
          <p:nvPr/>
        </p:nvGraphicFramePr>
        <p:xfrm>
          <a:off x="0" y="101997"/>
          <a:ext cx="9144000" cy="818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A4D81F69-6DC7-F744-8A46-A9396E2A92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8CCFCAC-3382-4F37-2CBA-D6B99EF1036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491BAA5-E1E0-EC68-1FE8-40BBD47254C5}"/>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F6DA54D-BAAD-B348-0748-9BD9C903658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5CD88F41-1EED-65D3-C61E-1D45192EA60C}"/>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0" name="object 2">
            <a:extLst>
              <a:ext uri="{FF2B5EF4-FFF2-40B4-BE49-F238E27FC236}">
                <a16:creationId xmlns:a16="http://schemas.microsoft.com/office/drawing/2014/main" id="{87FDD269-CB87-1862-F8DB-E690FC0C1B00}"/>
              </a:ext>
            </a:extLst>
          </p:cNvPr>
          <p:cNvSpPr txBox="1">
            <a:spLocks/>
          </p:cNvSpPr>
          <p:nvPr/>
        </p:nvSpPr>
        <p:spPr>
          <a:xfrm>
            <a:off x="57151" y="1206341"/>
            <a:ext cx="8624937" cy="295465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600" kern="0" spc="-80" dirty="0">
                <a:solidFill>
                  <a:schemeClr val="accent2"/>
                </a:solidFill>
              </a:rPr>
              <a:t>9. Challenges of Blockchain</a:t>
            </a:r>
          </a:p>
          <a:p>
            <a:r>
              <a:rPr lang="en-US" sz="1600" kern="0" spc="-80" dirty="0">
                <a:solidFill>
                  <a:schemeClr val="accent2"/>
                </a:solidFill>
              </a:rPr>
              <a:t>Scalability:</a:t>
            </a:r>
            <a:r>
              <a:rPr lang="en-US" sz="1600" kern="0" spc="-80" dirty="0">
                <a:solidFill>
                  <a:schemeClr val="accent6"/>
                </a:solidFill>
              </a:rPr>
              <a:t> Handling millions of transactions per second.</a:t>
            </a:r>
          </a:p>
          <a:p>
            <a:r>
              <a:rPr lang="en-US" sz="1600" kern="0" spc="-80" dirty="0">
                <a:solidFill>
                  <a:schemeClr val="accent2"/>
                </a:solidFill>
              </a:rPr>
              <a:t>Energy Consumption: </a:t>
            </a:r>
            <a:r>
              <a:rPr lang="en-US" sz="1600" kern="0" spc="-80" dirty="0">
                <a:solidFill>
                  <a:schemeClr val="accent6"/>
                </a:solidFill>
              </a:rPr>
              <a:t>Especially in PoW networks.</a:t>
            </a:r>
          </a:p>
          <a:p>
            <a:r>
              <a:rPr lang="en-US" sz="1600" kern="0" spc="-80" dirty="0">
                <a:solidFill>
                  <a:schemeClr val="accent2"/>
                </a:solidFill>
              </a:rPr>
              <a:t>Regulatory Issues:</a:t>
            </a:r>
            <a:r>
              <a:rPr lang="en-US" sz="1600" kern="0" spc="-80" dirty="0">
                <a:solidFill>
                  <a:schemeClr val="accent6"/>
                </a:solidFill>
              </a:rPr>
              <a:t> Laws are evolving.</a:t>
            </a:r>
          </a:p>
          <a:p>
            <a:r>
              <a:rPr lang="en-US" sz="1600" kern="0" spc="-80" dirty="0">
                <a:solidFill>
                  <a:schemeClr val="accent2"/>
                </a:solidFill>
              </a:rPr>
              <a:t>Interoperability: </a:t>
            </a:r>
            <a:r>
              <a:rPr lang="en-US" sz="1600" kern="0" spc="-80" dirty="0">
                <a:solidFill>
                  <a:schemeClr val="accent6"/>
                </a:solidFill>
              </a:rPr>
              <a:t>Connecting different blockchains.</a:t>
            </a:r>
          </a:p>
          <a:p>
            <a:r>
              <a:rPr lang="en-US" sz="1600" kern="0" spc="-80" dirty="0">
                <a:solidFill>
                  <a:schemeClr val="accent2"/>
                </a:solidFill>
              </a:rPr>
              <a:t>Privacy: </a:t>
            </a:r>
            <a:r>
              <a:rPr lang="en-US" sz="1600" kern="0" spc="-80" dirty="0">
                <a:solidFill>
                  <a:schemeClr val="accent6"/>
                </a:solidFill>
              </a:rPr>
              <a:t>Public blockchains expose transaction history.</a:t>
            </a:r>
          </a:p>
          <a:p>
            <a:endParaRPr lang="en-US" sz="1600" kern="0" spc="-80" dirty="0">
              <a:solidFill>
                <a:schemeClr val="accent6"/>
              </a:solidFill>
            </a:endParaRPr>
          </a:p>
          <a:p>
            <a:r>
              <a:rPr lang="en-US" sz="1600" kern="0" spc="-80" dirty="0">
                <a:solidFill>
                  <a:schemeClr val="accent2"/>
                </a:solidFill>
              </a:rPr>
              <a:t>10. Advanced Concepts</a:t>
            </a:r>
          </a:p>
          <a:p>
            <a:r>
              <a:rPr lang="en-US" sz="1600" kern="0" spc="-80" dirty="0">
                <a:solidFill>
                  <a:schemeClr val="accent2"/>
                </a:solidFill>
              </a:rPr>
              <a:t>Layer 2 Solutions: </a:t>
            </a:r>
            <a:r>
              <a:rPr lang="en-US" sz="1600" kern="0" spc="-80" dirty="0">
                <a:solidFill>
                  <a:schemeClr val="accent6"/>
                </a:solidFill>
              </a:rPr>
              <a:t>Lightning Network, rollups to improve scalability.</a:t>
            </a:r>
          </a:p>
          <a:p>
            <a:r>
              <a:rPr lang="en-US" sz="1600" kern="0" spc="-80" dirty="0">
                <a:solidFill>
                  <a:schemeClr val="accent2"/>
                </a:solidFill>
              </a:rPr>
              <a:t>Sharding: </a:t>
            </a:r>
            <a:r>
              <a:rPr lang="en-US" sz="1600" kern="0" spc="-80" dirty="0">
                <a:solidFill>
                  <a:schemeClr val="accent6"/>
                </a:solidFill>
              </a:rPr>
              <a:t>Splitting the blockchain into parts to process parallel transactions.</a:t>
            </a:r>
          </a:p>
          <a:p>
            <a:r>
              <a:rPr lang="en-US" sz="1600" kern="0" spc="-80" dirty="0">
                <a:solidFill>
                  <a:schemeClr val="accent2"/>
                </a:solidFill>
              </a:rPr>
              <a:t>Decentralized Autonomous Organizations (DAO): </a:t>
            </a:r>
            <a:r>
              <a:rPr lang="en-US" sz="1600" kern="0" spc="-80" dirty="0">
                <a:solidFill>
                  <a:schemeClr val="accent6"/>
                </a:solidFill>
              </a:rPr>
              <a:t>Blockchain-based governance.</a:t>
            </a:r>
          </a:p>
          <a:p>
            <a:r>
              <a:rPr lang="en-US" sz="1600" kern="0" spc="-80" dirty="0">
                <a:solidFill>
                  <a:schemeClr val="accent2"/>
                </a:solidFill>
              </a:rPr>
              <a:t>Cross-chain protocols: </a:t>
            </a:r>
            <a:r>
              <a:rPr lang="en-US" sz="1600" kern="0" spc="-80" dirty="0">
                <a:solidFill>
                  <a:schemeClr val="accent6"/>
                </a:solidFill>
              </a:rPr>
              <a:t>Enable communication between different blockchains.</a:t>
            </a:r>
          </a:p>
        </p:txBody>
      </p:sp>
    </p:spTree>
    <p:extLst>
      <p:ext uri="{BB962C8B-B14F-4D97-AF65-F5344CB8AC3E}">
        <p14:creationId xmlns:p14="http://schemas.microsoft.com/office/powerpoint/2010/main" val="570603278"/>
      </p:ext>
    </p:extLst>
  </p:cSld>
  <p:clrMapOvr>
    <a:masterClrMapping/>
  </p:clrMapOvr>
</p:sld>
</file>

<file path=ppt/slides/slide5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78DC8-B495-493A-89DE-DF2F86BDDD0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1DFD55D-7AD6-9FC5-B14B-D62CF8A770FE}"/>
              </a:ext>
            </a:extLst>
          </p:cNvPr>
          <p:cNvSpPr/>
          <p:nvPr/>
        </p:nvSpPr>
        <p:spPr>
          <a:xfrm>
            <a:off x="1726565" y="112321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50EDCAE-9331-DAB3-5613-634F7E528AF1}"/>
              </a:ext>
            </a:extLst>
          </p:cNvPr>
          <p:cNvSpPr/>
          <p:nvPr/>
        </p:nvSpPr>
        <p:spPr>
          <a:xfrm>
            <a:off x="1726565" y="9513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A8CEDC5-4DB7-2E6D-4AA2-57A4220E4709}"/>
              </a:ext>
            </a:extLst>
          </p:cNvPr>
          <p:cNvGraphicFramePr/>
          <p:nvPr/>
        </p:nvGraphicFramePr>
        <p:xfrm>
          <a:off x="0" y="101997"/>
          <a:ext cx="9144000" cy="818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818F999B-2FB3-2F19-C5CF-055E7178320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27FD4B5-E284-8A4F-1D7B-00049015556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4391721-8381-5774-B46F-653E528DEBF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A736F0E2-F258-3E17-BBD1-7ADA9BA02C90}"/>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CD6E0992-BE74-0A3B-7157-46F43095BF3A}"/>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0" name="object 2">
            <a:extLst>
              <a:ext uri="{FF2B5EF4-FFF2-40B4-BE49-F238E27FC236}">
                <a16:creationId xmlns:a16="http://schemas.microsoft.com/office/drawing/2014/main" id="{8FD3A1EE-7AA4-5CD0-A9A1-EB48BED2AF73}"/>
              </a:ext>
            </a:extLst>
          </p:cNvPr>
          <p:cNvSpPr txBox="1">
            <a:spLocks/>
          </p:cNvSpPr>
          <p:nvPr/>
        </p:nvSpPr>
        <p:spPr>
          <a:xfrm>
            <a:off x="-1" y="1247894"/>
            <a:ext cx="8763000"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80" dirty="0">
                <a:solidFill>
                  <a:schemeClr val="accent2"/>
                </a:solidFill>
              </a:rPr>
              <a:t>Blockchain based Orchestration and Choreography for Highly Secured and Transparent Transactions between multiple parties</a:t>
            </a:r>
          </a:p>
        </p:txBody>
      </p:sp>
      <p:pic>
        <p:nvPicPr>
          <p:cNvPr id="14" name="Picture 13">
            <a:extLst>
              <a:ext uri="{FF2B5EF4-FFF2-40B4-BE49-F238E27FC236}">
                <a16:creationId xmlns:a16="http://schemas.microsoft.com/office/drawing/2014/main" id="{0692C621-4F73-1DDD-C556-D963E8AAAC91}"/>
              </a:ext>
            </a:extLst>
          </p:cNvPr>
          <p:cNvPicPr>
            <a:picLocks noChangeAspect="1"/>
          </p:cNvPicPr>
          <p:nvPr/>
        </p:nvPicPr>
        <p:blipFill>
          <a:blip r:embed="rId8"/>
          <a:stretch>
            <a:fillRect/>
          </a:stretch>
        </p:blipFill>
        <p:spPr>
          <a:xfrm>
            <a:off x="9525" y="1863446"/>
            <a:ext cx="9144000" cy="4080153"/>
          </a:xfrm>
          <a:prstGeom prst="rect">
            <a:avLst/>
          </a:prstGeom>
        </p:spPr>
      </p:pic>
    </p:spTree>
    <p:extLst>
      <p:ext uri="{BB962C8B-B14F-4D97-AF65-F5344CB8AC3E}">
        <p14:creationId xmlns:p14="http://schemas.microsoft.com/office/powerpoint/2010/main" val="2864067279"/>
      </p:ext>
    </p:extLst>
  </p:cSld>
  <p:clrMapOvr>
    <a:masterClrMapping/>
  </p:clrMapOvr>
</p:sld>
</file>

<file path=ppt/slides/slide5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9C18C-ADA9-E0DD-E758-FC034B86422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8D6ECAB-E3F2-8B3B-A784-B228194473DF}"/>
              </a:ext>
            </a:extLst>
          </p:cNvPr>
          <p:cNvSpPr/>
          <p:nvPr/>
        </p:nvSpPr>
        <p:spPr>
          <a:xfrm>
            <a:off x="1726565" y="112321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0B6608E-FC86-10F9-4DBF-32BB19C572E5}"/>
              </a:ext>
            </a:extLst>
          </p:cNvPr>
          <p:cNvSpPr/>
          <p:nvPr/>
        </p:nvSpPr>
        <p:spPr>
          <a:xfrm>
            <a:off x="1726565" y="9513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3B98BEC-859B-F05E-D819-005789CC21DB}"/>
              </a:ext>
            </a:extLst>
          </p:cNvPr>
          <p:cNvGraphicFramePr/>
          <p:nvPr/>
        </p:nvGraphicFramePr>
        <p:xfrm>
          <a:off x="0" y="101997"/>
          <a:ext cx="9144000" cy="818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F9C9AA4E-259A-66B8-5909-295EE95B0E2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2FDD297-FF87-3551-33A4-0738F625A23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8DCD96B-5C77-BC98-E710-D42E9111FF1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5564BF7-DD42-BF4A-3781-62CB792A321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A8803372-562B-A8AD-8A69-FEEAD3C6255E}"/>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pic>
        <p:nvPicPr>
          <p:cNvPr id="14" name="Picture 13">
            <a:extLst>
              <a:ext uri="{FF2B5EF4-FFF2-40B4-BE49-F238E27FC236}">
                <a16:creationId xmlns:a16="http://schemas.microsoft.com/office/drawing/2014/main" id="{5B1DF5E6-BB50-4804-B4AB-24B94ECFDB49}"/>
              </a:ext>
            </a:extLst>
          </p:cNvPr>
          <p:cNvPicPr>
            <a:picLocks noChangeAspect="1"/>
          </p:cNvPicPr>
          <p:nvPr/>
        </p:nvPicPr>
        <p:blipFill>
          <a:blip r:embed="rId8"/>
          <a:stretch>
            <a:fillRect/>
          </a:stretch>
        </p:blipFill>
        <p:spPr>
          <a:xfrm>
            <a:off x="12853" y="1828205"/>
            <a:ext cx="9144000" cy="2796309"/>
          </a:xfrm>
          <a:prstGeom prst="rect">
            <a:avLst/>
          </a:prstGeom>
        </p:spPr>
      </p:pic>
      <p:sp>
        <p:nvSpPr>
          <p:cNvPr id="16" name="object 2">
            <a:extLst>
              <a:ext uri="{FF2B5EF4-FFF2-40B4-BE49-F238E27FC236}">
                <a16:creationId xmlns:a16="http://schemas.microsoft.com/office/drawing/2014/main" id="{CB44439A-E3A6-D15F-75EB-9609686C72A9}"/>
              </a:ext>
            </a:extLst>
          </p:cNvPr>
          <p:cNvSpPr txBox="1">
            <a:spLocks/>
          </p:cNvSpPr>
          <p:nvPr/>
        </p:nvSpPr>
        <p:spPr>
          <a:xfrm>
            <a:off x="12853" y="4649857"/>
            <a:ext cx="8624937" cy="13849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500" kern="0" spc="-80" dirty="0">
                <a:solidFill>
                  <a:schemeClr val="accent2"/>
                </a:solidFill>
              </a:rPr>
              <a:t>How blockchain enables orchestration and choreography</a:t>
            </a:r>
          </a:p>
          <a:p>
            <a:r>
              <a:rPr lang="en-US" sz="1500" kern="0" spc="-80" dirty="0">
                <a:solidFill>
                  <a:schemeClr val="accent6"/>
                </a:solidFill>
              </a:rPr>
              <a:t>Blockchain leverages smart contracts to automate and secure multi-party workflows, whether centrally orchestrated or peer-to-peer.</a:t>
            </a:r>
          </a:p>
          <a:p>
            <a:r>
              <a:rPr lang="en-US" sz="1500" kern="0" spc="-80" dirty="0">
                <a:solidFill>
                  <a:schemeClr val="accent2"/>
                </a:solidFill>
              </a:rPr>
              <a:t>Workflow automation: </a:t>
            </a:r>
            <a:r>
              <a:rPr lang="en-US" sz="1500" kern="0" spc="-80" dirty="0">
                <a:solidFill>
                  <a:schemeClr val="accent6"/>
                </a:solidFill>
              </a:rPr>
              <a:t>Smart contracts automate predefined actions when certain conditions are met, such as releasing payment upon delivery of goods or executing an insurance claim when specific criteria are verified.</a:t>
            </a:r>
          </a:p>
        </p:txBody>
      </p:sp>
      <p:sp>
        <p:nvSpPr>
          <p:cNvPr id="17" name="object 2">
            <a:extLst>
              <a:ext uri="{FF2B5EF4-FFF2-40B4-BE49-F238E27FC236}">
                <a16:creationId xmlns:a16="http://schemas.microsoft.com/office/drawing/2014/main" id="{5B4AE68D-C0BE-1F72-EB2F-3EFE1B23898C}"/>
              </a:ext>
            </a:extLst>
          </p:cNvPr>
          <p:cNvSpPr txBox="1">
            <a:spLocks/>
          </p:cNvSpPr>
          <p:nvPr/>
        </p:nvSpPr>
        <p:spPr>
          <a:xfrm>
            <a:off x="-1" y="1247894"/>
            <a:ext cx="8763000" cy="61555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80" dirty="0">
                <a:solidFill>
                  <a:schemeClr val="accent2"/>
                </a:solidFill>
              </a:rPr>
              <a:t>Blockchain based Orchestration and Choreography for Highly Secured and Transparent Transactions between multiple parties</a:t>
            </a:r>
          </a:p>
        </p:txBody>
      </p:sp>
    </p:spTree>
    <p:extLst>
      <p:ext uri="{BB962C8B-B14F-4D97-AF65-F5344CB8AC3E}">
        <p14:creationId xmlns:p14="http://schemas.microsoft.com/office/powerpoint/2010/main" val="2083860314"/>
      </p:ext>
    </p:extLst>
  </p:cSld>
  <p:clrMapOvr>
    <a:masterClrMapping/>
  </p:clrMapOvr>
</p:sld>
</file>

<file path=ppt/slides/slide5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16896-4D70-88A6-A9EC-68BB3F83497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EF376B2-093A-D3D7-0489-1AAA036A8A9F}"/>
              </a:ext>
            </a:extLst>
          </p:cNvPr>
          <p:cNvSpPr/>
          <p:nvPr/>
        </p:nvSpPr>
        <p:spPr>
          <a:xfrm>
            <a:off x="1726565" y="112321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55B2901-18BF-C99E-C033-C1879F382168}"/>
              </a:ext>
            </a:extLst>
          </p:cNvPr>
          <p:cNvSpPr/>
          <p:nvPr/>
        </p:nvSpPr>
        <p:spPr>
          <a:xfrm>
            <a:off x="1726565" y="9513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AC62EFD-F4CB-79C5-FACC-8F0468326578}"/>
              </a:ext>
            </a:extLst>
          </p:cNvPr>
          <p:cNvGraphicFramePr/>
          <p:nvPr/>
        </p:nvGraphicFramePr>
        <p:xfrm>
          <a:off x="0" y="101997"/>
          <a:ext cx="9144000" cy="818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DB9140A2-24B6-9802-78D2-9BD2C43A89A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65FAC73-2404-5BEA-065D-2CEB0B46634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B7F5882-3597-909D-AED9-AED0C13E3C7A}"/>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44533927-839C-CA69-7438-86C3FE9D722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66280742-10D8-EC4B-3E62-5D3ADEF3E75F}"/>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0" name="object 2">
            <a:extLst>
              <a:ext uri="{FF2B5EF4-FFF2-40B4-BE49-F238E27FC236}">
                <a16:creationId xmlns:a16="http://schemas.microsoft.com/office/drawing/2014/main" id="{B445E573-F000-18A5-E217-C293C097D30A}"/>
              </a:ext>
            </a:extLst>
          </p:cNvPr>
          <p:cNvSpPr txBox="1">
            <a:spLocks/>
          </p:cNvSpPr>
          <p:nvPr/>
        </p:nvSpPr>
        <p:spPr>
          <a:xfrm>
            <a:off x="76201" y="1188209"/>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80" dirty="0">
                <a:solidFill>
                  <a:schemeClr val="accent2"/>
                </a:solidFill>
              </a:rPr>
              <a:t>Blockchain based Orchestration and Choreography for Highly Secured and Transparent Transactions between multiple parties</a:t>
            </a:r>
          </a:p>
          <a:p>
            <a:r>
              <a:rPr lang="en-US" sz="1500" kern="0" spc="-80" dirty="0">
                <a:solidFill>
                  <a:schemeClr val="accent2"/>
                </a:solidFill>
              </a:rPr>
              <a:t>Trust and transparency:</a:t>
            </a:r>
            <a:r>
              <a:rPr lang="en-US" sz="1500" kern="0" spc="-80" dirty="0">
                <a:solidFill>
                  <a:schemeClr val="accent6"/>
                </a:solidFill>
              </a:rPr>
              <a:t> An immutable audit trail of all actions and message exchanges is created on the distributed ledger. All parties can view and verify the process status, increasing trust and accountability.</a:t>
            </a:r>
          </a:p>
          <a:p>
            <a:r>
              <a:rPr lang="en-US" sz="1500" kern="0" spc="-80" dirty="0">
                <a:solidFill>
                  <a:schemeClr val="accent2"/>
                </a:solidFill>
              </a:rPr>
              <a:t>Automated compliance:</a:t>
            </a:r>
            <a:r>
              <a:rPr lang="en-US" sz="1500" kern="0" spc="-80" dirty="0">
                <a:solidFill>
                  <a:schemeClr val="accent6"/>
                </a:solidFill>
              </a:rPr>
              <a:t> Rules can be coded directly into smart contracts, guaranteeing that all participants adhere to the agreed-upon business logic. This automatic enforcement ensures compliance without manual intervention.</a:t>
            </a:r>
          </a:p>
          <a:p>
            <a:r>
              <a:rPr lang="en-US" sz="1500" kern="0" spc="-80" dirty="0">
                <a:solidFill>
                  <a:schemeClr val="accent2"/>
                </a:solidFill>
              </a:rPr>
              <a:t>Confidentiality:</a:t>
            </a:r>
            <a:r>
              <a:rPr lang="en-US" sz="1500" kern="0" spc="-80" dirty="0">
                <a:solidFill>
                  <a:schemeClr val="accent6"/>
                </a:solidFill>
              </a:rPr>
              <a:t> While transparency is a core feature, techniques like zero-knowledge proofs (ZKPs) can be used to prove that a participant's action was valid without revealing sensitive underlying data to the entire network.</a:t>
            </a:r>
          </a:p>
          <a:p>
            <a:r>
              <a:rPr lang="en-US" sz="1500" kern="0" spc="-80" dirty="0">
                <a:solidFill>
                  <a:schemeClr val="accent2"/>
                </a:solidFill>
              </a:rPr>
              <a:t>Reduced intermediation:</a:t>
            </a:r>
            <a:r>
              <a:rPr lang="en-US" sz="1500" kern="0" spc="-80" dirty="0">
                <a:solidFill>
                  <a:schemeClr val="accent6"/>
                </a:solidFill>
              </a:rPr>
              <a:t> By automating and verifying interactions, blockchain reduces the reliance on costly and time-consuming third-party intermediaries. </a:t>
            </a:r>
          </a:p>
          <a:p>
            <a:r>
              <a:rPr lang="en-US" sz="1600" kern="0" spc="-80" dirty="0">
                <a:solidFill>
                  <a:schemeClr val="accent2"/>
                </a:solidFill>
              </a:rPr>
              <a:t>Use cases in practice</a:t>
            </a:r>
          </a:p>
          <a:p>
            <a:r>
              <a:rPr lang="en-US" sz="1600" kern="0" spc="-80" dirty="0">
                <a:solidFill>
                  <a:schemeClr val="accent6"/>
                </a:solidFill>
              </a:rPr>
              <a:t>Blockchain-enabled orchestration and choreography are already being applied across various industries to manage complex, multi-party processes.</a:t>
            </a:r>
          </a:p>
          <a:p>
            <a:r>
              <a:rPr lang="en-US" sz="1600" kern="0" spc="-80" dirty="0">
                <a:solidFill>
                  <a:schemeClr val="accent2"/>
                </a:solidFill>
              </a:rPr>
              <a:t>Supply chain management:</a:t>
            </a:r>
            <a:r>
              <a:rPr lang="en-US" sz="1600" kern="0" spc="-80" dirty="0">
                <a:solidFill>
                  <a:schemeClr val="accent6"/>
                </a:solidFill>
              </a:rPr>
              <a:t> A supply chain consortium can use a choreographed process to track goods from origin to destination. Smart contracts record product authenticity, transfer of ownership, and trigger payments automatically at each checkpoint, enhancing transparency and reducing fraud.</a:t>
            </a:r>
          </a:p>
          <a:p>
            <a:endParaRPr lang="en-US" sz="1500" kern="0" spc="-80" dirty="0">
              <a:solidFill>
                <a:schemeClr val="accent6"/>
              </a:solidFill>
            </a:endParaRPr>
          </a:p>
        </p:txBody>
      </p:sp>
    </p:spTree>
    <p:extLst>
      <p:ext uri="{BB962C8B-B14F-4D97-AF65-F5344CB8AC3E}">
        <p14:creationId xmlns:p14="http://schemas.microsoft.com/office/powerpoint/2010/main" val="3629882818"/>
      </p:ext>
    </p:extLst>
  </p:cSld>
  <p:clrMapOvr>
    <a:masterClrMapping/>
  </p:clrMapOvr>
</p:sld>
</file>

<file path=ppt/slides/slide5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8DEB3-1E12-4367-9805-F86743387B2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1A50D97-7F18-C7F4-81B5-1FCE0E81E858}"/>
              </a:ext>
            </a:extLst>
          </p:cNvPr>
          <p:cNvSpPr/>
          <p:nvPr/>
        </p:nvSpPr>
        <p:spPr>
          <a:xfrm>
            <a:off x="1726565" y="112321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D855DF9-0357-FA30-CD0C-904047680096}"/>
              </a:ext>
            </a:extLst>
          </p:cNvPr>
          <p:cNvSpPr/>
          <p:nvPr/>
        </p:nvSpPr>
        <p:spPr>
          <a:xfrm>
            <a:off x="1726565" y="9513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E6D1926-A442-86CC-2B10-99E76C1F8D8D}"/>
              </a:ext>
            </a:extLst>
          </p:cNvPr>
          <p:cNvGraphicFramePr/>
          <p:nvPr/>
        </p:nvGraphicFramePr>
        <p:xfrm>
          <a:off x="0" y="101997"/>
          <a:ext cx="9144000" cy="818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FBE27DEB-3CBB-30D3-2868-70106CA9A7C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10CAFE7-BBE3-B962-BA41-499A7ED2747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B71B526-08D5-09A4-5047-7C0DB90B0FCD}"/>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1845A53B-B82E-C31A-C9B7-19A4F1C60781}"/>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5926AF8D-2F19-6EFB-B748-05D54B7C5519}"/>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0" name="object 2">
            <a:extLst>
              <a:ext uri="{FF2B5EF4-FFF2-40B4-BE49-F238E27FC236}">
                <a16:creationId xmlns:a16="http://schemas.microsoft.com/office/drawing/2014/main" id="{F490D65C-3018-965D-6BA1-8C3F4838211B}"/>
              </a:ext>
            </a:extLst>
          </p:cNvPr>
          <p:cNvSpPr txBox="1">
            <a:spLocks/>
          </p:cNvSpPr>
          <p:nvPr/>
        </p:nvSpPr>
        <p:spPr>
          <a:xfrm>
            <a:off x="145230" y="1236883"/>
            <a:ext cx="8624937" cy="477823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2000" kern="0" spc="-80" dirty="0">
                <a:solidFill>
                  <a:schemeClr val="accent2"/>
                </a:solidFill>
              </a:rPr>
              <a:t>Blockchain based Orchestration and Choreography for Highly Secured and Transparent Transactions between multiple parties</a:t>
            </a:r>
          </a:p>
          <a:p>
            <a:r>
              <a:rPr lang="en-US" sz="1500" kern="0" spc="-80" dirty="0">
                <a:solidFill>
                  <a:schemeClr val="accent2"/>
                </a:solidFill>
              </a:rPr>
              <a:t>Construction industry: </a:t>
            </a:r>
            <a:r>
              <a:rPr lang="en-US" sz="1500" kern="0" spc="-80" dirty="0">
                <a:solidFill>
                  <a:schemeClr val="accent6"/>
                </a:solidFill>
              </a:rPr>
              <a:t>A complex project involving architects, engineers, and suppliers can use a blockchain-orchestrated workflow. An orchestrator smart contract controls the project's progress, triggers payments, and manages permissions for accessing design documents represented as non-fungible tokens (NFTs), all while preserving confidentiality.</a:t>
            </a:r>
          </a:p>
          <a:p>
            <a:r>
              <a:rPr lang="en-US" sz="1600" kern="0" spc="-80" dirty="0">
                <a:solidFill>
                  <a:schemeClr val="accent2"/>
                </a:solidFill>
              </a:rPr>
              <a:t>Decentralized finance (DeFi):</a:t>
            </a:r>
            <a:r>
              <a:rPr lang="en-US" sz="1600" kern="0" spc="-80" dirty="0">
                <a:solidFill>
                  <a:schemeClr val="accent6"/>
                </a:solidFill>
              </a:rPr>
              <a:t> Complex DeFi products are assembled using choreographed smart contracts that interact with each other in a decentralized manner, without a central coordinator. This allows for a global peer-to-peer financial system.</a:t>
            </a:r>
          </a:p>
          <a:p>
            <a:r>
              <a:rPr lang="en-US" sz="1600" kern="0" spc="-80" dirty="0" err="1">
                <a:solidFill>
                  <a:schemeClr val="accent2"/>
                </a:solidFill>
              </a:rPr>
              <a:t>DevSecOps</a:t>
            </a:r>
            <a:r>
              <a:rPr lang="en-US" sz="1600" kern="0" spc="-80" dirty="0">
                <a:solidFill>
                  <a:schemeClr val="accent2"/>
                </a:solidFill>
              </a:rPr>
              <a:t>: </a:t>
            </a:r>
            <a:r>
              <a:rPr lang="en-US" sz="1600" kern="0" spc="-80" dirty="0">
                <a:solidFill>
                  <a:schemeClr val="accent6"/>
                </a:solidFill>
              </a:rPr>
              <a:t>Smart contracts can orchestrate a decentralized software deployment pipeline. The contract can enforce that each step—from code build to testing to deployment—is executed in the correct order and authorized by the right cryptographic signatures, creating a tamper-proof log for security audits.</a:t>
            </a:r>
          </a:p>
          <a:p>
            <a:r>
              <a:rPr lang="en-US" sz="1600" kern="0" spc="-80" dirty="0">
                <a:solidFill>
                  <a:schemeClr val="accent2"/>
                </a:solidFill>
              </a:rPr>
              <a:t>Digital twins:</a:t>
            </a:r>
            <a:r>
              <a:rPr lang="en-US" sz="1600" kern="0" spc="-80" dirty="0">
                <a:solidFill>
                  <a:schemeClr val="accent6"/>
                </a:solidFill>
              </a:rPr>
              <a:t> In manufacturing, blockchain can orchestrate multiple digital twins (virtual replicas of physical systems) to ensure data integrity and track machine actions. This supports predictive maintenance and process optimization in an automated and trustworthy way. </a:t>
            </a:r>
          </a:p>
          <a:p>
            <a:endParaRPr lang="en-US" sz="1500" kern="0" spc="-80" dirty="0">
              <a:solidFill>
                <a:schemeClr val="accent6"/>
              </a:solidFill>
            </a:endParaRPr>
          </a:p>
          <a:p>
            <a:endParaRPr lang="en-US" sz="1950" kern="0" spc="-80" dirty="0">
              <a:solidFill>
                <a:schemeClr val="accent6"/>
              </a:solidFill>
            </a:endParaRPr>
          </a:p>
        </p:txBody>
      </p:sp>
    </p:spTree>
    <p:extLst>
      <p:ext uri="{BB962C8B-B14F-4D97-AF65-F5344CB8AC3E}">
        <p14:creationId xmlns:p14="http://schemas.microsoft.com/office/powerpoint/2010/main" val="2216363826"/>
      </p:ext>
    </p:extLst>
  </p:cSld>
  <p:clrMapOvr>
    <a:masterClrMapping/>
  </p:clrMapOvr>
</p:sld>
</file>

<file path=ppt/slides/slide5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646B8-A754-245D-D8C5-2222D5066F2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23B63DE-DFED-0555-83F3-E6422CF9D338}"/>
              </a:ext>
            </a:extLst>
          </p:cNvPr>
          <p:cNvSpPr/>
          <p:nvPr/>
        </p:nvSpPr>
        <p:spPr>
          <a:xfrm>
            <a:off x="1726565" y="112321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E2711D9-D7C4-0404-76B5-D641B4AF2666}"/>
              </a:ext>
            </a:extLst>
          </p:cNvPr>
          <p:cNvSpPr/>
          <p:nvPr/>
        </p:nvSpPr>
        <p:spPr>
          <a:xfrm>
            <a:off x="1726565" y="9513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77ED26B-C1C4-9DA1-A5F0-E2AA93F296C4}"/>
              </a:ext>
            </a:extLst>
          </p:cNvPr>
          <p:cNvGraphicFramePr/>
          <p:nvPr/>
        </p:nvGraphicFramePr>
        <p:xfrm>
          <a:off x="0" y="101997"/>
          <a:ext cx="9144000" cy="818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EB235F21-E854-C09C-609E-29B588716B9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5EF83E85-92B2-7A1E-E644-4F26144A357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852A60A-70F6-9331-1E53-ECEB1346105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2F0D60B3-8F71-DF58-4954-D0B90C330E7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F12FBBFB-2F02-F71A-1CF7-BA89C7E29BD0}"/>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0" name="object 2">
            <a:extLst>
              <a:ext uri="{FF2B5EF4-FFF2-40B4-BE49-F238E27FC236}">
                <a16:creationId xmlns:a16="http://schemas.microsoft.com/office/drawing/2014/main" id="{92C7BE5A-788F-7DCE-C60F-ED71545A014D}"/>
              </a:ext>
            </a:extLst>
          </p:cNvPr>
          <p:cNvSpPr txBox="1">
            <a:spLocks/>
          </p:cNvSpPr>
          <p:nvPr/>
        </p:nvSpPr>
        <p:spPr>
          <a:xfrm>
            <a:off x="145230" y="1236883"/>
            <a:ext cx="8624937" cy="46858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950" kern="0" spc="-80" dirty="0">
                <a:solidFill>
                  <a:schemeClr val="accent2"/>
                </a:solidFill>
              </a:rPr>
              <a:t>Advanced Concepts</a:t>
            </a:r>
          </a:p>
          <a:p>
            <a:r>
              <a:rPr lang="en-US" sz="1500" kern="0" spc="-80" dirty="0">
                <a:solidFill>
                  <a:schemeClr val="accent2"/>
                </a:solidFill>
              </a:rPr>
              <a:t>1. Layer 2 Solutions (Off-chain Scaling)</a:t>
            </a:r>
          </a:p>
          <a:p>
            <a:r>
              <a:rPr lang="en-US" sz="1500" kern="0" spc="-80" dirty="0">
                <a:solidFill>
                  <a:schemeClr val="accent6"/>
                </a:solidFill>
              </a:rPr>
              <a:t>Layer 2 solutions are protocols built on top of a blockchain to increase scalability and reduce transaction costs while leveraging the security of the underlying blockchain.</a:t>
            </a:r>
          </a:p>
          <a:p>
            <a:r>
              <a:rPr lang="en-US" sz="1500" kern="0" spc="-80" dirty="0">
                <a:solidFill>
                  <a:schemeClr val="accent2"/>
                </a:solidFill>
              </a:rPr>
              <a:t>1.1 Lightning Network (Bitcoin)</a:t>
            </a:r>
          </a:p>
          <a:p>
            <a:r>
              <a:rPr lang="en-US" sz="1500" kern="0" spc="-80" dirty="0">
                <a:solidFill>
                  <a:schemeClr val="accent6"/>
                </a:solidFill>
              </a:rPr>
              <a:t>Off-chain network for instant micropayments.</a:t>
            </a:r>
          </a:p>
          <a:p>
            <a:r>
              <a:rPr lang="en-US" sz="1500" kern="0" spc="-80" dirty="0">
                <a:solidFill>
                  <a:schemeClr val="accent6"/>
                </a:solidFill>
              </a:rPr>
              <a:t>Users open payment channels and transact off-chain.</a:t>
            </a:r>
          </a:p>
          <a:p>
            <a:r>
              <a:rPr lang="en-US" sz="1500" kern="0" spc="-80" dirty="0">
                <a:solidFill>
                  <a:schemeClr val="accent6"/>
                </a:solidFill>
              </a:rPr>
              <a:t>Only the final net settlement goes on-chain, reducing congestion.</a:t>
            </a:r>
          </a:p>
          <a:p>
            <a:r>
              <a:rPr lang="en-US" sz="1500" kern="0" spc="-80" dirty="0">
                <a:solidFill>
                  <a:schemeClr val="accent2"/>
                </a:solidFill>
              </a:rPr>
              <a:t>1.2 Rollups (Ethereum)</a:t>
            </a:r>
          </a:p>
          <a:p>
            <a:r>
              <a:rPr lang="en-US" sz="1500" kern="0" spc="-80" dirty="0">
                <a:solidFill>
                  <a:schemeClr val="accent6"/>
                </a:solidFill>
              </a:rPr>
              <a:t>Transactions are executed off-chain, but data is posted on-chain.</a:t>
            </a:r>
          </a:p>
          <a:p>
            <a:r>
              <a:rPr lang="en-US" sz="1500" kern="0" spc="-80" dirty="0">
                <a:solidFill>
                  <a:schemeClr val="accent2"/>
                </a:solidFill>
              </a:rPr>
              <a:t>Types:</a:t>
            </a:r>
          </a:p>
          <a:p>
            <a:r>
              <a:rPr lang="en-US" sz="1500" kern="0" spc="-80" dirty="0">
                <a:solidFill>
                  <a:schemeClr val="accent2"/>
                </a:solidFill>
              </a:rPr>
              <a:t>Optimistic Rollups: </a:t>
            </a:r>
            <a:r>
              <a:rPr lang="en-US" sz="1500" kern="0" spc="-80" dirty="0">
                <a:solidFill>
                  <a:schemeClr val="accent6"/>
                </a:solidFill>
              </a:rPr>
              <a:t>Assume transactions are valid; challenges can be raised.</a:t>
            </a:r>
          </a:p>
          <a:p>
            <a:r>
              <a:rPr lang="en-US" sz="1500" kern="0" spc="-80" dirty="0">
                <a:solidFill>
                  <a:schemeClr val="accent2"/>
                </a:solidFill>
              </a:rPr>
              <a:t>ZK Rollups (Zero-Knowledge): </a:t>
            </a:r>
            <a:r>
              <a:rPr lang="en-US" sz="1500" kern="0" spc="-80" dirty="0">
                <a:solidFill>
                  <a:schemeClr val="accent6"/>
                </a:solidFill>
              </a:rPr>
              <a:t>Use cryptographic proofs to verify correctness.</a:t>
            </a:r>
          </a:p>
          <a:p>
            <a:r>
              <a:rPr lang="en-US" sz="1500" kern="0" spc="-80" dirty="0">
                <a:solidFill>
                  <a:schemeClr val="accent2"/>
                </a:solidFill>
              </a:rPr>
              <a:t>1.3 Plasma</a:t>
            </a:r>
          </a:p>
          <a:p>
            <a:r>
              <a:rPr lang="en-US" sz="1500" kern="0" spc="-80" dirty="0">
                <a:solidFill>
                  <a:schemeClr val="accent6"/>
                </a:solidFill>
              </a:rPr>
              <a:t>Framework for child chains connected to Ethereum.</a:t>
            </a:r>
          </a:p>
          <a:p>
            <a:r>
              <a:rPr lang="en-US" sz="1500" kern="0" spc="-80" dirty="0">
                <a:solidFill>
                  <a:schemeClr val="accent6"/>
                </a:solidFill>
              </a:rPr>
              <a:t>Offloads computation to child chains while relying on Ethereum for security.</a:t>
            </a:r>
          </a:p>
          <a:p>
            <a:r>
              <a:rPr lang="en-US" sz="1500" kern="0" spc="-80" dirty="0">
                <a:solidFill>
                  <a:schemeClr val="accent2"/>
                </a:solidFill>
              </a:rPr>
              <a:t>1.4 State Channels</a:t>
            </a:r>
          </a:p>
          <a:p>
            <a:r>
              <a:rPr lang="en-US" sz="1500" kern="0" spc="-80" dirty="0">
                <a:solidFill>
                  <a:schemeClr val="accent6"/>
                </a:solidFill>
              </a:rPr>
              <a:t>Participants exchange multiple transactions off-chain.</a:t>
            </a:r>
          </a:p>
          <a:p>
            <a:r>
              <a:rPr lang="en-US" sz="1500" kern="0" spc="-80" dirty="0">
                <a:solidFill>
                  <a:schemeClr val="accent6"/>
                </a:solidFill>
              </a:rPr>
              <a:t>Only the final state is committed to the blockchain.</a:t>
            </a:r>
          </a:p>
          <a:p>
            <a:r>
              <a:rPr lang="en-US" sz="1500" kern="0" spc="-80" dirty="0">
                <a:solidFill>
                  <a:schemeClr val="accent6"/>
                </a:solidFill>
              </a:rPr>
              <a:t>Reduces gas costs and increases throughput.</a:t>
            </a:r>
          </a:p>
        </p:txBody>
      </p:sp>
    </p:spTree>
    <p:extLst>
      <p:ext uri="{BB962C8B-B14F-4D97-AF65-F5344CB8AC3E}">
        <p14:creationId xmlns:p14="http://schemas.microsoft.com/office/powerpoint/2010/main" val="3079466589"/>
      </p:ext>
    </p:extLst>
  </p:cSld>
  <p:clrMapOvr>
    <a:masterClrMapping/>
  </p:clrMapOvr>
</p:sld>
</file>

<file path=ppt/slides/slide5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AC2F1-7700-7616-E161-4A1A3707D8D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ABADB49-D0D3-BD9B-3FF6-C7F97F746418}"/>
              </a:ext>
            </a:extLst>
          </p:cNvPr>
          <p:cNvSpPr/>
          <p:nvPr/>
        </p:nvSpPr>
        <p:spPr>
          <a:xfrm>
            <a:off x="1726565" y="112321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620E5732-B8C0-7054-74D9-5B92CF75F0DD}"/>
              </a:ext>
            </a:extLst>
          </p:cNvPr>
          <p:cNvSpPr/>
          <p:nvPr/>
        </p:nvSpPr>
        <p:spPr>
          <a:xfrm>
            <a:off x="1726565" y="9513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882460A-D534-124A-EB01-F2087561EB29}"/>
              </a:ext>
            </a:extLst>
          </p:cNvPr>
          <p:cNvGraphicFramePr/>
          <p:nvPr/>
        </p:nvGraphicFramePr>
        <p:xfrm>
          <a:off x="0" y="101997"/>
          <a:ext cx="9144000" cy="818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5AE59CE4-5472-D6F4-BD16-97B96F50252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EFED535-FC85-E11F-4D67-920BC96BF6A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4F40C59-9364-3D6B-7760-BF98C0C3816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2979DC30-FAED-E373-DB0C-AC9D0A0A985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793CC7DC-1F5C-3B19-202B-53D71E62C89E}"/>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0" name="object 2">
            <a:extLst>
              <a:ext uri="{FF2B5EF4-FFF2-40B4-BE49-F238E27FC236}">
                <a16:creationId xmlns:a16="http://schemas.microsoft.com/office/drawing/2014/main" id="{7DBDE937-6BC4-B82A-FAAC-F80BDEBAD5F5}"/>
              </a:ext>
            </a:extLst>
          </p:cNvPr>
          <p:cNvSpPr txBox="1">
            <a:spLocks/>
          </p:cNvSpPr>
          <p:nvPr/>
        </p:nvSpPr>
        <p:spPr>
          <a:xfrm>
            <a:off x="145230" y="1236883"/>
            <a:ext cx="8624937" cy="46858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950" kern="0" spc="-80" dirty="0">
                <a:solidFill>
                  <a:schemeClr val="accent2"/>
                </a:solidFill>
              </a:rPr>
              <a:t>Advanced Concepts</a:t>
            </a:r>
          </a:p>
          <a:p>
            <a:r>
              <a:rPr lang="en-US" sz="1500" kern="0" spc="-80" dirty="0">
                <a:solidFill>
                  <a:schemeClr val="accent2"/>
                </a:solidFill>
              </a:rPr>
              <a:t>2. Sharding</a:t>
            </a:r>
          </a:p>
          <a:p>
            <a:r>
              <a:rPr lang="en-US" sz="1500" kern="0" spc="-80" dirty="0">
                <a:solidFill>
                  <a:schemeClr val="accent6"/>
                </a:solidFill>
              </a:rPr>
              <a:t>Sharding splits the blockchain into smaller partitions called shards to improve scalability.</a:t>
            </a:r>
          </a:p>
          <a:p>
            <a:r>
              <a:rPr lang="en-US" sz="1500" kern="0" spc="-80" dirty="0">
                <a:solidFill>
                  <a:schemeClr val="accent6"/>
                </a:solidFill>
              </a:rPr>
              <a:t>Each shard processes its own subset of transactions in parallel.</a:t>
            </a:r>
          </a:p>
          <a:p>
            <a:r>
              <a:rPr lang="en-US" sz="1500" kern="0" spc="-80" dirty="0">
                <a:solidFill>
                  <a:schemeClr val="accent6"/>
                </a:solidFill>
              </a:rPr>
              <a:t>Ethereum 2.0 is moving toward sharded chains.</a:t>
            </a:r>
          </a:p>
          <a:p>
            <a:r>
              <a:rPr lang="en-US" sz="1500" kern="0" spc="-80" dirty="0">
                <a:solidFill>
                  <a:schemeClr val="accent2"/>
                </a:solidFill>
              </a:rPr>
              <a:t>Sharding Types:</a:t>
            </a:r>
          </a:p>
          <a:p>
            <a:r>
              <a:rPr lang="en-US" sz="1500" kern="0" spc="-80" dirty="0">
                <a:solidFill>
                  <a:schemeClr val="accent2"/>
                </a:solidFill>
              </a:rPr>
              <a:t>Network Sharding: </a:t>
            </a:r>
            <a:r>
              <a:rPr lang="en-US" sz="1500" kern="0" spc="-80" dirty="0">
                <a:solidFill>
                  <a:schemeClr val="accent6"/>
                </a:solidFill>
              </a:rPr>
              <a:t>Splits network nodes into shards.</a:t>
            </a:r>
          </a:p>
          <a:p>
            <a:r>
              <a:rPr lang="en-US" sz="1500" kern="0" spc="-80" dirty="0">
                <a:solidFill>
                  <a:schemeClr val="accent2"/>
                </a:solidFill>
              </a:rPr>
              <a:t>Transaction Sharding: </a:t>
            </a:r>
            <a:r>
              <a:rPr lang="en-US" sz="1500" kern="0" spc="-80" dirty="0">
                <a:solidFill>
                  <a:schemeClr val="accent6"/>
                </a:solidFill>
              </a:rPr>
              <a:t>Transactions are processed in separate shards.</a:t>
            </a:r>
          </a:p>
          <a:p>
            <a:r>
              <a:rPr lang="en-US" sz="1500" kern="0" spc="-80" dirty="0">
                <a:solidFill>
                  <a:schemeClr val="accent2"/>
                </a:solidFill>
              </a:rPr>
              <a:t>State Sharding: </a:t>
            </a:r>
            <a:r>
              <a:rPr lang="en-US" sz="1500" kern="0" spc="-80" dirty="0">
                <a:solidFill>
                  <a:schemeClr val="accent6"/>
                </a:solidFill>
              </a:rPr>
              <a:t>Each shard maintains part of the blockchain state.</a:t>
            </a:r>
          </a:p>
          <a:p>
            <a:r>
              <a:rPr lang="en-US" sz="1500" kern="0" spc="-80" dirty="0">
                <a:solidFill>
                  <a:schemeClr val="accent2"/>
                </a:solidFill>
              </a:rPr>
              <a:t>3. Interoperability and Cross-chain Protocols</a:t>
            </a:r>
          </a:p>
          <a:p>
            <a:r>
              <a:rPr lang="en-US" sz="1500" kern="0" spc="-80" dirty="0">
                <a:solidFill>
                  <a:schemeClr val="accent6"/>
                </a:solidFill>
              </a:rPr>
              <a:t>Blockchains are often isolated, so interoperability is essential for exchanging assets and data.</a:t>
            </a:r>
          </a:p>
          <a:p>
            <a:r>
              <a:rPr lang="en-US" sz="1500" kern="0" spc="-80" dirty="0">
                <a:solidFill>
                  <a:schemeClr val="accent2"/>
                </a:solidFill>
              </a:rPr>
              <a:t>3.1 Atomic Swaps</a:t>
            </a:r>
          </a:p>
          <a:p>
            <a:r>
              <a:rPr lang="en-US" sz="1500" kern="0" spc="-80" dirty="0">
                <a:solidFill>
                  <a:schemeClr val="accent6"/>
                </a:solidFill>
              </a:rPr>
              <a:t>Peer-to-peer exchange of cryptocurrencies without intermediaries.</a:t>
            </a:r>
          </a:p>
          <a:p>
            <a:r>
              <a:rPr lang="en-US" sz="1500" kern="0" spc="-80" dirty="0">
                <a:solidFill>
                  <a:schemeClr val="accent6"/>
                </a:solidFill>
              </a:rPr>
              <a:t>Uses hashed </a:t>
            </a:r>
            <a:r>
              <a:rPr lang="en-US" sz="1500" kern="0" spc="-80" dirty="0" err="1">
                <a:solidFill>
                  <a:schemeClr val="accent6"/>
                </a:solidFill>
              </a:rPr>
              <a:t>timelock</a:t>
            </a:r>
            <a:r>
              <a:rPr lang="en-US" sz="1500" kern="0" spc="-80" dirty="0">
                <a:solidFill>
                  <a:schemeClr val="accent6"/>
                </a:solidFill>
              </a:rPr>
              <a:t> contracts (HTLC) to ensure atomicity.</a:t>
            </a:r>
          </a:p>
          <a:p>
            <a:r>
              <a:rPr lang="en-US" sz="1500" kern="0" spc="-80" dirty="0">
                <a:solidFill>
                  <a:schemeClr val="accent2"/>
                </a:solidFill>
              </a:rPr>
              <a:t>3.2 Cross-chain Bridges</a:t>
            </a:r>
          </a:p>
          <a:p>
            <a:r>
              <a:rPr lang="en-US" sz="1500" kern="0" spc="-80" dirty="0">
                <a:solidFill>
                  <a:schemeClr val="accent6"/>
                </a:solidFill>
              </a:rPr>
              <a:t>Allow transfer of assets between blockchains.</a:t>
            </a:r>
          </a:p>
          <a:p>
            <a:r>
              <a:rPr lang="en-US" sz="1500" kern="0" spc="-80" dirty="0">
                <a:solidFill>
                  <a:schemeClr val="accent6"/>
                </a:solidFill>
              </a:rPr>
              <a:t>Example: WBTC (Wrapped Bitcoin) on Ethereum.</a:t>
            </a:r>
          </a:p>
          <a:p>
            <a:r>
              <a:rPr lang="en-US" sz="1500" kern="0" spc="-80" dirty="0">
                <a:solidFill>
                  <a:schemeClr val="accent2"/>
                </a:solidFill>
              </a:rPr>
              <a:t>3.3 </a:t>
            </a:r>
            <a:r>
              <a:rPr lang="en-US" sz="1500" kern="0" spc="-80" dirty="0" err="1">
                <a:solidFill>
                  <a:schemeClr val="accent2"/>
                </a:solidFill>
              </a:rPr>
              <a:t>Interledger</a:t>
            </a:r>
            <a:r>
              <a:rPr lang="en-US" sz="1500" kern="0" spc="-80" dirty="0">
                <a:solidFill>
                  <a:schemeClr val="accent2"/>
                </a:solidFill>
              </a:rPr>
              <a:t> Protocol (ILP)</a:t>
            </a:r>
          </a:p>
          <a:p>
            <a:r>
              <a:rPr lang="en-US" sz="1500" kern="0" spc="-80" dirty="0">
                <a:solidFill>
                  <a:schemeClr val="accent6"/>
                </a:solidFill>
              </a:rPr>
              <a:t>Connects different ledgers for cross-border payments.</a:t>
            </a:r>
          </a:p>
          <a:p>
            <a:r>
              <a:rPr lang="en-US" sz="1500" kern="0" spc="-80" dirty="0">
                <a:solidFill>
                  <a:schemeClr val="accent6"/>
                </a:solidFill>
              </a:rPr>
              <a:t>Supports both crypto and traditional financial networks.</a:t>
            </a:r>
          </a:p>
        </p:txBody>
      </p:sp>
    </p:spTree>
    <p:extLst>
      <p:ext uri="{BB962C8B-B14F-4D97-AF65-F5344CB8AC3E}">
        <p14:creationId xmlns:p14="http://schemas.microsoft.com/office/powerpoint/2010/main" val="229836387"/>
      </p:ext>
    </p:extLst>
  </p:cSld>
  <p:clrMapOvr>
    <a:masterClrMapping/>
  </p:clrMapOvr>
</p:sld>
</file>

<file path=ppt/slides/slide5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D4CC2-9F84-C5DC-78AC-72C16F6802B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1D7AEC1-A21D-F82F-B441-896B4C5504DC}"/>
              </a:ext>
            </a:extLst>
          </p:cNvPr>
          <p:cNvSpPr/>
          <p:nvPr/>
        </p:nvSpPr>
        <p:spPr>
          <a:xfrm>
            <a:off x="1726565" y="112321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D045D1C-EE8F-8162-7E3B-22975F04A8A6}"/>
              </a:ext>
            </a:extLst>
          </p:cNvPr>
          <p:cNvSpPr/>
          <p:nvPr/>
        </p:nvSpPr>
        <p:spPr>
          <a:xfrm>
            <a:off x="1726565" y="9513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C305BC4-96A1-46D7-B724-48454A440D85}"/>
              </a:ext>
            </a:extLst>
          </p:cNvPr>
          <p:cNvGraphicFramePr/>
          <p:nvPr/>
        </p:nvGraphicFramePr>
        <p:xfrm>
          <a:off x="0" y="101997"/>
          <a:ext cx="9144000" cy="818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CEB32C2C-D8C9-FCAF-2C73-1BD172433F0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D4E3384-75A0-4BEF-10BC-4E26B81A7A9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88ECA7E-E0BE-C8EF-E34D-B56A37E041E0}"/>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3763AAA3-EB6A-940A-11B7-7F251661B18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067A3E12-B8D9-3E8C-9827-12CB86342360}"/>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0" name="object 2">
            <a:extLst>
              <a:ext uri="{FF2B5EF4-FFF2-40B4-BE49-F238E27FC236}">
                <a16:creationId xmlns:a16="http://schemas.microsoft.com/office/drawing/2014/main" id="{7FF5DF3B-97FC-CD9A-B643-2A69209C32F4}"/>
              </a:ext>
            </a:extLst>
          </p:cNvPr>
          <p:cNvSpPr txBox="1">
            <a:spLocks/>
          </p:cNvSpPr>
          <p:nvPr/>
        </p:nvSpPr>
        <p:spPr>
          <a:xfrm>
            <a:off x="145230" y="1236883"/>
            <a:ext cx="8624937" cy="445506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950" kern="0" spc="-80" dirty="0">
                <a:solidFill>
                  <a:schemeClr val="accent2"/>
                </a:solidFill>
              </a:rPr>
              <a:t>Advanced Concepts</a:t>
            </a:r>
          </a:p>
          <a:p>
            <a:r>
              <a:rPr lang="en-US" sz="1500" kern="0" spc="-80" dirty="0">
                <a:solidFill>
                  <a:schemeClr val="accent2"/>
                </a:solidFill>
              </a:rPr>
              <a:t>4. Decentralized Governance</a:t>
            </a:r>
          </a:p>
          <a:p>
            <a:r>
              <a:rPr lang="en-US" sz="1500" kern="0" spc="-80" dirty="0">
                <a:solidFill>
                  <a:schemeClr val="accent2"/>
                </a:solidFill>
              </a:rPr>
              <a:t>4.1 DAOs (Decentralized Autonomous Organizations)</a:t>
            </a:r>
          </a:p>
          <a:p>
            <a:r>
              <a:rPr lang="en-US" sz="1500" kern="0" spc="-80" dirty="0">
                <a:solidFill>
                  <a:schemeClr val="accent6"/>
                </a:solidFill>
              </a:rPr>
              <a:t>Organizations governed by smart contracts and token holders.</a:t>
            </a:r>
          </a:p>
          <a:p>
            <a:r>
              <a:rPr lang="en-US" sz="1500" kern="0" spc="-80" dirty="0">
                <a:solidFill>
                  <a:schemeClr val="accent6"/>
                </a:solidFill>
              </a:rPr>
              <a:t>Decisions like fund allocation or protocol upgrades are voted on-chain.</a:t>
            </a:r>
          </a:p>
          <a:p>
            <a:r>
              <a:rPr lang="en-US" sz="1500" kern="0" spc="-80" dirty="0">
                <a:solidFill>
                  <a:schemeClr val="accent2"/>
                </a:solidFill>
              </a:rPr>
              <a:t>Example: </a:t>
            </a:r>
            <a:r>
              <a:rPr lang="en-US" sz="1500" kern="0" spc="-80" dirty="0" err="1">
                <a:solidFill>
                  <a:schemeClr val="accent6"/>
                </a:solidFill>
              </a:rPr>
              <a:t>MakerDAO</a:t>
            </a:r>
            <a:r>
              <a:rPr lang="en-US" sz="1500" kern="0" spc="-80" dirty="0">
                <a:solidFill>
                  <a:schemeClr val="accent6"/>
                </a:solidFill>
              </a:rPr>
              <a:t>, Uniswap governance.</a:t>
            </a:r>
          </a:p>
          <a:p>
            <a:r>
              <a:rPr lang="en-US" sz="1500" kern="0" spc="-80" dirty="0">
                <a:solidFill>
                  <a:schemeClr val="accent2"/>
                </a:solidFill>
              </a:rPr>
              <a:t>4.2 On-chain vs Off-chain Governance</a:t>
            </a:r>
          </a:p>
          <a:p>
            <a:r>
              <a:rPr lang="en-US" sz="1500" kern="0" spc="-80" dirty="0">
                <a:solidFill>
                  <a:schemeClr val="accent2"/>
                </a:solidFill>
              </a:rPr>
              <a:t>On-chain: </a:t>
            </a:r>
            <a:r>
              <a:rPr lang="en-US" sz="1500" kern="0" spc="-80" dirty="0">
                <a:solidFill>
                  <a:schemeClr val="accent6"/>
                </a:solidFill>
              </a:rPr>
              <a:t>Voting and execution happens on the blockchain.</a:t>
            </a:r>
          </a:p>
          <a:p>
            <a:r>
              <a:rPr lang="en-US" sz="1500" kern="0" spc="-80" dirty="0">
                <a:solidFill>
                  <a:schemeClr val="accent2"/>
                </a:solidFill>
              </a:rPr>
              <a:t>Off-chain: </a:t>
            </a:r>
            <a:r>
              <a:rPr lang="en-US" sz="1500" kern="0" spc="-80" dirty="0">
                <a:solidFill>
                  <a:schemeClr val="accent6"/>
                </a:solidFill>
              </a:rPr>
              <a:t>Voting off-chain; blockchain only enforces final decision.</a:t>
            </a:r>
          </a:p>
          <a:p>
            <a:endParaRPr lang="en-US" sz="1500" kern="0" spc="-80" dirty="0">
              <a:solidFill>
                <a:schemeClr val="accent6"/>
              </a:solidFill>
            </a:endParaRPr>
          </a:p>
          <a:p>
            <a:r>
              <a:rPr lang="en-US" sz="1500" kern="0" spc="-80" dirty="0">
                <a:solidFill>
                  <a:schemeClr val="accent2"/>
                </a:solidFill>
              </a:rPr>
              <a:t>5. Privacy and Confidentiality</a:t>
            </a:r>
          </a:p>
          <a:p>
            <a:r>
              <a:rPr lang="en-US" sz="1500" kern="0" spc="-80" dirty="0">
                <a:solidFill>
                  <a:schemeClr val="accent6"/>
                </a:solidFill>
              </a:rPr>
              <a:t>Public blockchains are transparent, which is not ideal for sensitive data. Advanced blockchain projects implement privacy layers:</a:t>
            </a:r>
          </a:p>
          <a:p>
            <a:r>
              <a:rPr lang="en-US" sz="1500" kern="0" spc="-80" dirty="0">
                <a:solidFill>
                  <a:schemeClr val="accent2"/>
                </a:solidFill>
              </a:rPr>
              <a:t>5.1 Zero-Knowledge Proofs (ZKP)</a:t>
            </a:r>
          </a:p>
          <a:p>
            <a:r>
              <a:rPr lang="en-US" sz="1500" kern="0" spc="-80" dirty="0">
                <a:solidFill>
                  <a:schemeClr val="accent6"/>
                </a:solidFill>
              </a:rPr>
              <a:t>Cryptographic method to prove knowledge of data without revealing it.</a:t>
            </a:r>
          </a:p>
          <a:p>
            <a:r>
              <a:rPr lang="en-US" sz="1500" kern="0" spc="-80" dirty="0">
                <a:solidFill>
                  <a:schemeClr val="accent2"/>
                </a:solidFill>
              </a:rPr>
              <a:t>Example: </a:t>
            </a:r>
            <a:r>
              <a:rPr lang="en-US" sz="1500" kern="0" spc="-80" dirty="0" err="1">
                <a:solidFill>
                  <a:schemeClr val="accent6"/>
                </a:solidFill>
              </a:rPr>
              <a:t>Zcash</a:t>
            </a:r>
            <a:r>
              <a:rPr lang="en-US" sz="1500" kern="0" spc="-80" dirty="0">
                <a:solidFill>
                  <a:schemeClr val="accent6"/>
                </a:solidFill>
              </a:rPr>
              <a:t> uses </a:t>
            </a:r>
            <a:r>
              <a:rPr lang="en-US" sz="1500" kern="0" spc="-80" dirty="0" err="1">
                <a:solidFill>
                  <a:schemeClr val="accent6"/>
                </a:solidFill>
              </a:rPr>
              <a:t>zk</a:t>
            </a:r>
            <a:r>
              <a:rPr lang="en-US" sz="1500" kern="0" spc="-80" dirty="0">
                <a:solidFill>
                  <a:schemeClr val="accent6"/>
                </a:solidFill>
              </a:rPr>
              <a:t>-SNARKs for private transactions.</a:t>
            </a:r>
          </a:p>
          <a:p>
            <a:r>
              <a:rPr lang="en-US" sz="1500" kern="0" spc="-80" dirty="0">
                <a:solidFill>
                  <a:schemeClr val="accent2"/>
                </a:solidFill>
              </a:rPr>
              <a:t>5.2 Confidential Transactions</a:t>
            </a:r>
          </a:p>
          <a:p>
            <a:r>
              <a:rPr lang="en-US" sz="1500" kern="0" spc="-80" dirty="0">
                <a:solidFill>
                  <a:schemeClr val="accent6"/>
                </a:solidFill>
              </a:rPr>
              <a:t>Hide transaction amounts but allow verification.</a:t>
            </a:r>
          </a:p>
          <a:p>
            <a:r>
              <a:rPr lang="en-US" sz="1500" kern="0" spc="-80" dirty="0">
                <a:solidFill>
                  <a:schemeClr val="accent6"/>
                </a:solidFill>
              </a:rPr>
              <a:t>Often used in enterprise blockchain networks.</a:t>
            </a:r>
          </a:p>
        </p:txBody>
      </p:sp>
    </p:spTree>
    <p:extLst>
      <p:ext uri="{BB962C8B-B14F-4D97-AF65-F5344CB8AC3E}">
        <p14:creationId xmlns:p14="http://schemas.microsoft.com/office/powerpoint/2010/main" val="1005459429"/>
      </p:ext>
    </p:extLst>
  </p:cSld>
  <p:clrMapOvr>
    <a:masterClrMapping/>
  </p:clrMapOvr>
</p:sld>
</file>

<file path=ppt/slides/slide5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CDDD4-FA46-7397-9F1C-E2C3CD8A96A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6B3C087-C8DE-1407-B822-B305F8CAFCDF}"/>
              </a:ext>
            </a:extLst>
          </p:cNvPr>
          <p:cNvSpPr/>
          <p:nvPr/>
        </p:nvSpPr>
        <p:spPr>
          <a:xfrm>
            <a:off x="1726565" y="112321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96BA817-CB2B-FB09-EF22-6B76CE2730ED}"/>
              </a:ext>
            </a:extLst>
          </p:cNvPr>
          <p:cNvSpPr/>
          <p:nvPr/>
        </p:nvSpPr>
        <p:spPr>
          <a:xfrm>
            <a:off x="1726565" y="9513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0707156-BD5B-C4A4-F162-E0838DC1AAD5}"/>
              </a:ext>
            </a:extLst>
          </p:cNvPr>
          <p:cNvGraphicFramePr/>
          <p:nvPr/>
        </p:nvGraphicFramePr>
        <p:xfrm>
          <a:off x="0" y="101997"/>
          <a:ext cx="9144000" cy="818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5FA5DFBA-8416-649A-BA87-74ADB2FFDDC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2C0A5B5-6B9B-2FE3-A5AC-E901814E4A9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4D99CF3-A6C7-C7AF-C40D-BB44B7DFD570}"/>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1A8E7AEC-C6EA-AAAE-011C-C527AC813181}"/>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5C0ED6B9-E1FF-E661-2EF9-894C9D64D355}"/>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0" name="object 2">
            <a:extLst>
              <a:ext uri="{FF2B5EF4-FFF2-40B4-BE49-F238E27FC236}">
                <a16:creationId xmlns:a16="http://schemas.microsoft.com/office/drawing/2014/main" id="{2A82664D-CDAE-8A3F-0394-088B36142286}"/>
              </a:ext>
            </a:extLst>
          </p:cNvPr>
          <p:cNvSpPr txBox="1">
            <a:spLocks/>
          </p:cNvSpPr>
          <p:nvPr/>
        </p:nvSpPr>
        <p:spPr>
          <a:xfrm>
            <a:off x="145230" y="1236883"/>
            <a:ext cx="8624937" cy="46858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950" kern="0" spc="-80" dirty="0">
                <a:solidFill>
                  <a:schemeClr val="accent2"/>
                </a:solidFill>
              </a:rPr>
              <a:t>Advanced Concepts</a:t>
            </a:r>
          </a:p>
          <a:p>
            <a:r>
              <a:rPr lang="en-US" sz="1500" kern="0" spc="-80" dirty="0">
                <a:solidFill>
                  <a:schemeClr val="accent2"/>
                </a:solidFill>
              </a:rPr>
              <a:t>5.3 Mixers and Privacy Coins</a:t>
            </a:r>
          </a:p>
          <a:p>
            <a:r>
              <a:rPr lang="en-US" sz="1500" kern="0" spc="-80" dirty="0">
                <a:solidFill>
                  <a:schemeClr val="accent6"/>
                </a:solidFill>
              </a:rPr>
              <a:t>Mix transactions to obscure sender/receiver information.</a:t>
            </a:r>
          </a:p>
          <a:p>
            <a:r>
              <a:rPr lang="en-US" sz="1500" kern="0" spc="-80" dirty="0">
                <a:solidFill>
                  <a:schemeClr val="accent2"/>
                </a:solidFill>
              </a:rPr>
              <a:t>Example:</a:t>
            </a:r>
            <a:r>
              <a:rPr lang="en-US" sz="1500" kern="0" spc="-80" dirty="0">
                <a:solidFill>
                  <a:schemeClr val="accent6"/>
                </a:solidFill>
              </a:rPr>
              <a:t> Monero, Tornado Cash.</a:t>
            </a:r>
          </a:p>
          <a:p>
            <a:endParaRPr lang="en-US" sz="1500" kern="0" spc="-80" dirty="0">
              <a:solidFill>
                <a:schemeClr val="accent6"/>
              </a:solidFill>
            </a:endParaRPr>
          </a:p>
          <a:p>
            <a:r>
              <a:rPr lang="en-US" sz="1500" kern="0" spc="-80" dirty="0">
                <a:solidFill>
                  <a:schemeClr val="accent2"/>
                </a:solidFill>
              </a:rPr>
              <a:t>6. Consensus Enhancements</a:t>
            </a:r>
          </a:p>
          <a:p>
            <a:r>
              <a:rPr lang="en-US" sz="1500" kern="0" spc="-80" dirty="0">
                <a:solidFill>
                  <a:schemeClr val="accent6"/>
                </a:solidFill>
              </a:rPr>
              <a:t>Advanced consensus mechanisms improve scalability, energy efficiency, and fault tolerance.</a:t>
            </a:r>
          </a:p>
          <a:p>
            <a:r>
              <a:rPr lang="en-US" sz="1500" kern="0" spc="-80" dirty="0">
                <a:solidFill>
                  <a:schemeClr val="accent2"/>
                </a:solidFill>
              </a:rPr>
              <a:t>6.1 Proof of Authority (</a:t>
            </a:r>
            <a:r>
              <a:rPr lang="en-US" sz="1500" kern="0" spc="-80" dirty="0" err="1">
                <a:solidFill>
                  <a:schemeClr val="accent2"/>
                </a:solidFill>
              </a:rPr>
              <a:t>PoA</a:t>
            </a:r>
            <a:r>
              <a:rPr lang="en-US" sz="1500" kern="0" spc="-80" dirty="0">
                <a:solidFill>
                  <a:schemeClr val="accent2"/>
                </a:solidFill>
              </a:rPr>
              <a:t>)</a:t>
            </a:r>
          </a:p>
          <a:p>
            <a:r>
              <a:rPr lang="en-US" sz="1500" kern="0" spc="-80" dirty="0">
                <a:solidFill>
                  <a:schemeClr val="accent6"/>
                </a:solidFill>
              </a:rPr>
              <a:t>Validators are pre-approved authorities.</a:t>
            </a:r>
          </a:p>
          <a:p>
            <a:r>
              <a:rPr lang="en-US" sz="1500" kern="0" spc="-80" dirty="0">
                <a:solidFill>
                  <a:schemeClr val="accent6"/>
                </a:solidFill>
              </a:rPr>
              <a:t>Suitable for private blockchains with faster finality.</a:t>
            </a:r>
          </a:p>
          <a:p>
            <a:r>
              <a:rPr lang="en-US" sz="1500" kern="0" spc="-80" dirty="0">
                <a:solidFill>
                  <a:schemeClr val="accent2"/>
                </a:solidFill>
              </a:rPr>
              <a:t>6.2 Hybrid Consensus</a:t>
            </a:r>
          </a:p>
          <a:p>
            <a:r>
              <a:rPr lang="en-US" sz="1500" kern="0" spc="-80" dirty="0">
                <a:solidFill>
                  <a:schemeClr val="accent6"/>
                </a:solidFill>
              </a:rPr>
              <a:t>Combines PoW + </a:t>
            </a:r>
            <a:r>
              <a:rPr lang="en-US" sz="1500" kern="0" spc="-80" dirty="0" err="1">
                <a:solidFill>
                  <a:schemeClr val="accent6"/>
                </a:solidFill>
              </a:rPr>
              <a:t>PoS</a:t>
            </a:r>
            <a:r>
              <a:rPr lang="en-US" sz="1500" kern="0" spc="-80" dirty="0">
                <a:solidFill>
                  <a:schemeClr val="accent6"/>
                </a:solidFill>
              </a:rPr>
              <a:t> or other mechanisms.</a:t>
            </a:r>
          </a:p>
          <a:p>
            <a:r>
              <a:rPr lang="en-US" sz="1500" kern="0" spc="-80" dirty="0">
                <a:solidFill>
                  <a:schemeClr val="accent2"/>
                </a:solidFill>
              </a:rPr>
              <a:t>Example: </a:t>
            </a:r>
            <a:r>
              <a:rPr lang="en-US" sz="1500" kern="0" spc="-80" dirty="0" err="1">
                <a:solidFill>
                  <a:schemeClr val="accent6"/>
                </a:solidFill>
              </a:rPr>
              <a:t>Decred</a:t>
            </a:r>
            <a:r>
              <a:rPr lang="en-US" sz="1500" kern="0" spc="-80" dirty="0">
                <a:solidFill>
                  <a:schemeClr val="accent6"/>
                </a:solidFill>
              </a:rPr>
              <a:t> uses PoW + </a:t>
            </a:r>
            <a:r>
              <a:rPr lang="en-US" sz="1500" kern="0" spc="-80" dirty="0" err="1">
                <a:solidFill>
                  <a:schemeClr val="accent6"/>
                </a:solidFill>
              </a:rPr>
              <a:t>PoS</a:t>
            </a:r>
            <a:r>
              <a:rPr lang="en-US" sz="1500" kern="0" spc="-80" dirty="0">
                <a:solidFill>
                  <a:schemeClr val="accent6"/>
                </a:solidFill>
              </a:rPr>
              <a:t> for governance and security.</a:t>
            </a:r>
          </a:p>
          <a:p>
            <a:r>
              <a:rPr lang="en-US" sz="1500" kern="0" spc="-80" dirty="0">
                <a:solidFill>
                  <a:schemeClr val="accent2"/>
                </a:solidFill>
              </a:rPr>
              <a:t>6.3 DAG (Directed Acyclic Graph)</a:t>
            </a:r>
          </a:p>
          <a:p>
            <a:r>
              <a:rPr lang="en-US" sz="1500" kern="0" spc="-80" dirty="0">
                <a:solidFill>
                  <a:schemeClr val="accent6"/>
                </a:solidFill>
              </a:rPr>
              <a:t>Instead of a chain, transactions form a graph structure.</a:t>
            </a:r>
          </a:p>
          <a:p>
            <a:r>
              <a:rPr lang="en-US" sz="1500" kern="0" spc="-80" dirty="0">
                <a:solidFill>
                  <a:schemeClr val="accent6"/>
                </a:solidFill>
              </a:rPr>
              <a:t>Enables parallel validation (IOTA, Hedera </a:t>
            </a:r>
            <a:r>
              <a:rPr lang="en-US" sz="1500" kern="0" spc="-80" dirty="0" err="1">
                <a:solidFill>
                  <a:schemeClr val="accent6"/>
                </a:solidFill>
              </a:rPr>
              <a:t>Hashgraph</a:t>
            </a:r>
            <a:r>
              <a:rPr lang="en-US" sz="1500" kern="0" spc="-80" dirty="0">
                <a:solidFill>
                  <a:schemeClr val="accent6"/>
                </a:solidFill>
              </a:rPr>
              <a:t>).</a:t>
            </a:r>
          </a:p>
          <a:p>
            <a:endParaRPr lang="en-US" sz="1500" kern="0" spc="-80" dirty="0">
              <a:solidFill>
                <a:schemeClr val="accent6"/>
              </a:solidFill>
            </a:endParaRPr>
          </a:p>
          <a:p>
            <a:r>
              <a:rPr lang="en-US" sz="1500" kern="0" spc="-80" dirty="0">
                <a:solidFill>
                  <a:schemeClr val="accent2"/>
                </a:solidFill>
              </a:rPr>
              <a:t>7. Tokenization of Assets</a:t>
            </a:r>
          </a:p>
          <a:p>
            <a:r>
              <a:rPr lang="en-US" sz="1500" kern="0" spc="-80" dirty="0">
                <a:solidFill>
                  <a:schemeClr val="accent6"/>
                </a:solidFill>
              </a:rPr>
              <a:t>Physical and digital assets can be represented as blockchain tokens.</a:t>
            </a:r>
          </a:p>
          <a:p>
            <a:r>
              <a:rPr lang="en-US" sz="1500" kern="0" spc="-80" dirty="0">
                <a:solidFill>
                  <a:schemeClr val="accent2"/>
                </a:solidFill>
              </a:rPr>
              <a:t>Example: </a:t>
            </a:r>
            <a:r>
              <a:rPr lang="en-US" sz="1500" kern="0" spc="-80" dirty="0">
                <a:solidFill>
                  <a:schemeClr val="accent6"/>
                </a:solidFill>
              </a:rPr>
              <a:t>Real estate, art, and commodities.</a:t>
            </a:r>
          </a:p>
        </p:txBody>
      </p:sp>
    </p:spTree>
    <p:extLst>
      <p:ext uri="{BB962C8B-B14F-4D97-AF65-F5344CB8AC3E}">
        <p14:creationId xmlns:p14="http://schemas.microsoft.com/office/powerpoint/2010/main" val="2500073305"/>
      </p:ext>
    </p:extLst>
  </p:cSld>
  <p:clrMapOvr>
    <a:masterClrMapping/>
  </p:clrMapOvr>
</p:sld>
</file>

<file path=ppt/slides/slide5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9FFB7-56AE-8250-7A82-674020F3850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7B3AC78-C6EC-6C27-47F2-01B640EE32EE}"/>
              </a:ext>
            </a:extLst>
          </p:cNvPr>
          <p:cNvSpPr/>
          <p:nvPr/>
        </p:nvSpPr>
        <p:spPr>
          <a:xfrm>
            <a:off x="1726565" y="112321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35FBDDD-E753-319C-5936-AB5A1656B72C}"/>
              </a:ext>
            </a:extLst>
          </p:cNvPr>
          <p:cNvSpPr/>
          <p:nvPr/>
        </p:nvSpPr>
        <p:spPr>
          <a:xfrm>
            <a:off x="1726565" y="9513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05F2045-022A-8871-CDE9-7F947FBBADC8}"/>
              </a:ext>
            </a:extLst>
          </p:cNvPr>
          <p:cNvGraphicFramePr/>
          <p:nvPr/>
        </p:nvGraphicFramePr>
        <p:xfrm>
          <a:off x="0" y="101997"/>
          <a:ext cx="9144000" cy="818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ED53441F-3E2D-ECFE-D11D-C3B382E27B1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FA62EE3-F5D9-FF9F-1F02-F0663A3D0DA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5136B43A-7D20-C4B9-D480-443016980DA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470EC29B-4DAF-5354-8C63-6463F2FE2A0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FEFC3D07-3287-871A-54C2-4D57F23528CC}"/>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0" name="object 2">
            <a:extLst>
              <a:ext uri="{FF2B5EF4-FFF2-40B4-BE49-F238E27FC236}">
                <a16:creationId xmlns:a16="http://schemas.microsoft.com/office/drawing/2014/main" id="{E97421B1-69D8-ECAD-6E96-272FCA07E8A7}"/>
              </a:ext>
            </a:extLst>
          </p:cNvPr>
          <p:cNvSpPr txBox="1">
            <a:spLocks/>
          </p:cNvSpPr>
          <p:nvPr/>
        </p:nvSpPr>
        <p:spPr>
          <a:xfrm>
            <a:off x="145230" y="1236883"/>
            <a:ext cx="8624937" cy="468589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950" kern="0" spc="-80" dirty="0">
                <a:solidFill>
                  <a:schemeClr val="accent2"/>
                </a:solidFill>
              </a:rPr>
              <a:t>Advanced Concepts</a:t>
            </a:r>
          </a:p>
          <a:p>
            <a:r>
              <a:rPr lang="en-US" sz="1500" kern="0" spc="-80" dirty="0">
                <a:solidFill>
                  <a:schemeClr val="accent2"/>
                </a:solidFill>
              </a:rPr>
              <a:t>7.1 Security Tokens</a:t>
            </a:r>
          </a:p>
          <a:p>
            <a:r>
              <a:rPr lang="en-US" sz="1500" kern="0" spc="-80" dirty="0">
                <a:solidFill>
                  <a:schemeClr val="accent6"/>
                </a:solidFill>
              </a:rPr>
              <a:t>Represent ownership in an asset.</a:t>
            </a:r>
          </a:p>
          <a:p>
            <a:r>
              <a:rPr lang="en-US" sz="1500" kern="0" spc="-80" dirty="0">
                <a:solidFill>
                  <a:schemeClr val="accent6"/>
                </a:solidFill>
              </a:rPr>
              <a:t>Regulated and compliant with securities laws.</a:t>
            </a:r>
          </a:p>
          <a:p>
            <a:r>
              <a:rPr lang="en-US" sz="1500" kern="0" spc="-80" dirty="0">
                <a:solidFill>
                  <a:schemeClr val="accent2"/>
                </a:solidFill>
              </a:rPr>
              <a:t>7.2 Non-Fungible Tokens (NFTs)</a:t>
            </a:r>
          </a:p>
          <a:p>
            <a:r>
              <a:rPr lang="en-US" sz="1500" kern="0" spc="-80" dirty="0">
                <a:solidFill>
                  <a:schemeClr val="accent6"/>
                </a:solidFill>
              </a:rPr>
              <a:t>Unique tokens representing digital collectibles or intellectual property.</a:t>
            </a:r>
          </a:p>
          <a:p>
            <a:r>
              <a:rPr lang="en-US" sz="1500" kern="0" spc="-80" dirty="0">
                <a:solidFill>
                  <a:schemeClr val="accent2"/>
                </a:solidFill>
              </a:rPr>
              <a:t>7.3 Programmable Money</a:t>
            </a:r>
          </a:p>
          <a:p>
            <a:r>
              <a:rPr lang="en-US" sz="1500" kern="0" spc="-80" dirty="0">
                <a:solidFill>
                  <a:schemeClr val="accent6"/>
                </a:solidFill>
              </a:rPr>
              <a:t>Smart contracts allow conditional payment flows (DeFi, staking rewards).</a:t>
            </a:r>
          </a:p>
          <a:p>
            <a:endParaRPr lang="en-US" sz="1500" kern="0" spc="-80" dirty="0">
              <a:solidFill>
                <a:schemeClr val="accent6"/>
              </a:solidFill>
            </a:endParaRPr>
          </a:p>
          <a:p>
            <a:r>
              <a:rPr lang="en-US" sz="1500" kern="0" spc="-80" dirty="0">
                <a:solidFill>
                  <a:schemeClr val="accent2"/>
                </a:solidFill>
              </a:rPr>
              <a:t>8. Oracles</a:t>
            </a:r>
          </a:p>
          <a:p>
            <a:r>
              <a:rPr lang="en-US" sz="1500" kern="0" spc="-80" dirty="0">
                <a:solidFill>
                  <a:schemeClr val="accent6"/>
                </a:solidFill>
              </a:rPr>
              <a:t>Bridge off-chain data to on-chain smart contracts.</a:t>
            </a:r>
          </a:p>
          <a:p>
            <a:r>
              <a:rPr lang="en-US" sz="1500" kern="0" spc="-80" dirty="0">
                <a:solidFill>
                  <a:schemeClr val="accent2"/>
                </a:solidFill>
              </a:rPr>
              <a:t>Example: </a:t>
            </a:r>
            <a:r>
              <a:rPr lang="en-US" sz="1500" kern="0" spc="-80" dirty="0" err="1">
                <a:solidFill>
                  <a:schemeClr val="accent6"/>
                </a:solidFill>
              </a:rPr>
              <a:t>Chainlink</a:t>
            </a:r>
            <a:r>
              <a:rPr lang="en-US" sz="1500" kern="0" spc="-80" dirty="0">
                <a:solidFill>
                  <a:schemeClr val="accent6"/>
                </a:solidFill>
              </a:rPr>
              <a:t> provides verified external data feeds.</a:t>
            </a:r>
          </a:p>
          <a:p>
            <a:r>
              <a:rPr lang="en-US" sz="1500" kern="0" spc="-80" dirty="0">
                <a:solidFill>
                  <a:schemeClr val="accent2"/>
                </a:solidFill>
              </a:rPr>
              <a:t>Types:</a:t>
            </a:r>
          </a:p>
          <a:p>
            <a:r>
              <a:rPr lang="en-US" sz="1500" kern="0" spc="-80" dirty="0">
                <a:solidFill>
                  <a:schemeClr val="accent2"/>
                </a:solidFill>
              </a:rPr>
              <a:t>Inbound Oracles: </a:t>
            </a:r>
            <a:r>
              <a:rPr lang="en-US" sz="1500" kern="0" spc="-80" dirty="0">
                <a:solidFill>
                  <a:schemeClr val="accent6"/>
                </a:solidFill>
              </a:rPr>
              <a:t>Bring external data (stock price, weather).</a:t>
            </a:r>
          </a:p>
          <a:p>
            <a:r>
              <a:rPr lang="en-US" sz="1500" kern="0" spc="-80" dirty="0">
                <a:solidFill>
                  <a:schemeClr val="accent2"/>
                </a:solidFill>
              </a:rPr>
              <a:t>Outbound Oracles: </a:t>
            </a:r>
            <a:r>
              <a:rPr lang="en-US" sz="1500" kern="0" spc="-80" dirty="0">
                <a:solidFill>
                  <a:schemeClr val="accent6"/>
                </a:solidFill>
              </a:rPr>
              <a:t>Send blockchain data to external systems.</a:t>
            </a:r>
          </a:p>
          <a:p>
            <a:endParaRPr lang="en-US" sz="1500" kern="0" spc="-80" dirty="0">
              <a:solidFill>
                <a:schemeClr val="accent6"/>
              </a:solidFill>
            </a:endParaRPr>
          </a:p>
          <a:p>
            <a:r>
              <a:rPr lang="en-US" sz="1500" kern="0" spc="-80" dirty="0">
                <a:solidFill>
                  <a:schemeClr val="accent2"/>
                </a:solidFill>
              </a:rPr>
              <a:t>9. Advanced Blockchain Architectures</a:t>
            </a:r>
          </a:p>
          <a:p>
            <a:r>
              <a:rPr lang="en-US" sz="1500" kern="0" spc="-80" dirty="0">
                <a:solidFill>
                  <a:schemeClr val="accent2"/>
                </a:solidFill>
              </a:rPr>
              <a:t>9.1 Multi-chain Ecosystems</a:t>
            </a:r>
          </a:p>
          <a:p>
            <a:r>
              <a:rPr lang="en-US" sz="1500" kern="0" spc="-80" dirty="0">
                <a:solidFill>
                  <a:schemeClr val="accent2"/>
                </a:solidFill>
              </a:rPr>
              <a:t>Example: </a:t>
            </a:r>
            <a:r>
              <a:rPr lang="en-US" sz="1500" kern="0" spc="-80" dirty="0" err="1">
                <a:solidFill>
                  <a:schemeClr val="accent6"/>
                </a:solidFill>
              </a:rPr>
              <a:t>Polkadot</a:t>
            </a:r>
            <a:r>
              <a:rPr lang="en-US" sz="1500" kern="0" spc="-80" dirty="0">
                <a:solidFill>
                  <a:schemeClr val="accent6"/>
                </a:solidFill>
              </a:rPr>
              <a:t> (relay chain + </a:t>
            </a:r>
            <a:r>
              <a:rPr lang="en-US" sz="1500" kern="0" spc="-80" dirty="0" err="1">
                <a:solidFill>
                  <a:schemeClr val="accent6"/>
                </a:solidFill>
              </a:rPr>
              <a:t>parachains</a:t>
            </a:r>
            <a:r>
              <a:rPr lang="en-US" sz="1500" kern="0" spc="-80" dirty="0">
                <a:solidFill>
                  <a:schemeClr val="accent6"/>
                </a:solidFill>
              </a:rPr>
              <a:t>) and Cosmos (hub + zones).</a:t>
            </a:r>
          </a:p>
          <a:p>
            <a:r>
              <a:rPr lang="en-US" sz="1500" kern="0" spc="-80" dirty="0">
                <a:solidFill>
                  <a:schemeClr val="accent6"/>
                </a:solidFill>
              </a:rPr>
              <a:t>Enable scalable, interoperable ecosystems.</a:t>
            </a:r>
          </a:p>
        </p:txBody>
      </p:sp>
    </p:spTree>
    <p:extLst>
      <p:ext uri="{BB962C8B-B14F-4D97-AF65-F5344CB8AC3E}">
        <p14:creationId xmlns:p14="http://schemas.microsoft.com/office/powerpoint/2010/main" val="2157636419"/>
      </p:ext>
    </p:extLst>
  </p:cSld>
  <p:clrMapOvr>
    <a:masterClrMapping/>
  </p:clrMapOvr>
</p:sld>
</file>

<file path=ppt/slides/slide5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50F7-6638-3291-04BB-5403BA032C2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2412694-05DD-195B-7DBB-D6B4352A27A8}"/>
              </a:ext>
            </a:extLst>
          </p:cNvPr>
          <p:cNvSpPr/>
          <p:nvPr/>
        </p:nvSpPr>
        <p:spPr>
          <a:xfrm>
            <a:off x="1726565" y="112321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E4F700F-BBDD-B207-744C-8B3EC1473856}"/>
              </a:ext>
            </a:extLst>
          </p:cNvPr>
          <p:cNvSpPr/>
          <p:nvPr/>
        </p:nvSpPr>
        <p:spPr>
          <a:xfrm>
            <a:off x="1726565" y="9513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510BD3B-21A5-3A2A-A68B-182F87B024D7}"/>
              </a:ext>
            </a:extLst>
          </p:cNvPr>
          <p:cNvGraphicFramePr/>
          <p:nvPr/>
        </p:nvGraphicFramePr>
        <p:xfrm>
          <a:off x="0" y="101997"/>
          <a:ext cx="9144000" cy="818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6237E61A-F7A6-7DA8-8296-C48E5083B72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28F81FD6-3B11-B657-E30B-1D2EC8F241C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CE6DFF4-699A-B406-F539-B0485D2C852D}"/>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DD4F2009-0D3C-85C8-E28F-4D909686620A}"/>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DFB30D5A-ABCB-C8E4-4EBF-2FFABA094C1D}"/>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0" name="object 2">
            <a:extLst>
              <a:ext uri="{FF2B5EF4-FFF2-40B4-BE49-F238E27FC236}">
                <a16:creationId xmlns:a16="http://schemas.microsoft.com/office/drawing/2014/main" id="{9880DCDE-2486-812C-5D10-D93FDE0BE204}"/>
              </a:ext>
            </a:extLst>
          </p:cNvPr>
          <p:cNvSpPr txBox="1">
            <a:spLocks/>
          </p:cNvSpPr>
          <p:nvPr/>
        </p:nvSpPr>
        <p:spPr>
          <a:xfrm>
            <a:off x="145230" y="1236883"/>
            <a:ext cx="8624937" cy="33009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950" kern="0" spc="-80" dirty="0">
                <a:solidFill>
                  <a:schemeClr val="accent2"/>
                </a:solidFill>
              </a:rPr>
              <a:t>Advanced Concepts</a:t>
            </a:r>
          </a:p>
          <a:p>
            <a:r>
              <a:rPr lang="en-US" sz="1500" kern="0" spc="-80" dirty="0">
                <a:solidFill>
                  <a:schemeClr val="accent2"/>
                </a:solidFill>
              </a:rPr>
              <a:t>9.2 Sidechains</a:t>
            </a:r>
          </a:p>
          <a:p>
            <a:r>
              <a:rPr lang="en-US" sz="1500" kern="0" spc="-80" dirty="0">
                <a:solidFill>
                  <a:schemeClr val="accent6"/>
                </a:solidFill>
              </a:rPr>
              <a:t>Separate blockchain attached to the main chain.</a:t>
            </a:r>
          </a:p>
          <a:p>
            <a:r>
              <a:rPr lang="en-US" sz="1500" kern="0" spc="-80" dirty="0">
                <a:solidFill>
                  <a:schemeClr val="accent6"/>
                </a:solidFill>
              </a:rPr>
              <a:t>Can handle specialized workloads or experimentation.</a:t>
            </a:r>
          </a:p>
          <a:p>
            <a:r>
              <a:rPr lang="en-US" sz="1500" kern="0" spc="-80" dirty="0">
                <a:solidFill>
                  <a:schemeClr val="accent2"/>
                </a:solidFill>
              </a:rPr>
              <a:t>9.3 Hybrid Blockchains</a:t>
            </a:r>
          </a:p>
          <a:p>
            <a:r>
              <a:rPr lang="en-US" sz="1500" kern="0" spc="-80" dirty="0">
                <a:solidFill>
                  <a:schemeClr val="accent6"/>
                </a:solidFill>
              </a:rPr>
              <a:t>Combine public transparency and private control.</a:t>
            </a:r>
          </a:p>
          <a:p>
            <a:r>
              <a:rPr lang="en-US" sz="1500" kern="0" spc="-80" dirty="0">
                <a:solidFill>
                  <a:schemeClr val="accent2"/>
                </a:solidFill>
              </a:rPr>
              <a:t>Example:</a:t>
            </a:r>
            <a:r>
              <a:rPr lang="en-US" sz="1500" kern="0" spc="-80" dirty="0">
                <a:solidFill>
                  <a:schemeClr val="accent6"/>
                </a:solidFill>
              </a:rPr>
              <a:t> Enterprises using private chains but settling assets on public chains.</a:t>
            </a:r>
          </a:p>
          <a:p>
            <a:endParaRPr lang="en-US" sz="1500" kern="0" spc="-80" dirty="0">
              <a:solidFill>
                <a:schemeClr val="accent6"/>
              </a:solidFill>
            </a:endParaRPr>
          </a:p>
          <a:p>
            <a:r>
              <a:rPr lang="en-US" sz="1500" kern="0" spc="-80" dirty="0">
                <a:solidFill>
                  <a:schemeClr val="accent2"/>
                </a:solidFill>
              </a:rPr>
              <a:t>10. Emerging Trends</a:t>
            </a:r>
          </a:p>
          <a:p>
            <a:r>
              <a:rPr lang="en-US" sz="1500" kern="0" spc="-80" dirty="0">
                <a:solidFill>
                  <a:schemeClr val="accent2"/>
                </a:solidFill>
              </a:rPr>
              <a:t>Self-sovereign identity (SSI): </a:t>
            </a:r>
            <a:r>
              <a:rPr lang="en-US" sz="1500" kern="0" spc="-80" dirty="0">
                <a:solidFill>
                  <a:schemeClr val="accent6"/>
                </a:solidFill>
              </a:rPr>
              <a:t>Users control their identity data on blockchain.</a:t>
            </a:r>
          </a:p>
          <a:p>
            <a:r>
              <a:rPr lang="en-US" sz="1500" kern="0" spc="-80" dirty="0">
                <a:solidFill>
                  <a:schemeClr val="accent2"/>
                </a:solidFill>
              </a:rPr>
              <a:t>Decentralized Finance (DeFi) 2.0: </a:t>
            </a:r>
            <a:r>
              <a:rPr lang="en-US" sz="1500" kern="0" spc="-80" dirty="0">
                <a:solidFill>
                  <a:schemeClr val="accent6"/>
                </a:solidFill>
              </a:rPr>
              <a:t>Advanced lending, liquidity pools, and insurance protocols.</a:t>
            </a:r>
          </a:p>
          <a:p>
            <a:r>
              <a:rPr lang="en-US" sz="1500" kern="0" spc="-80" dirty="0">
                <a:solidFill>
                  <a:schemeClr val="accent2"/>
                </a:solidFill>
              </a:rPr>
              <a:t>Blockchain for AI &amp; IoT: </a:t>
            </a:r>
            <a:r>
              <a:rPr lang="en-US" sz="1500" kern="0" spc="-80" dirty="0">
                <a:solidFill>
                  <a:schemeClr val="accent6"/>
                </a:solidFill>
              </a:rPr>
              <a:t>Secure, decentralized data sharing.</a:t>
            </a:r>
          </a:p>
          <a:p>
            <a:r>
              <a:rPr lang="en-US" sz="1500" kern="0" spc="-80" dirty="0">
                <a:solidFill>
                  <a:schemeClr val="accent2"/>
                </a:solidFill>
              </a:rPr>
              <a:t>Tokenized governance &amp; social impact: </a:t>
            </a:r>
            <a:r>
              <a:rPr lang="en-US" sz="1500" kern="0" spc="-80" dirty="0">
                <a:solidFill>
                  <a:schemeClr val="accent6"/>
                </a:solidFill>
              </a:rPr>
              <a:t>Blockchain-based voting, carbon credits, and ESG tracking.</a:t>
            </a:r>
          </a:p>
        </p:txBody>
      </p:sp>
    </p:spTree>
    <p:extLst>
      <p:ext uri="{BB962C8B-B14F-4D97-AF65-F5344CB8AC3E}">
        <p14:creationId xmlns:p14="http://schemas.microsoft.com/office/powerpoint/2010/main" val="3990986288"/>
      </p:ext>
    </p:extLst>
  </p:cSld>
  <p:clrMapOvr>
    <a:masterClrMapping/>
  </p:clrMapOvr>
</p:sld>
</file>

<file path=ppt/slides/slide5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84F54-D130-193C-F823-39DFF62D6B5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04AF21D7-6968-AEAB-943A-B05FC1346449}"/>
              </a:ext>
            </a:extLst>
          </p:cNvPr>
          <p:cNvSpPr/>
          <p:nvPr/>
        </p:nvSpPr>
        <p:spPr>
          <a:xfrm>
            <a:off x="1726565" y="1123219"/>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33B4735-78F6-6D2D-9511-839DA91B24C2}"/>
              </a:ext>
            </a:extLst>
          </p:cNvPr>
          <p:cNvSpPr/>
          <p:nvPr/>
        </p:nvSpPr>
        <p:spPr>
          <a:xfrm>
            <a:off x="1726565" y="951301"/>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2B401B9-01D0-F265-745A-CAD396A6745D}"/>
              </a:ext>
            </a:extLst>
          </p:cNvPr>
          <p:cNvGraphicFramePr/>
          <p:nvPr/>
        </p:nvGraphicFramePr>
        <p:xfrm>
          <a:off x="0" y="101997"/>
          <a:ext cx="9144000" cy="81835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7A16E620-3CC9-C470-A0A6-B5245B79118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C36D749-4677-7C5C-FB4B-F51B16CD525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71EE6A3-D3F8-36AF-4538-2BF6538C1CB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2C58DBE-402D-CE50-829D-C74BF788D450}"/>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0E09CBEE-95DE-CFA9-38CA-A99686A73BBE}"/>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10" name="object 2">
            <a:extLst>
              <a:ext uri="{FF2B5EF4-FFF2-40B4-BE49-F238E27FC236}">
                <a16:creationId xmlns:a16="http://schemas.microsoft.com/office/drawing/2014/main" id="{8FC2241F-1829-D251-CF28-B9FFF353CA3E}"/>
              </a:ext>
            </a:extLst>
          </p:cNvPr>
          <p:cNvSpPr txBox="1">
            <a:spLocks/>
          </p:cNvSpPr>
          <p:nvPr/>
        </p:nvSpPr>
        <p:spPr>
          <a:xfrm>
            <a:off x="145230" y="1236883"/>
            <a:ext cx="8624937" cy="24929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r>
              <a:rPr lang="en-US" sz="1800" kern="0" spc="-80" dirty="0">
                <a:solidFill>
                  <a:schemeClr val="accent2"/>
                </a:solidFill>
              </a:rPr>
              <a:t>For Further Exploration –</a:t>
            </a:r>
          </a:p>
          <a:p>
            <a:r>
              <a:rPr lang="en-IN" sz="1800" dirty="0">
                <a:hlinkClick r:id="rId8"/>
              </a:rPr>
              <a:t>Types of Blockchain - </a:t>
            </a:r>
            <a:r>
              <a:rPr lang="en-IN" sz="1800" dirty="0" err="1">
                <a:hlinkClick r:id="rId8"/>
              </a:rPr>
              <a:t>GeeksforGeeks</a:t>
            </a:r>
            <a:endParaRPr lang="en-US" sz="1800" dirty="0"/>
          </a:p>
          <a:p>
            <a:r>
              <a:rPr lang="en-US" sz="1800" dirty="0">
                <a:hlinkClick r:id="rId9"/>
              </a:rPr>
              <a:t>What is a Blockchain consensus algorithm?</a:t>
            </a:r>
            <a:r>
              <a:rPr lang="en-US" sz="1800" dirty="0"/>
              <a:t> </a:t>
            </a:r>
          </a:p>
          <a:p>
            <a:r>
              <a:rPr lang="en-US" sz="1800" dirty="0">
                <a:hlinkClick r:id="rId10"/>
              </a:rPr>
              <a:t>Evolution of blockchain consensus algorithms</a:t>
            </a:r>
            <a:endParaRPr lang="en-US" sz="1800" dirty="0"/>
          </a:p>
          <a:p>
            <a:r>
              <a:rPr lang="en-US" sz="1800" dirty="0">
                <a:hlinkClick r:id="rId11"/>
              </a:rPr>
              <a:t>Types of Digital Assets Explained with Examples and Use Cases</a:t>
            </a:r>
            <a:endParaRPr lang="en-US" sz="1800" dirty="0"/>
          </a:p>
          <a:p>
            <a:r>
              <a:rPr lang="en-US" sz="1800" dirty="0">
                <a:hlinkClick r:id="rId12"/>
              </a:rPr>
              <a:t>Blockchain Developer Roadmap</a:t>
            </a:r>
            <a:endParaRPr lang="en-US" sz="1800" dirty="0"/>
          </a:p>
          <a:p>
            <a:r>
              <a:rPr lang="en-IN" sz="1800" dirty="0">
                <a:hlinkClick r:id="rId13"/>
              </a:rPr>
              <a:t>Grokking Bitcoin</a:t>
            </a:r>
            <a:endParaRPr lang="en-IN" sz="1800" dirty="0"/>
          </a:p>
          <a:p>
            <a:r>
              <a:rPr lang="en-US" sz="1800" dirty="0">
                <a:hlinkClick r:id="rId14"/>
              </a:rPr>
              <a:t>Blockchain Applications: A Hands-On Approach</a:t>
            </a:r>
            <a:endParaRPr lang="en-US" sz="1800" dirty="0"/>
          </a:p>
          <a:p>
            <a:r>
              <a:rPr lang="en-US" sz="1800" dirty="0">
                <a:hlinkClick r:id="rId15"/>
              </a:rPr>
              <a:t>Mastering-Blockchain</a:t>
            </a:r>
            <a:endParaRPr lang="en-US" sz="1800" dirty="0"/>
          </a:p>
        </p:txBody>
      </p:sp>
    </p:spTree>
    <p:extLst>
      <p:ext uri="{BB962C8B-B14F-4D97-AF65-F5344CB8AC3E}">
        <p14:creationId xmlns:p14="http://schemas.microsoft.com/office/powerpoint/2010/main" val="121116735"/>
      </p:ext>
    </p:extLst>
  </p:cSld>
  <p:clrMapOvr>
    <a:masterClrMapping/>
  </p:clrMapOvr>
</p:sld>
</file>

<file path=ppt/slides/slide5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893C3-4C04-A7DF-F534-2E62FA95AAD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AC3DECB-CAAE-2ECC-3820-8BDA489A28E1}"/>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67C2933-0CA6-CCFA-31D4-B8DB7FB62A8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B8EF9BD-117F-52EB-8A68-600A133D3529}"/>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8FDBAC1-76CE-E4C4-9A29-57568EF14F3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5D6116AB-6CF9-C7F2-B5F0-7209E3C110D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BEE7FB5-C6D4-D729-B125-9A761CC053F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6308BCD-1A3F-533E-1E87-0253A5F35FE1}"/>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5A3A9A5F-594D-817F-4895-5087B2A0C6E3}"/>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28863FFD-6997-DC0D-5892-D8C1567BFD85}"/>
              </a:ext>
            </a:extLst>
          </p:cNvPr>
          <p:cNvSpPr txBox="1">
            <a:spLocks/>
          </p:cNvSpPr>
          <p:nvPr/>
        </p:nvSpPr>
        <p:spPr>
          <a:xfrm>
            <a:off x="228600" y="2080498"/>
            <a:ext cx="8624937" cy="233910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A Note Before Starting Anything Further</a:t>
            </a:r>
          </a:p>
          <a:p>
            <a:pPr marL="12700" marR="5080"/>
            <a:r>
              <a:rPr lang="en-US" sz="1950" kern="0" spc="-80" dirty="0">
                <a:solidFill>
                  <a:schemeClr val="accent6"/>
                </a:solidFill>
              </a:rPr>
              <a:t>The slides going forward will be showing the big picture landscape of Location Apps and will not go into details of each relevant Distributed Systems/Computing concepts and rather things are more at the domain level and at very high level but still have been put in this deck since this can be an exercise for the reader on where and how Distributed Systems/Computing concepts/techniques </a:t>
            </a:r>
            <a:r>
              <a:rPr lang="en-US" sz="1950" kern="0" spc="-80" dirty="0" err="1">
                <a:solidFill>
                  <a:schemeClr val="accent6"/>
                </a:solidFill>
              </a:rPr>
              <a:t>etc</a:t>
            </a:r>
            <a:r>
              <a:rPr lang="en-US" sz="1950" kern="0" spc="-80" dirty="0">
                <a:solidFill>
                  <a:schemeClr val="accent6"/>
                </a:solidFill>
              </a:rPr>
              <a:t> can </a:t>
            </a:r>
            <a:r>
              <a:rPr lang="en-US" sz="1950" kern="0" spc="-80">
                <a:solidFill>
                  <a:schemeClr val="accent6"/>
                </a:solidFill>
              </a:rPr>
              <a:t>be used.</a:t>
            </a:r>
            <a:endParaRPr lang="en-US" sz="1950" kern="0" spc="-80" dirty="0">
              <a:solidFill>
                <a:schemeClr val="accent6"/>
              </a:solidFill>
            </a:endParaRPr>
          </a:p>
          <a:p>
            <a:pPr marL="12700" marR="5080"/>
            <a:r>
              <a:rPr lang="en-US" sz="1600" kern="0" spc="-80" dirty="0">
                <a:solidFill>
                  <a:schemeClr val="accent6"/>
                </a:solidFill>
              </a:rPr>
              <a:t>         </a:t>
            </a:r>
            <a:endParaRPr lang="en-US" sz="1500" kern="0" spc="-80" dirty="0">
              <a:solidFill>
                <a:schemeClr val="accent6"/>
              </a:solidFill>
            </a:endParaRPr>
          </a:p>
        </p:txBody>
      </p:sp>
    </p:spTree>
    <p:extLst>
      <p:ext uri="{BB962C8B-B14F-4D97-AF65-F5344CB8AC3E}">
        <p14:creationId xmlns:p14="http://schemas.microsoft.com/office/powerpoint/2010/main" val="3222255572"/>
      </p:ext>
    </p:extLst>
  </p:cSld>
  <p:clrMapOvr>
    <a:masterClrMapping/>
  </p:clrMapOvr>
</p:sld>
</file>

<file path=ppt/slides/slide5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B19A4-63D4-9825-5CB4-35B25AAED4C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1E3364A-654C-5B5A-8B08-21E85C158B9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A6945C1-EC3B-C8DE-561A-C7B6AEC7EF4C}"/>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04FF321-4B93-B719-7292-72F55ABD86BC}"/>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1DDDABD-32B9-AD5E-9BAE-3DA6AA70951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D3B2921-B3D6-1FB7-31E1-C8942F6A20D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87679B4-8793-FAED-CF07-DABFC865BDE6}"/>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A928AC38-6C86-7AF9-7759-7A1138E35FE2}"/>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B5E19A72-CDC8-9443-1A3E-A87A6F2F3990}"/>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D902AD72-AEA7-F41A-1BC5-9287A0DAD7D7}"/>
              </a:ext>
            </a:extLst>
          </p:cNvPr>
          <p:cNvSpPr txBox="1">
            <a:spLocks/>
          </p:cNvSpPr>
          <p:nvPr/>
        </p:nvSpPr>
        <p:spPr>
          <a:xfrm>
            <a:off x="228600" y="762000"/>
            <a:ext cx="8624937" cy="550920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The Big Picture</a:t>
            </a:r>
          </a:p>
          <a:p>
            <a:pPr marL="12700" marR="5080"/>
            <a:r>
              <a:rPr lang="en-US" sz="1900" kern="0" spc="-80" dirty="0">
                <a:solidFill>
                  <a:schemeClr val="accent6"/>
                </a:solidFill>
              </a:rPr>
              <a:t>    </a:t>
            </a:r>
            <a:r>
              <a:rPr lang="en-US" sz="1500" kern="0" spc="-80" dirty="0">
                <a:solidFill>
                  <a:schemeClr val="accent6"/>
                </a:solidFill>
              </a:rPr>
              <a:t>Earth (Reality)</a:t>
            </a:r>
          </a:p>
          <a:p>
            <a:pPr marL="12700" marR="5080"/>
            <a:r>
              <a:rPr lang="en-US" sz="1500" kern="0" spc="-80" dirty="0">
                <a:solidFill>
                  <a:schemeClr val="accent6"/>
                </a:solidFill>
              </a:rPr>
              <a:t>              |</a:t>
            </a:r>
          </a:p>
          <a:p>
            <a:pPr marL="12700" marR="5080"/>
            <a:r>
              <a:rPr lang="en-US" sz="1500" kern="0" spc="-80" dirty="0">
                <a:solidFill>
                  <a:schemeClr val="accent6"/>
                </a:solidFill>
              </a:rPr>
              <a:t>              v</a:t>
            </a:r>
          </a:p>
          <a:p>
            <a:pPr marL="12700" marR="5080"/>
            <a:r>
              <a:rPr lang="en-US" sz="1500" kern="0" spc="-80" dirty="0">
                <a:solidFill>
                  <a:schemeClr val="accent6"/>
                </a:solidFill>
              </a:rPr>
              <a:t>     [Remote Sensing Sensors]</a:t>
            </a:r>
          </a:p>
          <a:p>
            <a:pPr marL="12700" marR="5080"/>
            <a:r>
              <a:rPr lang="en-US" sz="1500" kern="0" spc="-80" dirty="0">
                <a:solidFill>
                  <a:schemeClr val="accent6"/>
                </a:solidFill>
              </a:rPr>
              <a:t>      Satellites, Drones, LiDAR</a:t>
            </a:r>
          </a:p>
          <a:p>
            <a:pPr marL="12700" marR="5080"/>
            <a:r>
              <a:rPr lang="en-US" sz="1500" kern="0" spc="-80" dirty="0">
                <a:solidFill>
                  <a:schemeClr val="accent6"/>
                </a:solidFill>
              </a:rPr>
              <a:t>              |</a:t>
            </a:r>
          </a:p>
          <a:p>
            <a:pPr marL="12700" marR="5080"/>
            <a:r>
              <a:rPr lang="en-US" sz="1500" kern="0" spc="-80" dirty="0">
                <a:solidFill>
                  <a:schemeClr val="accent6"/>
                </a:solidFill>
              </a:rPr>
              <a:t>              v</a:t>
            </a:r>
          </a:p>
          <a:p>
            <a:pPr marL="12700" marR="5080"/>
            <a:r>
              <a:rPr lang="en-US" sz="1500" kern="0" spc="-80" dirty="0">
                <a:solidFill>
                  <a:schemeClr val="accent6"/>
                </a:solidFill>
              </a:rPr>
              <a:t>      Raw Imagery / Point Clouds</a:t>
            </a:r>
          </a:p>
          <a:p>
            <a:pPr marL="12700" marR="5080"/>
            <a:r>
              <a:rPr lang="en-US" sz="1500" kern="0" spc="-80" dirty="0">
                <a:solidFill>
                  <a:schemeClr val="accent6"/>
                </a:solidFill>
              </a:rPr>
              <a:t>              |</a:t>
            </a:r>
          </a:p>
          <a:p>
            <a:pPr marL="12700" marR="5080"/>
            <a:r>
              <a:rPr lang="en-US" sz="1500" kern="0" spc="-80" dirty="0">
                <a:solidFill>
                  <a:schemeClr val="accent6"/>
                </a:solidFill>
              </a:rPr>
              <a:t>              v</a:t>
            </a:r>
          </a:p>
          <a:p>
            <a:pPr marL="12700" marR="5080"/>
            <a:r>
              <a:rPr lang="en-US" sz="1500" kern="0" spc="-80" dirty="0">
                <a:solidFill>
                  <a:schemeClr val="accent6"/>
                </a:solidFill>
              </a:rPr>
              <a:t>     [Photogrammetry Engine]</a:t>
            </a:r>
          </a:p>
          <a:p>
            <a:pPr marL="12700" marR="5080"/>
            <a:r>
              <a:rPr lang="en-US" sz="1500" kern="0" spc="-80" dirty="0">
                <a:solidFill>
                  <a:schemeClr val="accent6"/>
                </a:solidFill>
              </a:rPr>
              <a:t>     </a:t>
            </a:r>
            <a:r>
              <a:rPr lang="en-US" sz="1500" kern="0" spc="-80" dirty="0" err="1">
                <a:solidFill>
                  <a:schemeClr val="accent6"/>
                </a:solidFill>
              </a:rPr>
              <a:t>Orthomosaic</a:t>
            </a:r>
            <a:r>
              <a:rPr lang="en-US" sz="1500" kern="0" spc="-80" dirty="0">
                <a:solidFill>
                  <a:schemeClr val="accent6"/>
                </a:solidFill>
              </a:rPr>
              <a:t> Maps / 3D Models / DEM</a:t>
            </a:r>
          </a:p>
          <a:p>
            <a:pPr marL="12700" marR="5080"/>
            <a:r>
              <a:rPr lang="en-US" sz="1500" kern="0" spc="-80" dirty="0">
                <a:solidFill>
                  <a:schemeClr val="accent6"/>
                </a:solidFill>
              </a:rPr>
              <a:t>              |</a:t>
            </a:r>
          </a:p>
          <a:p>
            <a:pPr marL="12700" marR="5080"/>
            <a:r>
              <a:rPr lang="en-US" sz="1500" kern="0" spc="-80" dirty="0">
                <a:solidFill>
                  <a:schemeClr val="accent6"/>
                </a:solidFill>
              </a:rPr>
              <a:t>              v</a:t>
            </a:r>
          </a:p>
          <a:p>
            <a:pPr marL="12700" marR="5080"/>
            <a:r>
              <a:rPr lang="en-US" sz="1500" kern="0" spc="-80" dirty="0">
                <a:solidFill>
                  <a:schemeClr val="accent6"/>
                </a:solidFill>
              </a:rPr>
              <a:t>           [GIS]</a:t>
            </a:r>
          </a:p>
          <a:p>
            <a:pPr marL="12700" marR="5080"/>
            <a:r>
              <a:rPr lang="en-US" sz="1500" kern="0" spc="-80" dirty="0">
                <a:solidFill>
                  <a:schemeClr val="accent6"/>
                </a:solidFill>
              </a:rPr>
              <a:t>    Data Storage | Layering | Analysis</a:t>
            </a:r>
          </a:p>
          <a:p>
            <a:pPr marL="12700" marR="5080"/>
            <a:r>
              <a:rPr lang="en-US" sz="1500" kern="0" spc="-80" dirty="0">
                <a:solidFill>
                  <a:schemeClr val="accent6"/>
                </a:solidFill>
              </a:rPr>
              <a:t>              |</a:t>
            </a:r>
          </a:p>
          <a:p>
            <a:pPr marL="12700" marR="5080"/>
            <a:r>
              <a:rPr lang="en-US" sz="1600" kern="0" spc="-80" dirty="0">
                <a:solidFill>
                  <a:schemeClr val="accent6"/>
                </a:solidFill>
              </a:rPr>
              <a:t>            v</a:t>
            </a:r>
          </a:p>
          <a:p>
            <a:pPr marL="12700" marR="5080"/>
            <a:r>
              <a:rPr lang="en-US" sz="1600" kern="0" spc="-80" dirty="0">
                <a:solidFill>
                  <a:schemeClr val="accent6"/>
                </a:solidFill>
              </a:rPr>
              <a:t>    Spatial Insights / Layers</a:t>
            </a:r>
          </a:p>
          <a:p>
            <a:pPr marL="12700" marR="5080"/>
            <a:r>
              <a:rPr lang="en-US" sz="1600" kern="0" spc="-80" dirty="0">
                <a:solidFill>
                  <a:schemeClr val="accent6"/>
                </a:solidFill>
              </a:rPr>
              <a:t>             |</a:t>
            </a:r>
          </a:p>
          <a:p>
            <a:pPr marL="12700" marR="5080"/>
            <a:r>
              <a:rPr lang="en-US" sz="1600" kern="0" spc="-80" dirty="0">
                <a:solidFill>
                  <a:schemeClr val="accent6"/>
                </a:solidFill>
              </a:rPr>
              <a:t>             v</a:t>
            </a:r>
          </a:p>
          <a:p>
            <a:pPr marL="12700" marR="5080"/>
            <a:r>
              <a:rPr lang="en-US" sz="1600" kern="0" spc="-80" dirty="0">
                <a:solidFill>
                  <a:schemeClr val="accent6"/>
                </a:solidFill>
              </a:rPr>
              <a:t>         </a:t>
            </a:r>
            <a:endParaRPr lang="en-US" sz="1500" kern="0" spc="-80" dirty="0">
              <a:solidFill>
                <a:schemeClr val="accent6"/>
              </a:solidFill>
            </a:endParaRPr>
          </a:p>
        </p:txBody>
      </p:sp>
    </p:spTree>
    <p:extLst>
      <p:ext uri="{BB962C8B-B14F-4D97-AF65-F5344CB8AC3E}">
        <p14:creationId xmlns:p14="http://schemas.microsoft.com/office/powerpoint/2010/main" val="3579776275"/>
      </p:ext>
    </p:extLst>
  </p:cSld>
  <p:clrMapOvr>
    <a:masterClrMapping/>
  </p:clrMapOvr>
</p:sld>
</file>

<file path=ppt/slides/slide5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B106E-553C-A218-0C10-5B35E83F945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6997C16-699A-BFB4-C7E2-1404AD3FD39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FE3D077-12DF-DD52-93AD-01412EBE71D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0713D03D-D84A-ADE4-D442-5165F0447AAB}"/>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4422CE6-BA18-E226-5B0E-2F02C49716C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2DF60196-87BD-380C-4F8F-B8CE5961AC3D}"/>
              </a:ext>
            </a:extLst>
          </p:cNvPr>
          <p:cNvSpPr txBox="1">
            <a:spLocks/>
          </p:cNvSpPr>
          <p:nvPr/>
        </p:nvSpPr>
        <p:spPr>
          <a:xfrm>
            <a:off x="-2555666" y="5087779"/>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9093A97-D4E7-21FF-FA95-8008F3545635}"/>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2E04E0BF-249A-9A5D-33E3-EAD7AF5402C8}"/>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CB96628B-9850-7A3A-5774-6FC966AE690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47A0D73F-646E-BE8A-04C4-D15FD01AC259}"/>
              </a:ext>
            </a:extLst>
          </p:cNvPr>
          <p:cNvSpPr txBox="1">
            <a:spLocks/>
          </p:cNvSpPr>
          <p:nvPr/>
        </p:nvSpPr>
        <p:spPr>
          <a:xfrm>
            <a:off x="228600" y="762000"/>
            <a:ext cx="8624937" cy="841768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The Big Picture</a:t>
            </a:r>
          </a:p>
          <a:p>
            <a:pPr marL="12700" marR="5080"/>
            <a:r>
              <a:rPr lang="en-US" sz="1500" kern="0" spc="-80" dirty="0">
                <a:solidFill>
                  <a:schemeClr val="accent6"/>
                </a:solidFill>
              </a:rPr>
              <a:t>              |</a:t>
            </a:r>
          </a:p>
          <a:p>
            <a:pPr marL="12700" marR="5080"/>
            <a:r>
              <a:rPr lang="en-US" sz="1500" kern="0" spc="-80" dirty="0">
                <a:solidFill>
                  <a:schemeClr val="accent6"/>
                </a:solidFill>
              </a:rPr>
              <a:t>              v</a:t>
            </a:r>
          </a:p>
          <a:p>
            <a:pPr marL="12700" marR="5080"/>
            <a:r>
              <a:rPr lang="en-US" sz="1500" kern="0" spc="-80" dirty="0">
                <a:solidFill>
                  <a:schemeClr val="accent6"/>
                </a:solidFill>
              </a:rPr>
              <a:t>   [Cartography Design]</a:t>
            </a:r>
          </a:p>
          <a:p>
            <a:pPr marL="12700" marR="5080"/>
            <a:r>
              <a:rPr lang="en-US" sz="1500" kern="0" spc="-80" dirty="0">
                <a:solidFill>
                  <a:schemeClr val="accent6"/>
                </a:solidFill>
              </a:rPr>
              <a:t>   Symbology | Colors | Labels | Legibility</a:t>
            </a:r>
          </a:p>
          <a:p>
            <a:pPr marL="12700" marR="5080"/>
            <a:r>
              <a:rPr lang="en-US" sz="1500" kern="0" spc="-80" dirty="0">
                <a:solidFill>
                  <a:schemeClr val="accent6"/>
                </a:solidFill>
              </a:rPr>
              <a:t>              |</a:t>
            </a:r>
          </a:p>
          <a:p>
            <a:pPr marL="12700" marR="5080"/>
            <a:r>
              <a:rPr lang="en-US" sz="1500" kern="0" spc="-80" dirty="0">
                <a:solidFill>
                  <a:schemeClr val="accent6"/>
                </a:solidFill>
              </a:rPr>
              <a:t>              v</a:t>
            </a:r>
          </a:p>
          <a:p>
            <a:pPr marL="12700" marR="5080"/>
            <a:r>
              <a:rPr lang="en-US" sz="1500" kern="0" spc="-80" dirty="0">
                <a:solidFill>
                  <a:schemeClr val="accent6"/>
                </a:solidFill>
              </a:rPr>
              <a:t>  Ready-to-use Maps</a:t>
            </a:r>
          </a:p>
          <a:p>
            <a:pPr marL="12700" marR="5080"/>
            <a:r>
              <a:rPr lang="en-US" sz="1500" kern="0" spc="-80" dirty="0">
                <a:solidFill>
                  <a:schemeClr val="accent6"/>
                </a:solidFill>
              </a:rPr>
              <a:t>              |</a:t>
            </a:r>
          </a:p>
          <a:p>
            <a:pPr marL="12700" marR="5080"/>
            <a:r>
              <a:rPr lang="en-US" sz="1500" kern="0" spc="-80" dirty="0">
                <a:solidFill>
                  <a:schemeClr val="accent6"/>
                </a:solidFill>
              </a:rPr>
              <a:t>              v</a:t>
            </a:r>
          </a:p>
          <a:p>
            <a:pPr marL="12700" marR="5080"/>
            <a:r>
              <a:rPr lang="en-US" sz="1500" kern="0" spc="-80" dirty="0">
                <a:solidFill>
                  <a:schemeClr val="accent6"/>
                </a:solidFill>
              </a:rPr>
              <a:t>   [Location Services Engine]</a:t>
            </a:r>
          </a:p>
          <a:p>
            <a:pPr marL="12700" marR="5080"/>
            <a:r>
              <a:rPr lang="en-US" sz="1500" kern="0" spc="-80" dirty="0">
                <a:solidFill>
                  <a:schemeClr val="accent6"/>
                </a:solidFill>
              </a:rPr>
              <a:t>   GPS + Wi-Fi + Network Positioning</a:t>
            </a:r>
          </a:p>
          <a:p>
            <a:pPr marL="12700" marR="5080"/>
            <a:r>
              <a:rPr lang="en-US" sz="1500" kern="0" spc="-80" dirty="0">
                <a:solidFill>
                  <a:schemeClr val="accent6"/>
                </a:solidFill>
              </a:rPr>
              <a:t>              |</a:t>
            </a:r>
          </a:p>
          <a:p>
            <a:pPr marL="12700" marR="5080"/>
            <a:r>
              <a:rPr lang="en-US" sz="1500" kern="0" spc="-80" dirty="0">
                <a:solidFill>
                  <a:schemeClr val="accent6"/>
                </a:solidFill>
              </a:rPr>
              <a:t>              v</a:t>
            </a:r>
          </a:p>
          <a:p>
            <a:pPr marL="12700" marR="5080"/>
            <a:r>
              <a:rPr lang="en-US" sz="1500" kern="0" spc="-80" dirty="0">
                <a:solidFill>
                  <a:schemeClr val="accent6"/>
                </a:solidFill>
              </a:rPr>
              <a:t>   User Position + Routes</a:t>
            </a:r>
          </a:p>
          <a:p>
            <a:pPr marL="12700" marR="5080"/>
            <a:r>
              <a:rPr lang="en-US" sz="1900" kern="0" spc="-80" dirty="0">
                <a:solidFill>
                  <a:schemeClr val="accent6"/>
                </a:solidFill>
              </a:rPr>
              <a:t>           </a:t>
            </a:r>
            <a:r>
              <a:rPr lang="en-US" sz="1500" kern="0" spc="-80" dirty="0">
                <a:solidFill>
                  <a:schemeClr val="accent6"/>
                </a:solidFill>
              </a:rPr>
              <a:t>|</a:t>
            </a:r>
          </a:p>
          <a:p>
            <a:pPr marL="12700" marR="5080"/>
            <a:r>
              <a:rPr lang="en-US" sz="1500" kern="0" spc="-80" dirty="0">
                <a:solidFill>
                  <a:schemeClr val="accent6"/>
                </a:solidFill>
              </a:rPr>
              <a:t>              v</a:t>
            </a:r>
          </a:p>
          <a:p>
            <a:pPr marL="12700" marR="5080"/>
            <a:r>
              <a:rPr lang="en-US" sz="1500" kern="0" spc="-80" dirty="0">
                <a:solidFill>
                  <a:schemeClr val="accent6"/>
                </a:solidFill>
              </a:rPr>
              <a:t>    [Location-Based Apps UI]</a:t>
            </a:r>
          </a:p>
          <a:p>
            <a:pPr marL="12700" marR="5080"/>
            <a:r>
              <a:rPr lang="en-US" sz="1500" kern="0" spc="-80" dirty="0">
                <a:solidFill>
                  <a:schemeClr val="accent6"/>
                </a:solidFill>
              </a:rPr>
              <a:t>    Navigation | Delivery | Asset Tracking | AR</a:t>
            </a:r>
          </a:p>
          <a:p>
            <a:pPr marL="12700" marR="5080"/>
            <a:endParaRPr lang="en-US" sz="1900" kern="0" spc="-80" dirty="0">
              <a:solidFill>
                <a:schemeClr val="accent6"/>
              </a:solidFill>
            </a:endParaRPr>
          </a:p>
          <a:p>
            <a:pPr marL="12700" marR="5080"/>
            <a:endParaRPr lang="en-US" sz="1900" kern="0" spc="-80" dirty="0">
              <a:solidFill>
                <a:schemeClr val="accent6"/>
              </a:solidFill>
            </a:endParaRPr>
          </a:p>
          <a:p>
            <a:pPr marL="12700" marR="5080"/>
            <a:endParaRPr lang="en-US" sz="1900" kern="0" spc="-80" dirty="0">
              <a:solidFill>
                <a:schemeClr val="accent6"/>
              </a:solidFill>
            </a:endParaRPr>
          </a:p>
          <a:p>
            <a:pPr marL="12700" marR="5080"/>
            <a:endParaRPr lang="en-US" sz="1900" kern="0" spc="-80" dirty="0">
              <a:solidFill>
                <a:schemeClr val="accent6"/>
              </a:solidFill>
            </a:endParaRPr>
          </a:p>
          <a:p>
            <a:pPr marL="12700" marR="5080"/>
            <a:endParaRPr lang="en-US" sz="1900" kern="0" spc="-80" dirty="0">
              <a:solidFill>
                <a:schemeClr val="accent6"/>
              </a:solidFill>
            </a:endParaRPr>
          </a:p>
          <a:p>
            <a:pPr marL="12700" marR="5080"/>
            <a:endParaRPr lang="en-US" sz="1900" kern="0" spc="-80" dirty="0">
              <a:solidFill>
                <a:schemeClr val="accent6"/>
              </a:solidFill>
            </a:endParaRPr>
          </a:p>
          <a:p>
            <a:pPr marL="12700" marR="5080"/>
            <a:endParaRPr lang="en-US" sz="1900" kern="0" spc="-80" dirty="0">
              <a:solidFill>
                <a:schemeClr val="accent6"/>
              </a:solidFill>
            </a:endParaRPr>
          </a:p>
          <a:p>
            <a:pPr marL="12700" marR="5080"/>
            <a:endParaRPr lang="en-US" sz="19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2707407238"/>
      </p:ext>
    </p:extLst>
  </p:cSld>
  <p:clrMapOvr>
    <a:masterClrMapping/>
  </p:clrMapOvr>
</p:sld>
</file>

<file path=ppt/slides/slide5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923F21-A1E1-D298-DB62-0FFE76709F2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DD60C16-5DB3-7589-0874-4B54D0F9F91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191D192-68C2-571B-49B5-EBA129B16E0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256FD24-B312-BC1F-D285-392E9AD6B664}"/>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52F797C-0139-CA05-0848-9C21792267D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63E3E52-5B90-9FC9-6C10-1C70B6602EF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3D4D5D21-18B8-9267-8CE9-2D38946E966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F677DEE2-FAD3-F9E3-AB15-B50FACCDB70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45B327CF-4DA8-408C-F5B5-F20B32963F83}"/>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68314B2A-55B0-B5D8-868D-19ABA235EB3F}"/>
              </a:ext>
            </a:extLst>
          </p:cNvPr>
          <p:cNvSpPr txBox="1">
            <a:spLocks/>
          </p:cNvSpPr>
          <p:nvPr/>
        </p:nvSpPr>
        <p:spPr>
          <a:xfrm>
            <a:off x="228600" y="762000"/>
            <a:ext cx="8624937" cy="526297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The Big Picture</a:t>
            </a:r>
          </a:p>
          <a:p>
            <a:pPr marL="12700" marR="5080"/>
            <a:r>
              <a:rPr lang="en-US" sz="1900" kern="0" spc="-80" dirty="0">
                <a:solidFill>
                  <a:schemeClr val="accent2"/>
                </a:solidFill>
              </a:rPr>
              <a:t>🌏 Core Idea </a:t>
            </a:r>
          </a:p>
          <a:p>
            <a:pPr marL="12700" marR="5080"/>
            <a:r>
              <a:rPr lang="en-US" sz="1700" kern="0" spc="-80" dirty="0">
                <a:solidFill>
                  <a:schemeClr val="accent6"/>
                </a:solidFill>
              </a:rPr>
              <a:t>Remote Sensing + Photogrammetry create the raw spatial data.</a:t>
            </a:r>
          </a:p>
          <a:p>
            <a:pPr marL="12700" marR="5080"/>
            <a:r>
              <a:rPr lang="en-US" sz="1700" kern="0" spc="-80" dirty="0">
                <a:solidFill>
                  <a:schemeClr val="accent6"/>
                </a:solidFill>
              </a:rPr>
              <a:t>GIS organizes + analyzes this data.</a:t>
            </a:r>
          </a:p>
          <a:p>
            <a:pPr marL="12700" marR="5080"/>
            <a:r>
              <a:rPr lang="en-US" sz="1700" kern="0" spc="-80" dirty="0">
                <a:solidFill>
                  <a:schemeClr val="accent6"/>
                </a:solidFill>
              </a:rPr>
              <a:t>Cartography turns it into understandable maps.</a:t>
            </a:r>
          </a:p>
          <a:p>
            <a:pPr marL="12700" marR="5080"/>
            <a:r>
              <a:rPr lang="en-US" sz="1700" kern="0" spc="-80" dirty="0">
                <a:solidFill>
                  <a:schemeClr val="accent6"/>
                </a:solidFill>
              </a:rPr>
              <a:t>Location Services &amp; Location Apps deliver these maps &amp; insights to users in real-time.</a:t>
            </a:r>
          </a:p>
          <a:p>
            <a:pPr marL="12700" marR="5080"/>
            <a:endParaRPr lang="en-US" sz="1700" kern="0" spc="-80" dirty="0">
              <a:solidFill>
                <a:schemeClr val="accent6"/>
              </a:solidFill>
            </a:endParaRPr>
          </a:p>
          <a:p>
            <a:pPr marL="355600" marR="5080" indent="-342900">
              <a:buAutoNum type="arabicParenR"/>
            </a:pPr>
            <a:r>
              <a:rPr lang="en-US" sz="1700" kern="0" spc="-80" dirty="0">
                <a:solidFill>
                  <a:schemeClr val="accent2"/>
                </a:solidFill>
              </a:rPr>
              <a:t>Remote Sensing (Seeing the Earth from Above)</a:t>
            </a:r>
          </a:p>
          <a:p>
            <a:pPr marL="12700" marR="5080"/>
            <a:r>
              <a:rPr lang="en-US" sz="1700" kern="0" spc="-80" dirty="0">
                <a:solidFill>
                  <a:schemeClr val="accent2"/>
                </a:solidFill>
              </a:rPr>
              <a:t>Source:</a:t>
            </a:r>
            <a:r>
              <a:rPr lang="en-US" sz="1700" kern="0" spc="-80" dirty="0">
                <a:solidFill>
                  <a:schemeClr val="accent6"/>
                </a:solidFill>
              </a:rPr>
              <a:t> satellites, drones, aircraft, radar, LiDAR.</a:t>
            </a:r>
          </a:p>
          <a:p>
            <a:pPr marL="12700" marR="5080"/>
            <a:r>
              <a:rPr lang="en-US" sz="1700" kern="0" spc="-80" dirty="0">
                <a:solidFill>
                  <a:schemeClr val="accent2"/>
                </a:solidFill>
              </a:rPr>
              <a:t>Output:</a:t>
            </a:r>
            <a:r>
              <a:rPr lang="en-US" sz="1700" kern="0" spc="-80" dirty="0">
                <a:solidFill>
                  <a:schemeClr val="accent6"/>
                </a:solidFill>
              </a:rPr>
              <a:t> raw imagery or point clouds. </a:t>
            </a:r>
          </a:p>
          <a:p>
            <a:pPr marL="12700" marR="5080"/>
            <a:r>
              <a:rPr lang="en-US" sz="1700" kern="0" spc="-80" dirty="0">
                <a:solidFill>
                  <a:schemeClr val="accent6"/>
                </a:solidFill>
              </a:rPr>
              <a:t>This is like opening your eyes to the world, capturing what is there.→ Provides pixels, spectral data, height, reflected signals.</a:t>
            </a:r>
          </a:p>
          <a:p>
            <a:pPr marL="12700" marR="5080"/>
            <a:endParaRPr lang="en-US" sz="1700" kern="0" spc="-80" dirty="0">
              <a:solidFill>
                <a:schemeClr val="accent6"/>
              </a:solidFill>
            </a:endParaRPr>
          </a:p>
          <a:p>
            <a:pPr marL="12700" marR="5080"/>
            <a:r>
              <a:rPr lang="en-US" sz="1700" kern="0" spc="-80" dirty="0">
                <a:solidFill>
                  <a:schemeClr val="accent2"/>
                </a:solidFill>
              </a:rPr>
              <a:t>2) Photogrammetry (Building 3D from 2D Images)</a:t>
            </a:r>
          </a:p>
          <a:p>
            <a:pPr marL="12700" marR="5080"/>
            <a:r>
              <a:rPr lang="en-US" sz="1700" kern="0" spc="-80" dirty="0">
                <a:solidFill>
                  <a:schemeClr val="accent6"/>
                </a:solidFill>
              </a:rPr>
              <a:t>Takes overlapping images from drones/satellites and reconstructs 3D models, Terrain surfaces, </a:t>
            </a:r>
            <a:r>
              <a:rPr lang="en-US" sz="1700" kern="0" spc="-80" dirty="0" err="1">
                <a:solidFill>
                  <a:schemeClr val="accent6"/>
                </a:solidFill>
              </a:rPr>
              <a:t>Orthomosaics</a:t>
            </a:r>
            <a:r>
              <a:rPr lang="en-US" sz="1700" kern="0" spc="-80" dirty="0">
                <a:solidFill>
                  <a:schemeClr val="accent6"/>
                </a:solidFill>
              </a:rPr>
              <a:t>, Dense point clouds</a:t>
            </a:r>
          </a:p>
          <a:p>
            <a:pPr marL="12700" marR="5080"/>
            <a:r>
              <a:rPr lang="en-US" sz="1700" kern="0" spc="-80" dirty="0">
                <a:solidFill>
                  <a:schemeClr val="accent6"/>
                </a:solidFill>
              </a:rPr>
              <a:t>This is geometry magic: turning flat pictures into measurable 3D Earth.</a:t>
            </a:r>
          </a:p>
          <a:p>
            <a:pPr marL="12700" marR="5080"/>
            <a:r>
              <a:rPr lang="en-US" sz="1700" kern="0" spc="-80" dirty="0">
                <a:solidFill>
                  <a:schemeClr val="accent2"/>
                </a:solidFill>
              </a:rPr>
              <a:t>N.B. – Some E2E  workflows / pipelines may skip this layer.</a:t>
            </a: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3573562656"/>
      </p:ext>
    </p:extLst>
  </p:cSld>
  <p:clrMapOvr>
    <a:masterClrMapping/>
  </p:clrMapOvr>
</p:sld>
</file>

<file path=ppt/slides/slide5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110E94-A72C-ADC2-490B-E8921BAE806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BF3D182-DD8E-1FD1-D9E5-3A02E737B2D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DFA760E-EA7C-CF69-100C-3D26DE26C3E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E994373-D51A-70F8-6E73-8B50D3626BE5}"/>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E663A1C3-1056-9617-D24A-87FD086CA6A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8C111979-E514-214D-E041-A866A86E342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C906CF2-0243-FC9C-B61B-7EB160B3B6F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640BC948-5A54-2416-5D50-E444A627888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B3AC2616-F074-87A2-802C-B0C803828DAF}"/>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F7D58329-EEC7-8124-D81F-536D0DE72257}"/>
              </a:ext>
            </a:extLst>
          </p:cNvPr>
          <p:cNvSpPr txBox="1">
            <a:spLocks/>
          </p:cNvSpPr>
          <p:nvPr/>
        </p:nvSpPr>
        <p:spPr>
          <a:xfrm>
            <a:off x="228600" y="762000"/>
            <a:ext cx="8624937" cy="50013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The Big Picture</a:t>
            </a:r>
          </a:p>
          <a:p>
            <a:pPr marL="12700" marR="5080"/>
            <a:r>
              <a:rPr lang="en-US" sz="1700" kern="0" spc="-80" dirty="0">
                <a:solidFill>
                  <a:schemeClr val="accent2"/>
                </a:solidFill>
              </a:rPr>
              <a:t>3) GIS (Geographic Information System)</a:t>
            </a:r>
          </a:p>
          <a:p>
            <a:pPr marL="12700" marR="5080"/>
            <a:r>
              <a:rPr lang="en-US" sz="1700" kern="0" spc="-80" dirty="0">
                <a:solidFill>
                  <a:schemeClr val="accent6"/>
                </a:solidFill>
              </a:rPr>
              <a:t>GIS stores, organizes, queries and analyzes spatial data, Layers (roads, elevation, land use, rainfall, addresses, etc.)</a:t>
            </a:r>
          </a:p>
          <a:p>
            <a:pPr marL="12700" marR="5080"/>
            <a:r>
              <a:rPr lang="en-US" sz="1700" kern="0" spc="-80" dirty="0">
                <a:solidFill>
                  <a:schemeClr val="accent6"/>
                </a:solidFill>
              </a:rPr>
              <a:t>Spatial queries (What is near what? How far? What changed over time?)</a:t>
            </a:r>
          </a:p>
          <a:p>
            <a:pPr marL="12700" marR="5080"/>
            <a:r>
              <a:rPr lang="en-US" sz="1700" kern="0" spc="-80" dirty="0">
                <a:solidFill>
                  <a:schemeClr val="accent6"/>
                </a:solidFill>
              </a:rPr>
              <a:t>This is the brain that converts all that data into answers.</a:t>
            </a:r>
          </a:p>
          <a:p>
            <a:pPr marL="12700" marR="5080"/>
            <a:endParaRPr lang="en-US" sz="1700" kern="0" spc="-80" dirty="0">
              <a:solidFill>
                <a:schemeClr val="accent6"/>
              </a:solidFill>
            </a:endParaRPr>
          </a:p>
          <a:p>
            <a:pPr marL="12700" marR="5080"/>
            <a:r>
              <a:rPr lang="en-US" sz="1700" kern="0" spc="-80" dirty="0">
                <a:solidFill>
                  <a:schemeClr val="accent2"/>
                </a:solidFill>
              </a:rPr>
              <a:t>4) Cartography (Making Maps Understandable)</a:t>
            </a:r>
          </a:p>
          <a:p>
            <a:pPr marL="12700" marR="5080"/>
            <a:r>
              <a:rPr lang="en-US" sz="1700" kern="0" spc="-80" dirty="0">
                <a:solidFill>
                  <a:schemeClr val="accent6"/>
                </a:solidFill>
              </a:rPr>
              <a:t>Here we apply design, symbology, color theory, labeling.</a:t>
            </a:r>
          </a:p>
          <a:p>
            <a:pPr marL="12700" marR="5080"/>
            <a:r>
              <a:rPr lang="en-US" sz="1700" kern="0" spc="-80" dirty="0">
                <a:solidFill>
                  <a:schemeClr val="accent6"/>
                </a:solidFill>
              </a:rPr>
              <a:t>This is the storyteller:</a:t>
            </a:r>
          </a:p>
          <a:p>
            <a:pPr marL="12700" marR="5080"/>
            <a:r>
              <a:rPr lang="en-US" sz="1700" kern="0" spc="-80" dirty="0">
                <a:solidFill>
                  <a:schemeClr val="accent6"/>
                </a:solidFill>
              </a:rPr>
              <a:t>Turning GIS data into maps that humans can read without headaches.</a:t>
            </a:r>
          </a:p>
          <a:p>
            <a:pPr marL="12700" marR="5080"/>
            <a:endParaRPr lang="en-US" sz="1700" kern="0" spc="-80" dirty="0">
              <a:solidFill>
                <a:schemeClr val="accent6"/>
              </a:solidFill>
            </a:endParaRPr>
          </a:p>
          <a:p>
            <a:pPr marL="12700" marR="5080"/>
            <a:r>
              <a:rPr lang="en-US" sz="1700" kern="0" spc="-80" dirty="0">
                <a:solidFill>
                  <a:schemeClr val="accent2"/>
                </a:solidFill>
              </a:rPr>
              <a:t>5) Location Services (Mathematical Positioning)</a:t>
            </a:r>
          </a:p>
          <a:p>
            <a:pPr marL="12700" marR="5080"/>
            <a:r>
              <a:rPr lang="en-US" sz="1700" kern="0" spc="-80" dirty="0">
                <a:solidFill>
                  <a:schemeClr val="accent6"/>
                </a:solidFill>
              </a:rPr>
              <a:t>Uses GPS + cell towers + Wi-Fi + inertial sensors to find:</a:t>
            </a:r>
          </a:p>
          <a:p>
            <a:pPr marL="12700" marR="5080"/>
            <a:r>
              <a:rPr lang="en-US" sz="1700" kern="0" spc="-80" dirty="0">
                <a:solidFill>
                  <a:schemeClr val="accent6"/>
                </a:solidFill>
              </a:rPr>
              <a:t>Where you are.</a:t>
            </a:r>
          </a:p>
          <a:p>
            <a:pPr marL="12700" marR="5080"/>
            <a:r>
              <a:rPr lang="en-US" sz="1700" kern="0" spc="-80" dirty="0">
                <a:solidFill>
                  <a:schemeClr val="accent6"/>
                </a:solidFill>
              </a:rPr>
              <a:t>Where places are.</a:t>
            </a:r>
          </a:p>
          <a:p>
            <a:pPr marL="12700" marR="5080"/>
            <a:r>
              <a:rPr lang="en-US" sz="1700" kern="0" spc="-80" dirty="0">
                <a:solidFill>
                  <a:schemeClr val="accent6"/>
                </a:solidFill>
              </a:rPr>
              <a:t>How to get from A → B.</a:t>
            </a:r>
          </a:p>
          <a:p>
            <a:pPr marL="12700" marR="5080"/>
            <a:r>
              <a:rPr lang="en-US" sz="1700" kern="0" spc="-80" dirty="0">
                <a:solidFill>
                  <a:schemeClr val="accent6"/>
                </a:solidFill>
              </a:rPr>
              <a:t>This is the compass inside your phone.</a:t>
            </a:r>
          </a:p>
          <a:p>
            <a:pPr marL="12700" marR="5080"/>
            <a:endParaRPr lang="en-US" sz="1700" kern="0" spc="-80" dirty="0">
              <a:solidFill>
                <a:schemeClr val="accent6"/>
              </a:solidFill>
            </a:endParaRPr>
          </a:p>
        </p:txBody>
      </p:sp>
    </p:spTree>
    <p:extLst>
      <p:ext uri="{BB962C8B-B14F-4D97-AF65-F5344CB8AC3E}">
        <p14:creationId xmlns:p14="http://schemas.microsoft.com/office/powerpoint/2010/main" val="433573123"/>
      </p:ext>
    </p:extLst>
  </p:cSld>
  <p:clrMapOvr>
    <a:masterClrMapping/>
  </p:clrMapOvr>
</p:sld>
</file>

<file path=ppt/slides/slide5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B0343-4EFD-AB9E-55A0-3E7AD038E57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9E1E33A-4D68-F339-7A13-76465AB3D87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76F308C-2707-2D5B-A611-C3F763A6834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FE191D9-A2C5-32DA-A4A3-76E8FD9B3DD8}"/>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54534DC-2E4F-4A38-EFA9-B31E1B080C3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DC2F93B-5CC4-A8A0-C6B1-0ED44B21518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E8F19F8-074B-BAB8-33E3-BE7D6B48CBA5}"/>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C37BC9BB-9824-64E8-0D06-86F4EA32669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7EFB5B8B-4D53-EFF6-7C7A-76D5234F2E5A}"/>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A0AE48C1-504D-754E-1D26-DAC88219CCFE}"/>
              </a:ext>
            </a:extLst>
          </p:cNvPr>
          <p:cNvSpPr txBox="1">
            <a:spLocks/>
          </p:cNvSpPr>
          <p:nvPr/>
        </p:nvSpPr>
        <p:spPr>
          <a:xfrm>
            <a:off x="228600" y="762000"/>
            <a:ext cx="8624937" cy="840230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The Big Picture</a:t>
            </a:r>
          </a:p>
          <a:p>
            <a:pPr marL="12700" marR="5080"/>
            <a:r>
              <a:rPr lang="en-US" sz="1700" kern="0" spc="-80" dirty="0">
                <a:solidFill>
                  <a:schemeClr val="accent2"/>
                </a:solidFill>
              </a:rPr>
              <a:t>6) Location Apps (User Experience Layer)</a:t>
            </a:r>
          </a:p>
          <a:p>
            <a:pPr marL="12700" marR="5080"/>
            <a:r>
              <a:rPr lang="en-US" sz="1700" kern="0" spc="-80" dirty="0">
                <a:solidFill>
                  <a:schemeClr val="accent6"/>
                </a:solidFill>
              </a:rPr>
              <a:t>These are apps people actually use:</a:t>
            </a:r>
          </a:p>
          <a:p>
            <a:pPr marL="12700" marR="5080"/>
            <a:r>
              <a:rPr lang="en-US" sz="1700" kern="0" spc="-80" dirty="0">
                <a:solidFill>
                  <a:schemeClr val="accent6"/>
                </a:solidFill>
              </a:rPr>
              <a:t>Google Maps</a:t>
            </a:r>
          </a:p>
          <a:p>
            <a:pPr marL="12700" marR="5080"/>
            <a:r>
              <a:rPr lang="en-US" sz="1700" kern="0" spc="-80" dirty="0">
                <a:solidFill>
                  <a:schemeClr val="accent6"/>
                </a:solidFill>
              </a:rPr>
              <a:t>UberSwiggy/Zomato delivery routing</a:t>
            </a:r>
          </a:p>
          <a:p>
            <a:pPr marL="12700" marR="5080"/>
            <a:r>
              <a:rPr lang="en-US" sz="1700" kern="0" spc="-80" dirty="0" err="1">
                <a:solidFill>
                  <a:schemeClr val="accent6"/>
                </a:solidFill>
              </a:rPr>
              <a:t>MapMyIndia</a:t>
            </a:r>
            <a:endParaRPr lang="en-US" sz="1700" kern="0" spc="-80" dirty="0">
              <a:solidFill>
                <a:schemeClr val="accent6"/>
              </a:solidFill>
            </a:endParaRPr>
          </a:p>
          <a:p>
            <a:pPr marL="12700" marR="5080"/>
            <a:r>
              <a:rPr lang="en-US" sz="1700" kern="0" spc="-80" dirty="0">
                <a:solidFill>
                  <a:schemeClr val="accent6"/>
                </a:solidFill>
              </a:rPr>
              <a:t>Pokémon GO map logic</a:t>
            </a:r>
          </a:p>
          <a:p>
            <a:pPr marL="12700" marR="5080"/>
            <a:r>
              <a:rPr lang="en-US" sz="1700" kern="0" spc="-80" dirty="0">
                <a:solidFill>
                  <a:schemeClr val="accent6"/>
                </a:solidFill>
              </a:rPr>
              <a:t>Transport systems dashboards</a:t>
            </a:r>
          </a:p>
          <a:p>
            <a:pPr marL="12700" marR="5080"/>
            <a:r>
              <a:rPr lang="en-US" sz="1700" kern="0" spc="-80" dirty="0">
                <a:solidFill>
                  <a:schemeClr val="accent2"/>
                </a:solidFill>
              </a:rPr>
              <a:t>N.B.-&gt; Worthy to check the Mathematical concepts, techniques  &amp; their implementation algorithms used in each layer of the Big Picture by googling or “</a:t>
            </a:r>
            <a:r>
              <a:rPr lang="en-US" sz="1700" kern="0" spc="-80" dirty="0" err="1">
                <a:solidFill>
                  <a:schemeClr val="accent2"/>
                </a:solidFill>
              </a:rPr>
              <a:t>ChatGPT”ing</a:t>
            </a:r>
            <a:r>
              <a:rPr lang="en-US" sz="1700" kern="0" spc="-80" dirty="0">
                <a:solidFill>
                  <a:schemeClr val="accent2"/>
                </a:solidFill>
              </a:rPr>
              <a:t> or some other way. </a:t>
            </a:r>
          </a:p>
          <a:p>
            <a:pPr marL="12700" marR="5080"/>
            <a:endParaRPr lang="en-US" sz="1700" kern="0" spc="-80" dirty="0">
              <a:solidFill>
                <a:schemeClr val="accent2"/>
              </a:solidFill>
            </a:endParaRPr>
          </a:p>
          <a:p>
            <a:pPr marL="12700" marR="5080"/>
            <a:endParaRPr lang="en-US" sz="1700" kern="0" spc="-80" dirty="0">
              <a:solidFill>
                <a:schemeClr val="accent2"/>
              </a:solidFill>
            </a:endParaRPr>
          </a:p>
          <a:p>
            <a:pPr marL="12700" marR="5080"/>
            <a:r>
              <a:rPr lang="en-US" sz="1700" kern="0" spc="-80" dirty="0">
                <a:solidFill>
                  <a:schemeClr val="accent2"/>
                </a:solidFill>
              </a:rPr>
              <a:t>🎯 One Real-world Example (Uber / Swiggy / Zomato)</a:t>
            </a:r>
          </a:p>
          <a:p>
            <a:pPr marL="12700" marR="5080"/>
            <a:r>
              <a:rPr lang="en-US" sz="1600" kern="0" spc="-80" dirty="0">
                <a:solidFill>
                  <a:schemeClr val="accent2"/>
                </a:solidFill>
              </a:rPr>
              <a:t>Remote Sensing/Photogrammetry -&gt;</a:t>
            </a:r>
            <a:r>
              <a:rPr lang="en-US" sz="1600" kern="0" spc="-80" dirty="0">
                <a:solidFill>
                  <a:schemeClr val="accent6"/>
                </a:solidFill>
              </a:rPr>
              <a:t> Drone/Mapping Data → City Map Layers (GIS)</a:t>
            </a:r>
          </a:p>
          <a:p>
            <a:pPr marL="12700" marR="5080"/>
            <a:r>
              <a:rPr lang="en-US" sz="1600" kern="0" spc="-80" dirty="0">
                <a:solidFill>
                  <a:schemeClr val="accent2"/>
                </a:solidFill>
              </a:rPr>
              <a:t>GIS -&gt;</a:t>
            </a:r>
            <a:r>
              <a:rPr lang="en-US" sz="1600" kern="0" spc="-80" dirty="0">
                <a:solidFill>
                  <a:schemeClr val="accent6"/>
                </a:solidFill>
              </a:rPr>
              <a:t> Roads + Traffic Data → Travel Cost Model</a:t>
            </a:r>
          </a:p>
          <a:p>
            <a:pPr marL="12700" marR="5080"/>
            <a:r>
              <a:rPr lang="en-US" sz="1600" kern="0" spc="-80" dirty="0">
                <a:solidFill>
                  <a:schemeClr val="accent2"/>
                </a:solidFill>
              </a:rPr>
              <a:t>Cartography →</a:t>
            </a:r>
            <a:r>
              <a:rPr lang="en-US" sz="1600" kern="0" spc="-80" dirty="0">
                <a:solidFill>
                  <a:schemeClr val="accent6"/>
                </a:solidFill>
              </a:rPr>
              <a:t> User-friendly map UI</a:t>
            </a:r>
          </a:p>
          <a:p>
            <a:pPr marL="12700" marR="5080"/>
            <a:r>
              <a:rPr lang="en-US" sz="1600" kern="0" spc="-80" dirty="0">
                <a:solidFill>
                  <a:schemeClr val="accent2"/>
                </a:solidFill>
              </a:rPr>
              <a:t>Location Services –&gt;</a:t>
            </a:r>
            <a:r>
              <a:rPr lang="en-US" sz="1600" kern="0" spc="-80" dirty="0">
                <a:solidFill>
                  <a:schemeClr val="accent6"/>
                </a:solidFill>
              </a:rPr>
              <a:t>  GPS → Your position </a:t>
            </a:r>
          </a:p>
          <a:p>
            <a:pPr marL="12700" marR="5080"/>
            <a:r>
              <a:rPr lang="en-US" sz="1600" kern="0" spc="-80" dirty="0">
                <a:solidFill>
                  <a:schemeClr val="accent2"/>
                </a:solidFill>
              </a:rPr>
              <a:t>Intermediate Operation(s) -&gt;</a:t>
            </a:r>
            <a:r>
              <a:rPr lang="en-US" sz="1600" kern="0" spc="-80" dirty="0">
                <a:solidFill>
                  <a:schemeClr val="accent6"/>
                </a:solidFill>
              </a:rPr>
              <a:t> Routing Algorithm → Shortest path to restaurant/customer</a:t>
            </a:r>
          </a:p>
          <a:p>
            <a:pPr marL="12700" marR="5080"/>
            <a:r>
              <a:rPr lang="en-US" sz="1600" kern="0" spc="-80" dirty="0">
                <a:solidFill>
                  <a:schemeClr val="accent2"/>
                </a:solidFill>
              </a:rPr>
              <a:t>Location App →</a:t>
            </a:r>
            <a:r>
              <a:rPr lang="en-US" sz="1600" kern="0" spc="-80" dirty="0">
                <a:solidFill>
                  <a:schemeClr val="accent6"/>
                </a:solidFill>
              </a:rPr>
              <a:t> Shows live driver movement, ETA, directions</a:t>
            </a: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1067178559"/>
      </p:ext>
    </p:extLst>
  </p:cSld>
  <p:clrMapOvr>
    <a:masterClrMapping/>
  </p:clrMapOvr>
</p:sld>
</file>

<file path=ppt/slides/slide5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4712B-6F93-2E7A-7E12-E93E09AA79A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FE2183B-FD57-E53C-5F6F-FA49A61C08B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A4EE19F-0C4A-9A3D-C235-ECF17CE46C0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710784C-0D43-7B9C-334B-C009FDDB8199}"/>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13F8F38-C44A-9D5C-9993-9D0FFEE5500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501F2E61-4FDA-1F0D-B6FE-FD31739A878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D5044B1-D655-B416-5161-B9827D7514F5}"/>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2BCEB2D8-DDA3-97B5-8E7C-230C10B55B6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E44669FF-798A-094E-A5D4-EEADCA15F286}"/>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614AEA9C-F8A7-DCF4-0648-981A0BA21F61}"/>
              </a:ext>
            </a:extLst>
          </p:cNvPr>
          <p:cNvSpPr txBox="1">
            <a:spLocks/>
          </p:cNvSpPr>
          <p:nvPr/>
        </p:nvSpPr>
        <p:spPr>
          <a:xfrm>
            <a:off x="228600" y="762000"/>
            <a:ext cx="8624937" cy="51398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Remote Sensing</a:t>
            </a:r>
          </a:p>
          <a:p>
            <a:pPr marL="12700" marR="5080"/>
            <a:r>
              <a:rPr lang="en-US" sz="1500" kern="0" spc="-80" dirty="0">
                <a:solidFill>
                  <a:schemeClr val="accent2"/>
                </a:solidFill>
              </a:rPr>
              <a:t>🌍 What Remote Sensing Is</a:t>
            </a:r>
          </a:p>
          <a:p>
            <a:pPr marL="12700" marR="5080"/>
            <a:r>
              <a:rPr lang="en-US" sz="1500" kern="0" spc="-80" dirty="0">
                <a:solidFill>
                  <a:schemeClr val="accent6"/>
                </a:solidFill>
              </a:rPr>
              <a:t>Remote sensing is the art and science of extracting information about Earth without physically touching it, usually by measuring electromagnetic radiation (EMR) reflected or emitted from </a:t>
            </a:r>
            <a:r>
              <a:rPr lang="en-US" sz="1500" kern="0" spc="-80" dirty="0" err="1">
                <a:solidFill>
                  <a:schemeClr val="accent6"/>
                </a:solidFill>
              </a:rPr>
              <a:t>surfaces.Think</a:t>
            </a:r>
            <a:r>
              <a:rPr lang="en-US" sz="1500" kern="0" spc="-80" dirty="0">
                <a:solidFill>
                  <a:schemeClr val="accent6"/>
                </a:solidFill>
              </a:rPr>
              <a:t> of sensors as cosmic ears, tuned to listen to the whispers of surfaces.</a:t>
            </a:r>
          </a:p>
          <a:p>
            <a:pPr marL="12700" marR="5080"/>
            <a:endParaRPr lang="en-US" sz="1500" kern="0" spc="-80" dirty="0">
              <a:solidFill>
                <a:schemeClr val="accent6"/>
              </a:solidFill>
            </a:endParaRPr>
          </a:p>
          <a:p>
            <a:pPr marL="12700" marR="5080"/>
            <a:r>
              <a:rPr lang="en-US" sz="1500" kern="0" spc="-80" dirty="0">
                <a:solidFill>
                  <a:schemeClr val="accent2"/>
                </a:solidFill>
              </a:rPr>
              <a:t>✨ Core Workflow (The Grand Map)</a:t>
            </a:r>
          </a:p>
          <a:p>
            <a:pPr marL="12700" marR="5080"/>
            <a:r>
              <a:rPr lang="en-US" sz="1500" kern="0" spc="-80" dirty="0">
                <a:solidFill>
                  <a:schemeClr val="accent6"/>
                </a:solidFill>
              </a:rPr>
              <a:t>[ Sun / Source ] </a:t>
            </a:r>
          </a:p>
          <a:p>
            <a:pPr marL="12700" marR="5080"/>
            <a:r>
              <a:rPr lang="en-US" sz="1500" kern="0" spc="-80" dirty="0">
                <a:solidFill>
                  <a:schemeClr val="accent6"/>
                </a:solidFill>
              </a:rPr>
              <a:t>       ↓ (Radiation)</a:t>
            </a:r>
          </a:p>
          <a:p>
            <a:pPr marL="12700" marR="5080"/>
            <a:r>
              <a:rPr lang="en-US" sz="1500" kern="0" spc="-80" dirty="0">
                <a:solidFill>
                  <a:schemeClr val="accent6"/>
                </a:solidFill>
              </a:rPr>
              <a:t>[ Atmosphere Interaction ]</a:t>
            </a:r>
          </a:p>
          <a:p>
            <a:pPr marL="12700" marR="5080"/>
            <a:r>
              <a:rPr lang="en-US" sz="1500" kern="0" spc="-80" dirty="0">
                <a:solidFill>
                  <a:schemeClr val="accent6"/>
                </a:solidFill>
              </a:rPr>
              <a:t>       ↓</a:t>
            </a:r>
          </a:p>
          <a:p>
            <a:pPr marL="12700" marR="5080"/>
            <a:r>
              <a:rPr lang="en-US" sz="1500" kern="0" spc="-80" dirty="0">
                <a:solidFill>
                  <a:schemeClr val="accent6"/>
                </a:solidFill>
              </a:rPr>
              <a:t>[ Energy Reaches Surface ]</a:t>
            </a:r>
          </a:p>
          <a:p>
            <a:pPr marL="12700" marR="5080"/>
            <a:r>
              <a:rPr lang="en-US" sz="1500" kern="0" spc="-80" dirty="0">
                <a:solidFill>
                  <a:schemeClr val="accent6"/>
                </a:solidFill>
              </a:rPr>
              <a:t>       ↓</a:t>
            </a:r>
          </a:p>
          <a:p>
            <a:pPr marL="12700" marR="5080"/>
            <a:r>
              <a:rPr lang="en-US" sz="1500" kern="0" spc="-80" dirty="0">
                <a:solidFill>
                  <a:schemeClr val="accent6"/>
                </a:solidFill>
              </a:rPr>
              <a:t>[ Surface Reflects/Emits Back ]</a:t>
            </a:r>
          </a:p>
          <a:p>
            <a:pPr marL="12700" marR="5080"/>
            <a:r>
              <a:rPr lang="en-US" sz="1500" kern="0" spc="-80" dirty="0">
                <a:solidFill>
                  <a:schemeClr val="accent6"/>
                </a:solidFill>
              </a:rPr>
              <a:t>       ↓</a:t>
            </a:r>
          </a:p>
          <a:p>
            <a:pPr marL="12700" marR="5080"/>
            <a:r>
              <a:rPr lang="en-US" sz="1500" kern="0" spc="-80" dirty="0">
                <a:solidFill>
                  <a:schemeClr val="accent6"/>
                </a:solidFill>
              </a:rPr>
              <a:t>[ Sensor (Satellite / UAV / Aircraft) ]</a:t>
            </a:r>
          </a:p>
          <a:p>
            <a:pPr marL="12700" marR="5080"/>
            <a:r>
              <a:rPr lang="en-US" sz="1500" kern="0" spc="-80" dirty="0">
                <a:solidFill>
                  <a:schemeClr val="accent6"/>
                </a:solidFill>
              </a:rPr>
              <a:t>       ↓</a:t>
            </a:r>
          </a:p>
          <a:p>
            <a:pPr marL="12700" marR="5080"/>
            <a:r>
              <a:rPr lang="en-US" sz="1500" kern="0" spc="-80" dirty="0">
                <a:solidFill>
                  <a:schemeClr val="accent6"/>
                </a:solidFill>
              </a:rPr>
              <a:t>[ Raw Digital Radiance Data ]</a:t>
            </a:r>
          </a:p>
          <a:p>
            <a:pPr marL="12700" marR="5080"/>
            <a:r>
              <a:rPr lang="en-US" sz="1500" kern="0" spc="-80" dirty="0">
                <a:solidFill>
                  <a:schemeClr val="accent6"/>
                </a:solidFill>
              </a:rPr>
              <a:t>       ↓</a:t>
            </a:r>
          </a:p>
          <a:p>
            <a:pPr marL="12700" marR="5080"/>
            <a:r>
              <a:rPr lang="en-US" sz="1500" kern="0" spc="-80" dirty="0">
                <a:solidFill>
                  <a:schemeClr val="accent6"/>
                </a:solidFill>
              </a:rPr>
              <a:t>[ Radiometric + Atmospheric Correction ]</a:t>
            </a:r>
          </a:p>
          <a:p>
            <a:pPr marL="12700" marR="5080"/>
            <a:r>
              <a:rPr lang="en-US" sz="1500" kern="0" spc="-80" dirty="0">
                <a:solidFill>
                  <a:schemeClr val="accent6"/>
                </a:solidFill>
              </a:rPr>
              <a:t>       ↓</a:t>
            </a:r>
          </a:p>
          <a:p>
            <a:pPr marL="12700" marR="5080"/>
            <a:r>
              <a:rPr lang="en-US" sz="1500" kern="0" spc="-80" dirty="0">
                <a:solidFill>
                  <a:schemeClr val="accent6"/>
                </a:solidFill>
              </a:rPr>
              <a:t>[ Geometric Correction &amp; Geo-referencing ]</a:t>
            </a:r>
          </a:p>
        </p:txBody>
      </p:sp>
    </p:spTree>
    <p:extLst>
      <p:ext uri="{BB962C8B-B14F-4D97-AF65-F5344CB8AC3E}">
        <p14:creationId xmlns:p14="http://schemas.microsoft.com/office/powerpoint/2010/main" val="1423459292"/>
      </p:ext>
    </p:extLst>
  </p:cSld>
  <p:clrMapOvr>
    <a:masterClrMapping/>
  </p:clrMapOvr>
</p:sld>
</file>

<file path=ppt/slides/slide5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FBFB4-E477-0C41-71A9-B763F522BB7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D18ABD8-AF2D-3621-057C-A5D8C48D74C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1794BBF-451C-8BF1-E2FF-D750BED937A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6006AE2-8A2C-14B0-7D2C-8BB4B96155EE}"/>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0D17B82-56C1-49ED-3A52-C97880981BF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4B7BE47-0A68-E42D-5C5A-9539055805A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6C6CB01D-E869-8929-7DDB-334570F37B30}"/>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F374E0C5-A08D-76DD-4DE7-869DB06385D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F592047B-D997-0AA4-FEFE-A1DA39BD89FC}"/>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DEB5EBA6-4D98-50E2-A0DC-34C7FF46C9CF}"/>
              </a:ext>
            </a:extLst>
          </p:cNvPr>
          <p:cNvSpPr txBox="1">
            <a:spLocks/>
          </p:cNvSpPr>
          <p:nvPr/>
        </p:nvSpPr>
        <p:spPr>
          <a:xfrm>
            <a:off x="228600" y="762000"/>
            <a:ext cx="8624937" cy="51398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Remote Sensing</a:t>
            </a:r>
          </a:p>
          <a:p>
            <a:pPr marL="12700" marR="5080"/>
            <a:r>
              <a:rPr lang="en-US" sz="1500" kern="0" spc="-80" dirty="0">
                <a:solidFill>
                  <a:schemeClr val="accent2"/>
                </a:solidFill>
              </a:rPr>
              <a:t>✨ Core Workflow (The Grand Map)</a:t>
            </a:r>
          </a:p>
          <a:p>
            <a:pPr marL="12700" marR="5080"/>
            <a:r>
              <a:rPr lang="en-US" sz="1500" kern="0" spc="-80" dirty="0">
                <a:solidFill>
                  <a:schemeClr val="accent6"/>
                </a:solidFill>
              </a:rPr>
              <a:t>      ↓</a:t>
            </a:r>
          </a:p>
          <a:p>
            <a:pPr marL="12700" marR="5080"/>
            <a:r>
              <a:rPr lang="en-US" sz="1500" kern="0" spc="-80" dirty="0">
                <a:solidFill>
                  <a:schemeClr val="accent6"/>
                </a:solidFill>
              </a:rPr>
              <a:t>[ Image Enhancement &amp; Filtering ]</a:t>
            </a:r>
          </a:p>
          <a:p>
            <a:pPr marL="12700" marR="5080"/>
            <a:r>
              <a:rPr lang="en-US" sz="1500" kern="0" spc="-80" dirty="0">
                <a:solidFill>
                  <a:schemeClr val="accent6"/>
                </a:solidFill>
              </a:rPr>
              <a:t>       ↓</a:t>
            </a:r>
          </a:p>
          <a:p>
            <a:pPr marL="12700" marR="5080"/>
            <a:r>
              <a:rPr lang="en-US" sz="1500" kern="0" spc="-80" dirty="0">
                <a:solidFill>
                  <a:schemeClr val="accent6"/>
                </a:solidFill>
              </a:rPr>
              <a:t>[ Feature Extraction / Object Detection ]</a:t>
            </a:r>
          </a:p>
          <a:p>
            <a:pPr marL="12700" marR="5080"/>
            <a:r>
              <a:rPr lang="en-US" sz="1500" kern="0" spc="-80" dirty="0">
                <a:solidFill>
                  <a:schemeClr val="accent6"/>
                </a:solidFill>
              </a:rPr>
              <a:t>       ↓</a:t>
            </a:r>
          </a:p>
          <a:p>
            <a:pPr marL="12700" marR="5080"/>
            <a:r>
              <a:rPr lang="en-US" sz="1500" kern="0" spc="-80" dirty="0">
                <a:solidFill>
                  <a:schemeClr val="accent6"/>
                </a:solidFill>
              </a:rPr>
              <a:t>[ Thematic Classification / Index Computation ]</a:t>
            </a:r>
          </a:p>
          <a:p>
            <a:pPr marL="12700" marR="5080"/>
            <a:r>
              <a:rPr lang="en-US" sz="1500" kern="0" spc="-80" dirty="0">
                <a:solidFill>
                  <a:schemeClr val="accent6"/>
                </a:solidFill>
              </a:rPr>
              <a:t>       ↓</a:t>
            </a:r>
          </a:p>
          <a:p>
            <a:pPr marL="12700" marR="5080"/>
            <a:r>
              <a:rPr lang="en-US" sz="1500" kern="0" spc="-80" dirty="0">
                <a:solidFill>
                  <a:schemeClr val="accent6"/>
                </a:solidFill>
              </a:rPr>
              <a:t>[ Analysis &amp; Decision ]</a:t>
            </a:r>
          </a:p>
          <a:p>
            <a:pPr marL="12700" marR="5080"/>
            <a:endParaRPr lang="en-US" sz="1500" kern="0" spc="-80" dirty="0">
              <a:solidFill>
                <a:schemeClr val="accent6"/>
              </a:solidFill>
            </a:endParaRPr>
          </a:p>
          <a:p>
            <a:pPr marL="12700" marR="5080"/>
            <a:r>
              <a:rPr lang="en-US" sz="1500" kern="0" spc="-80" dirty="0">
                <a:solidFill>
                  <a:schemeClr val="accent2"/>
                </a:solidFill>
              </a:rPr>
              <a:t>1) Energy &amp; Sensor Physics</a:t>
            </a:r>
          </a:p>
          <a:p>
            <a:pPr marL="12700" marR="5080"/>
            <a:r>
              <a:rPr lang="en-US" sz="1500" kern="0" spc="-80" dirty="0">
                <a:solidFill>
                  <a:schemeClr val="accent6"/>
                </a:solidFill>
              </a:rPr>
              <a:t>This is the heartbeat.</a:t>
            </a:r>
          </a:p>
          <a:p>
            <a:pPr marL="12700" marR="5080"/>
            <a:r>
              <a:rPr lang="en-US" sz="1500" kern="0" spc="-80" dirty="0">
                <a:solidFill>
                  <a:schemeClr val="accent6"/>
                </a:solidFill>
              </a:rPr>
              <a:t>Electromagnetic Spectrum 🟣🔵🟢🟡🔴</a:t>
            </a:r>
          </a:p>
          <a:p>
            <a:pPr marL="12700" marR="5080"/>
            <a:endParaRPr lang="en-US" sz="1500" kern="0" spc="-80" dirty="0">
              <a:solidFill>
                <a:schemeClr val="accent6"/>
              </a:solidFill>
            </a:endParaRPr>
          </a:p>
          <a:p>
            <a:pPr marL="12700" marR="5080"/>
            <a:r>
              <a:rPr lang="en-US" sz="1500" kern="0" spc="-80" dirty="0">
                <a:solidFill>
                  <a:schemeClr val="accent2"/>
                </a:solidFill>
              </a:rPr>
              <a:t>Remote sensors typically use:</a:t>
            </a:r>
          </a:p>
          <a:p>
            <a:pPr marL="12700" marR="5080"/>
            <a:r>
              <a:rPr lang="en-US" sz="1500" kern="0" spc="-80" dirty="0">
                <a:solidFill>
                  <a:schemeClr val="accent6"/>
                </a:solidFill>
              </a:rPr>
              <a:t>Visible (0.4–0.7 </a:t>
            </a:r>
            <a:r>
              <a:rPr lang="el-GR" sz="1500" kern="0" spc="-80" dirty="0">
                <a:solidFill>
                  <a:schemeClr val="accent6"/>
                </a:solidFill>
              </a:rPr>
              <a:t>μ</a:t>
            </a:r>
            <a:r>
              <a:rPr lang="en-US" sz="1500" kern="0" spc="-80" dirty="0">
                <a:solidFill>
                  <a:schemeClr val="accent6"/>
                </a:solidFill>
              </a:rPr>
              <a:t>m)</a:t>
            </a:r>
          </a:p>
          <a:p>
            <a:pPr marL="12700" marR="5080"/>
            <a:r>
              <a:rPr lang="en-US" sz="1500" kern="0" spc="-80" dirty="0">
                <a:solidFill>
                  <a:schemeClr val="accent6"/>
                </a:solidFill>
              </a:rPr>
              <a:t>Near Infrared (0.7–1.3 </a:t>
            </a:r>
            <a:r>
              <a:rPr lang="el-GR" sz="1500" kern="0" spc="-80" dirty="0">
                <a:solidFill>
                  <a:schemeClr val="accent6"/>
                </a:solidFill>
              </a:rPr>
              <a:t>μ</a:t>
            </a:r>
            <a:r>
              <a:rPr lang="en-US" sz="1500" kern="0" spc="-80" dirty="0">
                <a:solidFill>
                  <a:schemeClr val="accent6"/>
                </a:solidFill>
              </a:rPr>
              <a:t>m)</a:t>
            </a:r>
          </a:p>
          <a:p>
            <a:pPr marL="12700" marR="5080"/>
            <a:r>
              <a:rPr lang="en-US" sz="1500" kern="0" spc="-80" dirty="0">
                <a:solidFill>
                  <a:schemeClr val="accent6"/>
                </a:solidFill>
              </a:rPr>
              <a:t>Shortwave IR (1.3–3 </a:t>
            </a:r>
            <a:r>
              <a:rPr lang="el-GR" sz="1500" kern="0" spc="-80" dirty="0">
                <a:solidFill>
                  <a:schemeClr val="accent6"/>
                </a:solidFill>
              </a:rPr>
              <a:t>μ</a:t>
            </a:r>
            <a:r>
              <a:rPr lang="en-US" sz="1500" kern="0" spc="-80" dirty="0">
                <a:solidFill>
                  <a:schemeClr val="accent6"/>
                </a:solidFill>
              </a:rPr>
              <a:t>m)</a:t>
            </a:r>
          </a:p>
          <a:p>
            <a:pPr marL="12700" marR="5080"/>
            <a:r>
              <a:rPr lang="en-US" sz="1500" kern="0" spc="-80" dirty="0">
                <a:solidFill>
                  <a:schemeClr val="accent6"/>
                </a:solidFill>
              </a:rPr>
              <a:t>Thermal IR (3–14 </a:t>
            </a:r>
            <a:r>
              <a:rPr lang="el-GR" sz="1500" kern="0" spc="-80" dirty="0">
                <a:solidFill>
                  <a:schemeClr val="accent6"/>
                </a:solidFill>
              </a:rPr>
              <a:t>μ</a:t>
            </a:r>
            <a:r>
              <a:rPr lang="en-US" sz="1500" kern="0" spc="-80" dirty="0">
                <a:solidFill>
                  <a:schemeClr val="accent6"/>
                </a:solidFill>
              </a:rPr>
              <a:t>m)</a:t>
            </a:r>
          </a:p>
          <a:p>
            <a:pPr marL="12700" marR="5080"/>
            <a:r>
              <a:rPr lang="en-US" sz="1500" kern="0" spc="-80" dirty="0">
                <a:solidFill>
                  <a:schemeClr val="accent6"/>
                </a:solidFill>
              </a:rPr>
              <a:t>Microwave (1 mm–1 m)</a:t>
            </a: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120157624"/>
      </p:ext>
    </p:extLst>
  </p:cSld>
  <p:clrMapOvr>
    <a:masterClrMapping/>
  </p:clrMapOvr>
</p:sld>
</file>

<file path=ppt/slides/slide5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074DD-50EA-ACC6-D889-9A05F127363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6E57753-0455-0EE5-C5A8-FB0C4F66B4C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98B5524-7F03-7FAD-29AD-B8B6D93B2A4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4AF2A22-21DD-217A-EE5D-E91E52E7B08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CB3045E-3246-AD91-CAF3-8E296EC37FC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10DE7C35-8C62-AAD1-FF88-6EAECB46E50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8CB9A03-11B5-40BF-2F10-AC5F9A63469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44624E95-869E-FB9D-ABE0-CEF0FABE03CB}"/>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A55CBCD0-118F-56D9-568C-1F77B55206DC}"/>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F908BD7B-8655-B00C-40BA-D2C81F99FD5C}"/>
              </a:ext>
            </a:extLst>
          </p:cNvPr>
          <p:cNvSpPr txBox="1">
            <a:spLocks/>
          </p:cNvSpPr>
          <p:nvPr/>
        </p:nvSpPr>
        <p:spPr>
          <a:xfrm>
            <a:off x="228600" y="762000"/>
            <a:ext cx="8624937" cy="537070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Remote Sensing</a:t>
            </a:r>
          </a:p>
          <a:p>
            <a:pPr marL="12700" marR="5080"/>
            <a:r>
              <a:rPr lang="en-US" sz="1500" kern="0" spc="-80" dirty="0">
                <a:solidFill>
                  <a:schemeClr val="accent2"/>
                </a:solidFill>
              </a:rPr>
              <a:t>Key Concepts</a:t>
            </a: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r>
              <a:rPr lang="en-US" sz="1500" kern="0" spc="-80" dirty="0">
                <a:solidFill>
                  <a:schemeClr val="accent2"/>
                </a:solidFill>
              </a:rPr>
              <a:t>2) Sensors &amp; Platforms</a:t>
            </a: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pic>
        <p:nvPicPr>
          <p:cNvPr id="16" name="Picture 15">
            <a:extLst>
              <a:ext uri="{FF2B5EF4-FFF2-40B4-BE49-F238E27FC236}">
                <a16:creationId xmlns:a16="http://schemas.microsoft.com/office/drawing/2014/main" id="{5D3DD689-9F5A-8DC0-76BC-4CD7E8922C43}"/>
              </a:ext>
            </a:extLst>
          </p:cNvPr>
          <p:cNvPicPr>
            <a:picLocks noChangeAspect="1"/>
          </p:cNvPicPr>
          <p:nvPr/>
        </p:nvPicPr>
        <p:blipFill>
          <a:blip r:embed="rId7"/>
          <a:stretch>
            <a:fillRect/>
          </a:stretch>
        </p:blipFill>
        <p:spPr>
          <a:xfrm>
            <a:off x="290462" y="1295322"/>
            <a:ext cx="8715473" cy="1524078"/>
          </a:xfrm>
          <a:prstGeom prst="rect">
            <a:avLst/>
          </a:prstGeom>
        </p:spPr>
      </p:pic>
      <p:pic>
        <p:nvPicPr>
          <p:cNvPr id="20" name="Picture 19">
            <a:extLst>
              <a:ext uri="{FF2B5EF4-FFF2-40B4-BE49-F238E27FC236}">
                <a16:creationId xmlns:a16="http://schemas.microsoft.com/office/drawing/2014/main" id="{458443E9-0404-4A45-7FC2-E83C7B8CE41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57175" y="3338969"/>
            <a:ext cx="8824962" cy="2570206"/>
          </a:xfrm>
          <a:prstGeom prst="rect">
            <a:avLst/>
          </a:prstGeom>
        </p:spPr>
      </p:pic>
    </p:spTree>
    <p:extLst>
      <p:ext uri="{BB962C8B-B14F-4D97-AF65-F5344CB8AC3E}">
        <p14:creationId xmlns:p14="http://schemas.microsoft.com/office/powerpoint/2010/main" val="3526873424"/>
      </p:ext>
    </p:extLst>
  </p:cSld>
  <p:clrMapOvr>
    <a:masterClrMapping/>
  </p:clrMapOvr>
</p:sld>
</file>

<file path=ppt/slides/slide5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936DD-D3F0-D276-F009-11469B34A97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C18C2F6-D279-FAEF-4697-2346D1C18D8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6390F58-CF6F-6A6B-8C8C-6E2F1E26F89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FF58A70-30DA-B791-F258-D1C64F6BAA3F}"/>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FA6FD2B-7AD3-EF01-0CFA-60056C7C134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4A45E42-4702-AA90-FF80-96BBF52A245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FF20098-71F7-86F1-8CEC-224A81557784}"/>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9865908-1C92-0411-8113-F71F83215E8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D8258386-0CF9-9AE4-7C7E-F6A8B60255D5}"/>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46D96D55-3DD3-04B9-FF42-883FA40F96D6}"/>
              </a:ext>
            </a:extLst>
          </p:cNvPr>
          <p:cNvSpPr txBox="1">
            <a:spLocks/>
          </p:cNvSpPr>
          <p:nvPr/>
        </p:nvSpPr>
        <p:spPr>
          <a:xfrm>
            <a:off x="228600" y="762000"/>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Remote Sensing</a:t>
            </a:r>
          </a:p>
          <a:p>
            <a:pPr marL="12700" marR="5080"/>
            <a:r>
              <a:rPr lang="en-US" sz="1500" kern="0" spc="-80" dirty="0">
                <a:solidFill>
                  <a:schemeClr val="accent2"/>
                </a:solidFill>
              </a:rPr>
              <a:t>2) Sensors &amp; Platforms</a:t>
            </a:r>
          </a:p>
          <a:p>
            <a:pPr marL="12700" marR="5080"/>
            <a:r>
              <a:rPr lang="en-US" sz="1500" kern="0" spc="-80" dirty="0">
                <a:solidFill>
                  <a:schemeClr val="accent2"/>
                </a:solidFill>
              </a:rPr>
              <a:t>Radar and LiDAR Core </a:t>
            </a:r>
            <a:r>
              <a:rPr lang="en-US" sz="1500" kern="0" spc="-80" dirty="0" err="1">
                <a:solidFill>
                  <a:schemeClr val="accent2"/>
                </a:solidFill>
              </a:rPr>
              <a:t>Maths</a:t>
            </a:r>
            <a:endParaRPr lang="en-US" sz="1500" kern="0" spc="-80" dirty="0">
              <a:solidFill>
                <a:schemeClr val="accent2"/>
              </a:solidFill>
            </a:endParaRPr>
          </a:p>
          <a:p>
            <a:pPr marL="12700" marR="5080"/>
            <a:r>
              <a:rPr lang="en-US" sz="1500" kern="0" spc="-80" dirty="0">
                <a:solidFill>
                  <a:schemeClr val="accent2"/>
                </a:solidFill>
              </a:rPr>
              <a:t>LiDAR Distance:</a:t>
            </a:r>
          </a:p>
          <a:p>
            <a:pPr marL="12700" marR="5080"/>
            <a:r>
              <a:rPr lang="en-US" sz="1500" kern="0" spc="-80" dirty="0">
                <a:solidFill>
                  <a:schemeClr val="accent6"/>
                </a:solidFill>
              </a:rPr>
              <a:t>d = (c * </a:t>
            </a:r>
            <a:r>
              <a:rPr lang="el-GR" sz="1500" kern="0" spc="-80" dirty="0">
                <a:solidFill>
                  <a:schemeClr val="accent6"/>
                </a:solidFill>
              </a:rPr>
              <a:t>Δ</a:t>
            </a:r>
            <a:r>
              <a:rPr lang="en-US" sz="1500" kern="0" spc="-80" dirty="0">
                <a:solidFill>
                  <a:schemeClr val="accent6"/>
                </a:solidFill>
              </a:rPr>
              <a:t>t) / 2</a:t>
            </a:r>
          </a:p>
          <a:p>
            <a:pPr marL="12700" marR="5080"/>
            <a:r>
              <a:rPr lang="en-US" sz="1500" kern="0" spc="-80" dirty="0">
                <a:solidFill>
                  <a:schemeClr val="accent2"/>
                </a:solidFill>
              </a:rPr>
              <a:t>Radar Backscatter: </a:t>
            </a:r>
            <a:r>
              <a:rPr lang="en-US" sz="1500" kern="0" spc="-80" dirty="0">
                <a:solidFill>
                  <a:schemeClr val="accent6"/>
                </a:solidFill>
              </a:rPr>
              <a:t>depends on surface roughness, incidence angle, and dielectric constant.</a:t>
            </a:r>
          </a:p>
          <a:p>
            <a:pPr marL="12700" marR="5080"/>
            <a:endParaRPr lang="en-US" sz="1500" kern="0" spc="-80" dirty="0">
              <a:solidFill>
                <a:schemeClr val="accent6"/>
              </a:solidFill>
            </a:endParaRPr>
          </a:p>
          <a:p>
            <a:pPr marL="12700" marR="5080"/>
            <a:r>
              <a:rPr lang="en-US" sz="1500" kern="0" spc="-80" dirty="0">
                <a:solidFill>
                  <a:schemeClr val="accent2"/>
                </a:solidFill>
              </a:rPr>
              <a:t>3) Radiometric Processing</a:t>
            </a:r>
          </a:p>
          <a:p>
            <a:pPr marL="12700" marR="5080"/>
            <a:r>
              <a:rPr lang="en-US" sz="1500" kern="0" spc="-80" dirty="0">
                <a:solidFill>
                  <a:schemeClr val="accent6"/>
                </a:solidFill>
              </a:rPr>
              <a:t>Turning raw brightness into scientifically comparable data.</a:t>
            </a:r>
          </a:p>
          <a:p>
            <a:pPr marL="12700" marR="5080"/>
            <a:r>
              <a:rPr lang="en-US" sz="1500" kern="0" spc="-80" dirty="0">
                <a:solidFill>
                  <a:schemeClr val="accent2"/>
                </a:solidFill>
              </a:rPr>
              <a:t>Step	                                  Purpose	                                          Key Math</a:t>
            </a:r>
          </a:p>
          <a:p>
            <a:pPr marL="12700" marR="5080"/>
            <a:r>
              <a:rPr lang="en-US" sz="1500" kern="0" spc="-80" dirty="0">
                <a:solidFill>
                  <a:schemeClr val="accent6"/>
                </a:solidFill>
              </a:rPr>
              <a:t>DN → Radiance	                Convert sensor digital numbers	     L = gain × DN + bias</a:t>
            </a:r>
          </a:p>
          <a:p>
            <a:pPr marL="12700" marR="5080"/>
            <a:r>
              <a:rPr lang="en-US" sz="1500" kern="0" spc="-80" dirty="0">
                <a:solidFill>
                  <a:schemeClr val="accent6"/>
                </a:solidFill>
              </a:rPr>
              <a:t>Radiance → Reflectance          Normalize illumination	     </a:t>
            </a:r>
            <a:r>
              <a:rPr lang="el-GR" sz="1500" kern="0" spc="-80" dirty="0">
                <a:solidFill>
                  <a:schemeClr val="accent6"/>
                </a:solidFill>
              </a:rPr>
              <a:t>ρ = (π × </a:t>
            </a:r>
            <a:r>
              <a:rPr lang="en-US" sz="1500" kern="0" spc="-80" dirty="0">
                <a:solidFill>
                  <a:schemeClr val="accent6"/>
                </a:solidFill>
              </a:rPr>
              <a:t>L × d²) / (ESUN × cos </a:t>
            </a:r>
            <a:r>
              <a:rPr lang="el-GR" sz="1500" kern="0" spc="-80" dirty="0">
                <a:solidFill>
                  <a:schemeClr val="accent6"/>
                </a:solidFill>
              </a:rPr>
              <a:t>θ)</a:t>
            </a:r>
          </a:p>
          <a:p>
            <a:pPr marL="12700" marR="5080"/>
            <a:r>
              <a:rPr lang="en-US" sz="1500" kern="0" spc="-80" dirty="0">
                <a:solidFill>
                  <a:schemeClr val="accent6"/>
                </a:solidFill>
              </a:rPr>
              <a:t>Atmospheric Correction          Remove haze/scattering                   Radiative Transfer Equation</a:t>
            </a:r>
          </a:p>
          <a:p>
            <a:pPr marL="12700" marR="5080"/>
            <a:r>
              <a:rPr lang="en-US" sz="1500" kern="0" spc="-80" dirty="0">
                <a:solidFill>
                  <a:schemeClr val="accent6"/>
                </a:solidFill>
              </a:rPr>
              <a:t>                                                                                                                  (RTE) models</a:t>
            </a:r>
          </a:p>
          <a:p>
            <a:pPr marL="12700" marR="5080"/>
            <a:endParaRPr lang="en-US" sz="1500" kern="0" spc="-80" dirty="0">
              <a:solidFill>
                <a:schemeClr val="accent6"/>
              </a:solidFill>
            </a:endParaRPr>
          </a:p>
          <a:p>
            <a:pPr marL="12700" marR="5080"/>
            <a:r>
              <a:rPr lang="en-US" sz="1500" kern="0" spc="-80" dirty="0">
                <a:solidFill>
                  <a:schemeClr val="accent2"/>
                </a:solidFill>
              </a:rPr>
              <a:t>4) Geometric Correction</a:t>
            </a:r>
          </a:p>
          <a:p>
            <a:pPr marL="12700" marR="5080"/>
            <a:r>
              <a:rPr lang="en-US" sz="1500" kern="0" spc="-80" dirty="0">
                <a:solidFill>
                  <a:schemeClr val="accent6"/>
                </a:solidFill>
              </a:rPr>
              <a:t>Aligning pixels to real Earth locations.</a:t>
            </a:r>
          </a:p>
          <a:p>
            <a:pPr marL="12700" marR="5080"/>
            <a:r>
              <a:rPr lang="en-US" sz="1500" kern="0" spc="-80" dirty="0">
                <a:solidFill>
                  <a:schemeClr val="accent6"/>
                </a:solidFill>
              </a:rPr>
              <a:t>Uses camera geometry, orbital parameters, GCPs, DEM</a:t>
            </a:r>
          </a:p>
          <a:p>
            <a:pPr marL="12700" marR="5080"/>
            <a:r>
              <a:rPr lang="en-US" sz="1500" kern="0" spc="-80" dirty="0">
                <a:solidFill>
                  <a:schemeClr val="accent2"/>
                </a:solidFill>
              </a:rPr>
              <a:t>Fundamental transformation:</a:t>
            </a:r>
          </a:p>
          <a:p>
            <a:pPr marL="12700" marR="5080"/>
            <a:r>
              <a:rPr lang="en-US" sz="1500" kern="0" spc="-80" dirty="0">
                <a:solidFill>
                  <a:schemeClr val="accent6"/>
                </a:solidFill>
              </a:rPr>
              <a:t>x' = ax + by + c</a:t>
            </a:r>
          </a:p>
          <a:p>
            <a:pPr marL="12700" marR="5080"/>
            <a:r>
              <a:rPr lang="en-US" sz="1500" kern="0" spc="-80" dirty="0">
                <a:solidFill>
                  <a:schemeClr val="accent6"/>
                </a:solidFill>
              </a:rPr>
              <a:t>y' = dx + </a:t>
            </a:r>
            <a:r>
              <a:rPr lang="en-US" sz="1500" kern="0" spc="-80" dirty="0" err="1">
                <a:solidFill>
                  <a:schemeClr val="accent6"/>
                </a:solidFill>
              </a:rPr>
              <a:t>ey</a:t>
            </a:r>
            <a:r>
              <a:rPr lang="en-US" sz="1500" kern="0" spc="-80" dirty="0">
                <a:solidFill>
                  <a:schemeClr val="accent6"/>
                </a:solidFill>
              </a:rPr>
              <a:t> + f</a:t>
            </a:r>
          </a:p>
        </p:txBody>
      </p:sp>
    </p:spTree>
    <p:extLst>
      <p:ext uri="{BB962C8B-B14F-4D97-AF65-F5344CB8AC3E}">
        <p14:creationId xmlns:p14="http://schemas.microsoft.com/office/powerpoint/2010/main" val="4178445943"/>
      </p:ext>
    </p:extLst>
  </p:cSld>
  <p:clrMapOvr>
    <a:masterClrMapping/>
  </p:clrMapOvr>
</p:sld>
</file>

<file path=ppt/slides/slide5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478CC-8A99-CD5F-8D69-AA63BBFD0CC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D08621A-AC28-4688-3F4C-1B85744480B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ACD7447-33C5-0968-24AF-75CEC905D2E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64E5810-7823-780D-EE2E-4D19840E9B7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ABE44CB-EC93-6BD7-C179-96C9FD089E6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B1EBB1C-E982-8977-F620-8B49F28C962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B8E71A6-EE7A-0702-C934-4B2F1D8CD15A}"/>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67C3E75-7EEF-4E33-F302-3E2A8F25633A}"/>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275DBF96-A391-286A-A99C-EBE1D9833BC6}"/>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BC06A013-8091-D188-8BF0-B0896F7B660C}"/>
              </a:ext>
            </a:extLst>
          </p:cNvPr>
          <p:cNvSpPr txBox="1">
            <a:spLocks/>
          </p:cNvSpPr>
          <p:nvPr/>
        </p:nvSpPr>
        <p:spPr>
          <a:xfrm>
            <a:off x="228600" y="762000"/>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Remote Sensing</a:t>
            </a:r>
          </a:p>
          <a:p>
            <a:pPr marL="12700" marR="5080"/>
            <a:r>
              <a:rPr lang="en-US" sz="1500" kern="0" spc="-80" dirty="0">
                <a:solidFill>
                  <a:schemeClr val="accent2"/>
                </a:solidFill>
              </a:rPr>
              <a:t>4) Geometric Correction</a:t>
            </a:r>
          </a:p>
          <a:p>
            <a:pPr marL="12700" marR="5080"/>
            <a:r>
              <a:rPr lang="en-US" sz="1500" kern="0" spc="-80" dirty="0">
                <a:solidFill>
                  <a:schemeClr val="accent6"/>
                </a:solidFill>
              </a:rPr>
              <a:t>Or full photogrammetric perspective projection:</a:t>
            </a:r>
          </a:p>
          <a:p>
            <a:pPr marL="12700" marR="5080"/>
            <a:r>
              <a:rPr lang="en-US" sz="1500" kern="0" spc="-80" dirty="0">
                <a:solidFill>
                  <a:schemeClr val="accent6"/>
                </a:solidFill>
              </a:rPr>
              <a:t>x = (f * X / Z),   y = (f * Y / Z)</a:t>
            </a:r>
          </a:p>
          <a:p>
            <a:pPr marL="12700" marR="5080"/>
            <a:r>
              <a:rPr lang="en-US" sz="1500" kern="0" spc="-80" dirty="0">
                <a:solidFill>
                  <a:schemeClr val="accent6"/>
                </a:solidFill>
              </a:rPr>
              <a:t>This is where maps become maps.</a:t>
            </a:r>
          </a:p>
          <a:p>
            <a:pPr marL="12700" marR="5080"/>
            <a:endParaRPr lang="en-US" sz="1500" kern="0" spc="-80" dirty="0">
              <a:solidFill>
                <a:schemeClr val="accent6"/>
              </a:solidFill>
            </a:endParaRPr>
          </a:p>
          <a:p>
            <a:pPr marL="12700" marR="5080"/>
            <a:r>
              <a:rPr lang="en-US" sz="1500" kern="0" spc="-80" dirty="0">
                <a:solidFill>
                  <a:schemeClr val="accent2"/>
                </a:solidFill>
              </a:rPr>
              <a:t>5) Image Enhancement</a:t>
            </a:r>
          </a:p>
          <a:p>
            <a:pPr marL="12700" marR="5080"/>
            <a:r>
              <a:rPr lang="en-US" sz="1500" kern="0" spc="-80" dirty="0">
                <a:solidFill>
                  <a:schemeClr val="accent6"/>
                </a:solidFill>
              </a:rPr>
              <a:t>Not science, but clarity.</a:t>
            </a:r>
          </a:p>
          <a:p>
            <a:pPr marL="12700" marR="5080"/>
            <a:r>
              <a:rPr lang="en-US" sz="1500" kern="0" spc="-80" dirty="0">
                <a:solidFill>
                  <a:schemeClr val="accent6"/>
                </a:solidFill>
              </a:rPr>
              <a:t>Contrast Stretching</a:t>
            </a:r>
          </a:p>
          <a:p>
            <a:pPr marL="12700" marR="5080"/>
            <a:r>
              <a:rPr lang="en-US" sz="1500" kern="0" spc="-80" dirty="0">
                <a:solidFill>
                  <a:schemeClr val="accent6"/>
                </a:solidFill>
              </a:rPr>
              <a:t>Histogram Equalization</a:t>
            </a:r>
          </a:p>
          <a:p>
            <a:pPr marL="12700" marR="5080"/>
            <a:r>
              <a:rPr lang="en-US" sz="1500" kern="0" spc="-80" dirty="0">
                <a:solidFill>
                  <a:schemeClr val="accent6"/>
                </a:solidFill>
              </a:rPr>
              <a:t>Band Ratios (e.g., NDVI)</a:t>
            </a:r>
          </a:p>
          <a:p>
            <a:pPr marL="12700" marR="5080"/>
            <a:r>
              <a:rPr lang="en-US" sz="1500" kern="0" spc="-80" dirty="0">
                <a:solidFill>
                  <a:schemeClr val="accent6"/>
                </a:solidFill>
              </a:rPr>
              <a:t>NDVI Mathematics</a:t>
            </a:r>
          </a:p>
          <a:p>
            <a:pPr marL="12700" marR="5080"/>
            <a:r>
              <a:rPr lang="en-US" sz="1500" kern="0" spc="-80" dirty="0">
                <a:solidFill>
                  <a:schemeClr val="accent6"/>
                </a:solidFill>
              </a:rPr>
              <a:t>NDVI = (NIR - Red) / (NIR + Red)</a:t>
            </a:r>
          </a:p>
          <a:p>
            <a:pPr marL="12700" marR="5080"/>
            <a:r>
              <a:rPr lang="en-US" sz="1500" kern="0" spc="-80" dirty="0">
                <a:solidFill>
                  <a:schemeClr val="accent6"/>
                </a:solidFill>
              </a:rPr>
              <a:t>It’s a vegetation vigor whisperer.</a:t>
            </a:r>
          </a:p>
          <a:p>
            <a:pPr marL="12700" marR="5080"/>
            <a:endParaRPr lang="en-US" sz="1500" kern="0" spc="-80" dirty="0">
              <a:solidFill>
                <a:schemeClr val="accent6"/>
              </a:solidFill>
            </a:endParaRPr>
          </a:p>
          <a:p>
            <a:pPr marL="12700" marR="5080"/>
            <a:r>
              <a:rPr lang="en-US" sz="1500" kern="0" spc="-80" dirty="0">
                <a:solidFill>
                  <a:schemeClr val="accent2"/>
                </a:solidFill>
              </a:rPr>
              <a:t>6) Filtering &amp; Texture</a:t>
            </a:r>
          </a:p>
          <a:p>
            <a:pPr marL="12700" marR="5080"/>
            <a:r>
              <a:rPr lang="en-US" sz="1500" kern="0" spc="-80" dirty="0">
                <a:solidFill>
                  <a:schemeClr val="accent6"/>
                </a:solidFill>
              </a:rPr>
              <a:t>Spatial kernels emphasize patterns.</a:t>
            </a:r>
          </a:p>
          <a:p>
            <a:pPr marL="12700" marR="5080"/>
            <a:r>
              <a:rPr lang="en-US" sz="1500" kern="0" spc="-80" dirty="0">
                <a:solidFill>
                  <a:schemeClr val="accent2"/>
                </a:solidFill>
              </a:rPr>
              <a:t>Filter	                  What it does	                    Math Form</a:t>
            </a:r>
          </a:p>
          <a:p>
            <a:pPr marL="12700" marR="5080"/>
            <a:r>
              <a:rPr lang="en-US" sz="1500" kern="0" spc="-80" dirty="0">
                <a:solidFill>
                  <a:schemeClr val="accent6"/>
                </a:solidFill>
              </a:rPr>
              <a:t>Mean Filter	Smooths	                                      Convolution </a:t>
            </a:r>
            <a:r>
              <a:rPr lang="el-GR" sz="1500" kern="0" spc="-80" dirty="0">
                <a:solidFill>
                  <a:schemeClr val="accent6"/>
                </a:solidFill>
              </a:rPr>
              <a:t>Σ(</a:t>
            </a:r>
            <a:r>
              <a:rPr lang="en-US" sz="1500" kern="0" spc="-80" dirty="0">
                <a:solidFill>
                  <a:schemeClr val="accent6"/>
                </a:solidFill>
              </a:rPr>
              <a:t>I * K)</a:t>
            </a:r>
          </a:p>
          <a:p>
            <a:pPr marL="12700" marR="5080"/>
            <a:r>
              <a:rPr lang="en-US" sz="1500" kern="0" spc="-80" dirty="0">
                <a:solidFill>
                  <a:schemeClr val="accent6"/>
                </a:solidFill>
              </a:rPr>
              <a:t>Sobel/Prewitt	Edge detection	                    Gradient magnitude √(Gx² + Gy²)</a:t>
            </a:r>
          </a:p>
          <a:p>
            <a:pPr marL="12700" marR="5080"/>
            <a:r>
              <a:rPr lang="en-US" sz="1500" kern="0" spc="-80" dirty="0">
                <a:solidFill>
                  <a:schemeClr val="accent6"/>
                </a:solidFill>
              </a:rPr>
              <a:t>GLCM Texture	Measures surface texture	  Co-occurrence matrices</a:t>
            </a:r>
          </a:p>
        </p:txBody>
      </p:sp>
    </p:spTree>
    <p:extLst>
      <p:ext uri="{BB962C8B-B14F-4D97-AF65-F5344CB8AC3E}">
        <p14:creationId xmlns:p14="http://schemas.microsoft.com/office/powerpoint/2010/main" val="1453409035"/>
      </p:ext>
    </p:extLst>
  </p:cSld>
  <p:clrMapOvr>
    <a:masterClrMapping/>
  </p:clrMapOvr>
</p:sld>
</file>

<file path=ppt/slides/slide5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2434B-430E-45E7-9C0E-39ED7E0B057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8082D80-F66A-8230-B20B-7C8993F0EAA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0B5CC1F-7DC2-54A7-DE04-6B202755B2A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B082428-D3F7-FB41-96C6-185E170A5AB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0EEF198-E1F5-5196-DC8D-5044EA1BF36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1384AE4-7FC9-375D-9B4F-0D5E08755BD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E10633B-8698-2FCF-4BA5-C130F2651F7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A1F49DCC-31D3-5740-DA36-74340DC57766}"/>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9AA30739-5FFA-4C28-C53D-1ADEDD37EB9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8183D145-B260-1696-EBEF-442C9FE84DE8}"/>
              </a:ext>
            </a:extLst>
          </p:cNvPr>
          <p:cNvSpPr txBox="1">
            <a:spLocks/>
          </p:cNvSpPr>
          <p:nvPr/>
        </p:nvSpPr>
        <p:spPr>
          <a:xfrm>
            <a:off x="228600" y="762000"/>
            <a:ext cx="8624937" cy="467820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Remote Sensing</a:t>
            </a:r>
          </a:p>
          <a:p>
            <a:pPr marL="12700" marR="5080"/>
            <a:r>
              <a:rPr lang="en-US" sz="1500" kern="0" spc="-80" dirty="0">
                <a:solidFill>
                  <a:schemeClr val="accent2"/>
                </a:solidFill>
              </a:rPr>
              <a:t>7) Classification &amp; Machine Learning</a:t>
            </a:r>
          </a:p>
          <a:p>
            <a:pPr marL="12700" marR="5080"/>
            <a:r>
              <a:rPr lang="en-US" sz="1500" kern="0" spc="-80" dirty="0">
                <a:solidFill>
                  <a:schemeClr val="accent6"/>
                </a:solidFill>
              </a:rPr>
              <a:t>Now the image becomes meaning.</a:t>
            </a:r>
          </a:p>
          <a:p>
            <a:pPr marL="12700" marR="5080"/>
            <a:r>
              <a:rPr lang="en-US" sz="1500" kern="0" spc="-80" dirty="0">
                <a:solidFill>
                  <a:schemeClr val="accent6"/>
                </a:solidFill>
              </a:rPr>
              <a:t>Supervised</a:t>
            </a:r>
          </a:p>
          <a:p>
            <a:pPr marL="12700" marR="5080"/>
            <a:r>
              <a:rPr lang="en-US" sz="1500" kern="0" spc="-80" dirty="0">
                <a:solidFill>
                  <a:schemeClr val="accent6"/>
                </a:solidFill>
              </a:rPr>
              <a:t>Maximum Likelihood Classification (Assumes Gaussian distributions)</a:t>
            </a:r>
          </a:p>
          <a:p>
            <a:pPr marL="12700" marR="5080"/>
            <a:r>
              <a:rPr lang="en-US" sz="1500" kern="0" spc="-80" dirty="0">
                <a:solidFill>
                  <a:schemeClr val="accent6"/>
                </a:solidFill>
              </a:rPr>
              <a:t>Support Vector Machines</a:t>
            </a:r>
          </a:p>
          <a:p>
            <a:pPr marL="12700" marR="5080"/>
            <a:r>
              <a:rPr lang="en-US" sz="1500" kern="0" spc="-80" dirty="0">
                <a:solidFill>
                  <a:schemeClr val="accent6"/>
                </a:solidFill>
              </a:rPr>
              <a:t>Random Forest</a:t>
            </a:r>
          </a:p>
          <a:p>
            <a:pPr marL="12700" marR="5080"/>
            <a:r>
              <a:rPr lang="en-US" sz="1500" kern="0" spc="-80" dirty="0">
                <a:solidFill>
                  <a:schemeClr val="accent6"/>
                </a:solidFill>
              </a:rPr>
              <a:t>Deep CNNs (for land-cover / objects)</a:t>
            </a:r>
          </a:p>
          <a:p>
            <a:pPr marL="12700" marR="5080"/>
            <a:r>
              <a:rPr lang="en-US" sz="1500" kern="0" spc="-80" dirty="0">
                <a:solidFill>
                  <a:schemeClr val="accent6"/>
                </a:solidFill>
              </a:rPr>
              <a:t>Unsupervised</a:t>
            </a:r>
          </a:p>
          <a:p>
            <a:pPr marL="12700" marR="5080"/>
            <a:r>
              <a:rPr lang="en-US" sz="1500" kern="0" spc="-80" dirty="0">
                <a:solidFill>
                  <a:schemeClr val="accent6"/>
                </a:solidFill>
              </a:rPr>
              <a:t>K-means</a:t>
            </a:r>
          </a:p>
          <a:p>
            <a:pPr marL="12700" marR="5080"/>
            <a:r>
              <a:rPr lang="en-US" sz="1500" kern="0" spc="-80" dirty="0">
                <a:solidFill>
                  <a:schemeClr val="accent6"/>
                </a:solidFill>
              </a:rPr>
              <a:t>ISODATA</a:t>
            </a:r>
          </a:p>
          <a:p>
            <a:pPr marL="12700" marR="5080"/>
            <a:r>
              <a:rPr lang="en-US" sz="1500" kern="0" spc="-80" dirty="0">
                <a:solidFill>
                  <a:schemeClr val="accent6"/>
                </a:solidFill>
              </a:rPr>
              <a:t>Maximum Likelihood Math (Core Idea)</a:t>
            </a:r>
          </a:p>
          <a:p>
            <a:pPr marL="12700" marR="5080"/>
            <a:r>
              <a:rPr lang="en-US" sz="1500" kern="0" spc="-80" dirty="0">
                <a:solidFill>
                  <a:schemeClr val="accent6"/>
                </a:solidFill>
              </a:rPr>
              <a:t>P(</a:t>
            </a:r>
            <a:r>
              <a:rPr lang="en-US" sz="1500" kern="0" spc="-80" dirty="0" err="1">
                <a:solidFill>
                  <a:schemeClr val="accent6"/>
                </a:solidFill>
              </a:rPr>
              <a:t>class|pixel</a:t>
            </a:r>
            <a:r>
              <a:rPr lang="en-US" sz="1500" kern="0" spc="-80" dirty="0">
                <a:solidFill>
                  <a:schemeClr val="accent6"/>
                </a:solidFill>
              </a:rPr>
              <a:t>) ∝ exp[ -½ (x-</a:t>
            </a:r>
            <a:r>
              <a:rPr lang="el-GR" sz="1500" kern="0" spc="-80" dirty="0">
                <a:solidFill>
                  <a:schemeClr val="accent6"/>
                </a:solidFill>
              </a:rPr>
              <a:t>μ)</a:t>
            </a:r>
            <a:r>
              <a:rPr lang="en-US" sz="1500" kern="0" spc="-80" dirty="0">
                <a:solidFill>
                  <a:schemeClr val="accent6"/>
                </a:solidFill>
              </a:rPr>
              <a:t>ᵀ </a:t>
            </a:r>
            <a:r>
              <a:rPr lang="el-GR" sz="1500" kern="0" spc="-80" dirty="0">
                <a:solidFill>
                  <a:schemeClr val="accent6"/>
                </a:solidFill>
              </a:rPr>
              <a:t>Σ⁻¹ (</a:t>
            </a:r>
            <a:r>
              <a:rPr lang="en-US" sz="1500" kern="0" spc="-80" dirty="0">
                <a:solidFill>
                  <a:schemeClr val="accent6"/>
                </a:solidFill>
              </a:rPr>
              <a:t>x-</a:t>
            </a:r>
            <a:r>
              <a:rPr lang="el-GR" sz="1500" kern="0" spc="-80" dirty="0">
                <a:solidFill>
                  <a:schemeClr val="accent6"/>
                </a:solidFill>
              </a:rPr>
              <a:t>μ) ]</a:t>
            </a:r>
            <a:endParaRPr lang="en-US" sz="1500" kern="0" spc="-80" dirty="0">
              <a:solidFill>
                <a:schemeClr val="accent6"/>
              </a:solidFill>
            </a:endParaRPr>
          </a:p>
          <a:p>
            <a:pPr marL="12700" marR="5080"/>
            <a:endParaRPr lang="el-GR" sz="1500" kern="0" spc="-80" dirty="0">
              <a:solidFill>
                <a:schemeClr val="accent6"/>
              </a:solidFill>
            </a:endParaRPr>
          </a:p>
          <a:p>
            <a:pPr marL="12700" marR="5080"/>
            <a:r>
              <a:rPr lang="el-GR" sz="1500" kern="0" spc="-80" dirty="0">
                <a:solidFill>
                  <a:schemeClr val="accent2"/>
                </a:solidFill>
              </a:rPr>
              <a:t>8) </a:t>
            </a:r>
            <a:r>
              <a:rPr lang="en-US" sz="1500" kern="0" spc="-80" dirty="0">
                <a:solidFill>
                  <a:schemeClr val="accent2"/>
                </a:solidFill>
              </a:rPr>
              <a:t>Change Detection</a:t>
            </a:r>
          </a:p>
          <a:p>
            <a:pPr marL="12700" marR="5080"/>
            <a:r>
              <a:rPr lang="en-US" sz="1500" kern="0" spc="-80" dirty="0">
                <a:solidFill>
                  <a:schemeClr val="accent2"/>
                </a:solidFill>
              </a:rPr>
              <a:t>Compare multitemporal </a:t>
            </a:r>
            <a:r>
              <a:rPr lang="en-US" sz="1500" kern="0" spc="-80" dirty="0" err="1">
                <a:solidFill>
                  <a:schemeClr val="accent2"/>
                </a:solidFill>
              </a:rPr>
              <a:t>rasters</a:t>
            </a:r>
            <a:r>
              <a:rPr lang="en-US" sz="1500" kern="0" spc="-80" dirty="0">
                <a:solidFill>
                  <a:schemeClr val="accent2"/>
                </a:solidFill>
              </a:rPr>
              <a:t> using:</a:t>
            </a:r>
          </a:p>
          <a:p>
            <a:pPr marL="12700" marR="5080"/>
            <a:r>
              <a:rPr lang="en-US" sz="1500" kern="0" spc="-80" dirty="0">
                <a:solidFill>
                  <a:schemeClr val="accent6"/>
                </a:solidFill>
              </a:rPr>
              <a:t>Difference images</a:t>
            </a:r>
          </a:p>
          <a:p>
            <a:pPr marL="12700" marR="5080"/>
            <a:r>
              <a:rPr lang="en-US" sz="1500" kern="0" spc="-80" dirty="0">
                <a:solidFill>
                  <a:schemeClr val="accent6"/>
                </a:solidFill>
              </a:rPr>
              <a:t>Post-classification comparison</a:t>
            </a:r>
          </a:p>
          <a:p>
            <a:pPr marL="12700" marR="5080"/>
            <a:r>
              <a:rPr lang="en-US" sz="1500" kern="0" spc="-80" dirty="0">
                <a:solidFill>
                  <a:schemeClr val="accent6"/>
                </a:solidFill>
              </a:rPr>
              <a:t>Spectral change vectors</a:t>
            </a: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2361876350"/>
      </p:ext>
    </p:extLst>
  </p:cSld>
  <p:clrMapOvr>
    <a:masterClrMapping/>
  </p:clrMapOvr>
</p:sld>
</file>

<file path=ppt/slides/slide5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8B68C-6E97-132F-5150-33213E91A67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2EB0E41-C4EF-2DDE-99BB-B5BE9359811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D66D829-1939-99CB-5C4F-B4834705499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ADF6EF9-0273-0205-524D-476B8D5A28B5}"/>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956FDA8-465C-F625-6B80-50A3E2A73A1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AE5E275-8CD2-9ABE-2CFE-676840FFC2B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4D61B17C-4E87-C83D-7356-548FCCB77155}"/>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317D5BA4-708B-1B8F-B3E9-D2DC1B7197B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767750AE-B277-FE31-9948-0810182FF4A4}"/>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9D46417C-0574-7042-9568-06FC01E5F61B}"/>
              </a:ext>
            </a:extLst>
          </p:cNvPr>
          <p:cNvSpPr txBox="1">
            <a:spLocks/>
          </p:cNvSpPr>
          <p:nvPr/>
        </p:nvSpPr>
        <p:spPr>
          <a:xfrm>
            <a:off x="228600" y="762000"/>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Remote Sensing</a:t>
            </a:r>
          </a:p>
          <a:p>
            <a:pPr marL="12700" marR="5080"/>
            <a:r>
              <a:rPr lang="en-US" sz="1500" kern="0" spc="-80" dirty="0">
                <a:solidFill>
                  <a:schemeClr val="accent2"/>
                </a:solidFill>
              </a:rPr>
              <a:t>9) Active Remote Sensing </a:t>
            </a:r>
            <a:r>
              <a:rPr lang="en-US" sz="1500" kern="0" spc="-80" dirty="0" err="1">
                <a:solidFill>
                  <a:schemeClr val="accent2"/>
                </a:solidFill>
              </a:rPr>
              <a:t>Maths</a:t>
            </a:r>
            <a:r>
              <a:rPr lang="en-US" sz="1500" kern="0" spc="-80" dirty="0">
                <a:solidFill>
                  <a:schemeClr val="accent2"/>
                </a:solidFill>
              </a:rPr>
              <a:t>:</a:t>
            </a:r>
            <a:r>
              <a:rPr lang="en-US" sz="1500" kern="0" spc="-80" dirty="0">
                <a:solidFill>
                  <a:schemeClr val="accent6"/>
                </a:solidFill>
              </a:rPr>
              <a:t> </a:t>
            </a:r>
          </a:p>
          <a:p>
            <a:pPr marL="12700" marR="5080"/>
            <a:r>
              <a:rPr lang="en-US" sz="1500" kern="0" spc="-80" dirty="0">
                <a:solidFill>
                  <a:schemeClr val="accent6"/>
                </a:solidFill>
              </a:rPr>
              <a:t>SAR &amp; Polarimetry</a:t>
            </a:r>
          </a:p>
          <a:p>
            <a:pPr marL="12700" marR="5080"/>
            <a:r>
              <a:rPr lang="en-US" sz="1500" kern="0" spc="-80" dirty="0">
                <a:solidFill>
                  <a:schemeClr val="accent6"/>
                </a:solidFill>
              </a:rPr>
              <a:t>Radar interacts with structure and moisture.</a:t>
            </a:r>
          </a:p>
          <a:p>
            <a:pPr marL="12700" marR="5080"/>
            <a:r>
              <a:rPr lang="en-US" sz="1500" kern="0" spc="-80" dirty="0">
                <a:solidFill>
                  <a:schemeClr val="accent6"/>
                </a:solidFill>
              </a:rPr>
              <a:t>Backscatter Coefficient (</a:t>
            </a:r>
            <a:r>
              <a:rPr lang="el-GR" sz="1500" kern="0" spc="-80" dirty="0">
                <a:solidFill>
                  <a:schemeClr val="accent6"/>
                </a:solidFill>
              </a:rPr>
              <a:t>σ°): </a:t>
            </a:r>
            <a:r>
              <a:rPr lang="en-US" sz="1500" kern="0" spc="-80" dirty="0">
                <a:solidFill>
                  <a:schemeClr val="accent6"/>
                </a:solidFill>
              </a:rPr>
              <a:t>Measures signal returned</a:t>
            </a:r>
          </a:p>
          <a:p>
            <a:pPr marL="12700" marR="5080"/>
            <a:r>
              <a:rPr lang="en-US" sz="1500" kern="0" spc="-80" dirty="0">
                <a:solidFill>
                  <a:schemeClr val="accent2"/>
                </a:solidFill>
              </a:rPr>
              <a:t>Polarization (HH, HV, VH, VV) decomposes scattering into:</a:t>
            </a:r>
          </a:p>
          <a:p>
            <a:pPr marL="12700" marR="5080"/>
            <a:r>
              <a:rPr lang="en-US" sz="1500" kern="0" spc="-80" dirty="0">
                <a:solidFill>
                  <a:schemeClr val="accent6"/>
                </a:solidFill>
              </a:rPr>
              <a:t>Surface scattering</a:t>
            </a:r>
          </a:p>
          <a:p>
            <a:pPr marL="12700" marR="5080"/>
            <a:r>
              <a:rPr lang="en-US" sz="1500" kern="0" spc="-80" dirty="0">
                <a:solidFill>
                  <a:schemeClr val="accent6"/>
                </a:solidFill>
              </a:rPr>
              <a:t>Double-bounce</a:t>
            </a:r>
          </a:p>
          <a:p>
            <a:pPr marL="12700" marR="5080"/>
            <a:r>
              <a:rPr lang="en-US" sz="1500" kern="0" spc="-80" dirty="0">
                <a:solidFill>
                  <a:schemeClr val="accent6"/>
                </a:solidFill>
              </a:rPr>
              <a:t>Volume scattering</a:t>
            </a:r>
          </a:p>
          <a:p>
            <a:pPr marL="12700" marR="5080"/>
            <a:r>
              <a:rPr lang="en-US" sz="1500" kern="0" spc="-80" dirty="0">
                <a:solidFill>
                  <a:schemeClr val="accent2"/>
                </a:solidFill>
              </a:rPr>
              <a:t>Advanced math:</a:t>
            </a:r>
            <a:r>
              <a:rPr lang="en-US" sz="1500" kern="0" spc="-80" dirty="0">
                <a:solidFill>
                  <a:schemeClr val="accent6"/>
                </a:solidFill>
              </a:rPr>
              <a:t> Eigen decomposition of scattering matrix.</a:t>
            </a:r>
          </a:p>
          <a:p>
            <a:pPr marL="12700" marR="5080"/>
            <a:endParaRPr lang="en-US" sz="1500" kern="0" spc="-80" dirty="0">
              <a:solidFill>
                <a:schemeClr val="accent6"/>
              </a:solidFill>
            </a:endParaRPr>
          </a:p>
          <a:p>
            <a:pPr marL="12700" marR="5080"/>
            <a:r>
              <a:rPr lang="en-US" sz="1500" kern="0" spc="-80" dirty="0">
                <a:solidFill>
                  <a:schemeClr val="accent2"/>
                </a:solidFill>
              </a:rPr>
              <a:t>10) LiDAR Point Clouds</a:t>
            </a:r>
          </a:p>
          <a:p>
            <a:pPr marL="12700" marR="5080"/>
            <a:r>
              <a:rPr lang="en-US" sz="1500" kern="0" spc="-80" dirty="0">
                <a:solidFill>
                  <a:schemeClr val="accent2"/>
                </a:solidFill>
              </a:rPr>
              <a:t>Every laser pulse gives:</a:t>
            </a:r>
          </a:p>
          <a:p>
            <a:pPr marL="12700" marR="5080"/>
            <a:r>
              <a:rPr lang="en-US" sz="1500" kern="0" spc="-80" dirty="0">
                <a:solidFill>
                  <a:schemeClr val="accent6"/>
                </a:solidFill>
              </a:rPr>
              <a:t>3D point (x, y, z)</a:t>
            </a:r>
          </a:p>
          <a:p>
            <a:pPr marL="12700" marR="5080"/>
            <a:r>
              <a:rPr lang="en-US" sz="1500" kern="0" spc="-80" dirty="0">
                <a:solidFill>
                  <a:schemeClr val="accent6"/>
                </a:solidFill>
              </a:rPr>
              <a:t>Intensity</a:t>
            </a:r>
          </a:p>
          <a:p>
            <a:pPr marL="12700" marR="5080"/>
            <a:r>
              <a:rPr lang="en-US" sz="1500" kern="0" spc="-80" dirty="0">
                <a:solidFill>
                  <a:schemeClr val="accent6"/>
                </a:solidFill>
              </a:rPr>
              <a:t>Return number (single / multiple echoes)</a:t>
            </a:r>
          </a:p>
          <a:p>
            <a:pPr marL="12700" marR="5080"/>
            <a:r>
              <a:rPr lang="en-US" sz="1500" kern="0" spc="-80" dirty="0">
                <a:solidFill>
                  <a:schemeClr val="accent2"/>
                </a:solidFill>
              </a:rPr>
              <a:t>Surface models:</a:t>
            </a:r>
          </a:p>
          <a:p>
            <a:pPr marL="12700" marR="5080"/>
            <a:r>
              <a:rPr lang="en-US" sz="1500" kern="0" spc="-80" dirty="0">
                <a:solidFill>
                  <a:schemeClr val="accent2"/>
                </a:solidFill>
              </a:rPr>
              <a:t>DSM:</a:t>
            </a:r>
            <a:r>
              <a:rPr lang="en-US" sz="1500" kern="0" spc="-80" dirty="0">
                <a:solidFill>
                  <a:schemeClr val="accent6"/>
                </a:solidFill>
              </a:rPr>
              <a:t> Visible surfaces</a:t>
            </a:r>
          </a:p>
          <a:p>
            <a:pPr marL="12700" marR="5080"/>
            <a:r>
              <a:rPr lang="en-US" sz="1500" kern="0" spc="-80" dirty="0">
                <a:solidFill>
                  <a:schemeClr val="accent2"/>
                </a:solidFill>
              </a:rPr>
              <a:t>DTM: </a:t>
            </a:r>
            <a:r>
              <a:rPr lang="en-US" sz="1500" kern="0" spc="-80" dirty="0">
                <a:solidFill>
                  <a:schemeClr val="accent6"/>
                </a:solidFill>
              </a:rPr>
              <a:t>Ground only (after classification)</a:t>
            </a:r>
          </a:p>
          <a:p>
            <a:pPr marL="12700" marR="5080"/>
            <a:r>
              <a:rPr lang="en-US" sz="1500" kern="0" spc="-80" dirty="0" err="1">
                <a:solidFill>
                  <a:schemeClr val="accent2"/>
                </a:solidFill>
              </a:rPr>
              <a:t>nDSM</a:t>
            </a:r>
            <a:r>
              <a:rPr lang="en-US" sz="1500" kern="0" spc="-80" dirty="0">
                <a:solidFill>
                  <a:schemeClr val="accent2"/>
                </a:solidFill>
              </a:rPr>
              <a:t>:</a:t>
            </a:r>
            <a:r>
              <a:rPr lang="en-US" sz="1500" kern="0" spc="-80" dirty="0">
                <a:solidFill>
                  <a:schemeClr val="accent6"/>
                </a:solidFill>
              </a:rPr>
              <a:t> Height of objects (DSM - DTM)</a:t>
            </a: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2922680668"/>
      </p:ext>
    </p:extLst>
  </p:cSld>
  <p:clrMapOvr>
    <a:masterClrMapping/>
  </p:clrMapOvr>
</p:sld>
</file>

<file path=ppt/slides/slide5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3A2F2-7197-3FA8-05FC-EB77A438509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D107455-BCC8-8B56-C52C-C32E57938AB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E0107D0-BE2D-0223-2C9F-DC6B89791A3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264214D-FA7B-C5D8-8FEF-59888690C40B}"/>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04DD861-70EB-EE41-BF7A-562D88EDDD6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C75EBCE-D9D6-6C28-1683-314D8883978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DE63D3C-9847-F18C-159D-DC4716A1BB5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01434371-B813-F644-162C-11B33571F236}"/>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2" name="object 2">
            <a:extLst>
              <a:ext uri="{FF2B5EF4-FFF2-40B4-BE49-F238E27FC236}">
                <a16:creationId xmlns:a16="http://schemas.microsoft.com/office/drawing/2014/main" id="{240647E7-D476-7CC1-62D4-3FE7947A7F52}"/>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83957C0F-8F76-5732-FE1D-D47D782AE7E9}"/>
              </a:ext>
            </a:extLst>
          </p:cNvPr>
          <p:cNvSpPr txBox="1">
            <a:spLocks/>
          </p:cNvSpPr>
          <p:nvPr/>
        </p:nvSpPr>
        <p:spPr>
          <a:xfrm>
            <a:off x="228600" y="762000"/>
            <a:ext cx="8624937" cy="521681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Remote Sensing</a:t>
            </a:r>
          </a:p>
          <a:p>
            <a:pPr marL="12700" marR="5080"/>
            <a:r>
              <a:rPr lang="en-US" sz="1500" kern="0" spc="-80" dirty="0">
                <a:solidFill>
                  <a:schemeClr val="accent2"/>
                </a:solidFill>
              </a:rPr>
              <a:t>🎓 Final Summary (The Essence)</a:t>
            </a:r>
          </a:p>
          <a:p>
            <a:pPr marL="12700" marR="5080"/>
            <a:r>
              <a:rPr lang="en-US" sz="1500" kern="0" spc="-80" dirty="0">
                <a:solidFill>
                  <a:schemeClr val="accent2"/>
                </a:solidFill>
              </a:rPr>
              <a:t>Remote sensing is:</a:t>
            </a:r>
          </a:p>
          <a:p>
            <a:pPr marL="12700" marR="5080"/>
            <a:r>
              <a:rPr lang="en-US" sz="1500" kern="0" spc="-80" dirty="0">
                <a:solidFill>
                  <a:schemeClr val="accent6"/>
                </a:solidFill>
              </a:rPr>
              <a:t>Physics of how surfaces reflect and emit energy</a:t>
            </a:r>
          </a:p>
          <a:p>
            <a:pPr marL="12700" marR="5080"/>
            <a:r>
              <a:rPr lang="en-US" sz="1500" kern="0" spc="-80" dirty="0">
                <a:solidFill>
                  <a:schemeClr val="accent6"/>
                </a:solidFill>
              </a:rPr>
              <a:t>Mathematics of turning photons into numbers</a:t>
            </a:r>
          </a:p>
          <a:p>
            <a:pPr marL="12700" marR="5080"/>
            <a:r>
              <a:rPr lang="en-US" sz="1500" kern="0" spc="-80" dirty="0">
                <a:solidFill>
                  <a:schemeClr val="accent6"/>
                </a:solidFill>
              </a:rPr>
              <a:t>Geometry of projecting Earth into pixels</a:t>
            </a:r>
          </a:p>
          <a:p>
            <a:pPr marL="12700" marR="5080"/>
            <a:r>
              <a:rPr lang="en-US" sz="1500" kern="0" spc="-80" dirty="0">
                <a:solidFill>
                  <a:schemeClr val="accent6"/>
                </a:solidFill>
              </a:rPr>
              <a:t>Statistics and ML that convert pixels into knowledge</a:t>
            </a:r>
          </a:p>
          <a:p>
            <a:pPr marL="12700" marR="5080"/>
            <a:r>
              <a:rPr lang="en-US" sz="1500" kern="0" spc="-80" dirty="0">
                <a:solidFill>
                  <a:schemeClr val="accent6"/>
                </a:solidFill>
              </a:rPr>
              <a:t>Remote sensing is Earth reading its own diary.</a:t>
            </a:r>
          </a:p>
          <a:p>
            <a:pPr marL="12700" marR="5080"/>
            <a:endParaRPr lang="en-US" sz="1500" kern="0" spc="-80" dirty="0">
              <a:solidFill>
                <a:schemeClr val="accent6"/>
              </a:solidFill>
            </a:endParaRPr>
          </a:p>
          <a:p>
            <a:pPr marL="12700" marR="5080"/>
            <a:endParaRPr lang="en-US" sz="1500" kern="0" spc="-80" dirty="0">
              <a:solidFill>
                <a:schemeClr val="accent2"/>
              </a:solidFill>
            </a:endParaRPr>
          </a:p>
          <a:p>
            <a:pPr marL="12700" marR="5080"/>
            <a:endParaRPr lang="en-US" sz="1500" kern="0" spc="-80" dirty="0">
              <a:solidFill>
                <a:schemeClr val="accent2"/>
              </a:solidFill>
            </a:endParaRPr>
          </a:p>
          <a:p>
            <a:pPr marL="12700" marR="5080"/>
            <a:endParaRPr lang="en-US" sz="1500" kern="0" spc="-80" dirty="0">
              <a:solidFill>
                <a:schemeClr val="accent2"/>
              </a:solidFill>
            </a:endParaRPr>
          </a:p>
          <a:p>
            <a:pPr marL="12700" marR="5080"/>
            <a:endParaRPr lang="en-US" sz="1500" kern="0" spc="-80" dirty="0">
              <a:solidFill>
                <a:schemeClr val="accent2"/>
              </a:solidFill>
            </a:endParaRPr>
          </a:p>
          <a:p>
            <a:pPr marL="12700" marR="5080"/>
            <a:endParaRPr lang="en-US" sz="1500" kern="0" spc="-80" dirty="0">
              <a:solidFill>
                <a:schemeClr val="accent2"/>
              </a:solidFill>
            </a:endParaRPr>
          </a:p>
          <a:p>
            <a:pPr marL="12700" marR="5080"/>
            <a:endParaRPr lang="en-US" sz="1500" kern="0" spc="-80" dirty="0">
              <a:solidFill>
                <a:schemeClr val="accent2"/>
              </a:solidFill>
            </a:endParaRPr>
          </a:p>
          <a:p>
            <a:pPr marL="12700" marR="5080"/>
            <a:endParaRPr lang="en-US" sz="1500" kern="0" spc="-80" dirty="0">
              <a:solidFill>
                <a:schemeClr val="accent2"/>
              </a:solidFill>
            </a:endParaRPr>
          </a:p>
          <a:p>
            <a:pPr marL="12700" marR="5080"/>
            <a:r>
              <a:rPr lang="en-US" sz="1500" kern="0" spc="-80" dirty="0">
                <a:solidFill>
                  <a:schemeClr val="accent2"/>
                </a:solidFill>
              </a:rPr>
              <a:t>For Further Exploration</a:t>
            </a:r>
          </a:p>
          <a:p>
            <a:pPr marL="12700" marR="5080"/>
            <a:r>
              <a:rPr lang="en-IN" sz="1600" dirty="0">
                <a:hlinkClick r:id="rId7"/>
              </a:rPr>
              <a:t>Remote Sensing | NASA </a:t>
            </a:r>
            <a:r>
              <a:rPr lang="en-IN" sz="1600" dirty="0" err="1">
                <a:hlinkClick r:id="rId7"/>
              </a:rPr>
              <a:t>Earthdata</a:t>
            </a:r>
            <a:endParaRPr lang="en-IN" sz="1600" dirty="0"/>
          </a:p>
          <a:p>
            <a:pPr marL="12700" marR="5080"/>
            <a:r>
              <a:rPr lang="en-US" sz="1600" dirty="0">
                <a:hlinkClick r:id="rId8"/>
              </a:rPr>
              <a:t>Remote Sensing Tutorial In Spanish, French, Portuguese, and English - GRSS-IEEE</a:t>
            </a:r>
            <a:endParaRPr lang="en-US" sz="1500" kern="0" spc="-80" dirty="0">
              <a:solidFill>
                <a:schemeClr val="accent2"/>
              </a:solidFill>
            </a:endParaRPr>
          </a:p>
          <a:p>
            <a:pPr marL="12700" marR="5080"/>
            <a:r>
              <a:rPr lang="en-US" sz="1600" dirty="0">
                <a:hlinkClick r:id="rId9"/>
              </a:rPr>
              <a:t>Remote sensing, GIS and GPS</a:t>
            </a:r>
            <a:endParaRPr lang="en-US" sz="1600" dirty="0"/>
          </a:p>
          <a:p>
            <a:pPr marL="12700" marR="5080"/>
            <a:r>
              <a:rPr lang="en-IN" sz="1600" dirty="0">
                <a:hlinkClick r:id="rId10"/>
              </a:rPr>
              <a:t>REMOTE SENSING AND GIS</a:t>
            </a:r>
            <a:endParaRPr lang="en-IN" sz="1600" dirty="0"/>
          </a:p>
          <a:p>
            <a:pPr marL="12700" marR="5080"/>
            <a:r>
              <a:rPr lang="en-US" sz="1600" dirty="0">
                <a:hlinkClick r:id="rId11"/>
              </a:rPr>
              <a:t>Advanced Mathematical Methods in Remote Sensing</a:t>
            </a:r>
            <a:endParaRPr lang="en-US" sz="1500" kern="0" spc="-80" dirty="0">
              <a:solidFill>
                <a:schemeClr val="accent2"/>
              </a:solidFill>
            </a:endParaRPr>
          </a:p>
        </p:txBody>
      </p:sp>
    </p:spTree>
    <p:extLst>
      <p:ext uri="{BB962C8B-B14F-4D97-AF65-F5344CB8AC3E}">
        <p14:creationId xmlns:p14="http://schemas.microsoft.com/office/powerpoint/2010/main" val="3592684532"/>
      </p:ext>
    </p:extLst>
  </p:cSld>
  <p:clrMapOvr>
    <a:masterClrMapping/>
  </p:clrMapOvr>
</p:sld>
</file>

<file path=ppt/slides/slide5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3928E-89F1-6C57-DDDE-8FDBD09FAF1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97B37B2-84D8-B16B-7035-B3286F496B9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3284CC4-1A98-175E-EC66-69AD0B763C4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D4C0A0E-6F55-0DF7-4722-B45DF9DDAC4E}"/>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F44FE3B-7B81-7A95-ACA2-2FBCF114F8C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11C4DA6-C18F-168A-A81D-095DC5BCCD3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740DC9F-2CFD-33C1-49F8-266FC4AC4B45}"/>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36C37B04-122A-7735-C8B5-C110C4DC061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2" name="object 2">
            <a:extLst>
              <a:ext uri="{FF2B5EF4-FFF2-40B4-BE49-F238E27FC236}">
                <a16:creationId xmlns:a16="http://schemas.microsoft.com/office/drawing/2014/main" id="{BBD20683-924B-7E56-6D50-58F5EA7DE4E0}"/>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6A27E5A2-1F1F-65AD-D067-D4D0E57DBBE3}"/>
              </a:ext>
            </a:extLst>
          </p:cNvPr>
          <p:cNvSpPr txBox="1">
            <a:spLocks/>
          </p:cNvSpPr>
          <p:nvPr/>
        </p:nvSpPr>
        <p:spPr>
          <a:xfrm>
            <a:off x="228600" y="762000"/>
            <a:ext cx="8624937" cy="398570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Photogrammetry</a:t>
            </a:r>
          </a:p>
          <a:p>
            <a:pPr marL="12700" marR="5080"/>
            <a:r>
              <a:rPr lang="en-US" sz="1500" kern="0" spc="-80" dirty="0">
                <a:solidFill>
                  <a:schemeClr val="accent2"/>
                </a:solidFill>
              </a:rPr>
              <a:t>1. What is Photogrammetry?</a:t>
            </a:r>
          </a:p>
          <a:p>
            <a:pPr marL="12700" marR="5080"/>
            <a:r>
              <a:rPr lang="en-US" sz="1500" kern="0" spc="-80" dirty="0">
                <a:solidFill>
                  <a:schemeClr val="accent6"/>
                </a:solidFill>
              </a:rPr>
              <a:t>Photogrammetry is the science and technology of obtaining reliable measurements and 3D information about physical objects and the environment through the process of recording, measuring, and interpreting photographic images.</a:t>
            </a:r>
          </a:p>
          <a:p>
            <a:pPr marL="12700" marR="5080"/>
            <a:r>
              <a:rPr lang="en-US" sz="1500" kern="0" spc="-80" dirty="0">
                <a:solidFill>
                  <a:schemeClr val="accent6"/>
                </a:solidFill>
              </a:rPr>
              <a:t>It transforms 2D image data into 3D spatial information.</a:t>
            </a:r>
          </a:p>
          <a:p>
            <a:pPr marL="12700" marR="5080"/>
            <a:endParaRPr lang="en-US" sz="1500" kern="0" spc="-80" dirty="0">
              <a:solidFill>
                <a:schemeClr val="accent6"/>
              </a:solidFill>
            </a:endParaRPr>
          </a:p>
          <a:p>
            <a:pPr marL="12700" marR="5080"/>
            <a:r>
              <a:rPr lang="en-US" sz="1500" kern="0" spc="-80" dirty="0">
                <a:solidFill>
                  <a:schemeClr val="accent2"/>
                </a:solidFill>
              </a:rPr>
              <a:t>2. Major Types of Photogrammetry</a:t>
            </a: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a:p>
            <a:pPr marL="12700" marR="5080"/>
            <a:endParaRPr lang="en-US" sz="1500" kern="0" spc="-80" dirty="0">
              <a:solidFill>
                <a:schemeClr val="accent6"/>
              </a:solidFill>
            </a:endParaRPr>
          </a:p>
        </p:txBody>
      </p:sp>
      <p:graphicFrame>
        <p:nvGraphicFramePr>
          <p:cNvPr id="10" name="Table 9">
            <a:extLst>
              <a:ext uri="{FF2B5EF4-FFF2-40B4-BE49-F238E27FC236}">
                <a16:creationId xmlns:a16="http://schemas.microsoft.com/office/drawing/2014/main" id="{3EFBB511-81AD-179D-A65F-BA42A033C676}"/>
              </a:ext>
            </a:extLst>
          </p:cNvPr>
          <p:cNvGraphicFramePr>
            <a:graphicFrameLocks noGrp="1"/>
          </p:cNvGraphicFramePr>
          <p:nvPr/>
        </p:nvGraphicFramePr>
        <p:xfrm>
          <a:off x="199925" y="2672079"/>
          <a:ext cx="8715474" cy="3237093"/>
        </p:xfrm>
        <a:graphic>
          <a:graphicData uri="http://schemas.openxmlformats.org/drawingml/2006/table">
            <a:tbl>
              <a:tblPr firstRow="1" bandRow="1">
                <a:tableStyleId>{5C22544A-7EE6-4342-B048-85BDC9FD1C3A}</a:tableStyleId>
              </a:tblPr>
              <a:tblGrid>
                <a:gridCol w="2905158">
                  <a:extLst>
                    <a:ext uri="{9D8B030D-6E8A-4147-A177-3AD203B41FA5}">
                      <a16:colId xmlns:a16="http://schemas.microsoft.com/office/drawing/2014/main" val="3620479117"/>
                    </a:ext>
                  </a:extLst>
                </a:gridCol>
                <a:gridCol w="2905158">
                  <a:extLst>
                    <a:ext uri="{9D8B030D-6E8A-4147-A177-3AD203B41FA5}">
                      <a16:colId xmlns:a16="http://schemas.microsoft.com/office/drawing/2014/main" val="2681647465"/>
                    </a:ext>
                  </a:extLst>
                </a:gridCol>
                <a:gridCol w="2905158">
                  <a:extLst>
                    <a:ext uri="{9D8B030D-6E8A-4147-A177-3AD203B41FA5}">
                      <a16:colId xmlns:a16="http://schemas.microsoft.com/office/drawing/2014/main" val="4106503271"/>
                    </a:ext>
                  </a:extLst>
                </a:gridCol>
              </a:tblGrid>
              <a:tr h="450969">
                <a:tc>
                  <a:txBody>
                    <a:bodyPr/>
                    <a:lstStyle/>
                    <a:p>
                      <a:r>
                        <a:rPr lang="en-IN" dirty="0"/>
                        <a:t>Type</a:t>
                      </a:r>
                    </a:p>
                  </a:txBody>
                  <a:tcPr/>
                </a:tc>
                <a:tc>
                  <a:txBody>
                    <a:bodyPr/>
                    <a:lstStyle/>
                    <a:p>
                      <a:r>
                        <a:rPr lang="en-IN" dirty="0"/>
                        <a:t>Description</a:t>
                      </a:r>
                    </a:p>
                  </a:txBody>
                  <a:tcPr/>
                </a:tc>
                <a:tc>
                  <a:txBody>
                    <a:bodyPr/>
                    <a:lstStyle/>
                    <a:p>
                      <a:r>
                        <a:rPr lang="en-IN" dirty="0"/>
                        <a:t>Use Cases</a:t>
                      </a:r>
                    </a:p>
                  </a:txBody>
                  <a:tcPr/>
                </a:tc>
                <a:extLst>
                  <a:ext uri="{0D108BD9-81ED-4DB2-BD59-A6C34878D82A}">
                    <a16:rowId xmlns:a16="http://schemas.microsoft.com/office/drawing/2014/main" val="2437575816"/>
                  </a:ext>
                </a:extLst>
              </a:tr>
              <a:tr h="450969">
                <a:tc>
                  <a:txBody>
                    <a:bodyPr/>
                    <a:lstStyle/>
                    <a:p>
                      <a:r>
                        <a:rPr lang="en-IN" dirty="0"/>
                        <a:t>Aerial Photogrammetry</a:t>
                      </a:r>
                    </a:p>
                  </a:txBody>
                  <a:tcPr/>
                </a:tc>
                <a:tc>
                  <a:txBody>
                    <a:bodyPr/>
                    <a:lstStyle/>
                    <a:p>
                      <a:r>
                        <a:rPr lang="en-US" dirty="0"/>
                        <a:t>Uses aerial or drone images</a:t>
                      </a:r>
                      <a:endParaRPr lang="en-IN" dirty="0"/>
                    </a:p>
                  </a:txBody>
                  <a:tcPr/>
                </a:tc>
                <a:tc>
                  <a:txBody>
                    <a:bodyPr/>
                    <a:lstStyle/>
                    <a:p>
                      <a:r>
                        <a:rPr lang="en-IN" dirty="0"/>
                        <a:t>Mapping, DEM generation</a:t>
                      </a:r>
                    </a:p>
                  </a:txBody>
                  <a:tcPr/>
                </a:tc>
                <a:extLst>
                  <a:ext uri="{0D108BD9-81ED-4DB2-BD59-A6C34878D82A}">
                    <a16:rowId xmlns:a16="http://schemas.microsoft.com/office/drawing/2014/main" val="2178679576"/>
                  </a:ext>
                </a:extLst>
              </a:tr>
              <a:tr h="778385">
                <a:tc>
                  <a:txBody>
                    <a:bodyPr/>
                    <a:lstStyle/>
                    <a:p>
                      <a:r>
                        <a:rPr lang="en-IN" dirty="0"/>
                        <a:t>Terrestrial (Close-Range) Photogrammetry</a:t>
                      </a:r>
                    </a:p>
                  </a:txBody>
                  <a:tcPr/>
                </a:tc>
                <a:tc>
                  <a:txBody>
                    <a:bodyPr/>
                    <a:lstStyle/>
                    <a:p>
                      <a:r>
                        <a:rPr lang="en-IN" dirty="0"/>
                        <a:t>Uses ground-based cameras</a:t>
                      </a:r>
                    </a:p>
                  </a:txBody>
                  <a:tcPr/>
                </a:tc>
                <a:tc>
                  <a:txBody>
                    <a:bodyPr/>
                    <a:lstStyle/>
                    <a:p>
                      <a:r>
                        <a:rPr lang="en-IN" dirty="0"/>
                        <a:t>Architecture, heritage documentation</a:t>
                      </a:r>
                    </a:p>
                  </a:txBody>
                  <a:tcPr/>
                </a:tc>
                <a:extLst>
                  <a:ext uri="{0D108BD9-81ED-4DB2-BD59-A6C34878D82A}">
                    <a16:rowId xmlns:a16="http://schemas.microsoft.com/office/drawing/2014/main" val="1227742599"/>
                  </a:ext>
                </a:extLst>
              </a:tr>
              <a:tr h="778385">
                <a:tc>
                  <a:txBody>
                    <a:bodyPr/>
                    <a:lstStyle/>
                    <a:p>
                      <a:r>
                        <a:rPr lang="en-IN" dirty="0"/>
                        <a:t>Satellite Photogrammetry</a:t>
                      </a:r>
                    </a:p>
                  </a:txBody>
                  <a:tcPr/>
                </a:tc>
                <a:tc>
                  <a:txBody>
                    <a:bodyPr/>
                    <a:lstStyle/>
                    <a:p>
                      <a:r>
                        <a:rPr lang="en-IN" dirty="0"/>
                        <a:t>Uses satellite imagery</a:t>
                      </a:r>
                    </a:p>
                  </a:txBody>
                  <a:tcPr/>
                </a:tc>
                <a:tc>
                  <a:txBody>
                    <a:bodyPr/>
                    <a:lstStyle/>
                    <a:p>
                      <a:r>
                        <a:rPr lang="en-IN" dirty="0"/>
                        <a:t>Large-scale mapping, terrain models</a:t>
                      </a:r>
                    </a:p>
                  </a:txBody>
                  <a:tcPr/>
                </a:tc>
                <a:extLst>
                  <a:ext uri="{0D108BD9-81ED-4DB2-BD59-A6C34878D82A}">
                    <a16:rowId xmlns:a16="http://schemas.microsoft.com/office/drawing/2014/main" val="1084393789"/>
                  </a:ext>
                </a:extLst>
              </a:tr>
              <a:tr h="778385">
                <a:tc>
                  <a:txBody>
                    <a:bodyPr/>
                    <a:lstStyle/>
                    <a:p>
                      <a:r>
                        <a:rPr lang="en-IN" dirty="0"/>
                        <a:t>Oblique Photogrammetry</a:t>
                      </a:r>
                    </a:p>
                  </a:txBody>
                  <a:tcPr/>
                </a:tc>
                <a:tc>
                  <a:txBody>
                    <a:bodyPr/>
                    <a:lstStyle/>
                    <a:p>
                      <a:r>
                        <a:rPr lang="en-IN" dirty="0"/>
                        <a:t>Captures tilted images</a:t>
                      </a:r>
                    </a:p>
                  </a:txBody>
                  <a:tcPr/>
                </a:tc>
                <a:tc>
                  <a:txBody>
                    <a:bodyPr/>
                    <a:lstStyle/>
                    <a:p>
                      <a:r>
                        <a:rPr lang="en-US" dirty="0"/>
                        <a:t>3D city modeling, façade reconstruction</a:t>
                      </a:r>
                    </a:p>
                  </a:txBody>
                  <a:tcPr/>
                </a:tc>
                <a:extLst>
                  <a:ext uri="{0D108BD9-81ED-4DB2-BD59-A6C34878D82A}">
                    <a16:rowId xmlns:a16="http://schemas.microsoft.com/office/drawing/2014/main" val="2025871696"/>
                  </a:ext>
                </a:extLst>
              </a:tr>
            </a:tbl>
          </a:graphicData>
        </a:graphic>
      </p:graphicFrame>
    </p:spTree>
    <p:extLst>
      <p:ext uri="{BB962C8B-B14F-4D97-AF65-F5344CB8AC3E}">
        <p14:creationId xmlns:p14="http://schemas.microsoft.com/office/powerpoint/2010/main" val="2956974255"/>
      </p:ext>
    </p:extLst>
  </p:cSld>
  <p:clrMapOvr>
    <a:masterClrMapping/>
  </p:clrMapOvr>
</p:sld>
</file>

<file path=ppt/slides/slide5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5CE98-1A5A-9177-9ABF-46CB61E6372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F78A752-BD08-8A3F-4C1F-68C833BAD0E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61A6645-EA32-68DB-442F-A19AAE13F6C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9A698F2-9EC9-4B61-0093-396C3FA4B8CB}"/>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C251979-EC34-5411-0B11-6BDB8952A0CA}"/>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5AD14C62-6F04-B534-1EEF-72E35FA624A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BB2A604-1C32-A88C-5118-7DF8E7A0B0E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D3217D7C-21CB-B6C3-A7B2-CB4DEBA6D8E4}"/>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2" name="object 2">
            <a:extLst>
              <a:ext uri="{FF2B5EF4-FFF2-40B4-BE49-F238E27FC236}">
                <a16:creationId xmlns:a16="http://schemas.microsoft.com/office/drawing/2014/main" id="{EE0A5009-515C-4E4C-876C-22CBCFE146CC}"/>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A85744C9-164B-09EF-0D2B-789428696278}"/>
              </a:ext>
            </a:extLst>
          </p:cNvPr>
          <p:cNvSpPr txBox="1">
            <a:spLocks/>
          </p:cNvSpPr>
          <p:nvPr/>
        </p:nvSpPr>
        <p:spPr>
          <a:xfrm>
            <a:off x="228600" y="762000"/>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Photogrammetry</a:t>
            </a:r>
          </a:p>
          <a:p>
            <a:pPr marL="12700" marR="5080"/>
            <a:r>
              <a:rPr lang="en-US" sz="1500" kern="0" spc="-80" dirty="0">
                <a:solidFill>
                  <a:schemeClr val="accent2"/>
                </a:solidFill>
              </a:rPr>
              <a:t>3. Core Concepts</a:t>
            </a:r>
          </a:p>
          <a:p>
            <a:pPr marL="12700" marR="5080"/>
            <a:r>
              <a:rPr lang="en-US" sz="1500" kern="0" spc="-80" dirty="0">
                <a:solidFill>
                  <a:schemeClr val="accent2"/>
                </a:solidFill>
              </a:rPr>
              <a:t>Collinearity Principle:</a:t>
            </a:r>
          </a:p>
          <a:p>
            <a:pPr marL="12700" marR="5080"/>
            <a:r>
              <a:rPr lang="en-US" sz="1500" kern="0" spc="-80" dirty="0">
                <a:solidFill>
                  <a:schemeClr val="accent6"/>
                </a:solidFill>
              </a:rPr>
              <a:t>The object point, image point, and camera center lie on a straight line.</a:t>
            </a:r>
          </a:p>
          <a:p>
            <a:pPr marL="12700" marR="5080"/>
            <a:r>
              <a:rPr lang="en-US" sz="1500" kern="0" spc="-80" dirty="0">
                <a:solidFill>
                  <a:schemeClr val="accent6"/>
                </a:solidFill>
              </a:rPr>
              <a:t>Used in deriving the collinearity equations, the foundation of photogrammetric computation.</a:t>
            </a:r>
          </a:p>
          <a:p>
            <a:pPr marL="12700" marR="5080"/>
            <a:r>
              <a:rPr lang="en-US" sz="1500" kern="0" spc="-80" dirty="0">
                <a:solidFill>
                  <a:schemeClr val="accent2"/>
                </a:solidFill>
              </a:rPr>
              <a:t>Coplanarity Principle:</a:t>
            </a:r>
          </a:p>
          <a:p>
            <a:pPr marL="12700" marR="5080"/>
            <a:r>
              <a:rPr lang="en-US" sz="1500" kern="0" spc="-80" dirty="0">
                <a:solidFill>
                  <a:schemeClr val="accent6"/>
                </a:solidFill>
              </a:rPr>
              <a:t>Two images of the same object point and the two camera centers lie on the same plane.</a:t>
            </a:r>
          </a:p>
          <a:p>
            <a:pPr marL="12700" marR="5080"/>
            <a:r>
              <a:rPr lang="en-US" sz="1500" kern="0" spc="-80" dirty="0">
                <a:solidFill>
                  <a:schemeClr val="accent2"/>
                </a:solidFill>
              </a:rPr>
              <a:t>Stereoscopy:</a:t>
            </a:r>
          </a:p>
          <a:p>
            <a:pPr marL="12700" marR="5080"/>
            <a:r>
              <a:rPr lang="en-US" sz="1500" kern="0" spc="-80" dirty="0">
                <a:solidFill>
                  <a:schemeClr val="accent6"/>
                </a:solidFill>
              </a:rPr>
              <a:t>Technique of using overlapping images to create a stereoscopic pair, giving depth perception.</a:t>
            </a:r>
          </a:p>
          <a:p>
            <a:pPr marL="12700" marR="5080"/>
            <a:r>
              <a:rPr lang="en-US" sz="1500" kern="0" spc="-80" dirty="0">
                <a:solidFill>
                  <a:schemeClr val="accent2"/>
                </a:solidFill>
              </a:rPr>
              <a:t>Parallax:</a:t>
            </a:r>
          </a:p>
          <a:p>
            <a:pPr marL="12700" marR="5080"/>
            <a:r>
              <a:rPr lang="en-US" sz="1500" kern="0" spc="-80" dirty="0">
                <a:solidFill>
                  <a:schemeClr val="accent6"/>
                </a:solidFill>
              </a:rPr>
              <a:t>Apparent shift of an object’s position between two images; used to determine elevation.</a:t>
            </a:r>
          </a:p>
          <a:p>
            <a:pPr marL="12700" marR="5080"/>
            <a:r>
              <a:rPr lang="en-US" sz="1500" kern="0" spc="-80" dirty="0">
                <a:solidFill>
                  <a:schemeClr val="accent2"/>
                </a:solidFill>
              </a:rPr>
              <a:t>Interior Orientation:</a:t>
            </a:r>
          </a:p>
          <a:p>
            <a:pPr marL="12700" marR="5080"/>
            <a:r>
              <a:rPr lang="en-US" sz="1500" kern="0" spc="-80" dirty="0">
                <a:solidFill>
                  <a:schemeClr val="accent6"/>
                </a:solidFill>
              </a:rPr>
              <a:t>Defines the internal geometry of the camera (focal length, principal point, distortion).</a:t>
            </a:r>
          </a:p>
          <a:p>
            <a:pPr marL="12700" marR="5080"/>
            <a:r>
              <a:rPr lang="en-US" sz="1500" kern="0" spc="-80" dirty="0">
                <a:solidFill>
                  <a:schemeClr val="accent2"/>
                </a:solidFill>
              </a:rPr>
              <a:t>Exterior Orientation:</a:t>
            </a:r>
          </a:p>
          <a:p>
            <a:pPr marL="12700" marR="5080"/>
            <a:r>
              <a:rPr lang="en-US" sz="1500" kern="0" spc="-80" dirty="0">
                <a:solidFill>
                  <a:schemeClr val="accent6"/>
                </a:solidFill>
              </a:rPr>
              <a:t>Describes the position (X, Y, Z) and attitude (ω, φ, κ rotations) of the camera during image capture.</a:t>
            </a:r>
          </a:p>
          <a:p>
            <a:pPr marL="12700" marR="5080"/>
            <a:r>
              <a:rPr lang="en-US" sz="1500" kern="0" spc="-80" dirty="0">
                <a:solidFill>
                  <a:schemeClr val="accent2"/>
                </a:solidFill>
              </a:rPr>
              <a:t>Image Matching:</a:t>
            </a:r>
          </a:p>
          <a:p>
            <a:pPr marL="12700" marR="5080"/>
            <a:r>
              <a:rPr lang="en-US" sz="1500" kern="0" spc="-80" dirty="0">
                <a:solidFill>
                  <a:schemeClr val="accent6"/>
                </a:solidFill>
              </a:rPr>
              <a:t>Process of identifying identical features across overlapping images.</a:t>
            </a:r>
          </a:p>
          <a:p>
            <a:pPr marL="12700" marR="5080"/>
            <a:endParaRPr lang="en-US" sz="1500" kern="0" spc="-80" dirty="0">
              <a:solidFill>
                <a:schemeClr val="accent6"/>
              </a:solidFill>
            </a:endParaRPr>
          </a:p>
          <a:p>
            <a:pPr marL="12700" marR="5080"/>
            <a:r>
              <a:rPr lang="en-US" sz="1500" kern="0" spc="-80" dirty="0">
                <a:solidFill>
                  <a:schemeClr val="accent2"/>
                </a:solidFill>
              </a:rPr>
              <a:t>4. Methods of Photogrammetry</a:t>
            </a:r>
          </a:p>
          <a:p>
            <a:pPr marL="12700" marR="5080"/>
            <a:r>
              <a:rPr lang="en-US" sz="1500" kern="0" spc="-80" dirty="0">
                <a:solidFill>
                  <a:schemeClr val="accent2"/>
                </a:solidFill>
              </a:rPr>
              <a:t>Analog Photogrammetry:</a:t>
            </a:r>
          </a:p>
          <a:p>
            <a:pPr marL="12700" marR="5080"/>
            <a:r>
              <a:rPr lang="en-US" sz="1500" kern="0" spc="-80" dirty="0">
                <a:solidFill>
                  <a:schemeClr val="accent6"/>
                </a:solidFill>
              </a:rPr>
              <a:t>Traditional film-based, optical-mechanical methods using </a:t>
            </a:r>
            <a:r>
              <a:rPr lang="en-US" sz="1500" kern="0" spc="-80" dirty="0" err="1">
                <a:solidFill>
                  <a:schemeClr val="accent6"/>
                </a:solidFill>
              </a:rPr>
              <a:t>stereoplotters</a:t>
            </a:r>
            <a:r>
              <a:rPr lang="en-US" sz="1500" kern="0" spc="-80" dirty="0">
                <a:solidFill>
                  <a:schemeClr val="accent6"/>
                </a:solidFill>
              </a:rPr>
              <a:t>.</a:t>
            </a:r>
          </a:p>
        </p:txBody>
      </p:sp>
    </p:spTree>
    <p:extLst>
      <p:ext uri="{BB962C8B-B14F-4D97-AF65-F5344CB8AC3E}">
        <p14:creationId xmlns:p14="http://schemas.microsoft.com/office/powerpoint/2010/main" val="2808459279"/>
      </p:ext>
    </p:extLst>
  </p:cSld>
  <p:clrMapOvr>
    <a:masterClrMapping/>
  </p:clrMapOvr>
</p:sld>
</file>

<file path=ppt/slides/slide5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02C35C-A922-9BDE-9428-C1D3CAB4CC4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AC24B0E-FE92-05F2-73C2-92812F7247F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4C080A7-B67E-CF1A-8419-B197030AD74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1232502-601E-8704-6443-F65AE931E1B5}"/>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16E3CC1-1A97-4DCC-17E4-9D3C6944E07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47B404A-28C4-92E2-C426-B9DE14B6E65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48321863-8A9D-FF41-CBAA-6F25A78F3A3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11BB328-2DFD-DA9E-63CF-33B63A55BFA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2" name="object 2">
            <a:extLst>
              <a:ext uri="{FF2B5EF4-FFF2-40B4-BE49-F238E27FC236}">
                <a16:creationId xmlns:a16="http://schemas.microsoft.com/office/drawing/2014/main" id="{80C39684-1B33-37F2-C62E-B7D43FAC98C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C43BA3DB-3A57-CA8D-E839-6D81995EC688}"/>
              </a:ext>
            </a:extLst>
          </p:cNvPr>
          <p:cNvSpPr txBox="1">
            <a:spLocks/>
          </p:cNvSpPr>
          <p:nvPr/>
        </p:nvSpPr>
        <p:spPr>
          <a:xfrm>
            <a:off x="228600" y="762000"/>
            <a:ext cx="8624937" cy="51398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Photogrammetry</a:t>
            </a:r>
          </a:p>
          <a:p>
            <a:pPr marL="12700" marR="5080"/>
            <a:r>
              <a:rPr lang="en-US" sz="1500" kern="0" spc="-80" dirty="0">
                <a:solidFill>
                  <a:schemeClr val="accent2"/>
                </a:solidFill>
              </a:rPr>
              <a:t>Analytical Photogrammetry:</a:t>
            </a:r>
          </a:p>
          <a:p>
            <a:pPr marL="12700" marR="5080"/>
            <a:r>
              <a:rPr lang="en-US" sz="1500" kern="0" spc="-80" dirty="0">
                <a:solidFill>
                  <a:schemeClr val="accent6"/>
                </a:solidFill>
              </a:rPr>
              <a:t>Uses mathematical models (collinearity equations) with digitized images.</a:t>
            </a:r>
          </a:p>
          <a:p>
            <a:pPr marL="12700" marR="5080"/>
            <a:r>
              <a:rPr lang="en-US" sz="1500" kern="0" spc="-80" dirty="0">
                <a:solidFill>
                  <a:schemeClr val="accent2"/>
                </a:solidFill>
              </a:rPr>
              <a:t>Digital Photogrammetry:</a:t>
            </a:r>
          </a:p>
          <a:p>
            <a:pPr marL="12700" marR="5080"/>
            <a:r>
              <a:rPr lang="en-US" sz="1500" kern="0" spc="-80" dirty="0">
                <a:solidFill>
                  <a:schemeClr val="accent6"/>
                </a:solidFill>
              </a:rPr>
              <a:t>Fully computer-based — employs image processing, feature extraction, and </a:t>
            </a:r>
            <a:r>
              <a:rPr lang="en-US" sz="1500" kern="0" spc="-80" dirty="0" err="1">
                <a:solidFill>
                  <a:schemeClr val="accent6"/>
                </a:solidFill>
              </a:rPr>
              <a:t>SfM</a:t>
            </a:r>
            <a:r>
              <a:rPr lang="en-US" sz="1500" kern="0" spc="-80" dirty="0">
                <a:solidFill>
                  <a:schemeClr val="accent6"/>
                </a:solidFill>
              </a:rPr>
              <a:t> (Structure-from-Motion).</a:t>
            </a:r>
          </a:p>
          <a:p>
            <a:pPr marL="12700" marR="5080"/>
            <a:r>
              <a:rPr lang="en-US" sz="1500" kern="0" spc="-80" dirty="0">
                <a:solidFill>
                  <a:schemeClr val="accent2"/>
                </a:solidFill>
              </a:rPr>
              <a:t>    Structure from Motion (</a:t>
            </a:r>
            <a:r>
              <a:rPr lang="en-US" sz="1500" kern="0" spc="-80" dirty="0" err="1">
                <a:solidFill>
                  <a:schemeClr val="accent2"/>
                </a:solidFill>
              </a:rPr>
              <a:t>SfM</a:t>
            </a:r>
            <a:r>
              <a:rPr lang="en-US" sz="1500" kern="0" spc="-80" dirty="0">
                <a:solidFill>
                  <a:schemeClr val="accent2"/>
                </a:solidFill>
              </a:rPr>
              <a:t>):</a:t>
            </a:r>
          </a:p>
          <a:p>
            <a:pPr marL="12700" marR="5080"/>
            <a:r>
              <a:rPr lang="en-US" sz="1500" kern="0" spc="-80" dirty="0">
                <a:solidFill>
                  <a:schemeClr val="accent6"/>
                </a:solidFill>
              </a:rPr>
              <a:t>    Automatically reconstructs 3D geometry from unordered 2D images using feature matching </a:t>
            </a:r>
          </a:p>
          <a:p>
            <a:pPr marL="12700" marR="5080"/>
            <a:r>
              <a:rPr lang="en-US" sz="1500" kern="0" spc="-80" dirty="0">
                <a:solidFill>
                  <a:schemeClr val="accent6"/>
                </a:solidFill>
              </a:rPr>
              <a:t>    and camera calibration.</a:t>
            </a:r>
          </a:p>
          <a:p>
            <a:pPr marL="12700" marR="5080"/>
            <a:r>
              <a:rPr lang="en-US" sz="1500" kern="0" spc="-80" dirty="0">
                <a:solidFill>
                  <a:schemeClr val="accent2"/>
                </a:solidFill>
              </a:rPr>
              <a:t>    Bundle Adjustment:</a:t>
            </a:r>
          </a:p>
          <a:p>
            <a:pPr marL="12700" marR="5080"/>
            <a:r>
              <a:rPr lang="en-US" sz="1500" kern="0" spc="-80" dirty="0">
                <a:solidFill>
                  <a:schemeClr val="accent6"/>
                </a:solidFill>
              </a:rPr>
              <a:t>    Optimization process refining camera parameters and 3D point positions simultaneously for </a:t>
            </a:r>
          </a:p>
          <a:p>
            <a:pPr marL="12700" marR="5080"/>
            <a:r>
              <a:rPr lang="en-US" sz="1500" kern="0" spc="-80" dirty="0">
                <a:solidFill>
                  <a:schemeClr val="accent6"/>
                </a:solidFill>
              </a:rPr>
              <a:t>    minimal reprojection error.</a:t>
            </a:r>
          </a:p>
          <a:p>
            <a:pPr marL="12700" marR="5080"/>
            <a:endParaRPr lang="en-US" sz="1500" kern="0" spc="-80" dirty="0">
              <a:solidFill>
                <a:schemeClr val="accent6"/>
              </a:solidFill>
            </a:endParaRPr>
          </a:p>
          <a:p>
            <a:pPr marL="12700" marR="5080"/>
            <a:r>
              <a:rPr lang="en-US" sz="1500" kern="0" spc="-80" dirty="0">
                <a:solidFill>
                  <a:schemeClr val="accent2"/>
                </a:solidFill>
              </a:rPr>
              <a:t>5. Key Techniques</a:t>
            </a:r>
          </a:p>
          <a:p>
            <a:pPr marL="12700" marR="5080"/>
            <a:r>
              <a:rPr lang="en-US" sz="1500" kern="0" spc="-80" dirty="0">
                <a:solidFill>
                  <a:schemeClr val="accent2"/>
                </a:solidFill>
              </a:rPr>
              <a:t>Image Orientation:</a:t>
            </a:r>
          </a:p>
          <a:p>
            <a:pPr marL="12700" marR="5080"/>
            <a:r>
              <a:rPr lang="en-US" sz="1500" kern="0" spc="-80" dirty="0">
                <a:solidFill>
                  <a:schemeClr val="accent2"/>
                </a:solidFill>
              </a:rPr>
              <a:t>Interior Orientation:</a:t>
            </a:r>
            <a:r>
              <a:rPr lang="en-US" sz="1500" kern="0" spc="-80" dirty="0">
                <a:solidFill>
                  <a:schemeClr val="accent6"/>
                </a:solidFill>
              </a:rPr>
              <a:t> Calibrate the camera.</a:t>
            </a:r>
          </a:p>
          <a:p>
            <a:pPr marL="12700" marR="5080"/>
            <a:r>
              <a:rPr lang="en-US" sz="1500" kern="0" spc="-80" dirty="0">
                <a:solidFill>
                  <a:schemeClr val="accent2"/>
                </a:solidFill>
              </a:rPr>
              <a:t>Relative Orientation: </a:t>
            </a:r>
            <a:r>
              <a:rPr lang="en-US" sz="1500" kern="0" spc="-80" dirty="0">
                <a:solidFill>
                  <a:schemeClr val="accent6"/>
                </a:solidFill>
              </a:rPr>
              <a:t>Align overlapping images.</a:t>
            </a:r>
          </a:p>
          <a:p>
            <a:pPr marL="12700" marR="5080"/>
            <a:r>
              <a:rPr lang="en-US" sz="1500" kern="0" spc="-80" dirty="0">
                <a:solidFill>
                  <a:schemeClr val="accent2"/>
                </a:solidFill>
              </a:rPr>
              <a:t>Absolute Orientation: </a:t>
            </a:r>
            <a:r>
              <a:rPr lang="en-US" sz="1500" kern="0" spc="-80" dirty="0">
                <a:solidFill>
                  <a:schemeClr val="accent6"/>
                </a:solidFill>
              </a:rPr>
              <a:t>Scale and position model to real-world coordinates.</a:t>
            </a:r>
          </a:p>
          <a:p>
            <a:pPr marL="12700" marR="5080"/>
            <a:r>
              <a:rPr lang="en-US" sz="1500" kern="0" spc="-80" dirty="0">
                <a:solidFill>
                  <a:schemeClr val="accent2"/>
                </a:solidFill>
              </a:rPr>
              <a:t>Triangulation:</a:t>
            </a:r>
          </a:p>
          <a:p>
            <a:pPr marL="12700" marR="5080"/>
            <a:r>
              <a:rPr lang="en-US" sz="1500" kern="0" spc="-80" dirty="0">
                <a:solidFill>
                  <a:schemeClr val="accent2"/>
                </a:solidFill>
              </a:rPr>
              <a:t>Derives </a:t>
            </a:r>
            <a:r>
              <a:rPr lang="en-US" sz="1500" kern="0" spc="-80" dirty="0">
                <a:solidFill>
                  <a:schemeClr val="accent6"/>
                </a:solidFill>
              </a:rPr>
              <a:t>3D coordinates from intersecting rays traced from image points to object points.</a:t>
            </a:r>
          </a:p>
          <a:p>
            <a:pPr marL="12700" marR="5080"/>
            <a:r>
              <a:rPr lang="en-US" sz="1500" kern="0" spc="-80" dirty="0">
                <a:solidFill>
                  <a:schemeClr val="accent2"/>
                </a:solidFill>
              </a:rPr>
              <a:t>DEM/DSM/DTM Extraction:</a:t>
            </a:r>
          </a:p>
          <a:p>
            <a:pPr marL="12700" marR="5080"/>
            <a:r>
              <a:rPr lang="en-US" sz="1500" kern="0" spc="-80" dirty="0">
                <a:solidFill>
                  <a:schemeClr val="accent2"/>
                </a:solidFill>
              </a:rPr>
              <a:t>DEM (Digital Elevation Model): </a:t>
            </a:r>
            <a:r>
              <a:rPr lang="en-US" sz="1500" kern="0" spc="-80" dirty="0">
                <a:solidFill>
                  <a:schemeClr val="accent6"/>
                </a:solidFill>
              </a:rPr>
              <a:t>Surface elevations without objects.</a:t>
            </a:r>
          </a:p>
        </p:txBody>
      </p:sp>
    </p:spTree>
    <p:extLst>
      <p:ext uri="{BB962C8B-B14F-4D97-AF65-F5344CB8AC3E}">
        <p14:creationId xmlns:p14="http://schemas.microsoft.com/office/powerpoint/2010/main" val="1137416397"/>
      </p:ext>
    </p:extLst>
  </p:cSld>
  <p:clrMapOvr>
    <a:masterClrMapping/>
  </p:clrMapOvr>
</p:sld>
</file>

<file path=ppt/slides/slide5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F9C07-811E-39B3-BF60-BAE1D7C9939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D853388-A6C4-68B1-999F-03BC7D93FDE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20CED18-24B2-C637-1C5F-5184D6B2D13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4A8F168-95F1-7591-BD98-819FAF98A47E}"/>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C8809C4-DD7C-ACD6-36B8-20EBE3630FB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BCF4E12-312D-FA20-1A5E-9B349140F6E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ACC8B8D-328F-AAB7-ADB9-A2F5D6224BE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D099E6E5-0480-7224-B736-CA4287AE363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2" name="object 2">
            <a:extLst>
              <a:ext uri="{FF2B5EF4-FFF2-40B4-BE49-F238E27FC236}">
                <a16:creationId xmlns:a16="http://schemas.microsoft.com/office/drawing/2014/main" id="{A4F05BC5-FE91-2041-DF5F-098A2BD44EB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DF9C94F8-A982-9B29-A78A-B2C4DC80530E}"/>
              </a:ext>
            </a:extLst>
          </p:cNvPr>
          <p:cNvSpPr txBox="1">
            <a:spLocks/>
          </p:cNvSpPr>
          <p:nvPr/>
        </p:nvSpPr>
        <p:spPr>
          <a:xfrm>
            <a:off x="228600" y="762000"/>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Photogrammetry</a:t>
            </a:r>
          </a:p>
          <a:p>
            <a:pPr marL="12700" marR="5080"/>
            <a:r>
              <a:rPr lang="en-US" sz="1500" kern="0" spc="-80" dirty="0">
                <a:solidFill>
                  <a:schemeClr val="accent2"/>
                </a:solidFill>
              </a:rPr>
              <a:t>DSM (Digital Surface Model):</a:t>
            </a:r>
            <a:r>
              <a:rPr lang="en-US" sz="1500" kern="0" spc="-80" dirty="0">
                <a:solidFill>
                  <a:schemeClr val="accent6"/>
                </a:solidFill>
              </a:rPr>
              <a:t> Includes trees/buildings.</a:t>
            </a:r>
          </a:p>
          <a:p>
            <a:pPr marL="12700" marR="5080"/>
            <a:r>
              <a:rPr lang="en-US" sz="1500" kern="0" spc="-80" dirty="0">
                <a:solidFill>
                  <a:schemeClr val="accent2"/>
                </a:solidFill>
              </a:rPr>
              <a:t>DTM (Digital Terrain Model):</a:t>
            </a:r>
            <a:r>
              <a:rPr lang="en-US" sz="1500" kern="0" spc="-80" dirty="0">
                <a:solidFill>
                  <a:schemeClr val="accent6"/>
                </a:solidFill>
              </a:rPr>
              <a:t> Smoothed earth surface.</a:t>
            </a:r>
          </a:p>
          <a:p>
            <a:pPr marL="12700" marR="5080"/>
            <a:r>
              <a:rPr lang="en-US" sz="1500" kern="0" spc="-80" dirty="0">
                <a:solidFill>
                  <a:schemeClr val="accent2"/>
                </a:solidFill>
              </a:rPr>
              <a:t>Orthorectification:</a:t>
            </a:r>
          </a:p>
          <a:p>
            <a:pPr marL="12700" marR="5080"/>
            <a:r>
              <a:rPr lang="en-US" sz="1500" kern="0" spc="-80" dirty="0">
                <a:solidFill>
                  <a:schemeClr val="accent6"/>
                </a:solidFill>
              </a:rPr>
              <a:t>Corrects image distortions from relief displacement and camera tilt → results in orthophotos (map-accurate images).</a:t>
            </a:r>
          </a:p>
          <a:p>
            <a:pPr marL="12700" marR="5080"/>
            <a:r>
              <a:rPr lang="en-US" sz="1500" kern="0" spc="-80" dirty="0">
                <a:solidFill>
                  <a:schemeClr val="accent2"/>
                </a:solidFill>
              </a:rPr>
              <a:t>Image Mosaicking:</a:t>
            </a:r>
          </a:p>
          <a:p>
            <a:pPr marL="12700" marR="5080"/>
            <a:r>
              <a:rPr lang="en-US" sz="1500" kern="0" spc="-80" dirty="0">
                <a:solidFill>
                  <a:schemeClr val="accent6"/>
                </a:solidFill>
              </a:rPr>
              <a:t>Seamlessly joins multiple orthophotos into one continuous image.</a:t>
            </a:r>
          </a:p>
          <a:p>
            <a:pPr marL="12700" marR="5080"/>
            <a:r>
              <a:rPr lang="en-US" sz="1500" kern="0" spc="-80" dirty="0">
                <a:solidFill>
                  <a:schemeClr val="accent2"/>
                </a:solidFill>
              </a:rPr>
              <a:t>Dense Point Cloud Generation:</a:t>
            </a:r>
          </a:p>
          <a:p>
            <a:pPr marL="12700" marR="5080"/>
            <a:r>
              <a:rPr lang="en-US" sz="1500" kern="0" spc="-80" dirty="0">
                <a:solidFill>
                  <a:schemeClr val="accent6"/>
                </a:solidFill>
              </a:rPr>
              <a:t>Produces high-resolution 3D point clouds using multi-view stereo (MVS).</a:t>
            </a:r>
          </a:p>
          <a:p>
            <a:pPr marL="12700" marR="5080"/>
            <a:endParaRPr lang="en-US" sz="1500" kern="0" spc="-80" dirty="0">
              <a:solidFill>
                <a:schemeClr val="accent6"/>
              </a:solidFill>
            </a:endParaRPr>
          </a:p>
          <a:p>
            <a:pPr marL="12700" marR="5080"/>
            <a:r>
              <a:rPr lang="en-US" sz="1500" kern="0" spc="-80" dirty="0">
                <a:solidFill>
                  <a:schemeClr val="accent2"/>
                </a:solidFill>
              </a:rPr>
              <a:t>6. Important Algorithms</a:t>
            </a:r>
          </a:p>
          <a:p>
            <a:pPr marL="12700" marR="5080"/>
            <a:r>
              <a:rPr lang="en-US" sz="1500" kern="0" spc="-80" dirty="0">
                <a:solidFill>
                  <a:schemeClr val="accent2"/>
                </a:solidFill>
              </a:rPr>
              <a:t>Feature Detection &amp; Matching:</a:t>
            </a:r>
          </a:p>
          <a:p>
            <a:pPr marL="12700" marR="5080"/>
            <a:r>
              <a:rPr lang="en-US" sz="1500" kern="0" spc="-80" dirty="0">
                <a:solidFill>
                  <a:schemeClr val="accent6"/>
                </a:solidFill>
              </a:rPr>
              <a:t>SIFT (Scale Invariant Feature Transform)</a:t>
            </a:r>
          </a:p>
          <a:p>
            <a:pPr marL="12700" marR="5080"/>
            <a:r>
              <a:rPr lang="en-US" sz="1500" kern="0" spc="-80" dirty="0">
                <a:solidFill>
                  <a:schemeClr val="accent6"/>
                </a:solidFill>
              </a:rPr>
              <a:t>SURF (Speeded Up Robust Features)</a:t>
            </a:r>
          </a:p>
          <a:p>
            <a:pPr marL="12700" marR="5080"/>
            <a:r>
              <a:rPr lang="en-US" sz="1500" kern="0" spc="-80" dirty="0">
                <a:solidFill>
                  <a:schemeClr val="accent6"/>
                </a:solidFill>
              </a:rPr>
              <a:t>ORB (Oriented FAST and Rotated BRIEF)</a:t>
            </a:r>
          </a:p>
          <a:p>
            <a:pPr marL="12700" marR="5080"/>
            <a:r>
              <a:rPr lang="en-US" sz="1500" kern="0" spc="-80" dirty="0" err="1">
                <a:solidFill>
                  <a:schemeClr val="accent2"/>
                </a:solidFill>
              </a:rPr>
              <a:t>Epipolar</a:t>
            </a:r>
            <a:r>
              <a:rPr lang="en-US" sz="1500" kern="0" spc="-80" dirty="0">
                <a:solidFill>
                  <a:schemeClr val="accent2"/>
                </a:solidFill>
              </a:rPr>
              <a:t> Geometry:</a:t>
            </a:r>
          </a:p>
          <a:p>
            <a:pPr marL="12700" marR="5080"/>
            <a:r>
              <a:rPr lang="en-US" sz="1500" kern="0" spc="-80" dirty="0">
                <a:solidFill>
                  <a:schemeClr val="accent6"/>
                </a:solidFill>
              </a:rPr>
              <a:t>Relationship between two views — governed by Fundamental Matrix (F).</a:t>
            </a:r>
          </a:p>
          <a:p>
            <a:pPr marL="12700" marR="5080"/>
            <a:r>
              <a:rPr lang="en-US" sz="1500" kern="0" spc="-80" dirty="0">
                <a:solidFill>
                  <a:schemeClr val="accent6"/>
                </a:solidFill>
              </a:rPr>
              <a:t>Reduces search space for corresponding points.</a:t>
            </a:r>
          </a:p>
          <a:p>
            <a:pPr marL="12700" marR="5080"/>
            <a:r>
              <a:rPr lang="en-US" sz="1500" kern="0" spc="-80" dirty="0">
                <a:solidFill>
                  <a:schemeClr val="accent2"/>
                </a:solidFill>
              </a:rPr>
              <a:t>Camera Calibration:</a:t>
            </a:r>
          </a:p>
          <a:p>
            <a:pPr marL="12700" marR="5080"/>
            <a:r>
              <a:rPr lang="en-US" sz="1500" kern="0" spc="-80" dirty="0">
                <a:solidFill>
                  <a:schemeClr val="accent6"/>
                </a:solidFill>
              </a:rPr>
              <a:t>Determines intrinsic and extrinsic parameters using Zhang’s calibration method.</a:t>
            </a:r>
          </a:p>
        </p:txBody>
      </p:sp>
    </p:spTree>
    <p:extLst>
      <p:ext uri="{BB962C8B-B14F-4D97-AF65-F5344CB8AC3E}">
        <p14:creationId xmlns:p14="http://schemas.microsoft.com/office/powerpoint/2010/main" val="819143629"/>
      </p:ext>
    </p:extLst>
  </p:cSld>
  <p:clrMapOvr>
    <a:masterClrMapping/>
  </p:clrMapOvr>
</p:sld>
</file>

<file path=ppt/slides/slide5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ECDEE-0BFE-84B2-3303-B7B380DDE61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540A3BA-3DC5-F1B2-4937-8B143DE30C4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32AD537-0463-2D41-F065-1298AF55A80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2D147FE-5CC0-72D3-A27E-42B6278EC8E0}"/>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BBC8BE6-52FF-49BA-E9E6-71F51DA9B09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218394B-78BF-D8D9-DD2C-02B77C4FBF4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C4BCFC6-6886-9FC1-388E-F5EFF467D8FD}"/>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4F69652A-1B7B-BF1E-7542-35DB1D86C8A8}"/>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2" name="object 2">
            <a:extLst>
              <a:ext uri="{FF2B5EF4-FFF2-40B4-BE49-F238E27FC236}">
                <a16:creationId xmlns:a16="http://schemas.microsoft.com/office/drawing/2014/main" id="{F5864A70-54B9-6FA9-722E-9DFE14986BF9}"/>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AE3694A5-519F-060C-F973-7EF9626BB4A7}"/>
              </a:ext>
            </a:extLst>
          </p:cNvPr>
          <p:cNvSpPr txBox="1">
            <a:spLocks/>
          </p:cNvSpPr>
          <p:nvPr/>
        </p:nvSpPr>
        <p:spPr>
          <a:xfrm>
            <a:off x="228600" y="762000"/>
            <a:ext cx="8624937" cy="52014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Photogrammetry</a:t>
            </a:r>
          </a:p>
          <a:p>
            <a:pPr marL="12700" marR="5080"/>
            <a:r>
              <a:rPr lang="en-US" sz="1500" kern="0" spc="-80" dirty="0">
                <a:solidFill>
                  <a:schemeClr val="accent2"/>
                </a:solidFill>
              </a:rPr>
              <a:t>Bundle Adjustment:</a:t>
            </a:r>
          </a:p>
          <a:p>
            <a:pPr marL="12700" marR="5080"/>
            <a:r>
              <a:rPr lang="en-US" sz="1500" kern="0" spc="-80" dirty="0">
                <a:solidFill>
                  <a:schemeClr val="accent6"/>
                </a:solidFill>
              </a:rPr>
              <a:t>Nonlinear least-squares optimization (typically using Levenberg–Marquardt) minimizing reprojection error.</a:t>
            </a:r>
          </a:p>
          <a:p>
            <a:pPr marL="12700" marR="5080"/>
            <a:r>
              <a:rPr lang="en-US" sz="1500" kern="0" spc="-80" dirty="0">
                <a:solidFill>
                  <a:schemeClr val="accent2"/>
                </a:solidFill>
              </a:rPr>
              <a:t>RANSAC (Random Sample Consensus):</a:t>
            </a:r>
          </a:p>
          <a:p>
            <a:pPr marL="12700" marR="5080"/>
            <a:r>
              <a:rPr lang="en-US" sz="1500" kern="0" spc="-80" dirty="0">
                <a:solidFill>
                  <a:schemeClr val="accent6"/>
                </a:solidFill>
              </a:rPr>
              <a:t>Robust estimation of transformation matrices (e.g., </a:t>
            </a:r>
            <a:r>
              <a:rPr lang="en-US" sz="1500" kern="0" spc="-80" dirty="0" err="1">
                <a:solidFill>
                  <a:schemeClr val="accent6"/>
                </a:solidFill>
              </a:rPr>
              <a:t>homography</a:t>
            </a:r>
            <a:r>
              <a:rPr lang="en-US" sz="1500" kern="0" spc="-80" dirty="0">
                <a:solidFill>
                  <a:schemeClr val="accent6"/>
                </a:solidFill>
              </a:rPr>
              <a:t> or fundamental matrix).</a:t>
            </a:r>
          </a:p>
          <a:p>
            <a:pPr marL="12700" marR="5080"/>
            <a:r>
              <a:rPr lang="en-US" sz="1500" kern="0" spc="-80" dirty="0">
                <a:solidFill>
                  <a:schemeClr val="accent2"/>
                </a:solidFill>
              </a:rPr>
              <a:t>Triangulation Algorithms:</a:t>
            </a:r>
          </a:p>
          <a:p>
            <a:pPr marL="12700" marR="5080"/>
            <a:r>
              <a:rPr lang="en-US" sz="1500" kern="0" spc="-80" dirty="0">
                <a:solidFill>
                  <a:schemeClr val="accent6"/>
                </a:solidFill>
              </a:rPr>
              <a:t>Linear and nonlinear triangulation methods for deriving 3D coordinates from 2D correspondences.</a:t>
            </a:r>
          </a:p>
          <a:p>
            <a:pPr marL="12700" marR="5080"/>
            <a:r>
              <a:rPr lang="en-US" sz="1500" kern="0" spc="-80" dirty="0">
                <a:solidFill>
                  <a:schemeClr val="accent2"/>
                </a:solidFill>
              </a:rPr>
              <a:t>DEM Generation Algorithms:</a:t>
            </a:r>
          </a:p>
          <a:p>
            <a:pPr marL="12700" marR="5080"/>
            <a:r>
              <a:rPr lang="en-US" sz="1500" kern="0" spc="-80" dirty="0">
                <a:solidFill>
                  <a:schemeClr val="accent2"/>
                </a:solidFill>
              </a:rPr>
              <a:t>Interpolation techniques such as:</a:t>
            </a:r>
          </a:p>
          <a:p>
            <a:pPr marL="12700" marR="5080"/>
            <a:r>
              <a:rPr lang="en-US" sz="1500" kern="0" spc="-80" dirty="0">
                <a:solidFill>
                  <a:schemeClr val="accent6"/>
                </a:solidFill>
              </a:rPr>
              <a:t>Inverse Distance Weighting (IDW)</a:t>
            </a:r>
          </a:p>
          <a:p>
            <a:pPr marL="12700" marR="5080"/>
            <a:r>
              <a:rPr lang="en-US" sz="1500" kern="0" spc="-80" dirty="0">
                <a:solidFill>
                  <a:schemeClr val="accent6"/>
                </a:solidFill>
              </a:rPr>
              <a:t>Kriging</a:t>
            </a:r>
          </a:p>
          <a:p>
            <a:pPr marL="12700" marR="5080"/>
            <a:r>
              <a:rPr lang="en-US" sz="1500" kern="0" spc="-80" dirty="0">
                <a:solidFill>
                  <a:schemeClr val="accent6"/>
                </a:solidFill>
              </a:rPr>
              <a:t>TIN (Triangulated Irregular Network) based interpolation</a:t>
            </a:r>
          </a:p>
          <a:p>
            <a:pPr marL="12700" marR="5080"/>
            <a:endParaRPr lang="en-US" sz="1500" kern="0" spc="-80" dirty="0">
              <a:solidFill>
                <a:schemeClr val="accent6"/>
              </a:solidFill>
            </a:endParaRPr>
          </a:p>
          <a:p>
            <a:pPr marL="12700" marR="5080"/>
            <a:r>
              <a:rPr lang="en-US" sz="1500" kern="0" spc="-80" dirty="0">
                <a:solidFill>
                  <a:schemeClr val="accent2"/>
                </a:solidFill>
              </a:rPr>
              <a:t>7.Underlying Mathematics</a:t>
            </a:r>
          </a:p>
          <a:p>
            <a:pPr marL="12700" marR="5080"/>
            <a:r>
              <a:rPr lang="en-US" sz="1500" kern="0" spc="-80" dirty="0">
                <a:solidFill>
                  <a:schemeClr val="accent2"/>
                </a:solidFill>
              </a:rPr>
              <a:t>Projective Geometry:</a:t>
            </a:r>
          </a:p>
          <a:p>
            <a:pPr marL="12700" marR="5080"/>
            <a:r>
              <a:rPr lang="en-US" sz="1500" kern="0" spc="-80" dirty="0">
                <a:solidFill>
                  <a:schemeClr val="accent6"/>
                </a:solidFill>
              </a:rPr>
              <a:t>Foundation of image formation — uses homogeneous coordinates and transformations.</a:t>
            </a:r>
          </a:p>
          <a:p>
            <a:pPr marL="12700" marR="5080"/>
            <a:r>
              <a:rPr lang="en-US" sz="1500" kern="0" spc="-80" dirty="0">
                <a:solidFill>
                  <a:schemeClr val="accent2"/>
                </a:solidFill>
              </a:rPr>
              <a:t>Pinhole Camera Model:</a:t>
            </a:r>
          </a:p>
          <a:p>
            <a:pPr marL="12700" marR="5080"/>
            <a:r>
              <a:rPr lang="en-US" sz="1500" kern="0" spc="-80" dirty="0">
                <a:solidFill>
                  <a:schemeClr val="accent6"/>
                </a:solidFill>
              </a:rPr>
              <a:t>Relates 3D world coordinates (X, Y, Z) to 2D image coordinates (x, y):</a:t>
            </a:r>
          </a:p>
          <a:p>
            <a:pPr marL="12700" marR="5080"/>
            <a:endParaRPr lang="en-US" sz="1500" kern="0" spc="-80" dirty="0">
              <a:solidFill>
                <a:schemeClr val="accent6"/>
              </a:solidFill>
            </a:endParaRPr>
          </a:p>
          <a:p>
            <a:pPr marL="12700" marR="5080"/>
            <a:endParaRPr lang="en-US" sz="1900" kern="0" spc="-80" dirty="0">
              <a:solidFill>
                <a:schemeClr val="accent2"/>
              </a:solidFill>
            </a:endParaRPr>
          </a:p>
        </p:txBody>
      </p:sp>
    </p:spTree>
    <p:extLst>
      <p:ext uri="{BB962C8B-B14F-4D97-AF65-F5344CB8AC3E}">
        <p14:creationId xmlns:p14="http://schemas.microsoft.com/office/powerpoint/2010/main" val="2735923931"/>
      </p:ext>
    </p:extLst>
  </p:cSld>
  <p:clrMapOvr>
    <a:masterClrMapping/>
  </p:clrMapOvr>
</p:sld>
</file>

<file path=ppt/slides/slide5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2F308-5506-1018-9AAD-20E450972AE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D671FED-BA81-ADEE-6C81-36D38384C33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1D5B28A-8C44-F3FF-3103-D84F91F5422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502FAF1-155C-3C45-A01D-1F370EC24B95}"/>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E6EE8FD-933A-E733-9AAD-A76DE1E151F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7A978DB-44AA-2FE0-E110-D6E07DC2125E}"/>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1228C6-CA73-A6A9-168E-5C7447248FBB}"/>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34675C3C-A4D6-F5CF-8CC3-569604515861}"/>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2" name="object 2">
            <a:extLst>
              <a:ext uri="{FF2B5EF4-FFF2-40B4-BE49-F238E27FC236}">
                <a16:creationId xmlns:a16="http://schemas.microsoft.com/office/drawing/2014/main" id="{49383169-24C6-A63E-93AC-34FA4B65E0A8}"/>
              </a:ext>
            </a:extLst>
          </p:cNvPr>
          <p:cNvSpPr txBox="1">
            <a:spLocks/>
          </p:cNvSpPr>
          <p:nvPr/>
        </p:nvSpPr>
        <p:spPr>
          <a:xfrm>
            <a:off x="-1828800" y="723264"/>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6EA40231-2EC8-D9CB-3FC2-063A4E7D8E5A}"/>
              </a:ext>
            </a:extLst>
          </p:cNvPr>
          <p:cNvSpPr txBox="1">
            <a:spLocks/>
          </p:cNvSpPr>
          <p:nvPr/>
        </p:nvSpPr>
        <p:spPr>
          <a:xfrm>
            <a:off x="228600" y="762000"/>
            <a:ext cx="8624937" cy="81560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Photogrammetry</a:t>
            </a:r>
          </a:p>
          <a:p>
            <a:pPr marL="12700" marR="5080"/>
            <a:endParaRPr lang="en-US" sz="1500" kern="0" spc="-80" dirty="0">
              <a:solidFill>
                <a:schemeClr val="accent6"/>
              </a:solidFill>
            </a:endParaRPr>
          </a:p>
          <a:p>
            <a:pPr marL="12700" marR="5080"/>
            <a:endParaRPr lang="en-US" sz="1900" kern="0" spc="-80" dirty="0">
              <a:solidFill>
                <a:schemeClr val="accent2"/>
              </a:solidFill>
            </a:endParaRPr>
          </a:p>
        </p:txBody>
      </p:sp>
      <p:pic>
        <p:nvPicPr>
          <p:cNvPr id="11" name="Picture 10" descr="A mathematical equation with black text&#10;&#10;AI-generated content may be incorrect.">
            <a:extLst>
              <a:ext uri="{FF2B5EF4-FFF2-40B4-BE49-F238E27FC236}">
                <a16:creationId xmlns:a16="http://schemas.microsoft.com/office/drawing/2014/main" id="{0AF68C85-9FBF-8E8F-55E1-8797D3B9649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6163" y="1094759"/>
            <a:ext cx="8791673" cy="1022403"/>
          </a:xfrm>
          <a:prstGeom prst="rect">
            <a:avLst/>
          </a:prstGeom>
        </p:spPr>
      </p:pic>
      <p:sp>
        <p:nvSpPr>
          <p:cNvPr id="10" name="object 2">
            <a:extLst>
              <a:ext uri="{FF2B5EF4-FFF2-40B4-BE49-F238E27FC236}">
                <a16:creationId xmlns:a16="http://schemas.microsoft.com/office/drawing/2014/main" id="{F01A0856-2EBD-BA09-8FF6-4D649AE32616}"/>
              </a:ext>
            </a:extLst>
          </p:cNvPr>
          <p:cNvSpPr txBox="1">
            <a:spLocks/>
          </p:cNvSpPr>
          <p:nvPr/>
        </p:nvSpPr>
        <p:spPr>
          <a:xfrm>
            <a:off x="290463" y="2100724"/>
            <a:ext cx="8624937" cy="46166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6"/>
                </a:solidFill>
              </a:rPr>
              <a:t>where K is intrinsic matrix, R rotation, t translation.</a:t>
            </a:r>
          </a:p>
          <a:p>
            <a:pPr marL="12700" marR="5080"/>
            <a:r>
              <a:rPr lang="en-US" sz="1500" kern="0" spc="-80" dirty="0">
                <a:solidFill>
                  <a:schemeClr val="accent2"/>
                </a:solidFill>
              </a:rPr>
              <a:t>Collinearity Equations:</a:t>
            </a:r>
          </a:p>
        </p:txBody>
      </p:sp>
      <p:pic>
        <p:nvPicPr>
          <p:cNvPr id="14" name="Picture 13">
            <a:extLst>
              <a:ext uri="{FF2B5EF4-FFF2-40B4-BE49-F238E27FC236}">
                <a16:creationId xmlns:a16="http://schemas.microsoft.com/office/drawing/2014/main" id="{33710E29-C793-1E6E-1096-2542524F3E3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8599" y="2604653"/>
            <a:ext cx="8915400" cy="546128"/>
          </a:xfrm>
          <a:prstGeom prst="rect">
            <a:avLst/>
          </a:prstGeom>
        </p:spPr>
      </p:pic>
      <p:sp>
        <p:nvSpPr>
          <p:cNvPr id="15" name="object 2">
            <a:extLst>
              <a:ext uri="{FF2B5EF4-FFF2-40B4-BE49-F238E27FC236}">
                <a16:creationId xmlns:a16="http://schemas.microsoft.com/office/drawing/2014/main" id="{C5F78D07-5A4E-7B0E-1770-37FFCD473842}"/>
              </a:ext>
            </a:extLst>
          </p:cNvPr>
          <p:cNvSpPr txBox="1">
            <a:spLocks/>
          </p:cNvSpPr>
          <p:nvPr/>
        </p:nvSpPr>
        <p:spPr>
          <a:xfrm>
            <a:off x="304800" y="3195935"/>
            <a:ext cx="8624937" cy="276998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6"/>
                </a:solidFill>
              </a:rPr>
              <a:t>(and similarly for y).</a:t>
            </a:r>
          </a:p>
          <a:p>
            <a:pPr marL="12700" marR="5080"/>
            <a:r>
              <a:rPr lang="en-US" sz="1500" kern="0" spc="-80" dirty="0">
                <a:solidFill>
                  <a:schemeClr val="accent2"/>
                </a:solidFill>
              </a:rPr>
              <a:t>Least Squares Adjustment:</a:t>
            </a:r>
          </a:p>
          <a:p>
            <a:pPr marL="12700" marR="5080"/>
            <a:r>
              <a:rPr lang="en-US" sz="1500" kern="0" spc="-80" dirty="0">
                <a:solidFill>
                  <a:schemeClr val="accent6"/>
                </a:solidFill>
              </a:rPr>
              <a:t>Used in bundle adjustment and triangulation to minimize total error.</a:t>
            </a:r>
          </a:p>
          <a:p>
            <a:pPr marL="12700" marR="5080"/>
            <a:r>
              <a:rPr lang="en-US" sz="1500" kern="0" spc="-80" dirty="0">
                <a:solidFill>
                  <a:schemeClr val="accent2"/>
                </a:solidFill>
              </a:rPr>
              <a:t>Matrix Transformations:</a:t>
            </a:r>
          </a:p>
          <a:p>
            <a:pPr marL="12700" marR="5080"/>
            <a:r>
              <a:rPr lang="en-US" sz="1500" kern="0" spc="-80" dirty="0">
                <a:solidFill>
                  <a:schemeClr val="accent6"/>
                </a:solidFill>
              </a:rPr>
              <a:t>Rotation matrices, translation vectors, scaling matrices for coordinate transformations.</a:t>
            </a:r>
          </a:p>
          <a:p>
            <a:pPr marL="12700" marR="5080"/>
            <a:r>
              <a:rPr lang="en-US" sz="1500" kern="0" spc="-80" dirty="0">
                <a:solidFill>
                  <a:schemeClr val="accent2"/>
                </a:solidFill>
              </a:rPr>
              <a:t>Error Propagation &amp; Uncertainty:</a:t>
            </a:r>
          </a:p>
          <a:p>
            <a:pPr marL="12700" marR="5080"/>
            <a:r>
              <a:rPr lang="en-US" sz="1500" kern="0" spc="-80" dirty="0">
                <a:solidFill>
                  <a:schemeClr val="accent6"/>
                </a:solidFill>
              </a:rPr>
              <a:t>Estimating variance-covariance of measured points for accuracy assessment.</a:t>
            </a:r>
          </a:p>
          <a:p>
            <a:pPr marL="12700" marR="5080"/>
            <a:endParaRPr lang="en-US" sz="1500" kern="0" spc="-80" dirty="0">
              <a:solidFill>
                <a:schemeClr val="accent6"/>
              </a:solidFill>
            </a:endParaRPr>
          </a:p>
          <a:p>
            <a:pPr marL="12700" marR="5080"/>
            <a:r>
              <a:rPr lang="en-US" sz="1500" kern="0" spc="-80" dirty="0">
                <a:solidFill>
                  <a:schemeClr val="accent2"/>
                </a:solidFill>
              </a:rPr>
              <a:t>8. Outputs</a:t>
            </a:r>
          </a:p>
          <a:p>
            <a:pPr marL="12700" marR="5080"/>
            <a:r>
              <a:rPr lang="en-US" sz="1500" kern="0" spc="-80" dirty="0">
                <a:solidFill>
                  <a:schemeClr val="accent6"/>
                </a:solidFill>
              </a:rPr>
              <a:t>Orthophotos</a:t>
            </a:r>
          </a:p>
          <a:p>
            <a:pPr marL="12700" marR="5080"/>
            <a:r>
              <a:rPr lang="en-US" sz="1500" kern="0" spc="-80" dirty="0">
                <a:solidFill>
                  <a:schemeClr val="accent6"/>
                </a:solidFill>
              </a:rPr>
              <a:t>3D point clouds</a:t>
            </a:r>
          </a:p>
          <a:p>
            <a:pPr marL="12700" marR="5080"/>
            <a:r>
              <a:rPr lang="en-US" sz="1500" kern="0" spc="-80" dirty="0">
                <a:solidFill>
                  <a:schemeClr val="accent6"/>
                </a:solidFill>
              </a:rPr>
              <a:t>Digital Terrain Models</a:t>
            </a:r>
          </a:p>
        </p:txBody>
      </p:sp>
    </p:spTree>
    <p:extLst>
      <p:ext uri="{BB962C8B-B14F-4D97-AF65-F5344CB8AC3E}">
        <p14:creationId xmlns:p14="http://schemas.microsoft.com/office/powerpoint/2010/main" val="1373501"/>
      </p:ext>
    </p:extLst>
  </p:cSld>
  <p:clrMapOvr>
    <a:masterClrMapping/>
  </p:clrMapOvr>
</p:sld>
</file>

<file path=ppt/slides/slide5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C408C-4D05-9A85-CA09-159A4841CE68}"/>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F0250BC-FF44-33B5-8295-0014DB62288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9B416E9-D6E0-F1A0-394C-6D37DFE8275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4433BCE-2615-581A-403C-A1FCED324F5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BEE9E1EE-03F4-7442-42EA-DBC04AE3576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E609BAD-393F-05EC-A4B5-8B6F679AD99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F369C86-EF15-497E-7BF4-9AE4DE0BB669}"/>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D00CC2A3-0F1F-8628-009D-7C6273D50E7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12" name="object 2">
            <a:extLst>
              <a:ext uri="{FF2B5EF4-FFF2-40B4-BE49-F238E27FC236}">
                <a16:creationId xmlns:a16="http://schemas.microsoft.com/office/drawing/2014/main" id="{1C08C4ED-D971-D0D6-56FB-64E093DB22BE}"/>
              </a:ext>
            </a:extLst>
          </p:cNvPr>
          <p:cNvSpPr txBox="1">
            <a:spLocks/>
          </p:cNvSpPr>
          <p:nvPr/>
        </p:nvSpPr>
        <p:spPr>
          <a:xfrm>
            <a:off x="-1828800" y="723264"/>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0EA92C32-242D-D948-C3EA-B4FADEDDB0EE}"/>
              </a:ext>
            </a:extLst>
          </p:cNvPr>
          <p:cNvSpPr txBox="1">
            <a:spLocks/>
          </p:cNvSpPr>
          <p:nvPr/>
        </p:nvSpPr>
        <p:spPr>
          <a:xfrm>
            <a:off x="228600" y="762000"/>
            <a:ext cx="8624937" cy="547842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Photogrammetry</a:t>
            </a:r>
          </a:p>
          <a:p>
            <a:pPr marL="12700" marR="5080"/>
            <a:r>
              <a:rPr lang="en-US" sz="1500" kern="0" spc="-80" dirty="0">
                <a:solidFill>
                  <a:schemeClr val="accent6"/>
                </a:solidFill>
              </a:rPr>
              <a:t>Contour maps</a:t>
            </a:r>
          </a:p>
          <a:p>
            <a:pPr marL="12700" marR="5080"/>
            <a:r>
              <a:rPr lang="en-US" sz="1500" kern="0" spc="-80" dirty="0">
                <a:solidFill>
                  <a:schemeClr val="accent6"/>
                </a:solidFill>
              </a:rPr>
              <a:t>3D textured meshes</a:t>
            </a:r>
          </a:p>
          <a:p>
            <a:pPr marL="12700" marR="5080"/>
            <a:r>
              <a:rPr lang="en-US" sz="1500" kern="0" spc="-80" dirty="0">
                <a:solidFill>
                  <a:schemeClr val="accent6"/>
                </a:solidFill>
              </a:rPr>
              <a:t>Vector data (buildings, roads, etc.)</a:t>
            </a:r>
          </a:p>
          <a:p>
            <a:pPr marL="12700" marR="5080"/>
            <a:endParaRPr lang="en-US" sz="1500" kern="0" spc="-80" dirty="0">
              <a:solidFill>
                <a:schemeClr val="accent6"/>
              </a:solidFill>
            </a:endParaRPr>
          </a:p>
          <a:p>
            <a:pPr marL="12700" marR="5080"/>
            <a:r>
              <a:rPr lang="en-US" sz="1500" kern="0" spc="-80" dirty="0">
                <a:solidFill>
                  <a:schemeClr val="accent2"/>
                </a:solidFill>
              </a:rPr>
              <a:t>9. Applications</a:t>
            </a:r>
          </a:p>
          <a:p>
            <a:pPr marL="12700" marR="5080"/>
            <a:r>
              <a:rPr lang="en-US" sz="1500" kern="0" spc="-80" dirty="0">
                <a:solidFill>
                  <a:schemeClr val="accent6"/>
                </a:solidFill>
              </a:rPr>
              <a:t>Surveying &amp; Mapping</a:t>
            </a:r>
          </a:p>
          <a:p>
            <a:pPr marL="12700" marR="5080"/>
            <a:r>
              <a:rPr lang="en-US" sz="1500" kern="0" spc="-80" dirty="0">
                <a:solidFill>
                  <a:schemeClr val="accent6"/>
                </a:solidFill>
              </a:rPr>
              <a:t>Architecture &amp; Archaeology</a:t>
            </a:r>
          </a:p>
          <a:p>
            <a:pPr marL="12700" marR="5080"/>
            <a:r>
              <a:rPr lang="en-US" sz="1500" kern="0" spc="-80" dirty="0">
                <a:solidFill>
                  <a:schemeClr val="accent6"/>
                </a:solidFill>
              </a:rPr>
              <a:t>Civil Engineering &amp; Construction</a:t>
            </a:r>
          </a:p>
          <a:p>
            <a:pPr marL="12700" marR="5080"/>
            <a:r>
              <a:rPr lang="en-US" sz="1500" kern="0" spc="-80" dirty="0">
                <a:solidFill>
                  <a:schemeClr val="accent6"/>
                </a:solidFill>
              </a:rPr>
              <a:t>Forestry &amp; Agriculture</a:t>
            </a:r>
          </a:p>
          <a:p>
            <a:pPr marL="12700" marR="5080"/>
            <a:r>
              <a:rPr lang="en-US" sz="1500" kern="0" spc="-80" dirty="0">
                <a:solidFill>
                  <a:schemeClr val="accent6"/>
                </a:solidFill>
              </a:rPr>
              <a:t>Environmental Monitoring</a:t>
            </a:r>
          </a:p>
          <a:p>
            <a:pPr marL="12700" marR="5080"/>
            <a:r>
              <a:rPr lang="en-US" sz="1500" kern="0" spc="-80" dirty="0">
                <a:solidFill>
                  <a:schemeClr val="accent6"/>
                </a:solidFill>
              </a:rPr>
              <a:t>Disaster Management</a:t>
            </a:r>
          </a:p>
          <a:p>
            <a:pPr marL="12700" marR="5080"/>
            <a:r>
              <a:rPr lang="en-US" sz="1500" kern="0" spc="-80" dirty="0">
                <a:solidFill>
                  <a:schemeClr val="accent6"/>
                </a:solidFill>
              </a:rPr>
              <a:t>Remote Sensing</a:t>
            </a:r>
          </a:p>
          <a:p>
            <a:pPr marL="12700" marR="5080"/>
            <a:r>
              <a:rPr lang="en-US" sz="1500" kern="0" spc="-80" dirty="0">
                <a:solidFill>
                  <a:schemeClr val="accent6"/>
                </a:solidFill>
              </a:rPr>
              <a:t>Smart Cities &amp; Urban Planning. </a:t>
            </a:r>
          </a:p>
          <a:p>
            <a:pPr marL="12700" marR="5080"/>
            <a:endParaRPr lang="en-US" sz="1500" kern="0" spc="-80" dirty="0">
              <a:solidFill>
                <a:schemeClr val="accent6"/>
              </a:solidFill>
            </a:endParaRPr>
          </a:p>
          <a:p>
            <a:pPr marL="12700" marR="5080"/>
            <a:r>
              <a:rPr lang="en-US" sz="1800" kern="0" spc="-80" dirty="0">
                <a:solidFill>
                  <a:schemeClr val="accent2"/>
                </a:solidFill>
              </a:rPr>
              <a:t>For Further Exploration</a:t>
            </a:r>
          </a:p>
          <a:p>
            <a:pPr marL="12700" marR="5080"/>
            <a:r>
              <a:rPr lang="en-US" sz="1800" dirty="0">
                <a:hlinkClick r:id="rId7"/>
              </a:rPr>
              <a:t>Methods of data capture for high resolution mapping using photogrammetry</a:t>
            </a:r>
            <a:endParaRPr lang="en-US" sz="1800" dirty="0"/>
          </a:p>
          <a:p>
            <a:pPr marL="12700" marR="5080"/>
            <a:r>
              <a:rPr lang="en-IN" sz="1800" dirty="0">
                <a:hlinkClick r:id="rId8"/>
              </a:rPr>
              <a:t>Photogrammetry I &amp; II</a:t>
            </a:r>
            <a:endParaRPr lang="en-IN" sz="1800" dirty="0"/>
          </a:p>
          <a:p>
            <a:pPr marL="12700" marR="5080"/>
            <a:r>
              <a:rPr lang="en-IN" sz="1800" dirty="0" err="1">
                <a:hlinkClick r:id="rId9"/>
              </a:rPr>
              <a:t>Principles_of_Photogrammetry</a:t>
            </a:r>
            <a:endParaRPr lang="en-IN" sz="1800" dirty="0"/>
          </a:p>
          <a:p>
            <a:pPr marL="12700" marR="5080"/>
            <a:r>
              <a:rPr lang="en-IN" sz="1800" dirty="0">
                <a:hlinkClick r:id="rId10"/>
              </a:rPr>
              <a:t>Maths-of-Photogrammetry</a:t>
            </a:r>
            <a:endParaRPr lang="en-IN" sz="1800" dirty="0"/>
          </a:p>
          <a:p>
            <a:pPr marL="12700" marR="5080"/>
            <a:endParaRPr lang="en-US" sz="1900" kern="0" spc="-80" dirty="0">
              <a:solidFill>
                <a:schemeClr val="accent2"/>
              </a:solidFill>
            </a:endParaRPr>
          </a:p>
        </p:txBody>
      </p:sp>
    </p:spTree>
    <p:extLst>
      <p:ext uri="{BB962C8B-B14F-4D97-AF65-F5344CB8AC3E}">
        <p14:creationId xmlns:p14="http://schemas.microsoft.com/office/powerpoint/2010/main" val="1371466100"/>
      </p:ext>
    </p:extLst>
  </p:cSld>
  <p:clrMapOvr>
    <a:masterClrMapping/>
  </p:clrMapOvr>
</p:sld>
</file>

<file path=ppt/slides/slide5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177B4-9558-C6DC-DEA8-94026C669AA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A2835B7-2159-048C-3D4C-867B1D32BF0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C500911-1E5D-F8FA-1B7B-CED4F0B9CC8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85A11DBD-3986-07AC-3CD4-2400D6E6BBCE}"/>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3E5FB4C-72E4-8771-5C8C-0D2C053D7C8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83A9A872-4797-F7D5-3258-0FD1FE70F283}"/>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E38D2BB-886A-76A4-7123-7F15020C6C1A}"/>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EB0E9F44-31F8-38AB-9D46-14C48A5F4D6A}"/>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7CCEA1C1-13B4-2F4D-1F3D-3463FA9E1002}"/>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B4B0D0EA-ADAE-3B5B-D2E2-2C46122E49B1}"/>
              </a:ext>
            </a:extLst>
          </p:cNvPr>
          <p:cNvSpPr txBox="1">
            <a:spLocks/>
          </p:cNvSpPr>
          <p:nvPr/>
        </p:nvSpPr>
        <p:spPr>
          <a:xfrm>
            <a:off x="228600" y="762000"/>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GIS</a:t>
            </a:r>
          </a:p>
          <a:p>
            <a:pPr marL="12700" marR="5080"/>
            <a:r>
              <a:rPr lang="en-US" sz="1500" kern="0" spc="-80" dirty="0">
                <a:solidFill>
                  <a:schemeClr val="accent2"/>
                </a:solidFill>
              </a:rPr>
              <a:t>1. What GIS Actually Does</a:t>
            </a:r>
          </a:p>
          <a:p>
            <a:pPr marL="355600" marR="5080" indent="-342900">
              <a:buAutoNum type="alphaUcPeriod"/>
            </a:pPr>
            <a:r>
              <a:rPr lang="en-US" sz="1500" kern="0" spc="-80" dirty="0">
                <a:solidFill>
                  <a:schemeClr val="accent2"/>
                </a:solidFill>
              </a:rPr>
              <a:t>Based on Data Structure</a:t>
            </a:r>
          </a:p>
          <a:p>
            <a:pPr marL="12700" marR="5080"/>
            <a:r>
              <a:rPr lang="en-US" sz="1500" kern="0" spc="-80" dirty="0">
                <a:solidFill>
                  <a:schemeClr val="accent2"/>
                </a:solidFill>
              </a:rPr>
              <a:t>GIS is essentially mathematics + geography + computers that answer spatial questions like: </a:t>
            </a:r>
            <a:r>
              <a:rPr lang="en-US" sz="1500" kern="0" spc="-80" dirty="0">
                <a:solidFill>
                  <a:schemeClr val="accent6"/>
                </a:solidFill>
              </a:rPr>
              <a:t>Where is something? </a:t>
            </a:r>
          </a:p>
          <a:p>
            <a:pPr marL="12700" marR="5080"/>
            <a:r>
              <a:rPr lang="en-US" sz="1500" kern="0" spc="-80" dirty="0">
                <a:solidFill>
                  <a:schemeClr val="accent6"/>
                </a:solidFill>
              </a:rPr>
              <a:t>What is near it?</a:t>
            </a:r>
          </a:p>
          <a:p>
            <a:pPr marL="12700" marR="5080"/>
            <a:r>
              <a:rPr lang="en-US" sz="1500" kern="0" spc="-80" dirty="0">
                <a:solidFill>
                  <a:schemeClr val="accent6"/>
                </a:solidFill>
              </a:rPr>
              <a:t>How far is it? </a:t>
            </a:r>
          </a:p>
          <a:p>
            <a:pPr marL="12700" marR="5080"/>
            <a:r>
              <a:rPr lang="en-US" sz="1500" kern="0" spc="-80" dirty="0">
                <a:solidFill>
                  <a:schemeClr val="accent6"/>
                </a:solidFill>
              </a:rPr>
              <a:t>How does it relate to other things? </a:t>
            </a:r>
          </a:p>
          <a:p>
            <a:pPr marL="12700" marR="5080"/>
            <a:r>
              <a:rPr lang="en-US" sz="1500" kern="0" spc="-80" dirty="0">
                <a:solidFill>
                  <a:schemeClr val="accent6"/>
                </a:solidFill>
              </a:rPr>
              <a:t>How has it changed over time? </a:t>
            </a:r>
          </a:p>
          <a:p>
            <a:pPr marL="12700" marR="5080"/>
            <a:endParaRPr lang="en-US" sz="1500" kern="0" spc="-80" dirty="0">
              <a:solidFill>
                <a:schemeClr val="accent6"/>
              </a:solidFill>
            </a:endParaRPr>
          </a:p>
          <a:p>
            <a:pPr marL="12700" marR="5080"/>
            <a:r>
              <a:rPr lang="en-US" sz="1500" kern="0" spc="-80" dirty="0">
                <a:solidFill>
                  <a:schemeClr val="accent2"/>
                </a:solidFill>
              </a:rPr>
              <a:t>Think of GIS as a canvas that can hold Reality, layered into data. </a:t>
            </a:r>
          </a:p>
          <a:p>
            <a:pPr marL="12700" marR="5080"/>
            <a:endParaRPr lang="en-US" sz="1500" kern="0" spc="-80" dirty="0">
              <a:solidFill>
                <a:schemeClr val="accent6"/>
              </a:solidFill>
            </a:endParaRPr>
          </a:p>
          <a:p>
            <a:pPr marL="12700" marR="5080"/>
            <a:r>
              <a:rPr lang="en-US" sz="1500" kern="0" spc="-80" dirty="0">
                <a:solidFill>
                  <a:schemeClr val="accent2"/>
                </a:solidFill>
              </a:rPr>
              <a:t>Imagine stacking transparent layers: </a:t>
            </a:r>
          </a:p>
          <a:p>
            <a:pPr marL="12700" marR="5080"/>
            <a:r>
              <a:rPr lang="en-US" sz="1500" kern="0" spc="-80" dirty="0">
                <a:solidFill>
                  <a:schemeClr val="accent6"/>
                </a:solidFill>
              </a:rPr>
              <a:t>🏞 Terrain</a:t>
            </a:r>
          </a:p>
          <a:p>
            <a:pPr marL="12700" marR="5080"/>
            <a:r>
              <a:rPr lang="en-US" sz="1500" kern="0" spc="-80" dirty="0">
                <a:solidFill>
                  <a:schemeClr val="accent6"/>
                </a:solidFill>
              </a:rPr>
              <a:t>🌆 Buildings </a:t>
            </a:r>
          </a:p>
          <a:p>
            <a:pPr marL="12700" marR="5080"/>
            <a:r>
              <a:rPr lang="en-US" sz="1500" kern="0" spc="-80" dirty="0">
                <a:solidFill>
                  <a:schemeClr val="accent6"/>
                </a:solidFill>
              </a:rPr>
              <a:t>🛣 Roads </a:t>
            </a:r>
          </a:p>
          <a:p>
            <a:pPr marL="12700" marR="5080"/>
            <a:r>
              <a:rPr lang="en-US" sz="1500" kern="0" spc="-80" dirty="0">
                <a:solidFill>
                  <a:schemeClr val="accent6"/>
                </a:solidFill>
              </a:rPr>
              <a:t>🚏 Bus stops </a:t>
            </a:r>
          </a:p>
          <a:p>
            <a:pPr marL="12700" marR="5080"/>
            <a:r>
              <a:rPr lang="en-US" sz="1500" kern="0" spc="-80" dirty="0">
                <a:solidFill>
                  <a:schemeClr val="accent6"/>
                </a:solidFill>
              </a:rPr>
              <a:t>💧 Water bodies </a:t>
            </a:r>
          </a:p>
          <a:p>
            <a:pPr marL="12700" marR="5080"/>
            <a:r>
              <a:rPr lang="en-US" sz="1500" kern="0" spc="-80" dirty="0">
                <a:solidFill>
                  <a:schemeClr val="accent6"/>
                </a:solidFill>
              </a:rPr>
              <a:t>🌧 Rainfall patterns </a:t>
            </a:r>
          </a:p>
          <a:p>
            <a:pPr marL="12700" marR="5080"/>
            <a:r>
              <a:rPr lang="en-US" sz="1500" kern="0" spc="-80" dirty="0">
                <a:solidFill>
                  <a:schemeClr val="accent6"/>
                </a:solidFill>
              </a:rPr>
              <a:t>👥 Population density </a:t>
            </a:r>
          </a:p>
          <a:p>
            <a:pPr marL="12700" marR="5080"/>
            <a:r>
              <a:rPr lang="en-US" sz="1500" kern="0" spc="-80" dirty="0">
                <a:solidFill>
                  <a:schemeClr val="accent2"/>
                </a:solidFill>
              </a:rPr>
              <a:t>And then asking questions across these layers.</a:t>
            </a:r>
          </a:p>
        </p:txBody>
      </p:sp>
    </p:spTree>
    <p:extLst>
      <p:ext uri="{BB962C8B-B14F-4D97-AF65-F5344CB8AC3E}">
        <p14:creationId xmlns:p14="http://schemas.microsoft.com/office/powerpoint/2010/main" val="67750316"/>
      </p:ext>
    </p:extLst>
  </p:cSld>
  <p:clrMapOvr>
    <a:masterClrMapping/>
  </p:clrMapOvr>
</p:sld>
</file>

<file path=ppt/slides/slide5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D44BA-78CC-2606-D78F-0FD492B5DA6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F64F1C1-4D05-141A-08AD-DF0D2CBE401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E7CD7A8-D1CC-DD32-B67E-A2CF2A0AAF1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737AFC7-E8D9-9059-2427-AD55CD58E4F9}"/>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67B952B-A6CA-420D-EB11-75947BD48F4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68408A7-741F-B894-AC97-C248AF9C3F2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8DCC237-CFC7-1A1B-FDDF-5623FC5C1FC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C7E70AB0-9B66-7A75-F1F7-77CF27E983D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95DCF00F-EC1B-39E7-9534-FCBBF54D7324}"/>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50674F67-E6A8-5F48-6ECD-9A69BE8F0456}"/>
              </a:ext>
            </a:extLst>
          </p:cNvPr>
          <p:cNvSpPr txBox="1">
            <a:spLocks/>
          </p:cNvSpPr>
          <p:nvPr/>
        </p:nvSpPr>
        <p:spPr>
          <a:xfrm>
            <a:off x="228600" y="762000"/>
            <a:ext cx="8624937" cy="51398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GIS</a:t>
            </a:r>
          </a:p>
          <a:p>
            <a:pPr marL="12700" marR="5080"/>
            <a:r>
              <a:rPr lang="en-US" sz="1500" kern="0" spc="-80" dirty="0">
                <a:solidFill>
                  <a:schemeClr val="accent2"/>
                </a:solidFill>
              </a:rPr>
              <a:t>2. Types of GIS Data</a:t>
            </a:r>
          </a:p>
          <a:p>
            <a:pPr marL="355600" marR="5080" indent="-342900">
              <a:buAutoNum type="alphaUcPeriod"/>
            </a:pPr>
            <a:r>
              <a:rPr lang="en-US" sz="1500" kern="0" spc="-80" dirty="0">
                <a:solidFill>
                  <a:schemeClr val="accent2"/>
                </a:solidFill>
              </a:rPr>
              <a:t>Based on Data Structure</a:t>
            </a:r>
          </a:p>
          <a:p>
            <a:pPr marL="355600" marR="5080" indent="-342900">
              <a:buAutoNum type="alphaUcPeriod"/>
            </a:pPr>
            <a:endParaRPr lang="en-US" sz="1500" kern="0" spc="-80" dirty="0">
              <a:solidFill>
                <a:schemeClr val="accent2"/>
              </a:solidFill>
            </a:endParaRPr>
          </a:p>
          <a:p>
            <a:pPr marL="12700" marR="5080"/>
            <a:r>
              <a:rPr lang="en-US" sz="1500" kern="0" spc="-80" dirty="0">
                <a:solidFill>
                  <a:schemeClr val="accent2"/>
                </a:solidFill>
              </a:rPr>
              <a:t>Vector Data</a:t>
            </a:r>
          </a:p>
          <a:p>
            <a:pPr marL="12700" marR="5080"/>
            <a:r>
              <a:rPr lang="en-US" sz="1500" kern="0" spc="-80" dirty="0">
                <a:solidFill>
                  <a:schemeClr val="accent6"/>
                </a:solidFill>
              </a:rPr>
              <a:t>Represents features as discrete geometric shapes: points, lines, and polygons.</a:t>
            </a:r>
          </a:p>
          <a:p>
            <a:pPr marL="12700" marR="5080"/>
            <a:r>
              <a:rPr lang="en-US" sz="1500" kern="0" spc="-80" dirty="0">
                <a:solidFill>
                  <a:schemeClr val="accent2"/>
                </a:solidFill>
              </a:rPr>
              <a:t>Points:</a:t>
            </a:r>
            <a:r>
              <a:rPr lang="en-US" sz="1500" kern="0" spc="-80" dirty="0">
                <a:solidFill>
                  <a:schemeClr val="accent6"/>
                </a:solidFill>
              </a:rPr>
              <a:t> Represent a specific location (e.g., a well, bus stop).</a:t>
            </a:r>
          </a:p>
          <a:p>
            <a:pPr marL="12700" marR="5080"/>
            <a:r>
              <a:rPr lang="en-US" sz="1500" kern="0" spc="-80" dirty="0">
                <a:solidFill>
                  <a:schemeClr val="accent2"/>
                </a:solidFill>
              </a:rPr>
              <a:t>Lines: </a:t>
            </a:r>
            <a:r>
              <a:rPr lang="en-US" sz="1500" kern="0" spc="-80" dirty="0">
                <a:solidFill>
                  <a:schemeClr val="accent6"/>
                </a:solidFill>
              </a:rPr>
              <a:t>Represent linear features (e.g., rivers, roads, pipelines).</a:t>
            </a:r>
          </a:p>
          <a:p>
            <a:pPr marL="12700" marR="5080"/>
            <a:r>
              <a:rPr lang="en-US" sz="1500" kern="0" spc="-80" dirty="0">
                <a:solidFill>
                  <a:schemeClr val="accent2"/>
                </a:solidFill>
              </a:rPr>
              <a:t>Polygons:</a:t>
            </a:r>
            <a:r>
              <a:rPr lang="en-US" sz="1500" kern="0" spc="-80" dirty="0">
                <a:solidFill>
                  <a:schemeClr val="accent6"/>
                </a:solidFill>
              </a:rPr>
              <a:t> Represent areas (e.g., lakes, parks, administrative boundaries).</a:t>
            </a:r>
          </a:p>
          <a:p>
            <a:pPr marL="12700" marR="5080"/>
            <a:r>
              <a:rPr lang="en-US" sz="1500" kern="0" spc="-80" dirty="0">
                <a:solidFill>
                  <a:schemeClr val="accent2"/>
                </a:solidFill>
              </a:rPr>
              <a:t>Advantages: </a:t>
            </a:r>
            <a:r>
              <a:rPr lang="en-US" sz="1500" kern="0" spc="-80" dirty="0">
                <a:solidFill>
                  <a:schemeClr val="accent6"/>
                </a:solidFill>
              </a:rPr>
              <a:t>Precise, compact, good for networks.</a:t>
            </a:r>
          </a:p>
          <a:p>
            <a:pPr marL="12700" marR="5080"/>
            <a:r>
              <a:rPr lang="en-US" sz="1500" kern="0" spc="-80" dirty="0">
                <a:solidFill>
                  <a:schemeClr val="accent2"/>
                </a:solidFill>
              </a:rPr>
              <a:t>Disadvantages:</a:t>
            </a:r>
            <a:r>
              <a:rPr lang="en-US" sz="1500" kern="0" spc="-80" dirty="0">
                <a:solidFill>
                  <a:schemeClr val="accent6"/>
                </a:solidFill>
              </a:rPr>
              <a:t> Complex to model continuous phenomena (e.g., elevation, temperature).</a:t>
            </a:r>
          </a:p>
          <a:p>
            <a:pPr marL="12700" marR="5080"/>
            <a:endParaRPr lang="en-US" sz="1500" kern="0" spc="-80" dirty="0">
              <a:solidFill>
                <a:schemeClr val="accent6"/>
              </a:solidFill>
            </a:endParaRPr>
          </a:p>
          <a:p>
            <a:pPr marL="12700" marR="5080"/>
            <a:r>
              <a:rPr lang="en-US" sz="1500" kern="0" spc="-80" dirty="0">
                <a:solidFill>
                  <a:schemeClr val="accent2"/>
                </a:solidFill>
              </a:rPr>
              <a:t>Raster Data</a:t>
            </a:r>
          </a:p>
          <a:p>
            <a:pPr marL="12700" marR="5080"/>
            <a:r>
              <a:rPr lang="en-US" sz="1500" kern="0" spc="-80" dirty="0">
                <a:solidFill>
                  <a:schemeClr val="accent6"/>
                </a:solidFill>
              </a:rPr>
              <a:t>Represents data as a grid of cells (pixels), where each cell has a value.</a:t>
            </a:r>
          </a:p>
          <a:p>
            <a:pPr marL="12700" marR="5080"/>
            <a:r>
              <a:rPr lang="en-US" sz="1500" kern="0" spc="-80" dirty="0">
                <a:solidFill>
                  <a:schemeClr val="accent2"/>
                </a:solidFill>
              </a:rPr>
              <a:t>Examples: </a:t>
            </a:r>
            <a:r>
              <a:rPr lang="en-US" sz="1500" kern="0" spc="-80" dirty="0">
                <a:solidFill>
                  <a:schemeClr val="accent6"/>
                </a:solidFill>
              </a:rPr>
              <a:t>Satellite imagery, aerial photos, DEM (Digital Elevation Model).</a:t>
            </a:r>
          </a:p>
          <a:p>
            <a:pPr marL="12700" marR="5080"/>
            <a:r>
              <a:rPr lang="en-US" sz="1500" kern="0" spc="-80" dirty="0">
                <a:solidFill>
                  <a:schemeClr val="accent2"/>
                </a:solidFill>
              </a:rPr>
              <a:t>Advantages: </a:t>
            </a:r>
            <a:r>
              <a:rPr lang="en-US" sz="1500" kern="0" spc="-80" dirty="0">
                <a:solidFill>
                  <a:schemeClr val="accent6"/>
                </a:solidFill>
              </a:rPr>
              <a:t>Good for continuous phenomena, easy for image processing.</a:t>
            </a:r>
          </a:p>
          <a:p>
            <a:pPr marL="12700" marR="5080"/>
            <a:r>
              <a:rPr lang="en-US" sz="1500" kern="0" spc="-80" dirty="0">
                <a:solidFill>
                  <a:schemeClr val="accent2"/>
                </a:solidFill>
              </a:rPr>
              <a:t>Disadvantages: </a:t>
            </a:r>
            <a:r>
              <a:rPr lang="en-US" sz="1500" kern="0" spc="-80" dirty="0">
                <a:solidFill>
                  <a:schemeClr val="accent6"/>
                </a:solidFill>
              </a:rPr>
              <a:t>Large storage, lower precision for discrete objects.</a:t>
            </a:r>
          </a:p>
          <a:p>
            <a:pPr marL="12700" marR="5080"/>
            <a:endParaRPr lang="en-US" sz="1500" kern="0" spc="-80" dirty="0">
              <a:solidFill>
                <a:schemeClr val="accent6"/>
              </a:solidFill>
            </a:endParaRPr>
          </a:p>
          <a:p>
            <a:pPr marL="12700" marR="5080"/>
            <a:r>
              <a:rPr lang="en-US" sz="1500" kern="0" spc="-80" dirty="0">
                <a:solidFill>
                  <a:schemeClr val="accent2"/>
                </a:solidFill>
              </a:rPr>
              <a:t>B. Based on Nature</a:t>
            </a:r>
          </a:p>
          <a:p>
            <a:pPr marL="12700" marR="5080"/>
            <a:r>
              <a:rPr lang="en-US" sz="1500" kern="0" spc="-80" dirty="0">
                <a:solidFill>
                  <a:schemeClr val="accent2"/>
                </a:solidFill>
              </a:rPr>
              <a:t>Spatial Data (Geometric)</a:t>
            </a:r>
          </a:p>
          <a:p>
            <a:pPr marL="12700" marR="5080"/>
            <a:r>
              <a:rPr lang="en-US" sz="1500" kern="0" spc="-80" dirty="0">
                <a:solidFill>
                  <a:schemeClr val="accent6"/>
                </a:solidFill>
              </a:rPr>
              <a:t>Represents where features exist in space (coordinates, shapes).</a:t>
            </a:r>
          </a:p>
          <a:p>
            <a:pPr marL="12700" marR="5080"/>
            <a:r>
              <a:rPr lang="en-US" sz="1500" kern="0" spc="-80" dirty="0">
                <a:solidFill>
                  <a:schemeClr val="accent2"/>
                </a:solidFill>
              </a:rPr>
              <a:t>Example: </a:t>
            </a:r>
            <a:r>
              <a:rPr lang="en-US" sz="1500" kern="0" spc="-80" dirty="0">
                <a:solidFill>
                  <a:schemeClr val="accent6"/>
                </a:solidFill>
              </a:rPr>
              <a:t>Latitude/Longitude of cities, river paths.</a:t>
            </a:r>
          </a:p>
        </p:txBody>
      </p:sp>
    </p:spTree>
    <p:extLst>
      <p:ext uri="{BB962C8B-B14F-4D97-AF65-F5344CB8AC3E}">
        <p14:creationId xmlns:p14="http://schemas.microsoft.com/office/powerpoint/2010/main" val="1888727751"/>
      </p:ext>
    </p:extLst>
  </p:cSld>
  <p:clrMapOvr>
    <a:masterClrMapping/>
  </p:clrMapOvr>
</p:sld>
</file>

<file path=ppt/slides/slide5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D5781-B1DE-253C-2C7C-BFA3A85DC68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ECB4C68-0D7E-7BE9-BB4F-FA7103AFB75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EADAED4-9798-5723-40E1-F4FBF629112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2763CD1-98BF-BB84-4883-D225F70E6E99}"/>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8A8EB37D-0D55-60C8-9A47-8F795CF16B9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05069C9-DDD1-3F2C-67B0-4BE84E34FC76}"/>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A658C72-B7FB-A8C6-3BB5-A0C02BEB5ABE}"/>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4989B63-8528-BBB0-0FE3-8AEB304E3D5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58824CEC-B744-E999-1D86-26DFEAFB5C5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B8A58366-45E0-F960-753C-A5653DE13229}"/>
              </a:ext>
            </a:extLst>
          </p:cNvPr>
          <p:cNvSpPr txBox="1">
            <a:spLocks/>
          </p:cNvSpPr>
          <p:nvPr/>
        </p:nvSpPr>
        <p:spPr>
          <a:xfrm>
            <a:off x="228600" y="762000"/>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GIS</a:t>
            </a:r>
          </a:p>
          <a:p>
            <a:pPr marL="12700" marR="5080"/>
            <a:r>
              <a:rPr lang="en-US" sz="1500" kern="0" spc="-80" dirty="0">
                <a:solidFill>
                  <a:schemeClr val="accent2"/>
                </a:solidFill>
              </a:rPr>
              <a:t>2. Types of GIS Data</a:t>
            </a:r>
          </a:p>
          <a:p>
            <a:pPr marL="12700" marR="5080"/>
            <a:r>
              <a:rPr lang="en-US" sz="1500" kern="0" spc="-80" dirty="0">
                <a:solidFill>
                  <a:schemeClr val="accent2"/>
                </a:solidFill>
              </a:rPr>
              <a:t>B. Based on Nature</a:t>
            </a:r>
          </a:p>
          <a:p>
            <a:pPr marL="12700" marR="5080"/>
            <a:r>
              <a:rPr lang="en-US" sz="1500" kern="0" spc="-80" dirty="0">
                <a:solidFill>
                  <a:schemeClr val="accent2"/>
                </a:solidFill>
              </a:rPr>
              <a:t>Attribute Data (Descriptive)</a:t>
            </a:r>
          </a:p>
          <a:p>
            <a:pPr marL="12700" marR="5080"/>
            <a:r>
              <a:rPr lang="en-US" sz="1500" kern="0" spc="-80" dirty="0">
                <a:solidFill>
                  <a:schemeClr val="accent6"/>
                </a:solidFill>
              </a:rPr>
              <a:t>Provides information about features.</a:t>
            </a:r>
          </a:p>
          <a:p>
            <a:pPr marL="12700" marR="5080"/>
            <a:r>
              <a:rPr lang="en-US" sz="1500" kern="0" spc="-80" dirty="0">
                <a:solidFill>
                  <a:schemeClr val="accent2"/>
                </a:solidFill>
              </a:rPr>
              <a:t>Example: </a:t>
            </a:r>
            <a:r>
              <a:rPr lang="en-US" sz="1500" kern="0" spc="-80" dirty="0">
                <a:solidFill>
                  <a:schemeClr val="accent6"/>
                </a:solidFill>
              </a:rPr>
              <a:t>City population, road type, soil type.</a:t>
            </a:r>
          </a:p>
          <a:p>
            <a:pPr marL="12700" marR="5080"/>
            <a:endParaRPr lang="en-US" sz="1500" kern="0" spc="-80" dirty="0">
              <a:solidFill>
                <a:schemeClr val="accent6"/>
              </a:solidFill>
            </a:endParaRPr>
          </a:p>
          <a:p>
            <a:pPr marL="12700" marR="5080"/>
            <a:r>
              <a:rPr lang="en-US" sz="1500" kern="0" spc="-80" dirty="0">
                <a:solidFill>
                  <a:schemeClr val="accent2"/>
                </a:solidFill>
              </a:rPr>
              <a:t>C. Based on Time</a:t>
            </a:r>
          </a:p>
          <a:p>
            <a:pPr marL="12700" marR="5080"/>
            <a:r>
              <a:rPr lang="en-US" sz="1500" kern="0" spc="-80" dirty="0">
                <a:solidFill>
                  <a:schemeClr val="accent2"/>
                </a:solidFill>
              </a:rPr>
              <a:t>Static GIS Data</a:t>
            </a:r>
          </a:p>
          <a:p>
            <a:pPr marL="12700" marR="5080"/>
            <a:r>
              <a:rPr lang="en-US" sz="1500" kern="0" spc="-80" dirty="0">
                <a:solidFill>
                  <a:schemeClr val="accent6"/>
                </a:solidFill>
              </a:rPr>
              <a:t>Captures information at a specific point in time.</a:t>
            </a:r>
          </a:p>
          <a:p>
            <a:pPr marL="12700" marR="5080"/>
            <a:r>
              <a:rPr lang="en-US" sz="1500" kern="0" spc="-80" dirty="0">
                <a:solidFill>
                  <a:schemeClr val="accent2"/>
                </a:solidFill>
              </a:rPr>
              <a:t>Example: </a:t>
            </a:r>
            <a:r>
              <a:rPr lang="en-US" sz="1500" kern="0" spc="-80" dirty="0">
                <a:solidFill>
                  <a:schemeClr val="accent6"/>
                </a:solidFill>
              </a:rPr>
              <a:t>Census data, land use maps.</a:t>
            </a:r>
          </a:p>
          <a:p>
            <a:pPr marL="12700" marR="5080"/>
            <a:endParaRPr lang="en-US" sz="1500" kern="0" spc="-80" dirty="0">
              <a:solidFill>
                <a:schemeClr val="accent6"/>
              </a:solidFill>
            </a:endParaRPr>
          </a:p>
          <a:p>
            <a:pPr marL="12700" marR="5080"/>
            <a:r>
              <a:rPr lang="en-US" sz="1500" kern="0" spc="-80" dirty="0">
                <a:solidFill>
                  <a:schemeClr val="accent2"/>
                </a:solidFill>
              </a:rPr>
              <a:t>Dynamic/Real-time GIS Data</a:t>
            </a:r>
          </a:p>
          <a:p>
            <a:pPr marL="12700" marR="5080"/>
            <a:r>
              <a:rPr lang="en-US" sz="1500" kern="0" spc="-80" dirty="0">
                <a:solidFill>
                  <a:schemeClr val="accent6"/>
                </a:solidFill>
              </a:rPr>
              <a:t>Continuously updated or time-dependent.</a:t>
            </a:r>
          </a:p>
          <a:p>
            <a:pPr marL="12700" marR="5080"/>
            <a:r>
              <a:rPr lang="en-US" sz="1500" kern="0" spc="-80" dirty="0">
                <a:solidFill>
                  <a:schemeClr val="accent2"/>
                </a:solidFill>
              </a:rPr>
              <a:t>Example: </a:t>
            </a:r>
            <a:r>
              <a:rPr lang="en-US" sz="1500" kern="0" spc="-80" dirty="0">
                <a:solidFill>
                  <a:schemeClr val="accent6"/>
                </a:solidFill>
              </a:rPr>
              <a:t>Traffic data, weather sensors, GPS tracking.</a:t>
            </a:r>
          </a:p>
          <a:p>
            <a:pPr marL="12700" marR="5080"/>
            <a:endParaRPr lang="en-US" sz="1500" kern="0" spc="-80" dirty="0">
              <a:solidFill>
                <a:schemeClr val="accent6"/>
              </a:solidFill>
            </a:endParaRPr>
          </a:p>
          <a:p>
            <a:pPr marL="12700" marR="5080"/>
            <a:r>
              <a:rPr lang="en-US" sz="1500" kern="0" spc="-80" dirty="0">
                <a:solidFill>
                  <a:schemeClr val="accent2"/>
                </a:solidFill>
              </a:rPr>
              <a:t>D. Based on Source/Acquisition Method</a:t>
            </a:r>
          </a:p>
          <a:p>
            <a:pPr marL="12700" marR="5080"/>
            <a:r>
              <a:rPr lang="en-US" sz="1500" kern="0" spc="-80" dirty="0">
                <a:solidFill>
                  <a:schemeClr val="accent2"/>
                </a:solidFill>
              </a:rPr>
              <a:t>Primary Data</a:t>
            </a:r>
          </a:p>
          <a:p>
            <a:pPr marL="12700" marR="5080"/>
            <a:r>
              <a:rPr lang="en-US" sz="1500" kern="0" spc="-80" dirty="0">
                <a:solidFill>
                  <a:schemeClr val="accent6"/>
                </a:solidFill>
              </a:rPr>
              <a:t>Collected directly from the field.</a:t>
            </a:r>
          </a:p>
          <a:p>
            <a:pPr marL="12700" marR="5080"/>
            <a:r>
              <a:rPr lang="en-US" sz="1500" kern="0" spc="-80" dirty="0">
                <a:solidFill>
                  <a:schemeClr val="accent2"/>
                </a:solidFill>
              </a:rPr>
              <a:t>Example: </a:t>
            </a:r>
            <a:r>
              <a:rPr lang="en-US" sz="1500" kern="0" spc="-80" dirty="0">
                <a:solidFill>
                  <a:schemeClr val="accent6"/>
                </a:solidFill>
              </a:rPr>
              <a:t>GPS surveys, drone photogrammetry, field observations.</a:t>
            </a: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3063262878"/>
      </p:ext>
    </p:extLst>
  </p:cSld>
  <p:clrMapOvr>
    <a:masterClrMapping/>
  </p:clrMapOvr>
</p:sld>
</file>

<file path=ppt/slides/slide5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2AD7C-B88C-8E80-6AA7-0439F7648A62}"/>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29C9E8C-58A2-15F9-4057-E22A0B26910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2B5600D-44F9-92D4-6138-6F5353E9E66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7EA72E1-FC5B-FFD5-2D58-994F9CE96AB8}"/>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88D1343-42A3-7458-FFE6-FE129C5BEF8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5D9CA865-B2F5-5E57-9C8E-E15B93EC1B9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8591386-C199-9E02-8A3E-8B8F10B1A8CF}"/>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FAF70703-C2C4-5CED-BDC4-F623F940164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79E0973A-1103-1491-0D8C-40DBF21B70C1}"/>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FD5BFA88-90AF-15BE-7676-29904D24CA64}"/>
              </a:ext>
            </a:extLst>
          </p:cNvPr>
          <p:cNvSpPr txBox="1">
            <a:spLocks/>
          </p:cNvSpPr>
          <p:nvPr/>
        </p:nvSpPr>
        <p:spPr>
          <a:xfrm>
            <a:off x="228600" y="762000"/>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GIS</a:t>
            </a:r>
          </a:p>
          <a:p>
            <a:pPr marL="12700" marR="5080"/>
            <a:r>
              <a:rPr lang="en-US" sz="1500" kern="0" spc="-80" dirty="0">
                <a:solidFill>
                  <a:schemeClr val="accent2"/>
                </a:solidFill>
              </a:rPr>
              <a:t>2. Types of GIS Data</a:t>
            </a:r>
          </a:p>
          <a:p>
            <a:pPr marL="12700" marR="5080"/>
            <a:r>
              <a:rPr lang="en-US" sz="1500" kern="0" spc="-80" dirty="0">
                <a:solidFill>
                  <a:schemeClr val="accent2"/>
                </a:solidFill>
              </a:rPr>
              <a:t>D. Based on Source/Acquisition Method</a:t>
            </a:r>
          </a:p>
          <a:p>
            <a:pPr marL="12700" marR="5080"/>
            <a:r>
              <a:rPr lang="en-US" sz="1500" kern="0" spc="-80" dirty="0">
                <a:solidFill>
                  <a:schemeClr val="accent2"/>
                </a:solidFill>
              </a:rPr>
              <a:t>Secondary Data</a:t>
            </a:r>
          </a:p>
          <a:p>
            <a:pPr marL="12700" marR="5080"/>
            <a:r>
              <a:rPr lang="en-US" sz="1500" kern="0" spc="-80" dirty="0">
                <a:solidFill>
                  <a:schemeClr val="accent6"/>
                </a:solidFill>
              </a:rPr>
              <a:t>Collected from existing sources.</a:t>
            </a:r>
          </a:p>
          <a:p>
            <a:pPr marL="12700" marR="5080"/>
            <a:r>
              <a:rPr lang="en-US" sz="1500" kern="0" spc="-80" dirty="0">
                <a:solidFill>
                  <a:schemeClr val="accent2"/>
                </a:solidFill>
              </a:rPr>
              <a:t>Example: </a:t>
            </a:r>
            <a:r>
              <a:rPr lang="en-US" sz="1500" kern="0" spc="-80" dirty="0">
                <a:solidFill>
                  <a:schemeClr val="accent6"/>
                </a:solidFill>
              </a:rPr>
              <a:t>Topographic maps, satellite imagery, government GIS datasets.</a:t>
            </a:r>
          </a:p>
          <a:p>
            <a:pPr marL="12700" marR="5080"/>
            <a:endParaRPr lang="en-US" sz="1500" kern="0" spc="-80" dirty="0">
              <a:solidFill>
                <a:schemeClr val="accent6"/>
              </a:solidFill>
            </a:endParaRPr>
          </a:p>
          <a:p>
            <a:pPr marL="12700" marR="5080"/>
            <a:r>
              <a:rPr lang="en-US" sz="1500" kern="0" spc="-80" dirty="0">
                <a:solidFill>
                  <a:schemeClr val="accent2"/>
                </a:solidFill>
              </a:rPr>
              <a:t>3. Ways to Collect GIS Data</a:t>
            </a:r>
          </a:p>
          <a:p>
            <a:pPr marL="355600" marR="5080" indent="-342900">
              <a:buAutoNum type="alphaUcPeriod"/>
            </a:pPr>
            <a:r>
              <a:rPr lang="en-US" sz="1500" kern="0" spc="-80" dirty="0">
                <a:solidFill>
                  <a:schemeClr val="accent2"/>
                </a:solidFill>
              </a:rPr>
              <a:t>Field Survey Techniques</a:t>
            </a:r>
          </a:p>
          <a:p>
            <a:pPr marL="355600" marR="5080" indent="-342900">
              <a:buAutoNum type="alphaUcPeriod"/>
            </a:pPr>
            <a:endParaRPr lang="en-US" sz="1500" kern="0" spc="-80" dirty="0">
              <a:solidFill>
                <a:schemeClr val="accent2"/>
              </a:solidFill>
            </a:endParaRPr>
          </a:p>
          <a:p>
            <a:pPr marL="12700" marR="5080"/>
            <a:r>
              <a:rPr lang="en-US" sz="1500" kern="0" spc="-80" dirty="0">
                <a:solidFill>
                  <a:schemeClr val="accent2"/>
                </a:solidFill>
              </a:rPr>
              <a:t>Global Positioning System (GPS)</a:t>
            </a:r>
          </a:p>
          <a:p>
            <a:pPr marL="12700" marR="5080"/>
            <a:r>
              <a:rPr lang="en-US" sz="1500" kern="0" spc="-80" dirty="0">
                <a:solidFill>
                  <a:schemeClr val="accent6"/>
                </a:solidFill>
              </a:rPr>
              <a:t>Collects precise coordinates of features on the ground.</a:t>
            </a:r>
          </a:p>
          <a:p>
            <a:pPr marL="12700" marR="5080"/>
            <a:r>
              <a:rPr lang="en-US" sz="1500" kern="0" spc="-80" dirty="0">
                <a:solidFill>
                  <a:schemeClr val="accent2"/>
                </a:solidFill>
              </a:rPr>
              <a:t>Devices: </a:t>
            </a:r>
            <a:r>
              <a:rPr lang="en-US" sz="1500" kern="0" spc="-80" dirty="0">
                <a:solidFill>
                  <a:schemeClr val="accent6"/>
                </a:solidFill>
              </a:rPr>
              <a:t>Handheld GPS units, GNSS receivers.</a:t>
            </a:r>
          </a:p>
          <a:p>
            <a:pPr marL="12700" marR="5080"/>
            <a:r>
              <a:rPr lang="en-US" sz="1500" kern="0" spc="-80" dirty="0">
                <a:solidFill>
                  <a:schemeClr val="accent2"/>
                </a:solidFill>
              </a:rPr>
              <a:t>Applications: </a:t>
            </a:r>
            <a:r>
              <a:rPr lang="en-US" sz="1500" kern="0" spc="-80" dirty="0">
                <a:solidFill>
                  <a:schemeClr val="accent6"/>
                </a:solidFill>
              </a:rPr>
              <a:t>Road mapping, utility networks, environmental monitoring.</a:t>
            </a:r>
          </a:p>
          <a:p>
            <a:pPr marL="12700" marR="5080"/>
            <a:endParaRPr lang="en-US" sz="1500" kern="0" spc="-80" dirty="0">
              <a:solidFill>
                <a:schemeClr val="accent6"/>
              </a:solidFill>
            </a:endParaRPr>
          </a:p>
          <a:p>
            <a:pPr marL="12700" marR="5080"/>
            <a:r>
              <a:rPr lang="en-US" sz="1500" kern="0" spc="-80" dirty="0">
                <a:solidFill>
                  <a:schemeClr val="accent2"/>
                </a:solidFill>
              </a:rPr>
              <a:t>Total Station &amp; Theodolite</a:t>
            </a:r>
          </a:p>
          <a:p>
            <a:pPr marL="12700" marR="5080"/>
            <a:r>
              <a:rPr lang="en-US" sz="1500" kern="0" spc="-80" dirty="0">
                <a:solidFill>
                  <a:schemeClr val="accent6"/>
                </a:solidFill>
              </a:rPr>
              <a:t>Measures angles and distances for precise surveying.</a:t>
            </a:r>
          </a:p>
          <a:p>
            <a:pPr marL="12700" marR="5080"/>
            <a:r>
              <a:rPr lang="en-US" sz="1500" kern="0" spc="-80" dirty="0">
                <a:solidFill>
                  <a:schemeClr val="accent2"/>
                </a:solidFill>
              </a:rPr>
              <a:t>Applications:</a:t>
            </a:r>
            <a:r>
              <a:rPr lang="en-US" sz="1500" kern="0" spc="-80" dirty="0">
                <a:solidFill>
                  <a:schemeClr val="accent6"/>
                </a:solidFill>
              </a:rPr>
              <a:t> Engineering projects, cadastral surveys.</a:t>
            </a:r>
          </a:p>
          <a:p>
            <a:pPr marL="12700" marR="5080"/>
            <a:endParaRPr lang="en-US" sz="1500" kern="0" spc="-80" dirty="0">
              <a:solidFill>
                <a:schemeClr val="accent6"/>
              </a:solidFill>
            </a:endParaRPr>
          </a:p>
          <a:p>
            <a:pPr marL="12700" marR="5080"/>
            <a:r>
              <a:rPr lang="en-US" sz="1500" kern="0" spc="-80" dirty="0">
                <a:solidFill>
                  <a:schemeClr val="accent2"/>
                </a:solidFill>
              </a:rPr>
              <a:t>Ground Control Points (GCP)</a:t>
            </a:r>
          </a:p>
          <a:p>
            <a:pPr marL="12700" marR="5080"/>
            <a:r>
              <a:rPr lang="en-US" sz="1500" kern="0" spc="-80" dirty="0">
                <a:solidFill>
                  <a:schemeClr val="accent6"/>
                </a:solidFill>
              </a:rPr>
              <a:t>Reference points with known coordinates for aligning satellite/aerial imagery.</a:t>
            </a:r>
          </a:p>
        </p:txBody>
      </p:sp>
    </p:spTree>
    <p:extLst>
      <p:ext uri="{BB962C8B-B14F-4D97-AF65-F5344CB8AC3E}">
        <p14:creationId xmlns:p14="http://schemas.microsoft.com/office/powerpoint/2010/main" val="2286080038"/>
      </p:ext>
    </p:extLst>
  </p:cSld>
  <p:clrMapOvr>
    <a:masterClrMapping/>
  </p:clrMapOvr>
</p:sld>
</file>

<file path=ppt/slides/slide5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220EC3-1D10-77F4-AF3C-95CDCB08825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38061AE-9C4E-7F66-1CA5-FF7B26C2C19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7971AC8-91BA-B8DE-A046-D5B6B88CD2F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C9A48729-1946-7E94-6FB1-4EF3B43235F3}"/>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8914204-4D0B-ECF7-9333-587DB96F4DB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877539AD-D19D-BBB4-C2B4-218A776F913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C7EC7C49-1B07-9349-AFC7-38D52957A09A}"/>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AE67F41E-A3D1-24E3-5956-4C0C3DB4EEFA}"/>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1FD801A3-99C7-23BA-2FF3-E5F94CCF8625}"/>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FF64268D-E6E1-6F39-FFF1-C474534C71EC}"/>
              </a:ext>
            </a:extLst>
          </p:cNvPr>
          <p:cNvSpPr txBox="1">
            <a:spLocks/>
          </p:cNvSpPr>
          <p:nvPr/>
        </p:nvSpPr>
        <p:spPr>
          <a:xfrm>
            <a:off x="228600" y="762000"/>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GIS</a:t>
            </a:r>
          </a:p>
          <a:p>
            <a:pPr marL="12700" marR="5080"/>
            <a:r>
              <a:rPr lang="en-US" sz="1500" kern="0" spc="-80" dirty="0">
                <a:solidFill>
                  <a:schemeClr val="accent2"/>
                </a:solidFill>
              </a:rPr>
              <a:t>3. Ways to Collect GIS Data</a:t>
            </a:r>
          </a:p>
          <a:p>
            <a:pPr marL="12700" marR="5080"/>
            <a:r>
              <a:rPr lang="en-US" sz="1500" kern="0" spc="-80" dirty="0">
                <a:solidFill>
                  <a:schemeClr val="accent2"/>
                </a:solidFill>
              </a:rPr>
              <a:t>B. Remote Sensing</a:t>
            </a:r>
          </a:p>
          <a:p>
            <a:pPr marL="12700" marR="5080"/>
            <a:r>
              <a:rPr lang="en-US" sz="1500" kern="0" spc="-80" dirty="0">
                <a:solidFill>
                  <a:schemeClr val="accent6"/>
                </a:solidFill>
              </a:rPr>
              <a:t>Captures data from airborne or spaceborne sensors.</a:t>
            </a:r>
          </a:p>
          <a:p>
            <a:pPr marL="12700" marR="5080"/>
            <a:endParaRPr lang="en-US" sz="1500" kern="0" spc="-80" dirty="0">
              <a:solidFill>
                <a:schemeClr val="accent6"/>
              </a:solidFill>
            </a:endParaRPr>
          </a:p>
          <a:p>
            <a:pPr marL="12700" marR="5080"/>
            <a:r>
              <a:rPr lang="en-US" sz="1500" kern="0" spc="-80" dirty="0">
                <a:solidFill>
                  <a:schemeClr val="accent2"/>
                </a:solidFill>
              </a:rPr>
              <a:t>Satellite Imagery</a:t>
            </a:r>
          </a:p>
          <a:p>
            <a:pPr marL="12700" marR="5080"/>
            <a:r>
              <a:rPr lang="en-US" sz="1500" kern="0" spc="-80" dirty="0">
                <a:solidFill>
                  <a:schemeClr val="accent2"/>
                </a:solidFill>
              </a:rPr>
              <a:t>Sources: </a:t>
            </a:r>
            <a:r>
              <a:rPr lang="en-US" sz="1500" kern="0" spc="-80" dirty="0">
                <a:solidFill>
                  <a:schemeClr val="accent6"/>
                </a:solidFill>
              </a:rPr>
              <a:t>Landsat, Sentinel, </a:t>
            </a:r>
            <a:r>
              <a:rPr lang="en-US" sz="1500" kern="0" spc="-80" dirty="0" err="1">
                <a:solidFill>
                  <a:schemeClr val="accent6"/>
                </a:solidFill>
              </a:rPr>
              <a:t>WorldView</a:t>
            </a:r>
            <a:r>
              <a:rPr lang="en-US" sz="1500" kern="0" spc="-80" dirty="0">
                <a:solidFill>
                  <a:schemeClr val="accent6"/>
                </a:solidFill>
              </a:rPr>
              <a:t>, MODIS.</a:t>
            </a:r>
          </a:p>
          <a:p>
            <a:pPr marL="12700" marR="5080"/>
            <a:r>
              <a:rPr lang="en-US" sz="1500" kern="0" spc="-80" dirty="0">
                <a:solidFill>
                  <a:schemeClr val="accent6"/>
                </a:solidFill>
              </a:rPr>
              <a:t>Can provide land use, vegetation, water bodies, urban expansion.</a:t>
            </a:r>
          </a:p>
          <a:p>
            <a:pPr marL="12700" marR="5080"/>
            <a:endParaRPr lang="en-US" sz="1500" kern="0" spc="-80" dirty="0">
              <a:solidFill>
                <a:schemeClr val="accent6"/>
              </a:solidFill>
            </a:endParaRPr>
          </a:p>
          <a:p>
            <a:pPr marL="12700" marR="5080"/>
            <a:r>
              <a:rPr lang="en-US" sz="1500" kern="0" spc="-80" dirty="0">
                <a:solidFill>
                  <a:schemeClr val="accent2"/>
                </a:solidFill>
              </a:rPr>
              <a:t>Aerial Photography</a:t>
            </a:r>
          </a:p>
          <a:p>
            <a:pPr marL="12700" marR="5080"/>
            <a:r>
              <a:rPr lang="en-US" sz="1500" kern="0" spc="-80" dirty="0">
                <a:solidFill>
                  <a:schemeClr val="accent6"/>
                </a:solidFill>
              </a:rPr>
              <a:t>High-resolution images captured from aircraft or drones.</a:t>
            </a:r>
          </a:p>
          <a:p>
            <a:pPr marL="12700" marR="5080"/>
            <a:r>
              <a:rPr lang="en-US" sz="1500" kern="0" spc="-80" dirty="0">
                <a:solidFill>
                  <a:schemeClr val="accent6"/>
                </a:solidFill>
              </a:rPr>
              <a:t>Used for detailed mapping, disaster assessment, and construction monitoring.</a:t>
            </a:r>
          </a:p>
          <a:p>
            <a:pPr marL="12700" marR="5080"/>
            <a:endParaRPr lang="en-US" sz="1500" kern="0" spc="-80" dirty="0">
              <a:solidFill>
                <a:schemeClr val="accent6"/>
              </a:solidFill>
            </a:endParaRPr>
          </a:p>
          <a:p>
            <a:pPr marL="12700" marR="5080"/>
            <a:r>
              <a:rPr lang="en-US" sz="1500" kern="0" spc="-80" dirty="0">
                <a:solidFill>
                  <a:schemeClr val="accent2"/>
                </a:solidFill>
              </a:rPr>
              <a:t>LiDAR (Light Detection and Ranging)</a:t>
            </a:r>
          </a:p>
          <a:p>
            <a:pPr marL="12700" marR="5080"/>
            <a:r>
              <a:rPr lang="en-US" sz="1500" kern="0" spc="-80" dirty="0">
                <a:solidFill>
                  <a:schemeClr val="accent6"/>
                </a:solidFill>
              </a:rPr>
              <a:t>Measures distance using laser pulses to generate 3D point clouds.</a:t>
            </a:r>
          </a:p>
          <a:p>
            <a:pPr marL="12700" marR="5080"/>
            <a:r>
              <a:rPr lang="en-US" sz="1500" kern="0" spc="-80" dirty="0">
                <a:solidFill>
                  <a:schemeClr val="accent6"/>
                </a:solidFill>
              </a:rPr>
              <a:t>Used for terrain modeling, forestry, urban planning.</a:t>
            </a:r>
          </a:p>
          <a:p>
            <a:pPr marL="12700" marR="5080"/>
            <a:endParaRPr lang="en-US" sz="1500" kern="0" spc="-80" dirty="0">
              <a:solidFill>
                <a:schemeClr val="accent6"/>
              </a:solidFill>
            </a:endParaRPr>
          </a:p>
          <a:p>
            <a:pPr marL="12700" marR="5080"/>
            <a:r>
              <a:rPr lang="en-US" sz="1500" kern="0" spc="-80" dirty="0">
                <a:solidFill>
                  <a:schemeClr val="accent2"/>
                </a:solidFill>
              </a:rPr>
              <a:t>Photogrammetry</a:t>
            </a:r>
          </a:p>
          <a:p>
            <a:pPr marL="12700" marR="5080"/>
            <a:r>
              <a:rPr lang="en-US" sz="1500" kern="0" spc="-80" dirty="0">
                <a:solidFill>
                  <a:schemeClr val="accent6"/>
                </a:solidFill>
              </a:rPr>
              <a:t>Extracts 3D information from 2D images.</a:t>
            </a:r>
          </a:p>
          <a:p>
            <a:pPr marL="12700" marR="5080"/>
            <a:r>
              <a:rPr lang="en-US" sz="1500" kern="0" spc="-80" dirty="0">
                <a:solidFill>
                  <a:schemeClr val="accent6"/>
                </a:solidFill>
              </a:rPr>
              <a:t>Commonly used with UAV/drone images for topography and DEM generation.</a:t>
            </a: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1317471310"/>
      </p:ext>
    </p:extLst>
  </p:cSld>
  <p:clrMapOvr>
    <a:masterClrMapping/>
  </p:clrMapOvr>
</p:sld>
</file>

<file path=ppt/slides/slide5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FCDCF-A040-7307-6628-DFA04E878B5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4D020F1-2986-4894-ED3F-DE8ACC09A98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890A451-1A4C-73AE-19AE-5DA0A1462634}"/>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133D431-E2E2-7195-71B4-5F66CDE349F0}"/>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78848DD-4051-07CF-F642-95494B42642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25404280-3FBE-12AF-4407-3CD5F17B019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2CB42577-4C29-A054-A589-8FC4A206D76F}"/>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4E5F4BD1-400D-2872-E0D1-A4077E66AE0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43D2343B-9590-41B2-EF55-E069980717BC}"/>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E50C0EBA-2225-6C67-FB91-4607C35DB23D}"/>
              </a:ext>
            </a:extLst>
          </p:cNvPr>
          <p:cNvSpPr txBox="1">
            <a:spLocks/>
          </p:cNvSpPr>
          <p:nvPr/>
        </p:nvSpPr>
        <p:spPr>
          <a:xfrm>
            <a:off x="228600" y="762000"/>
            <a:ext cx="8624937" cy="4909036"/>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GIS</a:t>
            </a:r>
          </a:p>
          <a:p>
            <a:pPr marL="12700" marR="5080"/>
            <a:r>
              <a:rPr lang="en-US" sz="1500" kern="0" spc="-80" dirty="0">
                <a:solidFill>
                  <a:schemeClr val="accent2"/>
                </a:solidFill>
              </a:rPr>
              <a:t>3. Ways to Collect GIS Data</a:t>
            </a:r>
          </a:p>
          <a:p>
            <a:pPr marL="12700" marR="5080"/>
            <a:r>
              <a:rPr lang="en-US" sz="1500" kern="0" spc="-80" dirty="0">
                <a:solidFill>
                  <a:schemeClr val="accent2"/>
                </a:solidFill>
              </a:rPr>
              <a:t>C. Existing Maps and Documents</a:t>
            </a:r>
          </a:p>
          <a:p>
            <a:pPr marL="12700" marR="5080"/>
            <a:endParaRPr lang="en-US" sz="1500" kern="0" spc="-80" dirty="0">
              <a:solidFill>
                <a:schemeClr val="accent2"/>
              </a:solidFill>
            </a:endParaRPr>
          </a:p>
          <a:p>
            <a:pPr marL="12700" marR="5080"/>
            <a:r>
              <a:rPr lang="en-US" sz="1500" kern="0" spc="-80" dirty="0">
                <a:solidFill>
                  <a:schemeClr val="accent2"/>
                </a:solidFill>
              </a:rPr>
              <a:t>Topographic Maps</a:t>
            </a:r>
          </a:p>
          <a:p>
            <a:pPr marL="12700" marR="5080"/>
            <a:r>
              <a:rPr lang="en-US" sz="1500" kern="0" spc="-80" dirty="0">
                <a:solidFill>
                  <a:schemeClr val="accent6"/>
                </a:solidFill>
              </a:rPr>
              <a:t>Contour lines, rivers, roads, and built-up areas.</a:t>
            </a:r>
          </a:p>
          <a:p>
            <a:pPr marL="12700" marR="5080"/>
            <a:r>
              <a:rPr lang="en-US" sz="1500" kern="0" spc="-80" dirty="0">
                <a:solidFill>
                  <a:schemeClr val="accent6"/>
                </a:solidFill>
              </a:rPr>
              <a:t>Digitized into GIS format.</a:t>
            </a:r>
          </a:p>
          <a:p>
            <a:pPr marL="12700" marR="5080"/>
            <a:endParaRPr lang="en-US" sz="1500" kern="0" spc="-80" dirty="0">
              <a:solidFill>
                <a:schemeClr val="accent6"/>
              </a:solidFill>
            </a:endParaRPr>
          </a:p>
          <a:p>
            <a:pPr marL="12700" marR="5080"/>
            <a:r>
              <a:rPr lang="en-US" sz="1500" kern="0" spc="-80" dirty="0">
                <a:solidFill>
                  <a:schemeClr val="accent2"/>
                </a:solidFill>
              </a:rPr>
              <a:t>Cadastral Maps</a:t>
            </a:r>
          </a:p>
          <a:p>
            <a:pPr marL="12700" marR="5080"/>
            <a:r>
              <a:rPr lang="en-US" sz="1500" kern="0" spc="-80" dirty="0">
                <a:solidFill>
                  <a:schemeClr val="accent6"/>
                </a:solidFill>
              </a:rPr>
              <a:t>Property boundaries, land parcels.</a:t>
            </a:r>
          </a:p>
          <a:p>
            <a:pPr marL="12700" marR="5080"/>
            <a:r>
              <a:rPr lang="en-US" sz="1500" kern="0" spc="-80" dirty="0">
                <a:solidFill>
                  <a:schemeClr val="accent6"/>
                </a:solidFill>
              </a:rPr>
              <a:t>Statistical &amp; Survey Data</a:t>
            </a:r>
          </a:p>
          <a:p>
            <a:pPr marL="12700" marR="5080"/>
            <a:r>
              <a:rPr lang="en-US" sz="1500" kern="0" spc="-80" dirty="0">
                <a:solidFill>
                  <a:schemeClr val="accent6"/>
                </a:solidFill>
              </a:rPr>
              <a:t>Census data, socio-economic datasets, epidemiology data.</a:t>
            </a:r>
          </a:p>
          <a:p>
            <a:pPr marL="12700" marR="5080"/>
            <a:endParaRPr lang="en-US" sz="1500" kern="0" spc="-80" dirty="0">
              <a:solidFill>
                <a:schemeClr val="accent6"/>
              </a:solidFill>
            </a:endParaRPr>
          </a:p>
          <a:p>
            <a:pPr marL="12700" marR="5080"/>
            <a:r>
              <a:rPr lang="en-US" sz="1500" kern="0" spc="-80" dirty="0">
                <a:solidFill>
                  <a:schemeClr val="accent2"/>
                </a:solidFill>
              </a:rPr>
              <a:t>D. Crowdsourced and IoT Data</a:t>
            </a:r>
          </a:p>
          <a:p>
            <a:pPr marL="12700" marR="5080"/>
            <a:r>
              <a:rPr lang="en-US" sz="1500" kern="0" spc="-80" dirty="0">
                <a:solidFill>
                  <a:schemeClr val="accent2"/>
                </a:solidFill>
              </a:rPr>
              <a:t>Volunteered Geographic Information (VGI)</a:t>
            </a:r>
          </a:p>
          <a:p>
            <a:pPr marL="12700" marR="5080"/>
            <a:r>
              <a:rPr lang="en-US" sz="1500" kern="0" spc="-80" dirty="0">
                <a:solidFill>
                  <a:schemeClr val="accent6"/>
                </a:solidFill>
              </a:rPr>
              <a:t>User-contributed data, e.g., OpenStreetMap.</a:t>
            </a:r>
          </a:p>
          <a:p>
            <a:pPr marL="12700" marR="5080"/>
            <a:endParaRPr lang="en-US" sz="1500" kern="0" spc="-80" dirty="0">
              <a:solidFill>
                <a:schemeClr val="accent6"/>
              </a:solidFill>
            </a:endParaRPr>
          </a:p>
          <a:p>
            <a:pPr marL="12700" marR="5080"/>
            <a:r>
              <a:rPr lang="en-US" sz="1500" kern="0" spc="-80" dirty="0">
                <a:solidFill>
                  <a:schemeClr val="accent2"/>
                </a:solidFill>
              </a:rPr>
              <a:t>Sensors and IoT Devices</a:t>
            </a:r>
          </a:p>
          <a:p>
            <a:pPr marL="12700" marR="5080"/>
            <a:r>
              <a:rPr lang="en-US" sz="1500" kern="0" spc="-80" dirty="0">
                <a:solidFill>
                  <a:schemeClr val="accent6"/>
                </a:solidFill>
              </a:rPr>
              <a:t>Traffic sensors, weather stations, pollution monitors.</a:t>
            </a:r>
          </a:p>
          <a:p>
            <a:pPr marL="12700" marR="5080"/>
            <a:r>
              <a:rPr lang="en-US" sz="1500" kern="0" spc="-80" dirty="0">
                <a:solidFill>
                  <a:schemeClr val="accent6"/>
                </a:solidFill>
              </a:rPr>
              <a:t>Provides real-time GIS data streams.</a:t>
            </a:r>
          </a:p>
          <a:p>
            <a:pPr marL="12700" marR="5080"/>
            <a:endParaRPr lang="en-US" sz="1500" kern="0" spc="-80" dirty="0">
              <a:solidFill>
                <a:schemeClr val="accent6"/>
              </a:solidFill>
            </a:endParaRPr>
          </a:p>
        </p:txBody>
      </p:sp>
    </p:spTree>
    <p:extLst>
      <p:ext uri="{BB962C8B-B14F-4D97-AF65-F5344CB8AC3E}">
        <p14:creationId xmlns:p14="http://schemas.microsoft.com/office/powerpoint/2010/main" val="3029035399"/>
      </p:ext>
    </p:extLst>
  </p:cSld>
  <p:clrMapOvr>
    <a:masterClrMapping/>
  </p:clrMapOvr>
</p:sld>
</file>

<file path=ppt/slides/slide5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6DBBE5-1D15-9CEB-F2B1-A6991F86271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367235B-8078-8D90-8165-991B7C61ECFA}"/>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4C06D3B-BBA1-B5EA-7C96-D1BC4991A42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BC6044A4-A97E-CD03-4BA3-1362D7FA25BB}"/>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547DAF9-01AE-0580-D6A5-EA3CFADB1A2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FB13559-FEC9-5418-F09B-AEEF0670F800}"/>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86767686-3A76-5B74-12DC-56CBEC7D77E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CD1AE7DF-FEFD-0DDB-00B5-17C88B91F881}"/>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F16DA447-9D1A-B0C6-D485-F3D3AFD7CAE9}"/>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CEA003C6-9CC0-4D71-B021-52A7612B7B93}"/>
              </a:ext>
            </a:extLst>
          </p:cNvPr>
          <p:cNvSpPr txBox="1">
            <a:spLocks/>
          </p:cNvSpPr>
          <p:nvPr/>
        </p:nvSpPr>
        <p:spPr>
          <a:xfrm>
            <a:off x="228600" y="762000"/>
            <a:ext cx="8624937" cy="537070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GIS</a:t>
            </a:r>
          </a:p>
          <a:p>
            <a:pPr marL="12700" marR="5080"/>
            <a:r>
              <a:rPr lang="en-US" sz="1500" kern="0" spc="-80" dirty="0">
                <a:solidFill>
                  <a:schemeClr val="accent2"/>
                </a:solidFill>
              </a:rPr>
              <a:t>3. Ways to Collect GIS Data</a:t>
            </a:r>
          </a:p>
          <a:p>
            <a:pPr marL="12700" marR="5080"/>
            <a:r>
              <a:rPr lang="en-US" sz="1500" kern="0" spc="-80" dirty="0">
                <a:solidFill>
                  <a:schemeClr val="accent2"/>
                </a:solidFill>
              </a:rPr>
              <a:t>E. Web and Database Sources</a:t>
            </a:r>
          </a:p>
          <a:p>
            <a:pPr marL="12700" marR="5080"/>
            <a:r>
              <a:rPr lang="en-US" sz="1500" kern="0" spc="-80" dirty="0">
                <a:solidFill>
                  <a:schemeClr val="accent6"/>
                </a:solidFill>
              </a:rPr>
              <a:t>Government Portals</a:t>
            </a:r>
          </a:p>
          <a:p>
            <a:pPr marL="12700" marR="5080"/>
            <a:r>
              <a:rPr lang="en-US" sz="1500" kern="0" spc="-80" dirty="0">
                <a:solidFill>
                  <a:schemeClr val="accent2"/>
                </a:solidFill>
              </a:rPr>
              <a:t>Example: </a:t>
            </a:r>
            <a:r>
              <a:rPr lang="en-US" sz="1500" kern="0" spc="-80" dirty="0">
                <a:solidFill>
                  <a:schemeClr val="accent6"/>
                </a:solidFill>
              </a:rPr>
              <a:t>USGS Earth Explorer, India Bhuvan, Open Data portals.</a:t>
            </a:r>
          </a:p>
          <a:p>
            <a:pPr marL="12700" marR="5080"/>
            <a:r>
              <a:rPr lang="en-US" sz="1500" kern="0" spc="-80" dirty="0">
                <a:solidFill>
                  <a:schemeClr val="accent2"/>
                </a:solidFill>
              </a:rPr>
              <a:t>Commercial GIS Data</a:t>
            </a:r>
          </a:p>
          <a:p>
            <a:pPr marL="12700" marR="5080"/>
            <a:r>
              <a:rPr lang="en-US" sz="1500" kern="0" spc="-80" dirty="0">
                <a:solidFill>
                  <a:schemeClr val="accent6"/>
                </a:solidFill>
              </a:rPr>
              <a:t>ESRI, Google Earth Engine, satellite data providers.</a:t>
            </a:r>
          </a:p>
          <a:p>
            <a:pPr marL="12700" marR="5080"/>
            <a:r>
              <a:rPr lang="en-US" sz="1500" kern="0" spc="-80" dirty="0">
                <a:solidFill>
                  <a:schemeClr val="accent2"/>
                </a:solidFill>
              </a:rPr>
              <a:t>Social Media</a:t>
            </a:r>
          </a:p>
          <a:p>
            <a:pPr marL="12700" marR="5080"/>
            <a:r>
              <a:rPr lang="en-US" sz="1500" kern="0" spc="-80" dirty="0">
                <a:solidFill>
                  <a:schemeClr val="accent6"/>
                </a:solidFill>
              </a:rPr>
              <a:t>Location-tagged data for disaster monitoring or urban studies.</a:t>
            </a:r>
          </a:p>
          <a:p>
            <a:pPr marL="12700" marR="5080"/>
            <a:endParaRPr lang="en-US" sz="1500" kern="0" spc="-80" dirty="0">
              <a:solidFill>
                <a:schemeClr val="accent6"/>
              </a:solidFill>
            </a:endParaRPr>
          </a:p>
          <a:p>
            <a:pPr marL="12700" marR="5080"/>
            <a:r>
              <a:rPr lang="en-US" sz="1500" kern="0" spc="-80" dirty="0">
                <a:solidFill>
                  <a:schemeClr val="accent2"/>
                </a:solidFill>
              </a:rPr>
              <a:t>F. Digitization and Data Conversion</a:t>
            </a:r>
          </a:p>
          <a:p>
            <a:pPr marL="12700" marR="5080"/>
            <a:r>
              <a:rPr lang="en-US" sz="1500" kern="0" spc="-80" dirty="0">
                <a:solidFill>
                  <a:schemeClr val="accent6"/>
                </a:solidFill>
              </a:rPr>
              <a:t>Digitizing paper maps using scanners and GIS software.</a:t>
            </a:r>
          </a:p>
          <a:p>
            <a:pPr marL="12700" marR="5080"/>
            <a:r>
              <a:rPr lang="en-US" sz="1500" kern="0" spc="-80" dirty="0">
                <a:solidFill>
                  <a:schemeClr val="accent2"/>
                </a:solidFill>
              </a:rPr>
              <a:t>Vectorization: </a:t>
            </a:r>
            <a:r>
              <a:rPr lang="en-US" sz="1500" kern="0" spc="-80" dirty="0">
                <a:solidFill>
                  <a:schemeClr val="accent6"/>
                </a:solidFill>
              </a:rPr>
              <a:t>Converting raster images to vector features.</a:t>
            </a:r>
          </a:p>
          <a:p>
            <a:pPr marL="12700" marR="5080"/>
            <a:r>
              <a:rPr lang="en-US" sz="1500" kern="0" spc="-80" dirty="0">
                <a:solidFill>
                  <a:schemeClr val="accent2"/>
                </a:solidFill>
              </a:rPr>
              <a:t>Georeferencing: </a:t>
            </a:r>
            <a:r>
              <a:rPr lang="en-US" sz="1500" kern="0" spc="-80" dirty="0">
                <a:solidFill>
                  <a:schemeClr val="accent6"/>
                </a:solidFill>
              </a:rPr>
              <a:t>Assigning coordinates to images/maps.</a:t>
            </a:r>
          </a:p>
          <a:p>
            <a:pPr marL="12700" marR="5080"/>
            <a:endParaRPr lang="en-US" sz="1500" kern="0" spc="-80" dirty="0">
              <a:solidFill>
                <a:schemeClr val="accent6"/>
              </a:solidFill>
            </a:endParaRPr>
          </a:p>
          <a:p>
            <a:pPr marL="12700" marR="5080"/>
            <a:r>
              <a:rPr lang="en-US" sz="1500" kern="0" spc="-80" dirty="0">
                <a:solidFill>
                  <a:schemeClr val="accent2"/>
                </a:solidFill>
              </a:rPr>
              <a:t>Summary Table</a:t>
            </a:r>
          </a:p>
          <a:p>
            <a:pPr marL="12700" marR="5080"/>
            <a:r>
              <a:rPr lang="en-US" sz="1500" kern="0" spc="-80" dirty="0">
                <a:solidFill>
                  <a:schemeClr val="accent2"/>
                </a:solidFill>
              </a:rPr>
              <a:t>Data Type                 Examples	                                    Collection Method</a:t>
            </a:r>
          </a:p>
          <a:p>
            <a:pPr marL="12700" marR="5080"/>
            <a:r>
              <a:rPr lang="en-US" sz="1400" kern="0" spc="-80" dirty="0">
                <a:solidFill>
                  <a:schemeClr val="accent6"/>
                </a:solidFill>
              </a:rPr>
              <a:t>Vector	                  Points, Lines, Polygons	                   GPS, Surveying, Digitization</a:t>
            </a:r>
          </a:p>
          <a:p>
            <a:pPr marL="12700" marR="5080"/>
            <a:r>
              <a:rPr lang="en-US" sz="1400" kern="0" spc="-80" dirty="0">
                <a:solidFill>
                  <a:schemeClr val="accent6"/>
                </a:solidFill>
              </a:rPr>
              <a:t>Raster	                  Satellite imagery, DEM	                   Remote sensing, Scanning, Drone imagery</a:t>
            </a:r>
          </a:p>
          <a:p>
            <a:pPr marL="12700" marR="5080"/>
            <a:r>
              <a:rPr lang="en-US" sz="1400" kern="0" spc="-80" dirty="0">
                <a:solidFill>
                  <a:schemeClr val="accent6"/>
                </a:solidFill>
              </a:rPr>
              <a:t>Attribute	                  Population, Soil type	                   Field survey, Census, Sensor data</a:t>
            </a:r>
          </a:p>
          <a:p>
            <a:pPr marL="12700" marR="5080"/>
            <a:r>
              <a:rPr lang="en-US" sz="1400" kern="0" spc="-80" dirty="0">
                <a:solidFill>
                  <a:schemeClr val="accent6"/>
                </a:solidFill>
              </a:rPr>
              <a:t>Real-time	                  Traffic, Weather	                   IoT sensors, GPS tracking</a:t>
            </a:r>
          </a:p>
          <a:p>
            <a:pPr marL="12700" marR="5080"/>
            <a:r>
              <a:rPr lang="en-US" sz="1400" kern="0" spc="-80" dirty="0">
                <a:solidFill>
                  <a:schemeClr val="accent6"/>
                </a:solidFill>
              </a:rPr>
              <a:t>Static	                  Land use maps	                   Maps, Surveys</a:t>
            </a:r>
          </a:p>
          <a:p>
            <a:pPr marL="12700" marR="5080"/>
            <a:r>
              <a:rPr lang="en-US" sz="1400" kern="0" spc="-80" dirty="0">
                <a:solidFill>
                  <a:schemeClr val="accent6"/>
                </a:solidFill>
              </a:rPr>
              <a:t>Crowdsourced            OpenStreetMap	                   Volunteered input.</a:t>
            </a:r>
          </a:p>
        </p:txBody>
      </p:sp>
    </p:spTree>
    <p:extLst>
      <p:ext uri="{BB962C8B-B14F-4D97-AF65-F5344CB8AC3E}">
        <p14:creationId xmlns:p14="http://schemas.microsoft.com/office/powerpoint/2010/main" val="4271242315"/>
      </p:ext>
    </p:extLst>
  </p:cSld>
  <p:clrMapOvr>
    <a:masterClrMapping/>
  </p:clrMapOvr>
</p:sld>
</file>

<file path=ppt/slides/slide5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80D63-A38B-FA2D-AB8C-BF6EC012334B}"/>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A475FEB-F924-1F42-6F3A-8C562BF60A2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2C4885F0-2FCB-6FC2-49F7-C272C49E1F2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E61DECD-FD4A-F996-C778-50D04632487C}"/>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837B351-CE5F-D9E4-66CF-34848F3529A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89F0EC2D-29F7-EAA8-329D-1B88B2B0E76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29ACFD0-A587-1C59-9D0C-197102AE4E86}"/>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033C44A7-315B-321B-06B9-BA25F2DBFD0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ECBC3D20-5260-EFAA-6E6F-92198C8FC3F5}"/>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92A9591F-B0F8-2B01-7B89-AC1B359E6514}"/>
              </a:ext>
            </a:extLst>
          </p:cNvPr>
          <p:cNvSpPr txBox="1">
            <a:spLocks/>
          </p:cNvSpPr>
          <p:nvPr/>
        </p:nvSpPr>
        <p:spPr>
          <a:xfrm>
            <a:off x="228600" y="762000"/>
            <a:ext cx="8624937" cy="4832092"/>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GIS</a:t>
            </a:r>
          </a:p>
          <a:p>
            <a:pPr marL="12700" marR="5080"/>
            <a:r>
              <a:rPr lang="en-US" sz="1500" kern="0" spc="-80" dirty="0">
                <a:solidFill>
                  <a:schemeClr val="accent2"/>
                </a:solidFill>
              </a:rPr>
              <a:t>4. Core GIS Operations</a:t>
            </a:r>
          </a:p>
          <a:p>
            <a:pPr marL="12700" marR="5080"/>
            <a:r>
              <a:rPr lang="en-US" sz="1400" kern="0" spc="-80" dirty="0">
                <a:solidFill>
                  <a:schemeClr val="accent2"/>
                </a:solidFill>
              </a:rPr>
              <a:t>a) Geometry Operations </a:t>
            </a:r>
          </a:p>
          <a:p>
            <a:pPr marL="12700" marR="5080"/>
            <a:r>
              <a:rPr lang="en-US" sz="1400" kern="0" spc="-80" dirty="0">
                <a:solidFill>
                  <a:schemeClr val="accent6"/>
                </a:solidFill>
              </a:rPr>
              <a:t>Buffer (grow/shrink shapes) </a:t>
            </a:r>
          </a:p>
          <a:p>
            <a:pPr marL="12700" marR="5080"/>
            <a:r>
              <a:rPr lang="en-US" sz="1400" kern="0" spc="-80" dirty="0">
                <a:solidFill>
                  <a:schemeClr val="accent6"/>
                </a:solidFill>
              </a:rPr>
              <a:t>Intersect (find overlaps) </a:t>
            </a:r>
          </a:p>
          <a:p>
            <a:pPr marL="12700" marR="5080"/>
            <a:r>
              <a:rPr lang="en-US" sz="1400" kern="0" spc="-80" dirty="0">
                <a:solidFill>
                  <a:schemeClr val="accent6"/>
                </a:solidFill>
              </a:rPr>
              <a:t>Union (combine shapes) </a:t>
            </a:r>
          </a:p>
          <a:p>
            <a:pPr marL="12700" marR="5080"/>
            <a:r>
              <a:rPr lang="en-US" sz="1400" kern="0" spc="-80" dirty="0">
                <a:solidFill>
                  <a:schemeClr val="accent6"/>
                </a:solidFill>
              </a:rPr>
              <a:t>Clip (cut one shape with another) </a:t>
            </a:r>
          </a:p>
          <a:p>
            <a:pPr marL="12700" marR="5080"/>
            <a:r>
              <a:rPr lang="en-US" sz="1400" kern="0" spc="-80" dirty="0">
                <a:solidFill>
                  <a:schemeClr val="accent6"/>
                </a:solidFill>
              </a:rPr>
              <a:t>Dissolve (merge adjacent shapes)</a:t>
            </a:r>
          </a:p>
          <a:p>
            <a:pPr marL="12700" marR="5080"/>
            <a:endParaRPr lang="en-US" sz="1400" kern="0" spc="-80" dirty="0">
              <a:solidFill>
                <a:schemeClr val="accent6"/>
              </a:solidFill>
            </a:endParaRPr>
          </a:p>
          <a:p>
            <a:pPr marL="12700" marR="5080"/>
            <a:r>
              <a:rPr lang="en-US" sz="1400" kern="0" spc="-80" dirty="0">
                <a:solidFill>
                  <a:schemeClr val="accent2"/>
                </a:solidFill>
              </a:rPr>
              <a:t>b) Spatial Queries </a:t>
            </a:r>
          </a:p>
          <a:p>
            <a:pPr marL="12700" marR="5080"/>
            <a:r>
              <a:rPr lang="en-US" sz="1400" kern="0" spc="-80" dirty="0">
                <a:solidFill>
                  <a:schemeClr val="accent6"/>
                </a:solidFill>
              </a:rPr>
              <a:t>"Find all schools within 500m of highways.“</a:t>
            </a:r>
          </a:p>
          <a:p>
            <a:pPr marL="12700" marR="5080"/>
            <a:r>
              <a:rPr lang="en-US" sz="1400" kern="0" spc="-80" dirty="0">
                <a:solidFill>
                  <a:schemeClr val="accent6"/>
                </a:solidFill>
              </a:rPr>
              <a:t> Uses: distance computation + point-in-polygon logic</a:t>
            </a:r>
          </a:p>
          <a:p>
            <a:pPr marL="12700" marR="5080"/>
            <a:endParaRPr lang="en-US" sz="1400" kern="0" spc="-80" dirty="0">
              <a:solidFill>
                <a:schemeClr val="accent6"/>
              </a:solidFill>
            </a:endParaRPr>
          </a:p>
          <a:p>
            <a:pPr marL="12700" marR="5080"/>
            <a:r>
              <a:rPr lang="en-US" sz="1400" kern="0" spc="-80" dirty="0">
                <a:solidFill>
                  <a:schemeClr val="accent2"/>
                </a:solidFill>
              </a:rPr>
              <a:t>c) Attribute Queries </a:t>
            </a:r>
          </a:p>
          <a:p>
            <a:pPr marL="12700" marR="5080"/>
            <a:r>
              <a:rPr lang="en-US" sz="1400" kern="0" spc="-80" dirty="0">
                <a:solidFill>
                  <a:schemeClr val="accent6"/>
                </a:solidFill>
              </a:rPr>
              <a:t>"Select cities where population &gt; 1 million." Pure relational algebra on databases.</a:t>
            </a:r>
          </a:p>
          <a:p>
            <a:pPr marL="12700" marR="5080"/>
            <a:endParaRPr lang="en-US" sz="1400" kern="0" spc="-80" dirty="0">
              <a:solidFill>
                <a:schemeClr val="accent6"/>
              </a:solidFill>
            </a:endParaRPr>
          </a:p>
          <a:p>
            <a:pPr marL="12700" marR="5080"/>
            <a:r>
              <a:rPr lang="en-US" sz="1400" kern="0" spc="-80" dirty="0">
                <a:solidFill>
                  <a:schemeClr val="accent2"/>
                </a:solidFill>
              </a:rPr>
              <a:t>d) Raster Operations </a:t>
            </a:r>
          </a:p>
          <a:p>
            <a:pPr marL="12700" marR="5080"/>
            <a:r>
              <a:rPr lang="en-US" sz="1400" kern="0" spc="-80" dirty="0">
                <a:solidFill>
                  <a:schemeClr val="accent2"/>
                </a:solidFill>
              </a:rPr>
              <a:t>Type                                      Example                                           Math Used </a:t>
            </a:r>
          </a:p>
          <a:p>
            <a:pPr marL="12700" marR="5080"/>
            <a:r>
              <a:rPr lang="en-US" sz="1400" kern="0" spc="-80" dirty="0">
                <a:solidFill>
                  <a:schemeClr val="accent6"/>
                </a:solidFill>
              </a:rPr>
              <a:t>Local                                      NDVI = (NIR - Red)/(NIR + Red)     Pixel arithmetic </a:t>
            </a:r>
          </a:p>
          <a:p>
            <a:pPr marL="12700" marR="5080"/>
            <a:r>
              <a:rPr lang="en-US" sz="1400" kern="0" spc="-80" dirty="0">
                <a:solidFill>
                  <a:schemeClr val="accent6"/>
                </a:solidFill>
              </a:rPr>
              <a:t>Focal                                      Slope computation                         Convolution kernels </a:t>
            </a:r>
          </a:p>
          <a:p>
            <a:pPr marL="12700" marR="5080"/>
            <a:r>
              <a:rPr lang="en-US" sz="1400" kern="0" spc="-80" dirty="0">
                <a:solidFill>
                  <a:schemeClr val="accent6"/>
                </a:solidFill>
              </a:rPr>
              <a:t>Zonal                                     Mean rainfall per district               Statistical aggregation      </a:t>
            </a:r>
          </a:p>
          <a:p>
            <a:pPr marL="12700" marR="5080"/>
            <a:endParaRPr lang="en-US" sz="1400" kern="0" spc="-80" dirty="0">
              <a:solidFill>
                <a:schemeClr val="accent6"/>
              </a:solidFill>
            </a:endParaRPr>
          </a:p>
        </p:txBody>
      </p:sp>
    </p:spTree>
    <p:extLst>
      <p:ext uri="{BB962C8B-B14F-4D97-AF65-F5344CB8AC3E}">
        <p14:creationId xmlns:p14="http://schemas.microsoft.com/office/powerpoint/2010/main" val="1515632891"/>
      </p:ext>
    </p:extLst>
  </p:cSld>
  <p:clrMapOvr>
    <a:masterClrMapping/>
  </p:clrMapOvr>
</p:sld>
</file>

<file path=ppt/slides/slide5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CC448-734B-7871-7486-DB71D4C9C83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029A7D3-E6C3-E5FE-DC84-904BBD531F1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1281B95-AF80-436C-E9E1-80905823E747}"/>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4D451AB-4926-89F7-038D-081F8F654EE5}"/>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5D5C866-EEFB-D9D4-781D-71CF26FC2E8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25DF57D-4ADE-A54B-7916-0640101D56C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90FD2D4-CA0B-0367-0244-D9102A694FA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A72A3DF-5D47-7908-8F66-96CF6C7EA12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2BF26DB2-895E-6777-4D29-90F63013BD4E}"/>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6937C93E-9D56-F004-FCFD-B45B2929D447}"/>
              </a:ext>
            </a:extLst>
          </p:cNvPr>
          <p:cNvSpPr txBox="1">
            <a:spLocks/>
          </p:cNvSpPr>
          <p:nvPr/>
        </p:nvSpPr>
        <p:spPr>
          <a:xfrm>
            <a:off x="228600" y="762000"/>
            <a:ext cx="8624937" cy="547842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GIS</a:t>
            </a:r>
          </a:p>
          <a:p>
            <a:pPr marL="12700" marR="5080"/>
            <a:r>
              <a:rPr lang="en-US" sz="1500" kern="0" spc="-80" dirty="0">
                <a:solidFill>
                  <a:schemeClr val="accent2"/>
                </a:solidFill>
              </a:rPr>
              <a:t>4. Core GIS Operations</a:t>
            </a:r>
          </a:p>
          <a:p>
            <a:pPr marL="12700" marR="5080"/>
            <a:r>
              <a:rPr lang="en-US" sz="1400" kern="0" spc="-80" dirty="0">
                <a:solidFill>
                  <a:schemeClr val="accent2"/>
                </a:solidFill>
              </a:rPr>
              <a:t>e) Network Analysis </a:t>
            </a:r>
          </a:p>
          <a:p>
            <a:pPr marL="12700" marR="5080"/>
            <a:r>
              <a:rPr lang="en-US" sz="1400" kern="0" spc="-80" dirty="0">
                <a:solidFill>
                  <a:schemeClr val="accent6"/>
                </a:solidFill>
              </a:rPr>
              <a:t>Shortest path (e.g., Google Maps) </a:t>
            </a:r>
          </a:p>
          <a:p>
            <a:pPr marL="12700" marR="5080"/>
            <a:r>
              <a:rPr lang="en-US" sz="1400" kern="0" spc="-80" dirty="0">
                <a:solidFill>
                  <a:schemeClr val="accent6"/>
                </a:solidFill>
              </a:rPr>
              <a:t>Service area (which hospital is closest?) </a:t>
            </a:r>
          </a:p>
          <a:p>
            <a:pPr marL="12700" marR="5080"/>
            <a:r>
              <a:rPr lang="en-US" sz="1400" kern="0" spc="-80" dirty="0">
                <a:solidFill>
                  <a:schemeClr val="accent6"/>
                </a:solidFill>
              </a:rPr>
              <a:t>Uses graph theory + Dijkstra / A*</a:t>
            </a:r>
          </a:p>
          <a:p>
            <a:pPr marL="12700" marR="5080"/>
            <a:endParaRPr lang="en-US" sz="1400" kern="0" spc="-80" dirty="0">
              <a:solidFill>
                <a:schemeClr val="accent6"/>
              </a:solidFill>
            </a:endParaRPr>
          </a:p>
          <a:p>
            <a:pPr marL="12700" marR="5080"/>
            <a:r>
              <a:rPr lang="en-US" sz="1400" kern="0" spc="-80" dirty="0">
                <a:solidFill>
                  <a:schemeClr val="accent2"/>
                </a:solidFill>
              </a:rPr>
              <a:t>5) Advanced GIS Concepts</a:t>
            </a:r>
          </a:p>
          <a:p>
            <a:pPr marL="12700" marR="5080"/>
            <a:r>
              <a:rPr lang="en-US" sz="1400" kern="0" spc="-80" dirty="0">
                <a:solidFill>
                  <a:schemeClr val="accent2"/>
                </a:solidFill>
              </a:rPr>
              <a:t>Technique	                            Purpose	                    Key Math</a:t>
            </a:r>
          </a:p>
          <a:p>
            <a:pPr marL="12700" marR="5080"/>
            <a:r>
              <a:rPr lang="en-US" sz="1400" kern="0" spc="-80" dirty="0">
                <a:solidFill>
                  <a:schemeClr val="accent6"/>
                </a:solidFill>
              </a:rPr>
              <a:t>Spatial Interpolation	         Fill unknown values	Kriging, IDW</a:t>
            </a:r>
          </a:p>
          <a:p>
            <a:pPr marL="12700" marR="5080"/>
            <a:r>
              <a:rPr lang="en-US" sz="1400" kern="0" spc="-80" dirty="0">
                <a:solidFill>
                  <a:schemeClr val="accent6"/>
                </a:solidFill>
              </a:rPr>
              <a:t>Image Classification	         Land use mapping	Linear algebra + ML</a:t>
            </a:r>
          </a:p>
          <a:p>
            <a:pPr marL="12700" marR="5080"/>
            <a:r>
              <a:rPr lang="en-US" sz="1400" kern="0" spc="-80" dirty="0">
                <a:solidFill>
                  <a:schemeClr val="accent6"/>
                </a:solidFill>
              </a:rPr>
              <a:t>LiDAR Processing	         Extract 3D structures	Point cloud geometry</a:t>
            </a:r>
          </a:p>
          <a:p>
            <a:pPr marL="12700" marR="5080"/>
            <a:r>
              <a:rPr lang="en-US" sz="1400" kern="0" spc="-80" dirty="0">
                <a:solidFill>
                  <a:schemeClr val="accent6"/>
                </a:solidFill>
              </a:rPr>
              <a:t>3D GIS	                            City models (BIM)	Transform matrices &amp; perspective projection</a:t>
            </a:r>
          </a:p>
          <a:p>
            <a:pPr marL="12700" marR="5080"/>
            <a:r>
              <a:rPr lang="en-US" sz="1400" kern="0" spc="-80" dirty="0" err="1">
                <a:solidFill>
                  <a:schemeClr val="accent6"/>
                </a:solidFill>
              </a:rPr>
              <a:t>Spatio</a:t>
            </a:r>
            <a:r>
              <a:rPr lang="en-US" sz="1400" kern="0" spc="-80" dirty="0">
                <a:solidFill>
                  <a:schemeClr val="accent6"/>
                </a:solidFill>
              </a:rPr>
              <a:t>-temporal GIS	         Time-based changes	Time-series statistics</a:t>
            </a:r>
          </a:p>
          <a:p>
            <a:pPr marL="12700" marR="5080"/>
            <a:endParaRPr lang="en-US" sz="1400" kern="0" spc="-80" dirty="0">
              <a:solidFill>
                <a:schemeClr val="accent6"/>
              </a:solidFill>
            </a:endParaRPr>
          </a:p>
          <a:p>
            <a:pPr marL="12700" marR="5080"/>
            <a:r>
              <a:rPr lang="en-US" sz="1400" kern="0" spc="-80" dirty="0">
                <a:solidFill>
                  <a:schemeClr val="accent2"/>
                </a:solidFill>
              </a:rPr>
              <a:t>Other Noteworthy Applications of GIS</a:t>
            </a:r>
          </a:p>
          <a:p>
            <a:pPr marL="12700" marR="5080"/>
            <a:r>
              <a:rPr lang="en-US" sz="1400" kern="0" spc="-80" dirty="0">
                <a:solidFill>
                  <a:schemeClr val="accent6"/>
                </a:solidFill>
              </a:rPr>
              <a:t>Proximity detection algorithms</a:t>
            </a:r>
          </a:p>
          <a:p>
            <a:pPr marL="12700" marR="5080"/>
            <a:r>
              <a:rPr lang="en-US" sz="1400" kern="0" spc="-80" dirty="0">
                <a:solidFill>
                  <a:schemeClr val="accent6"/>
                </a:solidFill>
              </a:rPr>
              <a:t>Directions (driving, walking, biking, public transport)</a:t>
            </a:r>
          </a:p>
          <a:p>
            <a:pPr marL="12700" marR="5080"/>
            <a:r>
              <a:rPr lang="en-US" sz="1400" kern="0" spc="-80" dirty="0">
                <a:solidFill>
                  <a:schemeClr val="accent6"/>
                </a:solidFill>
              </a:rPr>
              <a:t>Traffic and real-time updates</a:t>
            </a:r>
          </a:p>
          <a:p>
            <a:pPr marL="12700" marR="5080"/>
            <a:r>
              <a:rPr lang="en-US" sz="1400" kern="0" spc="-80" dirty="0">
                <a:solidFill>
                  <a:schemeClr val="accent6"/>
                </a:solidFill>
              </a:rPr>
              <a:t>Push notifications based on location</a:t>
            </a:r>
          </a:p>
          <a:p>
            <a:pPr marL="12700" marR="5080"/>
            <a:r>
              <a:rPr lang="en-US" sz="1400" kern="0" spc="-80" dirty="0">
                <a:solidFill>
                  <a:schemeClr val="accent6"/>
                </a:solidFill>
              </a:rPr>
              <a:t>Live location sharing</a:t>
            </a:r>
          </a:p>
          <a:p>
            <a:pPr marL="12700" marR="5080"/>
            <a:r>
              <a:rPr lang="en-US" sz="1400" kern="0" spc="-80" dirty="0">
                <a:solidFill>
                  <a:schemeClr val="accent6"/>
                </a:solidFill>
              </a:rPr>
              <a:t>Multi-modal transport routing</a:t>
            </a:r>
          </a:p>
          <a:p>
            <a:pPr marL="12700" marR="5080"/>
            <a:r>
              <a:rPr lang="en-US" sz="1400" kern="0" spc="-80" dirty="0">
                <a:solidFill>
                  <a:schemeClr val="accent6"/>
                </a:solidFill>
              </a:rPr>
              <a:t>Traffic-aware routing</a:t>
            </a:r>
          </a:p>
          <a:p>
            <a:pPr marL="12700" marR="5080"/>
            <a:r>
              <a:rPr lang="en-US" sz="1400" kern="0" spc="-80" dirty="0">
                <a:solidFill>
                  <a:schemeClr val="accent6"/>
                </a:solidFill>
              </a:rPr>
              <a:t>Places API (POI – points of interest)</a:t>
            </a:r>
          </a:p>
          <a:p>
            <a:pPr marL="12700" marR="5080"/>
            <a:endParaRPr lang="en-US" sz="1400" kern="0" spc="-80" dirty="0">
              <a:solidFill>
                <a:schemeClr val="accent6"/>
              </a:solidFill>
            </a:endParaRPr>
          </a:p>
        </p:txBody>
      </p:sp>
    </p:spTree>
    <p:extLst>
      <p:ext uri="{BB962C8B-B14F-4D97-AF65-F5344CB8AC3E}">
        <p14:creationId xmlns:p14="http://schemas.microsoft.com/office/powerpoint/2010/main" val="1530373028"/>
      </p:ext>
    </p:extLst>
  </p:cSld>
  <p:clrMapOvr>
    <a:masterClrMapping/>
  </p:clrMapOvr>
</p:sld>
</file>

<file path=ppt/slides/slide5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B7303-FC04-E536-885D-9226B22A43B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82D1CC8C-6288-1626-9CEB-C81252BF503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2BE0785-7373-808F-CDD3-0286C7A0B58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9EE7686-BC2E-35CB-E4D0-4D0528F0A6FF}"/>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585B28B-CE3C-046F-F4A5-6EE05C69577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AF70D81-00E8-3A1A-C367-FFBFB9054A7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BC6E0ED-FFC4-C0F4-8089-449061907C86}"/>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5FDA1596-5B2D-E198-E402-97D64B928C0C}"/>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382DBBB9-9804-A8AB-3BDC-9A56302DEC07}"/>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5A5AE632-6DE8-AEF1-1683-0201E1184E0F}"/>
              </a:ext>
            </a:extLst>
          </p:cNvPr>
          <p:cNvSpPr txBox="1">
            <a:spLocks/>
          </p:cNvSpPr>
          <p:nvPr/>
        </p:nvSpPr>
        <p:spPr>
          <a:xfrm>
            <a:off x="228600" y="762000"/>
            <a:ext cx="8624937" cy="629403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GIS</a:t>
            </a:r>
          </a:p>
          <a:p>
            <a:pPr marL="12700" marR="5080"/>
            <a:r>
              <a:rPr lang="en-US" sz="1350" kern="0" spc="-80" dirty="0">
                <a:solidFill>
                  <a:schemeClr val="accent2"/>
                </a:solidFill>
              </a:rPr>
              <a:t>For Further Exploration</a:t>
            </a:r>
          </a:p>
          <a:p>
            <a:pPr marL="12700" marR="5080"/>
            <a:r>
              <a:rPr lang="en-IN" sz="1300" dirty="0">
                <a:hlinkClick r:id="rId7"/>
              </a:rPr>
              <a:t>Geospatial Data Science Essentials: 101 Practical Python Tips and Tricks</a:t>
            </a:r>
            <a:endParaRPr lang="en-US" sz="1300" kern="0" spc="-80" dirty="0">
              <a:solidFill>
                <a:schemeClr val="accent2"/>
              </a:solidFill>
            </a:endParaRPr>
          </a:p>
          <a:p>
            <a:pPr marL="12700" marR="5080"/>
            <a:r>
              <a:rPr lang="en-IN" sz="1300" dirty="0">
                <a:hlinkClick r:id="rId8"/>
              </a:rPr>
              <a:t>Introduction to Geographical Information Systems</a:t>
            </a:r>
            <a:endParaRPr lang="en-IN" sz="1300" dirty="0"/>
          </a:p>
          <a:p>
            <a:pPr marL="12700" marR="5080"/>
            <a:r>
              <a:rPr lang="en-IN" sz="1300" dirty="0">
                <a:hlinkClick r:id="rId9"/>
              </a:rPr>
              <a:t>Geographic Information Systems and Science </a:t>
            </a:r>
            <a:endParaRPr lang="en-IN" sz="1300" dirty="0"/>
          </a:p>
          <a:p>
            <a:pPr marL="12700" marR="5080"/>
            <a:r>
              <a:rPr lang="fr-FR" sz="1300" dirty="0">
                <a:hlinkClick r:id="rId10"/>
              </a:rPr>
              <a:t>QGIS Training Manual — QGIS Documentation </a:t>
            </a:r>
            <a:r>
              <a:rPr lang="fr-FR" sz="1300" dirty="0" err="1">
                <a:hlinkClick r:id="rId10"/>
              </a:rPr>
              <a:t>documentation</a:t>
            </a:r>
            <a:endParaRPr lang="fr-FR" sz="1300" dirty="0"/>
          </a:p>
          <a:p>
            <a:pPr marL="12700" marR="5080"/>
            <a:r>
              <a:rPr lang="en-IN" sz="1300" dirty="0">
                <a:hlinkClick r:id="rId11"/>
              </a:rPr>
              <a:t>Understanding GIS</a:t>
            </a:r>
            <a:endParaRPr lang="en-US" sz="1300" kern="0" spc="-80" dirty="0">
              <a:solidFill>
                <a:schemeClr val="accent2"/>
              </a:solidFill>
            </a:endParaRPr>
          </a:p>
          <a:p>
            <a:pPr marL="12700" marR="5080"/>
            <a:r>
              <a:rPr lang="en-IN" sz="1300" dirty="0">
                <a:hlinkClick r:id="rId12"/>
              </a:rPr>
              <a:t>Spatial database – Wikipedia</a:t>
            </a:r>
            <a:endParaRPr lang="en-IN" sz="1300" dirty="0"/>
          </a:p>
          <a:p>
            <a:pPr marL="12700" marR="5080"/>
            <a:r>
              <a:rPr lang="en-IN" sz="1300" dirty="0">
                <a:hlinkClick r:id="rId13"/>
              </a:rPr>
              <a:t>How </a:t>
            </a:r>
            <a:r>
              <a:rPr lang="en-IN" sz="1300" dirty="0" err="1">
                <a:hlinkClick r:id="rId13"/>
              </a:rPr>
              <a:t>PostGIS</a:t>
            </a:r>
            <a:r>
              <a:rPr lang="en-IN" sz="1300" dirty="0">
                <a:hlinkClick r:id="rId13"/>
              </a:rPr>
              <a:t> Stores Various Data Types</a:t>
            </a:r>
            <a:endParaRPr lang="en-IN" sz="1300" dirty="0"/>
          </a:p>
          <a:p>
            <a:pPr marL="12700" marR="5080"/>
            <a:r>
              <a:rPr lang="en-IN" sz="1300" dirty="0">
                <a:hlinkClick r:id="rId14"/>
              </a:rPr>
              <a:t>Training Materials | </a:t>
            </a:r>
            <a:r>
              <a:rPr lang="en-IN" sz="1300" dirty="0" err="1">
                <a:hlinkClick r:id="rId14"/>
              </a:rPr>
              <a:t>PostGIS</a:t>
            </a:r>
            <a:r>
              <a:rPr lang="en-US" sz="1300" kern="0" spc="-80" dirty="0">
                <a:solidFill>
                  <a:schemeClr val="accent2"/>
                </a:solidFill>
              </a:rPr>
              <a:t>  </a:t>
            </a:r>
          </a:p>
          <a:p>
            <a:pPr marL="12700" marR="5080"/>
            <a:r>
              <a:rPr lang="en-IN" sz="1300" dirty="0">
                <a:hlinkClick r:id="rId15"/>
              </a:rPr>
              <a:t>Documentation | </a:t>
            </a:r>
            <a:r>
              <a:rPr lang="en-IN" sz="1300" dirty="0" err="1">
                <a:hlinkClick r:id="rId15"/>
              </a:rPr>
              <a:t>PostGIS</a:t>
            </a:r>
            <a:r>
              <a:rPr lang="en-US" sz="1300" kern="0" spc="-80" dirty="0">
                <a:solidFill>
                  <a:schemeClr val="accent2"/>
                </a:solidFill>
              </a:rPr>
              <a:t> </a:t>
            </a:r>
          </a:p>
          <a:p>
            <a:pPr marL="12700" marR="5080"/>
            <a:r>
              <a:rPr lang="en-IN" sz="1300" dirty="0">
                <a:hlinkClick r:id="rId16"/>
              </a:rPr>
              <a:t>Understanding Efficient Spatial Indexing – </a:t>
            </a:r>
            <a:r>
              <a:rPr lang="en-IN" sz="1300" dirty="0" err="1">
                <a:hlinkClick r:id="rId16"/>
              </a:rPr>
              <a:t>GeeksforGeeks</a:t>
            </a:r>
            <a:r>
              <a:rPr lang="en-IN" sz="1300" kern="0" spc="-80" dirty="0">
                <a:solidFill>
                  <a:schemeClr val="accent6"/>
                </a:solidFill>
              </a:rPr>
              <a:t>(Any geospatial index is mainly hash or tree based)</a:t>
            </a:r>
            <a:endParaRPr lang="en-US" sz="1300" kern="0" spc="-80" dirty="0">
              <a:solidFill>
                <a:schemeClr val="accent6"/>
              </a:solidFill>
            </a:endParaRPr>
          </a:p>
          <a:p>
            <a:pPr marL="12700" marR="5080"/>
            <a:r>
              <a:rPr lang="en-IN" sz="1300" dirty="0">
                <a:hlinkClick r:id="rId17"/>
              </a:rPr>
              <a:t>Quadtrees &amp; </a:t>
            </a:r>
            <a:r>
              <a:rPr lang="en-IN" sz="1300" dirty="0" err="1">
                <a:hlinkClick r:id="rId17"/>
              </a:rPr>
              <a:t>GeoHash</a:t>
            </a:r>
            <a:endParaRPr lang="en-IN" sz="1300" dirty="0"/>
          </a:p>
          <a:p>
            <a:pPr marL="12700" marR="5080"/>
            <a:r>
              <a:rPr lang="en-IN" sz="1300" dirty="0">
                <a:hlinkClick r:id="rId18"/>
              </a:rPr>
              <a:t>Geohash grid - OpenSearch Documentation</a:t>
            </a:r>
            <a:endParaRPr lang="en-IN" sz="1300" dirty="0"/>
          </a:p>
          <a:p>
            <a:pPr marL="12700" marR="5080"/>
            <a:r>
              <a:rPr lang="en-IN" sz="1300" dirty="0">
                <a:hlinkClick r:id="rId19"/>
              </a:rPr>
              <a:t>S2 Geometry | S2Geometry</a:t>
            </a:r>
            <a:r>
              <a:rPr lang="en-IN" sz="1300" kern="0" spc="-80" dirty="0">
                <a:solidFill>
                  <a:schemeClr val="accent6"/>
                </a:solidFill>
              </a:rPr>
              <a:t>(another tree based geo index)</a:t>
            </a:r>
          </a:p>
          <a:p>
            <a:pPr marL="12700" marR="5080"/>
            <a:r>
              <a:rPr lang="en-US" sz="1300" dirty="0">
                <a:hlinkClick r:id="rId20"/>
              </a:rPr>
              <a:t>S2 Region Coverer Online Viewer</a:t>
            </a:r>
            <a:endParaRPr lang="en-IN" sz="1300" dirty="0"/>
          </a:p>
          <a:p>
            <a:pPr marL="12700" marR="5080"/>
            <a:r>
              <a:rPr lang="en-US" sz="1300" dirty="0">
                <a:hlinkClick r:id="rId21"/>
              </a:rPr>
              <a:t>SpatialSearch - Apache Lucene (Java) - Apache Software Foundation</a:t>
            </a:r>
            <a:endParaRPr lang="en-US" sz="1300" dirty="0"/>
          </a:p>
          <a:p>
            <a:pPr marL="12700" marR="5080"/>
            <a:r>
              <a:rPr lang="en-US" sz="1300" dirty="0" err="1">
                <a:hlinkClick r:id="rId22"/>
              </a:rPr>
              <a:t>Geoshape</a:t>
            </a:r>
            <a:r>
              <a:rPr lang="en-US" sz="1300" dirty="0">
                <a:hlinkClick r:id="rId22"/>
              </a:rPr>
              <a:t> field type | Elasticsearch Guide [8.17] | Elastic</a:t>
            </a:r>
            <a:endParaRPr lang="en-US" sz="1300" dirty="0"/>
          </a:p>
          <a:p>
            <a:pPr marL="12700" marR="5080"/>
            <a:r>
              <a:rPr lang="en-IN" sz="1300" dirty="0">
                <a:hlinkClick r:id="rId23"/>
              </a:rPr>
              <a:t>Scaling Millions of Geospatial Queries per minute using Redis</a:t>
            </a:r>
            <a:endParaRPr lang="en-IN" sz="1300" dirty="0"/>
          </a:p>
          <a:p>
            <a:pPr marL="12700" marR="5080"/>
            <a:r>
              <a:rPr lang="en-IN" sz="1300" dirty="0">
                <a:hlinkClick r:id="rId24"/>
              </a:rPr>
              <a:t>Address geocoding – Wikipedia</a:t>
            </a:r>
            <a:endParaRPr lang="en-IN" sz="1300" dirty="0"/>
          </a:p>
          <a:p>
            <a:pPr marL="12700" marR="5080"/>
            <a:r>
              <a:rPr lang="en-IN" sz="1300" dirty="0">
                <a:hlinkClick r:id="rId25"/>
              </a:rPr>
              <a:t>The Hilbert Mapping</a:t>
            </a:r>
            <a:endParaRPr lang="en-IN" sz="1300" dirty="0"/>
          </a:p>
          <a:p>
            <a:pPr marL="12700" marR="5080"/>
            <a:r>
              <a:rPr lang="en-US" sz="1300" dirty="0" err="1">
                <a:hlinkClick r:id="rId26"/>
              </a:rPr>
              <a:t>Geosharded</a:t>
            </a:r>
            <a:r>
              <a:rPr lang="en-US" sz="1300" dirty="0">
                <a:hlinkClick r:id="rId26"/>
              </a:rPr>
              <a:t> Recommendations with Hilbert Curve at Tinder | Hacker News</a:t>
            </a:r>
            <a:endParaRPr lang="en-US" sz="1300" dirty="0"/>
          </a:p>
          <a:p>
            <a:pPr marL="12700" marR="5080"/>
            <a:r>
              <a:rPr lang="en-IN" sz="1300" dirty="0">
                <a:hlinkClick r:id="rId15"/>
              </a:rPr>
              <a:t>Documentation | </a:t>
            </a:r>
            <a:r>
              <a:rPr lang="en-IN" sz="1300" dirty="0" err="1">
                <a:hlinkClick r:id="rId15"/>
              </a:rPr>
              <a:t>PostGIS</a:t>
            </a:r>
            <a:endParaRPr lang="en-US" sz="1300" dirty="0"/>
          </a:p>
          <a:p>
            <a:pPr marL="12700" marR="5080"/>
            <a:r>
              <a:rPr lang="en-IN" sz="1300" kern="0" spc="-80" dirty="0">
                <a:solidFill>
                  <a:schemeClr val="accent2"/>
                </a:solidFill>
              </a:rPr>
              <a:t>N.B. – </a:t>
            </a:r>
            <a:r>
              <a:rPr lang="en-IN" sz="1300" kern="0" spc="-80" dirty="0">
                <a:solidFill>
                  <a:schemeClr val="accent6"/>
                </a:solidFill>
              </a:rPr>
              <a:t>The basic idea w.r.t any geo search is to divide the map into smaller regions/areas &amp; build (inverted) indexes(e.g. a geohash index table having 2 columns viz geohash &amp; business IDs)</a:t>
            </a:r>
          </a:p>
          <a:p>
            <a:pPr marL="12700" marR="5080"/>
            <a:endParaRPr lang="en-US" sz="1400" dirty="0"/>
          </a:p>
          <a:p>
            <a:pPr marL="12700" marR="5080"/>
            <a:endParaRPr lang="en-IN" sz="1200" kern="0" spc="-80" dirty="0">
              <a:solidFill>
                <a:schemeClr val="accent6"/>
              </a:solidFill>
            </a:endParaRPr>
          </a:p>
          <a:p>
            <a:pPr marL="12700" marR="5080"/>
            <a:endParaRPr lang="en-IN" sz="1200" dirty="0"/>
          </a:p>
          <a:p>
            <a:pPr marL="12700" marR="5080"/>
            <a:endParaRPr lang="en-US" sz="1400" kern="0" spc="-80" dirty="0">
              <a:solidFill>
                <a:schemeClr val="accent2"/>
              </a:solidFill>
            </a:endParaRPr>
          </a:p>
        </p:txBody>
      </p:sp>
    </p:spTree>
    <p:extLst>
      <p:ext uri="{BB962C8B-B14F-4D97-AF65-F5344CB8AC3E}">
        <p14:creationId xmlns:p14="http://schemas.microsoft.com/office/powerpoint/2010/main" val="4107686031"/>
      </p:ext>
    </p:extLst>
  </p:cSld>
  <p:clrMapOvr>
    <a:masterClrMapping/>
  </p:clrMapOvr>
</p:sld>
</file>

<file path=ppt/slides/slide5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769C-A769-63F3-A43A-D255481AC20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1C64F65-A6F2-30D6-8FB1-C8EDB5202F4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34D48CC-385C-6729-34BD-F6B40D2AEB58}"/>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E12053D-8E3B-5294-4036-51E79CFCA3D8}"/>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D9729BE-DB81-9F4F-1DD2-654F9F1BB4A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976D8282-C7F7-1583-1647-9A66B152C50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72F260B-A215-1A62-E715-1C71E4D8215D}"/>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D34CECB5-47A0-7920-62EE-520C2498C128}"/>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FC574E4B-8977-F6C7-56DA-F66B413FB74A}"/>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0EC73A8F-9482-10B6-2303-004072C1DCE7}"/>
              </a:ext>
            </a:extLst>
          </p:cNvPr>
          <p:cNvSpPr txBox="1">
            <a:spLocks/>
          </p:cNvSpPr>
          <p:nvPr/>
        </p:nvSpPr>
        <p:spPr>
          <a:xfrm>
            <a:off x="228600" y="762000"/>
            <a:ext cx="8624937" cy="503214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Cartography</a:t>
            </a:r>
          </a:p>
          <a:p>
            <a:pPr marL="12700" marR="5080"/>
            <a:r>
              <a:rPr lang="en-US" sz="1400" kern="0" spc="-80" dirty="0">
                <a:solidFill>
                  <a:schemeClr val="accent2"/>
                </a:solidFill>
              </a:rPr>
              <a:t>1. What Cartography Really Is</a:t>
            </a:r>
          </a:p>
          <a:p>
            <a:pPr marL="12700" marR="5080"/>
            <a:r>
              <a:rPr lang="en-US" sz="1400" kern="0" spc="-80" dirty="0">
                <a:solidFill>
                  <a:schemeClr val="accent2"/>
                </a:solidFill>
              </a:rPr>
              <a:t>Cartography is:</a:t>
            </a:r>
          </a:p>
          <a:p>
            <a:pPr marL="12700" marR="5080"/>
            <a:r>
              <a:rPr lang="en-US" sz="1400" kern="0" spc="-80" dirty="0">
                <a:solidFill>
                  <a:schemeClr val="accent2"/>
                </a:solidFill>
              </a:rPr>
              <a:t>Representation: </a:t>
            </a:r>
            <a:r>
              <a:rPr lang="en-US" sz="1400" kern="0" spc="-80" dirty="0">
                <a:solidFill>
                  <a:schemeClr val="accent6"/>
                </a:solidFill>
              </a:rPr>
              <a:t>Creating symbolic models of reality.</a:t>
            </a:r>
          </a:p>
          <a:p>
            <a:pPr marL="12700" marR="5080"/>
            <a:r>
              <a:rPr lang="en-US" sz="1400" kern="0" spc="-80" dirty="0">
                <a:solidFill>
                  <a:schemeClr val="accent2"/>
                </a:solidFill>
              </a:rPr>
              <a:t>Abstraction: </a:t>
            </a:r>
            <a:r>
              <a:rPr lang="en-US" sz="1400" kern="0" spc="-80" dirty="0">
                <a:solidFill>
                  <a:schemeClr val="accent6"/>
                </a:solidFill>
              </a:rPr>
              <a:t>Deciding what to keep and what to omit.</a:t>
            </a:r>
          </a:p>
          <a:p>
            <a:pPr marL="12700" marR="5080"/>
            <a:r>
              <a:rPr lang="en-US" sz="1400" kern="0" spc="-80" dirty="0">
                <a:solidFill>
                  <a:schemeClr val="accent2"/>
                </a:solidFill>
              </a:rPr>
              <a:t>Communication: </a:t>
            </a:r>
            <a:r>
              <a:rPr lang="en-US" sz="1400" kern="0" spc="-80" dirty="0">
                <a:solidFill>
                  <a:schemeClr val="accent6"/>
                </a:solidFill>
              </a:rPr>
              <a:t>Making spatial meaning clear and useful.</a:t>
            </a:r>
          </a:p>
          <a:p>
            <a:pPr marL="12700" marR="5080"/>
            <a:r>
              <a:rPr lang="en-US" sz="1400" kern="0" spc="-80" dirty="0">
                <a:solidFill>
                  <a:schemeClr val="accent2"/>
                </a:solidFill>
              </a:rPr>
              <a:t>Aesthetic Discipline:</a:t>
            </a:r>
            <a:r>
              <a:rPr lang="en-US" sz="1400" kern="0" spc="-80" dirty="0">
                <a:solidFill>
                  <a:schemeClr val="accent6"/>
                </a:solidFill>
              </a:rPr>
              <a:t> Ensuring visual balance and map personality.</a:t>
            </a:r>
          </a:p>
          <a:p>
            <a:pPr marL="12700" marR="5080"/>
            <a:r>
              <a:rPr lang="en-US" sz="1400" kern="0" spc="-80" dirty="0">
                <a:solidFill>
                  <a:schemeClr val="accent6"/>
                </a:solidFill>
              </a:rPr>
              <a:t>Every map is a story someone wants to tell about a place.</a:t>
            </a:r>
          </a:p>
          <a:p>
            <a:pPr marL="12700" marR="5080"/>
            <a:endParaRPr lang="en-US" sz="1400" kern="0" spc="-80" dirty="0">
              <a:solidFill>
                <a:schemeClr val="accent6"/>
              </a:solidFill>
            </a:endParaRPr>
          </a:p>
          <a:p>
            <a:pPr marL="12700" marR="5080"/>
            <a:r>
              <a:rPr lang="en-US" sz="1400" kern="0" spc="-80" dirty="0">
                <a:solidFill>
                  <a:schemeClr val="accent2"/>
                </a:solidFill>
              </a:rPr>
              <a:t>2. Core Concepts in Cartography</a:t>
            </a:r>
          </a:p>
          <a:p>
            <a:pPr marL="12700" marR="5080"/>
            <a:r>
              <a:rPr lang="en-US" sz="1400" kern="0" spc="-80" dirty="0">
                <a:solidFill>
                  <a:schemeClr val="accent2"/>
                </a:solidFill>
              </a:rPr>
              <a:t>Concept	                   Meaning	                                                         Key Questions</a:t>
            </a:r>
          </a:p>
          <a:p>
            <a:pPr marL="12700" marR="5080"/>
            <a:r>
              <a:rPr lang="en-US" sz="1400" kern="0" spc="-80" dirty="0">
                <a:solidFill>
                  <a:schemeClr val="accent6"/>
                </a:solidFill>
              </a:rPr>
              <a:t>Scale	                   Ratio of map distance to ground distance     How big should the world feel?</a:t>
            </a:r>
          </a:p>
          <a:p>
            <a:pPr marL="12700" marR="5080"/>
            <a:r>
              <a:rPr lang="en-US" sz="1400" kern="0" spc="-80" dirty="0">
                <a:solidFill>
                  <a:schemeClr val="accent6"/>
                </a:solidFill>
              </a:rPr>
              <a:t>Projection	                   Flattening the spherical Earth to 2D               What distortions are acceptable?</a:t>
            </a:r>
          </a:p>
          <a:p>
            <a:pPr marL="12700" marR="5080"/>
            <a:r>
              <a:rPr lang="en-US" sz="1400" kern="0" spc="-80" dirty="0">
                <a:solidFill>
                  <a:schemeClr val="accent6"/>
                </a:solidFill>
              </a:rPr>
              <a:t>Generalization	Simplifying reality for readability	                  What can we remove without losing </a:t>
            </a:r>
          </a:p>
          <a:p>
            <a:pPr marL="12700" marR="5080"/>
            <a:r>
              <a:rPr lang="en-US" sz="1400" kern="0" spc="-80" dirty="0">
                <a:solidFill>
                  <a:schemeClr val="accent6"/>
                </a:solidFill>
              </a:rPr>
              <a:t>                                                                                                                   meaning?</a:t>
            </a:r>
          </a:p>
          <a:p>
            <a:pPr marL="12700" marR="5080"/>
            <a:r>
              <a:rPr lang="en-US" sz="1400" kern="0" spc="-80" dirty="0">
                <a:solidFill>
                  <a:schemeClr val="accent6"/>
                </a:solidFill>
              </a:rPr>
              <a:t>Symbolization	Representing features with signs	                  How do we visually encode concepts?</a:t>
            </a:r>
          </a:p>
          <a:p>
            <a:pPr marL="12700" marR="5080"/>
            <a:r>
              <a:rPr lang="en-US" sz="1400" kern="0" spc="-80" dirty="0">
                <a:solidFill>
                  <a:schemeClr val="accent6"/>
                </a:solidFill>
              </a:rPr>
              <a:t>Classification	Grouping numeric or categorical data           How should differences be </a:t>
            </a:r>
          </a:p>
          <a:p>
            <a:pPr marL="12700" marR="5080"/>
            <a:r>
              <a:rPr lang="en-US" sz="1400" kern="0" spc="-80" dirty="0">
                <a:solidFill>
                  <a:schemeClr val="accent6"/>
                </a:solidFill>
              </a:rPr>
              <a:t>                                                                                                                   highlighted?</a:t>
            </a:r>
          </a:p>
          <a:p>
            <a:pPr marL="12700" marR="5080"/>
            <a:r>
              <a:rPr lang="en-US" sz="1400" kern="0" spc="-80" dirty="0">
                <a:solidFill>
                  <a:schemeClr val="accent6"/>
                </a:solidFill>
              </a:rPr>
              <a:t>Typography	Text placement and hierarchy	                  What should the viewer notice first?</a:t>
            </a:r>
          </a:p>
          <a:p>
            <a:pPr marL="12700" marR="5080"/>
            <a:r>
              <a:rPr lang="en-US" sz="1400" kern="0" spc="-80" dirty="0">
                <a:solidFill>
                  <a:schemeClr val="accent6"/>
                </a:solidFill>
              </a:rPr>
              <a:t>Composition	Layout of visual elements	                  How does the eye travel across the </a:t>
            </a:r>
          </a:p>
          <a:p>
            <a:pPr marL="12700" marR="5080"/>
            <a:r>
              <a:rPr lang="en-US" sz="1400" kern="0" spc="-80" dirty="0">
                <a:solidFill>
                  <a:schemeClr val="accent6"/>
                </a:solidFill>
              </a:rPr>
              <a:t>                                                                                                                   map?</a:t>
            </a:r>
          </a:p>
          <a:p>
            <a:pPr marL="12700" marR="5080"/>
            <a:endParaRPr lang="en-US" sz="1400" kern="0" spc="-80" dirty="0">
              <a:solidFill>
                <a:schemeClr val="accent6"/>
              </a:solidFill>
            </a:endParaRPr>
          </a:p>
          <a:p>
            <a:pPr marL="12700" marR="5080"/>
            <a:endParaRPr lang="en-US" sz="1400" kern="0" spc="-80" dirty="0">
              <a:solidFill>
                <a:schemeClr val="accent6"/>
              </a:solidFill>
            </a:endParaRPr>
          </a:p>
        </p:txBody>
      </p:sp>
    </p:spTree>
    <p:extLst>
      <p:ext uri="{BB962C8B-B14F-4D97-AF65-F5344CB8AC3E}">
        <p14:creationId xmlns:p14="http://schemas.microsoft.com/office/powerpoint/2010/main" val="1947478744"/>
      </p:ext>
    </p:extLst>
  </p:cSld>
  <p:clrMapOvr>
    <a:masterClrMapping/>
  </p:clrMapOvr>
</p:sld>
</file>

<file path=ppt/slides/slide5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68D73-9361-BC05-E1B7-78235A14241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1E9B5CE-721F-E29B-98C9-83049CD8867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5A4A466-3D90-0BD1-D685-D9034D32821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A9B73874-7961-059B-441F-37238FFF2C0C}"/>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1B37A7C-BF80-5E29-48F6-187ABEC6512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75364CB-6882-BB62-32E8-A5D981F0318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8617ED6B-445B-374C-48BD-36025E7182A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F81B6713-FDCC-12EA-1DBF-2314306E1A0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28E506DB-FECC-E3F1-ADA9-D16E1136D7BF}"/>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A50367AA-39B9-864D-56A8-1AB0D7683FD5}"/>
              </a:ext>
            </a:extLst>
          </p:cNvPr>
          <p:cNvSpPr txBox="1">
            <a:spLocks/>
          </p:cNvSpPr>
          <p:nvPr/>
        </p:nvSpPr>
        <p:spPr>
          <a:xfrm>
            <a:off x="228600" y="762000"/>
            <a:ext cx="8624937" cy="48167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Cartography</a:t>
            </a:r>
          </a:p>
          <a:p>
            <a:pPr marL="12700" marR="5080"/>
            <a:r>
              <a:rPr lang="en-US" sz="1400" kern="0" spc="-80" dirty="0">
                <a:solidFill>
                  <a:schemeClr val="accent2"/>
                </a:solidFill>
              </a:rPr>
              <a:t>3. Geometry &amp; Mathematics Underlying Cartography</a:t>
            </a:r>
          </a:p>
          <a:p>
            <a:pPr marL="12700" marR="5080"/>
            <a:endParaRPr lang="en-US" sz="1400" kern="0" spc="-80" dirty="0">
              <a:solidFill>
                <a:schemeClr val="accent2"/>
              </a:solidFill>
            </a:endParaRPr>
          </a:p>
          <a:p>
            <a:pPr marL="12700" marR="5080"/>
            <a:r>
              <a:rPr lang="en-US" sz="1400" kern="0" spc="-80" dirty="0">
                <a:solidFill>
                  <a:schemeClr val="accent2"/>
                </a:solidFill>
              </a:rPr>
              <a:t>3.1 Coordinate Systems</a:t>
            </a:r>
          </a:p>
          <a:p>
            <a:pPr marL="12700" marR="5080"/>
            <a:r>
              <a:rPr lang="en-US" sz="1400" kern="0" spc="-80" dirty="0">
                <a:solidFill>
                  <a:schemeClr val="accent6"/>
                </a:solidFill>
              </a:rPr>
              <a:t>Earth is not a perfect sphere. We approximate it using:</a:t>
            </a:r>
          </a:p>
          <a:p>
            <a:pPr marL="12700" marR="5080"/>
            <a:r>
              <a:rPr lang="en-US" sz="1400" kern="0" spc="-80" dirty="0">
                <a:solidFill>
                  <a:schemeClr val="accent6"/>
                </a:solidFill>
              </a:rPr>
              <a:t>Ellipsoid Models (e.g., WGS84)</a:t>
            </a:r>
          </a:p>
          <a:p>
            <a:pPr marL="12700" marR="5080"/>
            <a:r>
              <a:rPr lang="en-US" sz="1400" kern="0" spc="-80" dirty="0">
                <a:solidFill>
                  <a:schemeClr val="accent6"/>
                </a:solidFill>
              </a:rPr>
              <a:t>Geodetic Coordinates (φ, λ): latitude (φ), longitude (λ)</a:t>
            </a:r>
          </a:p>
          <a:p>
            <a:pPr marL="12700" marR="5080"/>
            <a:r>
              <a:rPr lang="en-US" sz="1400" kern="0" spc="-80" dirty="0">
                <a:solidFill>
                  <a:schemeClr val="accent6"/>
                </a:solidFill>
              </a:rPr>
              <a:t>Cartesian Earth-Centered Coordinates (X, Y, Z) (for satellites, GPS)</a:t>
            </a:r>
          </a:p>
          <a:p>
            <a:pPr marL="12700" marR="5080"/>
            <a:endParaRPr lang="en-US" sz="1400" kern="0" spc="-80" dirty="0">
              <a:solidFill>
                <a:schemeClr val="accent6"/>
              </a:solidFill>
            </a:endParaRPr>
          </a:p>
          <a:p>
            <a:pPr marL="12700" marR="5080"/>
            <a:r>
              <a:rPr lang="en-US" sz="1400" kern="0" spc="-80" dirty="0">
                <a:solidFill>
                  <a:schemeClr val="accent2"/>
                </a:solidFill>
              </a:rPr>
              <a:t>3.2 Map Projections</a:t>
            </a:r>
          </a:p>
          <a:p>
            <a:pPr marL="12700" marR="5080"/>
            <a:r>
              <a:rPr lang="en-US" sz="1400" kern="0" spc="-80" dirty="0">
                <a:solidFill>
                  <a:schemeClr val="accent6"/>
                </a:solidFill>
              </a:rPr>
              <a:t>Projection = Mathematical transformation: (</a:t>
            </a:r>
            <a:r>
              <a:rPr lang="en-US" sz="1400" kern="0" spc="-80" dirty="0" err="1">
                <a:solidFill>
                  <a:schemeClr val="accent6"/>
                </a:solidFill>
              </a:rPr>
              <a:t>x,y</a:t>
            </a:r>
            <a:r>
              <a:rPr lang="en-US" sz="1400" kern="0" spc="-80" dirty="0">
                <a:solidFill>
                  <a:schemeClr val="accent6"/>
                </a:solidFill>
              </a:rPr>
              <a:t>)=f(</a:t>
            </a:r>
            <a:r>
              <a:rPr lang="en-US" sz="1400" kern="0" spc="-80" dirty="0" err="1">
                <a:solidFill>
                  <a:schemeClr val="accent6"/>
                </a:solidFill>
              </a:rPr>
              <a:t>ϕ,λ</a:t>
            </a:r>
            <a:r>
              <a:rPr lang="en-US" sz="1400" kern="0" spc="-80" dirty="0">
                <a:solidFill>
                  <a:schemeClr val="accent6"/>
                </a:solidFill>
              </a:rPr>
              <a:t>)</a:t>
            </a:r>
          </a:p>
          <a:p>
            <a:pPr marL="12700" marR="5080"/>
            <a:r>
              <a:rPr lang="en-US" sz="1400" kern="0" spc="-80" dirty="0">
                <a:solidFill>
                  <a:schemeClr val="accent2"/>
                </a:solidFill>
              </a:rPr>
              <a:t>Each projection preserves some property and distorts others:</a:t>
            </a:r>
          </a:p>
          <a:p>
            <a:pPr marL="12700" marR="5080"/>
            <a:r>
              <a:rPr lang="en-US" sz="1400" kern="0" spc="-80" dirty="0">
                <a:solidFill>
                  <a:schemeClr val="accent2"/>
                </a:solidFill>
              </a:rPr>
              <a:t>Projection Family	Preserves	                                       Use Case	                            Examples</a:t>
            </a:r>
          </a:p>
          <a:p>
            <a:pPr marL="12700" marR="5080"/>
            <a:r>
              <a:rPr lang="en-US" sz="1400" kern="0" spc="-80" dirty="0">
                <a:solidFill>
                  <a:schemeClr val="accent6"/>
                </a:solidFill>
              </a:rPr>
              <a:t>Conformal	Shape	Navigation                                       cadastral maps	         Mercator</a:t>
            </a:r>
          </a:p>
          <a:p>
            <a:pPr marL="12700" marR="5080"/>
            <a:r>
              <a:rPr lang="en-US" sz="1400" kern="0" spc="-80" dirty="0">
                <a:solidFill>
                  <a:schemeClr val="accent6"/>
                </a:solidFill>
              </a:rPr>
              <a:t>Equal-Area	Area	Thematic                                          land-cover	                             </a:t>
            </a:r>
            <a:r>
              <a:rPr lang="en-US" sz="1400" kern="0" spc="-80" dirty="0" err="1">
                <a:solidFill>
                  <a:schemeClr val="accent6"/>
                </a:solidFill>
              </a:rPr>
              <a:t>Mollweide,Albers</a:t>
            </a:r>
            <a:endParaRPr lang="en-US" sz="1400" kern="0" spc="-80" dirty="0">
              <a:solidFill>
                <a:schemeClr val="accent6"/>
              </a:solidFill>
            </a:endParaRPr>
          </a:p>
          <a:p>
            <a:pPr marL="12700" marR="5080"/>
            <a:r>
              <a:rPr lang="en-US" sz="1400" kern="0" spc="-80" dirty="0">
                <a:solidFill>
                  <a:schemeClr val="accent6"/>
                </a:solidFill>
              </a:rPr>
              <a:t>Equidistant	Distances (along certain lines)	Radio ranges, route maps    Azimuthal </a:t>
            </a:r>
          </a:p>
          <a:p>
            <a:pPr marL="12700" marR="5080"/>
            <a:r>
              <a:rPr lang="en-US" sz="1400" kern="0" spc="-80" dirty="0">
                <a:solidFill>
                  <a:schemeClr val="accent6"/>
                </a:solidFill>
              </a:rPr>
              <a:t>                                                                                                                                                  Equidistant</a:t>
            </a:r>
          </a:p>
          <a:p>
            <a:pPr marL="12700" marR="5080"/>
            <a:r>
              <a:rPr lang="en-US" sz="1400" kern="0" spc="-80" dirty="0">
                <a:solidFill>
                  <a:schemeClr val="accent6"/>
                </a:solidFill>
              </a:rPr>
              <a:t>Compromise	Balanced distortions	                    General reference map         Robinson, Winkel </a:t>
            </a:r>
          </a:p>
          <a:p>
            <a:pPr marL="12700" marR="5080"/>
            <a:r>
              <a:rPr lang="en-US" sz="1400" kern="0" spc="-80" dirty="0">
                <a:solidFill>
                  <a:schemeClr val="accent6"/>
                </a:solidFill>
              </a:rPr>
              <a:t>                                                                                                                                                  Tripel</a:t>
            </a:r>
          </a:p>
          <a:p>
            <a:pPr marL="12700" marR="5080"/>
            <a:r>
              <a:rPr lang="en-US" sz="1400" kern="0" spc="-80" dirty="0">
                <a:solidFill>
                  <a:schemeClr val="accent2"/>
                </a:solidFill>
              </a:rPr>
              <a:t>3.3 Scale</a:t>
            </a:r>
          </a:p>
          <a:p>
            <a:pPr marL="12700" marR="5080"/>
            <a:r>
              <a:rPr lang="en-US" sz="1400" kern="0" spc="-80" dirty="0">
                <a:solidFill>
                  <a:schemeClr val="accent6"/>
                </a:solidFill>
              </a:rPr>
              <a:t>If map scale is 1:50,000 → 1 cm = 50,000 cm = 500 m on Earth.</a:t>
            </a:r>
          </a:p>
          <a:p>
            <a:pPr marL="12700" marR="5080"/>
            <a:r>
              <a:rPr lang="en-US" sz="1400" kern="0" spc="-80" dirty="0">
                <a:solidFill>
                  <a:schemeClr val="accent6"/>
                </a:solidFill>
              </a:rPr>
              <a:t>Spatial data often needs rescaling and unit conversions.</a:t>
            </a:r>
          </a:p>
        </p:txBody>
      </p:sp>
    </p:spTree>
    <p:extLst>
      <p:ext uri="{BB962C8B-B14F-4D97-AF65-F5344CB8AC3E}">
        <p14:creationId xmlns:p14="http://schemas.microsoft.com/office/powerpoint/2010/main" val="4050650510"/>
      </p:ext>
    </p:extLst>
  </p:cSld>
  <p:clrMapOvr>
    <a:masterClrMapping/>
  </p:clrMapOvr>
</p:sld>
</file>

<file path=ppt/slides/slide5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1ED22-B00C-DC6B-A747-87D3F1F9B38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4C7FD05-F98D-26C2-778B-608BA4F3663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2CA1005-4C72-D1A0-A38C-7030CEEC84C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EDF07EB-BFFE-A55A-F8B2-FC4000852A40}"/>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7B1D6C0-4B29-6391-3205-86E33A5C8383}"/>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8A5A222-668B-226D-26E0-443AE9AFA57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8FE1A27-40F1-7B7B-1857-BF3283BBBCB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615DE38-1A18-8C9F-BB20-6BA5D99E9D81}"/>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DAECD2EB-E54E-B7A4-27DB-E42379F0E3FE}"/>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91E95404-6583-A280-C22D-0C620F849CB4}"/>
              </a:ext>
            </a:extLst>
          </p:cNvPr>
          <p:cNvSpPr txBox="1">
            <a:spLocks/>
          </p:cNvSpPr>
          <p:nvPr/>
        </p:nvSpPr>
        <p:spPr>
          <a:xfrm>
            <a:off x="228600" y="762000"/>
            <a:ext cx="8624937" cy="52475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Cartography</a:t>
            </a:r>
          </a:p>
          <a:p>
            <a:pPr marL="12700" marR="5080"/>
            <a:r>
              <a:rPr lang="en-US" sz="1400" kern="0" spc="-80" dirty="0">
                <a:solidFill>
                  <a:schemeClr val="accent2"/>
                </a:solidFill>
              </a:rPr>
              <a:t>3.4 Topology</a:t>
            </a:r>
          </a:p>
          <a:p>
            <a:pPr marL="12700" marR="5080"/>
            <a:r>
              <a:rPr lang="en-US" sz="1400" kern="0" spc="-80" dirty="0">
                <a:solidFill>
                  <a:schemeClr val="accent2"/>
                </a:solidFill>
              </a:rPr>
              <a:t>Topology is relationship geometry:</a:t>
            </a:r>
          </a:p>
          <a:p>
            <a:pPr marL="12700" marR="5080"/>
            <a:r>
              <a:rPr lang="en-US" sz="1400" kern="0" spc="-80" dirty="0">
                <a:solidFill>
                  <a:schemeClr val="accent6"/>
                </a:solidFill>
              </a:rPr>
              <a:t>Adjacency (who touches whom)</a:t>
            </a:r>
          </a:p>
          <a:p>
            <a:pPr marL="12700" marR="5080"/>
            <a:r>
              <a:rPr lang="en-US" sz="1400" kern="0" spc="-80" dirty="0">
                <a:solidFill>
                  <a:schemeClr val="accent6"/>
                </a:solidFill>
              </a:rPr>
              <a:t>Connectivity (networks)</a:t>
            </a:r>
          </a:p>
          <a:p>
            <a:pPr marL="12700" marR="5080"/>
            <a:r>
              <a:rPr lang="en-US" sz="1400" kern="0" spc="-80" dirty="0">
                <a:solidFill>
                  <a:schemeClr val="accent6"/>
                </a:solidFill>
              </a:rPr>
              <a:t>Containment (inside/outside)</a:t>
            </a:r>
          </a:p>
          <a:p>
            <a:pPr marL="12700" marR="5080"/>
            <a:r>
              <a:rPr lang="en-US" sz="1400" kern="0" spc="-80" dirty="0">
                <a:solidFill>
                  <a:schemeClr val="accent6"/>
                </a:solidFill>
              </a:rPr>
              <a:t>This is the language of GIS, ensuring maps stay logically correct.</a:t>
            </a:r>
          </a:p>
          <a:p>
            <a:pPr marL="12700" marR="5080"/>
            <a:endParaRPr lang="en-US" sz="1400" kern="0" spc="-80" dirty="0">
              <a:solidFill>
                <a:schemeClr val="accent6"/>
              </a:solidFill>
            </a:endParaRPr>
          </a:p>
          <a:p>
            <a:pPr marL="12700" marR="5080"/>
            <a:r>
              <a:rPr lang="en-US" sz="1400" kern="0" spc="-80" dirty="0">
                <a:solidFill>
                  <a:schemeClr val="accent2"/>
                </a:solidFill>
              </a:rPr>
              <a:t>3.5 Geometry Simplification Algorithms (Generalization)</a:t>
            </a:r>
          </a:p>
          <a:p>
            <a:pPr marL="12700" marR="5080"/>
            <a:r>
              <a:rPr lang="en-US" sz="1400" kern="0" spc="-80" dirty="0">
                <a:solidFill>
                  <a:schemeClr val="accent2"/>
                </a:solidFill>
              </a:rPr>
              <a:t>Used to reduce shapes while keeping essence:</a:t>
            </a:r>
          </a:p>
          <a:p>
            <a:pPr marL="12700" marR="5080"/>
            <a:r>
              <a:rPr lang="en-US" sz="1400" kern="0" spc="-80" dirty="0">
                <a:solidFill>
                  <a:schemeClr val="accent2"/>
                </a:solidFill>
              </a:rPr>
              <a:t>Algorithm	                                                          Purpose</a:t>
            </a:r>
          </a:p>
          <a:p>
            <a:pPr marL="12700" marR="5080"/>
            <a:r>
              <a:rPr lang="en-US" sz="1400" kern="0" spc="-80" dirty="0">
                <a:solidFill>
                  <a:schemeClr val="accent6"/>
                </a:solidFill>
              </a:rPr>
              <a:t>Douglas–</a:t>
            </a:r>
            <a:r>
              <a:rPr lang="en-US" sz="1400" kern="0" spc="-80" dirty="0" err="1">
                <a:solidFill>
                  <a:schemeClr val="accent6"/>
                </a:solidFill>
              </a:rPr>
              <a:t>Peucker</a:t>
            </a:r>
            <a:r>
              <a:rPr lang="en-US" sz="1400" kern="0" spc="-80" dirty="0">
                <a:solidFill>
                  <a:schemeClr val="accent6"/>
                </a:solidFill>
              </a:rPr>
              <a:t>	                                       Simplify polylines while controlling error</a:t>
            </a:r>
          </a:p>
          <a:p>
            <a:pPr marL="12700" marR="5080"/>
            <a:r>
              <a:rPr lang="en-US" sz="1400" kern="0" spc="-80" dirty="0" err="1">
                <a:solidFill>
                  <a:schemeClr val="accent6"/>
                </a:solidFill>
              </a:rPr>
              <a:t>Visvalingam</a:t>
            </a:r>
            <a:r>
              <a:rPr lang="en-US" sz="1400" kern="0" spc="-80" dirty="0">
                <a:solidFill>
                  <a:schemeClr val="accent6"/>
                </a:solidFill>
              </a:rPr>
              <a:t>–Whyatt	                                       Remove least visually significant points first</a:t>
            </a:r>
          </a:p>
          <a:p>
            <a:pPr marL="12700" marR="5080"/>
            <a:r>
              <a:rPr lang="en-US" sz="1400" kern="0" spc="-80" dirty="0">
                <a:solidFill>
                  <a:schemeClr val="accent6"/>
                </a:solidFill>
              </a:rPr>
              <a:t>Topology-Preserving Simplification	Maintain boundaries &amp; adjacency</a:t>
            </a:r>
          </a:p>
          <a:p>
            <a:pPr marL="12700" marR="5080"/>
            <a:endParaRPr lang="en-US" sz="1400" kern="0" spc="-80" dirty="0">
              <a:solidFill>
                <a:schemeClr val="accent6"/>
              </a:solidFill>
            </a:endParaRPr>
          </a:p>
          <a:p>
            <a:pPr marL="12700" marR="5080"/>
            <a:r>
              <a:rPr lang="en-US" sz="1400" kern="0" spc="-80" dirty="0">
                <a:solidFill>
                  <a:schemeClr val="accent2"/>
                </a:solidFill>
              </a:rPr>
              <a:t>4. Symbolization &amp; Visual Encoding</a:t>
            </a:r>
          </a:p>
          <a:p>
            <a:pPr marL="12700" marR="5080"/>
            <a:r>
              <a:rPr lang="en-US" sz="1400" kern="0" spc="-80" dirty="0">
                <a:solidFill>
                  <a:schemeClr val="accent6"/>
                </a:solidFill>
              </a:rPr>
              <a:t>Maps convert abstract concepts into visual cues.</a:t>
            </a:r>
          </a:p>
          <a:p>
            <a:pPr marL="12700" marR="5080"/>
            <a:r>
              <a:rPr lang="en-US" sz="1400" kern="0" spc="-80" dirty="0">
                <a:solidFill>
                  <a:schemeClr val="accent2"/>
                </a:solidFill>
              </a:rPr>
              <a:t>Visual Variable	 Meaning</a:t>
            </a:r>
          </a:p>
          <a:p>
            <a:pPr marL="12700" marR="5080"/>
            <a:r>
              <a:rPr lang="en-US" sz="1400" kern="0" spc="-80" dirty="0">
                <a:solidFill>
                  <a:schemeClr val="accent6"/>
                </a:solidFill>
              </a:rPr>
              <a:t>Size	                    Magnitude</a:t>
            </a:r>
          </a:p>
          <a:p>
            <a:pPr marL="12700" marR="5080"/>
            <a:r>
              <a:rPr lang="en-US" sz="1400" kern="0" spc="-80" dirty="0">
                <a:solidFill>
                  <a:schemeClr val="accent6"/>
                </a:solidFill>
              </a:rPr>
              <a:t>Color Hue	                    Category difference</a:t>
            </a:r>
          </a:p>
          <a:p>
            <a:pPr marL="12700" marR="5080"/>
            <a:r>
              <a:rPr lang="en-US" sz="1400" kern="0" spc="-80" dirty="0">
                <a:solidFill>
                  <a:schemeClr val="accent6"/>
                </a:solidFill>
              </a:rPr>
              <a:t>Color Value	 Intensity or quantity</a:t>
            </a:r>
          </a:p>
          <a:p>
            <a:pPr marL="12700" marR="5080"/>
            <a:r>
              <a:rPr lang="en-US" sz="1400" kern="0" spc="-80" dirty="0">
                <a:solidFill>
                  <a:schemeClr val="accent6"/>
                </a:solidFill>
              </a:rPr>
              <a:t>Texture / Pattern	 Type of land use or terrain</a:t>
            </a:r>
          </a:p>
          <a:p>
            <a:pPr marL="12700" marR="5080"/>
            <a:r>
              <a:rPr lang="en-US" sz="1400" kern="0" spc="-80" dirty="0">
                <a:solidFill>
                  <a:schemeClr val="accent6"/>
                </a:solidFill>
              </a:rPr>
              <a:t>Orientation	 Directionality</a:t>
            </a:r>
          </a:p>
          <a:p>
            <a:pPr marL="12700" marR="5080"/>
            <a:r>
              <a:rPr lang="en-US" sz="1400" kern="0" spc="-80" dirty="0">
                <a:solidFill>
                  <a:schemeClr val="accent6"/>
                </a:solidFill>
              </a:rPr>
              <a:t>Shape	                    Type / Class differences</a:t>
            </a:r>
          </a:p>
        </p:txBody>
      </p:sp>
    </p:spTree>
    <p:extLst>
      <p:ext uri="{BB962C8B-B14F-4D97-AF65-F5344CB8AC3E}">
        <p14:creationId xmlns:p14="http://schemas.microsoft.com/office/powerpoint/2010/main" val="4281287713"/>
      </p:ext>
    </p:extLst>
  </p:cSld>
  <p:clrMapOvr>
    <a:masterClrMapping/>
  </p:clrMapOvr>
</p:sld>
</file>

<file path=ppt/slides/slide5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B637B-83D6-8331-DD1C-E6712903CB8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D3808D24-A09E-2980-E56B-8225382B833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11333E4-4B5D-F279-A961-933DEFB3F510}"/>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50CC26A-732E-ECBA-D2B9-96EF6D58773A}"/>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AB1D5D9-3394-268A-C02E-A88A694B693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26408D8-8275-D4CB-1581-0CB771ADC37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818D9B54-E2C1-E9E8-2FD3-658AE900942D}"/>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19F9249C-12E4-7C5A-AD24-81279B2D6FAB}"/>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1397FF54-60AA-BC89-052C-2D346551895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D222ECD5-BCEE-9605-317E-36C8A1F6EBA4}"/>
              </a:ext>
            </a:extLst>
          </p:cNvPr>
          <p:cNvSpPr txBox="1">
            <a:spLocks/>
          </p:cNvSpPr>
          <p:nvPr/>
        </p:nvSpPr>
        <p:spPr>
          <a:xfrm>
            <a:off x="228600" y="762000"/>
            <a:ext cx="8624937" cy="460126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Cartography</a:t>
            </a:r>
          </a:p>
          <a:p>
            <a:pPr marL="12700" marR="5080"/>
            <a:r>
              <a:rPr lang="en-US" sz="1400" kern="0" spc="-80" dirty="0">
                <a:solidFill>
                  <a:schemeClr val="accent2"/>
                </a:solidFill>
              </a:rPr>
              <a:t>The mathematics of color selection often uses:</a:t>
            </a:r>
          </a:p>
          <a:p>
            <a:pPr marL="12700" marR="5080"/>
            <a:r>
              <a:rPr lang="en-US" sz="1400" kern="0" spc="-80" dirty="0">
                <a:solidFill>
                  <a:schemeClr val="accent6"/>
                </a:solidFill>
              </a:rPr>
              <a:t>CIELAB color spaces for perceptual uniformity</a:t>
            </a:r>
          </a:p>
          <a:p>
            <a:pPr marL="12700" marR="5080"/>
            <a:r>
              <a:rPr lang="en-US" sz="1400" kern="0" spc="-80" dirty="0">
                <a:solidFill>
                  <a:schemeClr val="accent6"/>
                </a:solidFill>
              </a:rPr>
              <a:t>Sequential / Divergent / Qualitative color schemes (e.g., </a:t>
            </a:r>
            <a:r>
              <a:rPr lang="en-US" sz="1400" kern="0" spc="-80" dirty="0" err="1">
                <a:solidFill>
                  <a:schemeClr val="accent6"/>
                </a:solidFill>
              </a:rPr>
              <a:t>ColorBrewer</a:t>
            </a:r>
            <a:r>
              <a:rPr lang="en-US" sz="1400" kern="0" spc="-80" dirty="0">
                <a:solidFill>
                  <a:schemeClr val="accent6"/>
                </a:solidFill>
              </a:rPr>
              <a:t>)</a:t>
            </a:r>
          </a:p>
          <a:p>
            <a:pPr marL="12700" marR="5080"/>
            <a:endParaRPr lang="en-US" sz="1400" kern="0" spc="-80" dirty="0">
              <a:solidFill>
                <a:schemeClr val="accent6"/>
              </a:solidFill>
            </a:endParaRPr>
          </a:p>
          <a:p>
            <a:pPr marL="12700" marR="5080"/>
            <a:r>
              <a:rPr lang="en-US" sz="1400" kern="0" spc="-80" dirty="0">
                <a:solidFill>
                  <a:schemeClr val="accent2"/>
                </a:solidFill>
              </a:rPr>
              <a:t>5. Classification Methods (Thematic Mapping)</a:t>
            </a:r>
          </a:p>
          <a:p>
            <a:pPr marL="12700" marR="5080"/>
            <a:r>
              <a:rPr lang="en-US" sz="1400" kern="0" spc="-80" dirty="0">
                <a:solidFill>
                  <a:schemeClr val="accent2"/>
                </a:solidFill>
              </a:rPr>
              <a:t>If mapping numerical values (population, rainfall):</a:t>
            </a:r>
          </a:p>
          <a:p>
            <a:pPr marL="12700" marR="5080"/>
            <a:r>
              <a:rPr lang="en-US" sz="1400" kern="0" spc="-80" dirty="0">
                <a:solidFill>
                  <a:schemeClr val="accent2"/>
                </a:solidFill>
              </a:rPr>
              <a:t>Method	                          Logic	                                                          When to Use</a:t>
            </a:r>
          </a:p>
          <a:p>
            <a:pPr marL="12700" marR="5080"/>
            <a:r>
              <a:rPr lang="en-US" sz="1400" kern="0" spc="-80" dirty="0">
                <a:solidFill>
                  <a:schemeClr val="accent6"/>
                </a:solidFill>
              </a:rPr>
              <a:t>Equal Interval	       Same range per class	                   Evenly distributed data</a:t>
            </a:r>
          </a:p>
          <a:p>
            <a:pPr marL="12700" marR="5080"/>
            <a:r>
              <a:rPr lang="en-US" sz="1400" kern="0" spc="-80" dirty="0">
                <a:solidFill>
                  <a:schemeClr val="accent6"/>
                </a:solidFill>
              </a:rPr>
              <a:t>Quantiles	                          Equal count per class	                   Skewed data</a:t>
            </a:r>
          </a:p>
          <a:p>
            <a:pPr marL="12700" marR="5080"/>
            <a:r>
              <a:rPr lang="en-US" sz="1400" kern="0" spc="-80" dirty="0">
                <a:solidFill>
                  <a:schemeClr val="accent6"/>
                </a:solidFill>
              </a:rPr>
              <a:t>Natural Breaks (Jenks)       Minimizes variation within classes	Most common, data-driven</a:t>
            </a:r>
          </a:p>
          <a:p>
            <a:pPr marL="12700" marR="5080"/>
            <a:r>
              <a:rPr lang="en-US" sz="1400" kern="0" spc="-80" dirty="0">
                <a:solidFill>
                  <a:schemeClr val="accent6"/>
                </a:solidFill>
              </a:rPr>
              <a:t>Standard Deviation	       Based on mean deviation	                   Emphasizing variance</a:t>
            </a:r>
          </a:p>
          <a:p>
            <a:pPr marL="12700" marR="5080"/>
            <a:endParaRPr lang="en-US" sz="1400" kern="0" spc="-80" dirty="0">
              <a:solidFill>
                <a:schemeClr val="accent6"/>
              </a:solidFill>
            </a:endParaRPr>
          </a:p>
          <a:p>
            <a:pPr marL="12700" marR="5080"/>
            <a:r>
              <a:rPr lang="en-US" sz="1400" kern="0" spc="-80" dirty="0">
                <a:solidFill>
                  <a:schemeClr val="accent2"/>
                </a:solidFill>
              </a:rPr>
              <a:t>6. Map Layout &amp; Composition Principles</a:t>
            </a:r>
          </a:p>
          <a:p>
            <a:pPr marL="12700" marR="5080"/>
            <a:r>
              <a:rPr lang="en-US" sz="1400" kern="0" spc="-80" dirty="0">
                <a:solidFill>
                  <a:schemeClr val="accent2"/>
                </a:solidFill>
              </a:rPr>
              <a:t>Maps must guide the eye:</a:t>
            </a:r>
          </a:p>
          <a:p>
            <a:pPr marL="12700" marR="5080"/>
            <a:r>
              <a:rPr lang="en-US" sz="1400" kern="0" spc="-80" dirty="0">
                <a:solidFill>
                  <a:schemeClr val="accent2"/>
                </a:solidFill>
              </a:rPr>
              <a:t>Visual hierarchy:</a:t>
            </a:r>
            <a:r>
              <a:rPr lang="en-US" sz="1400" kern="0" spc="-80" dirty="0">
                <a:solidFill>
                  <a:schemeClr val="accent6"/>
                </a:solidFill>
              </a:rPr>
              <a:t> Important elements appear stronger.</a:t>
            </a:r>
          </a:p>
          <a:p>
            <a:pPr marL="12700" marR="5080"/>
            <a:r>
              <a:rPr lang="en-US" sz="1400" kern="0" spc="-80" dirty="0">
                <a:solidFill>
                  <a:schemeClr val="accent6"/>
                </a:solidFill>
              </a:rPr>
              <a:t>Alignment forms invisible gravitational lines.</a:t>
            </a:r>
          </a:p>
          <a:p>
            <a:pPr marL="12700" marR="5080"/>
            <a:r>
              <a:rPr lang="en-US" sz="1400" kern="0" spc="-80" dirty="0">
                <a:solidFill>
                  <a:schemeClr val="accent2"/>
                </a:solidFill>
              </a:rPr>
              <a:t>Balance: </a:t>
            </a:r>
            <a:r>
              <a:rPr lang="en-US" sz="1400" kern="0" spc="-80" dirty="0">
                <a:solidFill>
                  <a:schemeClr val="accent6"/>
                </a:solidFill>
              </a:rPr>
              <a:t>Left/right, top/bottom weight feels stable.</a:t>
            </a:r>
          </a:p>
          <a:p>
            <a:pPr marL="12700" marR="5080"/>
            <a:r>
              <a:rPr lang="en-US" sz="1400" kern="0" spc="-80" dirty="0">
                <a:solidFill>
                  <a:schemeClr val="accent2"/>
                </a:solidFill>
              </a:rPr>
              <a:t>White space: </a:t>
            </a:r>
            <a:r>
              <a:rPr lang="en-US" sz="1400" kern="0" spc="-80" dirty="0">
                <a:solidFill>
                  <a:schemeClr val="accent6"/>
                </a:solidFill>
              </a:rPr>
              <a:t>The map breathes.</a:t>
            </a:r>
          </a:p>
          <a:p>
            <a:pPr marL="12700" marR="5080"/>
            <a:r>
              <a:rPr lang="en-US" sz="1400" kern="0" spc="-80" dirty="0">
                <a:solidFill>
                  <a:schemeClr val="accent6"/>
                </a:solidFill>
              </a:rPr>
              <a:t>A good map has rhythm.</a:t>
            </a:r>
          </a:p>
          <a:p>
            <a:pPr marL="12700" marR="5080"/>
            <a:endParaRPr lang="en-US" sz="1400" kern="0" spc="-80" dirty="0">
              <a:solidFill>
                <a:schemeClr val="accent6"/>
              </a:solidFill>
            </a:endParaRPr>
          </a:p>
        </p:txBody>
      </p:sp>
    </p:spTree>
    <p:extLst>
      <p:ext uri="{BB962C8B-B14F-4D97-AF65-F5344CB8AC3E}">
        <p14:creationId xmlns:p14="http://schemas.microsoft.com/office/powerpoint/2010/main" val="1318598112"/>
      </p:ext>
    </p:extLst>
  </p:cSld>
  <p:clrMapOvr>
    <a:masterClrMapping/>
  </p:clrMapOvr>
</p:sld>
</file>

<file path=ppt/slides/slide5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4E001-7026-FC73-5D94-A4B790D47A29}"/>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D6D9287-5EC2-ABEC-D92B-59F3F44C7F1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7D57EBE-FDBE-7C5B-4BE3-DD4A65AC9E9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7487AC8-F0E6-E488-628E-E21B5DA6B5CD}"/>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9F6E954-F3DB-506C-7B60-417EE7CA1F2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0567472-5AEE-A31E-5CEC-07B55704101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38E8C5FB-331C-6DE8-B7B5-341889D76574}"/>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1E99730-6049-4BB0-574B-DA3687499DF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850EE08C-FD86-8979-E027-AEF49AB32C8D}"/>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81C339A5-26EF-C374-0C24-277FBC7B29A3}"/>
              </a:ext>
            </a:extLst>
          </p:cNvPr>
          <p:cNvSpPr txBox="1">
            <a:spLocks/>
          </p:cNvSpPr>
          <p:nvPr/>
        </p:nvSpPr>
        <p:spPr>
          <a:xfrm>
            <a:off x="228600" y="762000"/>
            <a:ext cx="8624937" cy="52475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Cartography</a:t>
            </a:r>
          </a:p>
          <a:p>
            <a:pPr marL="12700" marR="5080"/>
            <a:r>
              <a:rPr lang="en-US" sz="1400" kern="0" spc="-80" dirty="0">
                <a:solidFill>
                  <a:schemeClr val="accent2"/>
                </a:solidFill>
              </a:rPr>
              <a:t>7. Cartographic Techniques in Practice</a:t>
            </a:r>
          </a:p>
          <a:p>
            <a:pPr marL="12700" marR="5080"/>
            <a:r>
              <a:rPr lang="en-US" sz="1400" kern="0" spc="-80" dirty="0">
                <a:solidFill>
                  <a:schemeClr val="accent2"/>
                </a:solidFill>
              </a:rPr>
              <a:t>Task	                                                 Techniques Used</a:t>
            </a:r>
          </a:p>
          <a:p>
            <a:pPr marL="12700" marR="5080"/>
            <a:r>
              <a:rPr lang="en-US" sz="1400" kern="0" spc="-80" dirty="0">
                <a:solidFill>
                  <a:schemeClr val="accent6"/>
                </a:solidFill>
              </a:rPr>
              <a:t>Terrain Representation	          </a:t>
            </a:r>
            <a:r>
              <a:rPr lang="en-US" sz="1400" kern="0" spc="-80" dirty="0" err="1">
                <a:solidFill>
                  <a:schemeClr val="accent6"/>
                </a:solidFill>
              </a:rPr>
              <a:t>Hillshading</a:t>
            </a:r>
            <a:r>
              <a:rPr lang="en-US" sz="1400" kern="0" spc="-80" dirty="0">
                <a:solidFill>
                  <a:schemeClr val="accent6"/>
                </a:solidFill>
              </a:rPr>
              <a:t>, hypsometric tints, slope maps</a:t>
            </a:r>
          </a:p>
          <a:p>
            <a:pPr marL="12700" marR="5080"/>
            <a:r>
              <a:rPr lang="en-US" sz="1400" kern="0" spc="-80" dirty="0">
                <a:solidFill>
                  <a:schemeClr val="accent6"/>
                </a:solidFill>
              </a:rPr>
              <a:t>3D Cartography	                             Perspective projection, shaded relief, DEMs</a:t>
            </a:r>
          </a:p>
          <a:p>
            <a:pPr marL="12700" marR="5080"/>
            <a:r>
              <a:rPr lang="en-US" sz="1400" kern="0" spc="-80" dirty="0">
                <a:solidFill>
                  <a:schemeClr val="accent6"/>
                </a:solidFill>
              </a:rPr>
              <a:t>Choropleth Maps	                             Data classification + color schemes</a:t>
            </a:r>
          </a:p>
          <a:p>
            <a:pPr marL="12700" marR="5080"/>
            <a:r>
              <a:rPr lang="en-US" sz="1400" kern="0" spc="-80" dirty="0">
                <a:solidFill>
                  <a:schemeClr val="accent6"/>
                </a:solidFill>
              </a:rPr>
              <a:t>Isoline / Contour Mapping	          Interpolation (IDW, Kriging, Spline)</a:t>
            </a:r>
          </a:p>
          <a:p>
            <a:pPr marL="12700" marR="5080"/>
            <a:r>
              <a:rPr lang="en-US" sz="1400" kern="0" spc="-80" dirty="0">
                <a:solidFill>
                  <a:schemeClr val="accent6"/>
                </a:solidFill>
              </a:rPr>
              <a:t>Flow Maps	                                                 Network routing + proportional lines</a:t>
            </a:r>
          </a:p>
          <a:p>
            <a:pPr marL="12700" marR="5080"/>
            <a:r>
              <a:rPr lang="en-US" sz="1400" kern="0" spc="-80" dirty="0">
                <a:solidFill>
                  <a:schemeClr val="accent6"/>
                </a:solidFill>
              </a:rPr>
              <a:t>Dot Density Maps	                             Randomized or centroid-based point placement</a:t>
            </a:r>
          </a:p>
          <a:p>
            <a:pPr marL="12700" marR="5080"/>
            <a:endParaRPr lang="en-US" sz="1400" kern="0" spc="-80" dirty="0">
              <a:solidFill>
                <a:schemeClr val="accent6"/>
              </a:solidFill>
            </a:endParaRPr>
          </a:p>
          <a:p>
            <a:pPr marL="12700" marR="5080"/>
            <a:r>
              <a:rPr lang="en-US" sz="1400" kern="0" spc="-80" dirty="0">
                <a:solidFill>
                  <a:schemeClr val="accent2"/>
                </a:solidFill>
              </a:rPr>
              <a:t>8. Digital Cartography &amp; Modern Tooling</a:t>
            </a:r>
          </a:p>
          <a:p>
            <a:pPr marL="12700" marR="5080"/>
            <a:r>
              <a:rPr lang="en-US" sz="1400" kern="0" spc="-80" dirty="0">
                <a:solidFill>
                  <a:schemeClr val="accent2"/>
                </a:solidFill>
              </a:rPr>
              <a:t>Software</a:t>
            </a:r>
          </a:p>
          <a:p>
            <a:pPr marL="12700" marR="5080"/>
            <a:r>
              <a:rPr lang="en-US" sz="1400" kern="0" spc="-80" dirty="0">
                <a:solidFill>
                  <a:schemeClr val="accent6"/>
                </a:solidFill>
              </a:rPr>
              <a:t>QGIS</a:t>
            </a:r>
          </a:p>
          <a:p>
            <a:pPr marL="12700" marR="5080"/>
            <a:r>
              <a:rPr lang="en-US" sz="1400" kern="0" spc="-80" dirty="0">
                <a:solidFill>
                  <a:schemeClr val="accent6"/>
                </a:solidFill>
              </a:rPr>
              <a:t>ArcGIS</a:t>
            </a:r>
          </a:p>
          <a:p>
            <a:pPr marL="12700" marR="5080"/>
            <a:r>
              <a:rPr lang="en-US" sz="1400" kern="0" spc="-80" dirty="0" err="1">
                <a:solidFill>
                  <a:schemeClr val="accent6"/>
                </a:solidFill>
              </a:rPr>
              <a:t>Mapbox</a:t>
            </a:r>
            <a:r>
              <a:rPr lang="en-US" sz="1400" kern="0" spc="-80" dirty="0">
                <a:solidFill>
                  <a:schemeClr val="accent6"/>
                </a:solidFill>
              </a:rPr>
              <a:t> Studio</a:t>
            </a:r>
          </a:p>
          <a:p>
            <a:pPr marL="12700" marR="5080"/>
            <a:r>
              <a:rPr lang="en-US" sz="1400" kern="0" spc="-80" dirty="0">
                <a:solidFill>
                  <a:schemeClr val="accent6"/>
                </a:solidFill>
              </a:rPr>
              <a:t>D3.js</a:t>
            </a:r>
          </a:p>
          <a:p>
            <a:pPr marL="12700" marR="5080"/>
            <a:r>
              <a:rPr lang="en-US" sz="1400" kern="0" spc="-80" dirty="0">
                <a:solidFill>
                  <a:schemeClr val="accent6"/>
                </a:solidFill>
              </a:rPr>
              <a:t>Blender + GIS plugins (for cinematic cartography)</a:t>
            </a:r>
          </a:p>
          <a:p>
            <a:pPr marL="12700" marR="5080"/>
            <a:r>
              <a:rPr lang="en-US" sz="1400" kern="0" spc="-80" dirty="0">
                <a:solidFill>
                  <a:schemeClr val="accent2"/>
                </a:solidFill>
              </a:rPr>
              <a:t>Data Formats</a:t>
            </a:r>
          </a:p>
          <a:p>
            <a:pPr marL="12700" marR="5080"/>
            <a:r>
              <a:rPr lang="en-US" sz="1400" kern="0" spc="-80" dirty="0">
                <a:solidFill>
                  <a:schemeClr val="accent2"/>
                </a:solidFill>
              </a:rPr>
              <a:t>Vector: </a:t>
            </a:r>
            <a:r>
              <a:rPr lang="en-US" sz="1400" kern="0" spc="-80" dirty="0">
                <a:solidFill>
                  <a:schemeClr val="accent6"/>
                </a:solidFill>
              </a:rPr>
              <a:t>Shapefile, </a:t>
            </a:r>
            <a:r>
              <a:rPr lang="en-US" sz="1400" kern="0" spc="-80" dirty="0" err="1">
                <a:solidFill>
                  <a:schemeClr val="accent6"/>
                </a:solidFill>
              </a:rPr>
              <a:t>GeoJSON</a:t>
            </a:r>
            <a:endParaRPr lang="en-US" sz="1400" kern="0" spc="-80" dirty="0">
              <a:solidFill>
                <a:schemeClr val="accent6"/>
              </a:solidFill>
            </a:endParaRPr>
          </a:p>
          <a:p>
            <a:pPr marL="12700" marR="5080"/>
            <a:r>
              <a:rPr lang="en-US" sz="1400" kern="0" spc="-80" dirty="0">
                <a:solidFill>
                  <a:schemeClr val="accent2"/>
                </a:solidFill>
              </a:rPr>
              <a:t>Raster: </a:t>
            </a:r>
            <a:r>
              <a:rPr lang="en-US" sz="1400" kern="0" spc="-80" dirty="0" err="1">
                <a:solidFill>
                  <a:schemeClr val="accent6"/>
                </a:solidFill>
              </a:rPr>
              <a:t>GeoTIFF</a:t>
            </a:r>
            <a:r>
              <a:rPr lang="en-US" sz="1400" kern="0" spc="-80" dirty="0">
                <a:solidFill>
                  <a:schemeClr val="accent6"/>
                </a:solidFill>
              </a:rPr>
              <a:t>, COG</a:t>
            </a:r>
          </a:p>
          <a:p>
            <a:pPr marL="12700" marR="5080"/>
            <a:r>
              <a:rPr lang="en-US" sz="1400" kern="0" spc="-80" dirty="0">
                <a:solidFill>
                  <a:schemeClr val="accent2"/>
                </a:solidFill>
              </a:rPr>
              <a:t>Elevation Models: </a:t>
            </a:r>
            <a:r>
              <a:rPr lang="en-US" sz="1400" kern="0" spc="-80" dirty="0">
                <a:solidFill>
                  <a:schemeClr val="accent6"/>
                </a:solidFill>
              </a:rPr>
              <a:t>SRTM, DEM, DSM, DTM</a:t>
            </a:r>
          </a:p>
          <a:p>
            <a:pPr marL="12700" marR="5080"/>
            <a:r>
              <a:rPr lang="en-US" sz="1400" kern="0" spc="-80" dirty="0">
                <a:solidFill>
                  <a:schemeClr val="accent2"/>
                </a:solidFill>
              </a:rPr>
              <a:t>Rendering Pipelines</a:t>
            </a:r>
          </a:p>
          <a:p>
            <a:pPr marL="12700" marR="5080"/>
            <a:r>
              <a:rPr lang="en-US" sz="1400" kern="0" spc="-80" dirty="0">
                <a:solidFill>
                  <a:schemeClr val="accent6"/>
                </a:solidFill>
              </a:rPr>
              <a:t>GPU tile rendering (</a:t>
            </a:r>
            <a:r>
              <a:rPr lang="en-US" sz="1400" kern="0" spc="-80" dirty="0" err="1">
                <a:solidFill>
                  <a:schemeClr val="accent6"/>
                </a:solidFill>
              </a:rPr>
              <a:t>Mapbox</a:t>
            </a:r>
            <a:r>
              <a:rPr lang="en-US" sz="1400" kern="0" spc="-80" dirty="0">
                <a:solidFill>
                  <a:schemeClr val="accent6"/>
                </a:solidFill>
              </a:rPr>
              <a:t> GL)</a:t>
            </a:r>
          </a:p>
          <a:p>
            <a:pPr marL="12700" marR="5080"/>
            <a:r>
              <a:rPr lang="en-US" sz="1400" kern="0" spc="-80" dirty="0">
                <a:solidFill>
                  <a:schemeClr val="accent6"/>
                </a:solidFill>
              </a:rPr>
              <a:t>Vector tiling &amp; web map streaming</a:t>
            </a:r>
          </a:p>
        </p:txBody>
      </p:sp>
    </p:spTree>
    <p:extLst>
      <p:ext uri="{BB962C8B-B14F-4D97-AF65-F5344CB8AC3E}">
        <p14:creationId xmlns:p14="http://schemas.microsoft.com/office/powerpoint/2010/main" val="1459744772"/>
      </p:ext>
    </p:extLst>
  </p:cSld>
  <p:clrMapOvr>
    <a:masterClrMapping/>
  </p:clrMapOvr>
</p:sld>
</file>

<file path=ppt/slides/slide5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78D1E-18CF-8EB4-3477-C329642122A1}"/>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6F839592-7CC2-D762-C768-FD956763D228}"/>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B216890-1273-D964-9699-D1355BB5CF0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82E1470-E7CB-D483-8F3E-C33C11432CCE}"/>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FD602A4-D565-EBC1-EEE4-4C5471BB2E35}"/>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FEBA7E0-2C78-3F07-18BD-BB9BB788A9A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E7B4C1E-76AC-9237-60FB-EF22575AE3C0}"/>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151265CC-7B4F-D78A-E48D-F9FD4B592F3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3EBFA4A1-8C24-5A61-0018-FFE6B91494F7}"/>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9EF26231-FF63-0EE6-2253-D1DF56B708B5}"/>
              </a:ext>
            </a:extLst>
          </p:cNvPr>
          <p:cNvSpPr txBox="1">
            <a:spLocks/>
          </p:cNvSpPr>
          <p:nvPr/>
        </p:nvSpPr>
        <p:spPr>
          <a:xfrm>
            <a:off x="228600" y="762000"/>
            <a:ext cx="8624937" cy="52783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Cartography</a:t>
            </a:r>
          </a:p>
          <a:p>
            <a:pPr marL="12700" marR="5080"/>
            <a:r>
              <a:rPr lang="en-US" sz="1400" kern="0" spc="-80" dirty="0">
                <a:solidFill>
                  <a:schemeClr val="accent2"/>
                </a:solidFill>
              </a:rPr>
              <a:t>9. The Philosophy of Good Cartography</a:t>
            </a:r>
          </a:p>
          <a:p>
            <a:pPr marL="12700" marR="5080"/>
            <a:r>
              <a:rPr lang="en-US" sz="1400" kern="0" spc="-80" dirty="0">
                <a:solidFill>
                  <a:schemeClr val="accent6"/>
                </a:solidFill>
              </a:rPr>
              <a:t>A map is never </a:t>
            </a:r>
            <a:r>
              <a:rPr lang="en-US" sz="1400" kern="0" spc="-80" dirty="0" err="1">
                <a:solidFill>
                  <a:schemeClr val="accent6"/>
                </a:solidFill>
              </a:rPr>
              <a:t>neutral.It</a:t>
            </a:r>
            <a:r>
              <a:rPr lang="en-US" sz="1400" kern="0" spc="-80" dirty="0">
                <a:solidFill>
                  <a:schemeClr val="accent6"/>
                </a:solidFill>
              </a:rPr>
              <a:t> is always designed to emphasize something.</a:t>
            </a:r>
          </a:p>
          <a:p>
            <a:pPr marL="12700" marR="5080"/>
            <a:r>
              <a:rPr lang="en-US" sz="1400" kern="0" spc="-80" dirty="0">
                <a:solidFill>
                  <a:schemeClr val="accent2"/>
                </a:solidFill>
              </a:rPr>
              <a:t>Good cartography is:</a:t>
            </a:r>
          </a:p>
          <a:p>
            <a:pPr marL="12700" marR="5080"/>
            <a:r>
              <a:rPr lang="en-US" sz="1400" kern="0" spc="-80" dirty="0">
                <a:solidFill>
                  <a:schemeClr val="accent6"/>
                </a:solidFill>
              </a:rPr>
              <a:t>Honest about scale &amp; projection limitations</a:t>
            </a:r>
          </a:p>
          <a:p>
            <a:pPr marL="12700" marR="5080"/>
            <a:r>
              <a:rPr lang="en-US" sz="1400" kern="0" spc="-80" dirty="0">
                <a:solidFill>
                  <a:schemeClr val="accent6"/>
                </a:solidFill>
              </a:rPr>
              <a:t>Aware of visual bias</a:t>
            </a:r>
          </a:p>
          <a:p>
            <a:pPr marL="12700" marR="5080"/>
            <a:r>
              <a:rPr lang="en-US" sz="1400" kern="0" spc="-80" dirty="0">
                <a:solidFill>
                  <a:schemeClr val="accent6"/>
                </a:solidFill>
              </a:rPr>
              <a:t>Clear in message</a:t>
            </a:r>
          </a:p>
          <a:p>
            <a:pPr marL="12700" marR="5080"/>
            <a:r>
              <a:rPr lang="en-US" sz="1400" kern="0" spc="-80" dirty="0">
                <a:solidFill>
                  <a:schemeClr val="accent6"/>
                </a:solidFill>
              </a:rPr>
              <a:t>Graceful in appearance</a:t>
            </a:r>
          </a:p>
          <a:p>
            <a:pPr marL="12700" marR="5080"/>
            <a:r>
              <a:rPr lang="en-US" sz="1400" kern="0" spc="-80" dirty="0">
                <a:solidFill>
                  <a:schemeClr val="accent2"/>
                </a:solidFill>
              </a:rPr>
              <a:t>Bad cartography is:</a:t>
            </a:r>
          </a:p>
          <a:p>
            <a:pPr marL="12700" marR="5080"/>
            <a:r>
              <a:rPr lang="en-US" sz="1400" kern="0" spc="-80" dirty="0">
                <a:solidFill>
                  <a:schemeClr val="accent6"/>
                </a:solidFill>
              </a:rPr>
              <a:t>Cluttered</a:t>
            </a:r>
          </a:p>
          <a:p>
            <a:pPr marL="12700" marR="5080"/>
            <a:r>
              <a:rPr lang="en-US" sz="1400" kern="0" spc="-80" dirty="0">
                <a:solidFill>
                  <a:schemeClr val="accent6"/>
                </a:solidFill>
              </a:rPr>
              <a:t>Misleading</a:t>
            </a:r>
          </a:p>
          <a:p>
            <a:pPr marL="12700" marR="5080"/>
            <a:r>
              <a:rPr lang="en-US" sz="1400" kern="0" spc="-80" dirty="0">
                <a:solidFill>
                  <a:schemeClr val="accent6"/>
                </a:solidFill>
              </a:rPr>
              <a:t>Overly literal or overly abstract</a:t>
            </a:r>
          </a:p>
          <a:p>
            <a:pPr marL="12700" marR="5080"/>
            <a:r>
              <a:rPr lang="en-US" sz="1400" kern="0" spc="-80" dirty="0">
                <a:solidFill>
                  <a:schemeClr val="accent6"/>
                </a:solidFill>
              </a:rPr>
              <a:t>Emotionless</a:t>
            </a:r>
          </a:p>
          <a:p>
            <a:pPr marL="12700" marR="5080"/>
            <a:r>
              <a:rPr lang="en-US" sz="1400" kern="0" spc="-80" dirty="0">
                <a:solidFill>
                  <a:schemeClr val="accent2"/>
                </a:solidFill>
              </a:rPr>
              <a:t>A map should feel like a spatial poem. </a:t>
            </a:r>
          </a:p>
          <a:p>
            <a:pPr marL="12700" marR="5080"/>
            <a:endParaRPr lang="en-US" sz="1400" kern="0" spc="-80" dirty="0">
              <a:solidFill>
                <a:schemeClr val="accent2"/>
              </a:solidFill>
            </a:endParaRPr>
          </a:p>
          <a:p>
            <a:pPr marL="12700" marR="5080"/>
            <a:endParaRPr lang="en-US" sz="1400" kern="0" spc="-80" dirty="0">
              <a:solidFill>
                <a:schemeClr val="accent2"/>
              </a:solidFill>
            </a:endParaRPr>
          </a:p>
          <a:p>
            <a:pPr marL="12700" marR="5080"/>
            <a:r>
              <a:rPr lang="en-US" sz="1600" kern="0" spc="-80" dirty="0">
                <a:solidFill>
                  <a:schemeClr val="accent2"/>
                </a:solidFill>
              </a:rPr>
              <a:t>Layering Techniques</a:t>
            </a:r>
          </a:p>
          <a:p>
            <a:pPr marL="12700" marR="5080"/>
            <a:r>
              <a:rPr lang="en-US" sz="1400" kern="0" spc="-80" dirty="0">
                <a:solidFill>
                  <a:schemeClr val="accent6"/>
                </a:solidFill>
              </a:rPr>
              <a:t>Imagine a map as a layered cake of spatial meaning: each layer is a thin sheet of logic, geometry, and story, stacked so the world reveals itself in slices. Map layering techniques and algorithms are the craft of arranging these sheets so geography becomes understandable, navigable, maybe even beautiful.</a:t>
            </a:r>
          </a:p>
          <a:p>
            <a:pPr marL="12700" marR="5080"/>
            <a:endParaRPr lang="en-US" sz="1400" kern="0" spc="-80" dirty="0">
              <a:solidFill>
                <a:schemeClr val="accent6"/>
              </a:solidFill>
            </a:endParaRPr>
          </a:p>
          <a:p>
            <a:pPr marL="12700" marR="5080"/>
            <a:r>
              <a:rPr lang="en-US" sz="1400" kern="0" spc="-80" dirty="0">
                <a:solidFill>
                  <a:schemeClr val="accent2"/>
                </a:solidFill>
              </a:rPr>
              <a:t>1) What is a Map Layer, Conceptually?</a:t>
            </a:r>
          </a:p>
          <a:p>
            <a:pPr marL="12700" marR="5080"/>
            <a:r>
              <a:rPr lang="en-US" sz="1400" kern="0" spc="-80" dirty="0">
                <a:solidFill>
                  <a:schemeClr val="accent6"/>
                </a:solidFill>
              </a:rPr>
              <a:t>A layer is a spatial dataset containing one type of geographic feature or theme:</a:t>
            </a:r>
          </a:p>
          <a:p>
            <a:pPr marL="12700" marR="5080"/>
            <a:endParaRPr lang="en-US" sz="1400" kern="0" spc="-80" dirty="0">
              <a:solidFill>
                <a:schemeClr val="accent6"/>
              </a:solidFill>
            </a:endParaRPr>
          </a:p>
        </p:txBody>
      </p:sp>
    </p:spTree>
    <p:extLst>
      <p:ext uri="{BB962C8B-B14F-4D97-AF65-F5344CB8AC3E}">
        <p14:creationId xmlns:p14="http://schemas.microsoft.com/office/powerpoint/2010/main" val="3463414531"/>
      </p:ext>
    </p:extLst>
  </p:cSld>
  <p:clrMapOvr>
    <a:masterClrMapping/>
  </p:clrMapOvr>
</p:sld>
</file>

<file path=ppt/slides/slide5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096E9-DF1F-3587-C5D9-C900A3B5A12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71D8D60-2260-517B-5764-38A59D32FC1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5E0F37EB-D688-D61F-6002-5ED5E143ED3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6F3CA7A-BA7D-B679-0D45-53CA86CC32EB}"/>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A570F87F-46A5-3A58-243A-CAF52811B74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B0A87C2-0AB6-6464-3234-C6CE2E94C176}"/>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4CD70A4-015D-276D-5708-0BECE7831071}"/>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DD2AC970-F86D-09B5-7441-E5190F726645}"/>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E7ABD562-01FA-29A3-5B28-B89D058F8CC7}"/>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280103A6-B823-5DB3-F8B9-BC56B6C580E7}"/>
              </a:ext>
            </a:extLst>
          </p:cNvPr>
          <p:cNvSpPr txBox="1">
            <a:spLocks/>
          </p:cNvSpPr>
          <p:nvPr/>
        </p:nvSpPr>
        <p:spPr>
          <a:xfrm>
            <a:off x="228600" y="762000"/>
            <a:ext cx="8624937" cy="463203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Cartography</a:t>
            </a:r>
          </a:p>
          <a:p>
            <a:pPr marL="12700" marR="5080"/>
            <a:r>
              <a:rPr lang="en-US" sz="1600" kern="0" spc="-80" dirty="0">
                <a:solidFill>
                  <a:schemeClr val="accent2"/>
                </a:solidFill>
              </a:rPr>
              <a:t>Layering Techniques</a:t>
            </a:r>
          </a:p>
          <a:p>
            <a:pPr marL="12700" marR="5080"/>
            <a:r>
              <a:rPr lang="en-US" sz="1400" kern="0" spc="-80" dirty="0">
                <a:solidFill>
                  <a:schemeClr val="accent2"/>
                </a:solidFill>
              </a:rPr>
              <a:t>Layer	                   Content Example	                   Geometry Type</a:t>
            </a:r>
          </a:p>
          <a:p>
            <a:pPr marL="12700" marR="5080"/>
            <a:r>
              <a:rPr lang="en-US" sz="1400" kern="0" spc="-80" dirty="0">
                <a:solidFill>
                  <a:schemeClr val="accent6"/>
                </a:solidFill>
              </a:rPr>
              <a:t>Base terrain	Elevation, slope, landcover	Raster</a:t>
            </a:r>
          </a:p>
          <a:p>
            <a:pPr marL="12700" marR="5080"/>
            <a:r>
              <a:rPr lang="en-US" sz="1400" kern="0" spc="-80" dirty="0">
                <a:solidFill>
                  <a:schemeClr val="accent6"/>
                </a:solidFill>
              </a:rPr>
              <a:t>Hydrography	Rivers, lakes	                    Line/Polygon</a:t>
            </a:r>
          </a:p>
          <a:p>
            <a:pPr marL="12700" marR="5080"/>
            <a:r>
              <a:rPr lang="en-US" sz="1400" kern="0" spc="-80" dirty="0">
                <a:solidFill>
                  <a:schemeClr val="accent6"/>
                </a:solidFill>
              </a:rPr>
              <a:t>Transportation	Roads, railways	                    Line</a:t>
            </a:r>
          </a:p>
          <a:p>
            <a:pPr marL="12700" marR="5080"/>
            <a:r>
              <a:rPr lang="en-US" sz="1400" kern="0" spc="-80" dirty="0">
                <a:solidFill>
                  <a:schemeClr val="accent6"/>
                </a:solidFill>
              </a:rPr>
              <a:t>Boundaries	Countries, districts	                    Polygon</a:t>
            </a:r>
          </a:p>
          <a:p>
            <a:pPr marL="12700" marR="5080"/>
            <a:r>
              <a:rPr lang="en-US" sz="1400" kern="0" spc="-80" dirty="0">
                <a:solidFill>
                  <a:schemeClr val="accent6"/>
                </a:solidFill>
              </a:rPr>
              <a:t>POIs	                    Schools, hospitals	                    Points</a:t>
            </a:r>
          </a:p>
          <a:p>
            <a:pPr marL="12700" marR="5080"/>
            <a:r>
              <a:rPr lang="en-US" sz="1400" kern="0" spc="-80" dirty="0">
                <a:solidFill>
                  <a:schemeClr val="accent2"/>
                </a:solidFill>
              </a:rPr>
              <a:t>Layer stacks let us compare and analyze relationships:</a:t>
            </a:r>
          </a:p>
          <a:p>
            <a:pPr marL="12700" marR="5080"/>
            <a:r>
              <a:rPr lang="en-US" sz="1400" kern="0" spc="-80" dirty="0">
                <a:solidFill>
                  <a:schemeClr val="accent6"/>
                </a:solidFill>
              </a:rPr>
              <a:t>Roads (line) crossing rivers (polygon) require bridges.</a:t>
            </a:r>
          </a:p>
          <a:p>
            <a:pPr marL="12700" marR="5080"/>
            <a:r>
              <a:rPr lang="en-US" sz="1400" kern="0" spc="-80" dirty="0">
                <a:solidFill>
                  <a:schemeClr val="accent6"/>
                </a:solidFill>
              </a:rPr>
              <a:t>Hospitals (point) should lie within city boundaries (polygon).</a:t>
            </a:r>
          </a:p>
          <a:p>
            <a:pPr marL="12700" marR="5080"/>
            <a:r>
              <a:rPr lang="en-US" sz="1400" kern="0" spc="-80" dirty="0">
                <a:solidFill>
                  <a:schemeClr val="accent6"/>
                </a:solidFill>
              </a:rPr>
              <a:t>Vegetation (raster) changes with altitude (raster).</a:t>
            </a:r>
          </a:p>
          <a:p>
            <a:pPr marL="12700" marR="5080"/>
            <a:endParaRPr lang="en-US" sz="1400" kern="0" spc="-80" dirty="0">
              <a:solidFill>
                <a:schemeClr val="accent6"/>
              </a:solidFill>
            </a:endParaRPr>
          </a:p>
          <a:p>
            <a:pPr marL="12700" marR="5080"/>
            <a:r>
              <a:rPr lang="en-US" sz="1400" kern="0" spc="-80" dirty="0">
                <a:solidFill>
                  <a:schemeClr val="accent2"/>
                </a:solidFill>
              </a:rPr>
              <a:t>2) Core Layering Techniques (Cartographic + GIS)</a:t>
            </a:r>
          </a:p>
          <a:p>
            <a:pPr marL="12700" marR="5080"/>
            <a:r>
              <a:rPr lang="en-US" sz="1400" kern="0" spc="-80" dirty="0">
                <a:solidFill>
                  <a:schemeClr val="accent2"/>
                </a:solidFill>
              </a:rPr>
              <a:t>A) Visual Layer Ordering</a:t>
            </a:r>
          </a:p>
          <a:p>
            <a:pPr marL="12700" marR="5080"/>
            <a:r>
              <a:rPr lang="en-US" sz="1400" kern="0" spc="-80" dirty="0">
                <a:solidFill>
                  <a:schemeClr val="accent6"/>
                </a:solidFill>
              </a:rPr>
              <a:t>Which layer sits on top matters. </a:t>
            </a:r>
          </a:p>
          <a:p>
            <a:pPr marL="12700" marR="5080"/>
            <a:r>
              <a:rPr lang="en-US" sz="1400" kern="0" spc="-80" dirty="0">
                <a:solidFill>
                  <a:schemeClr val="accent2"/>
                </a:solidFill>
              </a:rPr>
              <a:t>Usually:</a:t>
            </a:r>
          </a:p>
          <a:p>
            <a:pPr marL="12700" marR="5080"/>
            <a:r>
              <a:rPr lang="en-US" sz="1400" kern="0" spc="-80" dirty="0">
                <a:solidFill>
                  <a:schemeClr val="accent2"/>
                </a:solidFill>
              </a:rPr>
              <a:t>Bottom:</a:t>
            </a:r>
            <a:r>
              <a:rPr lang="en-US" sz="1400" kern="0" spc="-80" dirty="0">
                <a:solidFill>
                  <a:schemeClr val="accent6"/>
                </a:solidFill>
              </a:rPr>
              <a:t> Terrain + satellite</a:t>
            </a:r>
          </a:p>
          <a:p>
            <a:pPr marL="12700" marR="5080"/>
            <a:r>
              <a:rPr lang="en-US" sz="1400" kern="0" spc="-80" dirty="0">
                <a:solidFill>
                  <a:schemeClr val="accent2"/>
                </a:solidFill>
              </a:rPr>
              <a:t>Middle: </a:t>
            </a:r>
            <a:r>
              <a:rPr lang="en-US" sz="1400" kern="0" spc="-80" dirty="0">
                <a:solidFill>
                  <a:schemeClr val="accent6"/>
                </a:solidFill>
              </a:rPr>
              <a:t>Water, land cover, boundaries</a:t>
            </a:r>
          </a:p>
          <a:p>
            <a:pPr marL="12700" marR="5080"/>
            <a:r>
              <a:rPr lang="en-US" sz="1400" kern="0" spc="-80" dirty="0">
                <a:solidFill>
                  <a:schemeClr val="accent2"/>
                </a:solidFill>
              </a:rPr>
              <a:t>Top: </a:t>
            </a:r>
            <a:r>
              <a:rPr lang="en-US" sz="1400" kern="0" spc="-80" dirty="0">
                <a:solidFill>
                  <a:schemeClr val="accent6"/>
                </a:solidFill>
              </a:rPr>
              <a:t>Roads, points, labels</a:t>
            </a:r>
          </a:p>
          <a:p>
            <a:pPr marL="12700" marR="5080"/>
            <a:r>
              <a:rPr lang="en-US" sz="1400" kern="0" spc="-80" dirty="0">
                <a:solidFill>
                  <a:schemeClr val="accent6"/>
                </a:solidFill>
              </a:rPr>
              <a:t>Because if labels lived under mountains, well… they'd get lost like socks in laundry.</a:t>
            </a:r>
          </a:p>
        </p:txBody>
      </p:sp>
    </p:spTree>
    <p:extLst>
      <p:ext uri="{BB962C8B-B14F-4D97-AF65-F5344CB8AC3E}">
        <p14:creationId xmlns:p14="http://schemas.microsoft.com/office/powerpoint/2010/main" val="4092211389"/>
      </p:ext>
    </p:extLst>
  </p:cSld>
  <p:clrMapOvr>
    <a:masterClrMapping/>
  </p:clrMapOvr>
</p:sld>
</file>

<file path=ppt/slides/slide5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C42DB-2016-90DF-6DDB-88951BEE0E7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BA8CC45-1EFC-81B5-20E9-87D745AFD7E6}"/>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3058725-A67D-3976-C5D7-A67A305CBFCB}"/>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D43E56F-7706-6C98-C29C-BC004A738124}"/>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5008AED-5D2F-6360-A46C-BF705E49A154}"/>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6CCED474-6DBB-A2FD-4383-82D5CD8BFE0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FB74C3F2-B7E9-E561-249F-5A95FAE1B768}"/>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AE2D72AB-9F48-D21F-B2AB-61EC96BDE9C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F70F4A89-C3BA-BB75-3A26-DD2BBC9946FC}"/>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91146796-E4DA-EA77-39D1-DA51F8F25D7A}"/>
              </a:ext>
            </a:extLst>
          </p:cNvPr>
          <p:cNvSpPr txBox="1">
            <a:spLocks/>
          </p:cNvSpPr>
          <p:nvPr/>
        </p:nvSpPr>
        <p:spPr>
          <a:xfrm>
            <a:off x="228600" y="762000"/>
            <a:ext cx="8624937" cy="52783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Cartography</a:t>
            </a:r>
          </a:p>
          <a:p>
            <a:pPr marL="12700" marR="5080"/>
            <a:r>
              <a:rPr lang="en-US" sz="1600" kern="0" spc="-80" dirty="0">
                <a:solidFill>
                  <a:schemeClr val="accent2"/>
                </a:solidFill>
              </a:rPr>
              <a:t>Layering Techniques</a:t>
            </a:r>
          </a:p>
          <a:p>
            <a:pPr marL="12700" marR="5080"/>
            <a:r>
              <a:rPr lang="en-US" sz="1400" kern="0" spc="-80" dirty="0">
                <a:solidFill>
                  <a:schemeClr val="accent2"/>
                </a:solidFill>
              </a:rPr>
              <a:t>B) Layer Styling (Symbolization)</a:t>
            </a:r>
          </a:p>
          <a:p>
            <a:pPr marL="12700" marR="5080"/>
            <a:r>
              <a:rPr lang="en-US" sz="1400" kern="0" spc="-80" dirty="0">
                <a:solidFill>
                  <a:schemeClr val="accent2"/>
                </a:solidFill>
              </a:rPr>
              <a:t>This dictates clarity:</a:t>
            </a:r>
          </a:p>
          <a:p>
            <a:pPr marL="12700" marR="5080"/>
            <a:r>
              <a:rPr lang="en-US" sz="1400" kern="0" spc="-80" dirty="0">
                <a:solidFill>
                  <a:schemeClr val="accent6"/>
                </a:solidFill>
              </a:rPr>
              <a:t>Line thickness (e.g., highways thicker than alleys)</a:t>
            </a:r>
          </a:p>
          <a:p>
            <a:pPr marL="12700" marR="5080"/>
            <a:r>
              <a:rPr lang="en-US" sz="1400" kern="0" spc="-80" dirty="0">
                <a:solidFill>
                  <a:schemeClr val="accent6"/>
                </a:solidFill>
              </a:rPr>
              <a:t>Polygon fill patterns (solid, hatch, opacity)</a:t>
            </a:r>
          </a:p>
          <a:p>
            <a:pPr marL="12700" marR="5080"/>
            <a:r>
              <a:rPr lang="en-US" sz="1400" kern="0" spc="-80" dirty="0">
                <a:solidFill>
                  <a:schemeClr val="accent6"/>
                </a:solidFill>
              </a:rPr>
              <a:t>Color ramps (elevation gradients, heat intensity)</a:t>
            </a:r>
          </a:p>
          <a:p>
            <a:pPr marL="12700" marR="5080"/>
            <a:r>
              <a:rPr lang="en-US" sz="1400" kern="0" spc="-80" dirty="0">
                <a:solidFill>
                  <a:schemeClr val="accent6"/>
                </a:solidFill>
              </a:rPr>
              <a:t>Good maps never shout. They suggest.</a:t>
            </a:r>
          </a:p>
          <a:p>
            <a:pPr marL="12700" marR="5080"/>
            <a:endParaRPr lang="en-US" sz="1400" kern="0" spc="-80" dirty="0">
              <a:solidFill>
                <a:schemeClr val="accent6"/>
              </a:solidFill>
            </a:endParaRPr>
          </a:p>
          <a:p>
            <a:pPr marL="12700" marR="5080"/>
            <a:r>
              <a:rPr lang="en-US" sz="1400" kern="0" spc="-80" dirty="0">
                <a:solidFill>
                  <a:schemeClr val="accent2"/>
                </a:solidFill>
              </a:rPr>
              <a:t>C) Opacity &amp; Blending</a:t>
            </a:r>
          </a:p>
          <a:p>
            <a:pPr marL="12700" marR="5080"/>
            <a:r>
              <a:rPr lang="en-US" sz="1400" kern="0" spc="-80" dirty="0">
                <a:solidFill>
                  <a:schemeClr val="accent6"/>
                </a:solidFill>
              </a:rPr>
              <a:t>Adjusting transparency reveals spatial relationships:</a:t>
            </a:r>
          </a:p>
          <a:p>
            <a:pPr marL="12700" marR="5080"/>
            <a:r>
              <a:rPr lang="en-US" sz="1400" kern="0" spc="-80" dirty="0">
                <a:solidFill>
                  <a:schemeClr val="accent6"/>
                </a:solidFill>
              </a:rPr>
              <a:t>Semi-transparent vegetation atop satellite imagery</a:t>
            </a:r>
          </a:p>
          <a:p>
            <a:pPr marL="12700" marR="5080"/>
            <a:r>
              <a:rPr lang="en-US" sz="1400" kern="0" spc="-80" dirty="0">
                <a:solidFill>
                  <a:schemeClr val="accent6"/>
                </a:solidFill>
              </a:rPr>
              <a:t>Ghosted administrative boundaries above shaded relief</a:t>
            </a:r>
          </a:p>
          <a:p>
            <a:pPr marL="12700" marR="5080"/>
            <a:endParaRPr lang="en-US" sz="1400" kern="0" spc="-80" dirty="0">
              <a:solidFill>
                <a:schemeClr val="accent6"/>
              </a:solidFill>
            </a:endParaRPr>
          </a:p>
          <a:p>
            <a:pPr marL="12700" marR="5080"/>
            <a:r>
              <a:rPr lang="en-US" sz="1400" kern="0" spc="-80" dirty="0">
                <a:solidFill>
                  <a:schemeClr val="accent2"/>
                </a:solidFill>
              </a:rPr>
              <a:t>3) Computational / Algorithmic Layering</a:t>
            </a:r>
          </a:p>
          <a:p>
            <a:pPr marL="12700" marR="5080"/>
            <a:r>
              <a:rPr lang="en-US" sz="1400" kern="0" spc="-80" dirty="0">
                <a:solidFill>
                  <a:schemeClr val="accent2"/>
                </a:solidFill>
              </a:rPr>
              <a:t>A) Coordinate Transformation / Projection</a:t>
            </a:r>
          </a:p>
          <a:p>
            <a:pPr marL="12700" marR="5080"/>
            <a:r>
              <a:rPr lang="en-US" sz="1400" kern="0" spc="-80" dirty="0">
                <a:solidFill>
                  <a:schemeClr val="accent6"/>
                </a:solidFill>
              </a:rPr>
              <a:t>Layers must agree on a spatial reference.</a:t>
            </a:r>
          </a:p>
          <a:p>
            <a:pPr marL="12700" marR="5080"/>
            <a:r>
              <a:rPr lang="en-US" sz="1400" kern="0" spc="-80" dirty="0">
                <a:solidFill>
                  <a:schemeClr val="accent2"/>
                </a:solidFill>
              </a:rPr>
              <a:t>Algorithms:</a:t>
            </a:r>
          </a:p>
          <a:p>
            <a:pPr marL="12700" marR="5080"/>
            <a:r>
              <a:rPr lang="en-US" sz="1400" kern="0" spc="-80" dirty="0">
                <a:solidFill>
                  <a:schemeClr val="accent6"/>
                </a:solidFill>
              </a:rPr>
              <a:t>Affine transformations (shift, scale)</a:t>
            </a:r>
          </a:p>
          <a:p>
            <a:pPr marL="12700" marR="5080"/>
            <a:r>
              <a:rPr lang="en-US" sz="1400" kern="0" spc="-80" dirty="0">
                <a:solidFill>
                  <a:schemeClr val="accent6"/>
                </a:solidFill>
              </a:rPr>
              <a:t>Proj4 / EPSG transformations</a:t>
            </a:r>
          </a:p>
          <a:p>
            <a:pPr marL="12700" marR="5080"/>
            <a:r>
              <a:rPr lang="en-US" sz="1400" kern="0" spc="-80" dirty="0">
                <a:solidFill>
                  <a:schemeClr val="accent6"/>
                </a:solidFill>
              </a:rPr>
              <a:t>Datum shift (Helmert transformation)</a:t>
            </a:r>
          </a:p>
          <a:p>
            <a:pPr marL="12700" marR="5080"/>
            <a:r>
              <a:rPr lang="en-US" sz="1400" kern="0" spc="-80" dirty="0">
                <a:solidFill>
                  <a:schemeClr val="accent2"/>
                </a:solidFill>
              </a:rPr>
              <a:t>Mathematically:</a:t>
            </a:r>
          </a:p>
          <a:p>
            <a:pPr marL="12700" marR="5080"/>
            <a:r>
              <a:rPr lang="en-US" sz="1400" kern="0" spc="-80" dirty="0">
                <a:solidFill>
                  <a:schemeClr val="accent6"/>
                </a:solidFill>
              </a:rPr>
              <a:t>[x', y'] = A[x, y] + b</a:t>
            </a:r>
          </a:p>
          <a:p>
            <a:pPr marL="12700" marR="5080"/>
            <a:r>
              <a:rPr lang="en-US" sz="1400" kern="0" spc="-80" dirty="0">
                <a:solidFill>
                  <a:schemeClr val="accent6"/>
                </a:solidFill>
              </a:rPr>
              <a:t>Where A = transformation matrix, b = offset.</a:t>
            </a:r>
          </a:p>
        </p:txBody>
      </p:sp>
    </p:spTree>
    <p:extLst>
      <p:ext uri="{BB962C8B-B14F-4D97-AF65-F5344CB8AC3E}">
        <p14:creationId xmlns:p14="http://schemas.microsoft.com/office/powerpoint/2010/main" val="3837485049"/>
      </p:ext>
    </p:extLst>
  </p:cSld>
  <p:clrMapOvr>
    <a:masterClrMapping/>
  </p:clrMapOvr>
</p:sld>
</file>

<file path=ppt/slides/slide5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A6F5B-E84A-80C3-B84A-10194E19C57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A1EDD1F-848D-16F2-5C18-5FCA709687B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F7D57BE7-3A2F-327B-8B07-CEBB6C222ED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F9788E3-35B5-E019-BB17-80EF79BFEA69}"/>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DAF77D65-2017-831F-B0B0-794F4F0AFED1}"/>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0A6DF59F-B011-8384-BCAF-C48946704DB1}"/>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1BEA7B3-4BCD-D470-8A73-F0C944BD64A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412AABE6-CDFC-655E-FC10-3BD3CB52C60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2A0DABE3-FCE8-6588-2E75-6D1D74E00025}"/>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0F270DD5-0E3D-FCE5-C189-02F8C37C434C}"/>
              </a:ext>
            </a:extLst>
          </p:cNvPr>
          <p:cNvSpPr txBox="1">
            <a:spLocks/>
          </p:cNvSpPr>
          <p:nvPr/>
        </p:nvSpPr>
        <p:spPr>
          <a:xfrm>
            <a:off x="228600" y="762000"/>
            <a:ext cx="8624937" cy="50629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Cartography</a:t>
            </a:r>
          </a:p>
          <a:p>
            <a:pPr marL="12700" marR="5080"/>
            <a:r>
              <a:rPr lang="en-US" sz="1600" kern="0" spc="-80" dirty="0">
                <a:solidFill>
                  <a:schemeClr val="accent2"/>
                </a:solidFill>
              </a:rPr>
              <a:t>Layering Techniques</a:t>
            </a:r>
          </a:p>
          <a:p>
            <a:pPr marL="12700" marR="5080"/>
            <a:r>
              <a:rPr lang="en-US" sz="1400" kern="0" spc="-80" dirty="0">
                <a:solidFill>
                  <a:schemeClr val="accent2"/>
                </a:solidFill>
              </a:rPr>
              <a:t>B) Topology Enforcement</a:t>
            </a:r>
          </a:p>
          <a:p>
            <a:pPr marL="12700" marR="5080"/>
            <a:r>
              <a:rPr lang="en-US" sz="1400" kern="0" spc="-80" dirty="0">
                <a:solidFill>
                  <a:schemeClr val="accent2"/>
                </a:solidFill>
              </a:rPr>
              <a:t>Ensures layers respect geometry rules:</a:t>
            </a:r>
          </a:p>
          <a:p>
            <a:pPr marL="12700" marR="5080"/>
            <a:r>
              <a:rPr lang="en-US" sz="1400" kern="0" spc="-80" dirty="0">
                <a:solidFill>
                  <a:schemeClr val="accent2"/>
                </a:solidFill>
              </a:rPr>
              <a:t>Rule	                                      Example</a:t>
            </a:r>
          </a:p>
          <a:p>
            <a:pPr marL="12700" marR="5080"/>
            <a:r>
              <a:rPr lang="en-US" sz="1400" kern="0" spc="-80" dirty="0">
                <a:solidFill>
                  <a:schemeClr val="accent6"/>
                </a:solidFill>
              </a:rPr>
              <a:t>No self-intersection	                  Road segments shouldn’t form loops unintentionally</a:t>
            </a:r>
          </a:p>
          <a:p>
            <a:pPr marL="12700" marR="5080"/>
            <a:r>
              <a:rPr lang="en-US" sz="1400" kern="0" spc="-80" dirty="0">
                <a:solidFill>
                  <a:schemeClr val="accent6"/>
                </a:solidFill>
              </a:rPr>
              <a:t>Polygons must close	                  Boundaries shouldn’t leak</a:t>
            </a:r>
          </a:p>
          <a:p>
            <a:pPr marL="12700" marR="5080"/>
            <a:r>
              <a:rPr lang="en-US" sz="1400" kern="0" spc="-80" dirty="0">
                <a:solidFill>
                  <a:schemeClr val="accent6"/>
                </a:solidFill>
              </a:rPr>
              <a:t>Lines must connect at nodes       Road networks must be routable</a:t>
            </a:r>
          </a:p>
          <a:p>
            <a:pPr marL="12700" marR="5080"/>
            <a:r>
              <a:rPr lang="en-US" sz="1400" kern="0" spc="-80" dirty="0">
                <a:solidFill>
                  <a:schemeClr val="accent2"/>
                </a:solidFill>
              </a:rPr>
              <a:t>Algorithms:</a:t>
            </a:r>
          </a:p>
          <a:p>
            <a:pPr marL="12700" marR="5080"/>
            <a:r>
              <a:rPr lang="en-US" sz="1400" kern="0" spc="-80" dirty="0">
                <a:solidFill>
                  <a:schemeClr val="accent6"/>
                </a:solidFill>
              </a:rPr>
              <a:t>Planar graph construction</a:t>
            </a:r>
          </a:p>
          <a:p>
            <a:pPr marL="12700" marR="5080"/>
            <a:r>
              <a:rPr lang="en-US" sz="1400" kern="0" spc="-80" dirty="0">
                <a:solidFill>
                  <a:schemeClr val="accent6"/>
                </a:solidFill>
              </a:rPr>
              <a:t>Winged-edge / DCEL structures</a:t>
            </a:r>
          </a:p>
          <a:p>
            <a:pPr marL="12700" marR="5080"/>
            <a:r>
              <a:rPr lang="en-US" sz="1400" kern="0" spc="-80" dirty="0">
                <a:solidFill>
                  <a:schemeClr val="accent6"/>
                </a:solidFill>
              </a:rPr>
              <a:t>Topology clean-up (snap, trim, merge)</a:t>
            </a:r>
          </a:p>
          <a:p>
            <a:pPr marL="12700" marR="5080"/>
            <a:endParaRPr lang="en-US" sz="1400" kern="0" spc="-80" dirty="0">
              <a:solidFill>
                <a:schemeClr val="accent6"/>
              </a:solidFill>
            </a:endParaRPr>
          </a:p>
          <a:p>
            <a:pPr marL="12700" marR="5080"/>
            <a:r>
              <a:rPr lang="en-US" sz="1400" kern="0" spc="-80" dirty="0">
                <a:solidFill>
                  <a:schemeClr val="accent2"/>
                </a:solidFill>
              </a:rPr>
              <a:t>C) Layer Overlay Algorithms</a:t>
            </a:r>
          </a:p>
          <a:p>
            <a:pPr marL="12700" marR="5080"/>
            <a:r>
              <a:rPr lang="en-US" sz="1400" kern="0" spc="-80" dirty="0">
                <a:solidFill>
                  <a:schemeClr val="accent6"/>
                </a:solidFill>
              </a:rPr>
              <a:t>Overlay is how layers interact to derive new meaning.</a:t>
            </a:r>
          </a:p>
          <a:p>
            <a:pPr marL="12700" marR="5080"/>
            <a:r>
              <a:rPr lang="en-US" sz="1400" kern="0" spc="-80" dirty="0">
                <a:solidFill>
                  <a:schemeClr val="accent2"/>
                </a:solidFill>
              </a:rPr>
              <a:t>Operation	      Meaning	                    Example</a:t>
            </a:r>
          </a:p>
          <a:p>
            <a:pPr marL="12700" marR="5080"/>
            <a:r>
              <a:rPr lang="en-US" sz="1400" kern="0" spc="-80" dirty="0">
                <a:solidFill>
                  <a:schemeClr val="accent6"/>
                </a:solidFill>
              </a:rPr>
              <a:t>Intersect	      What overlaps	                    Flood zone ∩ residential area</a:t>
            </a:r>
          </a:p>
          <a:p>
            <a:pPr marL="12700" marR="5080"/>
            <a:r>
              <a:rPr lang="en-US" sz="1400" kern="0" spc="-80" dirty="0">
                <a:solidFill>
                  <a:schemeClr val="accent6"/>
                </a:solidFill>
              </a:rPr>
              <a:t>Union	      Combine geometries	 Merge adjacent forest parcels</a:t>
            </a:r>
          </a:p>
          <a:p>
            <a:pPr marL="12700" marR="5080"/>
            <a:r>
              <a:rPr lang="en-US" sz="1400" kern="0" spc="-80" dirty="0">
                <a:solidFill>
                  <a:schemeClr val="accent6"/>
                </a:solidFill>
              </a:rPr>
              <a:t>Difference	      Remove overlaps	                    Land except protected regions</a:t>
            </a:r>
          </a:p>
          <a:p>
            <a:pPr marL="12700" marR="5080"/>
            <a:r>
              <a:rPr lang="en-US" sz="1400" kern="0" spc="-80" dirty="0">
                <a:solidFill>
                  <a:schemeClr val="accent2"/>
                </a:solidFill>
              </a:rPr>
              <a:t>Algorithms used:</a:t>
            </a:r>
          </a:p>
          <a:p>
            <a:pPr marL="12700" marR="5080"/>
            <a:r>
              <a:rPr lang="en-US" sz="1400" kern="0" spc="-80" dirty="0">
                <a:solidFill>
                  <a:schemeClr val="accent6"/>
                </a:solidFill>
              </a:rPr>
              <a:t>Weiler–Atherton polygon clipping</a:t>
            </a:r>
          </a:p>
          <a:p>
            <a:pPr marL="12700" marR="5080"/>
            <a:r>
              <a:rPr lang="en-US" sz="1400" kern="0" spc="-80" dirty="0">
                <a:solidFill>
                  <a:schemeClr val="accent6"/>
                </a:solidFill>
              </a:rPr>
              <a:t>Sutherland–Hodgman polygon clipping</a:t>
            </a:r>
          </a:p>
          <a:p>
            <a:pPr marL="12700" marR="5080"/>
            <a:r>
              <a:rPr lang="en-US" sz="1400" kern="0" spc="-80" dirty="0">
                <a:solidFill>
                  <a:schemeClr val="accent6"/>
                </a:solidFill>
              </a:rPr>
              <a:t>Bentley–Ottmann for segment intersections</a:t>
            </a:r>
          </a:p>
        </p:txBody>
      </p:sp>
    </p:spTree>
    <p:extLst>
      <p:ext uri="{BB962C8B-B14F-4D97-AF65-F5344CB8AC3E}">
        <p14:creationId xmlns:p14="http://schemas.microsoft.com/office/powerpoint/2010/main" val="2914307549"/>
      </p:ext>
    </p:extLst>
  </p:cSld>
  <p:clrMapOvr>
    <a:masterClrMapping/>
  </p:clrMapOvr>
</p:sld>
</file>

<file path=ppt/slides/slide5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581C3-B785-B4BB-4BB2-1C1FDE8A2E0E}"/>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7CBA85D-BB73-A94A-BC88-6E090F495D4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4EBB05FB-CFC0-8BB8-B397-E6A7C2F961A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7EF04C5-B512-923E-4E6C-9676D6A1B050}"/>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3690661-D01C-20F7-D732-A75FF88E5222}"/>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DB6736-63A5-CF2E-BCE9-47C1FEF90C02}"/>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15A928F-8FC0-3047-4B5A-9A81AA257C69}"/>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C5438E23-7AD2-D924-0A16-AA0972C189C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D9843AD4-535D-A234-3FA3-2A3E3562AB7F}"/>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967F80F5-6C7A-912D-5F88-DF1BBC177ADA}"/>
              </a:ext>
            </a:extLst>
          </p:cNvPr>
          <p:cNvSpPr txBox="1">
            <a:spLocks/>
          </p:cNvSpPr>
          <p:nvPr/>
        </p:nvSpPr>
        <p:spPr>
          <a:xfrm>
            <a:off x="228600" y="762000"/>
            <a:ext cx="8624937" cy="506292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Cartography</a:t>
            </a:r>
          </a:p>
          <a:p>
            <a:pPr marL="12700" marR="5080"/>
            <a:r>
              <a:rPr lang="en-US" sz="1600" kern="0" spc="-80" dirty="0">
                <a:solidFill>
                  <a:schemeClr val="accent2"/>
                </a:solidFill>
              </a:rPr>
              <a:t>Layering Techniques</a:t>
            </a:r>
          </a:p>
          <a:p>
            <a:pPr marL="12700" marR="5080"/>
            <a:r>
              <a:rPr lang="en-US" sz="1400" kern="0" spc="-80" dirty="0">
                <a:solidFill>
                  <a:schemeClr val="accent2"/>
                </a:solidFill>
              </a:rPr>
              <a:t>D) Raster Layer Composition</a:t>
            </a:r>
          </a:p>
          <a:p>
            <a:pPr marL="12700" marR="5080"/>
            <a:r>
              <a:rPr lang="en-US" sz="1400" kern="0" spc="-80" dirty="0">
                <a:solidFill>
                  <a:schemeClr val="accent6"/>
                </a:solidFill>
              </a:rPr>
              <a:t>Pixel-by-pixel blending or reclassification.</a:t>
            </a:r>
          </a:p>
          <a:p>
            <a:pPr marL="12700" marR="5080"/>
            <a:r>
              <a:rPr lang="en-US" sz="1400" kern="0" spc="-80" dirty="0">
                <a:solidFill>
                  <a:schemeClr val="accent2"/>
                </a:solidFill>
              </a:rPr>
              <a:t>Examples:</a:t>
            </a:r>
          </a:p>
          <a:p>
            <a:pPr marL="12700" marR="5080"/>
            <a:r>
              <a:rPr lang="en-US" sz="1400" kern="0" spc="-80" dirty="0">
                <a:solidFill>
                  <a:schemeClr val="accent6"/>
                </a:solidFill>
              </a:rPr>
              <a:t>NDVI vegetation index from near-IR and visible bands:</a:t>
            </a:r>
          </a:p>
          <a:p>
            <a:pPr marL="12700" marR="5080"/>
            <a:r>
              <a:rPr lang="en-US" sz="1400" kern="0" spc="-80" dirty="0">
                <a:solidFill>
                  <a:schemeClr val="accent6"/>
                </a:solidFill>
              </a:rPr>
              <a:t>NDVI = (NIR - Red) / (NIR + Red)</a:t>
            </a:r>
          </a:p>
          <a:p>
            <a:pPr marL="12700" marR="5080"/>
            <a:r>
              <a:rPr lang="en-US" sz="1400" kern="0" spc="-80" dirty="0">
                <a:solidFill>
                  <a:schemeClr val="accent6"/>
                </a:solidFill>
              </a:rPr>
              <a:t>Weighted overlays for suitability analysis:</a:t>
            </a:r>
          </a:p>
          <a:p>
            <a:pPr marL="12700" marR="5080"/>
            <a:r>
              <a:rPr lang="en-US" sz="1400" kern="0" spc="-80" dirty="0">
                <a:solidFill>
                  <a:schemeClr val="accent6"/>
                </a:solidFill>
              </a:rPr>
              <a:t>Suitability = w1*Slope + w2*</a:t>
            </a:r>
            <a:r>
              <a:rPr lang="en-US" sz="1400" kern="0" spc="-80" dirty="0" err="1">
                <a:solidFill>
                  <a:schemeClr val="accent6"/>
                </a:solidFill>
              </a:rPr>
              <a:t>WaterDistance</a:t>
            </a:r>
            <a:r>
              <a:rPr lang="en-US" sz="1400" kern="0" spc="-80" dirty="0">
                <a:solidFill>
                  <a:schemeClr val="accent6"/>
                </a:solidFill>
              </a:rPr>
              <a:t> + w3*</a:t>
            </a:r>
            <a:r>
              <a:rPr lang="en-US" sz="1400" kern="0" spc="-80" dirty="0" err="1">
                <a:solidFill>
                  <a:schemeClr val="accent6"/>
                </a:solidFill>
              </a:rPr>
              <a:t>SoilQuality</a:t>
            </a:r>
            <a:endParaRPr lang="en-US" sz="1400" kern="0" spc="-80" dirty="0">
              <a:solidFill>
                <a:schemeClr val="accent6"/>
              </a:solidFill>
            </a:endParaRPr>
          </a:p>
          <a:p>
            <a:pPr marL="12700" marR="5080"/>
            <a:r>
              <a:rPr lang="en-US" sz="1400" kern="0" spc="-80" dirty="0">
                <a:solidFill>
                  <a:schemeClr val="accent2"/>
                </a:solidFill>
              </a:rPr>
              <a:t>E) Label Placement Algorithms</a:t>
            </a:r>
          </a:p>
          <a:p>
            <a:pPr marL="12700" marR="5080"/>
            <a:r>
              <a:rPr lang="en-US" sz="1400" kern="0" spc="-80" dirty="0">
                <a:solidFill>
                  <a:schemeClr val="accent6"/>
                </a:solidFill>
              </a:rPr>
              <a:t>Where to put text so the map doesn’t look like a crowded bazaar.</a:t>
            </a:r>
          </a:p>
          <a:p>
            <a:pPr marL="12700" marR="5080"/>
            <a:r>
              <a:rPr lang="en-US" sz="1400" kern="0" spc="-80" dirty="0">
                <a:solidFill>
                  <a:schemeClr val="accent2"/>
                </a:solidFill>
              </a:rPr>
              <a:t>Algorithms:</a:t>
            </a:r>
          </a:p>
          <a:p>
            <a:pPr marL="12700" marR="5080"/>
            <a:r>
              <a:rPr lang="en-US" sz="1400" kern="0" spc="-80" dirty="0">
                <a:solidFill>
                  <a:schemeClr val="accent6"/>
                </a:solidFill>
              </a:rPr>
              <a:t>Simulated Annealing (optimize label positions)</a:t>
            </a:r>
          </a:p>
          <a:p>
            <a:pPr marL="12700" marR="5080"/>
            <a:r>
              <a:rPr lang="en-US" sz="1400" kern="0" spc="-80" dirty="0">
                <a:solidFill>
                  <a:schemeClr val="accent6"/>
                </a:solidFill>
              </a:rPr>
              <a:t>Greedy conflict resolution (avoid overlaps)</a:t>
            </a:r>
          </a:p>
          <a:p>
            <a:pPr marL="12700" marR="5080"/>
            <a:r>
              <a:rPr lang="en-US" sz="1400" kern="0" spc="-80" dirty="0">
                <a:solidFill>
                  <a:schemeClr val="accent6"/>
                </a:solidFill>
              </a:rPr>
              <a:t>R-Tree spatial indexing for quick collision detection</a:t>
            </a:r>
          </a:p>
          <a:p>
            <a:pPr marL="12700" marR="5080"/>
            <a:r>
              <a:rPr lang="en-US" sz="1400" kern="0" spc="-80" dirty="0">
                <a:solidFill>
                  <a:schemeClr val="accent6"/>
                </a:solidFill>
              </a:rPr>
              <a:t>Cartographers whisper that good labels feel effortless; bad labels shout chaos.</a:t>
            </a:r>
          </a:p>
          <a:p>
            <a:pPr marL="12700" marR="5080"/>
            <a:r>
              <a:rPr lang="en-US" sz="1400" kern="0" spc="-80" dirty="0">
                <a:solidFill>
                  <a:schemeClr val="accent2"/>
                </a:solidFill>
              </a:rPr>
              <a:t>F) Level of Detail (Generalization)</a:t>
            </a:r>
          </a:p>
          <a:p>
            <a:pPr marL="12700" marR="5080"/>
            <a:r>
              <a:rPr lang="en-US" sz="1400" kern="0" spc="-80" dirty="0">
                <a:solidFill>
                  <a:schemeClr val="accent6"/>
                </a:solidFill>
              </a:rPr>
              <a:t>When zoomed out, details overwhelm. So simplify.</a:t>
            </a:r>
          </a:p>
          <a:p>
            <a:pPr marL="12700" marR="5080"/>
            <a:r>
              <a:rPr lang="en-US" sz="1400" kern="0" spc="-80" dirty="0">
                <a:solidFill>
                  <a:schemeClr val="accent2"/>
                </a:solidFill>
              </a:rPr>
              <a:t>Algorithms:</a:t>
            </a:r>
          </a:p>
          <a:p>
            <a:pPr marL="12700" marR="5080"/>
            <a:r>
              <a:rPr lang="en-US" sz="1400" kern="0" spc="-80" dirty="0">
                <a:solidFill>
                  <a:schemeClr val="accent2"/>
                </a:solidFill>
              </a:rPr>
              <a:t>Task	                   Algorithm</a:t>
            </a:r>
          </a:p>
          <a:p>
            <a:pPr marL="12700" marR="5080"/>
            <a:r>
              <a:rPr lang="en-US" sz="1400" kern="0" spc="-80" dirty="0">
                <a:solidFill>
                  <a:schemeClr val="accent6"/>
                </a:solidFill>
              </a:rPr>
              <a:t>Simplify lines	Douglas–</a:t>
            </a:r>
            <a:r>
              <a:rPr lang="en-US" sz="1400" kern="0" spc="-80" dirty="0" err="1">
                <a:solidFill>
                  <a:schemeClr val="accent6"/>
                </a:solidFill>
              </a:rPr>
              <a:t>Peucker</a:t>
            </a:r>
            <a:r>
              <a:rPr lang="en-US" sz="1400" kern="0" spc="-80" dirty="0">
                <a:solidFill>
                  <a:schemeClr val="accent6"/>
                </a:solidFill>
              </a:rPr>
              <a:t>, </a:t>
            </a:r>
            <a:r>
              <a:rPr lang="en-US" sz="1400" kern="0" spc="-80" dirty="0" err="1">
                <a:solidFill>
                  <a:schemeClr val="accent6"/>
                </a:solidFill>
              </a:rPr>
              <a:t>Visvalingam</a:t>
            </a:r>
            <a:r>
              <a:rPr lang="en-US" sz="1400" kern="0" spc="-80" dirty="0">
                <a:solidFill>
                  <a:schemeClr val="accent6"/>
                </a:solidFill>
              </a:rPr>
              <a:t>-Whyatt</a:t>
            </a:r>
          </a:p>
          <a:p>
            <a:pPr marL="12700" marR="5080"/>
            <a:r>
              <a:rPr lang="en-US" sz="1400" kern="0" spc="-80" dirty="0">
                <a:solidFill>
                  <a:schemeClr val="accent6"/>
                </a:solidFill>
              </a:rPr>
              <a:t>Merge polygons	Region growing + topological dissolves</a:t>
            </a:r>
          </a:p>
          <a:p>
            <a:pPr marL="12700" marR="5080"/>
            <a:r>
              <a:rPr lang="en-US" sz="1400" kern="0" spc="-80" dirty="0">
                <a:solidFill>
                  <a:schemeClr val="accent6"/>
                </a:solidFill>
              </a:rPr>
              <a:t>Reduce POI clutter	Grid-based clustering (k-means, DBSCAN for spatial density)</a:t>
            </a:r>
          </a:p>
        </p:txBody>
      </p:sp>
    </p:spTree>
    <p:extLst>
      <p:ext uri="{BB962C8B-B14F-4D97-AF65-F5344CB8AC3E}">
        <p14:creationId xmlns:p14="http://schemas.microsoft.com/office/powerpoint/2010/main" val="1578350880"/>
      </p:ext>
    </p:extLst>
  </p:cSld>
  <p:clrMapOvr>
    <a:masterClrMapping/>
  </p:clrMapOvr>
</p:sld>
</file>

<file path=ppt/slides/slide5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65A98-6AA5-4B02-A212-CB0B9C64281A}"/>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27E388C9-AE40-9672-2162-E0AF63FB1A8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EF8F70CC-23D4-0058-49C6-4D353B296752}"/>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0FCEB46-E939-467B-63B4-113DAF159615}"/>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F8510FB-BEB3-AC63-BE48-0ABF8AC7447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D184552-6AA6-DA06-F849-5BB7DC9F7C6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5ED94BD-6E98-60F1-97DE-A57EC4562900}"/>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BBB691D2-CF42-DFF5-1F8A-34E24D2EB686}"/>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97D025CE-D652-8D81-E4E4-388300EB2138}"/>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747B1951-BC7C-BCA2-ED3C-606F121E4F5E}"/>
              </a:ext>
            </a:extLst>
          </p:cNvPr>
          <p:cNvSpPr txBox="1">
            <a:spLocks/>
          </p:cNvSpPr>
          <p:nvPr/>
        </p:nvSpPr>
        <p:spPr>
          <a:xfrm>
            <a:off x="228600" y="762000"/>
            <a:ext cx="8624937" cy="441659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Cartography</a:t>
            </a:r>
          </a:p>
          <a:p>
            <a:pPr marL="12700" marR="5080"/>
            <a:r>
              <a:rPr lang="en-US" sz="1600" kern="0" spc="-80" dirty="0">
                <a:solidFill>
                  <a:schemeClr val="accent2"/>
                </a:solidFill>
              </a:rPr>
              <a:t>Layering Techniques</a:t>
            </a:r>
          </a:p>
          <a:p>
            <a:pPr marL="12700" marR="5080"/>
            <a:r>
              <a:rPr lang="en-US" sz="1400" kern="0" spc="-80" dirty="0">
                <a:solidFill>
                  <a:schemeClr val="accent2"/>
                </a:solidFill>
              </a:rPr>
              <a:t>4) Raster Layer Composition</a:t>
            </a:r>
          </a:p>
          <a:p>
            <a:pPr marL="12700" marR="5080"/>
            <a:r>
              <a:rPr lang="en-US" sz="1400" kern="0" spc="-80" dirty="0">
                <a:solidFill>
                  <a:schemeClr val="accent6"/>
                </a:solidFill>
              </a:rPr>
              <a:t>Pixel-by-pixel blending or reclassification.</a:t>
            </a:r>
          </a:p>
          <a:p>
            <a:pPr marL="12700" marR="5080"/>
            <a:r>
              <a:rPr lang="en-US" sz="1400" kern="0" spc="-80" dirty="0">
                <a:solidFill>
                  <a:schemeClr val="accent2"/>
                </a:solidFill>
              </a:rPr>
              <a:t>Examples:</a:t>
            </a:r>
          </a:p>
          <a:p>
            <a:pPr marL="12700" marR="5080"/>
            <a:r>
              <a:rPr lang="en-US" sz="1400" kern="0" spc="-80" dirty="0">
                <a:solidFill>
                  <a:schemeClr val="accent6"/>
                </a:solidFill>
              </a:rPr>
              <a:t>NDVI vegetation index from near-IR and visible bands:</a:t>
            </a:r>
          </a:p>
          <a:p>
            <a:pPr marL="12700" marR="5080"/>
            <a:r>
              <a:rPr lang="en-US" sz="1400" kern="0" spc="-80" dirty="0">
                <a:solidFill>
                  <a:schemeClr val="accent6"/>
                </a:solidFill>
              </a:rPr>
              <a:t>NDVI = (NIR - Red) / (NIR + Red)</a:t>
            </a:r>
          </a:p>
          <a:p>
            <a:pPr marL="12700" marR="5080"/>
            <a:r>
              <a:rPr lang="en-US" sz="1400" kern="0" spc="-80" dirty="0">
                <a:solidFill>
                  <a:schemeClr val="accent6"/>
                </a:solidFill>
              </a:rPr>
              <a:t>Weighted overlays for suitability analysis:</a:t>
            </a:r>
          </a:p>
          <a:p>
            <a:pPr marL="12700" marR="5080"/>
            <a:r>
              <a:rPr lang="en-US" sz="1400" kern="0" spc="-80" dirty="0">
                <a:solidFill>
                  <a:schemeClr val="accent6"/>
                </a:solidFill>
              </a:rPr>
              <a:t>Suitability = w1*Slope + w2*</a:t>
            </a:r>
            <a:r>
              <a:rPr lang="en-US" sz="1400" kern="0" spc="-80" dirty="0" err="1">
                <a:solidFill>
                  <a:schemeClr val="accent6"/>
                </a:solidFill>
              </a:rPr>
              <a:t>WaterDistance</a:t>
            </a:r>
            <a:r>
              <a:rPr lang="en-US" sz="1400" kern="0" spc="-80" dirty="0">
                <a:solidFill>
                  <a:schemeClr val="accent6"/>
                </a:solidFill>
              </a:rPr>
              <a:t> + w3*</a:t>
            </a:r>
            <a:r>
              <a:rPr lang="en-US" sz="1400" kern="0" spc="-80" dirty="0" err="1">
                <a:solidFill>
                  <a:schemeClr val="accent6"/>
                </a:solidFill>
              </a:rPr>
              <a:t>SoilQuality</a:t>
            </a:r>
            <a:endParaRPr lang="en-US" sz="1400" kern="0" spc="-80" dirty="0">
              <a:solidFill>
                <a:schemeClr val="accent6"/>
              </a:solidFill>
            </a:endParaRPr>
          </a:p>
          <a:p>
            <a:pPr marL="12700" marR="5080"/>
            <a:endParaRPr lang="en-US" sz="1400" kern="0" spc="-80" dirty="0">
              <a:solidFill>
                <a:schemeClr val="accent6"/>
              </a:solidFill>
            </a:endParaRPr>
          </a:p>
          <a:p>
            <a:pPr marL="12700" marR="5080"/>
            <a:r>
              <a:rPr lang="en-US" sz="1400" kern="0" spc="-80" dirty="0">
                <a:solidFill>
                  <a:schemeClr val="accent2"/>
                </a:solidFill>
              </a:rPr>
              <a:t>5) Label Placement Algorithms</a:t>
            </a:r>
          </a:p>
          <a:p>
            <a:pPr marL="12700" marR="5080"/>
            <a:r>
              <a:rPr lang="en-US" sz="1400" kern="0" spc="-80" dirty="0">
                <a:solidFill>
                  <a:schemeClr val="accent6"/>
                </a:solidFill>
              </a:rPr>
              <a:t>Where to put text so the map doesn’t look like a crowded bazaar.</a:t>
            </a:r>
          </a:p>
          <a:p>
            <a:pPr marL="12700" marR="5080"/>
            <a:r>
              <a:rPr lang="en-US" sz="1400" kern="0" spc="-80" dirty="0">
                <a:solidFill>
                  <a:schemeClr val="accent2"/>
                </a:solidFill>
              </a:rPr>
              <a:t>Algorithms:</a:t>
            </a:r>
          </a:p>
          <a:p>
            <a:pPr marL="12700" marR="5080"/>
            <a:r>
              <a:rPr lang="en-US" sz="1400" kern="0" spc="-80" dirty="0">
                <a:solidFill>
                  <a:schemeClr val="accent6"/>
                </a:solidFill>
              </a:rPr>
              <a:t>Simulated Annealing (optimize label positions)</a:t>
            </a:r>
          </a:p>
          <a:p>
            <a:pPr marL="12700" marR="5080"/>
            <a:r>
              <a:rPr lang="en-US" sz="1400" kern="0" spc="-80" dirty="0">
                <a:solidFill>
                  <a:schemeClr val="accent6"/>
                </a:solidFill>
              </a:rPr>
              <a:t>Greedy conflict resolution (avoid overlaps)</a:t>
            </a:r>
          </a:p>
          <a:p>
            <a:pPr marL="12700" marR="5080"/>
            <a:r>
              <a:rPr lang="en-US" sz="1400" kern="0" spc="-80" dirty="0">
                <a:solidFill>
                  <a:schemeClr val="accent6"/>
                </a:solidFill>
              </a:rPr>
              <a:t>R-Tree spatial indexing for quick collision detection</a:t>
            </a:r>
          </a:p>
          <a:p>
            <a:pPr marL="12700" marR="5080"/>
            <a:r>
              <a:rPr lang="en-US" sz="1400" kern="0" spc="-80" dirty="0">
                <a:solidFill>
                  <a:schemeClr val="accent6"/>
                </a:solidFill>
              </a:rPr>
              <a:t>Cartographers whisper that good labels feel effortless; bad labels shout chaos.</a:t>
            </a:r>
          </a:p>
          <a:p>
            <a:pPr marL="12700" marR="5080"/>
            <a:endParaRPr lang="en-US" sz="1400" kern="0" spc="-80" dirty="0">
              <a:solidFill>
                <a:schemeClr val="accent6"/>
              </a:solidFill>
            </a:endParaRPr>
          </a:p>
          <a:p>
            <a:pPr marL="12700" marR="5080"/>
            <a:r>
              <a:rPr lang="en-US" sz="1400" kern="0" spc="-80" dirty="0">
                <a:solidFill>
                  <a:schemeClr val="accent2"/>
                </a:solidFill>
              </a:rPr>
              <a:t>6) Level of Detail (Generalization)</a:t>
            </a:r>
          </a:p>
          <a:p>
            <a:pPr marL="12700" marR="5080"/>
            <a:r>
              <a:rPr lang="en-US" sz="1400" kern="0" spc="-80" dirty="0">
                <a:solidFill>
                  <a:schemeClr val="accent6"/>
                </a:solidFill>
              </a:rPr>
              <a:t>When zoomed out, details overwhelm. So simplify.</a:t>
            </a:r>
          </a:p>
        </p:txBody>
      </p:sp>
    </p:spTree>
    <p:extLst>
      <p:ext uri="{BB962C8B-B14F-4D97-AF65-F5344CB8AC3E}">
        <p14:creationId xmlns:p14="http://schemas.microsoft.com/office/powerpoint/2010/main" val="542643682"/>
      </p:ext>
    </p:extLst>
  </p:cSld>
  <p:clrMapOvr>
    <a:masterClrMapping/>
  </p:clrMapOvr>
</p:sld>
</file>

<file path=ppt/slides/slide5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9F1EB-61BA-1F54-CA74-CA41E398A64D}"/>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71803F1-E6B5-31A5-1736-01B4CE3C4DA4}"/>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22C7D9E-4CCF-5FB7-F2D8-CD3F4E15F0B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59D25E9-28B6-354D-064E-28DEF83D379A}"/>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380F96B-F946-B847-BA6D-6FFE509B9F1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5361212A-FBF8-6474-B0CF-F849BD15BB89}"/>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28A1D49-60D3-9885-899B-1516A7B2F721}"/>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E9083BD1-5FC5-50BF-41ED-E5561D72E58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60CC4828-DFFD-B5AC-4B1E-8FF3B8FA7AC9}"/>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8FF5E9BA-C1BA-66E6-A29B-51B7F4410695}"/>
              </a:ext>
            </a:extLst>
          </p:cNvPr>
          <p:cNvSpPr txBox="1">
            <a:spLocks/>
          </p:cNvSpPr>
          <p:nvPr/>
        </p:nvSpPr>
        <p:spPr>
          <a:xfrm>
            <a:off x="228600" y="762000"/>
            <a:ext cx="8624937" cy="432426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Cartography</a:t>
            </a:r>
          </a:p>
          <a:p>
            <a:pPr marL="12700" marR="5080"/>
            <a:r>
              <a:rPr lang="en-US" sz="1600" kern="0" spc="-80" dirty="0">
                <a:solidFill>
                  <a:schemeClr val="accent2"/>
                </a:solidFill>
              </a:rPr>
              <a:t>Layering Techniques</a:t>
            </a:r>
          </a:p>
          <a:p>
            <a:pPr marL="12700" marR="5080"/>
            <a:r>
              <a:rPr lang="en-US" sz="1600" kern="0" spc="-80" dirty="0">
                <a:solidFill>
                  <a:schemeClr val="accent2"/>
                </a:solidFill>
              </a:rPr>
              <a:t>Algorithms:</a:t>
            </a:r>
          </a:p>
          <a:p>
            <a:pPr marL="12700" marR="5080"/>
            <a:r>
              <a:rPr lang="en-US" sz="1600" kern="0" spc="-80" dirty="0">
                <a:solidFill>
                  <a:schemeClr val="accent2"/>
                </a:solidFill>
              </a:rPr>
              <a:t>Task	                 Algorithm</a:t>
            </a:r>
          </a:p>
          <a:p>
            <a:pPr marL="12700" marR="5080"/>
            <a:r>
              <a:rPr lang="en-US" sz="1600" kern="0" spc="-80" dirty="0">
                <a:solidFill>
                  <a:schemeClr val="accent6"/>
                </a:solidFill>
              </a:rPr>
              <a:t>Simplify lines	Douglas–</a:t>
            </a:r>
            <a:r>
              <a:rPr lang="en-US" sz="1600" kern="0" spc="-80" dirty="0" err="1">
                <a:solidFill>
                  <a:schemeClr val="accent6"/>
                </a:solidFill>
              </a:rPr>
              <a:t>Peucker</a:t>
            </a:r>
            <a:r>
              <a:rPr lang="en-US" sz="1600" kern="0" spc="-80" dirty="0">
                <a:solidFill>
                  <a:schemeClr val="accent6"/>
                </a:solidFill>
              </a:rPr>
              <a:t>, </a:t>
            </a:r>
            <a:r>
              <a:rPr lang="en-US" sz="1600" kern="0" spc="-80" dirty="0" err="1">
                <a:solidFill>
                  <a:schemeClr val="accent6"/>
                </a:solidFill>
              </a:rPr>
              <a:t>Visvalingam</a:t>
            </a:r>
            <a:r>
              <a:rPr lang="en-US" sz="1600" kern="0" spc="-80" dirty="0">
                <a:solidFill>
                  <a:schemeClr val="accent6"/>
                </a:solidFill>
              </a:rPr>
              <a:t>-Whyatt</a:t>
            </a:r>
          </a:p>
          <a:p>
            <a:pPr marL="12700" marR="5080"/>
            <a:r>
              <a:rPr lang="en-US" sz="1600" kern="0" spc="-80" dirty="0">
                <a:solidFill>
                  <a:schemeClr val="accent6"/>
                </a:solidFill>
              </a:rPr>
              <a:t>Merge polygons	Region growing + topological dissolves</a:t>
            </a:r>
          </a:p>
          <a:p>
            <a:pPr marL="12700" marR="5080"/>
            <a:r>
              <a:rPr lang="en-US" sz="1400" kern="0" spc="-80" dirty="0">
                <a:solidFill>
                  <a:schemeClr val="accent6"/>
                </a:solidFill>
              </a:rPr>
              <a:t>Reduce POI clutter	Grid-based clustering (k-means, DBSCAN for spatial density)</a:t>
            </a:r>
          </a:p>
          <a:p>
            <a:pPr marL="12700" marR="5080"/>
            <a:endParaRPr lang="en-US" sz="1400" kern="0" spc="-80" dirty="0">
              <a:solidFill>
                <a:schemeClr val="accent6"/>
              </a:solidFill>
            </a:endParaRPr>
          </a:p>
          <a:p>
            <a:pPr marL="12700" marR="5080"/>
            <a:r>
              <a:rPr lang="en-US" sz="1400" kern="0" spc="-80" dirty="0">
                <a:solidFill>
                  <a:schemeClr val="accent2"/>
                </a:solidFill>
              </a:rPr>
              <a:t>4) Example Layer Stacking Workflow (App Map View)</a:t>
            </a:r>
          </a:p>
          <a:p>
            <a:pPr marL="12700" marR="5080"/>
            <a:r>
              <a:rPr lang="en-US" sz="1400" kern="0" spc="-80" dirty="0">
                <a:solidFill>
                  <a:schemeClr val="accent6"/>
                </a:solidFill>
              </a:rPr>
              <a:t>Terrain (raster) </a:t>
            </a:r>
          </a:p>
          <a:p>
            <a:pPr marL="12700" marR="5080"/>
            <a:r>
              <a:rPr lang="en-US" sz="1400" kern="0" spc="-80" dirty="0">
                <a:solidFill>
                  <a:schemeClr val="accent6"/>
                </a:solidFill>
              </a:rPr>
              <a:t>    ↓ shaded relief</a:t>
            </a:r>
          </a:p>
          <a:p>
            <a:pPr marL="12700" marR="5080"/>
            <a:r>
              <a:rPr lang="en-US" sz="1400" kern="0" spc="-80" dirty="0">
                <a:solidFill>
                  <a:schemeClr val="accent6"/>
                </a:solidFill>
              </a:rPr>
              <a:t>Land Cover (raster)</a:t>
            </a:r>
          </a:p>
          <a:p>
            <a:pPr marL="12700" marR="5080"/>
            <a:r>
              <a:rPr lang="en-US" sz="1400" kern="0" spc="-80" dirty="0">
                <a:solidFill>
                  <a:schemeClr val="accent6"/>
                </a:solidFill>
              </a:rPr>
              <a:t>    ↓ opacity 50%</a:t>
            </a:r>
          </a:p>
          <a:p>
            <a:pPr marL="12700" marR="5080"/>
            <a:r>
              <a:rPr lang="en-US" sz="1400" kern="0" spc="-80" dirty="0">
                <a:solidFill>
                  <a:schemeClr val="accent6"/>
                </a:solidFill>
              </a:rPr>
              <a:t>Hydrology (lines, polygons)</a:t>
            </a:r>
          </a:p>
          <a:p>
            <a:pPr marL="12700" marR="5080"/>
            <a:r>
              <a:rPr lang="en-US" sz="1400" kern="0" spc="-80" dirty="0">
                <a:solidFill>
                  <a:schemeClr val="accent6"/>
                </a:solidFill>
              </a:rPr>
              <a:t>Road Network (lines)</a:t>
            </a:r>
          </a:p>
          <a:p>
            <a:pPr marL="12700" marR="5080"/>
            <a:r>
              <a:rPr lang="en-US" sz="1400" kern="0" spc="-80" dirty="0">
                <a:solidFill>
                  <a:schemeClr val="accent6"/>
                </a:solidFill>
              </a:rPr>
              <a:t>Administrative Boundaries (thin dashed lines)</a:t>
            </a:r>
          </a:p>
          <a:p>
            <a:pPr marL="12700" marR="5080"/>
            <a:r>
              <a:rPr lang="en-US" sz="1400" kern="0" spc="-80" dirty="0">
                <a:solidFill>
                  <a:schemeClr val="accent6"/>
                </a:solidFill>
              </a:rPr>
              <a:t>POIs (icons)</a:t>
            </a:r>
          </a:p>
          <a:p>
            <a:pPr marL="12700" marR="5080"/>
            <a:r>
              <a:rPr lang="en-US" sz="1400" kern="0" spc="-80" dirty="0">
                <a:solidFill>
                  <a:schemeClr val="accent6"/>
                </a:solidFill>
              </a:rPr>
              <a:t>Labels (text)</a:t>
            </a:r>
          </a:p>
          <a:p>
            <a:pPr marL="12700" marR="5080"/>
            <a:r>
              <a:rPr lang="en-US" sz="1400" kern="0" spc="-80" dirty="0">
                <a:solidFill>
                  <a:schemeClr val="accent2"/>
                </a:solidFill>
              </a:rPr>
              <a:t>Result: </a:t>
            </a:r>
            <a:r>
              <a:rPr lang="en-US" sz="1400" kern="0" spc="-80" dirty="0">
                <a:solidFill>
                  <a:schemeClr val="accent6"/>
                </a:solidFill>
              </a:rPr>
              <a:t>A map that feels legible, not overwhelmed.</a:t>
            </a:r>
          </a:p>
        </p:txBody>
      </p:sp>
    </p:spTree>
    <p:extLst>
      <p:ext uri="{BB962C8B-B14F-4D97-AF65-F5344CB8AC3E}">
        <p14:creationId xmlns:p14="http://schemas.microsoft.com/office/powerpoint/2010/main" val="3237256922"/>
      </p:ext>
    </p:extLst>
  </p:cSld>
  <p:clrMapOvr>
    <a:masterClrMapping/>
  </p:clrMapOvr>
</p:sld>
</file>

<file path=ppt/slides/slide5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72D8E-92CB-C35E-9B9B-2737B5013FF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97A0DBF8-0D63-F3FF-2023-E4C81BB8B250}"/>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65908E7-BBDF-7244-756E-84E6AFE4382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69781354-C0AE-28FA-DF92-6FE3E79FFEAA}"/>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54F5531D-A47A-DD53-3037-2AB3026E11A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EDDCEB33-6AC2-74BE-DA04-381F30BA33A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9A6549A-B42B-B5FA-02ED-748AFF5AD124}"/>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93154FF3-6CE5-2FE8-13B2-884EC0C9787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BC04505A-909D-3C30-9265-509757703A69}"/>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3330640B-E317-E512-8D3E-4616D1729BF9}"/>
              </a:ext>
            </a:extLst>
          </p:cNvPr>
          <p:cNvSpPr txBox="1">
            <a:spLocks/>
          </p:cNvSpPr>
          <p:nvPr/>
        </p:nvSpPr>
        <p:spPr>
          <a:xfrm>
            <a:off x="228600" y="762000"/>
            <a:ext cx="8624937" cy="52783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Cartography</a:t>
            </a:r>
          </a:p>
          <a:p>
            <a:pPr marL="12700" marR="5080"/>
            <a:r>
              <a:rPr lang="en-US" sz="1600" kern="0" spc="-80" dirty="0">
                <a:solidFill>
                  <a:schemeClr val="accent2"/>
                </a:solidFill>
              </a:rPr>
              <a:t>Continuous Flow in Maps</a:t>
            </a:r>
          </a:p>
          <a:p>
            <a:pPr marL="12700" marR="5080"/>
            <a:r>
              <a:rPr lang="en-US" sz="1400" kern="0" spc="-80" dirty="0">
                <a:solidFill>
                  <a:schemeClr val="accent6"/>
                </a:solidFill>
              </a:rPr>
              <a:t>Most Maps feels like a continuous flowing world because it never really shows you “the whole map” at once. It’s quietly streaming, stitching, caching, and swapping layers as you move. Picture it like a giant library where, instead of bringing all the books to your desk, a librarian keeps handing you just the pages you need right before you need them 📚➡️🗺️</a:t>
            </a:r>
          </a:p>
          <a:p>
            <a:pPr marL="12700" marR="5080"/>
            <a:endParaRPr lang="en-US" sz="1400" kern="0" spc="-80" dirty="0">
              <a:solidFill>
                <a:schemeClr val="accent6"/>
              </a:solidFill>
            </a:endParaRPr>
          </a:p>
          <a:p>
            <a:pPr marL="12700" marR="5080"/>
            <a:r>
              <a:rPr lang="en-US" sz="1400" kern="0" spc="-80" dirty="0">
                <a:solidFill>
                  <a:schemeClr val="accent2"/>
                </a:solidFill>
              </a:rPr>
              <a:t>1. The Map is Stored in “Tiles”</a:t>
            </a:r>
          </a:p>
          <a:p>
            <a:pPr marL="12700" marR="5080"/>
            <a:r>
              <a:rPr lang="en-US" sz="1400" kern="0" spc="-80" dirty="0">
                <a:solidFill>
                  <a:schemeClr val="accent6"/>
                </a:solidFill>
              </a:rPr>
              <a:t>The Earth is cut into small square images called tiles (usually 256×256 pixels).</a:t>
            </a:r>
          </a:p>
          <a:p>
            <a:pPr marL="12700" marR="5080"/>
            <a:r>
              <a:rPr lang="en-US" sz="1400" kern="0" spc="-80" dirty="0">
                <a:solidFill>
                  <a:schemeClr val="accent6"/>
                </a:solidFill>
              </a:rPr>
              <a:t>When you zoom, it fetches a different “layer” of tiles at higher or lower resolution.</a:t>
            </a:r>
          </a:p>
          <a:p>
            <a:pPr marL="12700" marR="5080"/>
            <a:r>
              <a:rPr lang="en-US" sz="1400" kern="0" spc="-80" dirty="0">
                <a:solidFill>
                  <a:schemeClr val="accent6"/>
                </a:solidFill>
              </a:rPr>
              <a:t>Zoom Level 3     → few tiles (coarse world)</a:t>
            </a:r>
          </a:p>
          <a:p>
            <a:pPr marL="12700" marR="5080"/>
            <a:r>
              <a:rPr lang="en-US" sz="1400" kern="0" spc="-80" dirty="0">
                <a:solidFill>
                  <a:schemeClr val="accent6"/>
                </a:solidFill>
              </a:rPr>
              <a:t>Zoom Level 18    → millions of tiles (street-level detail)</a:t>
            </a:r>
          </a:p>
          <a:p>
            <a:pPr marL="12700" marR="5080"/>
            <a:r>
              <a:rPr lang="en-US" sz="1400" kern="0" spc="-80" dirty="0">
                <a:solidFill>
                  <a:schemeClr val="accent6"/>
                </a:solidFill>
              </a:rPr>
              <a:t>Think: Lego bricks. Zoom out = big blocks; zoom in = tiny bricks.</a:t>
            </a:r>
          </a:p>
          <a:p>
            <a:pPr marL="12700" marR="5080"/>
            <a:endParaRPr lang="en-US" sz="1400" kern="0" spc="-80" dirty="0">
              <a:solidFill>
                <a:schemeClr val="accent6"/>
              </a:solidFill>
            </a:endParaRPr>
          </a:p>
          <a:p>
            <a:pPr marL="12700" marR="5080"/>
            <a:r>
              <a:rPr lang="en-US" sz="1400" kern="0" spc="-80" dirty="0">
                <a:solidFill>
                  <a:schemeClr val="accent2"/>
                </a:solidFill>
              </a:rPr>
              <a:t>2. Tiles are Loaded Just in Time</a:t>
            </a:r>
          </a:p>
          <a:p>
            <a:pPr marL="12700" marR="5080"/>
            <a:r>
              <a:rPr lang="en-US" sz="1400" kern="0" spc="-80" dirty="0">
                <a:solidFill>
                  <a:schemeClr val="accent6"/>
                </a:solidFill>
              </a:rPr>
              <a:t>As you pan the map, Google Maps:</a:t>
            </a:r>
          </a:p>
          <a:p>
            <a:pPr marL="12700" marR="5080"/>
            <a:r>
              <a:rPr lang="en-US" sz="1400" kern="0" spc="-80" dirty="0">
                <a:solidFill>
                  <a:schemeClr val="accent6"/>
                </a:solidFill>
              </a:rPr>
              <a:t>Predicts the direction you’re moving</a:t>
            </a:r>
          </a:p>
          <a:p>
            <a:pPr marL="12700" marR="5080"/>
            <a:r>
              <a:rPr lang="en-US" sz="1400" kern="0" spc="-80" dirty="0">
                <a:solidFill>
                  <a:schemeClr val="accent6"/>
                </a:solidFill>
              </a:rPr>
              <a:t>Downloads the next set of tiles before they come on screen</a:t>
            </a:r>
          </a:p>
          <a:p>
            <a:pPr marL="12700" marR="5080"/>
            <a:r>
              <a:rPr lang="en-US" sz="1400" kern="0" spc="-80" dirty="0">
                <a:solidFill>
                  <a:schemeClr val="accent6"/>
                </a:solidFill>
              </a:rPr>
              <a:t>Keeps recently viewed tiles cached in memory</a:t>
            </a:r>
          </a:p>
          <a:p>
            <a:pPr marL="12700" marR="5080"/>
            <a:r>
              <a:rPr lang="en-US" sz="1400" kern="0" spc="-80" dirty="0">
                <a:solidFill>
                  <a:schemeClr val="accent6"/>
                </a:solidFill>
              </a:rPr>
              <a:t>This makes the motion feel continuous instead of “chunky”.</a:t>
            </a:r>
          </a:p>
          <a:p>
            <a:pPr marL="12700" marR="5080"/>
            <a:r>
              <a:rPr lang="en-US" sz="1400" kern="0" spc="-80" dirty="0">
                <a:solidFill>
                  <a:schemeClr val="accent6"/>
                </a:solidFill>
              </a:rPr>
              <a:t>🧠 It’s like the map is reading ahead for you.</a:t>
            </a:r>
          </a:p>
          <a:p>
            <a:pPr marL="12700" marR="5080"/>
            <a:endParaRPr lang="en-US" sz="1400" kern="0" spc="-80" dirty="0">
              <a:solidFill>
                <a:schemeClr val="accent6"/>
              </a:solidFill>
            </a:endParaRPr>
          </a:p>
          <a:p>
            <a:pPr marL="12700" marR="5080"/>
            <a:r>
              <a:rPr lang="en-US" sz="1400" kern="0" spc="-80" dirty="0">
                <a:solidFill>
                  <a:schemeClr val="accent2"/>
                </a:solidFill>
              </a:rPr>
              <a:t>3. Vector Tiles (Not Just Images!)</a:t>
            </a:r>
          </a:p>
          <a:p>
            <a:pPr marL="12700" marR="5080"/>
            <a:r>
              <a:rPr lang="en-US" sz="1400" kern="0" spc="-80" dirty="0">
                <a:solidFill>
                  <a:schemeClr val="accent6"/>
                </a:solidFill>
              </a:rPr>
              <a:t>Older Google maps used bitmap images.</a:t>
            </a:r>
          </a:p>
        </p:txBody>
      </p:sp>
    </p:spTree>
    <p:extLst>
      <p:ext uri="{BB962C8B-B14F-4D97-AF65-F5344CB8AC3E}">
        <p14:creationId xmlns:p14="http://schemas.microsoft.com/office/powerpoint/2010/main" val="893019358"/>
      </p:ext>
    </p:extLst>
  </p:cSld>
  <p:clrMapOvr>
    <a:masterClrMapping/>
  </p:clrMapOvr>
</p:sld>
</file>

<file path=ppt/slides/slide5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A586D-242E-3083-3981-DDD3FF83E22C}"/>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6F9A448-B884-288D-5AC9-327E2C7949D3}"/>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9FA00854-B88D-836D-3DBD-5F0E79DA4889}"/>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87D626E-A743-2FEA-61F5-745634B79535}"/>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AD84FBC-6E68-F721-ED9B-2F61ECDB2940}"/>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9072159-E79A-76A6-EB27-D12D0A113868}"/>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702AE67A-733F-02D1-2F4D-44DD10F08B6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EBE8FC4-FB54-5971-202B-510A08F1C8B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7911954E-2FFE-2D3B-73A4-B627C3416C76}"/>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E2C9C9CA-426D-0AF0-C948-2627B63C98EE}"/>
              </a:ext>
            </a:extLst>
          </p:cNvPr>
          <p:cNvSpPr txBox="1">
            <a:spLocks/>
          </p:cNvSpPr>
          <p:nvPr/>
        </p:nvSpPr>
        <p:spPr>
          <a:xfrm>
            <a:off x="228600" y="762000"/>
            <a:ext cx="8624937" cy="527836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Cartography</a:t>
            </a:r>
          </a:p>
          <a:p>
            <a:pPr marL="12700" marR="5080"/>
            <a:r>
              <a:rPr lang="en-US" sz="1600" kern="0" spc="-80" dirty="0">
                <a:solidFill>
                  <a:schemeClr val="accent2"/>
                </a:solidFill>
              </a:rPr>
              <a:t>Continuous Flow in Maps</a:t>
            </a:r>
          </a:p>
          <a:p>
            <a:pPr marL="12700" marR="5080"/>
            <a:r>
              <a:rPr lang="en-US" sz="1400" kern="0" spc="-80" dirty="0">
                <a:solidFill>
                  <a:schemeClr val="accent2"/>
                </a:solidFill>
              </a:rPr>
              <a:t>Modern Maps uses vector tiles:</a:t>
            </a:r>
          </a:p>
          <a:p>
            <a:pPr marL="12700" marR="5080"/>
            <a:r>
              <a:rPr lang="en-US" sz="1400" kern="0" spc="-80" dirty="0">
                <a:solidFill>
                  <a:schemeClr val="accent6"/>
                </a:solidFill>
              </a:rPr>
              <a:t>Lines for roads</a:t>
            </a:r>
          </a:p>
          <a:p>
            <a:pPr marL="12700" marR="5080"/>
            <a:r>
              <a:rPr lang="en-US" sz="1400" kern="0" spc="-80" dirty="0">
                <a:solidFill>
                  <a:schemeClr val="accent6"/>
                </a:solidFill>
              </a:rPr>
              <a:t>Polygons for buildings</a:t>
            </a:r>
          </a:p>
          <a:p>
            <a:pPr marL="12700" marR="5080"/>
            <a:r>
              <a:rPr lang="en-US" sz="1400" kern="0" spc="-80" dirty="0">
                <a:solidFill>
                  <a:schemeClr val="accent6"/>
                </a:solidFill>
              </a:rPr>
              <a:t>Text as labels</a:t>
            </a:r>
          </a:p>
          <a:p>
            <a:pPr marL="12700" marR="5080"/>
            <a:r>
              <a:rPr lang="en-US" sz="1400" kern="0" spc="-80" dirty="0">
                <a:solidFill>
                  <a:schemeClr val="accent6"/>
                </a:solidFill>
              </a:rPr>
              <a:t>Icons for POIs</a:t>
            </a:r>
          </a:p>
          <a:p>
            <a:pPr marL="12700" marR="5080"/>
            <a:r>
              <a:rPr lang="en-US" sz="1400" kern="0" spc="-80" dirty="0">
                <a:solidFill>
                  <a:schemeClr val="accent6"/>
                </a:solidFill>
              </a:rPr>
              <a:t>Your device draws the map in real-time using GPU.</a:t>
            </a:r>
          </a:p>
          <a:p>
            <a:pPr marL="12700" marR="5080"/>
            <a:r>
              <a:rPr lang="en-US" sz="1400" kern="0" spc="-80" dirty="0">
                <a:solidFill>
                  <a:schemeClr val="accent2"/>
                </a:solidFill>
              </a:rPr>
              <a:t>This allows:</a:t>
            </a:r>
          </a:p>
          <a:p>
            <a:pPr marL="12700" marR="5080"/>
            <a:r>
              <a:rPr lang="en-US" sz="1400" kern="0" spc="-80" dirty="0">
                <a:solidFill>
                  <a:schemeClr val="accent2"/>
                </a:solidFill>
              </a:rPr>
              <a:t>Feature	                   Benefit</a:t>
            </a:r>
          </a:p>
          <a:p>
            <a:pPr marL="12700" marR="5080"/>
            <a:r>
              <a:rPr lang="en-US" sz="1400" kern="0" spc="-80" dirty="0">
                <a:solidFill>
                  <a:schemeClr val="accent6"/>
                </a:solidFill>
              </a:rPr>
              <a:t>Rotation	                    Map can tilt/3D smoothly</a:t>
            </a:r>
          </a:p>
          <a:p>
            <a:pPr marL="12700" marR="5080"/>
            <a:r>
              <a:rPr lang="en-US" sz="1400" kern="0" spc="-80" dirty="0">
                <a:solidFill>
                  <a:schemeClr val="accent6"/>
                </a:solidFill>
              </a:rPr>
              <a:t>Styles on the fly	Night modes / highlight routes</a:t>
            </a:r>
          </a:p>
          <a:p>
            <a:pPr marL="12700" marR="5080"/>
            <a:r>
              <a:rPr lang="en-US" sz="1400" kern="0" spc="-80" dirty="0">
                <a:solidFill>
                  <a:schemeClr val="accent6"/>
                </a:solidFill>
              </a:rPr>
              <a:t>Tiny file sizes	Fast loading even on mobile</a:t>
            </a:r>
          </a:p>
          <a:p>
            <a:pPr marL="12700" marR="5080"/>
            <a:r>
              <a:rPr lang="en-US" sz="1400" kern="0" spc="-80" dirty="0">
                <a:solidFill>
                  <a:schemeClr val="accent6"/>
                </a:solidFill>
              </a:rPr>
              <a:t>The map is basically a live illustration, not a photo.</a:t>
            </a:r>
          </a:p>
          <a:p>
            <a:pPr marL="12700" marR="5080"/>
            <a:endParaRPr lang="en-US" sz="1400" kern="0" spc="-80" dirty="0">
              <a:solidFill>
                <a:schemeClr val="accent6"/>
              </a:solidFill>
            </a:endParaRPr>
          </a:p>
          <a:p>
            <a:pPr marL="12700" marR="5080"/>
            <a:r>
              <a:rPr lang="en-US" sz="1400" kern="0" spc="-80" dirty="0">
                <a:solidFill>
                  <a:schemeClr val="accent2"/>
                </a:solidFill>
              </a:rPr>
              <a:t>4. Progressive Rendering</a:t>
            </a:r>
          </a:p>
          <a:p>
            <a:pPr marL="12700" marR="5080"/>
            <a:r>
              <a:rPr lang="en-US" sz="1400" kern="0" spc="-80" dirty="0">
                <a:solidFill>
                  <a:schemeClr val="accent6"/>
                </a:solidFill>
              </a:rPr>
              <a:t>While loading, the map first draws:</a:t>
            </a:r>
          </a:p>
          <a:p>
            <a:pPr marL="12700" marR="5080"/>
            <a:r>
              <a:rPr lang="en-US" sz="1400" kern="0" spc="-80" dirty="0">
                <a:solidFill>
                  <a:schemeClr val="accent6"/>
                </a:solidFill>
              </a:rPr>
              <a:t>Base geometry (roads, land shapes)</a:t>
            </a:r>
          </a:p>
          <a:p>
            <a:pPr marL="12700" marR="5080"/>
            <a:r>
              <a:rPr lang="en-US" sz="1400" kern="0" spc="-80" dirty="0">
                <a:solidFill>
                  <a:schemeClr val="accent6"/>
                </a:solidFill>
              </a:rPr>
              <a:t>Labels and icons</a:t>
            </a:r>
          </a:p>
          <a:p>
            <a:pPr marL="12700" marR="5080"/>
            <a:r>
              <a:rPr lang="en-US" sz="1400" kern="0" spc="-80" dirty="0">
                <a:solidFill>
                  <a:schemeClr val="accent6"/>
                </a:solidFill>
              </a:rPr>
              <a:t>Extra details (shade, building outlines, traffic)</a:t>
            </a:r>
          </a:p>
          <a:p>
            <a:pPr marL="12700" marR="5080"/>
            <a:r>
              <a:rPr lang="en-US" sz="1400" kern="0" spc="-80" dirty="0">
                <a:solidFill>
                  <a:schemeClr val="accent6"/>
                </a:solidFill>
              </a:rPr>
              <a:t>This builds the world around you in layers, like a painter starting with big brush strokes 🎨.</a:t>
            </a:r>
          </a:p>
          <a:p>
            <a:pPr marL="12700" marR="5080"/>
            <a:endParaRPr lang="en-US" sz="1400" kern="0" spc="-80" dirty="0">
              <a:solidFill>
                <a:schemeClr val="accent6"/>
              </a:solidFill>
            </a:endParaRPr>
          </a:p>
          <a:p>
            <a:pPr marL="12700" marR="5080"/>
            <a:r>
              <a:rPr lang="en-US" sz="1400" kern="0" spc="-80" dirty="0">
                <a:solidFill>
                  <a:schemeClr val="accent2"/>
                </a:solidFill>
              </a:rPr>
              <a:t>5. Continuous Flow via “Pan Animation”</a:t>
            </a:r>
          </a:p>
          <a:p>
            <a:pPr marL="12700" marR="5080"/>
            <a:r>
              <a:rPr lang="en-US" sz="1400" kern="0" spc="-80" dirty="0">
                <a:solidFill>
                  <a:schemeClr val="accent2"/>
                </a:solidFill>
              </a:rPr>
              <a:t>When you drag the map:</a:t>
            </a:r>
          </a:p>
        </p:txBody>
      </p:sp>
    </p:spTree>
    <p:extLst>
      <p:ext uri="{BB962C8B-B14F-4D97-AF65-F5344CB8AC3E}">
        <p14:creationId xmlns:p14="http://schemas.microsoft.com/office/powerpoint/2010/main" val="2774036060"/>
      </p:ext>
    </p:extLst>
  </p:cSld>
  <p:clrMapOvr>
    <a:masterClrMapping/>
  </p:clrMapOvr>
</p:sld>
</file>

<file path=ppt/slides/slide5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9E196-7628-2E64-498C-83FAB40642F4}"/>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AA8E2441-D482-6D00-4D98-6ADF18AFFE6D}"/>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8CD2D086-5C16-0EAB-EF47-B5D78078CEDD}"/>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73A01752-D6C4-3AD9-5711-9144AD1F941E}"/>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2402AA8-4D95-F73E-B28B-9E0069F0E977}"/>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28C50646-256C-F5FF-6596-C479822ACF94}"/>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8C6092A-A9C3-18CF-79EA-CDDB7196323A}"/>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C6790A9-21DF-171F-9E43-252E4E8D789A}"/>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FEB2596A-6DEE-19A3-401C-A6F7ED137AB0}"/>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96BE2393-4B70-0F4F-6FC3-E5FBEF921BE7}"/>
              </a:ext>
            </a:extLst>
          </p:cNvPr>
          <p:cNvSpPr txBox="1">
            <a:spLocks/>
          </p:cNvSpPr>
          <p:nvPr/>
        </p:nvSpPr>
        <p:spPr>
          <a:xfrm>
            <a:off x="228600" y="762000"/>
            <a:ext cx="8624937" cy="484748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Cartography</a:t>
            </a:r>
          </a:p>
          <a:p>
            <a:pPr marL="12700" marR="5080"/>
            <a:r>
              <a:rPr lang="en-US" sz="1600" kern="0" spc="-80" dirty="0">
                <a:solidFill>
                  <a:schemeClr val="accent2"/>
                </a:solidFill>
              </a:rPr>
              <a:t>Continuous Flow in Maps</a:t>
            </a:r>
          </a:p>
          <a:p>
            <a:pPr marL="12700" marR="5080"/>
            <a:r>
              <a:rPr lang="en-US" sz="1400" kern="0" spc="-80" dirty="0">
                <a:solidFill>
                  <a:schemeClr val="accent6"/>
                </a:solidFill>
              </a:rPr>
              <a:t>The screen moves immediately (no wait)</a:t>
            </a:r>
          </a:p>
          <a:p>
            <a:pPr marL="12700" marR="5080"/>
            <a:r>
              <a:rPr lang="en-US" sz="1400" kern="0" spc="-80" dirty="0">
                <a:solidFill>
                  <a:schemeClr val="accent6"/>
                </a:solidFill>
              </a:rPr>
              <a:t>New tiles fill in after, asynchronously</a:t>
            </a:r>
          </a:p>
          <a:p>
            <a:pPr marL="12700" marR="5080"/>
            <a:r>
              <a:rPr lang="en-US" sz="1400" kern="0" spc="-80" dirty="0">
                <a:solidFill>
                  <a:schemeClr val="accent6"/>
                </a:solidFill>
              </a:rPr>
              <a:t>Motion is eased (easing curves)</a:t>
            </a:r>
          </a:p>
          <a:p>
            <a:pPr marL="12700" marR="5080"/>
            <a:r>
              <a:rPr lang="en-US" sz="1400" kern="0" spc="-80" dirty="0">
                <a:solidFill>
                  <a:schemeClr val="accent6"/>
                </a:solidFill>
              </a:rPr>
              <a:t>This tricks the eye into believing the world is always there.</a:t>
            </a:r>
          </a:p>
          <a:p>
            <a:pPr marL="12700" marR="5080"/>
            <a:endParaRPr lang="en-US" sz="1400" kern="0" spc="-80" dirty="0">
              <a:solidFill>
                <a:schemeClr val="accent6"/>
              </a:solidFill>
            </a:endParaRPr>
          </a:p>
          <a:p>
            <a:pPr marL="12700" marR="5080"/>
            <a:r>
              <a:rPr lang="en-US" sz="1400" kern="0" spc="-80" dirty="0">
                <a:solidFill>
                  <a:schemeClr val="accent2"/>
                </a:solidFill>
              </a:rPr>
              <a:t>6. Smart Caching</a:t>
            </a:r>
          </a:p>
          <a:p>
            <a:pPr marL="12700" marR="5080"/>
            <a:r>
              <a:rPr lang="en-US" sz="1400" kern="0" spc="-80" dirty="0">
                <a:solidFill>
                  <a:schemeClr val="accent6"/>
                </a:solidFill>
              </a:rPr>
              <a:t>Google Maps keeps your:</a:t>
            </a:r>
          </a:p>
          <a:p>
            <a:pPr marL="12700" marR="5080"/>
            <a:r>
              <a:rPr lang="en-US" sz="1400" kern="0" spc="-80" dirty="0">
                <a:solidFill>
                  <a:schemeClr val="accent6"/>
                </a:solidFill>
              </a:rPr>
              <a:t>Last visited area</a:t>
            </a:r>
          </a:p>
          <a:p>
            <a:pPr marL="12700" marR="5080"/>
            <a:r>
              <a:rPr lang="en-US" sz="1400" kern="0" spc="-80" dirty="0">
                <a:solidFill>
                  <a:schemeClr val="accent6"/>
                </a:solidFill>
              </a:rPr>
              <a:t>Most traveled places</a:t>
            </a:r>
          </a:p>
          <a:p>
            <a:pPr marL="12700" marR="5080"/>
            <a:r>
              <a:rPr lang="en-US" sz="1400" kern="0" spc="-80" dirty="0">
                <a:solidFill>
                  <a:schemeClr val="accent6"/>
                </a:solidFill>
              </a:rPr>
              <a:t>Prefetched navigation route tiles</a:t>
            </a:r>
          </a:p>
          <a:p>
            <a:pPr marL="12700" marR="5080"/>
            <a:r>
              <a:rPr lang="en-US" sz="1400" kern="0" spc="-80" dirty="0">
                <a:solidFill>
                  <a:schemeClr val="accent6"/>
                </a:solidFill>
              </a:rPr>
              <a:t>stored in local cache.</a:t>
            </a:r>
          </a:p>
          <a:p>
            <a:pPr marL="12700" marR="5080"/>
            <a:r>
              <a:rPr lang="en-US" sz="1400" kern="0" spc="-80" dirty="0">
                <a:solidFill>
                  <a:schemeClr val="accent6"/>
                </a:solidFill>
              </a:rPr>
              <a:t>So the map feels fast even without perfect network.</a:t>
            </a:r>
          </a:p>
          <a:p>
            <a:pPr marL="12700" marR="5080"/>
            <a:endParaRPr lang="en-US" sz="1400" kern="0" spc="-80" dirty="0">
              <a:solidFill>
                <a:schemeClr val="accent6"/>
              </a:solidFill>
            </a:endParaRPr>
          </a:p>
          <a:p>
            <a:pPr marL="12700" marR="5080"/>
            <a:r>
              <a:rPr lang="en-US" sz="1400" kern="0" spc="-80" dirty="0">
                <a:solidFill>
                  <a:schemeClr val="accent2"/>
                </a:solidFill>
              </a:rPr>
              <a:t>7. Optional 3D via WebGL</a:t>
            </a:r>
          </a:p>
          <a:p>
            <a:pPr marL="12700" marR="5080"/>
            <a:r>
              <a:rPr lang="en-US" sz="1400" kern="0" spc="-80" dirty="0">
                <a:solidFill>
                  <a:schemeClr val="accent6"/>
                </a:solidFill>
              </a:rPr>
              <a:t>Buildings and terrain are rendered using WebGL:</a:t>
            </a:r>
          </a:p>
          <a:p>
            <a:pPr marL="12700" marR="5080"/>
            <a:r>
              <a:rPr lang="en-US" sz="1400" kern="0" spc="-80" dirty="0">
                <a:solidFill>
                  <a:schemeClr val="accent6"/>
                </a:solidFill>
              </a:rPr>
              <a:t>Height maps</a:t>
            </a:r>
          </a:p>
          <a:p>
            <a:pPr marL="12700" marR="5080"/>
            <a:r>
              <a:rPr lang="en-US" sz="1400" kern="0" spc="-80" dirty="0">
                <a:solidFill>
                  <a:schemeClr val="accent6"/>
                </a:solidFill>
              </a:rPr>
              <a:t>3D meshes</a:t>
            </a:r>
          </a:p>
          <a:p>
            <a:pPr marL="12700" marR="5080"/>
            <a:r>
              <a:rPr lang="en-US" sz="1400" kern="0" spc="-80" dirty="0">
                <a:solidFill>
                  <a:schemeClr val="accent6"/>
                </a:solidFill>
              </a:rPr>
              <a:t>Vector extrusion</a:t>
            </a:r>
          </a:p>
          <a:p>
            <a:pPr marL="12700" marR="5080"/>
            <a:r>
              <a:rPr lang="en-US" sz="1400" kern="0" spc="-80" dirty="0">
                <a:solidFill>
                  <a:schemeClr val="accent6"/>
                </a:solidFill>
              </a:rPr>
              <a:t>Mountains appear to rise, cities unfold like origami 🏙️⬆️</a:t>
            </a:r>
          </a:p>
          <a:p>
            <a:pPr marL="12700" marR="5080"/>
            <a:endParaRPr lang="en-US" sz="1400" kern="0" spc="-80" dirty="0">
              <a:solidFill>
                <a:schemeClr val="accent6"/>
              </a:solidFill>
            </a:endParaRPr>
          </a:p>
        </p:txBody>
      </p:sp>
    </p:spTree>
    <p:extLst>
      <p:ext uri="{BB962C8B-B14F-4D97-AF65-F5344CB8AC3E}">
        <p14:creationId xmlns:p14="http://schemas.microsoft.com/office/powerpoint/2010/main" val="1089879632"/>
      </p:ext>
    </p:extLst>
  </p:cSld>
  <p:clrMapOvr>
    <a:masterClrMapping/>
  </p:clrMapOvr>
</p:sld>
</file>

<file path=ppt/slides/slide5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8856F-6A33-37FA-96B4-33A1A57349E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C511212-7F80-80E4-C425-C4396CB9FBBE}"/>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C926FFD-8E6D-FE35-9E9C-0FCD71A4DAAF}"/>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3EE1F47-B966-F3DA-C981-C70E102F6FA6}"/>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78D2DC31-683C-7F4B-DAA7-DC81ADF15BD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89AD4DAA-34F2-C931-F4B5-139258781F9A}"/>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BBA0CF6B-6173-331C-5EE8-65CF5F74FC6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366D28C7-A905-D546-3A3B-BEF027ECC75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CBA6A0D5-9B0C-59CB-50E1-1E3CF37AA127}"/>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1B65ED48-E460-52E9-73DB-7152546A5209}"/>
              </a:ext>
            </a:extLst>
          </p:cNvPr>
          <p:cNvSpPr txBox="1">
            <a:spLocks/>
          </p:cNvSpPr>
          <p:nvPr/>
        </p:nvSpPr>
        <p:spPr>
          <a:xfrm>
            <a:off x="228600" y="762000"/>
            <a:ext cx="8624937" cy="269304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Cartography</a:t>
            </a:r>
          </a:p>
          <a:p>
            <a:pPr marL="12700" marR="5080"/>
            <a:r>
              <a:rPr lang="en-US" sz="1600" kern="0" spc="-80" dirty="0">
                <a:solidFill>
                  <a:schemeClr val="accent2"/>
                </a:solidFill>
              </a:rPr>
              <a:t>Continuous Flow in Maps</a:t>
            </a:r>
          </a:p>
          <a:p>
            <a:pPr marL="12700" marR="5080"/>
            <a:r>
              <a:rPr lang="en-US" sz="1400" kern="0" spc="-80" dirty="0">
                <a:solidFill>
                  <a:schemeClr val="accent2"/>
                </a:solidFill>
              </a:rPr>
              <a:t>In Short</a:t>
            </a:r>
          </a:p>
          <a:p>
            <a:pPr marL="12700" marR="5080"/>
            <a:r>
              <a:rPr lang="en-US" sz="1400" kern="0" spc="-80" dirty="0">
                <a:solidFill>
                  <a:schemeClr val="accent2"/>
                </a:solidFill>
              </a:rPr>
              <a:t>Most Maps feels continuous because of:</a:t>
            </a:r>
          </a:p>
          <a:p>
            <a:pPr marL="12700" marR="5080"/>
            <a:r>
              <a:rPr lang="en-US" sz="1400" kern="0" spc="-80" dirty="0">
                <a:solidFill>
                  <a:schemeClr val="accent2"/>
                </a:solidFill>
              </a:rPr>
              <a:t>Component	                   Purpose</a:t>
            </a:r>
          </a:p>
          <a:p>
            <a:pPr marL="12700" marR="5080"/>
            <a:r>
              <a:rPr lang="en-US" sz="1400" kern="0" spc="-80" dirty="0">
                <a:solidFill>
                  <a:schemeClr val="accent6"/>
                </a:solidFill>
              </a:rPr>
              <a:t>Tile-based map system	Break world into manageable pieces</a:t>
            </a:r>
          </a:p>
          <a:p>
            <a:pPr marL="12700" marR="5080"/>
            <a:r>
              <a:rPr lang="en-US" sz="1400" kern="0" spc="-80" dirty="0">
                <a:solidFill>
                  <a:schemeClr val="accent6"/>
                </a:solidFill>
              </a:rPr>
              <a:t>Vector rendering	                   Smooth zoom, rotate, highlight</a:t>
            </a:r>
          </a:p>
          <a:p>
            <a:pPr marL="12700" marR="5080"/>
            <a:r>
              <a:rPr lang="en-US" sz="1400" kern="0" spc="-80" dirty="0">
                <a:solidFill>
                  <a:schemeClr val="accent6"/>
                </a:solidFill>
              </a:rPr>
              <a:t>Prefetching	                   Load what you'll need before you see it</a:t>
            </a:r>
          </a:p>
          <a:p>
            <a:pPr marL="12700" marR="5080"/>
            <a:r>
              <a:rPr lang="en-US" sz="1400" kern="0" spc="-80" dirty="0">
                <a:solidFill>
                  <a:schemeClr val="accent6"/>
                </a:solidFill>
              </a:rPr>
              <a:t>GPU rendering	                   Fast and fluid visuals</a:t>
            </a:r>
          </a:p>
          <a:p>
            <a:pPr marL="12700" marR="5080"/>
            <a:r>
              <a:rPr lang="en-US" sz="1400" kern="0" spc="-80" dirty="0">
                <a:solidFill>
                  <a:schemeClr val="accent6"/>
                </a:solidFill>
              </a:rPr>
              <a:t>Caching	                                       Keeps map available offline/weak network</a:t>
            </a:r>
          </a:p>
          <a:p>
            <a:pPr marL="12700" marR="5080"/>
            <a:endParaRPr lang="en-US" sz="1400" kern="0" spc="-80" dirty="0">
              <a:solidFill>
                <a:schemeClr val="accent6"/>
              </a:solidFill>
            </a:endParaRPr>
          </a:p>
          <a:p>
            <a:pPr marL="12700" marR="5080"/>
            <a:r>
              <a:rPr lang="en-US" sz="1400" kern="0" spc="-80" dirty="0">
                <a:solidFill>
                  <a:schemeClr val="accent6"/>
                </a:solidFill>
              </a:rPr>
              <a:t>It’s not one giant map. It’s a smart stream of tiny map pieces animated like ballet.</a:t>
            </a:r>
          </a:p>
        </p:txBody>
      </p:sp>
    </p:spTree>
    <p:extLst>
      <p:ext uri="{BB962C8B-B14F-4D97-AF65-F5344CB8AC3E}">
        <p14:creationId xmlns:p14="http://schemas.microsoft.com/office/powerpoint/2010/main" val="1681433921"/>
      </p:ext>
    </p:extLst>
  </p:cSld>
  <p:clrMapOvr>
    <a:masterClrMapping/>
  </p:clrMapOvr>
</p:sld>
</file>

<file path=ppt/slides/slide5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B95E5-DFDA-C1A9-86D8-1FEEE6C0DF6F}"/>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E1DE341-4200-A230-F41A-C09C8215C98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727245C1-6D62-8BCE-2B1E-CBEFD0D639D6}"/>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F0F21D97-0B15-DA00-6292-5FC2898AF256}"/>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622DF329-6613-1979-F5B0-9E8BADB62DD8}"/>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BA8268A4-6D09-E376-90D1-2EA1E3DA9DAF}"/>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C19A70B-E523-6D52-CB34-B18C5DCDAC70}"/>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0927384B-812E-C2AC-5B97-28E42C9FC48A}"/>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08ED344B-EE92-19D4-C9F2-6322A90FA9C7}"/>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DBBC8C22-C906-A63E-9083-308EED67B1C4}"/>
              </a:ext>
            </a:extLst>
          </p:cNvPr>
          <p:cNvSpPr txBox="1">
            <a:spLocks/>
          </p:cNvSpPr>
          <p:nvPr/>
        </p:nvSpPr>
        <p:spPr>
          <a:xfrm>
            <a:off x="228600" y="762000"/>
            <a:ext cx="8624937" cy="395492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Cartography</a:t>
            </a:r>
          </a:p>
          <a:p>
            <a:pPr marL="12700" marR="5080"/>
            <a:r>
              <a:rPr lang="en-US" sz="1400" kern="0" spc="-80" dirty="0">
                <a:solidFill>
                  <a:schemeClr val="accent2"/>
                </a:solidFill>
              </a:rPr>
              <a:t>For Further Exploration</a:t>
            </a:r>
          </a:p>
          <a:p>
            <a:pPr marL="12700" marR="5080"/>
            <a:r>
              <a:rPr lang="en-US" sz="1400" dirty="0">
                <a:hlinkClick r:id="rId7"/>
              </a:rPr>
              <a:t>Cartography. The Definitive Guide to Making Maps by Kenneth Field | Esri Press</a:t>
            </a:r>
            <a:endParaRPr lang="en-US" sz="1400" kern="0" spc="-80" dirty="0">
              <a:solidFill>
                <a:schemeClr val="accent2"/>
              </a:solidFill>
            </a:endParaRPr>
          </a:p>
          <a:p>
            <a:pPr marL="12700" marR="5080"/>
            <a:r>
              <a:rPr lang="en-US" sz="1400" dirty="0" err="1">
                <a:hlinkClick r:id="rId8"/>
              </a:rPr>
              <a:t>Mapmatics</a:t>
            </a:r>
            <a:r>
              <a:rPr lang="en-US" sz="1400" dirty="0">
                <a:hlinkClick r:id="rId8"/>
              </a:rPr>
              <a:t> - Amazon.in</a:t>
            </a:r>
            <a:endParaRPr lang="en-US" sz="1400" kern="0" spc="-80" dirty="0">
              <a:solidFill>
                <a:schemeClr val="accent2"/>
              </a:solidFill>
            </a:endParaRPr>
          </a:p>
          <a:p>
            <a:pPr marL="12700" marR="5080"/>
            <a:r>
              <a:rPr lang="en-IN" sz="1400" dirty="0">
                <a:hlinkClick r:id="rId9"/>
              </a:rPr>
              <a:t>Elements of Cartography</a:t>
            </a:r>
            <a:endParaRPr lang="en-IN" sz="1400" dirty="0"/>
          </a:p>
          <a:p>
            <a:pPr marL="12700" marR="5080"/>
            <a:r>
              <a:rPr lang="en-IN" sz="1400" dirty="0">
                <a:hlinkClick r:id="rId10"/>
              </a:rPr>
              <a:t>Fundamentals Of Cartography</a:t>
            </a:r>
            <a:endParaRPr lang="en-IN" sz="1400" dirty="0"/>
          </a:p>
          <a:p>
            <a:pPr marL="12700" marR="5080"/>
            <a:r>
              <a:rPr lang="en-IN" sz="1400" dirty="0">
                <a:hlinkClick r:id="rId11"/>
              </a:rPr>
              <a:t>Cartographic Technique (Practical) – Course</a:t>
            </a:r>
            <a:endParaRPr lang="en-IN" sz="1400" dirty="0"/>
          </a:p>
          <a:p>
            <a:pPr marL="12700" marR="5080"/>
            <a:r>
              <a:rPr lang="en-US" sz="1400" dirty="0">
                <a:hlinkClick r:id="rId12"/>
              </a:rPr>
              <a:t>The History of Cartography</a:t>
            </a:r>
            <a:endParaRPr lang="en-US" sz="1400" dirty="0"/>
          </a:p>
          <a:p>
            <a:pPr marL="12700" marR="5080"/>
            <a:r>
              <a:rPr lang="en-IN" sz="1400" dirty="0">
                <a:hlinkClick r:id="rId13"/>
              </a:rPr>
              <a:t>Map projection – Wikipedia</a:t>
            </a:r>
            <a:endParaRPr lang="en-IN" sz="1400" dirty="0"/>
          </a:p>
          <a:p>
            <a:pPr marL="12700" marR="5080"/>
            <a:r>
              <a:rPr lang="en-IN" sz="1400" dirty="0">
                <a:hlinkClick r:id="rId14"/>
              </a:rPr>
              <a:t>Why tiles? - Valhalla Docs</a:t>
            </a:r>
            <a:endParaRPr lang="en-US" sz="1400" dirty="0"/>
          </a:p>
          <a:p>
            <a:pPr marL="12700" marR="5080"/>
            <a:r>
              <a:rPr lang="en-IN" sz="1400" dirty="0">
                <a:hlinkClick r:id="rId15"/>
              </a:rPr>
              <a:t>Prototyping a Smoother Map. A glimpse into how Google Maps works…</a:t>
            </a:r>
          </a:p>
          <a:p>
            <a:pPr marL="12700" marR="5080"/>
            <a:r>
              <a:rPr lang="en-IN" sz="1400" dirty="0">
                <a:hlinkClick r:id="rId16"/>
              </a:rPr>
              <a:t>Vector Map Features</a:t>
            </a:r>
            <a:endParaRPr lang="en-IN" sz="1400" dirty="0"/>
          </a:p>
          <a:p>
            <a:pPr marL="12700" marR="5080"/>
            <a:r>
              <a:rPr lang="en-US" sz="1400" dirty="0">
                <a:hlinkClick r:id="rId17"/>
              </a:rPr>
              <a:t>What is geofencing and how is it used? – TechTarget Definition</a:t>
            </a:r>
            <a:endParaRPr lang="en-US" sz="1400" dirty="0"/>
          </a:p>
          <a:p>
            <a:pPr marL="12700" marR="5080"/>
            <a:r>
              <a:rPr lang="en-US" sz="1400" dirty="0">
                <a:hlinkClick r:id="rId18"/>
              </a:rPr>
              <a:t>Awesome-</a:t>
            </a:r>
            <a:r>
              <a:rPr lang="en-US" sz="1400" dirty="0" err="1">
                <a:hlinkClick r:id="rId18"/>
              </a:rPr>
              <a:t>Openlayers</a:t>
            </a:r>
            <a:endParaRPr lang="en-US" sz="1400" dirty="0"/>
          </a:p>
          <a:p>
            <a:pPr marL="12700" marR="5080"/>
            <a:r>
              <a:rPr lang="en-IN" sz="1400" dirty="0">
                <a:hlinkClick r:id="rId19"/>
              </a:rPr>
              <a:t>OpenStreetMap Wiki</a:t>
            </a:r>
            <a:endParaRPr lang="en-IN" sz="1400" dirty="0"/>
          </a:p>
          <a:p>
            <a:pPr marL="12700" marR="5080"/>
            <a:r>
              <a:rPr lang="en-US" sz="1400" dirty="0">
                <a:hlinkClick r:id="rId20"/>
              </a:rPr>
              <a:t>13 amazing maps to celebrate 13 years of OpenStreetMap | Opensource.com</a:t>
            </a:r>
            <a:endParaRPr lang="en-US" sz="1400" dirty="0"/>
          </a:p>
          <a:p>
            <a:pPr marL="12700" marR="5080"/>
            <a:r>
              <a:rPr lang="en-IN" sz="1400" dirty="0">
                <a:hlinkClick r:id="rId21"/>
              </a:rPr>
              <a:t>Localized OpenStreetMap</a:t>
            </a:r>
            <a:endParaRPr lang="en-IN" sz="1400" dirty="0"/>
          </a:p>
          <a:p>
            <a:pPr marL="12700" marR="5080"/>
            <a:r>
              <a:rPr lang="en-US" sz="1400" dirty="0">
                <a:hlinkClick r:id="rId22"/>
              </a:rPr>
              <a:t>Artificial Intelligence Studies in Cartography</a:t>
            </a:r>
            <a:endParaRPr lang="en-US" sz="1400" dirty="0"/>
          </a:p>
        </p:txBody>
      </p:sp>
    </p:spTree>
    <p:extLst>
      <p:ext uri="{BB962C8B-B14F-4D97-AF65-F5344CB8AC3E}">
        <p14:creationId xmlns:p14="http://schemas.microsoft.com/office/powerpoint/2010/main" val="519676791"/>
      </p:ext>
    </p:extLst>
  </p:cSld>
  <p:clrMapOvr>
    <a:masterClrMapping/>
  </p:clrMapOvr>
</p:sld>
</file>

<file path=ppt/slides/slide5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AE966-9FE9-F308-BA6C-FC07D24855B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5C4AC9DF-68B8-0F9F-86FD-5BA100985A37}"/>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0A588047-3AED-C37F-79D7-66B291B8ED2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4D3AEF44-05C3-D9CD-6C59-46CE7E5E407F}"/>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AF13A11-551D-B9E9-00AB-04AF5CE4651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CD1F7455-E471-A02A-D611-A2635266426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ED23894-FE70-A7CD-7EE5-03649096AE85}"/>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DE85F349-CC6A-FEC9-6A77-D5FC4B0D489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71E9719D-07CF-4B2B-D93F-A3BE969B009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848034DB-162A-EFD9-EFE7-B8B481079B91}"/>
              </a:ext>
            </a:extLst>
          </p:cNvPr>
          <p:cNvSpPr txBox="1">
            <a:spLocks/>
          </p:cNvSpPr>
          <p:nvPr/>
        </p:nvSpPr>
        <p:spPr>
          <a:xfrm>
            <a:off x="228600" y="762000"/>
            <a:ext cx="8624937" cy="546303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Location Based Services</a:t>
            </a:r>
          </a:p>
          <a:p>
            <a:pPr marL="12700" marR="5080"/>
            <a:r>
              <a:rPr lang="en-US" sz="1400" kern="0" spc="-80" dirty="0">
                <a:solidFill>
                  <a:schemeClr val="accent2"/>
                </a:solidFill>
              </a:rPr>
              <a:t>What are Location Based Services (LBS)?</a:t>
            </a:r>
          </a:p>
          <a:p>
            <a:pPr marL="12700" marR="5080"/>
            <a:r>
              <a:rPr lang="en-US" sz="1400" kern="0" spc="-80" dirty="0">
                <a:solidFill>
                  <a:schemeClr val="accent6"/>
                </a:solidFill>
              </a:rPr>
              <a:t>LBS deliver information or actions based on where something is (you, a vehicle, a sensor, a drone, a delivery boy, a lost cow wearing a GPS tag, etc.).</a:t>
            </a:r>
          </a:p>
          <a:p>
            <a:pPr marL="12700" marR="5080"/>
            <a:r>
              <a:rPr lang="en-US" sz="1400" kern="0" spc="-80" dirty="0">
                <a:solidFill>
                  <a:schemeClr val="accent6"/>
                </a:solidFill>
              </a:rPr>
              <a:t>At the core:</a:t>
            </a:r>
          </a:p>
          <a:p>
            <a:pPr marL="12700" marR="5080"/>
            <a:r>
              <a:rPr lang="en-US" sz="1400" kern="0" spc="-80" dirty="0">
                <a:solidFill>
                  <a:schemeClr val="accent6"/>
                </a:solidFill>
              </a:rPr>
              <a:t>       Sensors → Positioning → GIS Data → Spatial Computation → Application Logic → User Interaction</a:t>
            </a:r>
          </a:p>
          <a:p>
            <a:pPr marL="12700" marR="5080"/>
            <a:endParaRPr lang="en-US" sz="1400" kern="0" spc="-80" dirty="0">
              <a:solidFill>
                <a:schemeClr val="accent6"/>
              </a:solidFill>
            </a:endParaRPr>
          </a:p>
          <a:p>
            <a:pPr marL="12700" marR="5080"/>
            <a:r>
              <a:rPr lang="en-US" sz="1400" kern="0" spc="-80" dirty="0">
                <a:solidFill>
                  <a:schemeClr val="accent2"/>
                </a:solidFill>
              </a:rPr>
              <a:t>1) POSITIONING SYSTEMS (How Location is Determined)</a:t>
            </a:r>
          </a:p>
          <a:p>
            <a:pPr marL="12700" marR="5080"/>
            <a:r>
              <a:rPr lang="en-US" sz="1400" kern="0" spc="-80" dirty="0">
                <a:solidFill>
                  <a:schemeClr val="accent2"/>
                </a:solidFill>
              </a:rPr>
              <a:t>A) Satellite-based Positioning</a:t>
            </a:r>
          </a:p>
          <a:p>
            <a:pPr marL="12700" marR="5080"/>
            <a:r>
              <a:rPr lang="en-US" sz="1400" kern="0" spc="-80" dirty="0">
                <a:solidFill>
                  <a:schemeClr val="accent2"/>
                </a:solidFill>
              </a:rPr>
              <a:t>System	Name	Coverage</a:t>
            </a:r>
          </a:p>
          <a:p>
            <a:pPr marL="12700" marR="5080"/>
            <a:r>
              <a:rPr lang="en-US" sz="1400" kern="0" spc="-80" dirty="0">
                <a:solidFill>
                  <a:schemeClr val="accent6"/>
                </a:solidFill>
              </a:rPr>
              <a:t>GPS	US	Global</a:t>
            </a:r>
          </a:p>
          <a:p>
            <a:pPr marL="12700" marR="5080"/>
            <a:r>
              <a:rPr lang="en-US" sz="1400" kern="0" spc="-80" dirty="0">
                <a:solidFill>
                  <a:schemeClr val="accent6"/>
                </a:solidFill>
              </a:rPr>
              <a:t>GLONASS	Russia	Global</a:t>
            </a:r>
          </a:p>
          <a:p>
            <a:pPr marL="12700" marR="5080"/>
            <a:r>
              <a:rPr lang="en-US" sz="1400" kern="0" spc="-80" dirty="0">
                <a:solidFill>
                  <a:schemeClr val="accent6"/>
                </a:solidFill>
              </a:rPr>
              <a:t>Galileo	EU	Global</a:t>
            </a:r>
          </a:p>
          <a:p>
            <a:pPr marL="12700" marR="5080"/>
            <a:r>
              <a:rPr lang="en-US" sz="1400" kern="0" spc="-80" dirty="0">
                <a:solidFill>
                  <a:schemeClr val="accent6"/>
                </a:solidFill>
              </a:rPr>
              <a:t>BeiDou	China	Global</a:t>
            </a:r>
          </a:p>
          <a:p>
            <a:pPr marL="12700" marR="5080"/>
            <a:endParaRPr lang="en-US" sz="1400" kern="0" spc="-80" dirty="0">
              <a:solidFill>
                <a:schemeClr val="accent6"/>
              </a:solidFill>
            </a:endParaRPr>
          </a:p>
          <a:p>
            <a:pPr marL="12700" marR="5080"/>
            <a:r>
              <a:rPr lang="en-US" sz="1400" kern="0" spc="-80" dirty="0">
                <a:solidFill>
                  <a:schemeClr val="accent2"/>
                </a:solidFill>
              </a:rPr>
              <a:t>Math Behind GNSS</a:t>
            </a:r>
          </a:p>
          <a:p>
            <a:pPr marL="12700" marR="5080"/>
            <a:r>
              <a:rPr lang="en-US" sz="1400" kern="0" spc="-80" dirty="0">
                <a:solidFill>
                  <a:schemeClr val="accent2"/>
                </a:solidFill>
              </a:rPr>
              <a:t>Trilateration in 3D:</a:t>
            </a:r>
          </a:p>
          <a:p>
            <a:pPr marL="12700" marR="5080"/>
            <a:r>
              <a:rPr lang="en-US" sz="1400" kern="0" spc="-80" dirty="0">
                <a:solidFill>
                  <a:schemeClr val="accent6"/>
                </a:solidFill>
              </a:rPr>
              <a:t>(x – xi)² + (y – </a:t>
            </a:r>
            <a:r>
              <a:rPr lang="en-US" sz="1400" kern="0" spc="-80" dirty="0" err="1">
                <a:solidFill>
                  <a:schemeClr val="accent6"/>
                </a:solidFill>
              </a:rPr>
              <a:t>yi</a:t>
            </a:r>
            <a:r>
              <a:rPr lang="en-US" sz="1400" kern="0" spc="-80" dirty="0">
                <a:solidFill>
                  <a:schemeClr val="accent6"/>
                </a:solidFill>
              </a:rPr>
              <a:t>)² + (z – zi)² = (c * </a:t>
            </a:r>
            <a:r>
              <a:rPr lang="el-GR" sz="1400" kern="0" spc="-80" dirty="0">
                <a:solidFill>
                  <a:schemeClr val="accent6"/>
                </a:solidFill>
              </a:rPr>
              <a:t>Δ</a:t>
            </a:r>
            <a:r>
              <a:rPr lang="en-US" sz="1400" kern="0" spc="-80" dirty="0" err="1">
                <a:solidFill>
                  <a:schemeClr val="accent6"/>
                </a:solidFill>
              </a:rPr>
              <a:t>ti</a:t>
            </a:r>
            <a:r>
              <a:rPr lang="en-US" sz="1400" kern="0" spc="-80" dirty="0">
                <a:solidFill>
                  <a:schemeClr val="accent6"/>
                </a:solidFill>
              </a:rPr>
              <a:t>)²</a:t>
            </a:r>
          </a:p>
          <a:p>
            <a:pPr marL="12700" marR="5080"/>
            <a:r>
              <a:rPr lang="en-US" sz="1400" kern="0" spc="-80" dirty="0">
                <a:solidFill>
                  <a:schemeClr val="accent2"/>
                </a:solidFill>
              </a:rPr>
              <a:t>where:</a:t>
            </a:r>
          </a:p>
          <a:p>
            <a:pPr marL="12700" marR="5080"/>
            <a:r>
              <a:rPr lang="en-US" sz="1400" kern="0" spc="-80" dirty="0">
                <a:solidFill>
                  <a:schemeClr val="accent6"/>
                </a:solidFill>
              </a:rPr>
              <a:t>(xi, </a:t>
            </a:r>
            <a:r>
              <a:rPr lang="en-US" sz="1400" kern="0" spc="-80" dirty="0" err="1">
                <a:solidFill>
                  <a:schemeClr val="accent6"/>
                </a:solidFill>
              </a:rPr>
              <a:t>yi</a:t>
            </a:r>
            <a:r>
              <a:rPr lang="en-US" sz="1400" kern="0" spc="-80" dirty="0">
                <a:solidFill>
                  <a:schemeClr val="accent6"/>
                </a:solidFill>
              </a:rPr>
              <a:t>, zi) = satellite position</a:t>
            </a:r>
          </a:p>
          <a:p>
            <a:pPr marL="12700" marR="5080"/>
            <a:r>
              <a:rPr lang="en-US" sz="1400" kern="0" spc="-80" dirty="0">
                <a:solidFill>
                  <a:schemeClr val="accent6"/>
                </a:solidFill>
              </a:rPr>
              <a:t>(x, y, z) = receiver location</a:t>
            </a:r>
          </a:p>
          <a:p>
            <a:pPr marL="12700" marR="5080"/>
            <a:r>
              <a:rPr lang="el-GR" sz="1400" kern="0" spc="-80" dirty="0">
                <a:solidFill>
                  <a:schemeClr val="accent6"/>
                </a:solidFill>
              </a:rPr>
              <a:t>Δ</a:t>
            </a:r>
            <a:r>
              <a:rPr lang="en-US" sz="1400" kern="0" spc="-80" dirty="0" err="1">
                <a:solidFill>
                  <a:schemeClr val="accent6"/>
                </a:solidFill>
              </a:rPr>
              <a:t>ti</a:t>
            </a:r>
            <a:r>
              <a:rPr lang="en-US" sz="1400" kern="0" spc="-80" dirty="0">
                <a:solidFill>
                  <a:schemeClr val="accent6"/>
                </a:solidFill>
              </a:rPr>
              <a:t> = time delay between satellite signal sent and received</a:t>
            </a:r>
          </a:p>
          <a:p>
            <a:pPr marL="12700" marR="5080"/>
            <a:r>
              <a:rPr lang="en-US" sz="1400" kern="0" spc="-80" dirty="0">
                <a:solidFill>
                  <a:schemeClr val="accent6"/>
                </a:solidFill>
              </a:rPr>
              <a:t>c = speed of light</a:t>
            </a:r>
          </a:p>
          <a:p>
            <a:pPr marL="12700" marR="5080"/>
            <a:r>
              <a:rPr lang="en-US" sz="1400" kern="0" spc="-80" dirty="0">
                <a:solidFill>
                  <a:schemeClr val="accent2"/>
                </a:solidFill>
              </a:rPr>
              <a:t>Requires 4 satellites to solve for x, y, z, and clock bias.</a:t>
            </a:r>
          </a:p>
          <a:p>
            <a:pPr marL="12700" marR="5080"/>
            <a:endParaRPr lang="en-US" sz="1400" kern="0" spc="-80" dirty="0">
              <a:solidFill>
                <a:schemeClr val="accent6"/>
              </a:solidFill>
            </a:endParaRPr>
          </a:p>
        </p:txBody>
      </p:sp>
    </p:spTree>
    <p:extLst>
      <p:ext uri="{BB962C8B-B14F-4D97-AF65-F5344CB8AC3E}">
        <p14:creationId xmlns:p14="http://schemas.microsoft.com/office/powerpoint/2010/main" val="2956927128"/>
      </p:ext>
    </p:extLst>
  </p:cSld>
  <p:clrMapOvr>
    <a:masterClrMapping/>
  </p:clrMapOvr>
</p:sld>
</file>

<file path=ppt/slides/slide5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65FB9-9321-1B4C-2CE9-3B3068C898C5}"/>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B0CD98BE-78F4-0489-7ADE-3DC61EDA328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A6364786-94BA-1F6D-2866-805143A0FA8A}"/>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DA6D40E5-ED13-84E3-83B2-5217F07A2687}"/>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9ABBC00B-FABC-0449-011A-173C207D484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43C56B1D-CD9F-173F-252D-07A4C9BB3CB6}"/>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987B76BA-D0D2-701D-8DBD-3D0F4FBD20FF}"/>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8B33056E-1AD2-3A92-C081-473ED76A8379}"/>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B07E3B98-5049-A292-BD43-056A1EBC2CB3}"/>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4AC956C8-5889-D0A6-154B-B9E957FB19C1}"/>
              </a:ext>
            </a:extLst>
          </p:cNvPr>
          <p:cNvSpPr txBox="1">
            <a:spLocks/>
          </p:cNvSpPr>
          <p:nvPr/>
        </p:nvSpPr>
        <p:spPr>
          <a:xfrm>
            <a:off x="228600" y="762000"/>
            <a:ext cx="8624937" cy="48167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Location Based Services</a:t>
            </a:r>
          </a:p>
          <a:p>
            <a:pPr marL="12700" marR="5080"/>
            <a:r>
              <a:rPr lang="en-US" sz="1400" kern="0" spc="-80" dirty="0">
                <a:solidFill>
                  <a:schemeClr val="accent2"/>
                </a:solidFill>
              </a:rPr>
              <a:t>B) Cell Tower Positioning</a:t>
            </a:r>
          </a:p>
          <a:p>
            <a:pPr marL="12700" marR="5080"/>
            <a:r>
              <a:rPr lang="en-US" sz="1400" kern="0" spc="-80" dirty="0">
                <a:solidFill>
                  <a:schemeClr val="accent6"/>
                </a:solidFill>
              </a:rPr>
              <a:t>GSM Triangulation</a:t>
            </a:r>
          </a:p>
          <a:p>
            <a:pPr marL="12700" marR="5080"/>
            <a:r>
              <a:rPr lang="en-US" sz="1400" kern="0" spc="-80" dirty="0">
                <a:solidFill>
                  <a:schemeClr val="accent6"/>
                </a:solidFill>
              </a:rPr>
              <a:t>RSSI (signal strength)</a:t>
            </a:r>
          </a:p>
          <a:p>
            <a:pPr marL="12700" marR="5080"/>
            <a:r>
              <a:rPr lang="en-US" sz="1400" kern="0" spc="-80" dirty="0">
                <a:solidFill>
                  <a:schemeClr val="accent6"/>
                </a:solidFill>
              </a:rPr>
              <a:t>Time Difference of Arrival:</a:t>
            </a:r>
          </a:p>
          <a:p>
            <a:pPr marL="12700" marR="5080"/>
            <a:r>
              <a:rPr lang="en-US" sz="1400" kern="0" spc="-80" dirty="0">
                <a:solidFill>
                  <a:schemeClr val="accent6"/>
                </a:solidFill>
              </a:rPr>
              <a:t>d = c * </a:t>
            </a:r>
            <a:r>
              <a:rPr lang="el-GR" sz="1400" kern="0" spc="-80" dirty="0">
                <a:solidFill>
                  <a:schemeClr val="accent6"/>
                </a:solidFill>
              </a:rPr>
              <a:t>Δ</a:t>
            </a:r>
            <a:r>
              <a:rPr lang="en-US" sz="1400" kern="0" spc="-80" dirty="0">
                <a:solidFill>
                  <a:schemeClr val="accent6"/>
                </a:solidFill>
              </a:rPr>
              <a:t>t</a:t>
            </a:r>
          </a:p>
          <a:p>
            <a:pPr marL="12700" marR="5080"/>
            <a:endParaRPr lang="en-US" sz="1400" kern="0" spc="-80" dirty="0">
              <a:solidFill>
                <a:schemeClr val="accent6"/>
              </a:solidFill>
            </a:endParaRPr>
          </a:p>
          <a:p>
            <a:pPr marL="12700" marR="5080"/>
            <a:r>
              <a:rPr lang="en-US" sz="1400" kern="0" spc="-80" dirty="0">
                <a:solidFill>
                  <a:schemeClr val="accent2"/>
                </a:solidFill>
              </a:rPr>
              <a:t>C) Wi-Fi Positioning</a:t>
            </a:r>
          </a:p>
          <a:p>
            <a:pPr marL="12700" marR="5080"/>
            <a:r>
              <a:rPr lang="en-US" sz="1400" kern="0" spc="-80" dirty="0">
                <a:solidFill>
                  <a:schemeClr val="accent2"/>
                </a:solidFill>
              </a:rPr>
              <a:t>Fingerprinting:</a:t>
            </a:r>
          </a:p>
          <a:p>
            <a:pPr marL="12700" marR="5080"/>
            <a:r>
              <a:rPr lang="en-US" sz="1400" kern="0" spc="-80" dirty="0">
                <a:solidFill>
                  <a:schemeClr val="accent6"/>
                </a:solidFill>
              </a:rPr>
              <a:t>Build a radio map of Wi-Fi signal strengths</a:t>
            </a:r>
          </a:p>
          <a:p>
            <a:pPr marL="12700" marR="5080"/>
            <a:r>
              <a:rPr lang="en-US" sz="1400" kern="0" spc="-80" dirty="0">
                <a:solidFill>
                  <a:schemeClr val="accent6"/>
                </a:solidFill>
              </a:rPr>
              <a:t>Match real-time signal to nearest cluster</a:t>
            </a:r>
          </a:p>
          <a:p>
            <a:pPr marL="12700" marR="5080"/>
            <a:r>
              <a:rPr lang="en-US" sz="1400" kern="0" spc="-80" dirty="0">
                <a:solidFill>
                  <a:schemeClr val="accent2"/>
                </a:solidFill>
              </a:rPr>
              <a:t>Uses</a:t>
            </a:r>
            <a:r>
              <a:rPr lang="en-US" sz="1400" kern="0" spc="-80" dirty="0">
                <a:solidFill>
                  <a:schemeClr val="accent6"/>
                </a:solidFill>
              </a:rPr>
              <a:t> K-NN, Random Forest, Deep Learning.</a:t>
            </a:r>
          </a:p>
          <a:p>
            <a:pPr marL="12700" marR="5080"/>
            <a:endParaRPr lang="en-US" sz="1400" kern="0" spc="-80" dirty="0">
              <a:solidFill>
                <a:schemeClr val="accent6"/>
              </a:solidFill>
            </a:endParaRPr>
          </a:p>
          <a:p>
            <a:pPr marL="12700" marR="5080"/>
            <a:r>
              <a:rPr lang="en-US" sz="1400" kern="0" spc="-80" dirty="0">
                <a:solidFill>
                  <a:schemeClr val="accent2"/>
                </a:solidFill>
              </a:rPr>
              <a:t>D) Bluetooth / BLE (Indoor)</a:t>
            </a:r>
          </a:p>
          <a:p>
            <a:pPr marL="12700" marR="5080"/>
            <a:r>
              <a:rPr lang="en-US" sz="1400" kern="0" spc="-80" dirty="0" err="1">
                <a:solidFill>
                  <a:schemeClr val="accent6"/>
                </a:solidFill>
              </a:rPr>
              <a:t>iBeacons</a:t>
            </a:r>
            <a:endParaRPr lang="en-US" sz="1400" kern="0" spc="-80" dirty="0">
              <a:solidFill>
                <a:schemeClr val="accent6"/>
              </a:solidFill>
            </a:endParaRPr>
          </a:p>
          <a:p>
            <a:pPr marL="12700" marR="5080"/>
            <a:r>
              <a:rPr lang="en-US" sz="1400" kern="0" spc="-80" dirty="0">
                <a:solidFill>
                  <a:schemeClr val="accent6"/>
                </a:solidFill>
              </a:rPr>
              <a:t>Distance estimate via Log-distance path loss model:</a:t>
            </a:r>
          </a:p>
          <a:p>
            <a:pPr marL="12700" marR="5080"/>
            <a:r>
              <a:rPr lang="en-US" sz="1400" kern="0" spc="-80" dirty="0">
                <a:solidFill>
                  <a:schemeClr val="accent6"/>
                </a:solidFill>
              </a:rPr>
              <a:t>d = 10 ^ ((RSSI0 - RSSI) / (10 * n))</a:t>
            </a:r>
          </a:p>
          <a:p>
            <a:pPr marL="12700" marR="5080"/>
            <a:endParaRPr lang="en-US" sz="1400" kern="0" spc="-80" dirty="0">
              <a:solidFill>
                <a:schemeClr val="accent6"/>
              </a:solidFill>
            </a:endParaRPr>
          </a:p>
          <a:p>
            <a:pPr marL="12700" marR="5080"/>
            <a:r>
              <a:rPr lang="en-US" sz="1400" kern="0" spc="-80" dirty="0">
                <a:solidFill>
                  <a:schemeClr val="accent2"/>
                </a:solidFill>
              </a:rPr>
              <a:t>E) Inertial Positioning (Pedestrian Dead Reckoning)</a:t>
            </a:r>
          </a:p>
          <a:p>
            <a:pPr marL="12700" marR="5080"/>
            <a:r>
              <a:rPr lang="en-US" sz="1400" kern="0" spc="-80" dirty="0">
                <a:solidFill>
                  <a:schemeClr val="accent6"/>
                </a:solidFill>
              </a:rPr>
              <a:t>Sensors: accelerometer + gyroscope + magnetometer.</a:t>
            </a:r>
          </a:p>
          <a:p>
            <a:pPr marL="12700" marR="5080"/>
            <a:r>
              <a:rPr lang="en-US" sz="1400" kern="0" spc="-80" dirty="0">
                <a:solidFill>
                  <a:schemeClr val="accent2"/>
                </a:solidFill>
              </a:rPr>
              <a:t>Math:</a:t>
            </a:r>
          </a:p>
          <a:p>
            <a:pPr marL="12700" marR="5080"/>
            <a:r>
              <a:rPr lang="en-US" sz="1400" kern="0" spc="-80" dirty="0">
                <a:solidFill>
                  <a:schemeClr val="accent6"/>
                </a:solidFill>
              </a:rPr>
              <a:t>Step detection → Peak detection</a:t>
            </a:r>
          </a:p>
        </p:txBody>
      </p:sp>
    </p:spTree>
    <p:extLst>
      <p:ext uri="{BB962C8B-B14F-4D97-AF65-F5344CB8AC3E}">
        <p14:creationId xmlns:p14="http://schemas.microsoft.com/office/powerpoint/2010/main" val="3562804445"/>
      </p:ext>
    </p:extLst>
  </p:cSld>
  <p:clrMapOvr>
    <a:masterClrMapping/>
  </p:clrMapOvr>
</p:sld>
</file>

<file path=ppt/slides/slide5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C09005-D05B-4699-668C-A1DFD589B2F0}"/>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193DA3F5-DCFA-A559-7FB9-045C0BC91E35}"/>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B9929A16-6393-990E-70B6-4C73A26AC1C1}"/>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38594421-9CD8-F98D-3B77-334783360535}"/>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F75BC330-A031-9DD0-56A0-ED84EB5E1F2B}"/>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C0DD018-808A-8618-0182-575C4FA27327}"/>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EB7DF756-4E48-5AEF-0C11-9AE1C9EF79B5}"/>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A719B8C7-6532-9506-D99C-87D6BE216E41}"/>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F1844CAA-F195-21BF-B361-AE9C16B37B7D}"/>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840550E9-3C99-FBAB-349D-4319C75A27E3}"/>
              </a:ext>
            </a:extLst>
          </p:cNvPr>
          <p:cNvSpPr txBox="1">
            <a:spLocks/>
          </p:cNvSpPr>
          <p:nvPr/>
        </p:nvSpPr>
        <p:spPr>
          <a:xfrm>
            <a:off x="228600" y="762000"/>
            <a:ext cx="8624937" cy="4816703"/>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Location Based Services</a:t>
            </a:r>
          </a:p>
          <a:p>
            <a:pPr marL="12700" marR="5080"/>
            <a:r>
              <a:rPr lang="en-US" sz="1400" kern="0" spc="-80" dirty="0">
                <a:solidFill>
                  <a:schemeClr val="accent6"/>
                </a:solidFill>
              </a:rPr>
              <a:t>Heading → Quaternion rotation matrices</a:t>
            </a:r>
          </a:p>
          <a:p>
            <a:pPr marL="12700" marR="5080"/>
            <a:r>
              <a:rPr lang="en-US" sz="1400" kern="0" spc="-80" dirty="0">
                <a:solidFill>
                  <a:schemeClr val="accent6"/>
                </a:solidFill>
              </a:rPr>
              <a:t>Position = </a:t>
            </a:r>
            <a:r>
              <a:rPr lang="en-US" sz="1400" kern="0" spc="-80" dirty="0" err="1">
                <a:solidFill>
                  <a:schemeClr val="accent6"/>
                </a:solidFill>
              </a:rPr>
              <a:t>previous_position</a:t>
            </a:r>
            <a:r>
              <a:rPr lang="en-US" sz="1400" kern="0" spc="-80" dirty="0">
                <a:solidFill>
                  <a:schemeClr val="accent6"/>
                </a:solidFill>
              </a:rPr>
              <a:t> + </a:t>
            </a:r>
            <a:r>
              <a:rPr lang="en-US" sz="1400" kern="0" spc="-80" dirty="0" err="1">
                <a:solidFill>
                  <a:schemeClr val="accent6"/>
                </a:solidFill>
              </a:rPr>
              <a:t>step_length</a:t>
            </a:r>
            <a:r>
              <a:rPr lang="en-US" sz="1400" kern="0" spc="-80" dirty="0">
                <a:solidFill>
                  <a:schemeClr val="accent6"/>
                </a:solidFill>
              </a:rPr>
              <a:t> * direction</a:t>
            </a:r>
          </a:p>
          <a:p>
            <a:pPr marL="12700" marR="5080"/>
            <a:r>
              <a:rPr lang="en-US" sz="1400" kern="0" spc="-80" dirty="0">
                <a:solidFill>
                  <a:schemeClr val="accent6"/>
                </a:solidFill>
              </a:rPr>
              <a:t>Drift grows over time, corrected using Wi-Fi/BLE anchors.</a:t>
            </a:r>
          </a:p>
          <a:p>
            <a:pPr marL="12700" marR="5080"/>
            <a:endParaRPr lang="en-US" sz="1400" kern="0" spc="-80" dirty="0">
              <a:solidFill>
                <a:schemeClr val="accent6"/>
              </a:solidFill>
            </a:endParaRPr>
          </a:p>
          <a:p>
            <a:pPr marL="12700" marR="5080"/>
            <a:r>
              <a:rPr lang="en-US" sz="1400" kern="0" spc="-80" dirty="0">
                <a:solidFill>
                  <a:schemeClr val="accent2"/>
                </a:solidFill>
              </a:rPr>
              <a:t>2</a:t>
            </a:r>
            <a:r>
              <a:rPr lang="el-GR" sz="1400" kern="0" spc="-80" dirty="0">
                <a:solidFill>
                  <a:schemeClr val="accent2"/>
                </a:solidFill>
              </a:rPr>
              <a:t>) </a:t>
            </a:r>
            <a:r>
              <a:rPr lang="en-US" sz="1400" kern="0" spc="-80" dirty="0">
                <a:solidFill>
                  <a:schemeClr val="accent2"/>
                </a:solidFill>
              </a:rPr>
              <a:t>LOCATION SEMANTICS (Meaning of Place)</a:t>
            </a:r>
          </a:p>
          <a:p>
            <a:pPr marL="12700" marR="5080"/>
            <a:r>
              <a:rPr lang="en-US" sz="1400" kern="0" spc="-80" dirty="0">
                <a:solidFill>
                  <a:schemeClr val="accent6"/>
                </a:solidFill>
              </a:rPr>
              <a:t>POI Categorization (restaurants, hospitals, ATM…)</a:t>
            </a:r>
          </a:p>
          <a:p>
            <a:pPr marL="12700" marR="5080"/>
            <a:r>
              <a:rPr lang="en-US" sz="1400" kern="0" spc="-80" dirty="0">
                <a:solidFill>
                  <a:schemeClr val="accent6"/>
                </a:solidFill>
              </a:rPr>
              <a:t>Reverse Geocoding (coordinates → address)</a:t>
            </a:r>
          </a:p>
          <a:p>
            <a:pPr marL="12700" marR="5080"/>
            <a:r>
              <a:rPr lang="en-US" sz="1400" kern="0" spc="-80" dirty="0">
                <a:solidFill>
                  <a:schemeClr val="accent6"/>
                </a:solidFill>
              </a:rPr>
              <a:t>Geocoding (address → coordinates)</a:t>
            </a:r>
          </a:p>
          <a:p>
            <a:pPr marL="12700" marR="5080"/>
            <a:r>
              <a:rPr lang="en-US" sz="1400" kern="0" spc="-80" dirty="0">
                <a:solidFill>
                  <a:schemeClr val="accent6"/>
                </a:solidFill>
              </a:rPr>
              <a:t>Place Graphs (e.g., Google Places Knowledge Graph)</a:t>
            </a:r>
          </a:p>
          <a:p>
            <a:pPr marL="12700" marR="5080"/>
            <a:endParaRPr lang="en-US" sz="1400" kern="0" spc="-80" dirty="0">
              <a:solidFill>
                <a:schemeClr val="accent6"/>
              </a:solidFill>
            </a:endParaRPr>
          </a:p>
          <a:p>
            <a:pPr marL="12700" marR="5080"/>
            <a:r>
              <a:rPr lang="en-US" sz="1400" kern="0" spc="-80" dirty="0">
                <a:solidFill>
                  <a:schemeClr val="accent2"/>
                </a:solidFill>
              </a:rPr>
              <a:t>3) MOTION + BEHAVIOR MODELING</a:t>
            </a:r>
          </a:p>
          <a:p>
            <a:pPr marL="12700" marR="5080"/>
            <a:r>
              <a:rPr lang="en-US" sz="1400" kern="0" spc="-80" dirty="0">
                <a:solidFill>
                  <a:schemeClr val="accent2"/>
                </a:solidFill>
              </a:rPr>
              <a:t>Used for:</a:t>
            </a:r>
          </a:p>
          <a:p>
            <a:pPr marL="12700" marR="5080"/>
            <a:r>
              <a:rPr lang="en-US" sz="1400" kern="0" spc="-80" dirty="0">
                <a:solidFill>
                  <a:schemeClr val="accent6"/>
                </a:solidFill>
              </a:rPr>
              <a:t>ETA estimation</a:t>
            </a:r>
          </a:p>
          <a:p>
            <a:pPr marL="12700" marR="5080"/>
            <a:r>
              <a:rPr lang="en-US" sz="1400" kern="0" spc="-80" dirty="0">
                <a:solidFill>
                  <a:schemeClr val="accent6"/>
                </a:solidFill>
              </a:rPr>
              <a:t>User activity recognition (running, driving)</a:t>
            </a:r>
          </a:p>
          <a:p>
            <a:pPr marL="12700" marR="5080"/>
            <a:r>
              <a:rPr lang="en-US" sz="1400" kern="0" spc="-80" dirty="0">
                <a:solidFill>
                  <a:schemeClr val="accent2"/>
                </a:solidFill>
              </a:rPr>
              <a:t>Techniques:</a:t>
            </a:r>
          </a:p>
          <a:p>
            <a:pPr marL="12700" marR="5080"/>
            <a:r>
              <a:rPr lang="en-US" sz="1400" kern="0" spc="-80" dirty="0">
                <a:solidFill>
                  <a:schemeClr val="accent6"/>
                </a:solidFill>
              </a:rPr>
              <a:t>Kalman Filter, Particle Filter</a:t>
            </a:r>
          </a:p>
          <a:p>
            <a:pPr marL="12700" marR="5080"/>
            <a:r>
              <a:rPr lang="en-US" sz="1400" kern="0" spc="-80" dirty="0">
                <a:solidFill>
                  <a:schemeClr val="accent6"/>
                </a:solidFill>
              </a:rPr>
              <a:t>Bayesian Inference</a:t>
            </a:r>
          </a:p>
          <a:p>
            <a:pPr marL="12700" marR="5080"/>
            <a:r>
              <a:rPr lang="en-US" sz="1400" kern="0" spc="-80" dirty="0">
                <a:solidFill>
                  <a:schemeClr val="accent6"/>
                </a:solidFill>
              </a:rPr>
              <a:t>Neural trajectory models</a:t>
            </a:r>
          </a:p>
          <a:p>
            <a:pPr marL="12700" marR="5080"/>
            <a:r>
              <a:rPr lang="en-US" sz="1400" kern="0" spc="-80" dirty="0">
                <a:solidFill>
                  <a:schemeClr val="accent6"/>
                </a:solidFill>
              </a:rPr>
              <a:t>Kalman update:</a:t>
            </a:r>
          </a:p>
          <a:p>
            <a:pPr marL="12700" marR="5080"/>
            <a:r>
              <a:rPr lang="en-US" sz="1400" kern="0" spc="-80" dirty="0">
                <a:solidFill>
                  <a:schemeClr val="accent6"/>
                </a:solidFill>
              </a:rPr>
              <a:t>x̂(</a:t>
            </a:r>
            <a:r>
              <a:rPr lang="en-US" sz="1400" kern="0" spc="-80" dirty="0" err="1">
                <a:solidFill>
                  <a:schemeClr val="accent6"/>
                </a:solidFill>
              </a:rPr>
              <a:t>k|k</a:t>
            </a:r>
            <a:r>
              <a:rPr lang="en-US" sz="1400" kern="0" spc="-80" dirty="0">
                <a:solidFill>
                  <a:schemeClr val="accent6"/>
                </a:solidFill>
              </a:rPr>
              <a:t>) = x̂(k|k-1) + K(k)(z(k) - </a:t>
            </a:r>
            <a:r>
              <a:rPr lang="en-US" sz="1400" kern="0" spc="-80" dirty="0" err="1">
                <a:solidFill>
                  <a:schemeClr val="accent6"/>
                </a:solidFill>
              </a:rPr>
              <a:t>Hx</a:t>
            </a:r>
            <a:r>
              <a:rPr lang="en-US" sz="1400" kern="0" spc="-80" dirty="0">
                <a:solidFill>
                  <a:schemeClr val="accent6"/>
                </a:solidFill>
              </a:rPr>
              <a:t>̂(k|k-1))</a:t>
            </a:r>
          </a:p>
          <a:p>
            <a:pPr marL="12700" marR="5080"/>
            <a:endParaRPr lang="en-US" sz="1400" kern="0" spc="-80" dirty="0">
              <a:solidFill>
                <a:schemeClr val="accent6"/>
              </a:solidFill>
            </a:endParaRPr>
          </a:p>
        </p:txBody>
      </p:sp>
    </p:spTree>
    <p:extLst>
      <p:ext uri="{BB962C8B-B14F-4D97-AF65-F5344CB8AC3E}">
        <p14:creationId xmlns:p14="http://schemas.microsoft.com/office/powerpoint/2010/main" val="34316922"/>
      </p:ext>
    </p:extLst>
  </p:cSld>
  <p:clrMapOvr>
    <a:masterClrMapping/>
  </p:clrMapOvr>
</p:sld>
</file>

<file path=ppt/slides/slide5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1252A-73D5-D11B-41E0-71C103108116}"/>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4629C577-1642-5F62-9CE2-966B60CD70E2}"/>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C4D44427-58A3-82A1-4152-A43AAE36303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193138D5-67F7-9A8C-8BE0-76AC87F86156}"/>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AC3E77E-FAE8-58F5-0F4A-4179138E5D7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AD0C12AA-A3C9-3D57-01B5-8146E9FC235C}"/>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4FE08C8D-BC90-7B08-2ECE-7C3E927EF6D5}"/>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5098CA7B-70B5-D1AD-94DD-8E82A96B9877}"/>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EE8534F2-0405-2521-9090-248D0A5EEBEC}"/>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557DCB74-19D3-374D-8E42-52EE1F564E15}"/>
              </a:ext>
            </a:extLst>
          </p:cNvPr>
          <p:cNvSpPr txBox="1">
            <a:spLocks/>
          </p:cNvSpPr>
          <p:nvPr/>
        </p:nvSpPr>
        <p:spPr>
          <a:xfrm>
            <a:off x="228600" y="762000"/>
            <a:ext cx="8624937" cy="532453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Location Based Services</a:t>
            </a:r>
          </a:p>
          <a:p>
            <a:pPr marL="12700" marR="5080"/>
            <a:r>
              <a:rPr lang="en-US" sz="1400" kern="0" spc="-80" dirty="0">
                <a:solidFill>
                  <a:schemeClr val="accent2"/>
                </a:solidFill>
              </a:rPr>
              <a:t>4) LBS APPLICATION LAYERS</a:t>
            </a:r>
          </a:p>
          <a:p>
            <a:pPr marL="12700" marR="5080"/>
            <a:r>
              <a:rPr lang="en-US" sz="1400" kern="0" spc="-80" dirty="0">
                <a:solidFill>
                  <a:schemeClr val="accent2"/>
                </a:solidFill>
              </a:rPr>
              <a:t>Category                       Examples	                          Logic</a:t>
            </a:r>
          </a:p>
          <a:p>
            <a:pPr marL="12700" marR="5080"/>
            <a:r>
              <a:rPr lang="en-US" sz="1400" kern="0" spc="-80" dirty="0">
                <a:solidFill>
                  <a:schemeClr val="accent6"/>
                </a:solidFill>
              </a:rPr>
              <a:t>Navigation	                    Google Maps, Waze	       Routing + ETA prediction</a:t>
            </a:r>
          </a:p>
          <a:p>
            <a:pPr marL="12700" marR="5080"/>
            <a:r>
              <a:rPr lang="en-US" sz="1400" kern="0" spc="-80" dirty="0">
                <a:solidFill>
                  <a:schemeClr val="accent6"/>
                </a:solidFill>
              </a:rPr>
              <a:t>Delivery / Mobility	Uber, Swiggy	       Real-time location + optimization</a:t>
            </a:r>
          </a:p>
          <a:p>
            <a:pPr marL="12700" marR="5080"/>
            <a:r>
              <a:rPr lang="en-US" sz="1400" kern="0" spc="-80" dirty="0">
                <a:solidFill>
                  <a:schemeClr val="accent6"/>
                </a:solidFill>
              </a:rPr>
              <a:t>Tracking	                    Fleet systems	       Geofencing + route deviation</a:t>
            </a:r>
          </a:p>
          <a:p>
            <a:pPr marL="12700" marR="5080"/>
            <a:r>
              <a:rPr lang="en-US" sz="1400" kern="0" spc="-80" dirty="0">
                <a:solidFill>
                  <a:schemeClr val="accent6"/>
                </a:solidFill>
              </a:rPr>
              <a:t>AR Location	Pokémon GO	       Camera pose + SLAM + GPS</a:t>
            </a:r>
          </a:p>
          <a:p>
            <a:pPr marL="12700" marR="5080"/>
            <a:r>
              <a:rPr lang="en-US" sz="1400" kern="0" spc="-80" dirty="0">
                <a:solidFill>
                  <a:schemeClr val="accent6"/>
                </a:solidFill>
              </a:rPr>
              <a:t>IoT Location	Asset tracking sensors      BLE + Edge computation</a:t>
            </a:r>
          </a:p>
          <a:p>
            <a:pPr marL="12700" marR="5080"/>
            <a:endParaRPr lang="en-US" sz="1400" kern="0" spc="-80" dirty="0">
              <a:solidFill>
                <a:schemeClr val="accent6"/>
              </a:solidFill>
            </a:endParaRPr>
          </a:p>
          <a:p>
            <a:pPr marL="12700" marR="5080"/>
            <a:r>
              <a:rPr lang="en-US" sz="1400" kern="0" spc="-80" dirty="0">
                <a:solidFill>
                  <a:schemeClr val="accent2"/>
                </a:solidFill>
              </a:rPr>
              <a:t>5) PIPELINE SUMMARY</a:t>
            </a:r>
          </a:p>
          <a:p>
            <a:pPr marL="12700" marR="5080"/>
            <a:r>
              <a:rPr lang="en-US" sz="1400" kern="0" spc="-80" dirty="0">
                <a:solidFill>
                  <a:schemeClr val="accent6"/>
                </a:solidFill>
              </a:rPr>
              <a:t>GPS/Cell/Wi-Fi/BLE → Sensor Fusion → Map Matching → GIS Spatial Operations → Application Logic → UI/UX</a:t>
            </a:r>
          </a:p>
          <a:p>
            <a:pPr marL="12700" marR="5080"/>
            <a:endParaRPr lang="en-US" sz="1400" kern="0" spc="-80" dirty="0">
              <a:solidFill>
                <a:schemeClr val="accent6"/>
              </a:solidFill>
            </a:endParaRPr>
          </a:p>
          <a:p>
            <a:pPr marL="12700" marR="5080"/>
            <a:r>
              <a:rPr lang="en-US" sz="1400" kern="0" spc="-80" dirty="0">
                <a:solidFill>
                  <a:schemeClr val="accent2"/>
                </a:solidFill>
              </a:rPr>
              <a:t>6) THE GRAND MATH SUMMARY</a:t>
            </a:r>
          </a:p>
          <a:p>
            <a:pPr marL="12700" marR="5080"/>
            <a:r>
              <a:rPr lang="en-US" sz="1400" kern="0" spc="-80" dirty="0">
                <a:solidFill>
                  <a:schemeClr val="accent6"/>
                </a:solidFill>
              </a:rPr>
              <a:t>Trilateration (GNSS)</a:t>
            </a:r>
          </a:p>
          <a:p>
            <a:pPr marL="12700" marR="5080"/>
            <a:r>
              <a:rPr lang="en-US" sz="1400" kern="0" spc="-80" dirty="0">
                <a:solidFill>
                  <a:schemeClr val="accent6"/>
                </a:solidFill>
              </a:rPr>
              <a:t>Triangulation (Cell, BLE)</a:t>
            </a:r>
          </a:p>
          <a:p>
            <a:pPr marL="12700" marR="5080"/>
            <a:r>
              <a:rPr lang="en-US" sz="1400" kern="0" spc="-80" dirty="0">
                <a:solidFill>
                  <a:schemeClr val="accent6"/>
                </a:solidFill>
              </a:rPr>
              <a:t>Quaternion Rotations (IMU motion)</a:t>
            </a:r>
          </a:p>
          <a:p>
            <a:pPr marL="12700" marR="5080"/>
            <a:r>
              <a:rPr lang="en-US" sz="1400" kern="0" spc="-80" dirty="0">
                <a:solidFill>
                  <a:schemeClr val="accent6"/>
                </a:solidFill>
              </a:rPr>
              <a:t>Haversine &amp; Spherical Geometry (distances)</a:t>
            </a:r>
          </a:p>
          <a:p>
            <a:pPr marL="12700" marR="5080"/>
            <a:r>
              <a:rPr lang="en-US" sz="1400" kern="0" spc="-80" dirty="0">
                <a:solidFill>
                  <a:schemeClr val="accent6"/>
                </a:solidFill>
              </a:rPr>
              <a:t>Graph Theory (routing)</a:t>
            </a:r>
          </a:p>
          <a:p>
            <a:pPr marL="12700" marR="5080"/>
            <a:r>
              <a:rPr lang="en-US" sz="1400" kern="0" spc="-80" dirty="0">
                <a:solidFill>
                  <a:schemeClr val="accent6"/>
                </a:solidFill>
              </a:rPr>
              <a:t>Bayesian Inference &amp; Kalman Filters (motion smoothing)</a:t>
            </a:r>
          </a:p>
          <a:p>
            <a:pPr marL="12700" marR="5080"/>
            <a:r>
              <a:rPr lang="en-US" sz="1400" kern="0" spc="-80" dirty="0">
                <a:solidFill>
                  <a:schemeClr val="accent6"/>
                </a:solidFill>
              </a:rPr>
              <a:t>R-trees / KD-Trees (spatial indexing)</a:t>
            </a:r>
          </a:p>
          <a:p>
            <a:pPr marL="12700" marR="5080"/>
            <a:r>
              <a:rPr lang="en-US" sz="1400" kern="0" spc="-80" dirty="0">
                <a:solidFill>
                  <a:schemeClr val="accent6"/>
                </a:solidFill>
              </a:rPr>
              <a:t>Hidden Markov Models (map matching)</a:t>
            </a:r>
          </a:p>
          <a:p>
            <a:pPr marL="12700" marR="5080"/>
            <a:r>
              <a:rPr lang="en-US" sz="1400" kern="0" spc="-80" dirty="0">
                <a:solidFill>
                  <a:schemeClr val="accent6"/>
                </a:solidFill>
              </a:rPr>
              <a:t>Deep Learning (Wi-Fi fingerprinting, ETA prediction).</a:t>
            </a:r>
          </a:p>
          <a:p>
            <a:pPr marL="12700" marR="5080"/>
            <a:endParaRPr lang="en-US" sz="1900" kern="0" spc="-80" dirty="0">
              <a:solidFill>
                <a:schemeClr val="accent2"/>
              </a:solidFill>
            </a:endParaRPr>
          </a:p>
        </p:txBody>
      </p:sp>
    </p:spTree>
    <p:extLst>
      <p:ext uri="{BB962C8B-B14F-4D97-AF65-F5344CB8AC3E}">
        <p14:creationId xmlns:p14="http://schemas.microsoft.com/office/powerpoint/2010/main" val="1400375768"/>
      </p:ext>
    </p:extLst>
  </p:cSld>
  <p:clrMapOvr>
    <a:masterClrMapping/>
  </p:clrMapOvr>
</p:sld>
</file>

<file path=ppt/slides/slide5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C1F25-73B1-0041-7F96-583C174292F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F20549D2-0418-D71E-5ED5-D9385A09BF6F}"/>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F9AE30C-3B07-4B44-0EB5-D8412A959DBE}"/>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9F57AB5D-B8D8-AC62-5A44-9772B6669AF5}"/>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0F234BC2-6F76-A7AC-CF0A-904D807A8D0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47007D8-7CDB-AC8C-8495-4870F316A51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0953AE0E-DBEA-9A58-2B33-8FDD5B8DFA81}"/>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3C582A8A-B9CD-F05F-6825-8D31BD4AB1C6}"/>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83EAB021-D89E-C944-37F0-943FBD115DF7}"/>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AC90F285-2CAA-40F6-CF10-6FF489AF361B}"/>
              </a:ext>
            </a:extLst>
          </p:cNvPr>
          <p:cNvSpPr txBox="1">
            <a:spLocks/>
          </p:cNvSpPr>
          <p:nvPr/>
        </p:nvSpPr>
        <p:spPr>
          <a:xfrm>
            <a:off x="228600" y="762000"/>
            <a:ext cx="8624937" cy="158504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Location Based Services</a:t>
            </a:r>
          </a:p>
          <a:p>
            <a:pPr marL="12700" marR="5080"/>
            <a:r>
              <a:rPr lang="en-US" sz="1400" kern="0" spc="-80" dirty="0">
                <a:solidFill>
                  <a:schemeClr val="accent2"/>
                </a:solidFill>
              </a:rPr>
              <a:t>For Further Exploration</a:t>
            </a:r>
          </a:p>
          <a:p>
            <a:pPr marL="12700" marR="5080"/>
            <a:r>
              <a:rPr lang="en-US" sz="1400" dirty="0">
                <a:hlinkClick r:id="rId7"/>
              </a:rPr>
              <a:t>Location-Based Services and Geo-Information Engineering </a:t>
            </a:r>
            <a:endParaRPr lang="en-US" sz="1400" dirty="0"/>
          </a:p>
          <a:p>
            <a:pPr marL="12700" marR="5080"/>
            <a:r>
              <a:rPr lang="en-US" sz="1400" dirty="0">
                <a:hlinkClick r:id="rId8"/>
              </a:rPr>
              <a:t>Location-based services and GIS in perspective - ScienceDirect</a:t>
            </a:r>
            <a:endParaRPr lang="en-US" sz="1400" kern="0" spc="-80" dirty="0">
              <a:solidFill>
                <a:schemeClr val="accent2"/>
              </a:solidFill>
            </a:endParaRPr>
          </a:p>
          <a:p>
            <a:pPr marL="12700" marR="5080"/>
            <a:r>
              <a:rPr lang="en-US" sz="1400" dirty="0">
                <a:hlinkClick r:id="rId9"/>
              </a:rPr>
              <a:t>Location based services: ongoing evolution and research agenda</a:t>
            </a:r>
            <a:endParaRPr lang="en-US" sz="1400" kern="0" spc="-80" dirty="0">
              <a:solidFill>
                <a:schemeClr val="accent6"/>
              </a:solidFill>
            </a:endParaRPr>
          </a:p>
          <a:p>
            <a:pPr marL="12700" marR="5080"/>
            <a:r>
              <a:rPr lang="en-US" sz="1400" dirty="0">
                <a:hlinkClick r:id="rId10"/>
              </a:rPr>
              <a:t>Location-Enabled IoT (LE-IoT)</a:t>
            </a:r>
            <a:endParaRPr lang="en-US" sz="1400" dirty="0"/>
          </a:p>
          <a:p>
            <a:pPr marL="12700" marR="5080"/>
            <a:r>
              <a:rPr lang="en-US" sz="1400" dirty="0">
                <a:hlinkClick r:id="rId11"/>
              </a:rPr>
              <a:t>A Review of Indoor/Outdoor Localization Solutions in IoT era</a:t>
            </a:r>
            <a:endParaRPr lang="en-US" sz="1400" kern="0" spc="-80" dirty="0">
              <a:solidFill>
                <a:schemeClr val="accent2"/>
              </a:solidFill>
            </a:endParaRPr>
          </a:p>
        </p:txBody>
      </p:sp>
    </p:spTree>
    <p:extLst>
      <p:ext uri="{BB962C8B-B14F-4D97-AF65-F5344CB8AC3E}">
        <p14:creationId xmlns:p14="http://schemas.microsoft.com/office/powerpoint/2010/main" val="3447337970"/>
      </p:ext>
    </p:extLst>
  </p:cSld>
  <p:clrMapOvr>
    <a:masterClrMapping/>
  </p:clrMapOvr>
</p:sld>
</file>

<file path=ppt/slides/slide6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F43E3-DC77-26EE-0EC1-50DAEC8127D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76639F90-807D-FEFF-F686-7FC826F2323C}"/>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12B510B9-69EB-4A1C-249E-1D495909619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E542CC24-DF2D-8531-9BCD-550606DDFAF8}"/>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279B8111-1BDD-4333-0734-C0B775AD9236}"/>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FCB4AE2D-D361-CC21-82D1-79A39BA8FF45}"/>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43917384-2FB3-756B-0331-0FD3C8CA7303}"/>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AFF48DC-3276-F9F8-3728-9275D7EE39E3}"/>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08C06CF5-7167-B700-27F7-FEE8D8F737A4}"/>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EC62CF13-0CC2-B17C-C63E-F762590D0968}"/>
              </a:ext>
            </a:extLst>
          </p:cNvPr>
          <p:cNvSpPr txBox="1">
            <a:spLocks/>
          </p:cNvSpPr>
          <p:nvPr/>
        </p:nvSpPr>
        <p:spPr>
          <a:xfrm>
            <a:off x="228600" y="762000"/>
            <a:ext cx="8624937" cy="510909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UI &amp; other considerations</a:t>
            </a:r>
          </a:p>
          <a:p>
            <a:pPr marL="12700" marR="5080"/>
            <a:r>
              <a:rPr lang="en-US" sz="1400" kern="0" spc="-80" dirty="0">
                <a:solidFill>
                  <a:schemeClr val="accent2"/>
                </a:solidFill>
              </a:rPr>
              <a:t>Mobile App Development</a:t>
            </a:r>
          </a:p>
          <a:p>
            <a:pPr marL="12700" marR="5080"/>
            <a:r>
              <a:rPr lang="en-US" sz="1400" kern="0" spc="-80" dirty="0">
                <a:solidFill>
                  <a:schemeClr val="accent2"/>
                </a:solidFill>
              </a:rPr>
              <a:t>Platforms</a:t>
            </a:r>
          </a:p>
          <a:p>
            <a:pPr marL="12700" marR="5080"/>
            <a:r>
              <a:rPr lang="en-US" sz="1400" kern="0" spc="-80" dirty="0">
                <a:solidFill>
                  <a:schemeClr val="accent6"/>
                </a:solidFill>
              </a:rPr>
              <a:t>iOS (Swift, </a:t>
            </a:r>
            <a:r>
              <a:rPr lang="en-US" sz="1400" kern="0" spc="-80" dirty="0" err="1">
                <a:solidFill>
                  <a:schemeClr val="accent6"/>
                </a:solidFill>
              </a:rPr>
              <a:t>CoreLocation</a:t>
            </a:r>
            <a:r>
              <a:rPr lang="en-US" sz="1400" kern="0" spc="-80" dirty="0">
                <a:solidFill>
                  <a:schemeClr val="accent6"/>
                </a:solidFill>
              </a:rPr>
              <a:t>, </a:t>
            </a:r>
            <a:r>
              <a:rPr lang="en-US" sz="1400" kern="0" spc="-80" dirty="0" err="1">
                <a:solidFill>
                  <a:schemeClr val="accent6"/>
                </a:solidFill>
              </a:rPr>
              <a:t>MapKit</a:t>
            </a:r>
            <a:r>
              <a:rPr lang="en-US" sz="1400" kern="0" spc="-80" dirty="0">
                <a:solidFill>
                  <a:schemeClr val="accent6"/>
                </a:solidFill>
              </a:rPr>
              <a:t>)</a:t>
            </a:r>
          </a:p>
          <a:p>
            <a:pPr marL="12700" marR="5080"/>
            <a:r>
              <a:rPr lang="en-US" sz="1400" kern="0" spc="-80" dirty="0">
                <a:solidFill>
                  <a:schemeClr val="accent6"/>
                </a:solidFill>
              </a:rPr>
              <a:t>Android (Kotlin/Java, </a:t>
            </a:r>
            <a:r>
              <a:rPr lang="en-US" sz="1400" kern="0" spc="-80" dirty="0" err="1">
                <a:solidFill>
                  <a:schemeClr val="accent6"/>
                </a:solidFill>
              </a:rPr>
              <a:t>LocationManager</a:t>
            </a:r>
            <a:r>
              <a:rPr lang="en-US" sz="1400" kern="0" spc="-80" dirty="0">
                <a:solidFill>
                  <a:schemeClr val="accent6"/>
                </a:solidFill>
              </a:rPr>
              <a:t>, </a:t>
            </a:r>
            <a:r>
              <a:rPr lang="en-US" sz="1400" kern="0" spc="-80" dirty="0" err="1">
                <a:solidFill>
                  <a:schemeClr val="accent6"/>
                </a:solidFill>
              </a:rPr>
              <a:t>FusedLocationProvider</a:t>
            </a:r>
            <a:r>
              <a:rPr lang="en-US" sz="1400" kern="0" spc="-80" dirty="0">
                <a:solidFill>
                  <a:schemeClr val="accent6"/>
                </a:solidFill>
              </a:rPr>
              <a:t>)</a:t>
            </a:r>
          </a:p>
          <a:p>
            <a:pPr marL="12700" marR="5080"/>
            <a:r>
              <a:rPr lang="en-US" sz="1400" kern="0" spc="-80" dirty="0">
                <a:solidFill>
                  <a:schemeClr val="accent6"/>
                </a:solidFill>
              </a:rPr>
              <a:t>Cross-platform (Flutter, React Native, Xamarin, Unity)</a:t>
            </a:r>
          </a:p>
          <a:p>
            <a:pPr marL="12700" marR="5080"/>
            <a:r>
              <a:rPr lang="en-US" sz="1400" kern="0" spc="-80" dirty="0">
                <a:solidFill>
                  <a:schemeClr val="accent2"/>
                </a:solidFill>
              </a:rPr>
              <a:t>Permissions &amp; Privacy</a:t>
            </a:r>
          </a:p>
          <a:p>
            <a:pPr marL="12700" marR="5080"/>
            <a:r>
              <a:rPr lang="en-US" sz="1400" kern="0" spc="-80" dirty="0">
                <a:solidFill>
                  <a:schemeClr val="accent6"/>
                </a:solidFill>
              </a:rPr>
              <a:t>Runtime location permissions (foreground &amp; background)</a:t>
            </a:r>
          </a:p>
          <a:p>
            <a:pPr marL="12700" marR="5080"/>
            <a:r>
              <a:rPr lang="en-US" sz="1400" kern="0" spc="-80" dirty="0">
                <a:solidFill>
                  <a:schemeClr val="accent6"/>
                </a:solidFill>
              </a:rPr>
              <a:t>Privacy policies and GDPR compliance</a:t>
            </a:r>
          </a:p>
          <a:p>
            <a:pPr marL="12700" marR="5080"/>
            <a:r>
              <a:rPr lang="en-US" sz="1400" kern="0" spc="-80" dirty="0">
                <a:solidFill>
                  <a:schemeClr val="accent6"/>
                </a:solidFill>
              </a:rPr>
              <a:t>Best practices for minimal location data usage</a:t>
            </a:r>
          </a:p>
          <a:p>
            <a:pPr marL="12700" marR="5080"/>
            <a:r>
              <a:rPr lang="en-US" sz="1400" kern="0" spc="-80" dirty="0">
                <a:solidFill>
                  <a:schemeClr val="accent2"/>
                </a:solidFill>
              </a:rPr>
              <a:t>Sensors &amp; Device Integration</a:t>
            </a:r>
          </a:p>
          <a:p>
            <a:pPr marL="12700" marR="5080"/>
            <a:r>
              <a:rPr lang="en-US" sz="1400" kern="0" spc="-80" dirty="0">
                <a:solidFill>
                  <a:schemeClr val="accent6"/>
                </a:solidFill>
              </a:rPr>
              <a:t>Accelerometer, gyroscope (for movement detection)</a:t>
            </a:r>
          </a:p>
          <a:p>
            <a:pPr marL="12700" marR="5080"/>
            <a:r>
              <a:rPr lang="en-US" sz="1400" kern="0" spc="-80" dirty="0">
                <a:solidFill>
                  <a:schemeClr val="accent6"/>
                </a:solidFill>
              </a:rPr>
              <a:t>Compass (orientation)</a:t>
            </a:r>
          </a:p>
          <a:p>
            <a:pPr marL="12700" marR="5080"/>
            <a:r>
              <a:rPr lang="en-US" sz="1400" kern="0" spc="-80" dirty="0">
                <a:solidFill>
                  <a:schemeClr val="accent6"/>
                </a:solidFill>
              </a:rPr>
              <a:t>NFC/Beacon integration for proximity features</a:t>
            </a:r>
          </a:p>
          <a:p>
            <a:pPr marL="12700" marR="5080"/>
            <a:endParaRPr lang="en-US" sz="1900" kern="0" spc="-80" dirty="0">
              <a:solidFill>
                <a:schemeClr val="accent2"/>
              </a:solidFill>
            </a:endParaRPr>
          </a:p>
          <a:p>
            <a:pPr marL="12700" marR="5080"/>
            <a:r>
              <a:rPr lang="en-US" sz="1400" kern="0" spc="-80" dirty="0">
                <a:solidFill>
                  <a:schemeClr val="accent2"/>
                </a:solidFill>
              </a:rPr>
              <a:t>User Experience &amp; UI</a:t>
            </a:r>
          </a:p>
          <a:p>
            <a:pPr marL="12700" marR="5080"/>
            <a:r>
              <a:rPr lang="en-US" sz="1400" kern="0" spc="-80" dirty="0">
                <a:solidFill>
                  <a:schemeClr val="accent6"/>
                </a:solidFill>
              </a:rPr>
              <a:t>Map interaction design</a:t>
            </a:r>
          </a:p>
          <a:p>
            <a:pPr marL="12700" marR="5080"/>
            <a:r>
              <a:rPr lang="en-US" sz="1400" kern="0" spc="-80" dirty="0">
                <a:solidFill>
                  <a:schemeClr val="accent6"/>
                </a:solidFill>
              </a:rPr>
              <a:t>Panning, zooming, rotation</a:t>
            </a:r>
          </a:p>
          <a:p>
            <a:pPr marL="12700" marR="5080"/>
            <a:r>
              <a:rPr lang="en-US" sz="1400" kern="0" spc="-80" dirty="0">
                <a:solidFill>
                  <a:schemeClr val="accent6"/>
                </a:solidFill>
              </a:rPr>
              <a:t>Custom markers and overlays</a:t>
            </a:r>
          </a:p>
          <a:p>
            <a:pPr marL="12700" marR="5080"/>
            <a:r>
              <a:rPr lang="en-US" sz="1400" kern="0" spc="-80" dirty="0">
                <a:solidFill>
                  <a:schemeClr val="accent6"/>
                </a:solidFill>
              </a:rPr>
              <a:t>Heatmaps and choropleth maps</a:t>
            </a:r>
          </a:p>
          <a:p>
            <a:pPr marL="12700" marR="5080"/>
            <a:r>
              <a:rPr lang="en-US" sz="1400" kern="0" spc="-80" dirty="0">
                <a:solidFill>
                  <a:schemeClr val="accent6"/>
                </a:solidFill>
              </a:rPr>
              <a:t>Location feedback</a:t>
            </a:r>
          </a:p>
          <a:p>
            <a:pPr marL="12700" marR="5080"/>
            <a:r>
              <a:rPr lang="en-US" sz="1400" kern="0" spc="-80" dirty="0">
                <a:solidFill>
                  <a:schemeClr val="accent6"/>
                </a:solidFill>
              </a:rPr>
              <a:t>Turn-by-turn navigation</a:t>
            </a:r>
          </a:p>
          <a:p>
            <a:pPr marL="12700" marR="5080"/>
            <a:r>
              <a:rPr lang="en-US" sz="1400" kern="0" spc="-80" dirty="0">
                <a:solidFill>
                  <a:schemeClr val="accent6"/>
                </a:solidFill>
              </a:rPr>
              <a:t>Distance alerts</a:t>
            </a:r>
          </a:p>
        </p:txBody>
      </p:sp>
    </p:spTree>
    <p:extLst>
      <p:ext uri="{BB962C8B-B14F-4D97-AF65-F5344CB8AC3E}">
        <p14:creationId xmlns:p14="http://schemas.microsoft.com/office/powerpoint/2010/main" val="1223955383"/>
      </p:ext>
    </p:extLst>
  </p:cSld>
  <p:clrMapOvr>
    <a:masterClrMapping/>
  </p:clrMapOvr>
</p:sld>
</file>

<file path=ppt/slides/slide6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274FA-8872-BEFC-1C91-77B2B3E2E337}"/>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E24905E6-F3D4-51A1-2EC5-1798F9FA414B}"/>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3E6B9C27-2A82-E565-2C82-1700F3085F15}"/>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3FFE6D0-8D06-E3CF-CE31-08B4CBA2D2A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1C9FAE13-999E-87C8-2624-AA6128BD0CDF}"/>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70E40610-597E-09B3-A57A-7EF611754FBD}"/>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0ECC022-E620-A420-655B-E4F4133F193C}"/>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C39DD2F3-FB34-5B0A-D9FC-CDB83F58DB8D}"/>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7ED76268-31A9-C0D6-FA69-9AAD12479CB9}"/>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06BAAE88-02BA-AA42-4622-07C5899C87FC}"/>
              </a:ext>
            </a:extLst>
          </p:cNvPr>
          <p:cNvSpPr txBox="1">
            <a:spLocks/>
          </p:cNvSpPr>
          <p:nvPr/>
        </p:nvSpPr>
        <p:spPr>
          <a:xfrm>
            <a:off x="228600" y="762000"/>
            <a:ext cx="8624937" cy="5247590"/>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UI &amp; other considerations</a:t>
            </a:r>
          </a:p>
          <a:p>
            <a:pPr marL="12700" marR="5080"/>
            <a:r>
              <a:rPr lang="en-US" sz="1400" kern="0" spc="-80" dirty="0">
                <a:solidFill>
                  <a:schemeClr val="accent6"/>
                </a:solidFill>
              </a:rPr>
              <a:t>Activity recognition (walking, driving, cycling)</a:t>
            </a:r>
          </a:p>
          <a:p>
            <a:pPr marL="12700" marR="5080"/>
            <a:r>
              <a:rPr lang="en-US" sz="1400" kern="0" spc="-80" dirty="0">
                <a:solidFill>
                  <a:schemeClr val="accent6"/>
                </a:solidFill>
              </a:rPr>
              <a:t>Offline maps</a:t>
            </a:r>
          </a:p>
          <a:p>
            <a:pPr marL="12700" marR="5080"/>
            <a:r>
              <a:rPr lang="en-US" sz="1400" kern="0" spc="-80" dirty="0">
                <a:solidFill>
                  <a:schemeClr val="accent6"/>
                </a:solidFill>
              </a:rPr>
              <a:t>Map tiles caching</a:t>
            </a:r>
          </a:p>
          <a:p>
            <a:pPr marL="12700" marR="5080"/>
            <a:r>
              <a:rPr lang="en-US" sz="1400" kern="0" spc="-80" dirty="0">
                <a:solidFill>
                  <a:schemeClr val="accent6"/>
                </a:solidFill>
              </a:rPr>
              <a:t>Offline routing</a:t>
            </a:r>
          </a:p>
          <a:p>
            <a:pPr marL="12700" marR="5080"/>
            <a:endParaRPr lang="en-US" sz="1400" kern="0" spc="-80" dirty="0">
              <a:solidFill>
                <a:schemeClr val="accent6"/>
              </a:solidFill>
            </a:endParaRPr>
          </a:p>
          <a:p>
            <a:pPr marL="12700" marR="5080"/>
            <a:r>
              <a:rPr lang="en-US" sz="1400" kern="0" spc="-80" dirty="0">
                <a:solidFill>
                  <a:schemeClr val="accent2"/>
                </a:solidFill>
              </a:rPr>
              <a:t>Security &amp; Performance</a:t>
            </a:r>
          </a:p>
          <a:p>
            <a:pPr marL="12700" marR="5080"/>
            <a:r>
              <a:rPr lang="en-US" sz="1400" kern="0" spc="-80" dirty="0">
                <a:solidFill>
                  <a:schemeClr val="accent6"/>
                </a:solidFill>
              </a:rPr>
              <a:t>Secure location data transmission (HTTPS, encryption)</a:t>
            </a:r>
          </a:p>
          <a:p>
            <a:pPr marL="12700" marR="5080"/>
            <a:r>
              <a:rPr lang="en-US" sz="1400" kern="0" spc="-80" dirty="0">
                <a:solidFill>
                  <a:schemeClr val="accent6"/>
                </a:solidFill>
              </a:rPr>
              <a:t>Rate limiting for API calls (e.g., Google Maps API limits)</a:t>
            </a:r>
          </a:p>
          <a:p>
            <a:pPr marL="12700" marR="5080"/>
            <a:r>
              <a:rPr lang="en-US" sz="1400" kern="0" spc="-80" dirty="0">
                <a:solidFill>
                  <a:schemeClr val="accent6"/>
                </a:solidFill>
              </a:rPr>
              <a:t>Battery optimization for continuous location tracking</a:t>
            </a:r>
          </a:p>
          <a:p>
            <a:pPr marL="12700" marR="5080"/>
            <a:r>
              <a:rPr lang="en-US" sz="1400" kern="0" spc="-80" dirty="0">
                <a:solidFill>
                  <a:schemeClr val="accent6"/>
                </a:solidFill>
              </a:rPr>
              <a:t>Data anonymization for privacy</a:t>
            </a:r>
          </a:p>
          <a:p>
            <a:pPr marL="12700" marR="5080"/>
            <a:endParaRPr lang="en-US" sz="1400" kern="0" spc="-80" dirty="0">
              <a:solidFill>
                <a:schemeClr val="accent6"/>
              </a:solidFill>
            </a:endParaRPr>
          </a:p>
          <a:p>
            <a:pPr marL="12700" marR="5080"/>
            <a:r>
              <a:rPr lang="en-US" sz="1400" kern="0" spc="-80" dirty="0">
                <a:solidFill>
                  <a:schemeClr val="accent2"/>
                </a:solidFill>
              </a:rPr>
              <a:t>Advanced Concepts</a:t>
            </a:r>
          </a:p>
          <a:p>
            <a:pPr marL="12700" marR="5080"/>
            <a:r>
              <a:rPr lang="en-US" sz="1400" kern="0" spc="-80" dirty="0">
                <a:solidFill>
                  <a:schemeClr val="accent6"/>
                </a:solidFill>
              </a:rPr>
              <a:t>Machine Learning / AI</a:t>
            </a:r>
          </a:p>
          <a:p>
            <a:pPr marL="12700" marR="5080"/>
            <a:r>
              <a:rPr lang="en-US" sz="1400" kern="0" spc="-80" dirty="0">
                <a:solidFill>
                  <a:schemeClr val="accent6"/>
                </a:solidFill>
              </a:rPr>
              <a:t>Predictive location (next probable location)</a:t>
            </a:r>
          </a:p>
          <a:p>
            <a:pPr marL="12700" marR="5080"/>
            <a:r>
              <a:rPr lang="en-US" sz="1400" kern="0" spc="-80" dirty="0">
                <a:solidFill>
                  <a:schemeClr val="accent6"/>
                </a:solidFill>
              </a:rPr>
              <a:t>POI recommendation based on user behavior</a:t>
            </a:r>
          </a:p>
          <a:p>
            <a:pPr marL="12700" marR="5080"/>
            <a:r>
              <a:rPr lang="en-US" sz="1400" kern="0" spc="-80" dirty="0">
                <a:solidFill>
                  <a:schemeClr val="accent6"/>
                </a:solidFill>
              </a:rPr>
              <a:t>Context-aware notifications</a:t>
            </a:r>
          </a:p>
          <a:p>
            <a:pPr marL="12700" marR="5080"/>
            <a:r>
              <a:rPr lang="en-US" sz="1400" kern="0" spc="-80" dirty="0">
                <a:solidFill>
                  <a:schemeClr val="accent6"/>
                </a:solidFill>
              </a:rPr>
              <a:t>Augmented Reality</a:t>
            </a:r>
          </a:p>
          <a:p>
            <a:pPr marL="12700" marR="5080"/>
            <a:r>
              <a:rPr lang="en-US" sz="1400" kern="0" spc="-80" dirty="0">
                <a:solidFill>
                  <a:schemeClr val="accent6"/>
                </a:solidFill>
              </a:rPr>
              <a:t>AR navigation overlays (ARKit for iOS, </a:t>
            </a:r>
            <a:r>
              <a:rPr lang="en-US" sz="1400" kern="0" spc="-80" dirty="0" err="1">
                <a:solidFill>
                  <a:schemeClr val="accent6"/>
                </a:solidFill>
              </a:rPr>
              <a:t>ARCore</a:t>
            </a:r>
            <a:r>
              <a:rPr lang="en-US" sz="1400" kern="0" spc="-80" dirty="0">
                <a:solidFill>
                  <a:schemeClr val="accent6"/>
                </a:solidFill>
              </a:rPr>
              <a:t> for Android)</a:t>
            </a:r>
          </a:p>
          <a:p>
            <a:pPr marL="12700" marR="5080"/>
            <a:r>
              <a:rPr lang="en-US" sz="1400" kern="0" spc="-80" dirty="0">
                <a:solidFill>
                  <a:schemeClr val="accent6"/>
                </a:solidFill>
              </a:rPr>
              <a:t>Indoor AR positioning</a:t>
            </a:r>
          </a:p>
          <a:p>
            <a:pPr marL="12700" marR="5080"/>
            <a:r>
              <a:rPr lang="en-US" sz="1400" kern="0" spc="-80" dirty="0">
                <a:solidFill>
                  <a:schemeClr val="accent6"/>
                </a:solidFill>
              </a:rPr>
              <a:t>Integration with IoT</a:t>
            </a:r>
          </a:p>
          <a:p>
            <a:pPr marL="12700" marR="5080"/>
            <a:r>
              <a:rPr lang="en-US" sz="1400" kern="0" spc="-80" dirty="0">
                <a:solidFill>
                  <a:schemeClr val="accent6"/>
                </a:solidFill>
              </a:rPr>
              <a:t>Smart devices and wearables</a:t>
            </a:r>
          </a:p>
          <a:p>
            <a:pPr marL="12700" marR="5080"/>
            <a:r>
              <a:rPr lang="en-US" sz="1400" kern="0" spc="-80" dirty="0">
                <a:solidFill>
                  <a:schemeClr val="accent6"/>
                </a:solidFill>
              </a:rPr>
              <a:t>Geofenced automation (e.g., smart home triggers)</a:t>
            </a:r>
          </a:p>
          <a:p>
            <a:pPr marL="12700" marR="5080"/>
            <a:r>
              <a:rPr lang="en-US" sz="1400" kern="0" spc="-80" dirty="0">
                <a:solidFill>
                  <a:schemeClr val="accent6"/>
                </a:solidFill>
              </a:rPr>
              <a:t>Big Data &amp; Analytics</a:t>
            </a:r>
          </a:p>
        </p:txBody>
      </p:sp>
    </p:spTree>
    <p:extLst>
      <p:ext uri="{BB962C8B-B14F-4D97-AF65-F5344CB8AC3E}">
        <p14:creationId xmlns:p14="http://schemas.microsoft.com/office/powerpoint/2010/main" val="1332571963"/>
      </p:ext>
    </p:extLst>
  </p:cSld>
  <p:clrMapOvr>
    <a:masterClrMapping/>
  </p:clrMapOvr>
</p:sld>
</file>

<file path=ppt/slides/slide6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B2859-26FE-4CDB-0F86-F8D57D925B33}"/>
            </a:ext>
          </a:extLst>
        </p:cNvPr>
        <p:cNvGrpSpPr/>
        <p:nvPr/>
      </p:nvGrpSpPr>
      <p:grpSpPr>
        <a:xfrm>
          <a:off x="0" y="0"/>
          <a:ext cx="0" cy="0"/>
          <a:chOff x="0" y="0"/>
          <a:chExt cx="0" cy="0"/>
        </a:xfrm>
      </p:grpSpPr>
      <p:sp>
        <p:nvSpPr>
          <p:cNvPr id="4" name="object 4">
            <a:extLst>
              <a:ext uri="{FF2B5EF4-FFF2-40B4-BE49-F238E27FC236}">
                <a16:creationId xmlns:a16="http://schemas.microsoft.com/office/drawing/2014/main" id="{C5BD797F-9635-A670-FC8C-17A805C6A8A9}"/>
              </a:ext>
            </a:extLst>
          </p:cNvPr>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a:extLst>
              <a:ext uri="{FF2B5EF4-FFF2-40B4-BE49-F238E27FC236}">
                <a16:creationId xmlns:a16="http://schemas.microsoft.com/office/drawing/2014/main" id="{D7935CDB-6139-AD55-7A80-0016915F2E43}"/>
              </a:ext>
            </a:extLst>
          </p:cNvPr>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528F55FC-C071-A293-13D7-A84708AFC29C}"/>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3C470AF6-A293-828C-F69B-2EDFE6A480CE}"/>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39D06EFB-E28F-962A-75AE-7974D7494C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15795177-389E-344A-97D7-0A6CE65374F2}"/>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272E31C2-CF06-BCAC-AFC8-CEBFDC286B9E}"/>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A21A011A-B4BA-220E-F593-045E0957F8CC}"/>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04AFD6F9-50C4-840D-D0F0-3B635283D1F2}"/>
              </a:ext>
            </a:extLst>
          </p:cNvPr>
          <p:cNvSpPr txBox="1">
            <a:spLocks/>
          </p:cNvSpPr>
          <p:nvPr/>
        </p:nvSpPr>
        <p:spPr>
          <a:xfrm>
            <a:off x="228600" y="762000"/>
            <a:ext cx="8624937" cy="266226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900" kern="0" spc="-80" dirty="0">
                <a:solidFill>
                  <a:schemeClr val="accent2"/>
                </a:solidFill>
              </a:rPr>
              <a:t>UI &amp; other considerations</a:t>
            </a:r>
          </a:p>
          <a:p>
            <a:pPr marL="12700" marR="5080"/>
            <a:r>
              <a:rPr lang="en-US" sz="1400" kern="0" spc="-80" dirty="0">
                <a:solidFill>
                  <a:schemeClr val="accent6"/>
                </a:solidFill>
              </a:rPr>
              <a:t>Heatmaps of user movements</a:t>
            </a:r>
          </a:p>
          <a:p>
            <a:pPr marL="12700" marR="5080"/>
            <a:r>
              <a:rPr lang="en-US" sz="1400" kern="0" spc="-80" dirty="0">
                <a:solidFill>
                  <a:schemeClr val="accent6"/>
                </a:solidFill>
              </a:rPr>
              <a:t>Geospatial analytics for business insights</a:t>
            </a:r>
          </a:p>
          <a:p>
            <a:pPr marL="12700" marR="5080"/>
            <a:r>
              <a:rPr lang="en-US" sz="1400" kern="0" spc="-80" dirty="0">
                <a:solidFill>
                  <a:schemeClr val="accent6"/>
                </a:solidFill>
              </a:rPr>
              <a:t>Real-time event tracking and alerts</a:t>
            </a:r>
          </a:p>
          <a:p>
            <a:pPr marL="12700" marR="5080"/>
            <a:endParaRPr lang="en-US" sz="1400" kern="0" spc="-80" dirty="0">
              <a:solidFill>
                <a:schemeClr val="accent6"/>
              </a:solidFill>
            </a:endParaRPr>
          </a:p>
          <a:p>
            <a:pPr marL="12700" marR="5080"/>
            <a:r>
              <a:rPr lang="en-US" sz="1400" kern="0" spc="-80" dirty="0">
                <a:solidFill>
                  <a:schemeClr val="accent2"/>
                </a:solidFill>
              </a:rPr>
              <a:t>Testing &amp; Monitoring</a:t>
            </a:r>
          </a:p>
          <a:p>
            <a:pPr marL="12700" marR="5080"/>
            <a:r>
              <a:rPr lang="en-US" sz="1400" kern="0" spc="-80" dirty="0">
                <a:solidFill>
                  <a:schemeClr val="accent6"/>
                </a:solidFill>
              </a:rPr>
              <a:t>Location mocking/simulation for testing</a:t>
            </a:r>
          </a:p>
          <a:p>
            <a:pPr marL="12700" marR="5080"/>
            <a:r>
              <a:rPr lang="en-US" sz="1400" kern="0" spc="-80" dirty="0">
                <a:solidFill>
                  <a:schemeClr val="accent6"/>
                </a:solidFill>
              </a:rPr>
              <a:t>Real-world field testing for accuracy</a:t>
            </a:r>
          </a:p>
          <a:p>
            <a:pPr marL="12700" marR="5080"/>
            <a:r>
              <a:rPr lang="en-US" sz="1400" kern="0" spc="-80" dirty="0">
                <a:solidFill>
                  <a:schemeClr val="accent6"/>
                </a:solidFill>
              </a:rPr>
              <a:t>Analytics of location-based events</a:t>
            </a:r>
          </a:p>
          <a:p>
            <a:pPr marL="12700" marR="5080"/>
            <a:r>
              <a:rPr lang="en-US" sz="1400" kern="0" spc="-80" dirty="0">
                <a:solidFill>
                  <a:schemeClr val="accent6"/>
                </a:solidFill>
              </a:rPr>
              <a:t>Crash reporting &amp; network monitoring</a:t>
            </a:r>
          </a:p>
          <a:p>
            <a:pPr marL="12700" marR="5080"/>
            <a:endParaRPr lang="en-US" sz="1400" kern="0" spc="-80" dirty="0">
              <a:solidFill>
                <a:schemeClr val="accent6"/>
              </a:solidFill>
            </a:endParaRPr>
          </a:p>
          <a:p>
            <a:pPr marL="12700" marR="5080"/>
            <a:endParaRPr lang="en-US" sz="1400" kern="0" spc="-80" dirty="0">
              <a:solidFill>
                <a:schemeClr val="accent6"/>
              </a:solidFill>
            </a:endParaRPr>
          </a:p>
        </p:txBody>
      </p:sp>
    </p:spTree>
    <p:extLst>
      <p:ext uri="{BB962C8B-B14F-4D97-AF65-F5344CB8AC3E}">
        <p14:creationId xmlns:p14="http://schemas.microsoft.com/office/powerpoint/2010/main" val="310882240"/>
      </p:ext>
    </p:extLst>
  </p:cSld>
  <p:clrMapOvr>
    <a:masterClrMapping/>
  </p:clrMapOvr>
</p:sld>
</file>

<file path=ppt/slides/slide6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0B8A52B-E3C5-F428-9716-D1B8F4FD90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6DB754A2-823C-1D1A-ADBB-6341AF8B257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08D39E27-1990-F043-412C-C6FA329150A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System Design Example 1 -  </a:t>
            </a:r>
            <a:r>
              <a:rPr lang="en-US" sz="2000" kern="0" spc="-80" dirty="0">
                <a:solidFill>
                  <a:schemeClr val="accent2"/>
                </a:solidFill>
              </a:rPr>
              <a:t>Proximity Services - </a:t>
            </a:r>
            <a:endParaRPr lang="en-US" sz="1900" kern="0" spc="-80" dirty="0">
              <a:solidFill>
                <a:schemeClr val="accent6"/>
              </a:solidFill>
            </a:endParaRPr>
          </a:p>
          <a:p>
            <a:pPr marL="12700" marR="5080"/>
            <a:endParaRPr lang="en-US" sz="2400" kern="0" spc="-80" dirty="0">
              <a:solidFill>
                <a:schemeClr val="accent2"/>
              </a:solidFill>
            </a:endParaRPr>
          </a:p>
        </p:txBody>
      </p:sp>
      <p:pic>
        <p:nvPicPr>
          <p:cNvPr id="13" name="Picture 12">
            <a:extLst>
              <a:ext uri="{FF2B5EF4-FFF2-40B4-BE49-F238E27FC236}">
                <a16:creationId xmlns:a16="http://schemas.microsoft.com/office/drawing/2014/main" id="{05B1C1C2-7006-C82F-DFBE-2BA3EEF4AD08}"/>
              </a:ext>
            </a:extLst>
          </p:cNvPr>
          <p:cNvPicPr>
            <a:picLocks noChangeAspect="1"/>
          </p:cNvPicPr>
          <p:nvPr/>
        </p:nvPicPr>
        <p:blipFill>
          <a:blip r:embed="rId7"/>
          <a:stretch>
            <a:fillRect/>
          </a:stretch>
        </p:blipFill>
        <p:spPr>
          <a:xfrm>
            <a:off x="166737" y="1143001"/>
            <a:ext cx="8748661" cy="3505200"/>
          </a:xfrm>
          <a:prstGeom prst="rect">
            <a:avLst/>
          </a:prstGeom>
        </p:spPr>
      </p:pic>
      <p:sp>
        <p:nvSpPr>
          <p:cNvPr id="10" name="object 2">
            <a:extLst>
              <a:ext uri="{FF2B5EF4-FFF2-40B4-BE49-F238E27FC236}">
                <a16:creationId xmlns:a16="http://schemas.microsoft.com/office/drawing/2014/main" id="{31552197-9D51-7A0D-E708-C85C6D23B6AC}"/>
              </a:ext>
            </a:extLst>
          </p:cNvPr>
          <p:cNvSpPr txBox="1">
            <a:spLocks/>
          </p:cNvSpPr>
          <p:nvPr/>
        </p:nvSpPr>
        <p:spPr>
          <a:xfrm>
            <a:off x="228598" y="4579722"/>
            <a:ext cx="8624937" cy="1384995"/>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2"/>
                </a:solidFill>
              </a:rPr>
              <a:t>Example APIs– </a:t>
            </a:r>
          </a:p>
          <a:p>
            <a:pPr marL="355600" marR="5080" indent="-342900">
              <a:buAutoNum type="alphaLcParenR"/>
            </a:pPr>
            <a:r>
              <a:rPr lang="en-US" sz="1500" kern="0" spc="-80" dirty="0">
                <a:solidFill>
                  <a:schemeClr val="accent6"/>
                </a:solidFill>
              </a:rPr>
              <a:t>GET /v1/search/nearby with request parms viz </a:t>
            </a:r>
            <a:r>
              <a:rPr lang="en-US" sz="1500" kern="0" spc="-80" dirty="0" err="1">
                <a:solidFill>
                  <a:schemeClr val="accent6"/>
                </a:solidFill>
              </a:rPr>
              <a:t>lat</a:t>
            </a:r>
            <a:r>
              <a:rPr lang="en-US" sz="1500" kern="0" spc="-80" dirty="0">
                <a:solidFill>
                  <a:schemeClr val="accent6"/>
                </a:solidFill>
              </a:rPr>
              <a:t>, long &amp; radius</a:t>
            </a:r>
          </a:p>
          <a:p>
            <a:pPr marL="355600" marR="5080" indent="-342900">
              <a:buAutoNum type="alphaLcParenR"/>
            </a:pPr>
            <a:r>
              <a:rPr lang="en-US" sz="1500" kern="0" spc="-80" dirty="0">
                <a:solidFill>
                  <a:schemeClr val="accent6"/>
                </a:solidFill>
              </a:rPr>
              <a:t>GET  /v1/businesses/:id</a:t>
            </a:r>
          </a:p>
          <a:p>
            <a:pPr marL="355600" marR="5080" indent="-342900">
              <a:buFontTx/>
              <a:buAutoNum type="alphaLcParenR"/>
            </a:pPr>
            <a:r>
              <a:rPr lang="en-US" sz="1500" kern="0" spc="-80" dirty="0">
                <a:solidFill>
                  <a:schemeClr val="accent6"/>
                </a:solidFill>
              </a:rPr>
              <a:t>POST  /v1/businesses/</a:t>
            </a:r>
          </a:p>
          <a:p>
            <a:pPr marL="355600" marR="5080" indent="-342900">
              <a:buAutoNum type="alphaLcParenR"/>
            </a:pPr>
            <a:r>
              <a:rPr lang="en-US" sz="1500" kern="0" spc="-80" dirty="0">
                <a:solidFill>
                  <a:schemeClr val="accent6"/>
                </a:solidFill>
              </a:rPr>
              <a:t>PUT /v1/businesses/:id</a:t>
            </a:r>
          </a:p>
          <a:p>
            <a:pPr marL="355600" marR="5080" indent="-342900">
              <a:buAutoNum type="alphaLcParenR"/>
            </a:pPr>
            <a:r>
              <a:rPr lang="en-US" sz="1500" kern="0" spc="-80" dirty="0">
                <a:solidFill>
                  <a:schemeClr val="accent6"/>
                </a:solidFill>
              </a:rPr>
              <a:t>DELETE /v1/businesses/:id</a:t>
            </a:r>
          </a:p>
        </p:txBody>
      </p:sp>
    </p:spTree>
    <p:extLst>
      <p:ext uri="{BB962C8B-B14F-4D97-AF65-F5344CB8AC3E}">
        <p14:creationId xmlns:p14="http://schemas.microsoft.com/office/powerpoint/2010/main" val="2251754976"/>
      </p:ext>
    </p:extLst>
  </p:cSld>
  <p:clrMapOvr>
    <a:masterClrMapping/>
  </p:clrMapOvr>
</p:sld>
</file>

<file path=ppt/slides/slide6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0B8A52B-E3C5-F428-9716-D1B8F4FD90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6DB754A2-823C-1D1A-ADBB-6341AF8B257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08D39E27-1990-F043-412C-C6FA329150A9}"/>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System Design Example 2 -  </a:t>
            </a:r>
            <a:r>
              <a:rPr lang="en-US" sz="2000" kern="0" spc="-80" dirty="0">
                <a:solidFill>
                  <a:schemeClr val="accent2"/>
                </a:solidFill>
              </a:rPr>
              <a:t>Nearby Friends - </a:t>
            </a:r>
            <a:endParaRPr lang="en-US" sz="1900" kern="0" spc="-80" dirty="0">
              <a:solidFill>
                <a:schemeClr val="accent6"/>
              </a:solidFill>
            </a:endParaRPr>
          </a:p>
          <a:p>
            <a:pPr marL="12700" marR="5080"/>
            <a:endParaRPr lang="en-US" sz="2400" kern="0" spc="-80" dirty="0">
              <a:solidFill>
                <a:schemeClr val="accent2"/>
              </a:solidFill>
            </a:endParaRPr>
          </a:p>
        </p:txBody>
      </p:sp>
      <p:pic>
        <p:nvPicPr>
          <p:cNvPr id="2050" name="Picture 2" descr="Near By Friends Offline Case">
            <a:extLst>
              <a:ext uri="{FF2B5EF4-FFF2-40B4-BE49-F238E27FC236}">
                <a16:creationId xmlns:a16="http://schemas.microsoft.com/office/drawing/2014/main" id="{6E3A7476-4B93-8E9E-B490-E1FCD5FDE12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599" y="1162050"/>
            <a:ext cx="8777337" cy="4095750"/>
          </a:xfrm>
          <a:prstGeom prst="rect">
            <a:avLst/>
          </a:prstGeom>
          <a:noFill/>
          <a:extLst>
            <a:ext uri="{909E8E84-426E-40DD-AFC4-6F175D3DCCD1}">
              <a14:hiddenFill xmlns:a14="http://schemas.microsoft.com/office/drawing/2010/main">
                <a:solidFill>
                  <a:srgbClr val="FFFFFF"/>
                </a:solidFill>
              </a14:hiddenFill>
            </a:ext>
          </a:extLst>
        </p:spPr>
      </p:pic>
      <p:sp>
        <p:nvSpPr>
          <p:cNvPr id="10" name="object 2">
            <a:extLst>
              <a:ext uri="{FF2B5EF4-FFF2-40B4-BE49-F238E27FC236}">
                <a16:creationId xmlns:a16="http://schemas.microsoft.com/office/drawing/2014/main" id="{4EA84694-218B-41C1-C857-971EE4F8F759}"/>
              </a:ext>
            </a:extLst>
          </p:cNvPr>
          <p:cNvSpPr txBox="1">
            <a:spLocks/>
          </p:cNvSpPr>
          <p:nvPr/>
        </p:nvSpPr>
        <p:spPr>
          <a:xfrm>
            <a:off x="100422" y="5269468"/>
            <a:ext cx="8624937" cy="692497"/>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500" kern="0" spc="-80" dirty="0">
                <a:solidFill>
                  <a:schemeClr val="accent6"/>
                </a:solidFill>
              </a:rPr>
              <a:t>Might seem similar to the Proximity service example earlier but actually here the business equivalents i.e. the nearby friends can change location &amp; so the scenario is very dynamic in nature. </a:t>
            </a:r>
            <a:r>
              <a:rPr lang="en-US" sz="1500" kern="0" spc="-80" dirty="0" err="1">
                <a:solidFill>
                  <a:schemeClr val="accent6"/>
                </a:solidFill>
              </a:rPr>
              <a:t>WebSockets</a:t>
            </a:r>
            <a:r>
              <a:rPr lang="en-US" sz="1500" kern="0" spc="-80" dirty="0">
                <a:solidFill>
                  <a:schemeClr val="accent6"/>
                </a:solidFill>
              </a:rPr>
              <a:t>(e.g. using </a:t>
            </a:r>
            <a:r>
              <a:rPr lang="en-US" sz="1500" kern="0" spc="-80" dirty="0" err="1">
                <a:solidFill>
                  <a:schemeClr val="accent6"/>
                </a:solidFill>
              </a:rPr>
              <a:t>SignalR</a:t>
            </a:r>
            <a:r>
              <a:rPr lang="en-US" sz="1500" kern="0" spc="-80" dirty="0">
                <a:solidFill>
                  <a:schemeClr val="accent6"/>
                </a:solidFill>
              </a:rPr>
              <a:t>)  based implementation is ideal to be used here.</a:t>
            </a:r>
          </a:p>
        </p:txBody>
      </p:sp>
    </p:spTree>
    <p:extLst>
      <p:ext uri="{BB962C8B-B14F-4D97-AF65-F5344CB8AC3E}">
        <p14:creationId xmlns:p14="http://schemas.microsoft.com/office/powerpoint/2010/main" val="2415887764"/>
      </p:ext>
    </p:extLst>
  </p:cSld>
  <p:clrMapOvr>
    <a:masterClrMapping/>
  </p:clrMapOvr>
</p:sld>
</file>

<file path=ppt/slides/slide6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1756803" y="6096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sp>
        <p:nvSpPr>
          <p:cNvPr id="5" name="object 5"/>
          <p:cNvSpPr/>
          <p:nvPr/>
        </p:nvSpPr>
        <p:spPr>
          <a:xfrm>
            <a:off x="1756803" y="457200"/>
            <a:ext cx="2693035" cy="113664"/>
          </a:xfrm>
          <a:custGeom>
            <a:avLst/>
            <a:gdLst/>
            <a:ahLst/>
            <a:cxnLst/>
            <a:rect l="l" t="t" r="r" b="b"/>
            <a:pathLst>
              <a:path w="2693035" h="113664">
                <a:moveTo>
                  <a:pt x="0" y="113398"/>
                </a:moveTo>
                <a:lnTo>
                  <a:pt x="2692806" y="113398"/>
                </a:lnTo>
                <a:lnTo>
                  <a:pt x="2692806" y="0"/>
                </a:lnTo>
                <a:lnTo>
                  <a:pt x="0" y="0"/>
                </a:lnTo>
                <a:lnTo>
                  <a:pt x="0" y="113398"/>
                </a:lnTo>
                <a:close/>
              </a:path>
            </a:pathLst>
          </a:custGeom>
          <a:solidFill>
            <a:srgbClr val="D322F2"/>
          </a:solidFill>
        </p:spPr>
        <p:txBody>
          <a:bodyPr wrap="square" lIns="0" tIns="0" rIns="0" bIns="0" rtlCol="0"/>
          <a:lstStyle/>
          <a:p>
            <a:endParaRPr dirty="0"/>
          </a:p>
        </p:txBody>
      </p:sp>
      <p:graphicFrame>
        <p:nvGraphicFramePr>
          <p:cNvPr id="6" name="Diagram 5">
            <a:extLst>
              <a:ext uri="{FF2B5EF4-FFF2-40B4-BE49-F238E27FC236}">
                <a16:creationId xmlns:a16="http://schemas.microsoft.com/office/drawing/2014/main" id="{226DC635-E9B3-0133-0548-37B556605D82}"/>
              </a:ext>
            </a:extLst>
          </p:cNvPr>
          <p:cNvGraphicFramePr/>
          <p:nvPr/>
        </p:nvGraphicFramePr>
        <p:xfrm>
          <a:off x="381000" y="34425"/>
          <a:ext cx="7192300" cy="498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object 2">
            <a:extLst>
              <a:ext uri="{FF2B5EF4-FFF2-40B4-BE49-F238E27FC236}">
                <a16:creationId xmlns:a16="http://schemas.microsoft.com/office/drawing/2014/main" id="{467B9D11-568F-0B6E-084E-840496724AFC}"/>
              </a:ext>
            </a:extLst>
          </p:cNvPr>
          <p:cNvSpPr txBox="1">
            <a:spLocks/>
          </p:cNvSpPr>
          <p:nvPr/>
        </p:nvSpPr>
        <p:spPr>
          <a:xfrm>
            <a:off x="228600" y="762000"/>
            <a:ext cx="8624937"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p:txBody>
      </p:sp>
      <p:sp>
        <p:nvSpPr>
          <p:cNvPr id="7" name="object 2">
            <a:extLst>
              <a:ext uri="{FF2B5EF4-FFF2-40B4-BE49-F238E27FC236}">
                <a16:creationId xmlns:a16="http://schemas.microsoft.com/office/drawing/2014/main" id="{D844A7B1-E550-0B17-B5D4-E0FB5CF44D9B}"/>
              </a:ext>
            </a:extLst>
          </p:cNvPr>
          <p:cNvSpPr txBox="1">
            <a:spLocks/>
          </p:cNvSpPr>
          <p:nvPr/>
        </p:nvSpPr>
        <p:spPr>
          <a:xfrm>
            <a:off x="138063" y="5023247"/>
            <a:ext cx="8624937" cy="246221"/>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1600" kern="0" spc="-80" dirty="0">
                <a:solidFill>
                  <a:schemeClr val="accent2"/>
                </a:solidFill>
              </a:rPr>
              <a:t>  </a:t>
            </a:r>
          </a:p>
        </p:txBody>
      </p:sp>
      <p:sp>
        <p:nvSpPr>
          <p:cNvPr id="3" name="object 2">
            <a:extLst>
              <a:ext uri="{FF2B5EF4-FFF2-40B4-BE49-F238E27FC236}">
                <a16:creationId xmlns:a16="http://schemas.microsoft.com/office/drawing/2014/main" id="{DF698A6C-E906-77C7-66E0-F765945E49E7}"/>
              </a:ext>
            </a:extLst>
          </p:cNvPr>
          <p:cNvSpPr txBox="1">
            <a:spLocks/>
          </p:cNvSpPr>
          <p:nvPr/>
        </p:nvSpPr>
        <p:spPr>
          <a:xfrm>
            <a:off x="0" y="773668"/>
            <a:ext cx="8915399" cy="738664"/>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endParaRPr lang="en-US" sz="2400" kern="0" spc="-80" dirty="0">
              <a:solidFill>
                <a:schemeClr val="accent2"/>
              </a:solidFill>
            </a:endParaRPr>
          </a:p>
          <a:p>
            <a:pPr marL="12700" marR="5080"/>
            <a:endParaRPr lang="en-US" sz="2400" kern="0" spc="-80" dirty="0">
              <a:solidFill>
                <a:schemeClr val="accent2"/>
              </a:solidFill>
            </a:endParaRPr>
          </a:p>
        </p:txBody>
      </p:sp>
      <p:sp>
        <p:nvSpPr>
          <p:cNvPr id="8" name="AutoShape 2" descr="SQL vs NoSQL vs NewSQL. Adapting to the changing requirements… | by Gangani  Chamika | Medium">
            <a:extLst>
              <a:ext uri="{FF2B5EF4-FFF2-40B4-BE49-F238E27FC236}">
                <a16:creationId xmlns:a16="http://schemas.microsoft.com/office/drawing/2014/main" id="{70B8A52B-E3C5-F428-9716-D1B8F4FD904F}"/>
              </a:ext>
            </a:extLst>
          </p:cNvPr>
          <p:cNvSpPr>
            <a:spLocks noChangeAspect="1" noChangeArrowheads="1"/>
          </p:cNvSpPr>
          <p:nvPr/>
        </p:nvSpPr>
        <p:spPr bwMode="auto">
          <a:xfrm>
            <a:off x="4419600" y="2819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2" name="object 2">
            <a:extLst>
              <a:ext uri="{FF2B5EF4-FFF2-40B4-BE49-F238E27FC236}">
                <a16:creationId xmlns:a16="http://schemas.microsoft.com/office/drawing/2014/main" id="{6DB754A2-823C-1D1A-ADBB-6341AF8B257B}"/>
              </a:ext>
            </a:extLst>
          </p:cNvPr>
          <p:cNvSpPr txBox="1">
            <a:spLocks/>
          </p:cNvSpPr>
          <p:nvPr/>
        </p:nvSpPr>
        <p:spPr>
          <a:xfrm>
            <a:off x="228600" y="762000"/>
            <a:ext cx="8624937" cy="1477328"/>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400" kern="0" spc="-80" dirty="0">
                <a:solidFill>
                  <a:schemeClr val="accent2"/>
                </a:solidFill>
              </a:rPr>
              <a:t> </a:t>
            </a:r>
          </a:p>
          <a:p>
            <a:pPr marL="12700" marR="5080"/>
            <a:r>
              <a:rPr lang="en-US" sz="2400" kern="0" spc="-80" dirty="0">
                <a:solidFill>
                  <a:schemeClr val="accent2"/>
                </a:solidFill>
              </a:rPr>
              <a:t> </a:t>
            </a:r>
          </a:p>
          <a:p>
            <a:pPr marL="12700" marR="5080"/>
            <a:endParaRPr lang="en-US" sz="2400" kern="0" spc="-80" dirty="0">
              <a:solidFill>
                <a:schemeClr val="accent2"/>
              </a:solidFill>
            </a:endParaRPr>
          </a:p>
          <a:p>
            <a:pPr marL="12700" marR="5080"/>
            <a:r>
              <a:rPr lang="en-US" sz="2100" kern="0" spc="-80" dirty="0">
                <a:solidFill>
                  <a:schemeClr val="accent2"/>
                </a:solidFill>
              </a:rPr>
              <a:t>  </a:t>
            </a:r>
            <a:r>
              <a:rPr lang="en-US" sz="2400" kern="0" spc="-80" dirty="0">
                <a:solidFill>
                  <a:schemeClr val="accent2"/>
                </a:solidFill>
              </a:rPr>
              <a:t>   </a:t>
            </a:r>
          </a:p>
        </p:txBody>
      </p:sp>
      <p:sp>
        <p:nvSpPr>
          <p:cNvPr id="9" name="object 2">
            <a:extLst>
              <a:ext uri="{FF2B5EF4-FFF2-40B4-BE49-F238E27FC236}">
                <a16:creationId xmlns:a16="http://schemas.microsoft.com/office/drawing/2014/main" id="{08D39E27-1990-F043-412C-C6FA329150A9}"/>
              </a:ext>
            </a:extLst>
          </p:cNvPr>
          <p:cNvSpPr txBox="1">
            <a:spLocks/>
          </p:cNvSpPr>
          <p:nvPr/>
        </p:nvSpPr>
        <p:spPr>
          <a:xfrm>
            <a:off x="228600" y="762000"/>
            <a:ext cx="8624937" cy="2246769"/>
          </a:xfrm>
          <a:prstGeom prst="rect">
            <a:avLst/>
          </a:prstGeom>
        </p:spPr>
        <p:txBody>
          <a:bodyPr vert="horz" wrap="square" lIns="0" tIns="0" rIns="0" bIns="0" rtlCol="0">
            <a:spAutoFit/>
          </a:bodyPr>
          <a:lstStyle>
            <a:lvl1pPr>
              <a:defRPr sz="3200" b="1" i="0">
                <a:solidFill>
                  <a:schemeClr val="tx1"/>
                </a:solidFill>
                <a:latin typeface="Lucida Sans"/>
                <a:ea typeface="+mj-ea"/>
                <a:cs typeface="Lucida Sans"/>
              </a:defRPr>
            </a:lvl1pPr>
          </a:lstStyle>
          <a:p>
            <a:pPr marL="12700" marR="5080"/>
            <a:r>
              <a:rPr lang="en-US" sz="2000" kern="0" spc="-80" dirty="0">
                <a:solidFill>
                  <a:schemeClr val="accent2"/>
                </a:solidFill>
              </a:rPr>
              <a:t>For Further Exploration – </a:t>
            </a:r>
          </a:p>
          <a:p>
            <a:pPr marL="12700" marR="5080"/>
            <a:r>
              <a:rPr lang="en-US" sz="1400" dirty="0">
                <a:hlinkClick r:id="rId8"/>
              </a:rPr>
              <a:t>Computational Geometry: Algorithms and Applications | SpringerLink</a:t>
            </a:r>
            <a:endParaRPr lang="en-US" sz="1400" dirty="0"/>
          </a:p>
          <a:p>
            <a:pPr marL="12700" marR="5080"/>
            <a:r>
              <a:rPr lang="en-US" sz="1400" dirty="0">
                <a:hlinkClick r:id="rId9"/>
              </a:rPr>
              <a:t>Computational Geometry in Python – Deep Learning Garden</a:t>
            </a:r>
            <a:r>
              <a:rPr lang="en-US" sz="1400" kern="0" spc="-80" dirty="0">
                <a:solidFill>
                  <a:schemeClr val="accent2"/>
                </a:solidFill>
              </a:rPr>
              <a:t>  </a:t>
            </a:r>
          </a:p>
          <a:p>
            <a:pPr marL="12700" marR="5080"/>
            <a:r>
              <a:rPr lang="en-US" sz="1400" dirty="0">
                <a:hlinkClick r:id="rId10"/>
              </a:rPr>
              <a:t>Math for Security | No Starch Press</a:t>
            </a:r>
            <a:r>
              <a:rPr lang="en-US" sz="1400" kern="0" spc="-80" dirty="0">
                <a:solidFill>
                  <a:schemeClr val="accent2"/>
                </a:solidFill>
              </a:rPr>
              <a:t>  </a:t>
            </a:r>
          </a:p>
          <a:p>
            <a:pPr marL="12700" marR="5080"/>
            <a:r>
              <a:rPr lang="en-IN" sz="1400" dirty="0">
                <a:hlinkClick r:id="rId11"/>
              </a:rPr>
              <a:t>Uber System Design</a:t>
            </a:r>
            <a:endParaRPr lang="en-US" sz="1400" dirty="0"/>
          </a:p>
          <a:p>
            <a:pPr marL="12700" marR="5080"/>
            <a:r>
              <a:rPr lang="en-IN" sz="1400" dirty="0" err="1">
                <a:hlinkClick r:id="rId12"/>
              </a:rPr>
              <a:t>OpenTripPlanner</a:t>
            </a:r>
            <a:endParaRPr lang="en-IN" sz="1400" dirty="0"/>
          </a:p>
          <a:p>
            <a:pPr marL="12700" marR="5080"/>
            <a:r>
              <a:rPr lang="en-US" sz="1400" dirty="0" err="1">
                <a:hlinkClick r:id="rId13"/>
              </a:rPr>
              <a:t>RoutePlanner</a:t>
            </a:r>
            <a:r>
              <a:rPr lang="en-US" sz="1400" dirty="0">
                <a:hlinkClick r:id="rId13"/>
              </a:rPr>
              <a:t>: Simple free and open source tool for planning routes</a:t>
            </a:r>
            <a:endParaRPr lang="en-US" sz="1400" dirty="0"/>
          </a:p>
          <a:p>
            <a:pPr marL="12700" marR="5080"/>
            <a:r>
              <a:rPr lang="en-US" sz="1400" dirty="0">
                <a:hlinkClick r:id="rId14"/>
              </a:rPr>
              <a:t>End-to-End Google Earth Engine (Full Course)</a:t>
            </a:r>
            <a:endParaRPr lang="en-US" sz="1400" dirty="0"/>
          </a:p>
          <a:p>
            <a:pPr marL="12700" marR="5080"/>
            <a:r>
              <a:rPr lang="en-IN" sz="1400" dirty="0">
                <a:hlinkClick r:id="rId15"/>
              </a:rPr>
              <a:t>Open Geospatial Solutions · GitHub</a:t>
            </a:r>
            <a:endParaRPr lang="en-IN" sz="1400" dirty="0"/>
          </a:p>
          <a:p>
            <a:pPr marL="12700" marR="5080"/>
            <a:r>
              <a:rPr lang="en-IN" sz="1400" dirty="0">
                <a:hlinkClick r:id="rId16"/>
              </a:rPr>
              <a:t>System Design on Location Based Apps| LinkedIn</a:t>
            </a:r>
            <a:endParaRPr lang="en-IN" sz="1400" dirty="0"/>
          </a:p>
        </p:txBody>
      </p:sp>
    </p:spTree>
    <p:extLst>
      <p:ext uri="{BB962C8B-B14F-4D97-AF65-F5344CB8AC3E}">
        <p14:creationId xmlns:p14="http://schemas.microsoft.com/office/powerpoint/2010/main" val="3175509102"/>
      </p:ext>
    </p:extLst>
  </p:cSld>
  <p:clrMapOvr>
    <a:masterClrMapping/>
  </p:clrMapOvr>
</p:sld>
</file>

<file path=ppt/slides/slide6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object 2"/>
          <p:cNvSpPr txBox="1">
            <a:spLocks noGrp="1"/>
          </p:cNvSpPr>
          <p:nvPr>
            <p:ph type="title"/>
          </p:nvPr>
        </p:nvSpPr>
        <p:spPr>
          <a:xfrm>
            <a:off x="2590800" y="1670209"/>
            <a:ext cx="3733800" cy="2215991"/>
          </a:xfrm>
          <a:prstGeom prst="rect">
            <a:avLst/>
          </a:prstGeom>
        </p:spPr>
        <p:txBody>
          <a:bodyPr vert="horz" wrap="square" lIns="0" tIns="0" rIns="0" bIns="0" rtlCol="0">
            <a:spAutoFit/>
          </a:bodyPr>
          <a:lstStyle/>
          <a:p>
            <a:pPr marL="12700" marR="5080" algn="ctr">
              <a:lnSpc>
                <a:spcPct val="100000"/>
              </a:lnSpc>
            </a:pPr>
            <a:r>
              <a:rPr lang="en-US" sz="7200" spc="-220" dirty="0">
                <a:solidFill>
                  <a:schemeClr val="accent6"/>
                </a:solidFill>
              </a:rPr>
              <a:t>Thank You</a:t>
            </a:r>
            <a:endParaRPr lang="en-US" sz="7200" spc="-80" dirty="0">
              <a:solidFill>
                <a:schemeClr val="accent6"/>
              </a:solidFill>
            </a:endParaRPr>
          </a:p>
        </p:txBody>
      </p:sp>
    </p:spTree>
    <p:extLst>
      <p:ext uri="{BB962C8B-B14F-4D97-AF65-F5344CB8AC3E}">
        <p14:creationId xmlns:p14="http://schemas.microsoft.com/office/powerpoint/2010/main" val="367818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FB92261DF0CF34EB4810633B41F348E" ma:contentTypeVersion="12" ma:contentTypeDescription="Create a new document." ma:contentTypeScope="" ma:versionID="0504b6c5dad5cedb559b2ba5661c1516">
  <xsd:schema xmlns:xsd="http://www.w3.org/2001/XMLSchema" xmlns:xs="http://www.w3.org/2001/XMLSchema" xmlns:p="http://schemas.microsoft.com/office/2006/metadata/properties" xmlns:ns2="73c285a4-81d7-45ed-89e3-084ec343ed0e" xmlns:ns3="9eeb171f-62b6-4207-910a-f222f02eca92" targetNamespace="http://schemas.microsoft.com/office/2006/metadata/properties" ma:root="true" ma:fieldsID="ee446bd52ab24cfc94472a148ee352b7" ns2:_="" ns3:_="">
    <xsd:import namespace="73c285a4-81d7-45ed-89e3-084ec343ed0e"/>
    <xsd:import namespace="9eeb171f-62b6-4207-910a-f222f02eca9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c285a4-81d7-45ed-89e3-084ec343ed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eeb171f-62b6-4207-910a-f222f02eca92"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845EBFA-FEA7-417E-8860-8460D20694CB}">
  <ds:schemaRefs>
    <ds:schemaRef ds:uri="http://schemas.openxmlformats.org/package/2006/metadata/core-properties"/>
    <ds:schemaRef ds:uri="http://www.w3.org/XML/1998/namespace"/>
    <ds:schemaRef ds:uri="http://schemas.microsoft.com/office/infopath/2007/PartnerControls"/>
    <ds:schemaRef ds:uri="73c285a4-81d7-45ed-89e3-084ec343ed0e"/>
    <ds:schemaRef ds:uri="9eeb171f-62b6-4207-910a-f222f02eca92"/>
    <ds:schemaRef ds:uri="http://schemas.microsoft.com/office/2006/documentManagement/types"/>
    <ds:schemaRef ds:uri="http://purl.org/dc/elements/1.1/"/>
    <ds:schemaRef ds:uri="http://schemas.microsoft.com/office/2006/metadata/properties"/>
    <ds:schemaRef ds:uri="http://purl.org/dc/dcmitype/"/>
    <ds:schemaRef ds:uri="http://purl.org/dc/terms/"/>
  </ds:schemaRefs>
</ds:datastoreItem>
</file>

<file path=customXml/itemProps2.xml><?xml version="1.0" encoding="utf-8"?>
<ds:datastoreItem xmlns:ds="http://schemas.openxmlformats.org/officeDocument/2006/customXml" ds:itemID="{1561FB4F-8CDF-4FC4-86AB-6B9C0823A4A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c285a4-81d7-45ed-89e3-084ec343ed0e"/>
    <ds:schemaRef ds:uri="9eeb171f-62b6-4207-910a-f222f02eca9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54ED045-44B0-4818-8BF2-60E776B56E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12343</TotalTime>
  <Words>70979</Words>
  <Application>Microsoft Office PowerPoint</Application>
  <PresentationFormat>Custom</PresentationFormat>
  <Paragraphs>11314</Paragraphs>
  <Slides>606</Slides>
  <Notes>44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606</vt:i4>
      </vt:variant>
    </vt:vector>
  </HeadingPairs>
  <TitlesOfParts>
    <vt:vector size="613" baseType="lpstr">
      <vt:lpstr>Arial</vt:lpstr>
      <vt:lpstr>Calibri</vt:lpstr>
      <vt:lpstr>Google Sans</vt:lpstr>
      <vt:lpstr>Lucida Sans</vt:lpstr>
      <vt:lpstr>Times</vt:lpstr>
      <vt:lpstr>UICTFontTextStyleBody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case  for Chello</dc:title>
  <dc:creator>Kumar, Harendra (Cognizant)</dc:creator>
  <cp:lastModifiedBy>Ray, Sandip (Cognizant)</cp:lastModifiedBy>
  <cp:revision>1349</cp:revision>
  <dcterms:created xsi:type="dcterms:W3CDTF">2020-11-03T17:16:52Z</dcterms:created>
  <dcterms:modified xsi:type="dcterms:W3CDTF">2026-03-06T14:15:23Z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2020-10-21T00:00:00Z</vt:filetime>
  </property>
  <property fmtid="{D5CDD505-2E9C-101B-9397-08002B2CF9AE}" pid="3" name="Creator">
    <vt:lpwstr>Adobe InDesign 15.1 (Macintosh)</vt:lpwstr>
  </property>
  <property fmtid="{D5CDD505-2E9C-101B-9397-08002B2CF9AE}" pid="4" name="LastSaved">
    <vt:filetime>2020-11-03T00:00:00Z</vt:filetime>
  </property>
  <property fmtid="{D5CDD505-2E9C-101B-9397-08002B2CF9AE}" pid="5" name="ContentTypeId">
    <vt:lpwstr>0x0101008FB92261DF0CF34EB4810633B41F348E</vt:lpwstr>
  </property>
</Properties>
</file>