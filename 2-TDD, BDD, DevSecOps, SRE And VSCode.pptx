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diagrams/data7.xml" ContentType="application/vnd.openxmlformats-officedocument.drawingml.diagramData+xml"/>
  <Override PartName="/ppt/diagrams/layout7.xml" ContentType="application/vnd.openxmlformats-officedocument.drawingml.diagramLayout+xml"/>
  <Override PartName="/ppt/diagrams/quickStyle7.xml" ContentType="application/vnd.openxmlformats-officedocument.drawingml.diagramStyle+xml"/>
  <Override PartName="/ppt/diagrams/colors7.xml" ContentType="application/vnd.openxmlformats-officedocument.drawingml.diagramColors+xml"/>
  <Override PartName="/ppt/diagrams/drawing7.xml" ContentType="application/vnd.ms-office.drawingml.diagramDrawing+xml"/>
  <Override PartName="/ppt/diagrams/data8.xml" ContentType="application/vnd.openxmlformats-officedocument.drawingml.diagramData+xml"/>
  <Override PartName="/ppt/diagrams/layout8.xml" ContentType="application/vnd.openxmlformats-officedocument.drawingml.diagramLayout+xml"/>
  <Override PartName="/ppt/diagrams/quickStyle8.xml" ContentType="application/vnd.openxmlformats-officedocument.drawingml.diagramStyle+xml"/>
  <Override PartName="/ppt/diagrams/colors8.xml" ContentType="application/vnd.openxmlformats-officedocument.drawingml.diagramColors+xml"/>
  <Override PartName="/ppt/diagrams/drawing8.xml" ContentType="application/vnd.ms-office.drawingml.diagramDrawing+xml"/>
  <Override PartName="/ppt/diagrams/data9.xml" ContentType="application/vnd.openxmlformats-officedocument.drawingml.diagramData+xml"/>
  <Override PartName="/ppt/diagrams/layout9.xml" ContentType="application/vnd.openxmlformats-officedocument.drawingml.diagramLayout+xml"/>
  <Override PartName="/ppt/diagrams/quickStyle9.xml" ContentType="application/vnd.openxmlformats-officedocument.drawingml.diagramStyle+xml"/>
  <Override PartName="/ppt/diagrams/colors9.xml" ContentType="application/vnd.openxmlformats-officedocument.drawingml.diagramColors+xml"/>
  <Override PartName="/ppt/diagrams/drawing9.xml" ContentType="application/vnd.ms-office.drawingml.diagramDrawing+xml"/>
  <Override PartName="/ppt/diagrams/data10.xml" ContentType="application/vnd.openxmlformats-officedocument.drawingml.diagramData+xml"/>
  <Override PartName="/ppt/diagrams/layout10.xml" ContentType="application/vnd.openxmlformats-officedocument.drawingml.diagramLayout+xml"/>
  <Override PartName="/ppt/diagrams/quickStyle10.xml" ContentType="application/vnd.openxmlformats-officedocument.drawingml.diagramStyle+xml"/>
  <Override PartName="/ppt/diagrams/colors10.xml" ContentType="application/vnd.openxmlformats-officedocument.drawingml.diagramColors+xml"/>
  <Override PartName="/ppt/diagrams/drawing10.xml" ContentType="application/vnd.ms-office.drawingml.diagramDrawing+xml"/>
  <Override PartName="/ppt/diagrams/data11.xml" ContentType="application/vnd.openxmlformats-officedocument.drawingml.diagramData+xml"/>
  <Override PartName="/ppt/diagrams/layout11.xml" ContentType="application/vnd.openxmlformats-officedocument.drawingml.diagramLayout+xml"/>
  <Override PartName="/ppt/diagrams/quickStyle11.xml" ContentType="application/vnd.openxmlformats-officedocument.drawingml.diagramStyle+xml"/>
  <Override PartName="/ppt/diagrams/colors11.xml" ContentType="application/vnd.openxmlformats-officedocument.drawingml.diagramColors+xml"/>
  <Override PartName="/ppt/diagrams/drawing11.xml" ContentType="application/vnd.ms-office.drawingml.diagramDrawing+xml"/>
  <Override PartName="/ppt/diagrams/data12.xml" ContentType="application/vnd.openxmlformats-officedocument.drawingml.diagramData+xml"/>
  <Override PartName="/ppt/diagrams/layout12.xml" ContentType="application/vnd.openxmlformats-officedocument.drawingml.diagramLayout+xml"/>
  <Override PartName="/ppt/diagrams/quickStyle12.xml" ContentType="application/vnd.openxmlformats-officedocument.drawingml.diagramStyle+xml"/>
  <Override PartName="/ppt/diagrams/colors12.xml" ContentType="application/vnd.openxmlformats-officedocument.drawingml.diagramColors+xml"/>
  <Override PartName="/ppt/diagrams/drawing12.xml" ContentType="application/vnd.ms-office.drawingml.diagramDrawing+xml"/>
  <Override PartName="/ppt/diagrams/data13.xml" ContentType="application/vnd.openxmlformats-officedocument.drawingml.diagramData+xml"/>
  <Override PartName="/ppt/diagrams/layout13.xml" ContentType="application/vnd.openxmlformats-officedocument.drawingml.diagramLayout+xml"/>
  <Override PartName="/ppt/diagrams/quickStyle13.xml" ContentType="application/vnd.openxmlformats-officedocument.drawingml.diagramStyle+xml"/>
  <Override PartName="/ppt/diagrams/colors13.xml" ContentType="application/vnd.openxmlformats-officedocument.drawingml.diagramColors+xml"/>
  <Override PartName="/ppt/diagrams/drawing13.xml" ContentType="application/vnd.ms-office.drawingml.diagramDrawing+xml"/>
  <Override PartName="/ppt/diagrams/data14.xml" ContentType="application/vnd.openxmlformats-officedocument.drawingml.diagramData+xml"/>
  <Override PartName="/ppt/diagrams/layout14.xml" ContentType="application/vnd.openxmlformats-officedocument.drawingml.diagramLayout+xml"/>
  <Override PartName="/ppt/diagrams/quickStyle14.xml" ContentType="application/vnd.openxmlformats-officedocument.drawingml.diagramStyle+xml"/>
  <Override PartName="/ppt/diagrams/colors14.xml" ContentType="application/vnd.openxmlformats-officedocument.drawingml.diagramColors+xml"/>
  <Override PartName="/ppt/diagrams/drawing14.xml" ContentType="application/vnd.ms-office.drawingml.diagramDrawing+xml"/>
  <Override PartName="/ppt/diagrams/data15.xml" ContentType="application/vnd.openxmlformats-officedocument.drawingml.diagramData+xml"/>
  <Override PartName="/ppt/diagrams/layout15.xml" ContentType="application/vnd.openxmlformats-officedocument.drawingml.diagramLayout+xml"/>
  <Override PartName="/ppt/diagrams/quickStyle15.xml" ContentType="application/vnd.openxmlformats-officedocument.drawingml.diagramStyle+xml"/>
  <Override PartName="/ppt/diagrams/colors15.xml" ContentType="application/vnd.openxmlformats-officedocument.drawingml.diagramColors+xml"/>
  <Override PartName="/ppt/diagrams/drawing15.xml" ContentType="application/vnd.ms-office.drawingml.diagramDrawing+xml"/>
  <Override PartName="/ppt/diagrams/data16.xml" ContentType="application/vnd.openxmlformats-officedocument.drawingml.diagramData+xml"/>
  <Override PartName="/ppt/diagrams/layout16.xml" ContentType="application/vnd.openxmlformats-officedocument.drawingml.diagramLayout+xml"/>
  <Override PartName="/ppt/diagrams/quickStyle16.xml" ContentType="application/vnd.openxmlformats-officedocument.drawingml.diagramStyle+xml"/>
  <Override PartName="/ppt/diagrams/colors16.xml" ContentType="application/vnd.openxmlformats-officedocument.drawingml.diagramColors+xml"/>
  <Override PartName="/ppt/diagrams/drawing16.xml" ContentType="application/vnd.ms-office.drawingml.diagramDrawing+xml"/>
  <Override PartName="/ppt/diagrams/data17.xml" ContentType="application/vnd.openxmlformats-officedocument.drawingml.diagramData+xml"/>
  <Override PartName="/ppt/diagrams/layout17.xml" ContentType="application/vnd.openxmlformats-officedocument.drawingml.diagramLayout+xml"/>
  <Override PartName="/ppt/diagrams/quickStyle17.xml" ContentType="application/vnd.openxmlformats-officedocument.drawingml.diagramStyle+xml"/>
  <Override PartName="/ppt/diagrams/colors17.xml" ContentType="application/vnd.openxmlformats-officedocument.drawingml.diagramColors+xml"/>
  <Override PartName="/ppt/diagrams/drawing17.xml" ContentType="application/vnd.ms-office.drawingml.diagramDrawing+xml"/>
  <Override PartName="/ppt/diagrams/data18.xml" ContentType="application/vnd.openxmlformats-officedocument.drawingml.diagramData+xml"/>
  <Override PartName="/ppt/diagrams/layout18.xml" ContentType="application/vnd.openxmlformats-officedocument.drawingml.diagramLayout+xml"/>
  <Override PartName="/ppt/diagrams/quickStyle18.xml" ContentType="application/vnd.openxmlformats-officedocument.drawingml.diagramStyle+xml"/>
  <Override PartName="/ppt/diagrams/colors18.xml" ContentType="application/vnd.openxmlformats-officedocument.drawingml.diagramColors+xml"/>
  <Override PartName="/ppt/diagrams/drawing18.xml" ContentType="application/vnd.ms-office.drawingml.diagramDrawing+xml"/>
  <Override PartName="/ppt/diagrams/data19.xml" ContentType="application/vnd.openxmlformats-officedocument.drawingml.diagramData+xml"/>
  <Override PartName="/ppt/diagrams/layout19.xml" ContentType="application/vnd.openxmlformats-officedocument.drawingml.diagramLayout+xml"/>
  <Override PartName="/ppt/diagrams/quickStyle19.xml" ContentType="application/vnd.openxmlformats-officedocument.drawingml.diagramStyle+xml"/>
  <Override PartName="/ppt/diagrams/colors19.xml" ContentType="application/vnd.openxmlformats-officedocument.drawingml.diagramColors+xml"/>
  <Override PartName="/ppt/diagrams/drawing19.xml" ContentType="application/vnd.ms-office.drawingml.diagramDrawing+xml"/>
  <Override PartName="/ppt/diagrams/data20.xml" ContentType="application/vnd.openxmlformats-officedocument.drawingml.diagramData+xml"/>
  <Override PartName="/ppt/diagrams/layout20.xml" ContentType="application/vnd.openxmlformats-officedocument.drawingml.diagramLayout+xml"/>
  <Override PartName="/ppt/diagrams/quickStyle20.xml" ContentType="application/vnd.openxmlformats-officedocument.drawingml.diagramStyle+xml"/>
  <Override PartName="/ppt/diagrams/colors20.xml" ContentType="application/vnd.openxmlformats-officedocument.drawingml.diagramColors+xml"/>
  <Override PartName="/ppt/diagrams/drawing20.xml" ContentType="application/vnd.ms-office.drawingml.diagramDrawing+xml"/>
  <Override PartName="/ppt/diagrams/data21.xml" ContentType="application/vnd.openxmlformats-officedocument.drawingml.diagramData+xml"/>
  <Override PartName="/ppt/diagrams/layout21.xml" ContentType="application/vnd.openxmlformats-officedocument.drawingml.diagramLayout+xml"/>
  <Override PartName="/ppt/diagrams/quickStyle21.xml" ContentType="application/vnd.openxmlformats-officedocument.drawingml.diagramStyle+xml"/>
  <Override PartName="/ppt/diagrams/colors21.xml" ContentType="application/vnd.openxmlformats-officedocument.drawingml.diagramColors+xml"/>
  <Override PartName="/ppt/diagrams/drawing21.xml" ContentType="application/vnd.ms-office.drawingml.diagramDrawing+xml"/>
  <Override PartName="/ppt/diagrams/data22.xml" ContentType="application/vnd.openxmlformats-officedocument.drawingml.diagramData+xml"/>
  <Override PartName="/ppt/diagrams/layout22.xml" ContentType="application/vnd.openxmlformats-officedocument.drawingml.diagramLayout+xml"/>
  <Override PartName="/ppt/diagrams/quickStyle22.xml" ContentType="application/vnd.openxmlformats-officedocument.drawingml.diagramStyle+xml"/>
  <Override PartName="/ppt/diagrams/colors22.xml" ContentType="application/vnd.openxmlformats-officedocument.drawingml.diagramColors+xml"/>
  <Override PartName="/ppt/diagrams/drawing22.xml" ContentType="application/vnd.ms-office.drawingml.diagramDrawing+xml"/>
  <Override PartName="/ppt/diagrams/data23.xml" ContentType="application/vnd.openxmlformats-officedocument.drawingml.diagramData+xml"/>
  <Override PartName="/ppt/diagrams/layout23.xml" ContentType="application/vnd.openxmlformats-officedocument.drawingml.diagramLayout+xml"/>
  <Override PartName="/ppt/diagrams/quickStyle23.xml" ContentType="application/vnd.openxmlformats-officedocument.drawingml.diagramStyle+xml"/>
  <Override PartName="/ppt/diagrams/colors23.xml" ContentType="application/vnd.openxmlformats-officedocument.drawingml.diagramColors+xml"/>
  <Override PartName="/ppt/diagrams/drawing23.xml" ContentType="application/vnd.ms-office.drawingml.diagramDrawing+xml"/>
  <Override PartName="/ppt/diagrams/data24.xml" ContentType="application/vnd.openxmlformats-officedocument.drawingml.diagramData+xml"/>
  <Override PartName="/ppt/diagrams/layout24.xml" ContentType="application/vnd.openxmlformats-officedocument.drawingml.diagramLayout+xml"/>
  <Override PartName="/ppt/diagrams/quickStyle24.xml" ContentType="application/vnd.openxmlformats-officedocument.drawingml.diagramStyle+xml"/>
  <Override PartName="/ppt/diagrams/colors24.xml" ContentType="application/vnd.openxmlformats-officedocument.drawingml.diagramColors+xml"/>
  <Override PartName="/ppt/diagrams/drawing24.xml" ContentType="application/vnd.ms-office.drawingml.diagramDrawing+xml"/>
  <Override PartName="/ppt/diagrams/data25.xml" ContentType="application/vnd.openxmlformats-officedocument.drawingml.diagramData+xml"/>
  <Override PartName="/ppt/diagrams/layout25.xml" ContentType="application/vnd.openxmlformats-officedocument.drawingml.diagramLayout+xml"/>
  <Override PartName="/ppt/diagrams/quickStyle25.xml" ContentType="application/vnd.openxmlformats-officedocument.drawingml.diagramStyle+xml"/>
  <Override PartName="/ppt/diagrams/colors25.xml" ContentType="application/vnd.openxmlformats-officedocument.drawingml.diagramColors+xml"/>
  <Override PartName="/ppt/diagrams/drawing25.xml" ContentType="application/vnd.ms-office.drawingml.diagramDrawing+xml"/>
  <Override PartName="/ppt/diagrams/data26.xml" ContentType="application/vnd.openxmlformats-officedocument.drawingml.diagramData+xml"/>
  <Override PartName="/ppt/diagrams/layout26.xml" ContentType="application/vnd.openxmlformats-officedocument.drawingml.diagramLayout+xml"/>
  <Override PartName="/ppt/diagrams/quickStyle26.xml" ContentType="application/vnd.openxmlformats-officedocument.drawingml.diagramStyle+xml"/>
  <Override PartName="/ppt/diagrams/colors26.xml" ContentType="application/vnd.openxmlformats-officedocument.drawingml.diagramColors+xml"/>
  <Override PartName="/ppt/diagrams/drawing26.xml" ContentType="application/vnd.ms-office.drawingml.diagramDrawing+xml"/>
  <Override PartName="/ppt/diagrams/data27.xml" ContentType="application/vnd.openxmlformats-officedocument.drawingml.diagramData+xml"/>
  <Override PartName="/ppt/diagrams/layout27.xml" ContentType="application/vnd.openxmlformats-officedocument.drawingml.diagramLayout+xml"/>
  <Override PartName="/ppt/diagrams/quickStyle27.xml" ContentType="application/vnd.openxmlformats-officedocument.drawingml.diagramStyle+xml"/>
  <Override PartName="/ppt/diagrams/colors27.xml" ContentType="application/vnd.openxmlformats-officedocument.drawingml.diagramColors+xml"/>
  <Override PartName="/ppt/diagrams/drawing27.xml" ContentType="application/vnd.ms-office.drawingml.diagramDrawing+xml"/>
  <Override PartName="/ppt/diagrams/data28.xml" ContentType="application/vnd.openxmlformats-officedocument.drawingml.diagramData+xml"/>
  <Override PartName="/ppt/diagrams/layout28.xml" ContentType="application/vnd.openxmlformats-officedocument.drawingml.diagramLayout+xml"/>
  <Override PartName="/ppt/diagrams/quickStyle28.xml" ContentType="application/vnd.openxmlformats-officedocument.drawingml.diagramStyle+xml"/>
  <Override PartName="/ppt/diagrams/colors28.xml" ContentType="application/vnd.openxmlformats-officedocument.drawingml.diagramColors+xml"/>
  <Override PartName="/ppt/diagrams/drawing28.xml" ContentType="application/vnd.ms-office.drawingml.diagramDrawing+xml"/>
  <Override PartName="/ppt/diagrams/data29.xml" ContentType="application/vnd.openxmlformats-officedocument.drawingml.diagramData+xml"/>
  <Override PartName="/ppt/diagrams/layout29.xml" ContentType="application/vnd.openxmlformats-officedocument.drawingml.diagramLayout+xml"/>
  <Override PartName="/ppt/diagrams/quickStyle29.xml" ContentType="application/vnd.openxmlformats-officedocument.drawingml.diagramStyle+xml"/>
  <Override PartName="/ppt/diagrams/colors29.xml" ContentType="application/vnd.openxmlformats-officedocument.drawingml.diagramColors+xml"/>
  <Override PartName="/ppt/diagrams/drawing29.xml" ContentType="application/vnd.ms-office.drawingml.diagramDrawing+xml"/>
  <Override PartName="/ppt/diagrams/data30.xml" ContentType="application/vnd.openxmlformats-officedocument.drawingml.diagramData+xml"/>
  <Override PartName="/ppt/diagrams/layout30.xml" ContentType="application/vnd.openxmlformats-officedocument.drawingml.diagramLayout+xml"/>
  <Override PartName="/ppt/diagrams/quickStyle30.xml" ContentType="application/vnd.openxmlformats-officedocument.drawingml.diagramStyle+xml"/>
  <Override PartName="/ppt/diagrams/colors30.xml" ContentType="application/vnd.openxmlformats-officedocument.drawingml.diagramColors+xml"/>
  <Override PartName="/ppt/diagrams/drawing30.xml" ContentType="application/vnd.ms-office.drawingml.diagramDrawing+xml"/>
  <Override PartName="/ppt/diagrams/data31.xml" ContentType="application/vnd.openxmlformats-officedocument.drawingml.diagramData+xml"/>
  <Override PartName="/ppt/diagrams/layout31.xml" ContentType="application/vnd.openxmlformats-officedocument.drawingml.diagramLayout+xml"/>
  <Override PartName="/ppt/diagrams/quickStyle31.xml" ContentType="application/vnd.openxmlformats-officedocument.drawingml.diagramStyle+xml"/>
  <Override PartName="/ppt/diagrams/colors31.xml" ContentType="application/vnd.openxmlformats-officedocument.drawingml.diagramColors+xml"/>
  <Override PartName="/ppt/diagrams/drawing31.xml" ContentType="application/vnd.ms-office.drawingml.diagramDrawing+xml"/>
  <Override PartName="/ppt/diagrams/data32.xml" ContentType="application/vnd.openxmlformats-officedocument.drawingml.diagramData+xml"/>
  <Override PartName="/ppt/diagrams/layout32.xml" ContentType="application/vnd.openxmlformats-officedocument.drawingml.diagramLayout+xml"/>
  <Override PartName="/ppt/diagrams/quickStyle32.xml" ContentType="application/vnd.openxmlformats-officedocument.drawingml.diagramStyle+xml"/>
  <Override PartName="/ppt/diagrams/colors32.xml" ContentType="application/vnd.openxmlformats-officedocument.drawingml.diagramColors+xml"/>
  <Override PartName="/ppt/diagrams/drawing32.xml" ContentType="application/vnd.ms-office.drawingml.diagramDrawing+xml"/>
  <Override PartName="/ppt/diagrams/data33.xml" ContentType="application/vnd.openxmlformats-officedocument.drawingml.diagramData+xml"/>
  <Override PartName="/ppt/diagrams/layout33.xml" ContentType="application/vnd.openxmlformats-officedocument.drawingml.diagramLayout+xml"/>
  <Override PartName="/ppt/diagrams/quickStyle33.xml" ContentType="application/vnd.openxmlformats-officedocument.drawingml.diagramStyle+xml"/>
  <Override PartName="/ppt/diagrams/colors33.xml" ContentType="application/vnd.openxmlformats-officedocument.drawingml.diagramColors+xml"/>
  <Override PartName="/ppt/diagrams/drawing33.xml" ContentType="application/vnd.ms-office.drawingml.diagramDrawing+xml"/>
  <Override PartName="/ppt/diagrams/data34.xml" ContentType="application/vnd.openxmlformats-officedocument.drawingml.diagramData+xml"/>
  <Override PartName="/ppt/diagrams/layout34.xml" ContentType="application/vnd.openxmlformats-officedocument.drawingml.diagramLayout+xml"/>
  <Override PartName="/ppt/diagrams/quickStyle34.xml" ContentType="application/vnd.openxmlformats-officedocument.drawingml.diagramStyle+xml"/>
  <Override PartName="/ppt/diagrams/colors34.xml" ContentType="application/vnd.openxmlformats-officedocument.drawingml.diagramColors+xml"/>
  <Override PartName="/ppt/diagrams/drawing34.xml" ContentType="application/vnd.ms-office.drawingml.diagramDrawing+xml"/>
  <Override PartName="/ppt/diagrams/data35.xml" ContentType="application/vnd.openxmlformats-officedocument.drawingml.diagramData+xml"/>
  <Override PartName="/ppt/diagrams/layout35.xml" ContentType="application/vnd.openxmlformats-officedocument.drawingml.diagramLayout+xml"/>
  <Override PartName="/ppt/diagrams/quickStyle35.xml" ContentType="application/vnd.openxmlformats-officedocument.drawingml.diagramStyle+xml"/>
  <Override PartName="/ppt/diagrams/colors35.xml" ContentType="application/vnd.openxmlformats-officedocument.drawingml.diagramColors+xml"/>
  <Override PartName="/ppt/diagrams/drawing35.xml" ContentType="application/vnd.ms-office.drawingml.diagramDrawing+xml"/>
  <Override PartName="/ppt/diagrams/data36.xml" ContentType="application/vnd.openxmlformats-officedocument.drawingml.diagramData+xml"/>
  <Override PartName="/ppt/diagrams/layout36.xml" ContentType="application/vnd.openxmlformats-officedocument.drawingml.diagramLayout+xml"/>
  <Override PartName="/ppt/diagrams/quickStyle36.xml" ContentType="application/vnd.openxmlformats-officedocument.drawingml.diagramStyle+xml"/>
  <Override PartName="/ppt/diagrams/colors36.xml" ContentType="application/vnd.openxmlformats-officedocument.drawingml.diagramColors+xml"/>
  <Override PartName="/ppt/diagrams/drawing36.xml" ContentType="application/vnd.ms-office.drawingml.diagramDrawing+xml"/>
  <Override PartName="/ppt/diagrams/data37.xml" ContentType="application/vnd.openxmlformats-officedocument.drawingml.diagramData+xml"/>
  <Override PartName="/ppt/diagrams/layout37.xml" ContentType="application/vnd.openxmlformats-officedocument.drawingml.diagramLayout+xml"/>
  <Override PartName="/ppt/diagrams/quickStyle37.xml" ContentType="application/vnd.openxmlformats-officedocument.drawingml.diagramStyle+xml"/>
  <Override PartName="/ppt/diagrams/colors37.xml" ContentType="application/vnd.openxmlformats-officedocument.drawingml.diagramColors+xml"/>
  <Override PartName="/ppt/diagrams/drawing37.xml" ContentType="application/vnd.ms-office.drawingml.diagramDrawing+xml"/>
  <Override PartName="/ppt/diagrams/data38.xml" ContentType="application/vnd.openxmlformats-officedocument.drawingml.diagramData+xml"/>
  <Override PartName="/ppt/diagrams/layout38.xml" ContentType="application/vnd.openxmlformats-officedocument.drawingml.diagramLayout+xml"/>
  <Override PartName="/ppt/diagrams/quickStyle38.xml" ContentType="application/vnd.openxmlformats-officedocument.drawingml.diagramStyle+xml"/>
  <Override PartName="/ppt/diagrams/colors38.xml" ContentType="application/vnd.openxmlformats-officedocument.drawingml.diagramColors+xml"/>
  <Override PartName="/ppt/diagrams/drawing38.xml" ContentType="application/vnd.ms-office.drawingml.diagramDrawing+xml"/>
  <Override PartName="/ppt/diagrams/data39.xml" ContentType="application/vnd.openxmlformats-officedocument.drawingml.diagramData+xml"/>
  <Override PartName="/ppt/diagrams/layout39.xml" ContentType="application/vnd.openxmlformats-officedocument.drawingml.diagramLayout+xml"/>
  <Override PartName="/ppt/diagrams/quickStyle39.xml" ContentType="application/vnd.openxmlformats-officedocument.drawingml.diagramStyle+xml"/>
  <Override PartName="/ppt/diagrams/colors39.xml" ContentType="application/vnd.openxmlformats-officedocument.drawingml.diagramColors+xml"/>
  <Override PartName="/ppt/diagrams/drawing39.xml" ContentType="application/vnd.ms-office.drawingml.diagramDrawing+xml"/>
  <Override PartName="/ppt/diagrams/data40.xml" ContentType="application/vnd.openxmlformats-officedocument.drawingml.diagramData+xml"/>
  <Override PartName="/ppt/diagrams/layout40.xml" ContentType="application/vnd.openxmlformats-officedocument.drawingml.diagramLayout+xml"/>
  <Override PartName="/ppt/diagrams/quickStyle40.xml" ContentType="application/vnd.openxmlformats-officedocument.drawingml.diagramStyle+xml"/>
  <Override PartName="/ppt/diagrams/colors40.xml" ContentType="application/vnd.openxmlformats-officedocument.drawingml.diagramColors+xml"/>
  <Override PartName="/ppt/diagrams/drawing40.xml" ContentType="application/vnd.ms-office.drawingml.diagramDrawing+xml"/>
  <Override PartName="/ppt/diagrams/data41.xml" ContentType="application/vnd.openxmlformats-officedocument.drawingml.diagramData+xml"/>
  <Override PartName="/ppt/diagrams/layout41.xml" ContentType="application/vnd.openxmlformats-officedocument.drawingml.diagramLayout+xml"/>
  <Override PartName="/ppt/diagrams/quickStyle41.xml" ContentType="application/vnd.openxmlformats-officedocument.drawingml.diagramStyle+xml"/>
  <Override PartName="/ppt/diagrams/colors41.xml" ContentType="application/vnd.openxmlformats-officedocument.drawingml.diagramColors+xml"/>
  <Override PartName="/ppt/diagrams/drawing41.xml" ContentType="application/vnd.ms-office.drawingml.diagramDrawing+xml"/>
  <Override PartName="/ppt/diagrams/data42.xml" ContentType="application/vnd.openxmlformats-officedocument.drawingml.diagramData+xml"/>
  <Override PartName="/ppt/diagrams/layout42.xml" ContentType="application/vnd.openxmlformats-officedocument.drawingml.diagramLayout+xml"/>
  <Override PartName="/ppt/diagrams/quickStyle42.xml" ContentType="application/vnd.openxmlformats-officedocument.drawingml.diagramStyle+xml"/>
  <Override PartName="/ppt/diagrams/colors42.xml" ContentType="application/vnd.openxmlformats-officedocument.drawingml.diagramColors+xml"/>
  <Override PartName="/ppt/diagrams/drawing42.xml" ContentType="application/vnd.ms-office.drawingml.diagramDrawing+xml"/>
  <Override PartName="/ppt/diagrams/data43.xml" ContentType="application/vnd.openxmlformats-officedocument.drawingml.diagramData+xml"/>
  <Override PartName="/ppt/diagrams/layout43.xml" ContentType="application/vnd.openxmlformats-officedocument.drawingml.diagramLayout+xml"/>
  <Override PartName="/ppt/diagrams/quickStyle43.xml" ContentType="application/vnd.openxmlformats-officedocument.drawingml.diagramStyle+xml"/>
  <Override PartName="/ppt/diagrams/colors43.xml" ContentType="application/vnd.openxmlformats-officedocument.drawingml.diagramColors+xml"/>
  <Override PartName="/ppt/diagrams/drawing43.xml" ContentType="application/vnd.ms-office.drawingml.diagramDrawing+xml"/>
  <Override PartName="/ppt/diagrams/data44.xml" ContentType="application/vnd.openxmlformats-officedocument.drawingml.diagramData+xml"/>
  <Override PartName="/ppt/diagrams/layout44.xml" ContentType="application/vnd.openxmlformats-officedocument.drawingml.diagramLayout+xml"/>
  <Override PartName="/ppt/diagrams/quickStyle44.xml" ContentType="application/vnd.openxmlformats-officedocument.drawingml.diagramStyle+xml"/>
  <Override PartName="/ppt/diagrams/colors44.xml" ContentType="application/vnd.openxmlformats-officedocument.drawingml.diagramColors+xml"/>
  <Override PartName="/ppt/diagrams/drawing44.xml" ContentType="application/vnd.ms-office.drawingml.diagramDrawing+xml"/>
  <Override PartName="/ppt/diagrams/data45.xml" ContentType="application/vnd.openxmlformats-officedocument.drawingml.diagramData+xml"/>
  <Override PartName="/ppt/diagrams/layout45.xml" ContentType="application/vnd.openxmlformats-officedocument.drawingml.diagramLayout+xml"/>
  <Override PartName="/ppt/diagrams/quickStyle45.xml" ContentType="application/vnd.openxmlformats-officedocument.drawingml.diagramStyle+xml"/>
  <Override PartName="/ppt/diagrams/colors45.xml" ContentType="application/vnd.openxmlformats-officedocument.drawingml.diagramColors+xml"/>
  <Override PartName="/ppt/diagrams/drawing45.xml" ContentType="application/vnd.ms-office.drawingml.diagramDrawing+xml"/>
  <Override PartName="/ppt/diagrams/data46.xml" ContentType="application/vnd.openxmlformats-officedocument.drawingml.diagramData+xml"/>
  <Override PartName="/ppt/diagrams/layout46.xml" ContentType="application/vnd.openxmlformats-officedocument.drawingml.diagramLayout+xml"/>
  <Override PartName="/ppt/diagrams/quickStyle46.xml" ContentType="application/vnd.openxmlformats-officedocument.drawingml.diagramStyle+xml"/>
  <Override PartName="/ppt/diagrams/colors46.xml" ContentType="application/vnd.openxmlformats-officedocument.drawingml.diagramColors+xml"/>
  <Override PartName="/ppt/diagrams/drawing46.xml" ContentType="application/vnd.ms-office.drawingml.diagramDrawing+xml"/>
  <Override PartName="/ppt/diagrams/data47.xml" ContentType="application/vnd.openxmlformats-officedocument.drawingml.diagramData+xml"/>
  <Override PartName="/ppt/diagrams/layout47.xml" ContentType="application/vnd.openxmlformats-officedocument.drawingml.diagramLayout+xml"/>
  <Override PartName="/ppt/diagrams/quickStyle47.xml" ContentType="application/vnd.openxmlformats-officedocument.drawingml.diagramStyle+xml"/>
  <Override PartName="/ppt/diagrams/colors47.xml" ContentType="application/vnd.openxmlformats-officedocument.drawingml.diagramColors+xml"/>
  <Override PartName="/ppt/diagrams/drawing47.xml" ContentType="application/vnd.ms-office.drawingml.diagramDrawing+xml"/>
  <Override PartName="/ppt/diagrams/data48.xml" ContentType="application/vnd.openxmlformats-officedocument.drawingml.diagramData+xml"/>
  <Override PartName="/ppt/diagrams/layout48.xml" ContentType="application/vnd.openxmlformats-officedocument.drawingml.diagramLayout+xml"/>
  <Override PartName="/ppt/diagrams/quickStyle48.xml" ContentType="application/vnd.openxmlformats-officedocument.drawingml.diagramStyle+xml"/>
  <Override PartName="/ppt/diagrams/colors48.xml" ContentType="application/vnd.openxmlformats-officedocument.drawingml.diagramColors+xml"/>
  <Override PartName="/ppt/diagrams/drawing48.xml" ContentType="application/vnd.ms-office.drawingml.diagramDrawing+xml"/>
  <Override PartName="/ppt/diagrams/data49.xml" ContentType="application/vnd.openxmlformats-officedocument.drawingml.diagramData+xml"/>
  <Override PartName="/ppt/diagrams/layout49.xml" ContentType="application/vnd.openxmlformats-officedocument.drawingml.diagramLayout+xml"/>
  <Override PartName="/ppt/diagrams/quickStyle49.xml" ContentType="application/vnd.openxmlformats-officedocument.drawingml.diagramStyle+xml"/>
  <Override PartName="/ppt/diagrams/colors49.xml" ContentType="application/vnd.openxmlformats-officedocument.drawingml.diagramColors+xml"/>
  <Override PartName="/ppt/diagrams/drawing49.xml" ContentType="application/vnd.ms-office.drawingml.diagramDrawing+xml"/>
  <Override PartName="/ppt/diagrams/data50.xml" ContentType="application/vnd.openxmlformats-officedocument.drawingml.diagramData+xml"/>
  <Override PartName="/ppt/diagrams/layout50.xml" ContentType="application/vnd.openxmlformats-officedocument.drawingml.diagramLayout+xml"/>
  <Override PartName="/ppt/diagrams/quickStyle50.xml" ContentType="application/vnd.openxmlformats-officedocument.drawingml.diagramStyle+xml"/>
  <Override PartName="/ppt/diagrams/colors50.xml" ContentType="application/vnd.openxmlformats-officedocument.drawingml.diagramColors+xml"/>
  <Override PartName="/ppt/diagrams/drawing50.xml" ContentType="application/vnd.ms-office.drawingml.diagramDrawing+xml"/>
  <Override PartName="/ppt/diagrams/data51.xml" ContentType="application/vnd.openxmlformats-officedocument.drawingml.diagramData+xml"/>
  <Override PartName="/ppt/diagrams/layout51.xml" ContentType="application/vnd.openxmlformats-officedocument.drawingml.diagramLayout+xml"/>
  <Override PartName="/ppt/diagrams/quickStyle51.xml" ContentType="application/vnd.openxmlformats-officedocument.drawingml.diagramStyle+xml"/>
  <Override PartName="/ppt/diagrams/colors51.xml" ContentType="application/vnd.openxmlformats-officedocument.drawingml.diagramColors+xml"/>
  <Override PartName="/ppt/diagrams/drawing51.xml" ContentType="application/vnd.ms-office.drawingml.diagramDrawing+xml"/>
  <Override PartName="/ppt/diagrams/data52.xml" ContentType="application/vnd.openxmlformats-officedocument.drawingml.diagramData+xml"/>
  <Override PartName="/ppt/diagrams/layout52.xml" ContentType="application/vnd.openxmlformats-officedocument.drawingml.diagramLayout+xml"/>
  <Override PartName="/ppt/diagrams/quickStyle52.xml" ContentType="application/vnd.openxmlformats-officedocument.drawingml.diagramStyle+xml"/>
  <Override PartName="/ppt/diagrams/colors52.xml" ContentType="application/vnd.openxmlformats-officedocument.drawingml.diagramColors+xml"/>
  <Override PartName="/ppt/diagrams/drawing52.xml" ContentType="application/vnd.ms-office.drawingml.diagramDrawing+xml"/>
  <Override PartName="/ppt/diagrams/data53.xml" ContentType="application/vnd.openxmlformats-officedocument.drawingml.diagramData+xml"/>
  <Override PartName="/ppt/diagrams/layout53.xml" ContentType="application/vnd.openxmlformats-officedocument.drawingml.diagramLayout+xml"/>
  <Override PartName="/ppt/diagrams/quickStyle53.xml" ContentType="application/vnd.openxmlformats-officedocument.drawingml.diagramStyle+xml"/>
  <Override PartName="/ppt/diagrams/colors53.xml" ContentType="application/vnd.openxmlformats-officedocument.drawingml.diagramColors+xml"/>
  <Override PartName="/ppt/diagrams/drawing53.xml" ContentType="application/vnd.ms-office.drawingml.diagramDrawing+xml"/>
  <Override PartName="/ppt/diagrams/data54.xml" ContentType="application/vnd.openxmlformats-officedocument.drawingml.diagramData+xml"/>
  <Override PartName="/ppt/diagrams/layout54.xml" ContentType="application/vnd.openxmlformats-officedocument.drawingml.diagramLayout+xml"/>
  <Override PartName="/ppt/diagrams/quickStyle54.xml" ContentType="application/vnd.openxmlformats-officedocument.drawingml.diagramStyle+xml"/>
  <Override PartName="/ppt/diagrams/colors54.xml" ContentType="application/vnd.openxmlformats-officedocument.drawingml.diagramColors+xml"/>
  <Override PartName="/ppt/diagrams/drawing54.xml" ContentType="application/vnd.ms-office.drawingml.diagramDrawing+xml"/>
  <Override PartName="/ppt/notesSlides/notesSlide1.xml" ContentType="application/vnd.openxmlformats-officedocument.presentationml.notesSlide+xml"/>
  <Override PartName="/ppt/diagrams/data55.xml" ContentType="application/vnd.openxmlformats-officedocument.drawingml.diagramData+xml"/>
  <Override PartName="/ppt/diagrams/layout55.xml" ContentType="application/vnd.openxmlformats-officedocument.drawingml.diagramLayout+xml"/>
  <Override PartName="/ppt/diagrams/quickStyle55.xml" ContentType="application/vnd.openxmlformats-officedocument.drawingml.diagramStyle+xml"/>
  <Override PartName="/ppt/diagrams/colors55.xml" ContentType="application/vnd.openxmlformats-officedocument.drawingml.diagramColors+xml"/>
  <Override PartName="/ppt/diagrams/drawing55.xml" ContentType="application/vnd.ms-office.drawingml.diagramDrawing+xml"/>
  <Override PartName="/ppt/diagrams/data56.xml" ContentType="application/vnd.openxmlformats-officedocument.drawingml.diagramData+xml"/>
  <Override PartName="/ppt/diagrams/layout56.xml" ContentType="application/vnd.openxmlformats-officedocument.drawingml.diagramLayout+xml"/>
  <Override PartName="/ppt/diagrams/quickStyle56.xml" ContentType="application/vnd.openxmlformats-officedocument.drawingml.diagramStyle+xml"/>
  <Override PartName="/ppt/diagrams/colors56.xml" ContentType="application/vnd.openxmlformats-officedocument.drawingml.diagramColors+xml"/>
  <Override PartName="/ppt/diagrams/drawing56.xml" ContentType="application/vnd.ms-office.drawingml.diagramDrawing+xml"/>
  <Override PartName="/ppt/notesSlides/notesSlide2.xml" ContentType="application/vnd.openxmlformats-officedocument.presentationml.notesSlide+xml"/>
  <Override PartName="/ppt/diagrams/data57.xml" ContentType="application/vnd.openxmlformats-officedocument.drawingml.diagramData+xml"/>
  <Override PartName="/ppt/diagrams/layout57.xml" ContentType="application/vnd.openxmlformats-officedocument.drawingml.diagramLayout+xml"/>
  <Override PartName="/ppt/diagrams/quickStyle57.xml" ContentType="application/vnd.openxmlformats-officedocument.drawingml.diagramStyle+xml"/>
  <Override PartName="/ppt/diagrams/colors57.xml" ContentType="application/vnd.openxmlformats-officedocument.drawingml.diagramColors+xml"/>
  <Override PartName="/ppt/diagrams/drawing57.xml" ContentType="application/vnd.ms-office.drawingml.diagramDrawing+xml"/>
  <Override PartName="/ppt/notesSlides/notesSlide3.xml" ContentType="application/vnd.openxmlformats-officedocument.presentationml.notesSlide+xml"/>
  <Override PartName="/ppt/diagrams/data58.xml" ContentType="application/vnd.openxmlformats-officedocument.drawingml.diagramData+xml"/>
  <Override PartName="/ppt/diagrams/layout58.xml" ContentType="application/vnd.openxmlformats-officedocument.drawingml.diagramLayout+xml"/>
  <Override PartName="/ppt/diagrams/quickStyle58.xml" ContentType="application/vnd.openxmlformats-officedocument.drawingml.diagramStyle+xml"/>
  <Override PartName="/ppt/diagrams/colors58.xml" ContentType="application/vnd.openxmlformats-officedocument.drawingml.diagramColors+xml"/>
  <Override PartName="/ppt/diagrams/drawing58.xml" ContentType="application/vnd.ms-office.drawingml.diagramDrawing+xml"/>
  <Override PartName="/ppt/notesSlides/notesSlide4.xml" ContentType="application/vnd.openxmlformats-officedocument.presentationml.notesSlide+xml"/>
  <Override PartName="/ppt/diagrams/data59.xml" ContentType="application/vnd.openxmlformats-officedocument.drawingml.diagramData+xml"/>
  <Override PartName="/ppt/diagrams/layout59.xml" ContentType="application/vnd.openxmlformats-officedocument.drawingml.diagramLayout+xml"/>
  <Override PartName="/ppt/diagrams/quickStyle59.xml" ContentType="application/vnd.openxmlformats-officedocument.drawingml.diagramStyle+xml"/>
  <Override PartName="/ppt/diagrams/colors59.xml" ContentType="application/vnd.openxmlformats-officedocument.drawingml.diagramColors+xml"/>
  <Override PartName="/ppt/diagrams/drawing59.xml" ContentType="application/vnd.ms-office.drawingml.diagramDrawing+xml"/>
  <Override PartName="/ppt/notesSlides/notesSlide5.xml" ContentType="application/vnd.openxmlformats-officedocument.presentationml.notesSlide+xml"/>
  <Override PartName="/ppt/diagrams/data60.xml" ContentType="application/vnd.openxmlformats-officedocument.drawingml.diagramData+xml"/>
  <Override PartName="/ppt/diagrams/layout60.xml" ContentType="application/vnd.openxmlformats-officedocument.drawingml.diagramLayout+xml"/>
  <Override PartName="/ppt/diagrams/quickStyle60.xml" ContentType="application/vnd.openxmlformats-officedocument.drawingml.diagramStyle+xml"/>
  <Override PartName="/ppt/diagrams/colors60.xml" ContentType="application/vnd.openxmlformats-officedocument.drawingml.diagramColors+xml"/>
  <Override PartName="/ppt/diagrams/drawing60.xml" ContentType="application/vnd.ms-office.drawingml.diagramDrawing+xml"/>
  <Override PartName="/ppt/notesSlides/notesSlide6.xml" ContentType="application/vnd.openxmlformats-officedocument.presentationml.notesSlide+xml"/>
  <Override PartName="/ppt/diagrams/data61.xml" ContentType="application/vnd.openxmlformats-officedocument.drawingml.diagramData+xml"/>
  <Override PartName="/ppt/diagrams/layout61.xml" ContentType="application/vnd.openxmlformats-officedocument.drawingml.diagramLayout+xml"/>
  <Override PartName="/ppt/diagrams/quickStyle61.xml" ContentType="application/vnd.openxmlformats-officedocument.drawingml.diagramStyle+xml"/>
  <Override PartName="/ppt/diagrams/colors61.xml" ContentType="application/vnd.openxmlformats-officedocument.drawingml.diagramColors+xml"/>
  <Override PartName="/ppt/diagrams/drawing61.xml" ContentType="application/vnd.ms-office.drawingml.diagramDrawing+xml"/>
  <Override PartName="/ppt/notesSlides/notesSlide7.xml" ContentType="application/vnd.openxmlformats-officedocument.presentationml.notesSlide+xml"/>
  <Override PartName="/ppt/diagrams/data62.xml" ContentType="application/vnd.openxmlformats-officedocument.drawingml.diagramData+xml"/>
  <Override PartName="/ppt/diagrams/layout62.xml" ContentType="application/vnd.openxmlformats-officedocument.drawingml.diagramLayout+xml"/>
  <Override PartName="/ppt/diagrams/quickStyle62.xml" ContentType="application/vnd.openxmlformats-officedocument.drawingml.diagramStyle+xml"/>
  <Override PartName="/ppt/diagrams/colors62.xml" ContentType="application/vnd.openxmlformats-officedocument.drawingml.diagramColors+xml"/>
  <Override PartName="/ppt/diagrams/drawing62.xml" ContentType="application/vnd.ms-office.drawingml.diagramDrawing+xml"/>
  <Override PartName="/ppt/notesSlides/notesSlide8.xml" ContentType="application/vnd.openxmlformats-officedocument.presentationml.notesSlide+xml"/>
  <Override PartName="/ppt/diagrams/data63.xml" ContentType="application/vnd.openxmlformats-officedocument.drawingml.diagramData+xml"/>
  <Override PartName="/ppt/diagrams/layout63.xml" ContentType="application/vnd.openxmlformats-officedocument.drawingml.diagramLayout+xml"/>
  <Override PartName="/ppt/diagrams/quickStyle63.xml" ContentType="application/vnd.openxmlformats-officedocument.drawingml.diagramStyle+xml"/>
  <Override PartName="/ppt/diagrams/colors63.xml" ContentType="application/vnd.openxmlformats-officedocument.drawingml.diagramColors+xml"/>
  <Override PartName="/ppt/diagrams/drawing63.xml" ContentType="application/vnd.ms-office.drawingml.diagramDrawing+xml"/>
  <Override PartName="/ppt/notesSlides/notesSlide9.xml" ContentType="application/vnd.openxmlformats-officedocument.presentationml.notesSlide+xml"/>
  <Override PartName="/ppt/diagrams/data64.xml" ContentType="application/vnd.openxmlformats-officedocument.drawingml.diagramData+xml"/>
  <Override PartName="/ppt/diagrams/layout64.xml" ContentType="application/vnd.openxmlformats-officedocument.drawingml.diagramLayout+xml"/>
  <Override PartName="/ppt/diagrams/quickStyle64.xml" ContentType="application/vnd.openxmlformats-officedocument.drawingml.diagramStyle+xml"/>
  <Override PartName="/ppt/diagrams/colors64.xml" ContentType="application/vnd.openxmlformats-officedocument.drawingml.diagramColors+xml"/>
  <Override PartName="/ppt/diagrams/drawing64.xml" ContentType="application/vnd.ms-office.drawingml.diagramDrawing+xml"/>
  <Override PartName="/ppt/notesSlides/notesSlide10.xml" ContentType="application/vnd.openxmlformats-officedocument.presentationml.notesSlide+xml"/>
  <Override PartName="/ppt/diagrams/data65.xml" ContentType="application/vnd.openxmlformats-officedocument.drawingml.diagramData+xml"/>
  <Override PartName="/ppt/diagrams/layout65.xml" ContentType="application/vnd.openxmlformats-officedocument.drawingml.diagramLayout+xml"/>
  <Override PartName="/ppt/diagrams/quickStyle65.xml" ContentType="application/vnd.openxmlformats-officedocument.drawingml.diagramStyle+xml"/>
  <Override PartName="/ppt/diagrams/colors65.xml" ContentType="application/vnd.openxmlformats-officedocument.drawingml.diagramColors+xml"/>
  <Override PartName="/ppt/diagrams/drawing65.xml" ContentType="application/vnd.ms-office.drawingml.diagramDrawing+xml"/>
  <Override PartName="/ppt/diagrams/data66.xml" ContentType="application/vnd.openxmlformats-officedocument.drawingml.diagramData+xml"/>
  <Override PartName="/ppt/diagrams/layout66.xml" ContentType="application/vnd.openxmlformats-officedocument.drawingml.diagramLayout+xml"/>
  <Override PartName="/ppt/diagrams/quickStyle66.xml" ContentType="application/vnd.openxmlformats-officedocument.drawingml.diagramStyle+xml"/>
  <Override PartName="/ppt/diagrams/colors66.xml" ContentType="application/vnd.openxmlformats-officedocument.drawingml.diagramColors+xml"/>
  <Override PartName="/ppt/diagrams/drawing66.xml" ContentType="application/vnd.ms-office.drawingml.diagramDrawing+xml"/>
  <Override PartName="/ppt/notesSlides/notesSlide11.xml" ContentType="application/vnd.openxmlformats-officedocument.presentationml.notesSlide+xml"/>
  <Override PartName="/ppt/diagrams/data67.xml" ContentType="application/vnd.openxmlformats-officedocument.drawingml.diagramData+xml"/>
  <Override PartName="/ppt/diagrams/layout67.xml" ContentType="application/vnd.openxmlformats-officedocument.drawingml.diagramLayout+xml"/>
  <Override PartName="/ppt/diagrams/quickStyle67.xml" ContentType="application/vnd.openxmlformats-officedocument.drawingml.diagramStyle+xml"/>
  <Override PartName="/ppt/diagrams/colors67.xml" ContentType="application/vnd.openxmlformats-officedocument.drawingml.diagramColors+xml"/>
  <Override PartName="/ppt/diagrams/drawing67.xml" ContentType="application/vnd.ms-office.drawingml.diagramDrawing+xml"/>
  <Override PartName="/ppt/notesSlides/notesSlide12.xml" ContentType="application/vnd.openxmlformats-officedocument.presentationml.notesSlide+xml"/>
  <Override PartName="/ppt/diagrams/data68.xml" ContentType="application/vnd.openxmlformats-officedocument.drawingml.diagramData+xml"/>
  <Override PartName="/ppt/diagrams/layout68.xml" ContentType="application/vnd.openxmlformats-officedocument.drawingml.diagramLayout+xml"/>
  <Override PartName="/ppt/diagrams/quickStyle68.xml" ContentType="application/vnd.openxmlformats-officedocument.drawingml.diagramStyle+xml"/>
  <Override PartName="/ppt/diagrams/colors68.xml" ContentType="application/vnd.openxmlformats-officedocument.drawingml.diagramColors+xml"/>
  <Override PartName="/ppt/diagrams/drawing68.xml" ContentType="application/vnd.ms-office.drawingml.diagramDrawing+xml"/>
  <Override PartName="/ppt/notesSlides/notesSlide13.xml" ContentType="application/vnd.openxmlformats-officedocument.presentationml.notesSlide+xml"/>
  <Override PartName="/ppt/diagrams/data69.xml" ContentType="application/vnd.openxmlformats-officedocument.drawingml.diagramData+xml"/>
  <Override PartName="/ppt/diagrams/layout69.xml" ContentType="application/vnd.openxmlformats-officedocument.drawingml.diagramLayout+xml"/>
  <Override PartName="/ppt/diagrams/quickStyle69.xml" ContentType="application/vnd.openxmlformats-officedocument.drawingml.diagramStyle+xml"/>
  <Override PartName="/ppt/diagrams/colors69.xml" ContentType="application/vnd.openxmlformats-officedocument.drawingml.diagramColors+xml"/>
  <Override PartName="/ppt/diagrams/drawing69.xml" ContentType="application/vnd.ms-office.drawingml.diagramDrawing+xml"/>
  <Override PartName="/ppt/notesSlides/notesSlide14.xml" ContentType="application/vnd.openxmlformats-officedocument.presentationml.notesSlide+xml"/>
  <Override PartName="/ppt/diagrams/data70.xml" ContentType="application/vnd.openxmlformats-officedocument.drawingml.diagramData+xml"/>
  <Override PartName="/ppt/diagrams/layout70.xml" ContentType="application/vnd.openxmlformats-officedocument.drawingml.diagramLayout+xml"/>
  <Override PartName="/ppt/diagrams/quickStyle70.xml" ContentType="application/vnd.openxmlformats-officedocument.drawingml.diagramStyle+xml"/>
  <Override PartName="/ppt/diagrams/colors70.xml" ContentType="application/vnd.openxmlformats-officedocument.drawingml.diagramColors+xml"/>
  <Override PartName="/ppt/diagrams/drawing70.xml" ContentType="application/vnd.ms-office.drawingml.diagramDrawing+xml"/>
  <Override PartName="/ppt/notesSlides/notesSlide15.xml" ContentType="application/vnd.openxmlformats-officedocument.presentationml.notesSlide+xml"/>
  <Override PartName="/ppt/diagrams/data71.xml" ContentType="application/vnd.openxmlformats-officedocument.drawingml.diagramData+xml"/>
  <Override PartName="/ppt/diagrams/layout71.xml" ContentType="application/vnd.openxmlformats-officedocument.drawingml.diagramLayout+xml"/>
  <Override PartName="/ppt/diagrams/quickStyle71.xml" ContentType="application/vnd.openxmlformats-officedocument.drawingml.diagramStyle+xml"/>
  <Override PartName="/ppt/diagrams/colors71.xml" ContentType="application/vnd.openxmlformats-officedocument.drawingml.diagramColors+xml"/>
  <Override PartName="/ppt/diagrams/drawing71.xml" ContentType="application/vnd.ms-office.drawingml.diagramDrawing+xml"/>
  <Override PartName="/ppt/notesSlides/notesSlide16.xml" ContentType="application/vnd.openxmlformats-officedocument.presentationml.notesSlide+xml"/>
  <Override PartName="/ppt/diagrams/data72.xml" ContentType="application/vnd.openxmlformats-officedocument.drawingml.diagramData+xml"/>
  <Override PartName="/ppt/diagrams/layout72.xml" ContentType="application/vnd.openxmlformats-officedocument.drawingml.diagramLayout+xml"/>
  <Override PartName="/ppt/diagrams/quickStyle72.xml" ContentType="application/vnd.openxmlformats-officedocument.drawingml.diagramStyle+xml"/>
  <Override PartName="/ppt/diagrams/colors72.xml" ContentType="application/vnd.openxmlformats-officedocument.drawingml.diagramColors+xml"/>
  <Override PartName="/ppt/diagrams/drawing72.xml" ContentType="application/vnd.ms-office.drawingml.diagramDrawing+xml"/>
  <Override PartName="/ppt/notesSlides/notesSlide17.xml" ContentType="application/vnd.openxmlformats-officedocument.presentationml.notesSlide+xml"/>
  <Override PartName="/ppt/diagrams/data73.xml" ContentType="application/vnd.openxmlformats-officedocument.drawingml.diagramData+xml"/>
  <Override PartName="/ppt/diagrams/layout73.xml" ContentType="application/vnd.openxmlformats-officedocument.drawingml.diagramLayout+xml"/>
  <Override PartName="/ppt/diagrams/quickStyle73.xml" ContentType="application/vnd.openxmlformats-officedocument.drawingml.diagramStyle+xml"/>
  <Override PartName="/ppt/diagrams/colors73.xml" ContentType="application/vnd.openxmlformats-officedocument.drawingml.diagramColors+xml"/>
  <Override PartName="/ppt/diagrams/drawing73.xml" ContentType="application/vnd.ms-office.drawingml.diagramDrawing+xml"/>
  <Override PartName="/ppt/notesSlides/notesSlide18.xml" ContentType="application/vnd.openxmlformats-officedocument.presentationml.notesSlide+xml"/>
  <Override PartName="/ppt/diagrams/data74.xml" ContentType="application/vnd.openxmlformats-officedocument.drawingml.diagramData+xml"/>
  <Override PartName="/ppt/diagrams/layout74.xml" ContentType="application/vnd.openxmlformats-officedocument.drawingml.diagramLayout+xml"/>
  <Override PartName="/ppt/diagrams/quickStyle74.xml" ContentType="application/vnd.openxmlformats-officedocument.drawingml.diagramStyle+xml"/>
  <Override PartName="/ppt/diagrams/colors74.xml" ContentType="application/vnd.openxmlformats-officedocument.drawingml.diagramColors+xml"/>
  <Override PartName="/ppt/diagrams/drawing74.xml" ContentType="application/vnd.ms-office.drawingml.diagramDrawing+xml"/>
  <Override PartName="/ppt/notesSlides/notesSlide19.xml" ContentType="application/vnd.openxmlformats-officedocument.presentationml.notesSlide+xml"/>
  <Override PartName="/ppt/diagrams/data75.xml" ContentType="application/vnd.openxmlformats-officedocument.drawingml.diagramData+xml"/>
  <Override PartName="/ppt/diagrams/layout75.xml" ContentType="application/vnd.openxmlformats-officedocument.drawingml.diagramLayout+xml"/>
  <Override PartName="/ppt/diagrams/quickStyle75.xml" ContentType="application/vnd.openxmlformats-officedocument.drawingml.diagramStyle+xml"/>
  <Override PartName="/ppt/diagrams/colors75.xml" ContentType="application/vnd.openxmlformats-officedocument.drawingml.diagramColors+xml"/>
  <Override PartName="/ppt/diagrams/drawing75.xml" ContentType="application/vnd.ms-office.drawingml.diagramDrawing+xml"/>
  <Override PartName="/ppt/notesSlides/notesSlide20.xml" ContentType="application/vnd.openxmlformats-officedocument.presentationml.notesSlide+xml"/>
  <Override PartName="/ppt/diagrams/data76.xml" ContentType="application/vnd.openxmlformats-officedocument.drawingml.diagramData+xml"/>
  <Override PartName="/ppt/diagrams/layout76.xml" ContentType="application/vnd.openxmlformats-officedocument.drawingml.diagramLayout+xml"/>
  <Override PartName="/ppt/diagrams/quickStyle76.xml" ContentType="application/vnd.openxmlformats-officedocument.drawingml.diagramStyle+xml"/>
  <Override PartName="/ppt/diagrams/colors76.xml" ContentType="application/vnd.openxmlformats-officedocument.drawingml.diagramColors+xml"/>
  <Override PartName="/ppt/diagrams/drawing76.xml" ContentType="application/vnd.ms-office.drawingml.diagramDrawing+xml"/>
  <Override PartName="/ppt/notesSlides/notesSlide21.xml" ContentType="application/vnd.openxmlformats-officedocument.presentationml.notesSlide+xml"/>
  <Override PartName="/ppt/diagrams/data77.xml" ContentType="application/vnd.openxmlformats-officedocument.drawingml.diagramData+xml"/>
  <Override PartName="/ppt/diagrams/layout77.xml" ContentType="application/vnd.openxmlformats-officedocument.drawingml.diagramLayout+xml"/>
  <Override PartName="/ppt/diagrams/quickStyle77.xml" ContentType="application/vnd.openxmlformats-officedocument.drawingml.diagramStyle+xml"/>
  <Override PartName="/ppt/diagrams/colors77.xml" ContentType="application/vnd.openxmlformats-officedocument.drawingml.diagramColors+xml"/>
  <Override PartName="/ppt/diagrams/drawing77.xml" ContentType="application/vnd.ms-office.drawingml.diagramDrawing+xml"/>
  <Override PartName="/ppt/notesSlides/notesSlide22.xml" ContentType="application/vnd.openxmlformats-officedocument.presentationml.notesSlide+xml"/>
  <Override PartName="/ppt/diagrams/data78.xml" ContentType="application/vnd.openxmlformats-officedocument.drawingml.diagramData+xml"/>
  <Override PartName="/ppt/diagrams/layout78.xml" ContentType="application/vnd.openxmlformats-officedocument.drawingml.diagramLayout+xml"/>
  <Override PartName="/ppt/diagrams/quickStyle78.xml" ContentType="application/vnd.openxmlformats-officedocument.drawingml.diagramStyle+xml"/>
  <Override PartName="/ppt/diagrams/colors78.xml" ContentType="application/vnd.openxmlformats-officedocument.drawingml.diagramColors+xml"/>
  <Override PartName="/ppt/diagrams/drawing78.xml" ContentType="application/vnd.ms-office.drawingml.diagramDrawing+xml"/>
  <Override PartName="/ppt/notesSlides/notesSlide23.xml" ContentType="application/vnd.openxmlformats-officedocument.presentationml.notesSlide+xml"/>
  <Override PartName="/ppt/diagrams/data79.xml" ContentType="application/vnd.openxmlformats-officedocument.drawingml.diagramData+xml"/>
  <Override PartName="/ppt/diagrams/layout79.xml" ContentType="application/vnd.openxmlformats-officedocument.drawingml.diagramLayout+xml"/>
  <Override PartName="/ppt/diagrams/quickStyle79.xml" ContentType="application/vnd.openxmlformats-officedocument.drawingml.diagramStyle+xml"/>
  <Override PartName="/ppt/diagrams/colors79.xml" ContentType="application/vnd.openxmlformats-officedocument.drawingml.diagramColors+xml"/>
  <Override PartName="/ppt/diagrams/drawing79.xml" ContentType="application/vnd.ms-office.drawingml.diagramDrawing+xml"/>
  <Override PartName="/ppt/notesSlides/notesSlide24.xml" ContentType="application/vnd.openxmlformats-officedocument.presentationml.notesSlide+xml"/>
  <Override PartName="/ppt/diagrams/data80.xml" ContentType="application/vnd.openxmlformats-officedocument.drawingml.diagramData+xml"/>
  <Override PartName="/ppt/diagrams/layout80.xml" ContentType="application/vnd.openxmlformats-officedocument.drawingml.diagramLayout+xml"/>
  <Override PartName="/ppt/diagrams/quickStyle80.xml" ContentType="application/vnd.openxmlformats-officedocument.drawingml.diagramStyle+xml"/>
  <Override PartName="/ppt/diagrams/colors80.xml" ContentType="application/vnd.openxmlformats-officedocument.drawingml.diagramColors+xml"/>
  <Override PartName="/ppt/diagrams/drawing80.xml" ContentType="application/vnd.ms-office.drawingml.diagramDrawing+xml"/>
  <Override PartName="/ppt/notesSlides/notesSlide25.xml" ContentType="application/vnd.openxmlformats-officedocument.presentationml.notesSlide+xml"/>
  <Override PartName="/ppt/diagrams/data81.xml" ContentType="application/vnd.openxmlformats-officedocument.drawingml.diagramData+xml"/>
  <Override PartName="/ppt/diagrams/layout81.xml" ContentType="application/vnd.openxmlformats-officedocument.drawingml.diagramLayout+xml"/>
  <Override PartName="/ppt/diagrams/quickStyle81.xml" ContentType="application/vnd.openxmlformats-officedocument.drawingml.diagramStyle+xml"/>
  <Override PartName="/ppt/diagrams/colors81.xml" ContentType="application/vnd.openxmlformats-officedocument.drawingml.diagramColors+xml"/>
  <Override PartName="/ppt/diagrams/drawing81.xml" ContentType="application/vnd.ms-office.drawingml.diagramDrawing+xml"/>
  <Override PartName="/ppt/notesSlides/notesSlide26.xml" ContentType="application/vnd.openxmlformats-officedocument.presentationml.notesSlide+xml"/>
  <Override PartName="/ppt/diagrams/data82.xml" ContentType="application/vnd.openxmlformats-officedocument.drawingml.diagramData+xml"/>
  <Override PartName="/ppt/diagrams/layout82.xml" ContentType="application/vnd.openxmlformats-officedocument.drawingml.diagramLayout+xml"/>
  <Override PartName="/ppt/diagrams/quickStyle82.xml" ContentType="application/vnd.openxmlformats-officedocument.drawingml.diagramStyle+xml"/>
  <Override PartName="/ppt/diagrams/colors82.xml" ContentType="application/vnd.openxmlformats-officedocument.drawingml.diagramColors+xml"/>
  <Override PartName="/ppt/diagrams/drawing82.xml" ContentType="application/vnd.ms-office.drawingml.diagramDrawing+xml"/>
  <Override PartName="/ppt/notesSlides/notesSlide27.xml" ContentType="application/vnd.openxmlformats-officedocument.presentationml.notesSlide+xml"/>
  <Override PartName="/ppt/diagrams/data83.xml" ContentType="application/vnd.openxmlformats-officedocument.drawingml.diagramData+xml"/>
  <Override PartName="/ppt/diagrams/layout83.xml" ContentType="application/vnd.openxmlformats-officedocument.drawingml.diagramLayout+xml"/>
  <Override PartName="/ppt/diagrams/quickStyle83.xml" ContentType="application/vnd.openxmlformats-officedocument.drawingml.diagramStyle+xml"/>
  <Override PartName="/ppt/diagrams/colors83.xml" ContentType="application/vnd.openxmlformats-officedocument.drawingml.diagramColors+xml"/>
  <Override PartName="/ppt/diagrams/drawing83.xml" ContentType="application/vnd.ms-office.drawingml.diagramDrawing+xml"/>
  <Override PartName="/ppt/notesSlides/notesSlide28.xml" ContentType="application/vnd.openxmlformats-officedocument.presentationml.notesSlide+xml"/>
  <Override PartName="/ppt/diagrams/data84.xml" ContentType="application/vnd.openxmlformats-officedocument.drawingml.diagramData+xml"/>
  <Override PartName="/ppt/diagrams/layout84.xml" ContentType="application/vnd.openxmlformats-officedocument.drawingml.diagramLayout+xml"/>
  <Override PartName="/ppt/diagrams/quickStyle84.xml" ContentType="application/vnd.openxmlformats-officedocument.drawingml.diagramStyle+xml"/>
  <Override PartName="/ppt/diagrams/colors84.xml" ContentType="application/vnd.openxmlformats-officedocument.drawingml.diagramColors+xml"/>
  <Override PartName="/ppt/diagrams/drawing84.xml" ContentType="application/vnd.ms-office.drawingml.diagramDrawing+xml"/>
  <Override PartName="/ppt/diagrams/data85.xml" ContentType="application/vnd.openxmlformats-officedocument.drawingml.diagramData+xml"/>
  <Override PartName="/ppt/diagrams/layout85.xml" ContentType="application/vnd.openxmlformats-officedocument.drawingml.diagramLayout+xml"/>
  <Override PartName="/ppt/diagrams/quickStyle85.xml" ContentType="application/vnd.openxmlformats-officedocument.drawingml.diagramStyle+xml"/>
  <Override PartName="/ppt/diagrams/colors85.xml" ContentType="application/vnd.openxmlformats-officedocument.drawingml.diagramColors+xml"/>
  <Override PartName="/ppt/diagrams/drawing85.xml" ContentType="application/vnd.ms-office.drawingml.diagramDrawing+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notesMasterIdLst>
    <p:notesMasterId r:id="rId97"/>
  </p:notesMasterIdLst>
  <p:sldIdLst>
    <p:sldId id="256" r:id="rId5"/>
    <p:sldId id="297" r:id="rId6"/>
    <p:sldId id="298" r:id="rId7"/>
    <p:sldId id="299" r:id="rId8"/>
    <p:sldId id="300" r:id="rId9"/>
    <p:sldId id="301" r:id="rId10"/>
    <p:sldId id="302" r:id="rId11"/>
    <p:sldId id="303" r:id="rId12"/>
    <p:sldId id="305" r:id="rId13"/>
    <p:sldId id="310" r:id="rId14"/>
    <p:sldId id="317" r:id="rId15"/>
    <p:sldId id="312" r:id="rId16"/>
    <p:sldId id="316" r:id="rId17"/>
    <p:sldId id="315" r:id="rId18"/>
    <p:sldId id="307" r:id="rId19"/>
    <p:sldId id="308" r:id="rId20"/>
    <p:sldId id="313" r:id="rId21"/>
    <p:sldId id="314" r:id="rId22"/>
    <p:sldId id="311" r:id="rId23"/>
    <p:sldId id="1614" r:id="rId24"/>
    <p:sldId id="1615" r:id="rId25"/>
    <p:sldId id="1611" r:id="rId26"/>
    <p:sldId id="1612" r:id="rId27"/>
    <p:sldId id="1613" r:id="rId28"/>
    <p:sldId id="1001" r:id="rId29"/>
    <p:sldId id="414" r:id="rId30"/>
    <p:sldId id="1002" r:id="rId31"/>
    <p:sldId id="1003" r:id="rId32"/>
    <p:sldId id="1585" r:id="rId33"/>
    <p:sldId id="416" r:id="rId34"/>
    <p:sldId id="417" r:id="rId35"/>
    <p:sldId id="418" r:id="rId36"/>
    <p:sldId id="770" r:id="rId37"/>
    <p:sldId id="873" r:id="rId38"/>
    <p:sldId id="874" r:id="rId39"/>
    <p:sldId id="875" r:id="rId40"/>
    <p:sldId id="876" r:id="rId41"/>
    <p:sldId id="877" r:id="rId42"/>
    <p:sldId id="878" r:id="rId43"/>
    <p:sldId id="880" r:id="rId44"/>
    <p:sldId id="879" r:id="rId45"/>
    <p:sldId id="881" r:id="rId46"/>
    <p:sldId id="882" r:id="rId47"/>
    <p:sldId id="883" r:id="rId48"/>
    <p:sldId id="1586" r:id="rId49"/>
    <p:sldId id="1587" r:id="rId50"/>
    <p:sldId id="1588" r:id="rId51"/>
    <p:sldId id="1589" r:id="rId52"/>
    <p:sldId id="1590" r:id="rId53"/>
    <p:sldId id="1591" r:id="rId54"/>
    <p:sldId id="1592" r:id="rId55"/>
    <p:sldId id="1593" r:id="rId56"/>
    <p:sldId id="1594" r:id="rId57"/>
    <p:sldId id="1595" r:id="rId58"/>
    <p:sldId id="427" r:id="rId59"/>
    <p:sldId id="423" r:id="rId60"/>
    <p:sldId id="1596" r:id="rId61"/>
    <p:sldId id="1598" r:id="rId62"/>
    <p:sldId id="1597" r:id="rId63"/>
    <p:sldId id="997" r:id="rId64"/>
    <p:sldId id="424" r:id="rId65"/>
    <p:sldId id="999" r:id="rId66"/>
    <p:sldId id="998" r:id="rId67"/>
    <p:sldId id="1000" r:id="rId68"/>
    <p:sldId id="1579" r:id="rId69"/>
    <p:sldId id="1580" r:id="rId70"/>
    <p:sldId id="1581" r:id="rId71"/>
    <p:sldId id="1582" r:id="rId72"/>
    <p:sldId id="1583" r:id="rId73"/>
    <p:sldId id="1584" r:id="rId74"/>
    <p:sldId id="433" r:id="rId75"/>
    <p:sldId id="1578" r:id="rId76"/>
    <p:sldId id="1599" r:id="rId77"/>
    <p:sldId id="1600" r:id="rId78"/>
    <p:sldId id="1605" r:id="rId79"/>
    <p:sldId id="1606" r:id="rId80"/>
    <p:sldId id="1607" r:id="rId81"/>
    <p:sldId id="1608" r:id="rId82"/>
    <p:sldId id="1609" r:id="rId83"/>
    <p:sldId id="1601" r:id="rId84"/>
    <p:sldId id="1610" r:id="rId85"/>
    <p:sldId id="1603" r:id="rId86"/>
    <p:sldId id="1604" r:id="rId87"/>
    <p:sldId id="1158" r:id="rId88"/>
    <p:sldId id="1004" r:id="rId89"/>
    <p:sldId id="1545" r:id="rId90"/>
    <p:sldId id="1546" r:id="rId91"/>
    <p:sldId id="1570" r:id="rId92"/>
    <p:sldId id="1571" r:id="rId93"/>
    <p:sldId id="1572" r:id="rId94"/>
    <p:sldId id="905" r:id="rId95"/>
    <p:sldId id="294" r:id="rId96"/>
  </p:sldIdLst>
  <p:sldSz cx="9144000" cy="5943600"/>
  <p:notesSz cx="9144000" cy="59436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016" userDrawn="1">
          <p15:clr>
            <a:srgbClr val="A4A3A4"/>
          </p15:clr>
        </p15:guide>
        <p15:guide id="2" pos="2160">
          <p15:clr>
            <a:srgbClr val="A4A3A4"/>
          </p15:clr>
        </p15:guide>
        <p15:guide id="3" pos="960" userDrawn="1">
          <p15:clr>
            <a:srgbClr val="A4A3A4"/>
          </p15:clr>
        </p15:guide>
        <p15:guide id="4" pos="3696" userDrawn="1">
          <p15:clr>
            <a:srgbClr val="A4A3A4"/>
          </p15:clr>
        </p15:guide>
        <p15:guide id="5" orient="horz" pos="2448"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Michael J McMahan" initials="MJM" lastIdx="43" clrIdx="0">
    <p:extLst>
      <p:ext uri="{19B8F6BF-5375-455C-9EA6-DF929625EA0E}">
        <p15:presenceInfo xmlns:p15="http://schemas.microsoft.com/office/powerpoint/2012/main" userId="S::o004618@ofgbancorp.com::f5de8ce0-42e9-4038-a990-3facc77dc678" providerId="AD"/>
      </p:ext>
    </p:extLst>
  </p:cmAuthor>
  <p:cmAuthor id="2" name="Alvarez Holgado, Raquel (Cognizant)" initials="AHR(" lastIdx="2" clrIdx="1">
    <p:extLst>
      <p:ext uri="{19B8F6BF-5375-455C-9EA6-DF929625EA0E}">
        <p15:presenceInfo xmlns:p15="http://schemas.microsoft.com/office/powerpoint/2012/main" userId="S-1-5-21-1178368992-402679808-390482200-3157283" providerId="AD"/>
      </p:ext>
    </p:extLst>
  </p:cmAuthor>
  <p:cmAuthor id="3" name="david martin" initials="dm" lastIdx="1" clrIdx="2">
    <p:extLst>
      <p:ext uri="{19B8F6BF-5375-455C-9EA6-DF929625EA0E}">
        <p15:presenceInfo xmlns:p15="http://schemas.microsoft.com/office/powerpoint/2012/main" userId="david martin"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65D9B5"/>
    <a:srgbClr val="CC9900"/>
    <a:srgbClr val="FF5050"/>
    <a:srgbClr val="1E1A20"/>
    <a:srgbClr val="D322F2"/>
    <a:srgbClr val="727272"/>
    <a:srgbClr val="DFF7F1"/>
    <a:srgbClr val="F1EAFF"/>
    <a:srgbClr val="64597A"/>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8652" autoAdjust="0"/>
    <p:restoredTop sz="93979" autoAdjust="0"/>
  </p:normalViewPr>
  <p:slideViewPr>
    <p:cSldViewPr>
      <p:cViewPr varScale="1">
        <p:scale>
          <a:sx n="151" d="100"/>
          <a:sy n="151" d="100"/>
        </p:scale>
        <p:origin x="864" y="192"/>
      </p:cViewPr>
      <p:guideLst>
        <p:guide orient="horz" pos="2016"/>
        <p:guide pos="2160"/>
        <p:guide pos="960"/>
        <p:guide pos="3696"/>
        <p:guide orient="horz" pos="2448"/>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2.xml"/><Relationship Id="rId21" Type="http://schemas.openxmlformats.org/officeDocument/2006/relationships/slide" Target="slides/slide17.xml"/><Relationship Id="rId42" Type="http://schemas.openxmlformats.org/officeDocument/2006/relationships/slide" Target="slides/slide38.xml"/><Relationship Id="rId47" Type="http://schemas.openxmlformats.org/officeDocument/2006/relationships/slide" Target="slides/slide43.xml"/><Relationship Id="rId63" Type="http://schemas.openxmlformats.org/officeDocument/2006/relationships/slide" Target="slides/slide59.xml"/><Relationship Id="rId68" Type="http://schemas.openxmlformats.org/officeDocument/2006/relationships/slide" Target="slides/slide64.xml"/><Relationship Id="rId84" Type="http://schemas.openxmlformats.org/officeDocument/2006/relationships/slide" Target="slides/slide80.xml"/><Relationship Id="rId89" Type="http://schemas.openxmlformats.org/officeDocument/2006/relationships/slide" Target="slides/slide85.xml"/><Relationship Id="rId16" Type="http://schemas.openxmlformats.org/officeDocument/2006/relationships/slide" Target="slides/slide12.xml"/><Relationship Id="rId11" Type="http://schemas.openxmlformats.org/officeDocument/2006/relationships/slide" Target="slides/slide7.xml"/><Relationship Id="rId32" Type="http://schemas.openxmlformats.org/officeDocument/2006/relationships/slide" Target="slides/slide28.xml"/><Relationship Id="rId37" Type="http://schemas.openxmlformats.org/officeDocument/2006/relationships/slide" Target="slides/slide33.xml"/><Relationship Id="rId53" Type="http://schemas.openxmlformats.org/officeDocument/2006/relationships/slide" Target="slides/slide49.xml"/><Relationship Id="rId58" Type="http://schemas.openxmlformats.org/officeDocument/2006/relationships/slide" Target="slides/slide54.xml"/><Relationship Id="rId74" Type="http://schemas.openxmlformats.org/officeDocument/2006/relationships/slide" Target="slides/slide70.xml"/><Relationship Id="rId79" Type="http://schemas.openxmlformats.org/officeDocument/2006/relationships/slide" Target="slides/slide75.xml"/><Relationship Id="rId102" Type="http://schemas.openxmlformats.org/officeDocument/2006/relationships/tableStyles" Target="tableStyles.xml"/><Relationship Id="rId5" Type="http://schemas.openxmlformats.org/officeDocument/2006/relationships/slide" Target="slides/slide1.xml"/><Relationship Id="rId90" Type="http://schemas.openxmlformats.org/officeDocument/2006/relationships/slide" Target="slides/slide86.xml"/><Relationship Id="rId95" Type="http://schemas.openxmlformats.org/officeDocument/2006/relationships/slide" Target="slides/slide91.xml"/><Relationship Id="rId22" Type="http://schemas.openxmlformats.org/officeDocument/2006/relationships/slide" Target="slides/slide18.xml"/><Relationship Id="rId27" Type="http://schemas.openxmlformats.org/officeDocument/2006/relationships/slide" Target="slides/slide23.xml"/><Relationship Id="rId43" Type="http://schemas.openxmlformats.org/officeDocument/2006/relationships/slide" Target="slides/slide39.xml"/><Relationship Id="rId48" Type="http://schemas.openxmlformats.org/officeDocument/2006/relationships/slide" Target="slides/slide44.xml"/><Relationship Id="rId64" Type="http://schemas.openxmlformats.org/officeDocument/2006/relationships/slide" Target="slides/slide60.xml"/><Relationship Id="rId69" Type="http://schemas.openxmlformats.org/officeDocument/2006/relationships/slide" Target="slides/slide65.xml"/><Relationship Id="rId80" Type="http://schemas.openxmlformats.org/officeDocument/2006/relationships/slide" Target="slides/slide76.xml"/><Relationship Id="rId85" Type="http://schemas.openxmlformats.org/officeDocument/2006/relationships/slide" Target="slides/slide81.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59" Type="http://schemas.openxmlformats.org/officeDocument/2006/relationships/slide" Target="slides/slide55.xml"/><Relationship Id="rId67" Type="http://schemas.openxmlformats.org/officeDocument/2006/relationships/slide" Target="slides/slide63.xml"/><Relationship Id="rId103" Type="http://schemas.microsoft.com/office/2016/11/relationships/changesInfo" Target="changesInfos/changesInfo1.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slide" Target="slides/slide50.xml"/><Relationship Id="rId62" Type="http://schemas.openxmlformats.org/officeDocument/2006/relationships/slide" Target="slides/slide58.xml"/><Relationship Id="rId70" Type="http://schemas.openxmlformats.org/officeDocument/2006/relationships/slide" Target="slides/slide66.xml"/><Relationship Id="rId75" Type="http://schemas.openxmlformats.org/officeDocument/2006/relationships/slide" Target="slides/slide71.xml"/><Relationship Id="rId83" Type="http://schemas.openxmlformats.org/officeDocument/2006/relationships/slide" Target="slides/slide79.xml"/><Relationship Id="rId88" Type="http://schemas.openxmlformats.org/officeDocument/2006/relationships/slide" Target="slides/slide84.xml"/><Relationship Id="rId91" Type="http://schemas.openxmlformats.org/officeDocument/2006/relationships/slide" Target="slides/slide87.xml"/><Relationship Id="rId96" Type="http://schemas.openxmlformats.org/officeDocument/2006/relationships/slide" Target="slides/slide92.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openxmlformats.org/officeDocument/2006/relationships/slide" Target="slides/slide53.xml"/><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slide" Target="slides/slide48.xml"/><Relationship Id="rId60" Type="http://schemas.openxmlformats.org/officeDocument/2006/relationships/slide" Target="slides/slide56.xml"/><Relationship Id="rId65" Type="http://schemas.openxmlformats.org/officeDocument/2006/relationships/slide" Target="slides/slide61.xml"/><Relationship Id="rId73" Type="http://schemas.openxmlformats.org/officeDocument/2006/relationships/slide" Target="slides/slide69.xml"/><Relationship Id="rId78" Type="http://schemas.openxmlformats.org/officeDocument/2006/relationships/slide" Target="slides/slide74.xml"/><Relationship Id="rId81" Type="http://schemas.openxmlformats.org/officeDocument/2006/relationships/slide" Target="slides/slide77.xml"/><Relationship Id="rId86" Type="http://schemas.openxmlformats.org/officeDocument/2006/relationships/slide" Target="slides/slide82.xml"/><Relationship Id="rId94" Type="http://schemas.openxmlformats.org/officeDocument/2006/relationships/slide" Target="slides/slide90.xml"/><Relationship Id="rId99" Type="http://schemas.openxmlformats.org/officeDocument/2006/relationships/presProps" Target="presProps.xml"/><Relationship Id="rId101"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slide" Target="slides/slide5.xml"/><Relationship Id="rId13" Type="http://schemas.openxmlformats.org/officeDocument/2006/relationships/slide" Target="slides/slide9.xml"/><Relationship Id="rId18" Type="http://schemas.openxmlformats.org/officeDocument/2006/relationships/slide" Target="slides/slide14.xml"/><Relationship Id="rId39" Type="http://schemas.openxmlformats.org/officeDocument/2006/relationships/slide" Target="slides/slide35.xml"/><Relationship Id="rId34" Type="http://schemas.openxmlformats.org/officeDocument/2006/relationships/slide" Target="slides/slide30.xml"/><Relationship Id="rId50" Type="http://schemas.openxmlformats.org/officeDocument/2006/relationships/slide" Target="slides/slide46.xml"/><Relationship Id="rId55" Type="http://schemas.openxmlformats.org/officeDocument/2006/relationships/slide" Target="slides/slide51.xml"/><Relationship Id="rId76" Type="http://schemas.openxmlformats.org/officeDocument/2006/relationships/slide" Target="slides/slide72.xml"/><Relationship Id="rId97" Type="http://schemas.openxmlformats.org/officeDocument/2006/relationships/notesMaster" Target="notesMasters/notesMaster1.xml"/><Relationship Id="rId7" Type="http://schemas.openxmlformats.org/officeDocument/2006/relationships/slide" Target="slides/slide3.xml"/><Relationship Id="rId71" Type="http://schemas.openxmlformats.org/officeDocument/2006/relationships/slide" Target="slides/slide67.xml"/><Relationship Id="rId92" Type="http://schemas.openxmlformats.org/officeDocument/2006/relationships/slide" Target="slides/slide88.xml"/><Relationship Id="rId2" Type="http://schemas.openxmlformats.org/officeDocument/2006/relationships/customXml" Target="../customXml/item2.xml"/><Relationship Id="rId29" Type="http://schemas.openxmlformats.org/officeDocument/2006/relationships/slide" Target="slides/slide25.xml"/><Relationship Id="rId24" Type="http://schemas.openxmlformats.org/officeDocument/2006/relationships/slide" Target="slides/slide20.xml"/><Relationship Id="rId40" Type="http://schemas.openxmlformats.org/officeDocument/2006/relationships/slide" Target="slides/slide36.xml"/><Relationship Id="rId45" Type="http://schemas.openxmlformats.org/officeDocument/2006/relationships/slide" Target="slides/slide41.xml"/><Relationship Id="rId66" Type="http://schemas.openxmlformats.org/officeDocument/2006/relationships/slide" Target="slides/slide62.xml"/><Relationship Id="rId87" Type="http://schemas.openxmlformats.org/officeDocument/2006/relationships/slide" Target="slides/slide83.xml"/><Relationship Id="rId61" Type="http://schemas.openxmlformats.org/officeDocument/2006/relationships/slide" Target="slides/slide57.xml"/><Relationship Id="rId82" Type="http://schemas.openxmlformats.org/officeDocument/2006/relationships/slide" Target="slides/slide78.xml"/><Relationship Id="rId19" Type="http://schemas.openxmlformats.org/officeDocument/2006/relationships/slide" Target="slides/slide15.xml"/><Relationship Id="rId14" Type="http://schemas.openxmlformats.org/officeDocument/2006/relationships/slide" Target="slides/slide10.xml"/><Relationship Id="rId30" Type="http://schemas.openxmlformats.org/officeDocument/2006/relationships/slide" Target="slides/slide26.xml"/><Relationship Id="rId35" Type="http://schemas.openxmlformats.org/officeDocument/2006/relationships/slide" Target="slides/slide31.xml"/><Relationship Id="rId56" Type="http://schemas.openxmlformats.org/officeDocument/2006/relationships/slide" Target="slides/slide52.xml"/><Relationship Id="rId77" Type="http://schemas.openxmlformats.org/officeDocument/2006/relationships/slide" Target="slides/slide73.xml"/><Relationship Id="rId100" Type="http://schemas.openxmlformats.org/officeDocument/2006/relationships/viewProps" Target="viewProps.xml"/><Relationship Id="rId8" Type="http://schemas.openxmlformats.org/officeDocument/2006/relationships/slide" Target="slides/slide4.xml"/><Relationship Id="rId51" Type="http://schemas.openxmlformats.org/officeDocument/2006/relationships/slide" Target="slides/slide47.xml"/><Relationship Id="rId72" Type="http://schemas.openxmlformats.org/officeDocument/2006/relationships/slide" Target="slides/slide68.xml"/><Relationship Id="rId93" Type="http://schemas.openxmlformats.org/officeDocument/2006/relationships/slide" Target="slides/slide89.xml"/><Relationship Id="rId98" Type="http://schemas.openxmlformats.org/officeDocument/2006/relationships/commentAuthors" Target="commentAuthors.xml"/><Relationship Id="rId3" Type="http://schemas.openxmlformats.org/officeDocument/2006/relationships/customXml" Target="../customXml/item3.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Ray, Sandip (Cognizant)" userId="5f7625ad-98d9-4890-9d14-c521d7d0e727" providerId="ADAL" clId="{C2AB7451-CC97-4FB3-8B68-F5313FB7DC79}"/>
    <pc:docChg chg="modSld">
      <pc:chgData name="Ray, Sandip (Cognizant)" userId="5f7625ad-98d9-4890-9d14-c521d7d0e727" providerId="ADAL" clId="{C2AB7451-CC97-4FB3-8B68-F5313FB7DC79}" dt="2023-04-06T04:09:00.980" v="256" actId="20577"/>
      <pc:docMkLst>
        <pc:docMk/>
      </pc:docMkLst>
      <pc:sldChg chg="modSp mod">
        <pc:chgData name="Ray, Sandip (Cognizant)" userId="5f7625ad-98d9-4890-9d14-c521d7d0e727" providerId="ADAL" clId="{C2AB7451-CC97-4FB3-8B68-F5313FB7DC79}" dt="2023-04-06T03:59:36.364" v="161" actId="20577"/>
        <pc:sldMkLst>
          <pc:docMk/>
          <pc:sldMk cId="0" sldId="260"/>
        </pc:sldMkLst>
        <pc:spChg chg="mod">
          <ac:chgData name="Ray, Sandip (Cognizant)" userId="5f7625ad-98d9-4890-9d14-c521d7d0e727" providerId="ADAL" clId="{C2AB7451-CC97-4FB3-8B68-F5313FB7DC79}" dt="2023-04-06T03:59:36.364" v="161" actId="20577"/>
          <ac:spMkLst>
            <pc:docMk/>
            <pc:sldMk cId="0" sldId="260"/>
            <ac:spMk id="6" creationId="{6F1A71D4-B0E2-03B4-6EE7-DB07A3C27BD4}"/>
          </ac:spMkLst>
        </pc:spChg>
      </pc:sldChg>
      <pc:sldChg chg="modSp mod">
        <pc:chgData name="Ray, Sandip (Cognizant)" userId="5f7625ad-98d9-4890-9d14-c521d7d0e727" providerId="ADAL" clId="{C2AB7451-CC97-4FB3-8B68-F5313FB7DC79}" dt="2023-04-06T03:48:53.533" v="73" actId="20577"/>
        <pc:sldMkLst>
          <pc:docMk/>
          <pc:sldMk cId="4047161330" sldId="286"/>
        </pc:sldMkLst>
        <pc:spChg chg="mod">
          <ac:chgData name="Ray, Sandip (Cognizant)" userId="5f7625ad-98d9-4890-9d14-c521d7d0e727" providerId="ADAL" clId="{C2AB7451-CC97-4FB3-8B68-F5313FB7DC79}" dt="2023-04-06T03:45:56.046" v="16" actId="20577"/>
          <ac:spMkLst>
            <pc:docMk/>
            <pc:sldMk cId="4047161330" sldId="286"/>
            <ac:spMk id="10" creationId="{00000000-0000-0000-0000-000000000000}"/>
          </ac:spMkLst>
        </pc:spChg>
        <pc:spChg chg="mod">
          <ac:chgData name="Ray, Sandip (Cognizant)" userId="5f7625ad-98d9-4890-9d14-c521d7d0e727" providerId="ADAL" clId="{C2AB7451-CC97-4FB3-8B68-F5313FB7DC79}" dt="2023-04-06T03:48:53.533" v="73" actId="20577"/>
          <ac:spMkLst>
            <pc:docMk/>
            <pc:sldMk cId="4047161330" sldId="286"/>
            <ac:spMk id="22" creationId="{2C359A52-6812-58BA-7F74-5756C76E8AAB}"/>
          </ac:spMkLst>
        </pc:spChg>
      </pc:sldChg>
      <pc:sldChg chg="modSp mod">
        <pc:chgData name="Ray, Sandip (Cognizant)" userId="5f7625ad-98d9-4890-9d14-c521d7d0e727" providerId="ADAL" clId="{C2AB7451-CC97-4FB3-8B68-F5313FB7DC79}" dt="2023-04-06T03:50:55.737" v="137" actId="20577"/>
        <pc:sldMkLst>
          <pc:docMk/>
          <pc:sldMk cId="1704172639" sldId="287"/>
        </pc:sldMkLst>
        <pc:spChg chg="mod">
          <ac:chgData name="Ray, Sandip (Cognizant)" userId="5f7625ad-98d9-4890-9d14-c521d7d0e727" providerId="ADAL" clId="{C2AB7451-CC97-4FB3-8B68-F5313FB7DC79}" dt="2023-04-06T03:50:55.737" v="137" actId="20577"/>
          <ac:spMkLst>
            <pc:docMk/>
            <pc:sldMk cId="1704172639" sldId="287"/>
            <ac:spMk id="10" creationId="{00000000-0000-0000-0000-000000000000}"/>
          </ac:spMkLst>
        </pc:spChg>
      </pc:sldChg>
      <pc:sldChg chg="modSp mod">
        <pc:chgData name="Ray, Sandip (Cognizant)" userId="5f7625ad-98d9-4890-9d14-c521d7d0e727" providerId="ADAL" clId="{C2AB7451-CC97-4FB3-8B68-F5313FB7DC79}" dt="2023-04-06T03:52:41.549" v="147" actId="20577"/>
        <pc:sldMkLst>
          <pc:docMk/>
          <pc:sldMk cId="4018458971" sldId="288"/>
        </pc:sldMkLst>
        <pc:spChg chg="mod">
          <ac:chgData name="Ray, Sandip (Cognizant)" userId="5f7625ad-98d9-4890-9d14-c521d7d0e727" providerId="ADAL" clId="{C2AB7451-CC97-4FB3-8B68-F5313FB7DC79}" dt="2023-04-06T03:52:41.549" v="147" actId="20577"/>
          <ac:spMkLst>
            <pc:docMk/>
            <pc:sldMk cId="4018458971" sldId="288"/>
            <ac:spMk id="10" creationId="{00000000-0000-0000-0000-000000000000}"/>
          </ac:spMkLst>
        </pc:spChg>
      </pc:sldChg>
      <pc:sldChg chg="modSp mod">
        <pc:chgData name="Ray, Sandip (Cognizant)" userId="5f7625ad-98d9-4890-9d14-c521d7d0e727" providerId="ADAL" clId="{C2AB7451-CC97-4FB3-8B68-F5313FB7DC79}" dt="2023-04-06T03:56:47.733" v="149" actId="20577"/>
        <pc:sldMkLst>
          <pc:docMk/>
          <pc:sldMk cId="1223559503" sldId="291"/>
        </pc:sldMkLst>
        <pc:spChg chg="mod">
          <ac:chgData name="Ray, Sandip (Cognizant)" userId="5f7625ad-98d9-4890-9d14-c521d7d0e727" providerId="ADAL" clId="{C2AB7451-CC97-4FB3-8B68-F5313FB7DC79}" dt="2023-04-06T03:56:47.733" v="149" actId="20577"/>
          <ac:spMkLst>
            <pc:docMk/>
            <pc:sldMk cId="1223559503" sldId="291"/>
            <ac:spMk id="10" creationId="{00000000-0000-0000-0000-000000000000}"/>
          </ac:spMkLst>
        </pc:spChg>
      </pc:sldChg>
      <pc:sldChg chg="modSp mod">
        <pc:chgData name="Ray, Sandip (Cognizant)" userId="5f7625ad-98d9-4890-9d14-c521d7d0e727" providerId="ADAL" clId="{C2AB7451-CC97-4FB3-8B68-F5313FB7DC79}" dt="2023-04-06T04:09:00.980" v="256" actId="20577"/>
        <pc:sldMkLst>
          <pc:docMk/>
          <pc:sldMk cId="785725705" sldId="292"/>
        </pc:sldMkLst>
        <pc:spChg chg="mod">
          <ac:chgData name="Ray, Sandip (Cognizant)" userId="5f7625ad-98d9-4890-9d14-c521d7d0e727" providerId="ADAL" clId="{C2AB7451-CC97-4FB3-8B68-F5313FB7DC79}" dt="2023-04-06T04:09:00.980" v="256" actId="20577"/>
          <ac:spMkLst>
            <pc:docMk/>
            <pc:sldMk cId="785725705" sldId="292"/>
            <ac:spMk id="10" creationId="{00000000-0000-0000-0000-000000000000}"/>
          </ac:spMkLst>
        </pc:spChg>
      </pc:sldChg>
      <pc:sldChg chg="modSp mod">
        <pc:chgData name="Ray, Sandip (Cognizant)" userId="5f7625ad-98d9-4890-9d14-c521d7d0e727" providerId="ADAL" clId="{C2AB7451-CC97-4FB3-8B68-F5313FB7DC79}" dt="2023-04-06T03:55:08.024" v="148" actId="6549"/>
        <pc:sldMkLst>
          <pc:docMk/>
          <pc:sldMk cId="1456905060" sldId="293"/>
        </pc:sldMkLst>
        <pc:spChg chg="mod">
          <ac:chgData name="Ray, Sandip (Cognizant)" userId="5f7625ad-98d9-4890-9d14-c521d7d0e727" providerId="ADAL" clId="{C2AB7451-CC97-4FB3-8B68-F5313FB7DC79}" dt="2023-04-06T03:55:08.024" v="148" actId="6549"/>
          <ac:spMkLst>
            <pc:docMk/>
            <pc:sldMk cId="1456905060" sldId="293"/>
            <ac:spMk id="10" creationId="{00000000-0000-0000-0000-000000000000}"/>
          </ac:spMkLst>
        </pc:spChg>
      </pc:sldChg>
    </pc:docChg>
  </pc:docChgLst>
  <pc:docChgLst>
    <pc:chgData name="Kumar, Harendra (Cognizant)" userId="8b8433c2-3ce6-4e38-9e1b-c8afb18e9057" providerId="ADAL" clId="{9C4CD99B-EF1B-4C81-94B0-0A1924216EBF}"/>
    <pc:docChg chg="undo custSel addSld delSld modSld sldOrd addSection delSection">
      <pc:chgData name="Kumar, Harendra (Cognizant)" userId="8b8433c2-3ce6-4e38-9e1b-c8afb18e9057" providerId="ADAL" clId="{9C4CD99B-EF1B-4C81-94B0-0A1924216EBF}" dt="2023-04-03T10:14:33.691" v="8675" actId="1035"/>
      <pc:docMkLst>
        <pc:docMk/>
      </pc:docMkLst>
      <pc:sldChg chg="addSp delSp modSp mod">
        <pc:chgData name="Kumar, Harendra (Cognizant)" userId="8b8433c2-3ce6-4e38-9e1b-c8afb18e9057" providerId="ADAL" clId="{9C4CD99B-EF1B-4C81-94B0-0A1924216EBF}" dt="2023-04-03T07:22:34.979" v="3882" actId="1037"/>
        <pc:sldMkLst>
          <pc:docMk/>
          <pc:sldMk cId="0" sldId="256"/>
        </pc:sldMkLst>
        <pc:spChg chg="del mod">
          <ac:chgData name="Kumar, Harendra (Cognizant)" userId="8b8433c2-3ce6-4e38-9e1b-c8afb18e9057" providerId="ADAL" clId="{9C4CD99B-EF1B-4C81-94B0-0A1924216EBF}" dt="2023-04-03T05:55:28.094" v="18" actId="12084"/>
          <ac:spMkLst>
            <pc:docMk/>
            <pc:sldMk cId="0" sldId="256"/>
            <ac:spMk id="2" creationId="{00000000-0000-0000-0000-000000000000}"/>
          </ac:spMkLst>
        </pc:spChg>
        <pc:spChg chg="mod">
          <ac:chgData name="Kumar, Harendra (Cognizant)" userId="8b8433c2-3ce6-4e38-9e1b-c8afb18e9057" providerId="ADAL" clId="{9C4CD99B-EF1B-4C81-94B0-0A1924216EBF}" dt="2023-04-03T07:22:34.979" v="3882" actId="1037"/>
          <ac:spMkLst>
            <pc:docMk/>
            <pc:sldMk cId="0" sldId="256"/>
            <ac:spMk id="3" creationId="{00000000-0000-0000-0000-000000000000}"/>
          </ac:spMkLst>
        </pc:spChg>
        <pc:graphicFrameChg chg="add mod">
          <ac:chgData name="Kumar, Harendra (Cognizant)" userId="8b8433c2-3ce6-4e38-9e1b-c8afb18e9057" providerId="ADAL" clId="{9C4CD99B-EF1B-4C81-94B0-0A1924216EBF}" dt="2023-04-03T07:22:25.842" v="3873" actId="12100"/>
          <ac:graphicFrameMkLst>
            <pc:docMk/>
            <pc:sldMk cId="0" sldId="256"/>
            <ac:graphicFrameMk id="6" creationId="{226DC635-E9B3-0133-0548-37B556605D82}"/>
          </ac:graphicFrameMkLst>
        </pc:graphicFrameChg>
      </pc:sldChg>
      <pc:sldChg chg="addSp delSp modSp mod">
        <pc:chgData name="Kumar, Harendra (Cognizant)" userId="8b8433c2-3ce6-4e38-9e1b-c8afb18e9057" providerId="ADAL" clId="{9C4CD99B-EF1B-4C81-94B0-0A1924216EBF}" dt="2023-04-03T09:52:43.219" v="7266" actId="2"/>
        <pc:sldMkLst>
          <pc:docMk/>
          <pc:sldMk cId="0" sldId="258"/>
        </pc:sldMkLst>
        <pc:spChg chg="mod">
          <ac:chgData name="Kumar, Harendra (Cognizant)" userId="8b8433c2-3ce6-4e38-9e1b-c8afb18e9057" providerId="ADAL" clId="{9C4CD99B-EF1B-4C81-94B0-0A1924216EBF}" dt="2023-04-03T07:17:59.233" v="3847" actId="255"/>
          <ac:spMkLst>
            <pc:docMk/>
            <pc:sldMk cId="0" sldId="258"/>
            <ac:spMk id="2" creationId="{00000000-0000-0000-0000-000000000000}"/>
          </ac:spMkLst>
        </pc:spChg>
        <pc:spChg chg="del mod">
          <ac:chgData name="Kumar, Harendra (Cognizant)" userId="8b8433c2-3ce6-4e38-9e1b-c8afb18e9057" providerId="ADAL" clId="{9C4CD99B-EF1B-4C81-94B0-0A1924216EBF}" dt="2023-04-03T06:39:27.761" v="1746" actId="21"/>
          <ac:spMkLst>
            <pc:docMk/>
            <pc:sldMk cId="0" sldId="258"/>
            <ac:spMk id="4" creationId="{00000000-0000-0000-0000-000000000000}"/>
          </ac:spMkLst>
        </pc:spChg>
        <pc:spChg chg="mod">
          <ac:chgData name="Kumar, Harendra (Cognizant)" userId="8b8433c2-3ce6-4e38-9e1b-c8afb18e9057" providerId="ADAL" clId="{9C4CD99B-EF1B-4C81-94B0-0A1924216EBF}" dt="2023-04-03T09:52:41.695" v="7265" actId="2"/>
          <ac:spMkLst>
            <pc:docMk/>
            <pc:sldMk cId="0" sldId="258"/>
            <ac:spMk id="5" creationId="{00000000-0000-0000-0000-000000000000}"/>
          </ac:spMkLst>
        </pc:spChg>
        <pc:spChg chg="del">
          <ac:chgData name="Kumar, Harendra (Cognizant)" userId="8b8433c2-3ce6-4e38-9e1b-c8afb18e9057" providerId="ADAL" clId="{9C4CD99B-EF1B-4C81-94B0-0A1924216EBF}" dt="2023-04-03T06:39:11.928" v="1740" actId="478"/>
          <ac:spMkLst>
            <pc:docMk/>
            <pc:sldMk cId="0" sldId="258"/>
            <ac:spMk id="7" creationId="{00000000-0000-0000-0000-000000000000}"/>
          </ac:spMkLst>
        </pc:spChg>
        <pc:spChg chg="del">
          <ac:chgData name="Kumar, Harendra (Cognizant)" userId="8b8433c2-3ce6-4e38-9e1b-c8afb18e9057" providerId="ADAL" clId="{9C4CD99B-EF1B-4C81-94B0-0A1924216EBF}" dt="2023-04-03T06:39:09.787" v="1739" actId="478"/>
          <ac:spMkLst>
            <pc:docMk/>
            <pc:sldMk cId="0" sldId="258"/>
            <ac:spMk id="8" creationId="{00000000-0000-0000-0000-000000000000}"/>
          </ac:spMkLst>
        </pc:spChg>
        <pc:spChg chg="add mod">
          <ac:chgData name="Kumar, Harendra (Cognizant)" userId="8b8433c2-3ce6-4e38-9e1b-c8afb18e9057" providerId="ADAL" clId="{9C4CD99B-EF1B-4C81-94B0-0A1924216EBF}" dt="2023-04-03T09:52:43.219" v="7266" actId="2"/>
          <ac:spMkLst>
            <pc:docMk/>
            <pc:sldMk cId="0" sldId="258"/>
            <ac:spMk id="9" creationId="{E2B73E12-784C-7F90-DA48-6D0006E2601C}"/>
          </ac:spMkLst>
        </pc:spChg>
        <pc:picChg chg="add mod">
          <ac:chgData name="Kumar, Harendra (Cognizant)" userId="8b8433c2-3ce6-4e38-9e1b-c8afb18e9057" providerId="ADAL" clId="{9C4CD99B-EF1B-4C81-94B0-0A1924216EBF}" dt="2023-04-03T07:21:03.506" v="3870" actId="14100"/>
          <ac:picMkLst>
            <pc:docMk/>
            <pc:sldMk cId="0" sldId="258"/>
            <ac:picMk id="6" creationId="{7F0752E5-7035-0C32-C92B-70020742F100}"/>
          </ac:picMkLst>
        </pc:picChg>
        <pc:picChg chg="add mod">
          <ac:chgData name="Kumar, Harendra (Cognizant)" userId="8b8433c2-3ce6-4e38-9e1b-c8afb18e9057" providerId="ADAL" clId="{9C4CD99B-EF1B-4C81-94B0-0A1924216EBF}" dt="2023-04-03T07:20:50.567" v="3868" actId="14100"/>
          <ac:picMkLst>
            <pc:docMk/>
            <pc:sldMk cId="0" sldId="258"/>
            <ac:picMk id="11" creationId="{FEB3C8A0-8B7A-23A2-EC4D-3EEE1C72A435}"/>
          </ac:picMkLst>
        </pc:picChg>
      </pc:sldChg>
      <pc:sldChg chg="addSp delSp modSp mod">
        <pc:chgData name="Kumar, Harendra (Cognizant)" userId="8b8433c2-3ce6-4e38-9e1b-c8afb18e9057" providerId="ADAL" clId="{9C4CD99B-EF1B-4C81-94B0-0A1924216EBF}" dt="2023-04-03T09:54:11.475" v="7276" actId="2711"/>
        <pc:sldMkLst>
          <pc:docMk/>
          <pc:sldMk cId="0" sldId="260"/>
        </pc:sldMkLst>
        <pc:spChg chg="del">
          <ac:chgData name="Kumar, Harendra (Cognizant)" userId="8b8433c2-3ce6-4e38-9e1b-c8afb18e9057" providerId="ADAL" clId="{9C4CD99B-EF1B-4C81-94B0-0A1924216EBF}" dt="2023-04-03T06:54:56.237" v="2383" actId="478"/>
          <ac:spMkLst>
            <pc:docMk/>
            <pc:sldMk cId="0" sldId="260"/>
            <ac:spMk id="2" creationId="{00000000-0000-0000-0000-000000000000}"/>
          </ac:spMkLst>
        </pc:spChg>
        <pc:spChg chg="del">
          <ac:chgData name="Kumar, Harendra (Cognizant)" userId="8b8433c2-3ce6-4e38-9e1b-c8afb18e9057" providerId="ADAL" clId="{9C4CD99B-EF1B-4C81-94B0-0A1924216EBF}" dt="2023-04-03T06:54:54.953" v="2382" actId="478"/>
          <ac:spMkLst>
            <pc:docMk/>
            <pc:sldMk cId="0" sldId="260"/>
            <ac:spMk id="3" creationId="{00000000-0000-0000-0000-000000000000}"/>
          </ac:spMkLst>
        </pc:spChg>
        <pc:spChg chg="add mod">
          <ac:chgData name="Kumar, Harendra (Cognizant)" userId="8b8433c2-3ce6-4e38-9e1b-c8afb18e9057" providerId="ADAL" clId="{9C4CD99B-EF1B-4C81-94B0-0A1924216EBF}" dt="2023-04-03T09:54:11.475" v="7276" actId="2711"/>
          <ac:spMkLst>
            <pc:docMk/>
            <pc:sldMk cId="0" sldId="260"/>
            <ac:spMk id="4" creationId="{93A0F582-DCEC-D980-FFA8-A6F1ED88539A}"/>
          </ac:spMkLst>
        </pc:spChg>
        <pc:spChg chg="del mod">
          <ac:chgData name="Kumar, Harendra (Cognizant)" userId="8b8433c2-3ce6-4e38-9e1b-c8afb18e9057" providerId="ADAL" clId="{9C4CD99B-EF1B-4C81-94B0-0A1924216EBF}" dt="2023-04-03T06:54:57.808" v="2385" actId="478"/>
          <ac:spMkLst>
            <pc:docMk/>
            <pc:sldMk cId="0" sldId="260"/>
            <ac:spMk id="5" creationId="{00000000-0000-0000-0000-000000000000}"/>
          </ac:spMkLst>
        </pc:spChg>
        <pc:spChg chg="add mod">
          <ac:chgData name="Kumar, Harendra (Cognizant)" userId="8b8433c2-3ce6-4e38-9e1b-c8afb18e9057" providerId="ADAL" clId="{9C4CD99B-EF1B-4C81-94B0-0A1924216EBF}" dt="2023-04-03T09:53:42.213" v="7275" actId="2711"/>
          <ac:spMkLst>
            <pc:docMk/>
            <pc:sldMk cId="0" sldId="260"/>
            <ac:spMk id="6" creationId="{6F1A71D4-B0E2-03B4-6EE7-DB07A3C27BD4}"/>
          </ac:spMkLst>
        </pc:spChg>
        <pc:spChg chg="del mod">
          <ac:chgData name="Kumar, Harendra (Cognizant)" userId="8b8433c2-3ce6-4e38-9e1b-c8afb18e9057" providerId="ADAL" clId="{9C4CD99B-EF1B-4C81-94B0-0A1924216EBF}" dt="2023-04-03T06:54:53.249" v="2381" actId="478"/>
          <ac:spMkLst>
            <pc:docMk/>
            <pc:sldMk cId="0" sldId="260"/>
            <ac:spMk id="7" creationId="{00000000-0000-0000-0000-000000000000}"/>
          </ac:spMkLst>
        </pc:spChg>
      </pc:sldChg>
      <pc:sldChg chg="modSp del">
        <pc:chgData name="Kumar, Harendra (Cognizant)" userId="8b8433c2-3ce6-4e38-9e1b-c8afb18e9057" providerId="ADAL" clId="{9C4CD99B-EF1B-4C81-94B0-0A1924216EBF}" dt="2023-04-03T07:22:56.532" v="3883" actId="47"/>
        <pc:sldMkLst>
          <pc:docMk/>
          <pc:sldMk cId="0" sldId="269"/>
        </pc:sldMkLst>
        <pc:spChg chg="mod">
          <ac:chgData name="Kumar, Harendra (Cognizant)" userId="8b8433c2-3ce6-4e38-9e1b-c8afb18e9057" providerId="ADAL" clId="{9C4CD99B-EF1B-4C81-94B0-0A1924216EBF}" dt="2023-04-03T05:56:19.037" v="24"/>
          <ac:spMkLst>
            <pc:docMk/>
            <pc:sldMk cId="0" sldId="269"/>
            <ac:spMk id="14" creationId="{00000000-0000-0000-0000-000000000000}"/>
          </ac:spMkLst>
        </pc:spChg>
        <pc:spChg chg="mod">
          <ac:chgData name="Kumar, Harendra (Cognizant)" userId="8b8433c2-3ce6-4e38-9e1b-c8afb18e9057" providerId="ADAL" clId="{9C4CD99B-EF1B-4C81-94B0-0A1924216EBF}" dt="2023-04-03T05:56:19.037" v="24"/>
          <ac:spMkLst>
            <pc:docMk/>
            <pc:sldMk cId="0" sldId="269"/>
            <ac:spMk id="15" creationId="{00000000-0000-0000-0000-000000000000}"/>
          </ac:spMkLst>
        </pc:spChg>
        <pc:spChg chg="mod">
          <ac:chgData name="Kumar, Harendra (Cognizant)" userId="8b8433c2-3ce6-4e38-9e1b-c8afb18e9057" providerId="ADAL" clId="{9C4CD99B-EF1B-4C81-94B0-0A1924216EBF}" dt="2023-04-03T05:56:19.037" v="24"/>
          <ac:spMkLst>
            <pc:docMk/>
            <pc:sldMk cId="0" sldId="269"/>
            <ac:spMk id="16" creationId="{00000000-0000-0000-0000-000000000000}"/>
          </ac:spMkLst>
        </pc:spChg>
      </pc:sldChg>
      <pc:sldChg chg="del">
        <pc:chgData name="Kumar, Harendra (Cognizant)" userId="8b8433c2-3ce6-4e38-9e1b-c8afb18e9057" providerId="ADAL" clId="{9C4CD99B-EF1B-4C81-94B0-0A1924216EBF}" dt="2023-04-03T07:22:56.532" v="3883" actId="47"/>
        <pc:sldMkLst>
          <pc:docMk/>
          <pc:sldMk cId="0" sldId="270"/>
        </pc:sldMkLst>
      </pc:sldChg>
      <pc:sldChg chg="del">
        <pc:chgData name="Kumar, Harendra (Cognizant)" userId="8b8433c2-3ce6-4e38-9e1b-c8afb18e9057" providerId="ADAL" clId="{9C4CD99B-EF1B-4C81-94B0-0A1924216EBF}" dt="2023-04-03T07:22:56.532" v="3883" actId="47"/>
        <pc:sldMkLst>
          <pc:docMk/>
          <pc:sldMk cId="0" sldId="275"/>
        </pc:sldMkLst>
      </pc:sldChg>
      <pc:sldChg chg="del">
        <pc:chgData name="Kumar, Harendra (Cognizant)" userId="8b8433c2-3ce6-4e38-9e1b-c8afb18e9057" providerId="ADAL" clId="{9C4CD99B-EF1B-4C81-94B0-0A1924216EBF}" dt="2023-04-03T07:22:56.532" v="3883" actId="47"/>
        <pc:sldMkLst>
          <pc:docMk/>
          <pc:sldMk cId="3766500295" sldId="276"/>
        </pc:sldMkLst>
      </pc:sldChg>
      <pc:sldChg chg="del">
        <pc:chgData name="Kumar, Harendra (Cognizant)" userId="8b8433c2-3ce6-4e38-9e1b-c8afb18e9057" providerId="ADAL" clId="{9C4CD99B-EF1B-4C81-94B0-0A1924216EBF}" dt="2023-04-03T07:22:56.532" v="3883" actId="47"/>
        <pc:sldMkLst>
          <pc:docMk/>
          <pc:sldMk cId="3958584192" sldId="277"/>
        </pc:sldMkLst>
      </pc:sldChg>
      <pc:sldChg chg="modSp del">
        <pc:chgData name="Kumar, Harendra (Cognizant)" userId="8b8433c2-3ce6-4e38-9e1b-c8afb18e9057" providerId="ADAL" clId="{9C4CD99B-EF1B-4C81-94B0-0A1924216EBF}" dt="2023-04-03T07:22:56.532" v="3883" actId="47"/>
        <pc:sldMkLst>
          <pc:docMk/>
          <pc:sldMk cId="3888009725" sldId="278"/>
        </pc:sldMkLst>
        <pc:spChg chg="mod">
          <ac:chgData name="Kumar, Harendra (Cognizant)" userId="8b8433c2-3ce6-4e38-9e1b-c8afb18e9057" providerId="ADAL" clId="{9C4CD99B-EF1B-4C81-94B0-0A1924216EBF}" dt="2023-04-03T05:56:19.037" v="24"/>
          <ac:spMkLst>
            <pc:docMk/>
            <pc:sldMk cId="3888009725" sldId="278"/>
            <ac:spMk id="25" creationId="{00000000-0000-0000-0000-000000000000}"/>
          </ac:spMkLst>
        </pc:spChg>
      </pc:sldChg>
      <pc:sldChg chg="modSp del">
        <pc:chgData name="Kumar, Harendra (Cognizant)" userId="8b8433c2-3ce6-4e38-9e1b-c8afb18e9057" providerId="ADAL" clId="{9C4CD99B-EF1B-4C81-94B0-0A1924216EBF}" dt="2023-04-03T07:22:56.532" v="3883" actId="47"/>
        <pc:sldMkLst>
          <pc:docMk/>
          <pc:sldMk cId="1415307865" sldId="279"/>
        </pc:sldMkLst>
        <pc:spChg chg="mod">
          <ac:chgData name="Kumar, Harendra (Cognizant)" userId="8b8433c2-3ce6-4e38-9e1b-c8afb18e9057" providerId="ADAL" clId="{9C4CD99B-EF1B-4C81-94B0-0A1924216EBF}" dt="2023-04-03T05:56:19.037" v="24"/>
          <ac:spMkLst>
            <pc:docMk/>
            <pc:sldMk cId="1415307865" sldId="279"/>
            <ac:spMk id="13" creationId="{00000000-0000-0000-0000-000000000000}"/>
          </ac:spMkLst>
        </pc:spChg>
      </pc:sldChg>
      <pc:sldChg chg="modSp del">
        <pc:chgData name="Kumar, Harendra (Cognizant)" userId="8b8433c2-3ce6-4e38-9e1b-c8afb18e9057" providerId="ADAL" clId="{9C4CD99B-EF1B-4C81-94B0-0A1924216EBF}" dt="2023-04-03T07:22:56.532" v="3883" actId="47"/>
        <pc:sldMkLst>
          <pc:docMk/>
          <pc:sldMk cId="299004302" sldId="280"/>
        </pc:sldMkLst>
        <pc:spChg chg="mod">
          <ac:chgData name="Kumar, Harendra (Cognizant)" userId="8b8433c2-3ce6-4e38-9e1b-c8afb18e9057" providerId="ADAL" clId="{9C4CD99B-EF1B-4C81-94B0-0A1924216EBF}" dt="2023-04-03T05:56:19.037" v="24"/>
          <ac:spMkLst>
            <pc:docMk/>
            <pc:sldMk cId="299004302" sldId="280"/>
            <ac:spMk id="21" creationId="{00000000-0000-0000-0000-000000000000}"/>
          </ac:spMkLst>
        </pc:spChg>
      </pc:sldChg>
      <pc:sldChg chg="del">
        <pc:chgData name="Kumar, Harendra (Cognizant)" userId="8b8433c2-3ce6-4e38-9e1b-c8afb18e9057" providerId="ADAL" clId="{9C4CD99B-EF1B-4C81-94B0-0A1924216EBF}" dt="2023-04-03T07:22:56.532" v="3883" actId="47"/>
        <pc:sldMkLst>
          <pc:docMk/>
          <pc:sldMk cId="3040225914" sldId="281"/>
        </pc:sldMkLst>
      </pc:sldChg>
      <pc:sldChg chg="del">
        <pc:chgData name="Kumar, Harendra (Cognizant)" userId="8b8433c2-3ce6-4e38-9e1b-c8afb18e9057" providerId="ADAL" clId="{9C4CD99B-EF1B-4C81-94B0-0A1924216EBF}" dt="2023-04-03T07:22:56.532" v="3883" actId="47"/>
        <pc:sldMkLst>
          <pc:docMk/>
          <pc:sldMk cId="2805173323" sldId="282"/>
        </pc:sldMkLst>
      </pc:sldChg>
      <pc:sldChg chg="del">
        <pc:chgData name="Kumar, Harendra (Cognizant)" userId="8b8433c2-3ce6-4e38-9e1b-c8afb18e9057" providerId="ADAL" clId="{9C4CD99B-EF1B-4C81-94B0-0A1924216EBF}" dt="2023-04-03T07:22:56.532" v="3883" actId="47"/>
        <pc:sldMkLst>
          <pc:docMk/>
          <pc:sldMk cId="2680098498" sldId="283"/>
        </pc:sldMkLst>
      </pc:sldChg>
      <pc:sldChg chg="addSp delSp modSp mod">
        <pc:chgData name="Kumar, Harendra (Cognizant)" userId="8b8433c2-3ce6-4e38-9e1b-c8afb18e9057" providerId="ADAL" clId="{9C4CD99B-EF1B-4C81-94B0-0A1924216EBF}" dt="2023-04-03T07:24:11.475" v="3885" actId="207"/>
        <pc:sldMkLst>
          <pc:docMk/>
          <pc:sldMk cId="4047161330" sldId="286"/>
        </pc:sldMkLst>
        <pc:spChg chg="add del mod">
          <ac:chgData name="Kumar, Harendra (Cognizant)" userId="8b8433c2-3ce6-4e38-9e1b-c8afb18e9057" providerId="ADAL" clId="{9C4CD99B-EF1B-4C81-94B0-0A1924216EBF}" dt="2023-04-03T06:34:01.733" v="1679" actId="767"/>
          <ac:spMkLst>
            <pc:docMk/>
            <pc:sldMk cId="4047161330" sldId="286"/>
            <ac:spMk id="4" creationId="{A412336A-1D81-041F-9B56-742FB28DC2EE}"/>
          </ac:spMkLst>
        </pc:spChg>
        <pc:spChg chg="mod">
          <ac:chgData name="Kumar, Harendra (Cognizant)" userId="8b8433c2-3ce6-4e38-9e1b-c8afb18e9057" providerId="ADAL" clId="{9C4CD99B-EF1B-4C81-94B0-0A1924216EBF}" dt="2023-04-03T06:36:10.730" v="1694" actId="21"/>
          <ac:spMkLst>
            <pc:docMk/>
            <pc:sldMk cId="4047161330" sldId="286"/>
            <ac:spMk id="10" creationId="{00000000-0000-0000-0000-000000000000}"/>
          </ac:spMkLst>
        </pc:spChg>
        <pc:spChg chg="del">
          <ac:chgData name="Kumar, Harendra (Cognizant)" userId="8b8433c2-3ce6-4e38-9e1b-c8afb18e9057" providerId="ADAL" clId="{9C4CD99B-EF1B-4C81-94B0-0A1924216EBF}" dt="2023-04-03T05:55:53.265" v="22" actId="478"/>
          <ac:spMkLst>
            <pc:docMk/>
            <pc:sldMk cId="4047161330" sldId="286"/>
            <ac:spMk id="15" creationId="{00000000-0000-0000-0000-000000000000}"/>
          </ac:spMkLst>
        </pc:spChg>
        <pc:spChg chg="del">
          <ac:chgData name="Kumar, Harendra (Cognizant)" userId="8b8433c2-3ce6-4e38-9e1b-c8afb18e9057" providerId="ADAL" clId="{9C4CD99B-EF1B-4C81-94B0-0A1924216EBF}" dt="2023-04-03T05:55:56.104" v="23" actId="478"/>
          <ac:spMkLst>
            <pc:docMk/>
            <pc:sldMk cId="4047161330" sldId="286"/>
            <ac:spMk id="16" creationId="{00000000-0000-0000-0000-000000000000}"/>
          </ac:spMkLst>
        </pc:spChg>
        <pc:spChg chg="mod">
          <ac:chgData name="Kumar, Harendra (Cognizant)" userId="8b8433c2-3ce6-4e38-9e1b-c8afb18e9057" providerId="ADAL" clId="{9C4CD99B-EF1B-4C81-94B0-0A1924216EBF}" dt="2023-04-03T07:24:11.475" v="3885" actId="207"/>
          <ac:spMkLst>
            <pc:docMk/>
            <pc:sldMk cId="4047161330" sldId="286"/>
            <ac:spMk id="17" creationId="{00000000-0000-0000-0000-000000000000}"/>
          </ac:spMkLst>
        </pc:spChg>
        <pc:spChg chg="add mod">
          <ac:chgData name="Kumar, Harendra (Cognizant)" userId="8b8433c2-3ce6-4e38-9e1b-c8afb18e9057" providerId="ADAL" clId="{9C4CD99B-EF1B-4C81-94B0-0A1924216EBF}" dt="2023-04-03T06:37:59.503" v="1718" actId="14100"/>
          <ac:spMkLst>
            <pc:docMk/>
            <pc:sldMk cId="4047161330" sldId="286"/>
            <ac:spMk id="22" creationId="{2C359A52-6812-58BA-7F74-5756C76E8AAB}"/>
          </ac:spMkLst>
        </pc:spChg>
        <pc:grpChg chg="del">
          <ac:chgData name="Kumar, Harendra (Cognizant)" userId="8b8433c2-3ce6-4e38-9e1b-c8afb18e9057" providerId="ADAL" clId="{9C4CD99B-EF1B-4C81-94B0-0A1924216EBF}" dt="2023-04-03T05:55:50.662" v="21" actId="478"/>
          <ac:grpSpMkLst>
            <pc:docMk/>
            <pc:sldMk cId="4047161330" sldId="286"/>
            <ac:grpSpMk id="3" creationId="{00000000-0000-0000-0000-000000000000}"/>
          </ac:grpSpMkLst>
        </pc:grpChg>
        <pc:grpChg chg="del">
          <ac:chgData name="Kumar, Harendra (Cognizant)" userId="8b8433c2-3ce6-4e38-9e1b-c8afb18e9057" providerId="ADAL" clId="{9C4CD99B-EF1B-4C81-94B0-0A1924216EBF}" dt="2023-04-03T05:55:42.479" v="19" actId="478"/>
          <ac:grpSpMkLst>
            <pc:docMk/>
            <pc:sldMk cId="4047161330" sldId="286"/>
            <ac:grpSpMk id="6" creationId="{00000000-0000-0000-0000-000000000000}"/>
          </ac:grpSpMkLst>
        </pc:grpChg>
        <pc:grpChg chg="del">
          <ac:chgData name="Kumar, Harendra (Cognizant)" userId="8b8433c2-3ce6-4e38-9e1b-c8afb18e9057" providerId="ADAL" clId="{9C4CD99B-EF1B-4C81-94B0-0A1924216EBF}" dt="2023-04-03T05:55:48.650" v="20" actId="478"/>
          <ac:grpSpMkLst>
            <pc:docMk/>
            <pc:sldMk cId="4047161330" sldId="286"/>
            <ac:grpSpMk id="19" creationId="{00000000-0000-0000-0000-000000000000}"/>
          </ac:grpSpMkLst>
        </pc:grpChg>
        <pc:picChg chg="add del mod">
          <ac:chgData name="Kumar, Harendra (Cognizant)" userId="8b8433c2-3ce6-4e38-9e1b-c8afb18e9057" providerId="ADAL" clId="{9C4CD99B-EF1B-4C81-94B0-0A1924216EBF}" dt="2023-04-03T06:34:00.625" v="1677" actId="22"/>
          <ac:picMkLst>
            <pc:docMk/>
            <pc:sldMk cId="4047161330" sldId="286"/>
            <ac:picMk id="7" creationId="{4BDB3BD7-FCAC-998F-2189-4D4512E8B244}"/>
          </ac:picMkLst>
        </pc:picChg>
        <pc:picChg chg="add mod">
          <ac:chgData name="Kumar, Harendra (Cognizant)" userId="8b8433c2-3ce6-4e38-9e1b-c8afb18e9057" providerId="ADAL" clId="{9C4CD99B-EF1B-4C81-94B0-0A1924216EBF}" dt="2023-04-03T06:37:37.142" v="1715" actId="14100"/>
          <ac:picMkLst>
            <pc:docMk/>
            <pc:sldMk cId="4047161330" sldId="286"/>
            <ac:picMk id="9" creationId="{2720219B-D876-535C-5076-9CD15E0C9272}"/>
          </ac:picMkLst>
        </pc:picChg>
      </pc:sldChg>
      <pc:sldChg chg="modSp del">
        <pc:chgData name="Kumar, Harendra (Cognizant)" userId="8b8433c2-3ce6-4e38-9e1b-c8afb18e9057" providerId="ADAL" clId="{9C4CD99B-EF1B-4C81-94B0-0A1924216EBF}" dt="2023-04-03T07:22:56.532" v="3883" actId="47"/>
        <pc:sldMkLst>
          <pc:docMk/>
          <pc:sldMk cId="1522341275" sldId="287"/>
        </pc:sldMkLst>
        <pc:spChg chg="mod">
          <ac:chgData name="Kumar, Harendra (Cognizant)" userId="8b8433c2-3ce6-4e38-9e1b-c8afb18e9057" providerId="ADAL" clId="{9C4CD99B-EF1B-4C81-94B0-0A1924216EBF}" dt="2023-04-03T05:56:19.037" v="24"/>
          <ac:spMkLst>
            <pc:docMk/>
            <pc:sldMk cId="1522341275" sldId="287"/>
            <ac:spMk id="19" creationId="{00000000-0000-0000-0000-000000000000}"/>
          </ac:spMkLst>
        </pc:spChg>
      </pc:sldChg>
      <pc:sldChg chg="addSp delSp modSp add mod">
        <pc:chgData name="Kumar, Harendra (Cognizant)" userId="8b8433c2-3ce6-4e38-9e1b-c8afb18e9057" providerId="ADAL" clId="{9C4CD99B-EF1B-4C81-94B0-0A1924216EBF}" dt="2023-04-03T10:03:39.898" v="7844" actId="14100"/>
        <pc:sldMkLst>
          <pc:docMk/>
          <pc:sldMk cId="1704172639" sldId="287"/>
        </pc:sldMkLst>
        <pc:spChg chg="add del mod">
          <ac:chgData name="Kumar, Harendra (Cognizant)" userId="8b8433c2-3ce6-4e38-9e1b-c8afb18e9057" providerId="ADAL" clId="{9C4CD99B-EF1B-4C81-94B0-0A1924216EBF}" dt="2023-04-03T07:59:02.079" v="4283"/>
          <ac:spMkLst>
            <pc:docMk/>
            <pc:sldMk cId="1704172639" sldId="287"/>
            <ac:spMk id="8" creationId="{BC64A90C-8B92-0B87-54E9-00E89581B42F}"/>
          </ac:spMkLst>
        </pc:spChg>
        <pc:spChg chg="mod">
          <ac:chgData name="Kumar, Harendra (Cognizant)" userId="8b8433c2-3ce6-4e38-9e1b-c8afb18e9057" providerId="ADAL" clId="{9C4CD99B-EF1B-4C81-94B0-0A1924216EBF}" dt="2023-04-03T10:03:21.279" v="7838" actId="1036"/>
          <ac:spMkLst>
            <pc:docMk/>
            <pc:sldMk cId="1704172639" sldId="287"/>
            <ac:spMk id="10" creationId="{00000000-0000-0000-0000-000000000000}"/>
          </ac:spMkLst>
        </pc:spChg>
        <pc:spChg chg="add mod">
          <ac:chgData name="Kumar, Harendra (Cognizant)" userId="8b8433c2-3ce6-4e38-9e1b-c8afb18e9057" providerId="ADAL" clId="{9C4CD99B-EF1B-4C81-94B0-0A1924216EBF}" dt="2023-04-03T10:02:09.227" v="7721" actId="1037"/>
          <ac:spMkLst>
            <pc:docMk/>
            <pc:sldMk cId="1704172639" sldId="287"/>
            <ac:spMk id="13" creationId="{EFA37FE9-227B-4C1C-6280-8E2D16CFFD48}"/>
          </ac:spMkLst>
        </pc:spChg>
        <pc:spChg chg="mod">
          <ac:chgData name="Kumar, Harendra (Cognizant)" userId="8b8433c2-3ce6-4e38-9e1b-c8afb18e9057" providerId="ADAL" clId="{9C4CD99B-EF1B-4C81-94B0-0A1924216EBF}" dt="2023-04-03T10:03:16.187" v="7837" actId="20577"/>
          <ac:spMkLst>
            <pc:docMk/>
            <pc:sldMk cId="1704172639" sldId="287"/>
            <ac:spMk id="17" creationId="{00000000-0000-0000-0000-000000000000}"/>
          </ac:spMkLst>
        </pc:spChg>
        <pc:spChg chg="del mod">
          <ac:chgData name="Kumar, Harendra (Cognizant)" userId="8b8433c2-3ce6-4e38-9e1b-c8afb18e9057" providerId="ADAL" clId="{9C4CD99B-EF1B-4C81-94B0-0A1924216EBF}" dt="2023-04-03T08:06:30.934" v="4562" actId="21"/>
          <ac:spMkLst>
            <pc:docMk/>
            <pc:sldMk cId="1704172639" sldId="287"/>
            <ac:spMk id="22" creationId="{2C359A52-6812-58BA-7F74-5756C76E8AAB}"/>
          </ac:spMkLst>
        </pc:spChg>
        <pc:picChg chg="add del mod">
          <ac:chgData name="Kumar, Harendra (Cognizant)" userId="8b8433c2-3ce6-4e38-9e1b-c8afb18e9057" providerId="ADAL" clId="{9C4CD99B-EF1B-4C81-94B0-0A1924216EBF}" dt="2023-04-03T07:54:48.109" v="4143" actId="22"/>
          <ac:picMkLst>
            <pc:docMk/>
            <pc:sldMk cId="1704172639" sldId="287"/>
            <ac:picMk id="3" creationId="{EBCD9881-B8EB-CAEF-6BE8-457225B40691}"/>
          </ac:picMkLst>
        </pc:picChg>
        <pc:picChg chg="add del mod">
          <ac:chgData name="Kumar, Harendra (Cognizant)" userId="8b8433c2-3ce6-4e38-9e1b-c8afb18e9057" providerId="ADAL" clId="{9C4CD99B-EF1B-4C81-94B0-0A1924216EBF}" dt="2023-04-03T07:55:50.120" v="4152" actId="931"/>
          <ac:picMkLst>
            <pc:docMk/>
            <pc:sldMk cId="1704172639" sldId="287"/>
            <ac:picMk id="5" creationId="{6B79AB95-8E3E-0E8C-72AD-E23E6AF67DC1}"/>
          </ac:picMkLst>
        </pc:picChg>
        <pc:picChg chg="add del mod">
          <ac:chgData name="Kumar, Harendra (Cognizant)" userId="8b8433c2-3ce6-4e38-9e1b-c8afb18e9057" providerId="ADAL" clId="{9C4CD99B-EF1B-4C81-94B0-0A1924216EBF}" dt="2023-04-03T10:01:55.565" v="7715" actId="21"/>
          <ac:picMkLst>
            <pc:docMk/>
            <pc:sldMk cId="1704172639" sldId="287"/>
            <ac:picMk id="7" creationId="{C7905C8B-45C2-7E9F-D08D-AE1B48727475}"/>
          </ac:picMkLst>
        </pc:picChg>
        <pc:picChg chg="del">
          <ac:chgData name="Kumar, Harendra (Cognizant)" userId="8b8433c2-3ce6-4e38-9e1b-c8afb18e9057" providerId="ADAL" clId="{9C4CD99B-EF1B-4C81-94B0-0A1924216EBF}" dt="2023-04-03T07:24:32.173" v="3894" actId="478"/>
          <ac:picMkLst>
            <pc:docMk/>
            <pc:sldMk cId="1704172639" sldId="287"/>
            <ac:picMk id="9" creationId="{2720219B-D876-535C-5076-9CD15E0C9272}"/>
          </ac:picMkLst>
        </pc:picChg>
        <pc:picChg chg="add mod">
          <ac:chgData name="Kumar, Harendra (Cognizant)" userId="8b8433c2-3ce6-4e38-9e1b-c8afb18e9057" providerId="ADAL" clId="{9C4CD99B-EF1B-4C81-94B0-0A1924216EBF}" dt="2023-04-03T10:03:33.200" v="7842" actId="14100"/>
          <ac:picMkLst>
            <pc:docMk/>
            <pc:sldMk cId="1704172639" sldId="287"/>
            <ac:picMk id="12" creationId="{723F3FE9-59C9-408D-1BEB-95D6FEE240A3}"/>
          </ac:picMkLst>
        </pc:picChg>
        <pc:picChg chg="add del mod">
          <ac:chgData name="Kumar, Harendra (Cognizant)" userId="8b8433c2-3ce6-4e38-9e1b-c8afb18e9057" providerId="ADAL" clId="{9C4CD99B-EF1B-4C81-94B0-0A1924216EBF}" dt="2023-04-03T08:06:05.880" v="4551" actId="478"/>
          <ac:picMkLst>
            <pc:docMk/>
            <pc:sldMk cId="1704172639" sldId="287"/>
            <ac:picMk id="15" creationId="{A32BDC4F-6687-E003-29CD-AFCA0D507C7B}"/>
          </ac:picMkLst>
        </pc:picChg>
        <pc:picChg chg="add mod">
          <ac:chgData name="Kumar, Harendra (Cognizant)" userId="8b8433c2-3ce6-4e38-9e1b-c8afb18e9057" providerId="ADAL" clId="{9C4CD99B-EF1B-4C81-94B0-0A1924216EBF}" dt="2023-04-03T10:03:39.898" v="7844" actId="14100"/>
          <ac:picMkLst>
            <pc:docMk/>
            <pc:sldMk cId="1704172639" sldId="287"/>
            <ac:picMk id="18" creationId="{531221BF-6E63-CAAE-6926-9A7265ED5230}"/>
          </ac:picMkLst>
        </pc:picChg>
      </pc:sldChg>
      <pc:sldChg chg="del">
        <pc:chgData name="Kumar, Harendra (Cognizant)" userId="8b8433c2-3ce6-4e38-9e1b-c8afb18e9057" providerId="ADAL" clId="{9C4CD99B-EF1B-4C81-94B0-0A1924216EBF}" dt="2023-04-03T07:22:56.532" v="3883" actId="47"/>
        <pc:sldMkLst>
          <pc:docMk/>
          <pc:sldMk cId="428928714" sldId="288"/>
        </pc:sldMkLst>
      </pc:sldChg>
      <pc:sldChg chg="addSp delSp modSp add mod">
        <pc:chgData name="Kumar, Harendra (Cognizant)" userId="8b8433c2-3ce6-4e38-9e1b-c8afb18e9057" providerId="ADAL" clId="{9C4CD99B-EF1B-4C81-94B0-0A1924216EBF}" dt="2023-04-03T09:52:21.679" v="7259" actId="2"/>
        <pc:sldMkLst>
          <pc:docMk/>
          <pc:sldMk cId="4018458971" sldId="288"/>
        </pc:sldMkLst>
        <pc:spChg chg="add del">
          <ac:chgData name="Kumar, Harendra (Cognizant)" userId="8b8433c2-3ce6-4e38-9e1b-c8afb18e9057" providerId="ADAL" clId="{9C4CD99B-EF1B-4C81-94B0-0A1924216EBF}" dt="2023-04-03T09:50:10.296" v="7255" actId="478"/>
          <ac:spMkLst>
            <pc:docMk/>
            <pc:sldMk cId="4018458971" sldId="288"/>
            <ac:spMk id="6" creationId="{36C18FB9-59E7-96B5-9936-83F3B55F38E2}"/>
          </ac:spMkLst>
        </pc:spChg>
        <pc:spChg chg="mod">
          <ac:chgData name="Kumar, Harendra (Cognizant)" userId="8b8433c2-3ce6-4e38-9e1b-c8afb18e9057" providerId="ADAL" clId="{9C4CD99B-EF1B-4C81-94B0-0A1924216EBF}" dt="2023-04-03T09:52:21.679" v="7259" actId="2"/>
          <ac:spMkLst>
            <pc:docMk/>
            <pc:sldMk cId="4018458971" sldId="288"/>
            <ac:spMk id="10" creationId="{00000000-0000-0000-0000-000000000000}"/>
          </ac:spMkLst>
        </pc:spChg>
        <pc:spChg chg="del mod">
          <ac:chgData name="Kumar, Harendra (Cognizant)" userId="8b8433c2-3ce6-4e38-9e1b-c8afb18e9057" providerId="ADAL" clId="{9C4CD99B-EF1B-4C81-94B0-0A1924216EBF}" dt="2023-04-03T08:08:21.550" v="4666" actId="21"/>
          <ac:spMkLst>
            <pc:docMk/>
            <pc:sldMk cId="4018458971" sldId="288"/>
            <ac:spMk id="13" creationId="{EFA37FE9-227B-4C1C-6280-8E2D16CFFD48}"/>
          </ac:spMkLst>
        </pc:spChg>
        <pc:spChg chg="mod">
          <ac:chgData name="Kumar, Harendra (Cognizant)" userId="8b8433c2-3ce6-4e38-9e1b-c8afb18e9057" providerId="ADAL" clId="{9C4CD99B-EF1B-4C81-94B0-0A1924216EBF}" dt="2023-04-03T08:08:01.030" v="4646" actId="5793"/>
          <ac:spMkLst>
            <pc:docMk/>
            <pc:sldMk cId="4018458971" sldId="288"/>
            <ac:spMk id="17" creationId="{00000000-0000-0000-0000-000000000000}"/>
          </ac:spMkLst>
        </pc:spChg>
        <pc:picChg chg="add del mod">
          <ac:chgData name="Kumar, Harendra (Cognizant)" userId="8b8433c2-3ce6-4e38-9e1b-c8afb18e9057" providerId="ADAL" clId="{9C4CD99B-EF1B-4C81-94B0-0A1924216EBF}" dt="2023-04-03T08:37:12.883" v="5853" actId="478"/>
          <ac:picMkLst>
            <pc:docMk/>
            <pc:sldMk cId="4018458971" sldId="288"/>
            <ac:picMk id="3" creationId="{88F30A0D-D46C-FEFC-19F4-CD063CF77750}"/>
          </ac:picMkLst>
        </pc:picChg>
        <pc:picChg chg="add mod">
          <ac:chgData name="Kumar, Harendra (Cognizant)" userId="8b8433c2-3ce6-4e38-9e1b-c8afb18e9057" providerId="ADAL" clId="{9C4CD99B-EF1B-4C81-94B0-0A1924216EBF}" dt="2023-04-03T08:37:32.858" v="5863" actId="14100"/>
          <ac:picMkLst>
            <pc:docMk/>
            <pc:sldMk cId="4018458971" sldId="288"/>
            <ac:picMk id="5" creationId="{746E00E2-3F5D-7BF9-8FED-6FAD3C400887}"/>
          </ac:picMkLst>
        </pc:picChg>
        <pc:picChg chg="del">
          <ac:chgData name="Kumar, Harendra (Cognizant)" userId="8b8433c2-3ce6-4e38-9e1b-c8afb18e9057" providerId="ADAL" clId="{9C4CD99B-EF1B-4C81-94B0-0A1924216EBF}" dt="2023-04-03T08:08:14.235" v="4662" actId="478"/>
          <ac:picMkLst>
            <pc:docMk/>
            <pc:sldMk cId="4018458971" sldId="288"/>
            <ac:picMk id="7" creationId="{C7905C8B-45C2-7E9F-D08D-AE1B48727475}"/>
          </ac:picMkLst>
        </pc:picChg>
        <pc:picChg chg="del mod">
          <ac:chgData name="Kumar, Harendra (Cognizant)" userId="8b8433c2-3ce6-4e38-9e1b-c8afb18e9057" providerId="ADAL" clId="{9C4CD99B-EF1B-4C81-94B0-0A1924216EBF}" dt="2023-04-03T08:08:15.915" v="4664" actId="478"/>
          <ac:picMkLst>
            <pc:docMk/>
            <pc:sldMk cId="4018458971" sldId="288"/>
            <ac:picMk id="12" creationId="{723F3FE9-59C9-408D-1BEB-95D6FEE240A3}"/>
          </ac:picMkLst>
        </pc:picChg>
        <pc:picChg chg="del">
          <ac:chgData name="Kumar, Harendra (Cognizant)" userId="8b8433c2-3ce6-4e38-9e1b-c8afb18e9057" providerId="ADAL" clId="{9C4CD99B-EF1B-4C81-94B0-0A1924216EBF}" dt="2023-04-03T08:08:11.781" v="4661" actId="478"/>
          <ac:picMkLst>
            <pc:docMk/>
            <pc:sldMk cId="4018458971" sldId="288"/>
            <ac:picMk id="18" creationId="{531221BF-6E63-CAAE-6926-9A7265ED5230}"/>
          </ac:picMkLst>
        </pc:picChg>
      </pc:sldChg>
      <pc:sldChg chg="modSp del">
        <pc:chgData name="Kumar, Harendra (Cognizant)" userId="8b8433c2-3ce6-4e38-9e1b-c8afb18e9057" providerId="ADAL" clId="{9C4CD99B-EF1B-4C81-94B0-0A1924216EBF}" dt="2023-04-03T07:22:56.532" v="3883" actId="47"/>
        <pc:sldMkLst>
          <pc:docMk/>
          <pc:sldMk cId="452766161" sldId="289"/>
        </pc:sldMkLst>
        <pc:spChg chg="mod">
          <ac:chgData name="Kumar, Harendra (Cognizant)" userId="8b8433c2-3ce6-4e38-9e1b-c8afb18e9057" providerId="ADAL" clId="{9C4CD99B-EF1B-4C81-94B0-0A1924216EBF}" dt="2023-04-03T05:56:19.037" v="24"/>
          <ac:spMkLst>
            <pc:docMk/>
            <pc:sldMk cId="452766161" sldId="289"/>
            <ac:spMk id="52" creationId="{00000000-0000-0000-0000-000000000000}"/>
          </ac:spMkLst>
        </pc:spChg>
      </pc:sldChg>
      <pc:sldChg chg="addSp delSp modSp add mod">
        <pc:chgData name="Kumar, Harendra (Cognizant)" userId="8b8433c2-3ce6-4e38-9e1b-c8afb18e9057" providerId="ADAL" clId="{9C4CD99B-EF1B-4C81-94B0-0A1924216EBF}" dt="2023-04-03T09:52:27.788" v="7260" actId="313"/>
        <pc:sldMkLst>
          <pc:docMk/>
          <pc:sldMk cId="2064697556" sldId="289"/>
        </pc:sldMkLst>
        <pc:spChg chg="mod">
          <ac:chgData name="Kumar, Harendra (Cognizant)" userId="8b8433c2-3ce6-4e38-9e1b-c8afb18e9057" providerId="ADAL" clId="{9C4CD99B-EF1B-4C81-94B0-0A1924216EBF}" dt="2023-04-03T09:52:27.788" v="7260" actId="313"/>
          <ac:spMkLst>
            <pc:docMk/>
            <pc:sldMk cId="2064697556" sldId="289"/>
            <ac:spMk id="10" creationId="{00000000-0000-0000-0000-000000000000}"/>
          </ac:spMkLst>
        </pc:spChg>
        <pc:spChg chg="mod">
          <ac:chgData name="Kumar, Harendra (Cognizant)" userId="8b8433c2-3ce6-4e38-9e1b-c8afb18e9057" providerId="ADAL" clId="{9C4CD99B-EF1B-4C81-94B0-0A1924216EBF}" dt="2023-04-03T08:37:52.602" v="5906" actId="6549"/>
          <ac:spMkLst>
            <pc:docMk/>
            <pc:sldMk cId="2064697556" sldId="289"/>
            <ac:spMk id="17" creationId="{00000000-0000-0000-0000-000000000000}"/>
          </ac:spMkLst>
        </pc:spChg>
        <pc:picChg chg="mod">
          <ac:chgData name="Kumar, Harendra (Cognizant)" userId="8b8433c2-3ce6-4e38-9e1b-c8afb18e9057" providerId="ADAL" clId="{9C4CD99B-EF1B-4C81-94B0-0A1924216EBF}" dt="2023-04-03T08:41:47.745" v="6103" actId="14100"/>
          <ac:picMkLst>
            <pc:docMk/>
            <pc:sldMk cId="2064697556" sldId="289"/>
            <ac:picMk id="3" creationId="{88F30A0D-D46C-FEFC-19F4-CD063CF77750}"/>
          </ac:picMkLst>
        </pc:picChg>
        <pc:picChg chg="add mod">
          <ac:chgData name="Kumar, Harendra (Cognizant)" userId="8b8433c2-3ce6-4e38-9e1b-c8afb18e9057" providerId="ADAL" clId="{9C4CD99B-EF1B-4C81-94B0-0A1924216EBF}" dt="2023-04-03T08:41:54.805" v="6105" actId="14100"/>
          <ac:picMkLst>
            <pc:docMk/>
            <pc:sldMk cId="2064697556" sldId="289"/>
            <ac:picMk id="4" creationId="{40E263CA-FFBD-B3F3-AE30-7D8EFF0A12D8}"/>
          </ac:picMkLst>
        </pc:picChg>
        <pc:picChg chg="del">
          <ac:chgData name="Kumar, Harendra (Cognizant)" userId="8b8433c2-3ce6-4e38-9e1b-c8afb18e9057" providerId="ADAL" clId="{9C4CD99B-EF1B-4C81-94B0-0A1924216EBF}" dt="2023-04-03T08:40:28.735" v="6096" actId="478"/>
          <ac:picMkLst>
            <pc:docMk/>
            <pc:sldMk cId="2064697556" sldId="289"/>
            <ac:picMk id="5" creationId="{746E00E2-3F5D-7BF9-8FED-6FAD3C400887}"/>
          </ac:picMkLst>
        </pc:picChg>
      </pc:sldChg>
      <pc:sldChg chg="modSp del">
        <pc:chgData name="Kumar, Harendra (Cognizant)" userId="8b8433c2-3ce6-4e38-9e1b-c8afb18e9057" providerId="ADAL" clId="{9C4CD99B-EF1B-4C81-94B0-0A1924216EBF}" dt="2023-04-03T07:22:56.532" v="3883" actId="47"/>
        <pc:sldMkLst>
          <pc:docMk/>
          <pc:sldMk cId="3369816941" sldId="290"/>
        </pc:sldMkLst>
        <pc:spChg chg="mod">
          <ac:chgData name="Kumar, Harendra (Cognizant)" userId="8b8433c2-3ce6-4e38-9e1b-c8afb18e9057" providerId="ADAL" clId="{9C4CD99B-EF1B-4C81-94B0-0A1924216EBF}" dt="2023-04-03T05:56:19.037" v="24"/>
          <ac:spMkLst>
            <pc:docMk/>
            <pc:sldMk cId="3369816941" sldId="290"/>
            <ac:spMk id="51" creationId="{BF5627D9-3BE8-43E5-ACEA-B86C93214EB2}"/>
          </ac:spMkLst>
        </pc:spChg>
        <pc:spChg chg="mod">
          <ac:chgData name="Kumar, Harendra (Cognizant)" userId="8b8433c2-3ce6-4e38-9e1b-c8afb18e9057" providerId="ADAL" clId="{9C4CD99B-EF1B-4C81-94B0-0A1924216EBF}" dt="2023-04-03T05:56:19.037" v="24"/>
          <ac:spMkLst>
            <pc:docMk/>
            <pc:sldMk cId="3369816941" sldId="290"/>
            <ac:spMk id="82" creationId="{00000000-0000-0000-0000-000000000000}"/>
          </ac:spMkLst>
        </pc:spChg>
      </pc:sldChg>
      <pc:sldChg chg="addSp delSp modSp add mod">
        <pc:chgData name="Kumar, Harendra (Cognizant)" userId="8b8433c2-3ce6-4e38-9e1b-c8afb18e9057" providerId="ADAL" clId="{9C4CD99B-EF1B-4C81-94B0-0A1924216EBF}" dt="2023-04-03T09:52:37.071" v="7262" actId="2"/>
        <pc:sldMkLst>
          <pc:docMk/>
          <pc:sldMk cId="3516052301" sldId="290"/>
        </pc:sldMkLst>
        <pc:spChg chg="add mod">
          <ac:chgData name="Kumar, Harendra (Cognizant)" userId="8b8433c2-3ce6-4e38-9e1b-c8afb18e9057" providerId="ADAL" clId="{9C4CD99B-EF1B-4C81-94B0-0A1924216EBF}" dt="2023-04-03T09:52:37.071" v="7262" actId="2"/>
          <ac:spMkLst>
            <pc:docMk/>
            <pc:sldMk cId="3516052301" sldId="290"/>
            <ac:spMk id="7" creationId="{FECB05A3-091C-BB4C-293C-D91F24FAD8F1}"/>
          </ac:spMkLst>
        </pc:spChg>
        <pc:spChg chg="add del mod">
          <ac:chgData name="Kumar, Harendra (Cognizant)" userId="8b8433c2-3ce6-4e38-9e1b-c8afb18e9057" providerId="ADAL" clId="{9C4CD99B-EF1B-4C81-94B0-0A1924216EBF}" dt="2023-04-03T09:52:34.737" v="7261" actId="2"/>
          <ac:spMkLst>
            <pc:docMk/>
            <pc:sldMk cId="3516052301" sldId="290"/>
            <ac:spMk id="10" creationId="{00000000-0000-0000-0000-000000000000}"/>
          </ac:spMkLst>
        </pc:spChg>
        <pc:spChg chg="mod">
          <ac:chgData name="Kumar, Harendra (Cognizant)" userId="8b8433c2-3ce6-4e38-9e1b-c8afb18e9057" providerId="ADAL" clId="{9C4CD99B-EF1B-4C81-94B0-0A1924216EBF}" dt="2023-04-03T08:42:49.245" v="6181" actId="5793"/>
          <ac:spMkLst>
            <pc:docMk/>
            <pc:sldMk cId="3516052301" sldId="290"/>
            <ac:spMk id="17" creationId="{00000000-0000-0000-0000-000000000000}"/>
          </ac:spMkLst>
        </pc:spChg>
        <pc:picChg chg="del">
          <ac:chgData name="Kumar, Harendra (Cognizant)" userId="8b8433c2-3ce6-4e38-9e1b-c8afb18e9057" providerId="ADAL" clId="{9C4CD99B-EF1B-4C81-94B0-0A1924216EBF}" dt="2023-04-03T08:43:37.080" v="6272" actId="478"/>
          <ac:picMkLst>
            <pc:docMk/>
            <pc:sldMk cId="3516052301" sldId="290"/>
            <ac:picMk id="3" creationId="{88F30A0D-D46C-FEFC-19F4-CD063CF77750}"/>
          </ac:picMkLst>
        </pc:picChg>
        <pc:picChg chg="del">
          <ac:chgData name="Kumar, Harendra (Cognizant)" userId="8b8433c2-3ce6-4e38-9e1b-c8afb18e9057" providerId="ADAL" clId="{9C4CD99B-EF1B-4C81-94B0-0A1924216EBF}" dt="2023-04-03T08:43:38.320" v="6273" actId="478"/>
          <ac:picMkLst>
            <pc:docMk/>
            <pc:sldMk cId="3516052301" sldId="290"/>
            <ac:picMk id="4" creationId="{40E263CA-FFBD-B3F3-AE30-7D8EFF0A12D8}"/>
          </ac:picMkLst>
        </pc:picChg>
        <pc:picChg chg="add mod">
          <ac:chgData name="Kumar, Harendra (Cognizant)" userId="8b8433c2-3ce6-4e38-9e1b-c8afb18e9057" providerId="ADAL" clId="{9C4CD99B-EF1B-4C81-94B0-0A1924216EBF}" dt="2023-04-03T08:54:40.242" v="7114" actId="1038"/>
          <ac:picMkLst>
            <pc:docMk/>
            <pc:sldMk cId="3516052301" sldId="290"/>
            <ac:picMk id="5" creationId="{8B45853E-0110-E1D0-9122-748124353568}"/>
          </ac:picMkLst>
        </pc:picChg>
        <pc:picChg chg="add mod">
          <ac:chgData name="Kumar, Harendra (Cognizant)" userId="8b8433c2-3ce6-4e38-9e1b-c8afb18e9057" providerId="ADAL" clId="{9C4CD99B-EF1B-4C81-94B0-0A1924216EBF}" dt="2023-04-03T08:57:07.945" v="7173" actId="1038"/>
          <ac:picMkLst>
            <pc:docMk/>
            <pc:sldMk cId="3516052301" sldId="290"/>
            <ac:picMk id="9" creationId="{77677CE2-7EB1-EA27-ECBB-DA6DDB641771}"/>
          </ac:picMkLst>
        </pc:picChg>
      </pc:sldChg>
      <pc:sldChg chg="modSp del">
        <pc:chgData name="Kumar, Harendra (Cognizant)" userId="8b8433c2-3ce6-4e38-9e1b-c8afb18e9057" providerId="ADAL" clId="{9C4CD99B-EF1B-4C81-94B0-0A1924216EBF}" dt="2023-04-03T07:22:56.532" v="3883" actId="47"/>
        <pc:sldMkLst>
          <pc:docMk/>
          <pc:sldMk cId="956773638" sldId="291"/>
        </pc:sldMkLst>
        <pc:spChg chg="mod">
          <ac:chgData name="Kumar, Harendra (Cognizant)" userId="8b8433c2-3ce6-4e38-9e1b-c8afb18e9057" providerId="ADAL" clId="{9C4CD99B-EF1B-4C81-94B0-0A1924216EBF}" dt="2023-04-03T05:56:19.037" v="24"/>
          <ac:spMkLst>
            <pc:docMk/>
            <pc:sldMk cId="956773638" sldId="291"/>
            <ac:spMk id="52" creationId="{00000000-0000-0000-0000-000000000000}"/>
          </ac:spMkLst>
        </pc:spChg>
        <pc:spChg chg="mod">
          <ac:chgData name="Kumar, Harendra (Cognizant)" userId="8b8433c2-3ce6-4e38-9e1b-c8afb18e9057" providerId="ADAL" clId="{9C4CD99B-EF1B-4C81-94B0-0A1924216EBF}" dt="2023-04-03T05:56:19.037" v="24"/>
          <ac:spMkLst>
            <pc:docMk/>
            <pc:sldMk cId="956773638" sldId="291"/>
            <ac:spMk id="81" creationId="{00000000-0000-0000-0000-000000000000}"/>
          </ac:spMkLst>
        </pc:spChg>
        <pc:spChg chg="mod">
          <ac:chgData name="Kumar, Harendra (Cognizant)" userId="8b8433c2-3ce6-4e38-9e1b-c8afb18e9057" providerId="ADAL" clId="{9C4CD99B-EF1B-4C81-94B0-0A1924216EBF}" dt="2023-04-03T05:56:19.037" v="24"/>
          <ac:spMkLst>
            <pc:docMk/>
            <pc:sldMk cId="956773638" sldId="291"/>
            <ac:spMk id="82" creationId="{00000000-0000-0000-0000-000000000000}"/>
          </ac:spMkLst>
        </pc:spChg>
        <pc:spChg chg="mod">
          <ac:chgData name="Kumar, Harendra (Cognizant)" userId="8b8433c2-3ce6-4e38-9e1b-c8afb18e9057" providerId="ADAL" clId="{9C4CD99B-EF1B-4C81-94B0-0A1924216EBF}" dt="2023-04-03T05:56:19.037" v="24"/>
          <ac:spMkLst>
            <pc:docMk/>
            <pc:sldMk cId="956773638" sldId="291"/>
            <ac:spMk id="83" creationId="{00000000-0000-0000-0000-000000000000}"/>
          </ac:spMkLst>
        </pc:spChg>
        <pc:spChg chg="mod">
          <ac:chgData name="Kumar, Harendra (Cognizant)" userId="8b8433c2-3ce6-4e38-9e1b-c8afb18e9057" providerId="ADAL" clId="{9C4CD99B-EF1B-4C81-94B0-0A1924216EBF}" dt="2023-04-03T05:56:19.037" v="24"/>
          <ac:spMkLst>
            <pc:docMk/>
            <pc:sldMk cId="956773638" sldId="291"/>
            <ac:spMk id="84" creationId="{00000000-0000-0000-0000-000000000000}"/>
          </ac:spMkLst>
        </pc:spChg>
      </pc:sldChg>
      <pc:sldChg chg="addSp delSp modSp add mod ord">
        <pc:chgData name="Kumar, Harendra (Cognizant)" userId="8b8433c2-3ce6-4e38-9e1b-c8afb18e9057" providerId="ADAL" clId="{9C4CD99B-EF1B-4C81-94B0-0A1924216EBF}" dt="2023-04-03T10:14:33.691" v="8675" actId="1035"/>
        <pc:sldMkLst>
          <pc:docMk/>
          <pc:sldMk cId="1223559503" sldId="291"/>
        </pc:sldMkLst>
        <pc:spChg chg="add del mod">
          <ac:chgData name="Kumar, Harendra (Cognizant)" userId="8b8433c2-3ce6-4e38-9e1b-c8afb18e9057" providerId="ADAL" clId="{9C4CD99B-EF1B-4C81-94B0-0A1924216EBF}" dt="2023-04-03T10:06:53.999" v="7936" actId="767"/>
          <ac:spMkLst>
            <pc:docMk/>
            <pc:sldMk cId="1223559503" sldId="291"/>
            <ac:spMk id="4" creationId="{94FC8D60-BDBB-9C2F-E5B2-6027A878C655}"/>
          </ac:spMkLst>
        </pc:spChg>
        <pc:spChg chg="add del mod">
          <ac:chgData name="Kumar, Harendra (Cognizant)" userId="8b8433c2-3ce6-4e38-9e1b-c8afb18e9057" providerId="ADAL" clId="{9C4CD99B-EF1B-4C81-94B0-0A1924216EBF}" dt="2023-04-03T10:07:13.319" v="7942" actId="767"/>
          <ac:spMkLst>
            <pc:docMk/>
            <pc:sldMk cId="1223559503" sldId="291"/>
            <ac:spMk id="5" creationId="{53FE68A1-663A-4DEC-DF40-85C7B5B84B7E}"/>
          </ac:spMkLst>
        </pc:spChg>
        <pc:spChg chg="del">
          <ac:chgData name="Kumar, Harendra (Cognizant)" userId="8b8433c2-3ce6-4e38-9e1b-c8afb18e9057" providerId="ADAL" clId="{9C4CD99B-EF1B-4C81-94B0-0A1924216EBF}" dt="2023-04-03T08:58:01.192" v="7191" actId="478"/>
          <ac:spMkLst>
            <pc:docMk/>
            <pc:sldMk cId="1223559503" sldId="291"/>
            <ac:spMk id="6" creationId="{36C18FB9-59E7-96B5-9936-83F3B55F38E2}"/>
          </ac:spMkLst>
        </pc:spChg>
        <pc:spChg chg="add mod">
          <ac:chgData name="Kumar, Harendra (Cognizant)" userId="8b8433c2-3ce6-4e38-9e1b-c8afb18e9057" providerId="ADAL" clId="{9C4CD99B-EF1B-4C81-94B0-0A1924216EBF}" dt="2023-04-03T10:14:33.691" v="8675" actId="1035"/>
          <ac:spMkLst>
            <pc:docMk/>
            <pc:sldMk cId="1223559503" sldId="291"/>
            <ac:spMk id="6" creationId="{B4AA0405-CA4D-CA6B-047B-9822B03F17F5}"/>
          </ac:spMkLst>
        </pc:spChg>
        <pc:spChg chg="add del mod">
          <ac:chgData name="Kumar, Harendra (Cognizant)" userId="8b8433c2-3ce6-4e38-9e1b-c8afb18e9057" providerId="ADAL" clId="{9C4CD99B-EF1B-4C81-94B0-0A1924216EBF}" dt="2023-04-03T10:10:53.415" v="8239"/>
          <ac:spMkLst>
            <pc:docMk/>
            <pc:sldMk cId="1223559503" sldId="291"/>
            <ac:spMk id="7" creationId="{A855D9BF-4CE1-B980-BA13-8039EF8CEF08}"/>
          </ac:spMkLst>
        </pc:spChg>
        <pc:spChg chg="mod">
          <ac:chgData name="Kumar, Harendra (Cognizant)" userId="8b8433c2-3ce6-4e38-9e1b-c8afb18e9057" providerId="ADAL" clId="{9C4CD99B-EF1B-4C81-94B0-0A1924216EBF}" dt="2023-04-03T10:14:33.691" v="8675" actId="1035"/>
          <ac:spMkLst>
            <pc:docMk/>
            <pc:sldMk cId="1223559503" sldId="291"/>
            <ac:spMk id="10" creationId="{00000000-0000-0000-0000-000000000000}"/>
          </ac:spMkLst>
        </pc:spChg>
        <pc:spChg chg="mod">
          <ac:chgData name="Kumar, Harendra (Cognizant)" userId="8b8433c2-3ce6-4e38-9e1b-c8afb18e9057" providerId="ADAL" clId="{9C4CD99B-EF1B-4C81-94B0-0A1924216EBF}" dt="2023-04-03T10:14:33.691" v="8675" actId="1035"/>
          <ac:spMkLst>
            <pc:docMk/>
            <pc:sldMk cId="1223559503" sldId="291"/>
            <ac:spMk id="17" creationId="{00000000-0000-0000-0000-000000000000}"/>
          </ac:spMkLst>
        </pc:spChg>
        <pc:picChg chg="add mod">
          <ac:chgData name="Kumar, Harendra (Cognizant)" userId="8b8433c2-3ce6-4e38-9e1b-c8afb18e9057" providerId="ADAL" clId="{9C4CD99B-EF1B-4C81-94B0-0A1924216EBF}" dt="2023-04-03T10:14:33.691" v="8675" actId="1035"/>
          <ac:picMkLst>
            <pc:docMk/>
            <pc:sldMk cId="1223559503" sldId="291"/>
            <ac:picMk id="2" creationId="{BD2BA625-28D8-D1DD-D9C4-19A175FC7279}"/>
          </ac:picMkLst>
        </pc:picChg>
        <pc:picChg chg="add mod">
          <ac:chgData name="Kumar, Harendra (Cognizant)" userId="8b8433c2-3ce6-4e38-9e1b-c8afb18e9057" providerId="ADAL" clId="{9C4CD99B-EF1B-4C81-94B0-0A1924216EBF}" dt="2023-04-03T10:14:33.691" v="8675" actId="1035"/>
          <ac:picMkLst>
            <pc:docMk/>
            <pc:sldMk cId="1223559503" sldId="291"/>
            <ac:picMk id="3" creationId="{3A52B991-812D-36F8-572E-E63FC7DF49DE}"/>
          </ac:picMkLst>
        </pc:picChg>
        <pc:picChg chg="del">
          <ac:chgData name="Kumar, Harendra (Cognizant)" userId="8b8433c2-3ce6-4e38-9e1b-c8afb18e9057" providerId="ADAL" clId="{9C4CD99B-EF1B-4C81-94B0-0A1924216EBF}" dt="2023-04-03T08:57:56.929" v="7190" actId="478"/>
          <ac:picMkLst>
            <pc:docMk/>
            <pc:sldMk cId="1223559503" sldId="291"/>
            <ac:picMk id="3" creationId="{88F30A0D-D46C-FEFC-19F4-CD063CF77750}"/>
          </ac:picMkLst>
        </pc:picChg>
        <pc:picChg chg="del mod">
          <ac:chgData name="Kumar, Harendra (Cognizant)" userId="8b8433c2-3ce6-4e38-9e1b-c8afb18e9057" providerId="ADAL" clId="{9C4CD99B-EF1B-4C81-94B0-0A1924216EBF}" dt="2023-04-03T08:57:55.374" v="7189" actId="478"/>
          <ac:picMkLst>
            <pc:docMk/>
            <pc:sldMk cId="1223559503" sldId="291"/>
            <ac:picMk id="4" creationId="{40E263CA-FFBD-B3F3-AE30-7D8EFF0A12D8}"/>
          </ac:picMkLst>
        </pc:picChg>
      </pc:sldChg>
      <pc:sldChg chg="modSp add mod ord">
        <pc:chgData name="Kumar, Harendra (Cognizant)" userId="8b8433c2-3ce6-4e38-9e1b-c8afb18e9057" providerId="ADAL" clId="{9C4CD99B-EF1B-4C81-94B0-0A1924216EBF}" dt="2023-04-03T09:00:17.848" v="7254" actId="20577"/>
        <pc:sldMkLst>
          <pc:docMk/>
          <pc:sldMk cId="785725705" sldId="292"/>
        </pc:sldMkLst>
        <pc:spChg chg="mod">
          <ac:chgData name="Kumar, Harendra (Cognizant)" userId="8b8433c2-3ce6-4e38-9e1b-c8afb18e9057" providerId="ADAL" clId="{9C4CD99B-EF1B-4C81-94B0-0A1924216EBF}" dt="2023-04-03T09:00:17.848" v="7254" actId="20577"/>
          <ac:spMkLst>
            <pc:docMk/>
            <pc:sldMk cId="785725705" sldId="292"/>
            <ac:spMk id="10" creationId="{00000000-0000-0000-0000-000000000000}"/>
          </ac:spMkLst>
        </pc:spChg>
        <pc:spChg chg="mod">
          <ac:chgData name="Kumar, Harendra (Cognizant)" userId="8b8433c2-3ce6-4e38-9e1b-c8afb18e9057" providerId="ADAL" clId="{9C4CD99B-EF1B-4C81-94B0-0A1924216EBF}" dt="2023-04-03T09:00:08.222" v="7242" actId="20577"/>
          <ac:spMkLst>
            <pc:docMk/>
            <pc:sldMk cId="785725705" sldId="292"/>
            <ac:spMk id="17" creationId="{00000000-0000-0000-0000-000000000000}"/>
          </ac:spMkLst>
        </pc:spChg>
      </pc:sldChg>
      <pc:sldChg chg="modSp del">
        <pc:chgData name="Kumar, Harendra (Cognizant)" userId="8b8433c2-3ce6-4e38-9e1b-c8afb18e9057" providerId="ADAL" clId="{9C4CD99B-EF1B-4C81-94B0-0A1924216EBF}" dt="2023-04-03T07:22:56.532" v="3883" actId="47"/>
        <pc:sldMkLst>
          <pc:docMk/>
          <pc:sldMk cId="2983598549" sldId="292"/>
        </pc:sldMkLst>
        <pc:spChg chg="mod">
          <ac:chgData name="Kumar, Harendra (Cognizant)" userId="8b8433c2-3ce6-4e38-9e1b-c8afb18e9057" providerId="ADAL" clId="{9C4CD99B-EF1B-4C81-94B0-0A1924216EBF}" dt="2023-04-03T05:56:19.037" v="24"/>
          <ac:spMkLst>
            <pc:docMk/>
            <pc:sldMk cId="2983598549" sldId="292"/>
            <ac:spMk id="28" creationId="{00000000-0000-0000-0000-000000000000}"/>
          </ac:spMkLst>
        </pc:spChg>
      </pc:sldChg>
      <pc:sldMasterChg chg="delSldLayout">
        <pc:chgData name="Kumar, Harendra (Cognizant)" userId="8b8433c2-3ce6-4e38-9e1b-c8afb18e9057" providerId="ADAL" clId="{9C4CD99B-EF1B-4C81-94B0-0A1924216EBF}" dt="2023-04-03T07:22:56.532" v="3883" actId="47"/>
        <pc:sldMasterMkLst>
          <pc:docMk/>
          <pc:sldMasterMk cId="0" sldId="2147483648"/>
        </pc:sldMasterMkLst>
        <pc:sldLayoutChg chg="del">
          <pc:chgData name="Kumar, Harendra (Cognizant)" userId="8b8433c2-3ce6-4e38-9e1b-c8afb18e9057" providerId="ADAL" clId="{9C4CD99B-EF1B-4C81-94B0-0A1924216EBF}" dt="2023-04-03T07:22:56.532" v="3883" actId="47"/>
          <pc:sldLayoutMkLst>
            <pc:docMk/>
            <pc:sldMasterMk cId="0" sldId="2147483648"/>
            <pc:sldLayoutMk cId="4086406886" sldId="2147483666"/>
          </pc:sldLayoutMkLst>
        </pc:sldLayoutChg>
      </pc:sldMasterChg>
    </pc:docChg>
  </pc:docChgLst>
  <pc:docChgLst>
    <pc:chgData name="Kumar, Harendra (Cognizant)" userId="8b8433c2-3ce6-4e38-9e1b-c8afb18e9057" providerId="ADAL" clId="{1A8CCD16-2660-4488-985E-3D0D747599E1}"/>
    <pc:docChg chg="custSel addSld modSld">
      <pc:chgData name="Kumar, Harendra (Cognizant)" userId="8b8433c2-3ce6-4e38-9e1b-c8afb18e9057" providerId="ADAL" clId="{1A8CCD16-2660-4488-985E-3D0D747599E1}" dt="2023-04-04T05:52:01.534" v="2124" actId="2"/>
      <pc:docMkLst>
        <pc:docMk/>
      </pc:docMkLst>
      <pc:sldChg chg="modSp mod">
        <pc:chgData name="Kumar, Harendra (Cognizant)" userId="8b8433c2-3ce6-4e38-9e1b-c8afb18e9057" providerId="ADAL" clId="{1A8CCD16-2660-4488-985E-3D0D747599E1}" dt="2023-04-03T10:22:42.237" v="84" actId="20577"/>
        <pc:sldMkLst>
          <pc:docMk/>
          <pc:sldMk cId="0" sldId="258"/>
        </pc:sldMkLst>
        <pc:spChg chg="mod">
          <ac:chgData name="Kumar, Harendra (Cognizant)" userId="8b8433c2-3ce6-4e38-9e1b-c8afb18e9057" providerId="ADAL" clId="{1A8CCD16-2660-4488-985E-3D0D747599E1}" dt="2023-04-03T10:22:42.237" v="84" actId="20577"/>
          <ac:spMkLst>
            <pc:docMk/>
            <pc:sldMk cId="0" sldId="258"/>
            <ac:spMk id="5" creationId="{00000000-0000-0000-0000-000000000000}"/>
          </ac:spMkLst>
        </pc:spChg>
        <pc:spChg chg="mod">
          <ac:chgData name="Kumar, Harendra (Cognizant)" userId="8b8433c2-3ce6-4e38-9e1b-c8afb18e9057" providerId="ADAL" clId="{1A8CCD16-2660-4488-985E-3D0D747599E1}" dt="2023-04-03T10:22:28.354" v="81" actId="255"/>
          <ac:spMkLst>
            <pc:docMk/>
            <pc:sldMk cId="0" sldId="258"/>
            <ac:spMk id="9" creationId="{E2B73E12-784C-7F90-DA48-6D0006E2601C}"/>
          </ac:spMkLst>
        </pc:spChg>
        <pc:picChg chg="mod">
          <ac:chgData name="Kumar, Harendra (Cognizant)" userId="8b8433c2-3ce6-4e38-9e1b-c8afb18e9057" providerId="ADAL" clId="{1A8CCD16-2660-4488-985E-3D0D747599E1}" dt="2023-04-03T10:21:37.538" v="0" actId="1076"/>
          <ac:picMkLst>
            <pc:docMk/>
            <pc:sldMk cId="0" sldId="258"/>
            <ac:picMk id="6" creationId="{7F0752E5-7035-0C32-C92B-70020742F100}"/>
          </ac:picMkLst>
        </pc:picChg>
      </pc:sldChg>
      <pc:sldChg chg="modSp mod">
        <pc:chgData name="Kumar, Harendra (Cognizant)" userId="8b8433c2-3ce6-4e38-9e1b-c8afb18e9057" providerId="ADAL" clId="{1A8CCD16-2660-4488-985E-3D0D747599E1}" dt="2023-04-03T10:23:34.344" v="86" actId="2711"/>
        <pc:sldMkLst>
          <pc:docMk/>
          <pc:sldMk cId="0" sldId="260"/>
        </pc:sldMkLst>
        <pc:spChg chg="mod">
          <ac:chgData name="Kumar, Harendra (Cognizant)" userId="8b8433c2-3ce6-4e38-9e1b-c8afb18e9057" providerId="ADAL" clId="{1A8CCD16-2660-4488-985E-3D0D747599E1}" dt="2023-04-03T10:23:34.344" v="86" actId="2711"/>
          <ac:spMkLst>
            <pc:docMk/>
            <pc:sldMk cId="0" sldId="260"/>
            <ac:spMk id="4" creationId="{93A0F582-DCEC-D980-FFA8-A6F1ED88539A}"/>
          </ac:spMkLst>
        </pc:spChg>
      </pc:sldChg>
      <pc:sldChg chg="modSp mod">
        <pc:chgData name="Kumar, Harendra (Cognizant)" userId="8b8433c2-3ce6-4e38-9e1b-c8afb18e9057" providerId="ADAL" clId="{1A8CCD16-2660-4488-985E-3D0D747599E1}" dt="2023-04-03T10:39:20.183" v="130" actId="20577"/>
        <pc:sldMkLst>
          <pc:docMk/>
          <pc:sldMk cId="4047161330" sldId="286"/>
        </pc:sldMkLst>
        <pc:spChg chg="mod">
          <ac:chgData name="Kumar, Harendra (Cognizant)" userId="8b8433c2-3ce6-4e38-9e1b-c8afb18e9057" providerId="ADAL" clId="{1A8CCD16-2660-4488-985E-3D0D747599E1}" dt="2023-04-03T10:39:20.183" v="130" actId="20577"/>
          <ac:spMkLst>
            <pc:docMk/>
            <pc:sldMk cId="4047161330" sldId="286"/>
            <ac:spMk id="10" creationId="{00000000-0000-0000-0000-000000000000}"/>
          </ac:spMkLst>
        </pc:spChg>
      </pc:sldChg>
      <pc:sldChg chg="modSp mod">
        <pc:chgData name="Kumar, Harendra (Cognizant)" userId="8b8433c2-3ce6-4e38-9e1b-c8afb18e9057" providerId="ADAL" clId="{1A8CCD16-2660-4488-985E-3D0D747599E1}" dt="2023-04-03T10:40:22.750" v="146" actId="20577"/>
        <pc:sldMkLst>
          <pc:docMk/>
          <pc:sldMk cId="2064697556" sldId="289"/>
        </pc:sldMkLst>
        <pc:spChg chg="mod">
          <ac:chgData name="Kumar, Harendra (Cognizant)" userId="8b8433c2-3ce6-4e38-9e1b-c8afb18e9057" providerId="ADAL" clId="{1A8CCD16-2660-4488-985E-3D0D747599E1}" dt="2023-04-03T10:40:22.750" v="146" actId="20577"/>
          <ac:spMkLst>
            <pc:docMk/>
            <pc:sldMk cId="2064697556" sldId="289"/>
            <ac:spMk id="17" creationId="{00000000-0000-0000-0000-000000000000}"/>
          </ac:spMkLst>
        </pc:spChg>
      </pc:sldChg>
      <pc:sldChg chg="addSp delSp modSp mod">
        <pc:chgData name="Kumar, Harendra (Cognizant)" userId="8b8433c2-3ce6-4e38-9e1b-c8afb18e9057" providerId="ADAL" clId="{1A8CCD16-2660-4488-985E-3D0D747599E1}" dt="2023-04-04T05:51:47.877" v="2121" actId="2"/>
        <pc:sldMkLst>
          <pc:docMk/>
          <pc:sldMk cId="3516052301" sldId="290"/>
        </pc:sldMkLst>
        <pc:spChg chg="mod">
          <ac:chgData name="Kumar, Harendra (Cognizant)" userId="8b8433c2-3ce6-4e38-9e1b-c8afb18e9057" providerId="ADAL" clId="{1A8CCD16-2660-4488-985E-3D0D747599E1}" dt="2023-04-04T05:51:47.877" v="2121" actId="2"/>
          <ac:spMkLst>
            <pc:docMk/>
            <pc:sldMk cId="3516052301" sldId="290"/>
            <ac:spMk id="7" creationId="{FECB05A3-091C-BB4C-293C-D91F24FAD8F1}"/>
          </ac:spMkLst>
        </pc:spChg>
        <pc:spChg chg="del mod">
          <ac:chgData name="Kumar, Harendra (Cognizant)" userId="8b8433c2-3ce6-4e38-9e1b-c8afb18e9057" providerId="ADAL" clId="{1A8CCD16-2660-4488-985E-3D0D747599E1}" dt="2023-04-03T10:43:45.136" v="188" actId="21"/>
          <ac:spMkLst>
            <pc:docMk/>
            <pc:sldMk cId="3516052301" sldId="290"/>
            <ac:spMk id="10" creationId="{00000000-0000-0000-0000-000000000000}"/>
          </ac:spMkLst>
        </pc:spChg>
        <pc:picChg chg="add mod">
          <ac:chgData name="Kumar, Harendra (Cognizant)" userId="8b8433c2-3ce6-4e38-9e1b-c8afb18e9057" providerId="ADAL" clId="{1A8CCD16-2660-4488-985E-3D0D747599E1}" dt="2023-04-03T10:51:38.830" v="355" actId="14100"/>
          <ac:picMkLst>
            <pc:docMk/>
            <pc:sldMk cId="3516052301" sldId="290"/>
            <ac:picMk id="3" creationId="{7BD2D7E6-917A-6160-90C4-2F4024D5B37B}"/>
          </ac:picMkLst>
        </pc:picChg>
        <pc:picChg chg="mod">
          <ac:chgData name="Kumar, Harendra (Cognizant)" userId="8b8433c2-3ce6-4e38-9e1b-c8afb18e9057" providerId="ADAL" clId="{1A8CCD16-2660-4488-985E-3D0D747599E1}" dt="2023-04-03T10:51:34.847" v="354" actId="14100"/>
          <ac:picMkLst>
            <pc:docMk/>
            <pc:sldMk cId="3516052301" sldId="290"/>
            <ac:picMk id="5" creationId="{8B45853E-0110-E1D0-9122-748124353568}"/>
          </ac:picMkLst>
        </pc:picChg>
        <pc:picChg chg="del">
          <ac:chgData name="Kumar, Harendra (Cognizant)" userId="8b8433c2-3ce6-4e38-9e1b-c8afb18e9057" providerId="ADAL" clId="{1A8CCD16-2660-4488-985E-3D0D747599E1}" dt="2023-04-03T10:43:40.804" v="186" actId="21"/>
          <ac:picMkLst>
            <pc:docMk/>
            <pc:sldMk cId="3516052301" sldId="290"/>
            <ac:picMk id="9" creationId="{77677CE2-7EB1-EA27-ECBB-DA6DDB641771}"/>
          </ac:picMkLst>
        </pc:picChg>
      </pc:sldChg>
      <pc:sldChg chg="modSp mod">
        <pc:chgData name="Kumar, Harendra (Cognizant)" userId="8b8433c2-3ce6-4e38-9e1b-c8afb18e9057" providerId="ADAL" clId="{1A8CCD16-2660-4488-985E-3D0D747599E1}" dt="2023-04-04T05:51:59.990" v="2123" actId="2"/>
        <pc:sldMkLst>
          <pc:docMk/>
          <pc:sldMk cId="1223559503" sldId="291"/>
        </pc:sldMkLst>
        <pc:spChg chg="mod">
          <ac:chgData name="Kumar, Harendra (Cognizant)" userId="8b8433c2-3ce6-4e38-9e1b-c8afb18e9057" providerId="ADAL" clId="{1A8CCD16-2660-4488-985E-3D0D747599E1}" dt="2023-04-04T05:51:59.990" v="2123" actId="2"/>
          <ac:spMkLst>
            <pc:docMk/>
            <pc:sldMk cId="1223559503" sldId="291"/>
            <ac:spMk id="6" creationId="{B4AA0405-CA4D-CA6B-047B-9822B03F17F5}"/>
          </ac:spMkLst>
        </pc:spChg>
        <pc:spChg chg="mod">
          <ac:chgData name="Kumar, Harendra (Cognizant)" userId="8b8433c2-3ce6-4e38-9e1b-c8afb18e9057" providerId="ADAL" clId="{1A8CCD16-2660-4488-985E-3D0D747599E1}" dt="2023-04-04T05:51:58.430" v="2122" actId="2"/>
          <ac:spMkLst>
            <pc:docMk/>
            <pc:sldMk cId="1223559503" sldId="291"/>
            <ac:spMk id="10" creationId="{00000000-0000-0000-0000-000000000000}"/>
          </ac:spMkLst>
        </pc:spChg>
        <pc:picChg chg="mod">
          <ac:chgData name="Kumar, Harendra (Cognizant)" userId="8b8433c2-3ce6-4e38-9e1b-c8afb18e9057" providerId="ADAL" clId="{1A8CCD16-2660-4488-985E-3D0D747599E1}" dt="2023-04-04T05:49:40.613" v="2117" actId="1036"/>
          <ac:picMkLst>
            <pc:docMk/>
            <pc:sldMk cId="1223559503" sldId="291"/>
            <ac:picMk id="2" creationId="{BD2BA625-28D8-D1DD-D9C4-19A175FC7279}"/>
          </ac:picMkLst>
        </pc:picChg>
        <pc:picChg chg="mod">
          <ac:chgData name="Kumar, Harendra (Cognizant)" userId="8b8433c2-3ce6-4e38-9e1b-c8afb18e9057" providerId="ADAL" clId="{1A8CCD16-2660-4488-985E-3D0D747599E1}" dt="2023-04-04T05:49:42.490" v="2120" actId="1036"/>
          <ac:picMkLst>
            <pc:docMk/>
            <pc:sldMk cId="1223559503" sldId="291"/>
            <ac:picMk id="3" creationId="{3A52B991-812D-36F8-572E-E63FC7DF49DE}"/>
          </ac:picMkLst>
        </pc:picChg>
      </pc:sldChg>
      <pc:sldChg chg="modSp mod">
        <pc:chgData name="Kumar, Harendra (Cognizant)" userId="8b8433c2-3ce6-4e38-9e1b-c8afb18e9057" providerId="ADAL" clId="{1A8CCD16-2660-4488-985E-3D0D747599E1}" dt="2023-04-04T05:52:01.534" v="2124" actId="2"/>
        <pc:sldMkLst>
          <pc:docMk/>
          <pc:sldMk cId="785725705" sldId="292"/>
        </pc:sldMkLst>
        <pc:spChg chg="mod">
          <ac:chgData name="Kumar, Harendra (Cognizant)" userId="8b8433c2-3ce6-4e38-9e1b-c8afb18e9057" providerId="ADAL" clId="{1A8CCD16-2660-4488-985E-3D0D747599E1}" dt="2023-04-04T05:52:01.534" v="2124" actId="2"/>
          <ac:spMkLst>
            <pc:docMk/>
            <pc:sldMk cId="785725705" sldId="292"/>
            <ac:spMk id="10" creationId="{00000000-0000-0000-0000-000000000000}"/>
          </ac:spMkLst>
        </pc:spChg>
        <pc:spChg chg="mod">
          <ac:chgData name="Kumar, Harendra (Cognizant)" userId="8b8433c2-3ce6-4e38-9e1b-c8afb18e9057" providerId="ADAL" clId="{1A8CCD16-2660-4488-985E-3D0D747599E1}" dt="2023-04-03T10:53:26.252" v="367" actId="20577"/>
          <ac:spMkLst>
            <pc:docMk/>
            <pc:sldMk cId="785725705" sldId="292"/>
            <ac:spMk id="17" creationId="{00000000-0000-0000-0000-000000000000}"/>
          </ac:spMkLst>
        </pc:spChg>
      </pc:sldChg>
      <pc:sldChg chg="delSp modSp add mod">
        <pc:chgData name="Kumar, Harendra (Cognizant)" userId="8b8433c2-3ce6-4e38-9e1b-c8afb18e9057" providerId="ADAL" clId="{1A8CCD16-2660-4488-985E-3D0D747599E1}" dt="2023-04-03T10:51:59.412" v="357" actId="115"/>
        <pc:sldMkLst>
          <pc:docMk/>
          <pc:sldMk cId="1456905060" sldId="293"/>
        </pc:sldMkLst>
        <pc:spChg chg="del">
          <ac:chgData name="Kumar, Harendra (Cognizant)" userId="8b8433c2-3ce6-4e38-9e1b-c8afb18e9057" providerId="ADAL" clId="{1A8CCD16-2660-4488-985E-3D0D747599E1}" dt="2023-04-03T10:43:05.747" v="174" actId="21"/>
          <ac:spMkLst>
            <pc:docMk/>
            <pc:sldMk cId="1456905060" sldId="293"/>
            <ac:spMk id="6" creationId="{36C18FB9-59E7-96B5-9936-83F3B55F38E2}"/>
          </ac:spMkLst>
        </pc:spChg>
        <pc:spChg chg="del mod">
          <ac:chgData name="Kumar, Harendra (Cognizant)" userId="8b8433c2-3ce6-4e38-9e1b-c8afb18e9057" providerId="ADAL" clId="{1A8CCD16-2660-4488-985E-3D0D747599E1}" dt="2023-04-03T10:43:02.425" v="173" actId="21"/>
          <ac:spMkLst>
            <pc:docMk/>
            <pc:sldMk cId="1456905060" sldId="293"/>
            <ac:spMk id="7" creationId="{FECB05A3-091C-BB4C-293C-D91F24FAD8F1}"/>
          </ac:spMkLst>
        </pc:spChg>
        <pc:spChg chg="mod">
          <ac:chgData name="Kumar, Harendra (Cognizant)" userId="8b8433c2-3ce6-4e38-9e1b-c8afb18e9057" providerId="ADAL" clId="{1A8CCD16-2660-4488-985E-3D0D747599E1}" dt="2023-04-03T10:51:59.412" v="357" actId="115"/>
          <ac:spMkLst>
            <pc:docMk/>
            <pc:sldMk cId="1456905060" sldId="293"/>
            <ac:spMk id="10" creationId="{00000000-0000-0000-0000-000000000000}"/>
          </ac:spMkLst>
        </pc:spChg>
        <pc:picChg chg="del">
          <ac:chgData name="Kumar, Harendra (Cognizant)" userId="8b8433c2-3ce6-4e38-9e1b-c8afb18e9057" providerId="ADAL" clId="{1A8CCD16-2660-4488-985E-3D0D747599E1}" dt="2023-04-03T10:42:59.412" v="171" actId="21"/>
          <ac:picMkLst>
            <pc:docMk/>
            <pc:sldMk cId="1456905060" sldId="293"/>
            <ac:picMk id="5" creationId="{8B45853E-0110-E1D0-9122-748124353568}"/>
          </ac:picMkLst>
        </pc:picChg>
        <pc:picChg chg="mod">
          <ac:chgData name="Kumar, Harendra (Cognizant)" userId="8b8433c2-3ce6-4e38-9e1b-c8afb18e9057" providerId="ADAL" clId="{1A8CCD16-2660-4488-985E-3D0D747599E1}" dt="2023-04-03T10:43:32.985" v="185" actId="1035"/>
          <ac:picMkLst>
            <pc:docMk/>
            <pc:sldMk cId="1456905060" sldId="293"/>
            <ac:picMk id="9" creationId="{77677CE2-7EB1-EA27-ECBB-DA6DDB641771}"/>
          </ac:picMkLst>
        </pc:picChg>
      </pc:sldChg>
      <pc:sldChg chg="delSp modSp add mod">
        <pc:chgData name="Kumar, Harendra (Cognizant)" userId="8b8433c2-3ce6-4e38-9e1b-c8afb18e9057" providerId="ADAL" clId="{1A8CCD16-2660-4488-985E-3D0D747599E1}" dt="2023-04-03T11:01:11.658" v="733" actId="1036"/>
        <pc:sldMkLst>
          <pc:docMk/>
          <pc:sldMk cId="367818717" sldId="294"/>
        </pc:sldMkLst>
        <pc:spChg chg="del mod">
          <ac:chgData name="Kumar, Harendra (Cognizant)" userId="8b8433c2-3ce6-4e38-9e1b-c8afb18e9057" providerId="ADAL" clId="{1A8CCD16-2660-4488-985E-3D0D747599E1}" dt="2023-04-03T11:00:17.287" v="714" actId="21"/>
          <ac:spMkLst>
            <pc:docMk/>
            <pc:sldMk cId="367818717" sldId="294"/>
            <ac:spMk id="10" creationId="{00000000-0000-0000-0000-000000000000}"/>
          </ac:spMkLst>
        </pc:spChg>
        <pc:spChg chg="mod">
          <ac:chgData name="Kumar, Harendra (Cognizant)" userId="8b8433c2-3ce6-4e38-9e1b-c8afb18e9057" providerId="ADAL" clId="{1A8CCD16-2660-4488-985E-3D0D747599E1}" dt="2023-04-03T11:01:11.658" v="733" actId="1036"/>
          <ac:spMkLst>
            <pc:docMk/>
            <pc:sldMk cId="367818717" sldId="294"/>
            <ac:spMk id="17" creationId="{00000000-0000-0000-0000-000000000000}"/>
          </ac:spMkLst>
        </pc:spChg>
      </pc:sldChg>
    </pc:docChg>
  </pc:docChgLst>
</pc:chgInfo>
</file>

<file path=ppt/diagrams/colors1.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8.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9.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0.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1.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2.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3.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4.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5.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6.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7.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8.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9.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0.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1.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2.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3.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4.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5.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6.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7.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8.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9.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0.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1.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2.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3.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4.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5.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6.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7.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8.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9.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0.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1.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2.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3.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4.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5.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6.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7.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8.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9.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0.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1.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2.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3.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4.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5.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6.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7.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8.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9.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0.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1.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2.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3.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4.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5.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6.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7.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8.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9.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0.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1.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2.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3.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4.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5.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6.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7.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8.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9.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80.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81.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82.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83.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84.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85.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dgm:spPr/>
      <dgm:t>
        <a:bodyPr/>
        <a:lstStyle/>
        <a:p>
          <a:r>
            <a:rPr lang="en-GB" b="1" i="0"/>
            <a:t>TDD</a:t>
          </a:r>
          <a:r>
            <a:rPr lang="en-GB" b="1" i="0" dirty="0"/>
            <a:t>, BDD, </a:t>
          </a:r>
          <a:r>
            <a:rPr lang="en-GB" b="1" i="0" dirty="0" err="1"/>
            <a:t>DevSecOps</a:t>
          </a:r>
          <a:r>
            <a:rPr lang="en-GB" b="1" i="0" dirty="0"/>
            <a:t>, SRE And </a:t>
          </a:r>
          <a:r>
            <a:rPr lang="en-GB" b="1" i="0" dirty="0" err="1"/>
            <a:t>VSCode</a:t>
          </a:r>
          <a:r>
            <a:rPr lang="en-GB" b="1" i="0" dirty="0"/>
            <a:t> </a:t>
          </a:r>
          <a:r>
            <a:rPr lang="en-US" b="1" i="0" dirty="0"/>
            <a:t>(Refresher)</a:t>
          </a:r>
          <a:endParaRPr lang="en-US" dirty="0"/>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dgm:spPr/>
      <dgm:t>
        <a:bodyPr/>
        <a:lstStyle/>
        <a:p>
          <a:r>
            <a:rPr lang="en-US" b="1" i="0" dirty="0"/>
            <a:t>TDD Basics</a:t>
          </a:r>
          <a:endParaRPr lang="en-US" dirty="0"/>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LinFactNeighborY="-14971">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dgm:spPr/>
      <dgm:t>
        <a:bodyPr/>
        <a:lstStyle/>
        <a:p>
          <a:r>
            <a:rPr lang="en-US" b="1" i="0" dirty="0"/>
            <a:t>TDD Basics</a:t>
          </a:r>
          <a:endParaRPr lang="en-US" dirty="0"/>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LinFactNeighborY="-14971">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dgm:spPr/>
      <dgm:t>
        <a:bodyPr/>
        <a:lstStyle/>
        <a:p>
          <a:r>
            <a:rPr lang="en-US" b="1" i="0" dirty="0"/>
            <a:t>TDD Basics</a:t>
          </a:r>
          <a:endParaRPr lang="en-US" dirty="0"/>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LinFactNeighborY="-14971">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dgm:spPr/>
      <dgm:t>
        <a:bodyPr/>
        <a:lstStyle/>
        <a:p>
          <a:r>
            <a:rPr lang="en-US" b="1" i="0" dirty="0"/>
            <a:t>TDD Basics</a:t>
          </a:r>
          <a:endParaRPr lang="en-US" dirty="0"/>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LinFactNeighborY="-14971">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dgm:spPr/>
      <dgm:t>
        <a:bodyPr/>
        <a:lstStyle/>
        <a:p>
          <a:r>
            <a:rPr lang="en-US" b="1" i="0" dirty="0"/>
            <a:t>TDD- </a:t>
          </a:r>
          <a:r>
            <a:rPr lang="en-US" b="1" i="0" dirty="0" err="1"/>
            <a:t>AutoFixture</a:t>
          </a:r>
          <a:endParaRPr lang="en-US" dirty="0"/>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ScaleY="51324" custLinFactNeighborY="-13941">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7.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dgm:spPr/>
      <dgm:t>
        <a:bodyPr/>
        <a:lstStyle/>
        <a:p>
          <a:r>
            <a:rPr lang="en-US" b="1" i="0" dirty="0"/>
            <a:t>TDD- </a:t>
          </a:r>
          <a:r>
            <a:rPr lang="en-US" b="1" i="0" dirty="0" err="1"/>
            <a:t>AutoFixture</a:t>
          </a:r>
          <a:endParaRPr lang="en-US" dirty="0"/>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ScaleY="51324" custLinFactNeighborY="-13941">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8.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dgm:spPr/>
      <dgm:t>
        <a:bodyPr/>
        <a:lstStyle/>
        <a:p>
          <a:r>
            <a:rPr lang="en-US" b="1" i="0" dirty="0"/>
            <a:t>TDD- </a:t>
          </a:r>
          <a:r>
            <a:rPr lang="en-US" b="1" i="0" dirty="0" err="1"/>
            <a:t>Nsubstitue</a:t>
          </a:r>
          <a:endParaRPr lang="en-US" dirty="0"/>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ScaleY="90620" custLinFactNeighborY="-9944">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9.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dgm:spPr/>
      <dgm:t>
        <a:bodyPr/>
        <a:lstStyle/>
        <a:p>
          <a:r>
            <a:rPr lang="en-US" b="1" i="0" dirty="0"/>
            <a:t>TDD - </a:t>
          </a:r>
          <a:r>
            <a:rPr lang="en-US" b="1" i="0" dirty="0" err="1"/>
            <a:t>Persistance</a:t>
          </a:r>
          <a:endParaRPr lang="en-US" dirty="0"/>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ScaleY="107023" custLinFactNeighborY="1117">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0.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dgm:spPr/>
      <dgm:t>
        <a:bodyPr/>
        <a:lstStyle/>
        <a:p>
          <a:r>
            <a:rPr lang="en-US" b="1" i="0" dirty="0"/>
            <a:t>TDD - </a:t>
          </a:r>
          <a:r>
            <a:rPr lang="en-US" b="1" i="0" dirty="0" err="1"/>
            <a:t>Persistance</a:t>
          </a:r>
          <a:endParaRPr lang="en-US" dirty="0"/>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ScaleY="107023" custLinFactNeighborY="1117">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1.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dgm:spPr/>
      <dgm:t>
        <a:bodyPr/>
        <a:lstStyle/>
        <a:p>
          <a:r>
            <a:rPr lang="en-US" b="1" i="0" dirty="0"/>
            <a:t>TDD – Mocking &amp; Unit Testing Static Classes, Variables and Methods</a:t>
          </a:r>
          <a:endParaRPr lang="en-US" dirty="0"/>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ScaleY="107023" custLinFactNeighborY="1117">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2.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dgm:spPr/>
      <dgm:t>
        <a:bodyPr/>
        <a:lstStyle/>
        <a:p>
          <a:r>
            <a:rPr lang="en-US" b="1" i="0" dirty="0"/>
            <a:t>TDD – Some Tricky ASP.NET Core Constructs</a:t>
          </a:r>
          <a:endParaRPr lang="en-US" dirty="0"/>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ScaleY="107023" custLinFactNeighborY="1117">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3.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dgm:spPr/>
      <dgm:t>
        <a:bodyPr/>
        <a:lstStyle/>
        <a:p>
          <a:r>
            <a:rPr lang="en-US" b="1" i="0" dirty="0"/>
            <a:t>TDD – EF Core Testing Strategies</a:t>
          </a:r>
          <a:endParaRPr lang="en-US" dirty="0"/>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ScaleY="107023" custLinFactNeighborY="1117">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4.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dgm:spPr/>
      <dgm:t>
        <a:bodyPr/>
        <a:lstStyle/>
        <a:p>
          <a:r>
            <a:rPr lang="en-US" b="1" i="0" dirty="0"/>
            <a:t>TDD – Some Mocking &amp; Unit Testing Use Cases in EF Core</a:t>
          </a:r>
          <a:endParaRPr lang="en-US" dirty="0"/>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ScaleY="107023" custLinFactNeighborY="1117">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5.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dgm:spPr/>
      <dgm:t>
        <a:bodyPr/>
        <a:lstStyle/>
        <a:p>
          <a:r>
            <a:rPr lang="en-US" b="1" i="0" dirty="0"/>
            <a:t>BDD- Basics</a:t>
          </a:r>
          <a:endParaRPr lang="en-US" dirty="0"/>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ScaleY="107023" custLinFactNeighborY="1117">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6.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dgm:spPr/>
      <dgm:t>
        <a:bodyPr/>
        <a:lstStyle/>
        <a:p>
          <a:r>
            <a:rPr lang="en-US" b="1" i="0" dirty="0"/>
            <a:t>BDD- Gherkin</a:t>
          </a:r>
          <a:endParaRPr lang="en-US" dirty="0"/>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ScaleY="107023" custLinFactNeighborY="1117">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7.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dgm:spPr/>
      <dgm:t>
        <a:bodyPr/>
        <a:lstStyle/>
        <a:p>
          <a:r>
            <a:rPr lang="en-US" b="1" i="0" dirty="0"/>
            <a:t>BDD- ASP.NET Core Integration Testing Techniques</a:t>
          </a:r>
          <a:endParaRPr lang="en-US" dirty="0"/>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ScaleY="107023" custLinFactNeighborY="1117">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8.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dgm:spPr/>
      <dgm:t>
        <a:bodyPr/>
        <a:lstStyle/>
        <a:p>
          <a:r>
            <a:rPr lang="en-US" b="1" i="0" dirty="0"/>
            <a:t>BDD- ASP.NET Core Integration Testing Techniques</a:t>
          </a:r>
          <a:endParaRPr lang="en-US" dirty="0"/>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ScaleY="107023" custLinFactNeighborY="1117">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9.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dgm:spPr/>
      <dgm:t>
        <a:bodyPr/>
        <a:lstStyle/>
        <a:p>
          <a:r>
            <a:rPr lang="en-US" b="1" i="0" dirty="0"/>
            <a:t>TD &amp; BDD- Katas</a:t>
          </a:r>
          <a:endParaRPr lang="en-US" dirty="0"/>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ScaleY="107023" custLinFactNeighborY="1117">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0.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custT="1"/>
      <dgm:spPr/>
      <dgm:t>
        <a:bodyPr/>
        <a:lstStyle/>
        <a:p>
          <a:r>
            <a:rPr lang="en-US" sz="2800" kern="1200" dirty="0" err="1">
              <a:solidFill>
                <a:prstClr val="white"/>
              </a:solidFill>
              <a:latin typeface="Calibri"/>
              <a:ea typeface="+mn-ea"/>
              <a:cs typeface="+mn-cs"/>
            </a:rPr>
            <a:t>DevSecOps</a:t>
          </a:r>
          <a:endParaRPr lang="en-US" sz="2800" kern="1200" dirty="0">
            <a:solidFill>
              <a:prstClr val="white"/>
            </a:solidFill>
            <a:latin typeface="Calibri"/>
            <a:ea typeface="+mn-ea"/>
            <a:cs typeface="+mn-cs"/>
          </a:endParaRP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ScaleY="36184" custLinFactNeighborY="-14971">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1.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custT="1"/>
      <dgm:spPr/>
      <dgm:t>
        <a:bodyPr/>
        <a:lstStyle/>
        <a:p>
          <a:r>
            <a:rPr lang="en-US" sz="2800" kern="1200" dirty="0" err="1">
              <a:solidFill>
                <a:prstClr val="white"/>
              </a:solidFill>
              <a:latin typeface="Calibri"/>
              <a:ea typeface="+mn-ea"/>
              <a:cs typeface="+mn-cs"/>
            </a:rPr>
            <a:t>DevSecOps</a:t>
          </a:r>
          <a:endParaRPr lang="en-US" sz="2800" kern="1200" dirty="0">
            <a:solidFill>
              <a:prstClr val="white"/>
            </a:solidFill>
            <a:latin typeface="Calibri"/>
            <a:ea typeface="+mn-ea"/>
            <a:cs typeface="+mn-cs"/>
          </a:endParaRP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ScaleY="36184" custLinFactNeighborY="-14971">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2.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custT="1"/>
      <dgm:spPr/>
      <dgm:t>
        <a:bodyPr/>
        <a:lstStyle/>
        <a:p>
          <a:r>
            <a:rPr lang="en-US" sz="2800" kern="1200" dirty="0" err="1">
              <a:solidFill>
                <a:prstClr val="white"/>
              </a:solidFill>
              <a:latin typeface="Calibri"/>
              <a:ea typeface="+mn-ea"/>
              <a:cs typeface="+mn-cs"/>
            </a:rPr>
            <a:t>DevSecOps</a:t>
          </a:r>
          <a:endParaRPr lang="en-US" sz="2800" kern="1200" dirty="0">
            <a:solidFill>
              <a:prstClr val="white"/>
            </a:solidFill>
            <a:latin typeface="Calibri"/>
            <a:ea typeface="+mn-ea"/>
            <a:cs typeface="+mn-cs"/>
          </a:endParaRP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ScaleY="36184" custLinFactNeighborY="-14971">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3.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custT="1"/>
      <dgm:spPr/>
      <dgm:t>
        <a:bodyPr/>
        <a:lstStyle/>
        <a:p>
          <a:r>
            <a:rPr lang="en-US" sz="2800" kern="1200" dirty="0" err="1">
              <a:solidFill>
                <a:prstClr val="white"/>
              </a:solidFill>
              <a:latin typeface="Calibri"/>
              <a:ea typeface="+mn-ea"/>
              <a:cs typeface="+mn-cs"/>
            </a:rPr>
            <a:t>DevSecOps</a:t>
          </a:r>
          <a:endParaRPr lang="en-US" sz="2800" kern="1200" dirty="0">
            <a:solidFill>
              <a:prstClr val="white"/>
            </a:solidFill>
            <a:latin typeface="Calibri"/>
            <a:ea typeface="+mn-ea"/>
            <a:cs typeface="+mn-cs"/>
          </a:endParaRP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ScaleY="36184" custLinFactNeighborY="-14971">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4.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custT="1"/>
      <dgm:spPr/>
      <dgm:t>
        <a:bodyPr/>
        <a:lstStyle/>
        <a:p>
          <a:r>
            <a:rPr lang="en-US" sz="2800" kern="1200" dirty="0" err="1">
              <a:solidFill>
                <a:prstClr val="white"/>
              </a:solidFill>
              <a:latin typeface="Calibri"/>
              <a:ea typeface="+mn-ea"/>
              <a:cs typeface="+mn-cs"/>
            </a:rPr>
            <a:t>DevSecOps</a:t>
          </a:r>
          <a:endParaRPr lang="en-US" sz="2800" kern="1200" dirty="0">
            <a:solidFill>
              <a:prstClr val="white"/>
            </a:solidFill>
            <a:latin typeface="Calibri"/>
            <a:ea typeface="+mn-ea"/>
            <a:cs typeface="+mn-cs"/>
          </a:endParaRP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ScaleY="36184" custLinFactNeighborY="-14971">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5.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custT="1"/>
      <dgm:spPr/>
      <dgm:t>
        <a:bodyPr/>
        <a:lstStyle/>
        <a:p>
          <a:r>
            <a:rPr lang="en-US" sz="2800" kern="1200" dirty="0" err="1">
              <a:solidFill>
                <a:prstClr val="white"/>
              </a:solidFill>
              <a:latin typeface="Calibri"/>
              <a:ea typeface="+mn-ea"/>
              <a:cs typeface="+mn-cs"/>
            </a:rPr>
            <a:t>DevSecOps</a:t>
          </a:r>
          <a:endParaRPr lang="en-US" sz="2800" kern="1200" dirty="0">
            <a:solidFill>
              <a:prstClr val="white"/>
            </a:solidFill>
            <a:latin typeface="Calibri"/>
            <a:ea typeface="+mn-ea"/>
            <a:cs typeface="+mn-cs"/>
          </a:endParaRP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ScaleY="36184" custLinFactNeighborY="-14971">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6.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custT="1"/>
      <dgm:spPr/>
      <dgm:t>
        <a:bodyPr/>
        <a:lstStyle/>
        <a:p>
          <a:r>
            <a:rPr lang="en-US" sz="2800" kern="1200" dirty="0" err="1">
              <a:solidFill>
                <a:prstClr val="white"/>
              </a:solidFill>
              <a:latin typeface="Calibri"/>
              <a:ea typeface="+mn-ea"/>
              <a:cs typeface="+mn-cs"/>
            </a:rPr>
            <a:t>DevSecOps</a:t>
          </a:r>
          <a:endParaRPr lang="en-US" sz="2800" kern="1200" dirty="0">
            <a:solidFill>
              <a:prstClr val="white"/>
            </a:solidFill>
            <a:latin typeface="Calibri"/>
            <a:ea typeface="+mn-ea"/>
            <a:cs typeface="+mn-cs"/>
          </a:endParaRP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ScaleY="36184" custLinFactNeighborY="-14971">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7.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custT="1"/>
      <dgm:spPr/>
      <dgm:t>
        <a:bodyPr/>
        <a:lstStyle/>
        <a:p>
          <a:r>
            <a:rPr lang="en-US" sz="2800" kern="1200" dirty="0" err="1">
              <a:solidFill>
                <a:prstClr val="white"/>
              </a:solidFill>
              <a:latin typeface="Calibri"/>
              <a:ea typeface="+mn-ea"/>
              <a:cs typeface="+mn-cs"/>
            </a:rPr>
            <a:t>DevSecOps</a:t>
          </a:r>
          <a:endParaRPr lang="en-US" sz="2800" kern="1200" dirty="0">
            <a:solidFill>
              <a:prstClr val="white"/>
            </a:solidFill>
            <a:latin typeface="Calibri"/>
            <a:ea typeface="+mn-ea"/>
            <a:cs typeface="+mn-cs"/>
          </a:endParaRP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ScaleY="36184" custLinFactNeighborY="-14971">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8.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custT="1"/>
      <dgm:spPr/>
      <dgm:t>
        <a:bodyPr/>
        <a:lstStyle/>
        <a:p>
          <a:r>
            <a:rPr lang="en-US" sz="2800" kern="1200" dirty="0" err="1">
              <a:solidFill>
                <a:prstClr val="white"/>
              </a:solidFill>
              <a:latin typeface="Calibri"/>
              <a:ea typeface="+mn-ea"/>
              <a:cs typeface="+mn-cs"/>
            </a:rPr>
            <a:t>DevSecOps</a:t>
          </a:r>
          <a:endParaRPr lang="en-US" sz="2800" kern="1200" dirty="0">
            <a:solidFill>
              <a:prstClr val="white"/>
            </a:solidFill>
            <a:latin typeface="Calibri"/>
            <a:ea typeface="+mn-ea"/>
            <a:cs typeface="+mn-cs"/>
          </a:endParaRP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ScaleY="36184" custLinFactNeighborY="-14971">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9.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custT="1"/>
      <dgm:spPr/>
      <dgm:t>
        <a:bodyPr/>
        <a:lstStyle/>
        <a:p>
          <a:r>
            <a:rPr lang="en-US" sz="2800" kern="1200" dirty="0" err="1">
              <a:solidFill>
                <a:prstClr val="white"/>
              </a:solidFill>
              <a:latin typeface="Calibri"/>
              <a:ea typeface="+mn-ea"/>
              <a:cs typeface="+mn-cs"/>
            </a:rPr>
            <a:t>DevSecOps</a:t>
          </a:r>
          <a:endParaRPr lang="en-US" sz="2800" kern="1200" dirty="0">
            <a:solidFill>
              <a:prstClr val="white"/>
            </a:solidFill>
            <a:latin typeface="Calibri"/>
            <a:ea typeface="+mn-ea"/>
            <a:cs typeface="+mn-cs"/>
          </a:endParaRP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ScaleY="36184" custLinFactNeighborY="-14971">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0.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custT="1"/>
      <dgm:spPr/>
      <dgm:t>
        <a:bodyPr/>
        <a:lstStyle/>
        <a:p>
          <a:r>
            <a:rPr lang="en-US" sz="2800" kern="1200" dirty="0" err="1">
              <a:solidFill>
                <a:prstClr val="white"/>
              </a:solidFill>
              <a:latin typeface="Calibri"/>
              <a:ea typeface="+mn-ea"/>
              <a:cs typeface="+mn-cs"/>
            </a:rPr>
            <a:t>DevSecOps</a:t>
          </a:r>
          <a:endParaRPr lang="en-US" sz="2800" kern="1200" dirty="0">
            <a:solidFill>
              <a:prstClr val="white"/>
            </a:solidFill>
            <a:latin typeface="Calibri"/>
            <a:ea typeface="+mn-ea"/>
            <a:cs typeface="+mn-cs"/>
          </a:endParaRP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ScaleY="36184" custLinFactNeighborY="-14971">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1.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custT="1"/>
      <dgm:spPr/>
      <dgm:t>
        <a:bodyPr/>
        <a:lstStyle/>
        <a:p>
          <a:r>
            <a:rPr lang="en-US" sz="2800" kern="1200" dirty="0" err="1">
              <a:solidFill>
                <a:prstClr val="white"/>
              </a:solidFill>
              <a:latin typeface="Calibri"/>
              <a:ea typeface="+mn-ea"/>
              <a:cs typeface="+mn-cs"/>
            </a:rPr>
            <a:t>DevSecOps</a:t>
          </a:r>
          <a:endParaRPr lang="en-US" sz="2800" kern="1200" dirty="0">
            <a:solidFill>
              <a:prstClr val="white"/>
            </a:solidFill>
            <a:latin typeface="Calibri"/>
            <a:ea typeface="+mn-ea"/>
            <a:cs typeface="+mn-cs"/>
          </a:endParaRP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ScaleY="36184" custLinFactNeighborY="17477">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2.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custT="1"/>
      <dgm:spPr/>
      <dgm:t>
        <a:bodyPr/>
        <a:lstStyle/>
        <a:p>
          <a:r>
            <a:rPr lang="en-US" sz="2800" kern="1200" dirty="0" err="1">
              <a:solidFill>
                <a:prstClr val="white"/>
              </a:solidFill>
              <a:latin typeface="Calibri"/>
              <a:ea typeface="+mn-ea"/>
              <a:cs typeface="+mn-cs"/>
            </a:rPr>
            <a:t>DevSecOps</a:t>
          </a:r>
          <a:endParaRPr lang="en-US" sz="2800" kern="1200" dirty="0">
            <a:solidFill>
              <a:prstClr val="white"/>
            </a:solidFill>
            <a:latin typeface="Calibri"/>
            <a:ea typeface="+mn-ea"/>
            <a:cs typeface="+mn-cs"/>
          </a:endParaRP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ScaleY="36184" custLinFactNeighborY="-14971">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3.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custT="1"/>
      <dgm:spPr/>
      <dgm:t>
        <a:bodyPr/>
        <a:lstStyle/>
        <a:p>
          <a:r>
            <a:rPr lang="en-US" sz="2800" kern="1200" dirty="0" err="1">
              <a:solidFill>
                <a:prstClr val="white"/>
              </a:solidFill>
              <a:latin typeface="Calibri"/>
              <a:ea typeface="+mn-ea"/>
              <a:cs typeface="+mn-cs"/>
            </a:rPr>
            <a:t>DevSecOps</a:t>
          </a:r>
          <a:endParaRPr lang="en-US" sz="2800" kern="1200" dirty="0">
            <a:solidFill>
              <a:prstClr val="white"/>
            </a:solidFill>
            <a:latin typeface="Calibri"/>
            <a:ea typeface="+mn-ea"/>
            <a:cs typeface="+mn-cs"/>
          </a:endParaRP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ScaleY="36184" custLinFactNeighborY="-14971">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4.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custT="1"/>
      <dgm:spPr/>
      <dgm:t>
        <a:bodyPr/>
        <a:lstStyle/>
        <a:p>
          <a:r>
            <a:rPr lang="en-US" sz="2800" kern="1200" dirty="0" err="1">
              <a:solidFill>
                <a:prstClr val="white"/>
              </a:solidFill>
              <a:latin typeface="Calibri"/>
              <a:ea typeface="+mn-ea"/>
              <a:cs typeface="+mn-cs"/>
            </a:rPr>
            <a:t>DevSecOps</a:t>
          </a:r>
          <a:endParaRPr lang="en-US" sz="2800" kern="1200" dirty="0">
            <a:solidFill>
              <a:prstClr val="white"/>
            </a:solidFill>
            <a:latin typeface="Calibri"/>
            <a:ea typeface="+mn-ea"/>
            <a:cs typeface="+mn-cs"/>
          </a:endParaRP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ScaleY="36184" custLinFactY="82507" custLinFactNeighborX="4167" custLinFactNeighborY="100000">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5.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custT="1"/>
      <dgm:spPr/>
      <dgm:t>
        <a:bodyPr/>
        <a:lstStyle/>
        <a:p>
          <a:r>
            <a:rPr lang="en-US" sz="2800" kern="1200" dirty="0" err="1">
              <a:solidFill>
                <a:prstClr val="white"/>
              </a:solidFill>
              <a:latin typeface="Calibri"/>
              <a:ea typeface="+mn-ea"/>
              <a:cs typeface="+mn-cs"/>
            </a:rPr>
            <a:t>DevSecOps</a:t>
          </a:r>
          <a:endParaRPr lang="en-US" sz="2800" kern="1200" dirty="0">
            <a:solidFill>
              <a:prstClr val="white"/>
            </a:solidFill>
            <a:latin typeface="Calibri"/>
            <a:ea typeface="+mn-ea"/>
            <a:cs typeface="+mn-cs"/>
          </a:endParaRP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ScaleY="36184" custLinFactNeighborY="-14971">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6.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custT="1"/>
      <dgm:spPr/>
      <dgm:t>
        <a:bodyPr/>
        <a:lstStyle/>
        <a:p>
          <a:r>
            <a:rPr lang="en-US" sz="2800" kern="1200" dirty="0" err="1">
              <a:solidFill>
                <a:prstClr val="white"/>
              </a:solidFill>
              <a:latin typeface="Calibri"/>
              <a:ea typeface="+mn-ea"/>
              <a:cs typeface="+mn-cs"/>
            </a:rPr>
            <a:t>DevSecOps</a:t>
          </a:r>
          <a:endParaRPr lang="en-US" sz="2800" kern="1200" dirty="0">
            <a:solidFill>
              <a:prstClr val="white"/>
            </a:solidFill>
            <a:latin typeface="Calibri"/>
            <a:ea typeface="+mn-ea"/>
            <a:cs typeface="+mn-cs"/>
          </a:endParaRP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ScaleY="36184" custLinFactNeighborY="-14971">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7.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custT="1"/>
      <dgm:spPr/>
      <dgm:t>
        <a:bodyPr/>
        <a:lstStyle/>
        <a:p>
          <a:r>
            <a:rPr lang="en-US" sz="2800" kern="1200" dirty="0" err="1">
              <a:solidFill>
                <a:prstClr val="white"/>
              </a:solidFill>
              <a:latin typeface="Calibri"/>
              <a:ea typeface="+mn-ea"/>
              <a:cs typeface="+mn-cs"/>
            </a:rPr>
            <a:t>DevSecOps</a:t>
          </a:r>
          <a:endParaRPr lang="en-US" sz="2800" kern="1200" dirty="0">
            <a:solidFill>
              <a:prstClr val="white"/>
            </a:solidFill>
            <a:latin typeface="Calibri"/>
            <a:ea typeface="+mn-ea"/>
            <a:cs typeface="+mn-cs"/>
          </a:endParaRP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ScaleY="36184" custLinFactNeighborY="-14971">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8.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custT="1"/>
      <dgm:spPr/>
      <dgm:t>
        <a:bodyPr/>
        <a:lstStyle/>
        <a:p>
          <a:r>
            <a:rPr lang="en-US" sz="2800" kern="1200" dirty="0" err="1">
              <a:solidFill>
                <a:prstClr val="white"/>
              </a:solidFill>
              <a:latin typeface="Calibri"/>
              <a:ea typeface="+mn-ea"/>
              <a:cs typeface="+mn-cs"/>
            </a:rPr>
            <a:t>DevSecOps</a:t>
          </a:r>
          <a:endParaRPr lang="en-US" sz="2800" kern="1200" dirty="0">
            <a:solidFill>
              <a:prstClr val="white"/>
            </a:solidFill>
            <a:latin typeface="Calibri"/>
            <a:ea typeface="+mn-ea"/>
            <a:cs typeface="+mn-cs"/>
          </a:endParaRP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ScaleY="36184" custLinFactNeighborY="-14971">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9.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custT="1"/>
      <dgm:spPr/>
      <dgm:t>
        <a:bodyPr/>
        <a:lstStyle/>
        <a:p>
          <a:r>
            <a:rPr lang="en-US" sz="2800" kern="1200" dirty="0" err="1">
              <a:solidFill>
                <a:prstClr val="white"/>
              </a:solidFill>
              <a:latin typeface="Calibri"/>
              <a:ea typeface="+mn-ea"/>
              <a:cs typeface="+mn-cs"/>
            </a:rPr>
            <a:t>DevSecOps</a:t>
          </a:r>
          <a:endParaRPr lang="en-US" sz="2800" kern="1200" dirty="0">
            <a:solidFill>
              <a:prstClr val="white"/>
            </a:solidFill>
            <a:latin typeface="Calibri"/>
            <a:ea typeface="+mn-ea"/>
            <a:cs typeface="+mn-cs"/>
          </a:endParaRP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ScaleY="36184" custLinFactNeighborY="-14971">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0.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custT="1"/>
      <dgm:spPr/>
      <dgm:t>
        <a:bodyPr/>
        <a:lstStyle/>
        <a:p>
          <a:r>
            <a:rPr lang="en-US" sz="2800" kern="1200" dirty="0">
              <a:solidFill>
                <a:prstClr val="white"/>
              </a:solidFill>
              <a:latin typeface="Calibri"/>
              <a:ea typeface="+mn-ea"/>
              <a:cs typeface="+mn-cs"/>
            </a:rPr>
            <a:t>(Closed Loop) SRE</a:t>
          </a: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ScaleY="36184" custLinFactNeighborY="-14971">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1.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custT="1"/>
      <dgm:spPr/>
      <dgm:t>
        <a:bodyPr/>
        <a:lstStyle/>
        <a:p>
          <a:r>
            <a:rPr lang="en-US" sz="2800" kern="1200" dirty="0">
              <a:solidFill>
                <a:prstClr val="white"/>
              </a:solidFill>
              <a:latin typeface="Calibri"/>
              <a:ea typeface="+mn-ea"/>
              <a:cs typeface="+mn-cs"/>
            </a:rPr>
            <a:t>(Closed Loop) SRE</a:t>
          </a: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ScaleY="36184" custLinFactNeighborY="-14971">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2.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custT="1"/>
      <dgm:spPr/>
      <dgm:t>
        <a:bodyPr/>
        <a:lstStyle/>
        <a:p>
          <a:r>
            <a:rPr lang="en-US" sz="2800" kern="1200" dirty="0">
              <a:solidFill>
                <a:prstClr val="white"/>
              </a:solidFill>
              <a:latin typeface="Calibri"/>
              <a:ea typeface="+mn-ea"/>
              <a:cs typeface="+mn-cs"/>
            </a:rPr>
            <a:t>(Closed Loop) SRE</a:t>
          </a: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ScaleY="36184" custLinFactNeighborY="-14971">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3.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custT="1"/>
      <dgm:spPr/>
      <dgm:t>
        <a:bodyPr/>
        <a:lstStyle/>
        <a:p>
          <a:r>
            <a:rPr lang="en-US" sz="2800" kern="1200" dirty="0">
              <a:solidFill>
                <a:prstClr val="white"/>
              </a:solidFill>
              <a:latin typeface="Calibri"/>
              <a:ea typeface="+mn-ea"/>
              <a:cs typeface="+mn-cs"/>
            </a:rPr>
            <a:t>(Closed Loop) SRE</a:t>
          </a: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ScaleY="36184" custLinFactNeighborY="-14971">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4.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custT="1"/>
      <dgm:spPr/>
      <dgm:t>
        <a:bodyPr/>
        <a:lstStyle/>
        <a:p>
          <a:r>
            <a:rPr lang="en-US" sz="2800" kern="1200" dirty="0">
              <a:solidFill>
                <a:prstClr val="white"/>
              </a:solidFill>
              <a:latin typeface="Calibri"/>
              <a:ea typeface="+mn-ea"/>
              <a:cs typeface="+mn-cs"/>
            </a:rPr>
            <a:t>(Closed Loop) SRE</a:t>
          </a: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ScaleY="36184" custLinFactNeighborY="-14971">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5.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custT="1"/>
      <dgm:spPr/>
      <dgm:t>
        <a:bodyPr/>
        <a:lstStyle/>
        <a:p>
          <a:r>
            <a:rPr lang="en-US" sz="2800" kern="1200" dirty="0">
              <a:solidFill>
                <a:prstClr val="white"/>
              </a:solidFill>
              <a:latin typeface="Calibri"/>
              <a:ea typeface="+mn-ea"/>
              <a:cs typeface="+mn-cs"/>
            </a:rPr>
            <a:t>(Closed Loop) SRE</a:t>
          </a: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ScaleY="36184" custLinFactNeighborY="-14971">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6.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custT="1"/>
      <dgm:spPr/>
      <dgm:t>
        <a:bodyPr/>
        <a:lstStyle/>
        <a:p>
          <a:r>
            <a:rPr lang="en-US" sz="2800" kern="1200" dirty="0">
              <a:solidFill>
                <a:prstClr val="white"/>
              </a:solidFill>
              <a:latin typeface="Calibri"/>
              <a:ea typeface="+mn-ea"/>
              <a:cs typeface="+mn-cs"/>
            </a:rPr>
            <a:t>(Closed Loop) SRE</a:t>
          </a: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ScaleY="36184" custLinFactNeighborY="-14971">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7.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custT="1"/>
      <dgm:spPr/>
      <dgm:t>
        <a:bodyPr/>
        <a:lstStyle/>
        <a:p>
          <a:r>
            <a:rPr lang="en-US" sz="2800" kern="1200" dirty="0">
              <a:solidFill>
                <a:prstClr val="white"/>
              </a:solidFill>
              <a:latin typeface="Calibri"/>
              <a:ea typeface="+mn-ea"/>
              <a:cs typeface="+mn-cs"/>
            </a:rPr>
            <a:t>(Closed Loop) SRE</a:t>
          </a: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ScaleY="36184" custLinFactNeighborY="-14971">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8.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custT="1"/>
      <dgm:spPr/>
      <dgm:t>
        <a:bodyPr/>
        <a:lstStyle/>
        <a:p>
          <a:r>
            <a:rPr lang="en-US" sz="2800" kern="1200" dirty="0">
              <a:solidFill>
                <a:prstClr val="white"/>
              </a:solidFill>
              <a:latin typeface="Calibri"/>
              <a:ea typeface="+mn-ea"/>
              <a:cs typeface="+mn-cs"/>
            </a:rPr>
            <a:t>(Closed Loop) SRE</a:t>
          </a: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ScaleY="36184" custLinFactNeighborY="-14971">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9.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custT="1"/>
      <dgm:spPr/>
      <dgm:t>
        <a:bodyPr/>
        <a:lstStyle/>
        <a:p>
          <a:r>
            <a:rPr lang="en-US" sz="2800" kern="1200" dirty="0">
              <a:solidFill>
                <a:prstClr val="white"/>
              </a:solidFill>
              <a:latin typeface="Calibri"/>
              <a:ea typeface="+mn-ea"/>
              <a:cs typeface="+mn-cs"/>
            </a:rPr>
            <a:t>(Closed Loop) SRE</a:t>
          </a: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ScaleY="36184" custLinFactNeighborY="-14971">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50.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custT="1"/>
      <dgm:spPr/>
      <dgm:t>
        <a:bodyPr/>
        <a:lstStyle/>
        <a:p>
          <a:r>
            <a:rPr lang="en-US" sz="2800" kern="1200" dirty="0">
              <a:solidFill>
                <a:prstClr val="white"/>
              </a:solidFill>
              <a:latin typeface="Calibri"/>
              <a:ea typeface="+mn-ea"/>
              <a:cs typeface="+mn-cs"/>
            </a:rPr>
            <a:t>(Closed Loop) SRE</a:t>
          </a: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ScaleY="36184" custLinFactNeighborY="-14971">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51.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custT="1"/>
      <dgm:spPr/>
      <dgm:t>
        <a:bodyPr/>
        <a:lstStyle/>
        <a:p>
          <a:r>
            <a:rPr lang="en-US" sz="2800" kern="1200" dirty="0">
              <a:solidFill>
                <a:prstClr val="white"/>
              </a:solidFill>
              <a:latin typeface="Calibri"/>
              <a:ea typeface="+mn-ea"/>
              <a:cs typeface="+mn-cs"/>
            </a:rPr>
            <a:t>(Closed Loop) SRE</a:t>
          </a: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ScaleY="36184" custLinFactNeighborY="-14971">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52.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custT="1"/>
      <dgm:spPr/>
      <dgm:t>
        <a:bodyPr/>
        <a:lstStyle/>
        <a:p>
          <a:r>
            <a:rPr lang="en-US" sz="2800" kern="1200" dirty="0">
              <a:solidFill>
                <a:prstClr val="white"/>
              </a:solidFill>
              <a:latin typeface="Calibri"/>
              <a:ea typeface="+mn-ea"/>
              <a:cs typeface="+mn-cs"/>
            </a:rPr>
            <a:t>(Closed Loop) SRE</a:t>
          </a: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ScaleY="36184" custLinFactNeighborY="-14971">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53.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custT="1"/>
      <dgm:spPr/>
      <dgm:t>
        <a:bodyPr/>
        <a:lstStyle/>
        <a:p>
          <a:r>
            <a:rPr lang="en-US" sz="2800" kern="1200" dirty="0">
              <a:solidFill>
                <a:prstClr val="white"/>
              </a:solidFill>
              <a:latin typeface="Calibri"/>
              <a:ea typeface="+mn-ea"/>
              <a:cs typeface="+mn-cs"/>
            </a:rPr>
            <a:t>(Closed Loop) SRE</a:t>
          </a: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ScaleY="36184" custLinFactNeighborY="-14971">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54.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custT="1"/>
      <dgm:spPr/>
      <dgm:t>
        <a:bodyPr/>
        <a:lstStyle/>
        <a:p>
          <a:r>
            <a:rPr lang="en-US" sz="2800" kern="1200" dirty="0">
              <a:solidFill>
                <a:prstClr val="white"/>
              </a:solidFill>
              <a:latin typeface="Calibri"/>
              <a:ea typeface="+mn-ea"/>
              <a:cs typeface="+mn-cs"/>
            </a:rPr>
            <a:t>(Closed Loop) SRE</a:t>
          </a: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ScaleY="36184" custLinFactNeighborY="-14971">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55.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custT="1"/>
      <dgm:spPr/>
      <dgm:t>
        <a:bodyPr/>
        <a:lstStyle/>
        <a:p>
          <a:r>
            <a:rPr lang="en-US" sz="2800" kern="1200" dirty="0">
              <a:solidFill>
                <a:prstClr val="white"/>
              </a:solidFill>
              <a:latin typeface="Calibri"/>
              <a:ea typeface="+mn-ea"/>
              <a:cs typeface="+mn-cs"/>
            </a:rPr>
            <a:t>(Closed Loop) SRE</a:t>
          </a: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ScaleY="36184" custLinFactNeighborY="-14971">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56.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custT="1"/>
      <dgm:spPr/>
      <dgm:t>
        <a:bodyPr/>
        <a:lstStyle/>
        <a:p>
          <a:r>
            <a:rPr lang="en-US" sz="2800" kern="1200" dirty="0">
              <a:solidFill>
                <a:prstClr val="white"/>
              </a:solidFill>
              <a:latin typeface="Calibri"/>
              <a:ea typeface="+mn-ea"/>
              <a:cs typeface="+mn-cs"/>
            </a:rPr>
            <a:t>(Closed Loop) SRE</a:t>
          </a: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ScaleY="36184" custLinFactNeighborY="-14971">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57.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custT="1"/>
      <dgm:spPr/>
      <dgm:t>
        <a:bodyPr/>
        <a:lstStyle/>
        <a:p>
          <a:r>
            <a:rPr lang="en-US" sz="2800" kern="1200" dirty="0">
              <a:solidFill>
                <a:prstClr val="white"/>
              </a:solidFill>
              <a:latin typeface="Calibri"/>
              <a:ea typeface="+mn-ea"/>
              <a:cs typeface="+mn-cs"/>
            </a:rPr>
            <a:t>(Closed Loop) SRE</a:t>
          </a: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ScaleY="36184" custLinFactNeighborY="-14971">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58.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custT="1"/>
      <dgm:spPr/>
      <dgm:t>
        <a:bodyPr/>
        <a:lstStyle/>
        <a:p>
          <a:r>
            <a:rPr lang="en-US" sz="2800" kern="1200" dirty="0">
              <a:solidFill>
                <a:prstClr val="white"/>
              </a:solidFill>
              <a:latin typeface="Calibri"/>
              <a:ea typeface="+mn-ea"/>
              <a:cs typeface="+mn-cs"/>
            </a:rPr>
            <a:t>(Closed Loop) SRE</a:t>
          </a: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ScaleY="36184" custLinFactNeighborY="-14971">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59.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custT="1"/>
      <dgm:spPr/>
      <dgm:t>
        <a:bodyPr/>
        <a:lstStyle/>
        <a:p>
          <a:r>
            <a:rPr lang="en-US" sz="2800" kern="1200" dirty="0">
              <a:solidFill>
                <a:prstClr val="white"/>
              </a:solidFill>
              <a:latin typeface="Calibri"/>
              <a:ea typeface="+mn-ea"/>
              <a:cs typeface="+mn-cs"/>
            </a:rPr>
            <a:t>(Closed Loop) SRE</a:t>
          </a: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ScaleY="36184" custLinFactNeighborY="-14971">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60.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custT="1"/>
      <dgm:spPr/>
      <dgm:t>
        <a:bodyPr/>
        <a:lstStyle/>
        <a:p>
          <a:r>
            <a:rPr lang="en-US" sz="2800" kern="1200" dirty="0">
              <a:solidFill>
                <a:prstClr val="white"/>
              </a:solidFill>
              <a:latin typeface="Calibri"/>
              <a:ea typeface="+mn-ea"/>
              <a:cs typeface="+mn-cs"/>
            </a:rPr>
            <a:t>(Closed Loop) SRE</a:t>
          </a: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ScaleY="36184" custLinFactNeighborY="-14971">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61.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custT="1"/>
      <dgm:spPr/>
      <dgm:t>
        <a:bodyPr/>
        <a:lstStyle/>
        <a:p>
          <a:r>
            <a:rPr lang="en-US" sz="2800" kern="1200" dirty="0">
              <a:solidFill>
                <a:prstClr val="white"/>
              </a:solidFill>
              <a:latin typeface="Calibri"/>
              <a:ea typeface="+mn-ea"/>
              <a:cs typeface="+mn-cs"/>
            </a:rPr>
            <a:t>(Closed Loop) SRE</a:t>
          </a: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ScaleY="36184" custLinFactNeighborY="-14971">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62.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custT="1"/>
      <dgm:spPr/>
      <dgm:t>
        <a:bodyPr/>
        <a:lstStyle/>
        <a:p>
          <a:r>
            <a:rPr lang="en-US" sz="2800" kern="1200" dirty="0">
              <a:solidFill>
                <a:prstClr val="white"/>
              </a:solidFill>
              <a:latin typeface="Calibri"/>
              <a:ea typeface="+mn-ea"/>
              <a:cs typeface="+mn-cs"/>
            </a:rPr>
            <a:t>(Closed Loop) SRE</a:t>
          </a: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ScaleY="36184" custLinFactNeighborY="-14971">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63.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custT="1"/>
      <dgm:spPr/>
      <dgm:t>
        <a:bodyPr/>
        <a:lstStyle/>
        <a:p>
          <a:r>
            <a:rPr lang="en-US" sz="2800" kern="1200" dirty="0">
              <a:solidFill>
                <a:prstClr val="white"/>
              </a:solidFill>
              <a:latin typeface="Calibri"/>
              <a:ea typeface="+mn-ea"/>
              <a:cs typeface="+mn-cs"/>
            </a:rPr>
            <a:t>(Closed Loop) SRE</a:t>
          </a: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ScaleY="36184" custLinFactNeighborY="-14971">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64.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custT="1"/>
      <dgm:spPr/>
      <dgm:t>
        <a:bodyPr/>
        <a:lstStyle/>
        <a:p>
          <a:r>
            <a:rPr lang="en-US" sz="2800" kern="1200" dirty="0">
              <a:solidFill>
                <a:prstClr val="white"/>
              </a:solidFill>
              <a:latin typeface="Calibri"/>
              <a:ea typeface="+mn-ea"/>
              <a:cs typeface="+mn-cs"/>
            </a:rPr>
            <a:t>(Closed Loop) SRE</a:t>
          </a: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ScaleY="36184" custLinFactNeighborY="-14971">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65.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custT="1"/>
      <dgm:spPr/>
      <dgm:t>
        <a:bodyPr/>
        <a:lstStyle/>
        <a:p>
          <a:r>
            <a:rPr lang="en-US" sz="2800" kern="1200" dirty="0">
              <a:solidFill>
                <a:prstClr val="white"/>
              </a:solidFill>
              <a:latin typeface="Calibri"/>
              <a:ea typeface="+mn-ea"/>
              <a:cs typeface="+mn-cs"/>
            </a:rPr>
            <a:t>(Closed Loop) SRE</a:t>
          </a: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ScaleY="36184" custLinFactNeighborY="-14971">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66.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custT="1"/>
      <dgm:spPr/>
      <dgm:t>
        <a:bodyPr/>
        <a:lstStyle/>
        <a:p>
          <a:r>
            <a:rPr lang="en-US" sz="2800" kern="1200" dirty="0">
              <a:solidFill>
                <a:prstClr val="white"/>
              </a:solidFill>
              <a:latin typeface="Calibri"/>
              <a:ea typeface="+mn-ea"/>
              <a:cs typeface="+mn-cs"/>
            </a:rPr>
            <a:t>(Closed Loop) SRE</a:t>
          </a:r>
        </a:p>
      </dgm:t>
    </dgm:pt>
    <dgm:pt modelId="{776B4B96-121A-4673-825F-A8FB9B16A48D}" type="sibTrans" cxnId="{0697E87E-1D9E-4FD4-A917-9D00A5C777C7}">
      <dgm:prSet/>
      <dgm:spPr/>
      <dgm:t>
        <a:bodyPr/>
        <a:lstStyle/>
        <a:p>
          <a:endParaRPr lang="en-US"/>
        </a:p>
      </dgm:t>
    </dgm:pt>
    <dgm:pt modelId="{4736A3DD-BAE6-4A5A-9EFC-ACFDCC57D94D}" type="par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ScaleY="36184" custLinFactNeighborY="-14971">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67.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custT="1"/>
      <dgm:spPr/>
      <dgm:t>
        <a:bodyPr/>
        <a:lstStyle/>
        <a:p>
          <a:r>
            <a:rPr lang="en-US" sz="2800" kern="1200" dirty="0">
              <a:solidFill>
                <a:prstClr val="white"/>
              </a:solidFill>
              <a:latin typeface="Calibri"/>
              <a:ea typeface="+mn-ea"/>
              <a:cs typeface="+mn-cs"/>
            </a:rPr>
            <a:t>(Closed Loop) SRE</a:t>
          </a: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ScaleY="36184" custLinFactNeighborY="-14971">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68.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custT="1"/>
      <dgm:spPr/>
      <dgm:t>
        <a:bodyPr/>
        <a:lstStyle/>
        <a:p>
          <a:r>
            <a:rPr lang="en-IN" sz="2800" b="1" i="0" kern="1200" dirty="0"/>
            <a:t>Service Mesh</a:t>
          </a:r>
          <a:endParaRPr lang="en-US" sz="2800" kern="1200" dirty="0">
            <a:solidFill>
              <a:prstClr val="white"/>
            </a:solidFill>
            <a:latin typeface="Calibri"/>
            <a:ea typeface="+mn-ea"/>
            <a:cs typeface="+mn-cs"/>
          </a:endParaRP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ScaleY="36184" custLinFactNeighborY="-14971">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69.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custT="1"/>
      <dgm:spPr/>
      <dgm:t>
        <a:bodyPr/>
        <a:lstStyle/>
        <a:p>
          <a:r>
            <a:rPr lang="en-IN" sz="2800" b="1" i="0" kern="1200" dirty="0"/>
            <a:t>Service Mesh</a:t>
          </a:r>
          <a:endParaRPr lang="en-US" sz="2800" kern="1200" dirty="0">
            <a:solidFill>
              <a:prstClr val="white"/>
            </a:solidFill>
            <a:latin typeface="Calibri"/>
            <a:ea typeface="+mn-ea"/>
            <a:cs typeface="+mn-cs"/>
          </a:endParaRP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ScaleY="36184" custLinFactNeighborY="-14971">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70.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custT="1"/>
      <dgm:spPr/>
      <dgm:t>
        <a:bodyPr/>
        <a:lstStyle/>
        <a:p>
          <a:r>
            <a:rPr lang="en-IN" sz="2800" b="1" i="0" kern="1200" dirty="0"/>
            <a:t>Service Mesh</a:t>
          </a:r>
          <a:endParaRPr lang="en-US" sz="2800" kern="1200" dirty="0">
            <a:solidFill>
              <a:prstClr val="white"/>
            </a:solidFill>
            <a:latin typeface="Calibri"/>
            <a:ea typeface="+mn-ea"/>
            <a:cs typeface="+mn-cs"/>
          </a:endParaRP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ScaleY="36184" custLinFactNeighborY="-14971">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71.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custT="1"/>
      <dgm:spPr/>
      <dgm:t>
        <a:bodyPr/>
        <a:lstStyle/>
        <a:p>
          <a:r>
            <a:rPr lang="en-IN" sz="2800" b="1" i="0" kern="1200" dirty="0"/>
            <a:t>Service Mesh</a:t>
          </a:r>
          <a:endParaRPr lang="en-US" sz="2800" kern="1200" dirty="0">
            <a:solidFill>
              <a:prstClr val="white"/>
            </a:solidFill>
            <a:latin typeface="Calibri"/>
            <a:ea typeface="+mn-ea"/>
            <a:cs typeface="+mn-cs"/>
          </a:endParaRP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ScaleY="36184" custLinFactNeighborY="-14971">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72.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custT="1"/>
      <dgm:spPr/>
      <dgm:t>
        <a:bodyPr/>
        <a:lstStyle/>
        <a:p>
          <a:r>
            <a:rPr lang="en-IN" sz="2800" b="1" i="0" kern="1200" dirty="0"/>
            <a:t>Service Mesh</a:t>
          </a:r>
          <a:endParaRPr lang="en-US" sz="2800" kern="1200" dirty="0">
            <a:solidFill>
              <a:prstClr val="white"/>
            </a:solidFill>
            <a:latin typeface="Calibri"/>
            <a:ea typeface="+mn-ea"/>
            <a:cs typeface="+mn-cs"/>
          </a:endParaRP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ScaleY="36184" custLinFactNeighborY="-14971">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73.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custT="1"/>
      <dgm:spPr/>
      <dgm:t>
        <a:bodyPr/>
        <a:lstStyle/>
        <a:p>
          <a:r>
            <a:rPr lang="en-IN" sz="2800" b="1" i="0" kern="1200" dirty="0"/>
            <a:t>Service Mesh</a:t>
          </a:r>
          <a:endParaRPr lang="en-US" sz="2800" kern="1200" dirty="0">
            <a:solidFill>
              <a:prstClr val="white"/>
            </a:solidFill>
            <a:latin typeface="Calibri"/>
            <a:ea typeface="+mn-ea"/>
            <a:cs typeface="+mn-cs"/>
          </a:endParaRP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ScaleY="36184" custLinFactNeighborY="-14971">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74.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custT="1"/>
      <dgm:spPr/>
      <dgm:t>
        <a:bodyPr/>
        <a:lstStyle/>
        <a:p>
          <a:r>
            <a:rPr lang="en-IN" sz="2800" b="1" i="0" kern="1200" dirty="0"/>
            <a:t>Service Mesh</a:t>
          </a:r>
          <a:endParaRPr lang="en-US" sz="2800" kern="1200" dirty="0">
            <a:solidFill>
              <a:prstClr val="white"/>
            </a:solidFill>
            <a:latin typeface="Calibri"/>
            <a:ea typeface="+mn-ea"/>
            <a:cs typeface="+mn-cs"/>
          </a:endParaRP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ScaleY="36184" custLinFactNeighborY="-14971">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75.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custT="1"/>
      <dgm:spPr/>
      <dgm:t>
        <a:bodyPr/>
        <a:lstStyle/>
        <a:p>
          <a:r>
            <a:rPr lang="en-IN" sz="2800" b="1" i="0" kern="1200" dirty="0"/>
            <a:t>Service Mesh</a:t>
          </a:r>
          <a:endParaRPr lang="en-US" sz="2800" kern="1200" dirty="0">
            <a:solidFill>
              <a:prstClr val="white"/>
            </a:solidFill>
            <a:latin typeface="Calibri"/>
            <a:ea typeface="+mn-ea"/>
            <a:cs typeface="+mn-cs"/>
          </a:endParaRP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ScaleY="36184" custLinFactNeighborY="-14971">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76.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custT="1"/>
      <dgm:spPr/>
      <dgm:t>
        <a:bodyPr/>
        <a:lstStyle/>
        <a:p>
          <a:r>
            <a:rPr lang="en-IN" sz="2800" b="1" i="0" kern="1200" dirty="0"/>
            <a:t>Service Mesh</a:t>
          </a:r>
          <a:endParaRPr lang="en-US" sz="2800" kern="1200" dirty="0">
            <a:solidFill>
              <a:prstClr val="white"/>
            </a:solidFill>
            <a:latin typeface="Calibri"/>
            <a:ea typeface="+mn-ea"/>
            <a:cs typeface="+mn-cs"/>
          </a:endParaRP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ScaleY="36184" custLinFactNeighborY="-14971">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77.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custT="1"/>
      <dgm:spPr/>
      <dgm:t>
        <a:bodyPr/>
        <a:lstStyle/>
        <a:p>
          <a:r>
            <a:rPr lang="en-IN" sz="2800" b="1" i="0" kern="1200" dirty="0"/>
            <a:t>Service Mesh</a:t>
          </a:r>
          <a:endParaRPr lang="en-US" sz="2800" kern="1200" dirty="0">
            <a:solidFill>
              <a:prstClr val="white"/>
            </a:solidFill>
            <a:latin typeface="Calibri"/>
            <a:ea typeface="+mn-ea"/>
            <a:cs typeface="+mn-cs"/>
          </a:endParaRP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ScaleY="36184" custLinFactNeighborY="-14971">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78.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custT="1"/>
      <dgm:spPr/>
      <dgm:t>
        <a:bodyPr/>
        <a:lstStyle/>
        <a:p>
          <a:r>
            <a:rPr lang="en-IN" sz="2800" b="1" i="0" kern="1200" dirty="0"/>
            <a:t>Service Mesh</a:t>
          </a:r>
          <a:endParaRPr lang="en-US" sz="2800" kern="1200" dirty="0">
            <a:solidFill>
              <a:prstClr val="white"/>
            </a:solidFill>
            <a:latin typeface="Calibri"/>
            <a:ea typeface="+mn-ea"/>
            <a:cs typeface="+mn-cs"/>
          </a:endParaRP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ScaleY="36184" custLinFactNeighborY="-14971">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79.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custT="1"/>
      <dgm:spPr/>
      <dgm:t>
        <a:bodyPr/>
        <a:lstStyle/>
        <a:p>
          <a:r>
            <a:rPr lang="en-IN" sz="2800" b="1" i="0" kern="1200" dirty="0"/>
            <a:t>Docker + </a:t>
          </a:r>
          <a:r>
            <a:rPr lang="en-IN" sz="2800" b="1" i="0" kern="1200" dirty="0" err="1"/>
            <a:t>DevSecOps</a:t>
          </a:r>
          <a:r>
            <a:rPr lang="en-IN" sz="2800" b="1" i="0" kern="1200" dirty="0"/>
            <a:t> + K8s + SRE Workflow</a:t>
          </a:r>
          <a:endParaRPr lang="en-US" sz="2800" kern="1200" dirty="0">
            <a:solidFill>
              <a:prstClr val="white"/>
            </a:solidFill>
            <a:latin typeface="Calibri"/>
            <a:ea typeface="+mn-ea"/>
            <a:cs typeface="+mn-cs"/>
          </a:endParaRP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ScaleY="36184" custLinFactNeighborY="-14971">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80.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custT="1"/>
      <dgm:spPr/>
      <dgm:t>
        <a:bodyPr/>
        <a:lstStyle/>
        <a:p>
          <a:r>
            <a:rPr lang="en-IN" sz="2800" b="1" i="0" kern="1200" dirty="0"/>
            <a:t>Docker + </a:t>
          </a:r>
          <a:r>
            <a:rPr lang="en-IN" sz="2800" b="1" i="0" kern="1200" dirty="0" err="1"/>
            <a:t>DevSecOps</a:t>
          </a:r>
          <a:r>
            <a:rPr lang="en-IN" sz="2800" b="1" i="0" kern="1200" dirty="0"/>
            <a:t> + K8s + SRE Workflow</a:t>
          </a:r>
          <a:endParaRPr lang="en-US" sz="2800" kern="1200" dirty="0">
            <a:solidFill>
              <a:prstClr val="white"/>
            </a:solidFill>
            <a:latin typeface="Calibri"/>
            <a:ea typeface="+mn-ea"/>
            <a:cs typeface="+mn-cs"/>
          </a:endParaRP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ScaleY="36184" custLinFactNeighborY="-14971">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81.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custT="1"/>
      <dgm:spPr/>
      <dgm:t>
        <a:bodyPr/>
        <a:lstStyle/>
        <a:p>
          <a:r>
            <a:rPr lang="en-IN" sz="2800" b="1" i="0" kern="1200" dirty="0"/>
            <a:t>Docker + </a:t>
          </a:r>
          <a:r>
            <a:rPr lang="en-IN" sz="2800" b="1" i="0" kern="1200" dirty="0" err="1"/>
            <a:t>DevSecOps</a:t>
          </a:r>
          <a:r>
            <a:rPr lang="en-IN" sz="2800" b="1" i="0" kern="1200" dirty="0"/>
            <a:t> + K8s + SRE Workflow</a:t>
          </a:r>
          <a:endParaRPr lang="en-US" sz="2800" kern="1200" dirty="0">
            <a:solidFill>
              <a:prstClr val="white"/>
            </a:solidFill>
            <a:latin typeface="Calibri"/>
            <a:ea typeface="+mn-ea"/>
            <a:cs typeface="+mn-cs"/>
          </a:endParaRP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ScaleY="36184" custLinFactNeighborY="-14971">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82.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custT="1"/>
      <dgm:spPr/>
      <dgm:t>
        <a:bodyPr/>
        <a:lstStyle/>
        <a:p>
          <a:r>
            <a:rPr lang="en-IN" sz="2800" b="1" i="0" kern="1200" dirty="0"/>
            <a:t>VS Code &amp; Community Edition Useful Tools</a:t>
          </a:r>
          <a:endParaRPr lang="en-US" sz="2800" kern="1200" dirty="0">
            <a:solidFill>
              <a:prstClr val="white"/>
            </a:solidFill>
            <a:latin typeface="Calibri"/>
            <a:ea typeface="+mn-ea"/>
            <a:cs typeface="+mn-cs"/>
          </a:endParaRP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ScaleY="36184" custLinFactNeighborY="-14971">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83.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custT="1"/>
      <dgm:spPr/>
      <dgm:t>
        <a:bodyPr/>
        <a:lstStyle/>
        <a:p>
          <a:r>
            <a:rPr lang="en-IN" sz="2800" b="1" i="0" kern="1200" dirty="0"/>
            <a:t>VS Code &amp; Community Edition Useful Tools</a:t>
          </a:r>
          <a:endParaRPr lang="en-US" sz="2800" kern="1200" dirty="0">
            <a:solidFill>
              <a:prstClr val="white"/>
            </a:solidFill>
            <a:latin typeface="Calibri"/>
            <a:ea typeface="+mn-ea"/>
            <a:cs typeface="+mn-cs"/>
          </a:endParaRP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ScaleY="36184" custLinFactNeighborY="-14971">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84.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custT="1"/>
      <dgm:spPr/>
      <dgm:t>
        <a:bodyPr/>
        <a:lstStyle/>
        <a:p>
          <a:r>
            <a:rPr lang="en-IN" sz="2800" b="1" i="0" kern="1200" dirty="0"/>
            <a:t>VS Code &amp; Community Edition Useful Tools</a:t>
          </a:r>
          <a:endParaRPr lang="en-US" sz="2800" kern="1200" dirty="0">
            <a:solidFill>
              <a:prstClr val="white"/>
            </a:solidFill>
            <a:latin typeface="Calibri"/>
            <a:ea typeface="+mn-ea"/>
            <a:cs typeface="+mn-cs"/>
          </a:endParaRP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ScaleY="36184" custLinFactNeighborY="-14971">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85.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custT="1"/>
      <dgm:spPr/>
      <dgm:t>
        <a:bodyPr/>
        <a:lstStyle/>
        <a:p>
          <a:r>
            <a:rPr lang="en-US" sz="2800" kern="1200" dirty="0">
              <a:solidFill>
                <a:prstClr val="white"/>
              </a:solidFill>
              <a:latin typeface="Calibri"/>
              <a:ea typeface="+mn-ea"/>
              <a:cs typeface="+mn-cs"/>
            </a:rPr>
            <a:t>Production Debugging</a:t>
          </a: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ScaleY="36184" custLinFactNeighborX="-1059" custLinFactNeighborY="-2732">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24821"/>
          <a:ext cx="4982500" cy="1814670"/>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5730" tIns="125730" rIns="125730" bIns="125730" numCol="1" spcCol="1270" anchor="ctr" anchorCtr="0">
          <a:noAutofit/>
        </a:bodyPr>
        <a:lstStyle/>
        <a:p>
          <a:pPr marL="0" lvl="0" indent="0" algn="l" defTabSz="1466850">
            <a:lnSpc>
              <a:spcPct val="90000"/>
            </a:lnSpc>
            <a:spcBef>
              <a:spcPct val="0"/>
            </a:spcBef>
            <a:spcAft>
              <a:spcPct val="35000"/>
            </a:spcAft>
            <a:buNone/>
          </a:pPr>
          <a:r>
            <a:rPr lang="en-GB" sz="3300" b="1" i="0" kern="1200"/>
            <a:t>TDD</a:t>
          </a:r>
          <a:r>
            <a:rPr lang="en-GB" sz="3300" b="1" i="0" kern="1200" dirty="0"/>
            <a:t>, BDD, </a:t>
          </a:r>
          <a:r>
            <a:rPr lang="en-GB" sz="3300" b="1" i="0" kern="1200" dirty="0" err="1"/>
            <a:t>DevSecOps</a:t>
          </a:r>
          <a:r>
            <a:rPr lang="en-GB" sz="3300" b="1" i="0" kern="1200" dirty="0"/>
            <a:t>, SRE And </a:t>
          </a:r>
          <a:r>
            <a:rPr lang="en-GB" sz="3300" b="1" i="0" kern="1200" dirty="0" err="1"/>
            <a:t>VSCode</a:t>
          </a:r>
          <a:r>
            <a:rPr lang="en-GB" sz="3300" b="1" i="0" kern="1200" dirty="0"/>
            <a:t> </a:t>
          </a:r>
          <a:r>
            <a:rPr lang="en-US" sz="3300" b="1" i="0" kern="1200" dirty="0"/>
            <a:t>(Refresher)</a:t>
          </a:r>
          <a:endParaRPr lang="en-US" sz="3300" kern="1200" dirty="0"/>
        </a:p>
      </dsp:txBody>
      <dsp:txXfrm>
        <a:off x="88585" y="113406"/>
        <a:ext cx="4805330" cy="1637500"/>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147842"/>
          <a:ext cx="4982500" cy="1559025"/>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47650" tIns="247650" rIns="247650" bIns="247650" numCol="1" spcCol="1270" anchor="ctr" anchorCtr="0">
          <a:noAutofit/>
        </a:bodyPr>
        <a:lstStyle/>
        <a:p>
          <a:pPr marL="0" lvl="0" indent="0" algn="l" defTabSz="2889250">
            <a:lnSpc>
              <a:spcPct val="90000"/>
            </a:lnSpc>
            <a:spcBef>
              <a:spcPct val="0"/>
            </a:spcBef>
            <a:spcAft>
              <a:spcPct val="35000"/>
            </a:spcAft>
            <a:buNone/>
          </a:pPr>
          <a:r>
            <a:rPr lang="en-US" sz="6500" b="1" i="0" kern="1200" dirty="0"/>
            <a:t>TDD Basics</a:t>
          </a:r>
          <a:endParaRPr lang="en-US" sz="6500" kern="1200" dirty="0"/>
        </a:p>
      </dsp:txBody>
      <dsp:txXfrm>
        <a:off x="76105" y="223947"/>
        <a:ext cx="4830290" cy="1406815"/>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147842"/>
          <a:ext cx="4982500" cy="1559025"/>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47650" tIns="247650" rIns="247650" bIns="247650" numCol="1" spcCol="1270" anchor="ctr" anchorCtr="0">
          <a:noAutofit/>
        </a:bodyPr>
        <a:lstStyle/>
        <a:p>
          <a:pPr marL="0" lvl="0" indent="0" algn="l" defTabSz="2889250">
            <a:lnSpc>
              <a:spcPct val="90000"/>
            </a:lnSpc>
            <a:spcBef>
              <a:spcPct val="0"/>
            </a:spcBef>
            <a:spcAft>
              <a:spcPct val="35000"/>
            </a:spcAft>
            <a:buNone/>
          </a:pPr>
          <a:r>
            <a:rPr lang="en-US" sz="6500" b="1" i="0" kern="1200" dirty="0"/>
            <a:t>TDD Basics</a:t>
          </a:r>
          <a:endParaRPr lang="en-US" sz="6500" kern="1200" dirty="0"/>
        </a:p>
      </dsp:txBody>
      <dsp:txXfrm>
        <a:off x="76105" y="223947"/>
        <a:ext cx="4830290" cy="1406815"/>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147842"/>
          <a:ext cx="4982500" cy="1559025"/>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47650" tIns="247650" rIns="247650" bIns="247650" numCol="1" spcCol="1270" anchor="ctr" anchorCtr="0">
          <a:noAutofit/>
        </a:bodyPr>
        <a:lstStyle/>
        <a:p>
          <a:pPr marL="0" lvl="0" indent="0" algn="l" defTabSz="2889250">
            <a:lnSpc>
              <a:spcPct val="90000"/>
            </a:lnSpc>
            <a:spcBef>
              <a:spcPct val="0"/>
            </a:spcBef>
            <a:spcAft>
              <a:spcPct val="35000"/>
            </a:spcAft>
            <a:buNone/>
          </a:pPr>
          <a:r>
            <a:rPr lang="en-US" sz="6500" b="1" i="0" kern="1200" dirty="0"/>
            <a:t>TDD Basics</a:t>
          </a:r>
          <a:endParaRPr lang="en-US" sz="6500" kern="1200" dirty="0"/>
        </a:p>
      </dsp:txBody>
      <dsp:txXfrm>
        <a:off x="76105" y="223947"/>
        <a:ext cx="4830290" cy="1406815"/>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185942"/>
          <a:ext cx="4982500" cy="1559025"/>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47650" tIns="247650" rIns="247650" bIns="247650" numCol="1" spcCol="1270" anchor="ctr" anchorCtr="0">
          <a:noAutofit/>
        </a:bodyPr>
        <a:lstStyle/>
        <a:p>
          <a:pPr marL="0" lvl="0" indent="0" algn="l" defTabSz="2889250">
            <a:lnSpc>
              <a:spcPct val="90000"/>
            </a:lnSpc>
            <a:spcBef>
              <a:spcPct val="0"/>
            </a:spcBef>
            <a:spcAft>
              <a:spcPct val="35000"/>
            </a:spcAft>
            <a:buNone/>
          </a:pPr>
          <a:r>
            <a:rPr lang="en-US" sz="6500" b="1" i="0" kern="1200" dirty="0"/>
            <a:t>TDD Basics</a:t>
          </a:r>
          <a:endParaRPr lang="en-US" sz="6500" kern="1200" dirty="0"/>
        </a:p>
      </dsp:txBody>
      <dsp:txXfrm>
        <a:off x="76105" y="262047"/>
        <a:ext cx="4830290" cy="1406815"/>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4982500" cy="1306667"/>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86690" tIns="186690" rIns="186690" bIns="186690" numCol="1" spcCol="1270" anchor="ctr" anchorCtr="0">
          <a:noAutofit/>
        </a:bodyPr>
        <a:lstStyle/>
        <a:p>
          <a:pPr marL="0" lvl="0" indent="0" algn="l" defTabSz="2178050">
            <a:lnSpc>
              <a:spcPct val="90000"/>
            </a:lnSpc>
            <a:spcBef>
              <a:spcPct val="0"/>
            </a:spcBef>
            <a:spcAft>
              <a:spcPct val="35000"/>
            </a:spcAft>
            <a:buNone/>
          </a:pPr>
          <a:r>
            <a:rPr lang="en-US" sz="4900" b="1" i="0" kern="1200" dirty="0"/>
            <a:t>TDD- </a:t>
          </a:r>
          <a:r>
            <a:rPr lang="en-US" sz="4900" b="1" i="0" kern="1200" dirty="0" err="1"/>
            <a:t>AutoFixture</a:t>
          </a:r>
          <a:endParaRPr lang="en-US" sz="4900" kern="1200" dirty="0"/>
        </a:p>
      </dsp:txBody>
      <dsp:txXfrm>
        <a:off x="63786" y="63786"/>
        <a:ext cx="4854928" cy="1179095"/>
      </dsp:txXfrm>
    </dsp:sp>
  </dsp:spTree>
</dsp:drawing>
</file>

<file path=ppt/diagrams/drawing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4982500" cy="1306667"/>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82880" tIns="182880" rIns="182880" bIns="182880" numCol="1" spcCol="1270" anchor="ctr" anchorCtr="0">
          <a:noAutofit/>
        </a:bodyPr>
        <a:lstStyle/>
        <a:p>
          <a:pPr marL="0" lvl="0" indent="0" algn="l" defTabSz="2133600">
            <a:lnSpc>
              <a:spcPct val="90000"/>
            </a:lnSpc>
            <a:spcBef>
              <a:spcPct val="0"/>
            </a:spcBef>
            <a:spcAft>
              <a:spcPct val="35000"/>
            </a:spcAft>
            <a:buNone/>
          </a:pPr>
          <a:r>
            <a:rPr lang="en-US" sz="4800" b="1" i="0" kern="1200" dirty="0"/>
            <a:t>TDD- </a:t>
          </a:r>
          <a:r>
            <a:rPr lang="en-US" sz="4800" b="1" i="0" kern="1200" dirty="0" err="1"/>
            <a:t>AutoFixture</a:t>
          </a:r>
          <a:endParaRPr lang="en-US" sz="4800" kern="1200" dirty="0"/>
        </a:p>
      </dsp:txBody>
      <dsp:txXfrm>
        <a:off x="63786" y="63786"/>
        <a:ext cx="4854928" cy="1179095"/>
      </dsp:txXfrm>
    </dsp:sp>
  </dsp:spTree>
</dsp:drawing>
</file>

<file path=ppt/diagrams/drawing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4982500" cy="1108495"/>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75260" tIns="175260" rIns="175260" bIns="175260" numCol="1" spcCol="1270" anchor="ctr" anchorCtr="0">
          <a:noAutofit/>
        </a:bodyPr>
        <a:lstStyle/>
        <a:p>
          <a:pPr marL="0" lvl="0" indent="0" algn="l" defTabSz="2044700">
            <a:lnSpc>
              <a:spcPct val="90000"/>
            </a:lnSpc>
            <a:spcBef>
              <a:spcPct val="0"/>
            </a:spcBef>
            <a:spcAft>
              <a:spcPct val="35000"/>
            </a:spcAft>
            <a:buNone/>
          </a:pPr>
          <a:r>
            <a:rPr lang="en-US" sz="4600" b="1" i="0" kern="1200" dirty="0"/>
            <a:t>TDD- </a:t>
          </a:r>
          <a:r>
            <a:rPr lang="en-US" sz="4600" b="1" i="0" kern="1200" dirty="0" err="1"/>
            <a:t>Nsubstitue</a:t>
          </a:r>
          <a:endParaRPr lang="en-US" sz="4600" kern="1200" dirty="0"/>
        </a:p>
      </dsp:txBody>
      <dsp:txXfrm>
        <a:off x="54112" y="54112"/>
        <a:ext cx="4874276" cy="1000271"/>
      </dsp:txXfrm>
    </dsp:sp>
  </dsp:spTree>
</dsp:drawing>
</file>

<file path=ppt/diagrams/drawing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62248"/>
          <a:ext cx="4982500" cy="1232134"/>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82880" tIns="182880" rIns="182880" bIns="182880" numCol="1" spcCol="1270" anchor="ctr" anchorCtr="0">
          <a:noAutofit/>
        </a:bodyPr>
        <a:lstStyle/>
        <a:p>
          <a:pPr marL="0" lvl="0" indent="0" algn="l" defTabSz="2133600">
            <a:lnSpc>
              <a:spcPct val="90000"/>
            </a:lnSpc>
            <a:spcBef>
              <a:spcPct val="0"/>
            </a:spcBef>
            <a:spcAft>
              <a:spcPct val="35000"/>
            </a:spcAft>
            <a:buNone/>
          </a:pPr>
          <a:r>
            <a:rPr lang="en-US" sz="4800" b="1" i="0" kern="1200" dirty="0"/>
            <a:t>TDD - </a:t>
          </a:r>
          <a:r>
            <a:rPr lang="en-US" sz="4800" b="1" i="0" kern="1200" dirty="0" err="1"/>
            <a:t>Persistance</a:t>
          </a:r>
          <a:endParaRPr lang="en-US" sz="4800" kern="1200" dirty="0"/>
        </a:p>
      </dsp:txBody>
      <dsp:txXfrm>
        <a:off x="60148" y="122396"/>
        <a:ext cx="4862204" cy="1111838"/>
      </dsp:txXfrm>
    </dsp:sp>
  </dsp:spTree>
</dsp:drawing>
</file>

<file path=ppt/diagrams/drawing1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62248"/>
          <a:ext cx="4982500" cy="1232134"/>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82880" tIns="182880" rIns="182880" bIns="182880" numCol="1" spcCol="1270" anchor="ctr" anchorCtr="0">
          <a:noAutofit/>
        </a:bodyPr>
        <a:lstStyle/>
        <a:p>
          <a:pPr marL="0" lvl="0" indent="0" algn="l" defTabSz="2133600">
            <a:lnSpc>
              <a:spcPct val="90000"/>
            </a:lnSpc>
            <a:spcBef>
              <a:spcPct val="0"/>
            </a:spcBef>
            <a:spcAft>
              <a:spcPct val="35000"/>
            </a:spcAft>
            <a:buNone/>
          </a:pPr>
          <a:r>
            <a:rPr lang="en-US" sz="4800" b="1" i="0" kern="1200" dirty="0"/>
            <a:t>TDD - </a:t>
          </a:r>
          <a:r>
            <a:rPr lang="en-US" sz="4800" b="1" i="0" kern="1200" dirty="0" err="1"/>
            <a:t>Persistance</a:t>
          </a:r>
          <a:endParaRPr lang="en-US" sz="4800" kern="1200" dirty="0"/>
        </a:p>
      </dsp:txBody>
      <dsp:txXfrm>
        <a:off x="60148" y="122396"/>
        <a:ext cx="4862204" cy="1111838"/>
      </dsp:txXfrm>
    </dsp:sp>
  </dsp:spTree>
</dsp:drawing>
</file>

<file path=ppt/diagrams/drawing1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53863"/>
          <a:ext cx="8763000" cy="590397"/>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7630" tIns="87630" rIns="87630" bIns="87630" numCol="1" spcCol="1270" anchor="ctr" anchorCtr="0">
          <a:noAutofit/>
        </a:bodyPr>
        <a:lstStyle/>
        <a:p>
          <a:pPr marL="0" lvl="0" indent="0" algn="l" defTabSz="1022350">
            <a:lnSpc>
              <a:spcPct val="90000"/>
            </a:lnSpc>
            <a:spcBef>
              <a:spcPct val="0"/>
            </a:spcBef>
            <a:spcAft>
              <a:spcPct val="35000"/>
            </a:spcAft>
            <a:buNone/>
          </a:pPr>
          <a:r>
            <a:rPr lang="en-US" sz="2300" b="1" i="0" kern="1200" dirty="0"/>
            <a:t>TDD – Mocking &amp; Unit Testing Static Classes, Variables and Methods</a:t>
          </a:r>
          <a:endParaRPr lang="en-US" sz="2300" kern="1200" dirty="0"/>
        </a:p>
      </dsp:txBody>
      <dsp:txXfrm>
        <a:off x="28821" y="82684"/>
        <a:ext cx="8705358" cy="532755"/>
      </dsp:txXfrm>
    </dsp:sp>
  </dsp:spTree>
</dsp:drawing>
</file>

<file path=ppt/diagrams/drawing1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2902"/>
          <a:ext cx="8763000" cy="872761"/>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9540" tIns="129540" rIns="129540" bIns="129540" numCol="1" spcCol="1270" anchor="ctr" anchorCtr="0">
          <a:noAutofit/>
        </a:bodyPr>
        <a:lstStyle/>
        <a:p>
          <a:pPr marL="0" lvl="0" indent="0" algn="l" defTabSz="1511300">
            <a:lnSpc>
              <a:spcPct val="90000"/>
            </a:lnSpc>
            <a:spcBef>
              <a:spcPct val="0"/>
            </a:spcBef>
            <a:spcAft>
              <a:spcPct val="35000"/>
            </a:spcAft>
            <a:buNone/>
          </a:pPr>
          <a:r>
            <a:rPr lang="en-US" sz="3400" b="1" i="0" kern="1200" dirty="0"/>
            <a:t>TDD – Some Tricky ASP.NET Core Constructs</a:t>
          </a:r>
          <a:endParaRPr lang="en-US" sz="3400" kern="1200" dirty="0"/>
        </a:p>
      </dsp:txBody>
      <dsp:txXfrm>
        <a:off x="42605" y="45507"/>
        <a:ext cx="8677790" cy="787551"/>
      </dsp:txXfrm>
    </dsp:sp>
  </dsp:spTree>
</dsp:drawing>
</file>

<file path=ppt/diagrams/drawing1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2902"/>
          <a:ext cx="8763000" cy="872761"/>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9540" tIns="129540" rIns="129540" bIns="129540" numCol="1" spcCol="1270" anchor="ctr" anchorCtr="0">
          <a:noAutofit/>
        </a:bodyPr>
        <a:lstStyle/>
        <a:p>
          <a:pPr marL="0" lvl="0" indent="0" algn="l" defTabSz="1511300">
            <a:lnSpc>
              <a:spcPct val="90000"/>
            </a:lnSpc>
            <a:spcBef>
              <a:spcPct val="0"/>
            </a:spcBef>
            <a:spcAft>
              <a:spcPct val="35000"/>
            </a:spcAft>
            <a:buNone/>
          </a:pPr>
          <a:r>
            <a:rPr lang="en-US" sz="3400" b="1" i="0" kern="1200" dirty="0"/>
            <a:t>TDD – EF Core Testing Strategies</a:t>
          </a:r>
          <a:endParaRPr lang="en-US" sz="3400" kern="1200" dirty="0"/>
        </a:p>
      </dsp:txBody>
      <dsp:txXfrm>
        <a:off x="42605" y="45507"/>
        <a:ext cx="8677790" cy="787551"/>
      </dsp:txXfrm>
    </dsp:sp>
  </dsp:spTree>
</dsp:drawing>
</file>

<file path=ppt/diagrams/drawing1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85961"/>
          <a:ext cx="8763000" cy="718745"/>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b="1" i="0" kern="1200" dirty="0"/>
            <a:t>TDD – Some Mocking &amp; Unit Testing Use Cases in EF Core</a:t>
          </a:r>
          <a:endParaRPr lang="en-US" sz="2800" kern="1200" dirty="0"/>
        </a:p>
      </dsp:txBody>
      <dsp:txXfrm>
        <a:off x="35086" y="121047"/>
        <a:ext cx="8692828" cy="648573"/>
      </dsp:txXfrm>
    </dsp:sp>
  </dsp:spTree>
</dsp:drawing>
</file>

<file path=ppt/diagrams/drawing1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21769"/>
          <a:ext cx="4982500" cy="1309142"/>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94310" tIns="194310" rIns="194310" bIns="194310" numCol="1" spcCol="1270" anchor="ctr" anchorCtr="0">
          <a:noAutofit/>
        </a:bodyPr>
        <a:lstStyle/>
        <a:p>
          <a:pPr marL="0" lvl="0" indent="0" algn="l" defTabSz="2266950">
            <a:lnSpc>
              <a:spcPct val="90000"/>
            </a:lnSpc>
            <a:spcBef>
              <a:spcPct val="0"/>
            </a:spcBef>
            <a:spcAft>
              <a:spcPct val="35000"/>
            </a:spcAft>
            <a:buNone/>
          </a:pPr>
          <a:r>
            <a:rPr lang="en-US" sz="5100" b="1" i="0" kern="1200" dirty="0"/>
            <a:t>BDD- Basics</a:t>
          </a:r>
          <a:endParaRPr lang="en-US" sz="5100" kern="1200" dirty="0"/>
        </a:p>
      </dsp:txBody>
      <dsp:txXfrm>
        <a:off x="63907" y="85676"/>
        <a:ext cx="4854686" cy="1181328"/>
      </dsp:txXfrm>
    </dsp:sp>
  </dsp:spTree>
</dsp:drawing>
</file>

<file path=ppt/diagrams/drawing1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21769"/>
          <a:ext cx="4982500" cy="1309142"/>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94310" tIns="194310" rIns="194310" bIns="194310" numCol="1" spcCol="1270" anchor="ctr" anchorCtr="0">
          <a:noAutofit/>
        </a:bodyPr>
        <a:lstStyle/>
        <a:p>
          <a:pPr marL="0" lvl="0" indent="0" algn="l" defTabSz="2266950">
            <a:lnSpc>
              <a:spcPct val="90000"/>
            </a:lnSpc>
            <a:spcBef>
              <a:spcPct val="0"/>
            </a:spcBef>
            <a:spcAft>
              <a:spcPct val="35000"/>
            </a:spcAft>
            <a:buNone/>
          </a:pPr>
          <a:r>
            <a:rPr lang="en-US" sz="5100" b="1" i="0" kern="1200" dirty="0"/>
            <a:t>BDD- Gherkin</a:t>
          </a:r>
          <a:endParaRPr lang="en-US" sz="5100" kern="1200" dirty="0"/>
        </a:p>
      </dsp:txBody>
      <dsp:txXfrm>
        <a:off x="63907" y="85676"/>
        <a:ext cx="4854686" cy="1181328"/>
      </dsp:txXfrm>
    </dsp:sp>
  </dsp:spTree>
</dsp:drawing>
</file>

<file path=ppt/diagrams/drawing1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29528"/>
          <a:ext cx="8686800" cy="795753"/>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8110" tIns="118110" rIns="118110" bIns="118110" numCol="1" spcCol="1270" anchor="ctr" anchorCtr="0">
          <a:noAutofit/>
        </a:bodyPr>
        <a:lstStyle/>
        <a:p>
          <a:pPr marL="0" lvl="0" indent="0" algn="l" defTabSz="1377950">
            <a:lnSpc>
              <a:spcPct val="90000"/>
            </a:lnSpc>
            <a:spcBef>
              <a:spcPct val="0"/>
            </a:spcBef>
            <a:spcAft>
              <a:spcPct val="35000"/>
            </a:spcAft>
            <a:buNone/>
          </a:pPr>
          <a:r>
            <a:rPr lang="en-US" sz="3100" b="1" i="0" kern="1200" dirty="0"/>
            <a:t>BDD- ASP.NET Core Integration Testing Techniques</a:t>
          </a:r>
          <a:endParaRPr lang="en-US" sz="3100" kern="1200" dirty="0"/>
        </a:p>
      </dsp:txBody>
      <dsp:txXfrm>
        <a:off x="38845" y="68373"/>
        <a:ext cx="8609110" cy="718063"/>
      </dsp:txXfrm>
    </dsp:sp>
  </dsp:spTree>
</dsp:drawing>
</file>

<file path=ppt/diagrams/drawing1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29528"/>
          <a:ext cx="8686800" cy="795753"/>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8110" tIns="118110" rIns="118110" bIns="118110" numCol="1" spcCol="1270" anchor="ctr" anchorCtr="0">
          <a:noAutofit/>
        </a:bodyPr>
        <a:lstStyle/>
        <a:p>
          <a:pPr marL="0" lvl="0" indent="0" algn="l" defTabSz="1377950">
            <a:lnSpc>
              <a:spcPct val="90000"/>
            </a:lnSpc>
            <a:spcBef>
              <a:spcPct val="0"/>
            </a:spcBef>
            <a:spcAft>
              <a:spcPct val="35000"/>
            </a:spcAft>
            <a:buNone/>
          </a:pPr>
          <a:r>
            <a:rPr lang="en-US" sz="3100" b="1" i="0" kern="1200" dirty="0"/>
            <a:t>BDD- ASP.NET Core Integration Testing Techniques</a:t>
          </a:r>
          <a:endParaRPr lang="en-US" sz="3100" kern="1200" dirty="0"/>
        </a:p>
      </dsp:txBody>
      <dsp:txXfrm>
        <a:off x="38845" y="68373"/>
        <a:ext cx="8609110" cy="718063"/>
      </dsp:txXfrm>
    </dsp:sp>
  </dsp:spTree>
</dsp:drawing>
</file>

<file path=ppt/diagrams/drawing1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37114"/>
          <a:ext cx="4982500" cy="1283473"/>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90500" tIns="190500" rIns="190500" bIns="190500" numCol="1" spcCol="1270" anchor="ctr" anchorCtr="0">
          <a:noAutofit/>
        </a:bodyPr>
        <a:lstStyle/>
        <a:p>
          <a:pPr marL="0" lvl="0" indent="0" algn="l" defTabSz="2222500">
            <a:lnSpc>
              <a:spcPct val="90000"/>
            </a:lnSpc>
            <a:spcBef>
              <a:spcPct val="0"/>
            </a:spcBef>
            <a:spcAft>
              <a:spcPct val="35000"/>
            </a:spcAft>
            <a:buNone/>
          </a:pPr>
          <a:r>
            <a:rPr lang="en-US" sz="5000" b="1" i="0" kern="1200" dirty="0"/>
            <a:t>TD &amp; BDD- Katas</a:t>
          </a:r>
          <a:endParaRPr lang="en-US" sz="5000" kern="1200" dirty="0"/>
        </a:p>
      </dsp:txBody>
      <dsp:txXfrm>
        <a:off x="62654" y="99768"/>
        <a:ext cx="4857192" cy="1158165"/>
      </dsp:txXfrm>
    </dsp:sp>
  </dsp:spTree>
</dsp:drawing>
</file>

<file path=ppt/diagrams/drawing2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9067800" cy="433513"/>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kern="1200" dirty="0" err="1">
              <a:solidFill>
                <a:prstClr val="white"/>
              </a:solidFill>
              <a:latin typeface="Calibri"/>
              <a:ea typeface="+mn-ea"/>
              <a:cs typeface="+mn-cs"/>
            </a:rPr>
            <a:t>DevSecOps</a:t>
          </a:r>
          <a:endParaRPr lang="en-US" sz="2800" kern="1200" dirty="0">
            <a:solidFill>
              <a:prstClr val="white"/>
            </a:solidFill>
            <a:latin typeface="Calibri"/>
            <a:ea typeface="+mn-ea"/>
            <a:cs typeface="+mn-cs"/>
          </a:endParaRPr>
        </a:p>
      </dsp:txBody>
      <dsp:txXfrm>
        <a:off x="21162" y="21162"/>
        <a:ext cx="9025476" cy="391189"/>
      </dsp:txXfrm>
    </dsp:sp>
  </dsp:spTree>
</dsp:drawing>
</file>

<file path=ppt/diagrams/drawing2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9016388" cy="433513"/>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kern="1200" dirty="0" err="1">
              <a:solidFill>
                <a:prstClr val="white"/>
              </a:solidFill>
              <a:latin typeface="Calibri"/>
              <a:ea typeface="+mn-ea"/>
              <a:cs typeface="+mn-cs"/>
            </a:rPr>
            <a:t>DevSecOps</a:t>
          </a:r>
          <a:endParaRPr lang="en-US" sz="2800" kern="1200" dirty="0">
            <a:solidFill>
              <a:prstClr val="white"/>
            </a:solidFill>
            <a:latin typeface="Calibri"/>
            <a:ea typeface="+mn-ea"/>
            <a:cs typeface="+mn-cs"/>
          </a:endParaRPr>
        </a:p>
      </dsp:txBody>
      <dsp:txXfrm>
        <a:off x="21162" y="21162"/>
        <a:ext cx="8974064" cy="391189"/>
      </dsp:txXfrm>
    </dsp:sp>
  </dsp:spTree>
</dsp:drawing>
</file>

<file path=ppt/diagrams/drawing2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9067800" cy="433513"/>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kern="1200" dirty="0" err="1">
              <a:solidFill>
                <a:prstClr val="white"/>
              </a:solidFill>
              <a:latin typeface="Calibri"/>
              <a:ea typeface="+mn-ea"/>
              <a:cs typeface="+mn-cs"/>
            </a:rPr>
            <a:t>DevSecOps</a:t>
          </a:r>
          <a:endParaRPr lang="en-US" sz="2800" kern="1200" dirty="0">
            <a:solidFill>
              <a:prstClr val="white"/>
            </a:solidFill>
            <a:latin typeface="Calibri"/>
            <a:ea typeface="+mn-ea"/>
            <a:cs typeface="+mn-cs"/>
          </a:endParaRPr>
        </a:p>
      </dsp:txBody>
      <dsp:txXfrm>
        <a:off x="21162" y="21162"/>
        <a:ext cx="9025476" cy="391189"/>
      </dsp:txXfrm>
    </dsp:sp>
  </dsp:spTree>
</dsp:drawing>
</file>

<file path=ppt/diagrams/drawing2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9067800" cy="433513"/>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kern="1200" dirty="0" err="1">
              <a:solidFill>
                <a:prstClr val="white"/>
              </a:solidFill>
              <a:latin typeface="Calibri"/>
              <a:ea typeface="+mn-ea"/>
              <a:cs typeface="+mn-cs"/>
            </a:rPr>
            <a:t>DevSecOps</a:t>
          </a:r>
          <a:endParaRPr lang="en-US" sz="2800" kern="1200" dirty="0">
            <a:solidFill>
              <a:prstClr val="white"/>
            </a:solidFill>
            <a:latin typeface="Calibri"/>
            <a:ea typeface="+mn-ea"/>
            <a:cs typeface="+mn-cs"/>
          </a:endParaRPr>
        </a:p>
      </dsp:txBody>
      <dsp:txXfrm>
        <a:off x="21162" y="21162"/>
        <a:ext cx="9025476" cy="391189"/>
      </dsp:txXfrm>
    </dsp:sp>
  </dsp:spTree>
</dsp:drawing>
</file>

<file path=ppt/diagrams/drawing2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9016388" cy="433513"/>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kern="1200" dirty="0" err="1">
              <a:solidFill>
                <a:prstClr val="white"/>
              </a:solidFill>
              <a:latin typeface="Calibri"/>
              <a:ea typeface="+mn-ea"/>
              <a:cs typeface="+mn-cs"/>
            </a:rPr>
            <a:t>DevSecOps</a:t>
          </a:r>
          <a:endParaRPr lang="en-US" sz="2800" kern="1200" dirty="0">
            <a:solidFill>
              <a:prstClr val="white"/>
            </a:solidFill>
            <a:latin typeface="Calibri"/>
            <a:ea typeface="+mn-ea"/>
            <a:cs typeface="+mn-cs"/>
          </a:endParaRPr>
        </a:p>
      </dsp:txBody>
      <dsp:txXfrm>
        <a:off x="21162" y="21162"/>
        <a:ext cx="8974064" cy="391189"/>
      </dsp:txXfrm>
    </dsp:sp>
  </dsp:spTree>
</dsp:drawing>
</file>

<file path=ppt/diagrams/drawing2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9005937" cy="433513"/>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kern="1200" dirty="0" err="1">
              <a:solidFill>
                <a:prstClr val="white"/>
              </a:solidFill>
              <a:latin typeface="Calibri"/>
              <a:ea typeface="+mn-ea"/>
              <a:cs typeface="+mn-cs"/>
            </a:rPr>
            <a:t>DevSecOps</a:t>
          </a:r>
          <a:endParaRPr lang="en-US" sz="2800" kern="1200" dirty="0">
            <a:solidFill>
              <a:prstClr val="white"/>
            </a:solidFill>
            <a:latin typeface="Calibri"/>
            <a:ea typeface="+mn-ea"/>
            <a:cs typeface="+mn-cs"/>
          </a:endParaRPr>
        </a:p>
      </dsp:txBody>
      <dsp:txXfrm>
        <a:off x="21162" y="21162"/>
        <a:ext cx="8963613" cy="391189"/>
      </dsp:txXfrm>
    </dsp:sp>
  </dsp:spTree>
</dsp:drawing>
</file>

<file path=ppt/diagrams/drawing2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9144000" cy="422725"/>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kern="1200" dirty="0" err="1">
              <a:solidFill>
                <a:prstClr val="white"/>
              </a:solidFill>
              <a:latin typeface="Calibri"/>
              <a:ea typeface="+mn-ea"/>
              <a:cs typeface="+mn-cs"/>
            </a:rPr>
            <a:t>DevSecOps</a:t>
          </a:r>
          <a:endParaRPr lang="en-US" sz="2800" kern="1200" dirty="0">
            <a:solidFill>
              <a:prstClr val="white"/>
            </a:solidFill>
            <a:latin typeface="Calibri"/>
            <a:ea typeface="+mn-ea"/>
            <a:cs typeface="+mn-cs"/>
          </a:endParaRPr>
        </a:p>
      </dsp:txBody>
      <dsp:txXfrm>
        <a:off x="20636" y="20636"/>
        <a:ext cx="9102728" cy="381453"/>
      </dsp:txXfrm>
    </dsp:sp>
  </dsp:spTree>
</dsp:drawing>
</file>

<file path=ppt/diagrams/drawing2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9067800" cy="352366"/>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kern="1200" dirty="0" err="1">
              <a:solidFill>
                <a:prstClr val="white"/>
              </a:solidFill>
              <a:latin typeface="Calibri"/>
              <a:ea typeface="+mn-ea"/>
              <a:cs typeface="+mn-cs"/>
            </a:rPr>
            <a:t>DevSecOps</a:t>
          </a:r>
          <a:endParaRPr lang="en-US" sz="2800" kern="1200" dirty="0">
            <a:solidFill>
              <a:prstClr val="white"/>
            </a:solidFill>
            <a:latin typeface="Calibri"/>
            <a:ea typeface="+mn-ea"/>
            <a:cs typeface="+mn-cs"/>
          </a:endParaRPr>
        </a:p>
      </dsp:txBody>
      <dsp:txXfrm>
        <a:off x="17201" y="17201"/>
        <a:ext cx="9033398" cy="317964"/>
      </dsp:txXfrm>
    </dsp:sp>
  </dsp:spTree>
</dsp:drawing>
</file>

<file path=ppt/diagrams/drawing2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9144000" cy="422725"/>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kern="1200" dirty="0" err="1">
              <a:solidFill>
                <a:prstClr val="white"/>
              </a:solidFill>
              <a:latin typeface="Calibri"/>
              <a:ea typeface="+mn-ea"/>
              <a:cs typeface="+mn-cs"/>
            </a:rPr>
            <a:t>DevSecOps</a:t>
          </a:r>
          <a:endParaRPr lang="en-US" sz="2800" kern="1200" dirty="0">
            <a:solidFill>
              <a:prstClr val="white"/>
            </a:solidFill>
            <a:latin typeface="Calibri"/>
            <a:ea typeface="+mn-ea"/>
            <a:cs typeface="+mn-cs"/>
          </a:endParaRPr>
        </a:p>
      </dsp:txBody>
      <dsp:txXfrm>
        <a:off x="20636" y="20636"/>
        <a:ext cx="9102728" cy="381453"/>
      </dsp:txXfrm>
    </dsp:sp>
  </dsp:spTree>
</dsp:drawing>
</file>

<file path=ppt/diagrams/drawing2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9067800" cy="422725"/>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kern="1200" dirty="0" err="1">
              <a:solidFill>
                <a:prstClr val="white"/>
              </a:solidFill>
              <a:latin typeface="Calibri"/>
              <a:ea typeface="+mn-ea"/>
              <a:cs typeface="+mn-cs"/>
            </a:rPr>
            <a:t>DevSecOps</a:t>
          </a:r>
          <a:endParaRPr lang="en-US" sz="2800" kern="1200" dirty="0">
            <a:solidFill>
              <a:prstClr val="white"/>
            </a:solidFill>
            <a:latin typeface="Calibri"/>
            <a:ea typeface="+mn-ea"/>
            <a:cs typeface="+mn-cs"/>
          </a:endParaRPr>
        </a:p>
      </dsp:txBody>
      <dsp:txXfrm>
        <a:off x="20636" y="20636"/>
        <a:ext cx="9026528" cy="381453"/>
      </dsp:txXfrm>
    </dsp:sp>
  </dsp:spTree>
</dsp:drawing>
</file>

<file path=ppt/diagrams/drawing3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9053462" cy="433513"/>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kern="1200" dirty="0" err="1">
              <a:solidFill>
                <a:prstClr val="white"/>
              </a:solidFill>
              <a:latin typeface="Calibri"/>
              <a:ea typeface="+mn-ea"/>
              <a:cs typeface="+mn-cs"/>
            </a:rPr>
            <a:t>DevSecOps</a:t>
          </a:r>
          <a:endParaRPr lang="en-US" sz="2800" kern="1200" dirty="0">
            <a:solidFill>
              <a:prstClr val="white"/>
            </a:solidFill>
            <a:latin typeface="Calibri"/>
            <a:ea typeface="+mn-ea"/>
            <a:cs typeface="+mn-cs"/>
          </a:endParaRPr>
        </a:p>
      </dsp:txBody>
      <dsp:txXfrm>
        <a:off x="21162" y="21162"/>
        <a:ext cx="9011138" cy="391189"/>
      </dsp:txXfrm>
    </dsp:sp>
  </dsp:spTree>
</dsp:drawing>
</file>

<file path=ppt/diagrams/drawing3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102925"/>
          <a:ext cx="9144000" cy="433513"/>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kern="1200" dirty="0" err="1">
              <a:solidFill>
                <a:prstClr val="white"/>
              </a:solidFill>
              <a:latin typeface="Calibri"/>
              <a:ea typeface="+mn-ea"/>
              <a:cs typeface="+mn-cs"/>
            </a:rPr>
            <a:t>DevSecOps</a:t>
          </a:r>
          <a:endParaRPr lang="en-US" sz="2800" kern="1200" dirty="0">
            <a:solidFill>
              <a:prstClr val="white"/>
            </a:solidFill>
            <a:latin typeface="Calibri"/>
            <a:ea typeface="+mn-ea"/>
            <a:cs typeface="+mn-cs"/>
          </a:endParaRPr>
        </a:p>
      </dsp:txBody>
      <dsp:txXfrm>
        <a:off x="21162" y="124087"/>
        <a:ext cx="9101676" cy="391189"/>
      </dsp:txXfrm>
    </dsp:sp>
  </dsp:spTree>
</dsp:drawing>
</file>

<file path=ppt/diagrams/drawing3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9144000" cy="422725"/>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kern="1200" dirty="0" err="1">
              <a:solidFill>
                <a:prstClr val="white"/>
              </a:solidFill>
              <a:latin typeface="Calibri"/>
              <a:ea typeface="+mn-ea"/>
              <a:cs typeface="+mn-cs"/>
            </a:rPr>
            <a:t>DevSecOps</a:t>
          </a:r>
          <a:endParaRPr lang="en-US" sz="2800" kern="1200" dirty="0">
            <a:solidFill>
              <a:prstClr val="white"/>
            </a:solidFill>
            <a:latin typeface="Calibri"/>
            <a:ea typeface="+mn-ea"/>
            <a:cs typeface="+mn-cs"/>
          </a:endParaRPr>
        </a:p>
      </dsp:txBody>
      <dsp:txXfrm>
        <a:off x="20636" y="20636"/>
        <a:ext cx="9102728" cy="381453"/>
      </dsp:txXfrm>
    </dsp:sp>
  </dsp:spTree>
</dsp:drawing>
</file>

<file path=ppt/diagrams/drawing3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9144000" cy="422725"/>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kern="1200" dirty="0" err="1">
              <a:solidFill>
                <a:prstClr val="white"/>
              </a:solidFill>
              <a:latin typeface="Calibri"/>
              <a:ea typeface="+mn-ea"/>
              <a:cs typeface="+mn-cs"/>
            </a:rPr>
            <a:t>DevSecOps</a:t>
          </a:r>
          <a:endParaRPr lang="en-US" sz="2800" kern="1200" dirty="0">
            <a:solidFill>
              <a:prstClr val="white"/>
            </a:solidFill>
            <a:latin typeface="Calibri"/>
            <a:ea typeface="+mn-ea"/>
            <a:cs typeface="+mn-cs"/>
          </a:endParaRPr>
        </a:p>
      </dsp:txBody>
      <dsp:txXfrm>
        <a:off x="20636" y="20636"/>
        <a:ext cx="9102728" cy="381453"/>
      </dsp:txXfrm>
    </dsp:sp>
  </dsp:spTree>
</dsp:drawing>
</file>

<file path=ppt/diagrams/drawing3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129993"/>
          <a:ext cx="9144000" cy="433513"/>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kern="1200" dirty="0" err="1">
              <a:solidFill>
                <a:prstClr val="white"/>
              </a:solidFill>
              <a:latin typeface="Calibri"/>
              <a:ea typeface="+mn-ea"/>
              <a:cs typeface="+mn-cs"/>
            </a:rPr>
            <a:t>DevSecOps</a:t>
          </a:r>
          <a:endParaRPr lang="en-US" sz="2800" kern="1200" dirty="0">
            <a:solidFill>
              <a:prstClr val="white"/>
            </a:solidFill>
            <a:latin typeface="Calibri"/>
            <a:ea typeface="+mn-ea"/>
            <a:cs typeface="+mn-cs"/>
          </a:endParaRPr>
        </a:p>
      </dsp:txBody>
      <dsp:txXfrm>
        <a:off x="21162" y="151155"/>
        <a:ext cx="9101676" cy="391189"/>
      </dsp:txXfrm>
    </dsp:sp>
  </dsp:spTree>
</dsp:drawing>
</file>

<file path=ppt/diagrams/drawing3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9144000" cy="350134"/>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kern="1200" dirty="0" err="1">
              <a:solidFill>
                <a:prstClr val="white"/>
              </a:solidFill>
              <a:latin typeface="Calibri"/>
              <a:ea typeface="+mn-ea"/>
              <a:cs typeface="+mn-cs"/>
            </a:rPr>
            <a:t>DevSecOps</a:t>
          </a:r>
          <a:endParaRPr lang="en-US" sz="2800" kern="1200" dirty="0">
            <a:solidFill>
              <a:prstClr val="white"/>
            </a:solidFill>
            <a:latin typeface="Calibri"/>
            <a:ea typeface="+mn-ea"/>
            <a:cs typeface="+mn-cs"/>
          </a:endParaRPr>
        </a:p>
      </dsp:txBody>
      <dsp:txXfrm>
        <a:off x="17092" y="17092"/>
        <a:ext cx="9109816" cy="315950"/>
      </dsp:txXfrm>
    </dsp:sp>
  </dsp:spTree>
</dsp:drawing>
</file>

<file path=ppt/diagrams/drawing3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9144000" cy="422725"/>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kern="1200" dirty="0" err="1">
              <a:solidFill>
                <a:prstClr val="white"/>
              </a:solidFill>
              <a:latin typeface="Calibri"/>
              <a:ea typeface="+mn-ea"/>
              <a:cs typeface="+mn-cs"/>
            </a:rPr>
            <a:t>DevSecOps</a:t>
          </a:r>
          <a:endParaRPr lang="en-US" sz="2800" kern="1200" dirty="0">
            <a:solidFill>
              <a:prstClr val="white"/>
            </a:solidFill>
            <a:latin typeface="Calibri"/>
            <a:ea typeface="+mn-ea"/>
            <a:cs typeface="+mn-cs"/>
          </a:endParaRPr>
        </a:p>
      </dsp:txBody>
      <dsp:txXfrm>
        <a:off x="20636" y="20636"/>
        <a:ext cx="9102728" cy="381453"/>
      </dsp:txXfrm>
    </dsp:sp>
  </dsp:spTree>
</dsp:drawing>
</file>

<file path=ppt/diagrams/drawing3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9144000" cy="433513"/>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kern="1200" dirty="0" err="1">
              <a:solidFill>
                <a:prstClr val="white"/>
              </a:solidFill>
              <a:latin typeface="Calibri"/>
              <a:ea typeface="+mn-ea"/>
              <a:cs typeface="+mn-cs"/>
            </a:rPr>
            <a:t>DevSecOps</a:t>
          </a:r>
          <a:endParaRPr lang="en-US" sz="2800" kern="1200" dirty="0">
            <a:solidFill>
              <a:prstClr val="white"/>
            </a:solidFill>
            <a:latin typeface="Calibri"/>
            <a:ea typeface="+mn-ea"/>
            <a:cs typeface="+mn-cs"/>
          </a:endParaRPr>
        </a:p>
      </dsp:txBody>
      <dsp:txXfrm>
        <a:off x="21162" y="21162"/>
        <a:ext cx="9101676" cy="391189"/>
      </dsp:txXfrm>
    </dsp:sp>
  </dsp:spTree>
</dsp:drawing>
</file>

<file path=ppt/diagrams/drawing3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9144000" cy="377842"/>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kern="1200" dirty="0" err="1">
              <a:solidFill>
                <a:prstClr val="white"/>
              </a:solidFill>
              <a:latin typeface="Calibri"/>
              <a:ea typeface="+mn-ea"/>
              <a:cs typeface="+mn-cs"/>
            </a:rPr>
            <a:t>DevSecOps</a:t>
          </a:r>
          <a:endParaRPr lang="en-US" sz="2800" kern="1200" dirty="0">
            <a:solidFill>
              <a:prstClr val="white"/>
            </a:solidFill>
            <a:latin typeface="Calibri"/>
            <a:ea typeface="+mn-ea"/>
            <a:cs typeface="+mn-cs"/>
          </a:endParaRPr>
        </a:p>
      </dsp:txBody>
      <dsp:txXfrm>
        <a:off x="18445" y="18445"/>
        <a:ext cx="9107110" cy="340952"/>
      </dsp:txXfrm>
    </dsp:sp>
  </dsp:spTree>
</dsp:drawing>
</file>

<file path=ppt/diagrams/drawing3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8991600" cy="350506"/>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kern="1200" dirty="0" err="1">
              <a:solidFill>
                <a:prstClr val="white"/>
              </a:solidFill>
              <a:latin typeface="Calibri"/>
              <a:ea typeface="+mn-ea"/>
              <a:cs typeface="+mn-cs"/>
            </a:rPr>
            <a:t>DevSecOps</a:t>
          </a:r>
          <a:endParaRPr lang="en-US" sz="2800" kern="1200" dirty="0">
            <a:solidFill>
              <a:prstClr val="white"/>
            </a:solidFill>
            <a:latin typeface="Calibri"/>
            <a:ea typeface="+mn-ea"/>
            <a:cs typeface="+mn-cs"/>
          </a:endParaRPr>
        </a:p>
      </dsp:txBody>
      <dsp:txXfrm>
        <a:off x="17110" y="17110"/>
        <a:ext cx="8957380" cy="316286"/>
      </dsp:txXfrm>
    </dsp:sp>
  </dsp:spTree>
</dsp:drawing>
</file>

<file path=ppt/diagrams/drawing4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9143306" cy="422725"/>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kern="1200" dirty="0">
              <a:solidFill>
                <a:prstClr val="white"/>
              </a:solidFill>
              <a:latin typeface="Calibri"/>
              <a:ea typeface="+mn-ea"/>
              <a:cs typeface="+mn-cs"/>
            </a:rPr>
            <a:t>(Closed Loop) SRE</a:t>
          </a:r>
        </a:p>
      </dsp:txBody>
      <dsp:txXfrm>
        <a:off x="20636" y="20636"/>
        <a:ext cx="9102034" cy="381453"/>
      </dsp:txXfrm>
    </dsp:sp>
  </dsp:spTree>
</dsp:drawing>
</file>

<file path=ppt/diagrams/drawing4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9143306" cy="422725"/>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kern="1200" dirty="0">
              <a:solidFill>
                <a:prstClr val="white"/>
              </a:solidFill>
              <a:latin typeface="Calibri"/>
              <a:ea typeface="+mn-ea"/>
              <a:cs typeface="+mn-cs"/>
            </a:rPr>
            <a:t>(Closed Loop) SRE</a:t>
          </a:r>
        </a:p>
      </dsp:txBody>
      <dsp:txXfrm>
        <a:off x="20636" y="20636"/>
        <a:ext cx="9102034" cy="381453"/>
      </dsp:txXfrm>
    </dsp:sp>
  </dsp:spTree>
</dsp:drawing>
</file>

<file path=ppt/diagrams/drawing4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9143306" cy="422725"/>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kern="1200" dirty="0">
              <a:solidFill>
                <a:prstClr val="white"/>
              </a:solidFill>
              <a:latin typeface="Calibri"/>
              <a:ea typeface="+mn-ea"/>
              <a:cs typeface="+mn-cs"/>
            </a:rPr>
            <a:t>(Closed Loop) SRE</a:t>
          </a:r>
        </a:p>
      </dsp:txBody>
      <dsp:txXfrm>
        <a:off x="20636" y="20636"/>
        <a:ext cx="9102034" cy="381453"/>
      </dsp:txXfrm>
    </dsp:sp>
  </dsp:spTree>
</dsp:drawing>
</file>

<file path=ppt/diagrams/drawing4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9143306" cy="422725"/>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kern="1200" dirty="0">
              <a:solidFill>
                <a:prstClr val="white"/>
              </a:solidFill>
              <a:latin typeface="Calibri"/>
              <a:ea typeface="+mn-ea"/>
              <a:cs typeface="+mn-cs"/>
            </a:rPr>
            <a:t>(Closed Loop) SRE</a:t>
          </a:r>
        </a:p>
      </dsp:txBody>
      <dsp:txXfrm>
        <a:off x="20636" y="20636"/>
        <a:ext cx="9102034" cy="381453"/>
      </dsp:txXfrm>
    </dsp:sp>
  </dsp:spTree>
</dsp:drawing>
</file>

<file path=ppt/diagrams/drawing4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9143306" cy="422725"/>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kern="1200" dirty="0">
              <a:solidFill>
                <a:prstClr val="white"/>
              </a:solidFill>
              <a:latin typeface="Calibri"/>
              <a:ea typeface="+mn-ea"/>
              <a:cs typeface="+mn-cs"/>
            </a:rPr>
            <a:t>(Closed Loop) SRE</a:t>
          </a:r>
        </a:p>
      </dsp:txBody>
      <dsp:txXfrm>
        <a:off x="20636" y="20636"/>
        <a:ext cx="9102034" cy="381453"/>
      </dsp:txXfrm>
    </dsp:sp>
  </dsp:spTree>
</dsp:drawing>
</file>

<file path=ppt/diagrams/drawing4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9143306" cy="422725"/>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kern="1200" dirty="0">
              <a:solidFill>
                <a:prstClr val="white"/>
              </a:solidFill>
              <a:latin typeface="Calibri"/>
              <a:ea typeface="+mn-ea"/>
              <a:cs typeface="+mn-cs"/>
            </a:rPr>
            <a:t>(Closed Loop) SRE</a:t>
          </a:r>
        </a:p>
      </dsp:txBody>
      <dsp:txXfrm>
        <a:off x="20636" y="20636"/>
        <a:ext cx="9102034" cy="381453"/>
      </dsp:txXfrm>
    </dsp:sp>
  </dsp:spTree>
</dsp:drawing>
</file>

<file path=ppt/diagrams/drawing4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9143306" cy="422725"/>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kern="1200" dirty="0">
              <a:solidFill>
                <a:prstClr val="white"/>
              </a:solidFill>
              <a:latin typeface="Calibri"/>
              <a:ea typeface="+mn-ea"/>
              <a:cs typeface="+mn-cs"/>
            </a:rPr>
            <a:t>(Closed Loop) SRE</a:t>
          </a:r>
        </a:p>
      </dsp:txBody>
      <dsp:txXfrm>
        <a:off x="20636" y="20636"/>
        <a:ext cx="9102034" cy="381453"/>
      </dsp:txXfrm>
    </dsp:sp>
  </dsp:spTree>
</dsp:drawing>
</file>

<file path=ppt/diagrams/drawing4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9143306" cy="422725"/>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kern="1200" dirty="0">
              <a:solidFill>
                <a:prstClr val="white"/>
              </a:solidFill>
              <a:latin typeface="Calibri"/>
              <a:ea typeface="+mn-ea"/>
              <a:cs typeface="+mn-cs"/>
            </a:rPr>
            <a:t>(Closed Loop) SRE</a:t>
          </a:r>
        </a:p>
      </dsp:txBody>
      <dsp:txXfrm>
        <a:off x="20636" y="20636"/>
        <a:ext cx="9102034" cy="381453"/>
      </dsp:txXfrm>
    </dsp:sp>
  </dsp:spTree>
</dsp:drawing>
</file>

<file path=ppt/diagrams/drawing4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9143306" cy="422725"/>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kern="1200" dirty="0">
              <a:solidFill>
                <a:prstClr val="white"/>
              </a:solidFill>
              <a:latin typeface="Calibri"/>
              <a:ea typeface="+mn-ea"/>
              <a:cs typeface="+mn-cs"/>
            </a:rPr>
            <a:t>(Closed Loop) SRE</a:t>
          </a:r>
        </a:p>
      </dsp:txBody>
      <dsp:txXfrm>
        <a:off x="20636" y="20636"/>
        <a:ext cx="9102034" cy="381453"/>
      </dsp:txXfrm>
    </dsp:sp>
  </dsp:spTree>
</dsp:drawing>
</file>

<file path=ppt/diagrams/drawing4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9143306" cy="422725"/>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kern="1200" dirty="0">
              <a:solidFill>
                <a:prstClr val="white"/>
              </a:solidFill>
              <a:latin typeface="Calibri"/>
              <a:ea typeface="+mn-ea"/>
              <a:cs typeface="+mn-cs"/>
            </a:rPr>
            <a:t>(Closed Loop) SRE</a:t>
          </a:r>
        </a:p>
      </dsp:txBody>
      <dsp:txXfrm>
        <a:off x="20636" y="20636"/>
        <a:ext cx="9102034" cy="381453"/>
      </dsp:txXfrm>
    </dsp:sp>
  </dsp:spTree>
</dsp:drawing>
</file>

<file path=ppt/diagrams/drawing5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9143306" cy="422725"/>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kern="1200" dirty="0">
              <a:solidFill>
                <a:prstClr val="white"/>
              </a:solidFill>
              <a:latin typeface="Calibri"/>
              <a:ea typeface="+mn-ea"/>
              <a:cs typeface="+mn-cs"/>
            </a:rPr>
            <a:t>(Closed Loop) SRE</a:t>
          </a:r>
        </a:p>
      </dsp:txBody>
      <dsp:txXfrm>
        <a:off x="20636" y="20636"/>
        <a:ext cx="9102034" cy="381453"/>
      </dsp:txXfrm>
    </dsp:sp>
  </dsp:spTree>
</dsp:drawing>
</file>

<file path=ppt/diagrams/drawing5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8929735" cy="422725"/>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kern="1200" dirty="0">
              <a:solidFill>
                <a:prstClr val="white"/>
              </a:solidFill>
              <a:latin typeface="Calibri"/>
              <a:ea typeface="+mn-ea"/>
              <a:cs typeface="+mn-cs"/>
            </a:rPr>
            <a:t>(Closed Loop) SRE</a:t>
          </a:r>
        </a:p>
      </dsp:txBody>
      <dsp:txXfrm>
        <a:off x="20636" y="20636"/>
        <a:ext cx="8888463" cy="381453"/>
      </dsp:txXfrm>
    </dsp:sp>
  </dsp:spTree>
</dsp:drawing>
</file>

<file path=ppt/diagrams/drawing5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8929735" cy="422725"/>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kern="1200" dirty="0">
              <a:solidFill>
                <a:prstClr val="white"/>
              </a:solidFill>
              <a:latin typeface="Calibri"/>
              <a:ea typeface="+mn-ea"/>
              <a:cs typeface="+mn-cs"/>
            </a:rPr>
            <a:t>(Closed Loop) SRE</a:t>
          </a:r>
        </a:p>
      </dsp:txBody>
      <dsp:txXfrm>
        <a:off x="20636" y="20636"/>
        <a:ext cx="8888463" cy="381453"/>
      </dsp:txXfrm>
    </dsp:sp>
  </dsp:spTree>
</dsp:drawing>
</file>

<file path=ppt/diagrams/drawing5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8929735" cy="422725"/>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kern="1200" dirty="0">
              <a:solidFill>
                <a:prstClr val="white"/>
              </a:solidFill>
              <a:latin typeface="Calibri"/>
              <a:ea typeface="+mn-ea"/>
              <a:cs typeface="+mn-cs"/>
            </a:rPr>
            <a:t>(Closed Loop) SRE</a:t>
          </a:r>
        </a:p>
      </dsp:txBody>
      <dsp:txXfrm>
        <a:off x="20636" y="20636"/>
        <a:ext cx="8888463" cy="381453"/>
      </dsp:txXfrm>
    </dsp:sp>
  </dsp:spTree>
</dsp:drawing>
</file>

<file path=ppt/diagrams/drawing5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8929735" cy="422725"/>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kern="1200" dirty="0">
              <a:solidFill>
                <a:prstClr val="white"/>
              </a:solidFill>
              <a:latin typeface="Calibri"/>
              <a:ea typeface="+mn-ea"/>
              <a:cs typeface="+mn-cs"/>
            </a:rPr>
            <a:t>(Closed Loop) SRE</a:t>
          </a:r>
        </a:p>
      </dsp:txBody>
      <dsp:txXfrm>
        <a:off x="20636" y="20636"/>
        <a:ext cx="8888463" cy="381453"/>
      </dsp:txXfrm>
    </dsp:sp>
  </dsp:spTree>
</dsp:drawing>
</file>

<file path=ppt/diagrams/drawing5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9144000" cy="407642"/>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kern="1200" dirty="0">
              <a:solidFill>
                <a:prstClr val="white"/>
              </a:solidFill>
              <a:latin typeface="Calibri"/>
              <a:ea typeface="+mn-ea"/>
              <a:cs typeface="+mn-cs"/>
            </a:rPr>
            <a:t>(Closed Loop) SRE</a:t>
          </a:r>
        </a:p>
      </dsp:txBody>
      <dsp:txXfrm>
        <a:off x="19899" y="19899"/>
        <a:ext cx="9104202" cy="367844"/>
      </dsp:txXfrm>
    </dsp:sp>
  </dsp:spTree>
</dsp:drawing>
</file>

<file path=ppt/diagrams/drawing5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8915398" cy="433513"/>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kern="1200" dirty="0">
              <a:solidFill>
                <a:prstClr val="white"/>
              </a:solidFill>
              <a:latin typeface="Calibri"/>
              <a:ea typeface="+mn-ea"/>
              <a:cs typeface="+mn-cs"/>
            </a:rPr>
            <a:t>(Closed Loop) SRE</a:t>
          </a:r>
        </a:p>
      </dsp:txBody>
      <dsp:txXfrm>
        <a:off x="21162" y="21162"/>
        <a:ext cx="8873074" cy="391189"/>
      </dsp:txXfrm>
    </dsp:sp>
  </dsp:spTree>
</dsp:drawing>
</file>

<file path=ppt/diagrams/drawing5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9144000" cy="407642"/>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kern="1200" dirty="0">
              <a:solidFill>
                <a:prstClr val="white"/>
              </a:solidFill>
              <a:latin typeface="Calibri"/>
              <a:ea typeface="+mn-ea"/>
              <a:cs typeface="+mn-cs"/>
            </a:rPr>
            <a:t>(Closed Loop) SRE</a:t>
          </a:r>
        </a:p>
      </dsp:txBody>
      <dsp:txXfrm>
        <a:off x="19899" y="19899"/>
        <a:ext cx="9104202" cy="367844"/>
      </dsp:txXfrm>
    </dsp:sp>
  </dsp:spTree>
</dsp:drawing>
</file>

<file path=ppt/diagrams/drawing5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9144000" cy="407642"/>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kern="1200" dirty="0">
              <a:solidFill>
                <a:prstClr val="white"/>
              </a:solidFill>
              <a:latin typeface="Calibri"/>
              <a:ea typeface="+mn-ea"/>
              <a:cs typeface="+mn-cs"/>
            </a:rPr>
            <a:t>(Closed Loop) SRE</a:t>
          </a:r>
        </a:p>
      </dsp:txBody>
      <dsp:txXfrm>
        <a:off x="19899" y="19899"/>
        <a:ext cx="9104202" cy="367844"/>
      </dsp:txXfrm>
    </dsp:sp>
  </dsp:spTree>
</dsp:drawing>
</file>

<file path=ppt/diagrams/drawing5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9144000" cy="407642"/>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kern="1200" dirty="0">
              <a:solidFill>
                <a:prstClr val="white"/>
              </a:solidFill>
              <a:latin typeface="Calibri"/>
              <a:ea typeface="+mn-ea"/>
              <a:cs typeface="+mn-cs"/>
            </a:rPr>
            <a:t>(Closed Loop) SRE</a:t>
          </a:r>
        </a:p>
      </dsp:txBody>
      <dsp:txXfrm>
        <a:off x="19899" y="19899"/>
        <a:ext cx="9104202" cy="367844"/>
      </dsp:txXfrm>
    </dsp:sp>
  </dsp:spTree>
</dsp:drawing>
</file>

<file path=ppt/diagrams/drawing6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9144000" cy="407642"/>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kern="1200" dirty="0">
              <a:solidFill>
                <a:prstClr val="white"/>
              </a:solidFill>
              <a:latin typeface="Calibri"/>
              <a:ea typeface="+mn-ea"/>
              <a:cs typeface="+mn-cs"/>
            </a:rPr>
            <a:t>(Closed Loop) SRE</a:t>
          </a:r>
        </a:p>
      </dsp:txBody>
      <dsp:txXfrm>
        <a:off x="19899" y="19899"/>
        <a:ext cx="9104202" cy="367844"/>
      </dsp:txXfrm>
    </dsp:sp>
  </dsp:spTree>
</dsp:drawing>
</file>

<file path=ppt/diagrams/drawing6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9144000" cy="407642"/>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kern="1200" dirty="0">
              <a:solidFill>
                <a:prstClr val="white"/>
              </a:solidFill>
              <a:latin typeface="Calibri"/>
              <a:ea typeface="+mn-ea"/>
              <a:cs typeface="+mn-cs"/>
            </a:rPr>
            <a:t>(Closed Loop) SRE</a:t>
          </a:r>
        </a:p>
      </dsp:txBody>
      <dsp:txXfrm>
        <a:off x="19899" y="19899"/>
        <a:ext cx="9104202" cy="367844"/>
      </dsp:txXfrm>
    </dsp:sp>
  </dsp:spTree>
</dsp:drawing>
</file>

<file path=ppt/diagrams/drawing6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9144000" cy="407642"/>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kern="1200" dirty="0">
              <a:solidFill>
                <a:prstClr val="white"/>
              </a:solidFill>
              <a:latin typeface="Calibri"/>
              <a:ea typeface="+mn-ea"/>
              <a:cs typeface="+mn-cs"/>
            </a:rPr>
            <a:t>(Closed Loop) SRE</a:t>
          </a:r>
        </a:p>
      </dsp:txBody>
      <dsp:txXfrm>
        <a:off x="19899" y="19899"/>
        <a:ext cx="9104202" cy="367844"/>
      </dsp:txXfrm>
    </dsp:sp>
  </dsp:spTree>
</dsp:drawing>
</file>

<file path=ppt/diagrams/drawing6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9144000" cy="407642"/>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kern="1200" dirty="0">
              <a:solidFill>
                <a:prstClr val="white"/>
              </a:solidFill>
              <a:latin typeface="Calibri"/>
              <a:ea typeface="+mn-ea"/>
              <a:cs typeface="+mn-cs"/>
            </a:rPr>
            <a:t>(Closed Loop) SRE</a:t>
          </a:r>
        </a:p>
      </dsp:txBody>
      <dsp:txXfrm>
        <a:off x="19899" y="19899"/>
        <a:ext cx="9104202" cy="367844"/>
      </dsp:txXfrm>
    </dsp:sp>
  </dsp:spTree>
</dsp:drawing>
</file>

<file path=ppt/diagrams/drawing6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9144000" cy="407642"/>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kern="1200" dirty="0">
              <a:solidFill>
                <a:prstClr val="white"/>
              </a:solidFill>
              <a:latin typeface="Calibri"/>
              <a:ea typeface="+mn-ea"/>
              <a:cs typeface="+mn-cs"/>
            </a:rPr>
            <a:t>(Closed Loop) SRE</a:t>
          </a:r>
        </a:p>
      </dsp:txBody>
      <dsp:txXfrm>
        <a:off x="19899" y="19899"/>
        <a:ext cx="9104202" cy="367844"/>
      </dsp:txXfrm>
    </dsp:sp>
  </dsp:spTree>
</dsp:drawing>
</file>

<file path=ppt/diagrams/drawing6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9144000" cy="407642"/>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kern="1200" dirty="0">
              <a:solidFill>
                <a:prstClr val="white"/>
              </a:solidFill>
              <a:latin typeface="Calibri"/>
              <a:ea typeface="+mn-ea"/>
              <a:cs typeface="+mn-cs"/>
            </a:rPr>
            <a:t>(Closed Loop) SRE</a:t>
          </a:r>
        </a:p>
      </dsp:txBody>
      <dsp:txXfrm>
        <a:off x="19899" y="19899"/>
        <a:ext cx="9104202" cy="367844"/>
      </dsp:txXfrm>
    </dsp:sp>
  </dsp:spTree>
</dsp:drawing>
</file>

<file path=ppt/diagrams/drawing6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8991600" cy="433513"/>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kern="1200" dirty="0">
              <a:solidFill>
                <a:prstClr val="white"/>
              </a:solidFill>
              <a:latin typeface="Calibri"/>
              <a:ea typeface="+mn-ea"/>
              <a:cs typeface="+mn-cs"/>
            </a:rPr>
            <a:t>(Closed Loop) SRE</a:t>
          </a:r>
        </a:p>
      </dsp:txBody>
      <dsp:txXfrm>
        <a:off x="21162" y="21162"/>
        <a:ext cx="8949276" cy="391189"/>
      </dsp:txXfrm>
    </dsp:sp>
  </dsp:spTree>
</dsp:drawing>
</file>

<file path=ppt/diagrams/drawing6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9144000" cy="407642"/>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kern="1200" dirty="0">
              <a:solidFill>
                <a:prstClr val="white"/>
              </a:solidFill>
              <a:latin typeface="Calibri"/>
              <a:ea typeface="+mn-ea"/>
              <a:cs typeface="+mn-cs"/>
            </a:rPr>
            <a:t>(Closed Loop) SRE</a:t>
          </a:r>
        </a:p>
      </dsp:txBody>
      <dsp:txXfrm>
        <a:off x="19899" y="19899"/>
        <a:ext cx="9104202" cy="367844"/>
      </dsp:txXfrm>
    </dsp:sp>
  </dsp:spTree>
</dsp:drawing>
</file>

<file path=ppt/diagrams/drawing6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9144000" cy="407642"/>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IN" sz="2800" b="1" i="0" kern="1200" dirty="0"/>
            <a:t>Service Mesh</a:t>
          </a:r>
          <a:endParaRPr lang="en-US" sz="2800" kern="1200" dirty="0">
            <a:solidFill>
              <a:prstClr val="white"/>
            </a:solidFill>
            <a:latin typeface="Calibri"/>
            <a:ea typeface="+mn-ea"/>
            <a:cs typeface="+mn-cs"/>
          </a:endParaRPr>
        </a:p>
      </dsp:txBody>
      <dsp:txXfrm>
        <a:off x="19899" y="19899"/>
        <a:ext cx="9104202" cy="367844"/>
      </dsp:txXfrm>
    </dsp:sp>
  </dsp:spTree>
</dsp:drawing>
</file>

<file path=ppt/diagrams/drawing6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9144000" cy="407642"/>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IN" sz="2800" b="1" i="0" kern="1200" dirty="0"/>
            <a:t>Service Mesh</a:t>
          </a:r>
          <a:endParaRPr lang="en-US" sz="2800" kern="1200" dirty="0">
            <a:solidFill>
              <a:prstClr val="white"/>
            </a:solidFill>
            <a:latin typeface="Calibri"/>
            <a:ea typeface="+mn-ea"/>
            <a:cs typeface="+mn-cs"/>
          </a:endParaRPr>
        </a:p>
      </dsp:txBody>
      <dsp:txXfrm>
        <a:off x="19899" y="19899"/>
        <a:ext cx="9104202" cy="367844"/>
      </dsp:txXfrm>
    </dsp:sp>
  </dsp:spTree>
</dsp:drawing>
</file>

<file path=ppt/diagrams/drawing7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9144000" cy="407642"/>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IN" sz="2800" b="1" i="0" kern="1200" dirty="0"/>
            <a:t>Service Mesh</a:t>
          </a:r>
          <a:endParaRPr lang="en-US" sz="2800" kern="1200" dirty="0">
            <a:solidFill>
              <a:prstClr val="white"/>
            </a:solidFill>
            <a:latin typeface="Calibri"/>
            <a:ea typeface="+mn-ea"/>
            <a:cs typeface="+mn-cs"/>
          </a:endParaRPr>
        </a:p>
      </dsp:txBody>
      <dsp:txXfrm>
        <a:off x="19899" y="19899"/>
        <a:ext cx="9104202" cy="367844"/>
      </dsp:txXfrm>
    </dsp:sp>
  </dsp:spTree>
</dsp:drawing>
</file>

<file path=ppt/diagrams/drawing7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9144000" cy="407642"/>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IN" sz="2800" b="1" i="0" kern="1200" dirty="0"/>
            <a:t>Service Mesh</a:t>
          </a:r>
          <a:endParaRPr lang="en-US" sz="2800" kern="1200" dirty="0">
            <a:solidFill>
              <a:prstClr val="white"/>
            </a:solidFill>
            <a:latin typeface="Calibri"/>
            <a:ea typeface="+mn-ea"/>
            <a:cs typeface="+mn-cs"/>
          </a:endParaRPr>
        </a:p>
      </dsp:txBody>
      <dsp:txXfrm>
        <a:off x="19899" y="19899"/>
        <a:ext cx="9104202" cy="367844"/>
      </dsp:txXfrm>
    </dsp:sp>
  </dsp:spTree>
</dsp:drawing>
</file>

<file path=ppt/diagrams/drawing7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9144000" cy="407642"/>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IN" sz="2800" b="1" i="0" kern="1200" dirty="0"/>
            <a:t>Service Mesh</a:t>
          </a:r>
          <a:endParaRPr lang="en-US" sz="2800" kern="1200" dirty="0">
            <a:solidFill>
              <a:prstClr val="white"/>
            </a:solidFill>
            <a:latin typeface="Calibri"/>
            <a:ea typeface="+mn-ea"/>
            <a:cs typeface="+mn-cs"/>
          </a:endParaRPr>
        </a:p>
      </dsp:txBody>
      <dsp:txXfrm>
        <a:off x="19899" y="19899"/>
        <a:ext cx="9104202" cy="367844"/>
      </dsp:txXfrm>
    </dsp:sp>
  </dsp:spTree>
</dsp:drawing>
</file>

<file path=ppt/diagrams/drawing7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9144000" cy="407642"/>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IN" sz="2800" b="1" i="0" kern="1200" dirty="0"/>
            <a:t>Service Mesh</a:t>
          </a:r>
          <a:endParaRPr lang="en-US" sz="2800" kern="1200" dirty="0">
            <a:solidFill>
              <a:prstClr val="white"/>
            </a:solidFill>
            <a:latin typeface="Calibri"/>
            <a:ea typeface="+mn-ea"/>
            <a:cs typeface="+mn-cs"/>
          </a:endParaRPr>
        </a:p>
      </dsp:txBody>
      <dsp:txXfrm>
        <a:off x="19899" y="19899"/>
        <a:ext cx="9104202" cy="367844"/>
      </dsp:txXfrm>
    </dsp:sp>
  </dsp:spTree>
</dsp:drawing>
</file>

<file path=ppt/diagrams/drawing7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9144000" cy="407642"/>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IN" sz="2800" b="1" i="0" kern="1200" dirty="0"/>
            <a:t>Service Mesh</a:t>
          </a:r>
          <a:endParaRPr lang="en-US" sz="2800" kern="1200" dirty="0">
            <a:solidFill>
              <a:prstClr val="white"/>
            </a:solidFill>
            <a:latin typeface="Calibri"/>
            <a:ea typeface="+mn-ea"/>
            <a:cs typeface="+mn-cs"/>
          </a:endParaRPr>
        </a:p>
      </dsp:txBody>
      <dsp:txXfrm>
        <a:off x="19899" y="19899"/>
        <a:ext cx="9104202" cy="367844"/>
      </dsp:txXfrm>
    </dsp:sp>
  </dsp:spTree>
</dsp:drawing>
</file>

<file path=ppt/diagrams/drawing7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9144000" cy="407642"/>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IN" sz="2800" b="1" i="0" kern="1200" dirty="0"/>
            <a:t>Service Mesh</a:t>
          </a:r>
          <a:endParaRPr lang="en-US" sz="2800" kern="1200" dirty="0">
            <a:solidFill>
              <a:prstClr val="white"/>
            </a:solidFill>
            <a:latin typeface="Calibri"/>
            <a:ea typeface="+mn-ea"/>
            <a:cs typeface="+mn-cs"/>
          </a:endParaRPr>
        </a:p>
      </dsp:txBody>
      <dsp:txXfrm>
        <a:off x="19899" y="19899"/>
        <a:ext cx="9104202" cy="367844"/>
      </dsp:txXfrm>
    </dsp:sp>
  </dsp:spTree>
</dsp:drawing>
</file>

<file path=ppt/diagrams/drawing7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9144000" cy="407642"/>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IN" sz="2800" b="1" i="0" kern="1200" dirty="0"/>
            <a:t>Service Mesh</a:t>
          </a:r>
          <a:endParaRPr lang="en-US" sz="2800" kern="1200" dirty="0">
            <a:solidFill>
              <a:prstClr val="white"/>
            </a:solidFill>
            <a:latin typeface="Calibri"/>
            <a:ea typeface="+mn-ea"/>
            <a:cs typeface="+mn-cs"/>
          </a:endParaRPr>
        </a:p>
      </dsp:txBody>
      <dsp:txXfrm>
        <a:off x="19899" y="19899"/>
        <a:ext cx="9104202" cy="367844"/>
      </dsp:txXfrm>
    </dsp:sp>
  </dsp:spTree>
</dsp:drawing>
</file>

<file path=ppt/diagrams/drawing7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9144000" cy="407642"/>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IN" sz="2800" b="1" i="0" kern="1200" dirty="0"/>
            <a:t>Service Mesh</a:t>
          </a:r>
          <a:endParaRPr lang="en-US" sz="2800" kern="1200" dirty="0">
            <a:solidFill>
              <a:prstClr val="white"/>
            </a:solidFill>
            <a:latin typeface="Calibri"/>
            <a:ea typeface="+mn-ea"/>
            <a:cs typeface="+mn-cs"/>
          </a:endParaRPr>
        </a:p>
      </dsp:txBody>
      <dsp:txXfrm>
        <a:off x="19899" y="19899"/>
        <a:ext cx="9104202" cy="367844"/>
      </dsp:txXfrm>
    </dsp:sp>
  </dsp:spTree>
</dsp:drawing>
</file>

<file path=ppt/diagrams/drawing7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9144000" cy="407642"/>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IN" sz="2800" b="1" i="0" kern="1200" dirty="0"/>
            <a:t>Service Mesh</a:t>
          </a:r>
          <a:endParaRPr lang="en-US" sz="2800" kern="1200" dirty="0">
            <a:solidFill>
              <a:prstClr val="white"/>
            </a:solidFill>
            <a:latin typeface="Calibri"/>
            <a:ea typeface="+mn-ea"/>
            <a:cs typeface="+mn-cs"/>
          </a:endParaRPr>
        </a:p>
      </dsp:txBody>
      <dsp:txXfrm>
        <a:off x="19899" y="19899"/>
        <a:ext cx="9104202" cy="367844"/>
      </dsp:txXfrm>
    </dsp:sp>
  </dsp:spTree>
</dsp:drawing>
</file>

<file path=ppt/diagrams/drawing7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9144000" cy="407162"/>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IN" sz="2800" b="1" i="0" kern="1200" dirty="0"/>
            <a:t>Docker + </a:t>
          </a:r>
          <a:r>
            <a:rPr lang="en-IN" sz="2800" b="1" i="0" kern="1200" dirty="0" err="1"/>
            <a:t>DevSecOps</a:t>
          </a:r>
          <a:r>
            <a:rPr lang="en-IN" sz="2800" b="1" i="0" kern="1200" dirty="0"/>
            <a:t> + K8s + SRE Workflow</a:t>
          </a:r>
          <a:endParaRPr lang="en-US" sz="2800" kern="1200" dirty="0">
            <a:solidFill>
              <a:prstClr val="white"/>
            </a:solidFill>
            <a:latin typeface="Calibri"/>
            <a:ea typeface="+mn-ea"/>
            <a:cs typeface="+mn-cs"/>
          </a:endParaRPr>
        </a:p>
      </dsp:txBody>
      <dsp:txXfrm>
        <a:off x="19876" y="19876"/>
        <a:ext cx="9104248" cy="367410"/>
      </dsp:txXfrm>
    </dsp:sp>
  </dsp:spTree>
</dsp:drawing>
</file>

<file path=ppt/diagrams/drawing8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9144000" cy="407162"/>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IN" sz="2800" b="1" i="0" kern="1200" dirty="0"/>
            <a:t>Docker + </a:t>
          </a:r>
          <a:r>
            <a:rPr lang="en-IN" sz="2800" b="1" i="0" kern="1200" dirty="0" err="1"/>
            <a:t>DevSecOps</a:t>
          </a:r>
          <a:r>
            <a:rPr lang="en-IN" sz="2800" b="1" i="0" kern="1200" dirty="0"/>
            <a:t> + K8s + SRE Workflow</a:t>
          </a:r>
          <a:endParaRPr lang="en-US" sz="2800" kern="1200" dirty="0">
            <a:solidFill>
              <a:prstClr val="white"/>
            </a:solidFill>
            <a:latin typeface="Calibri"/>
            <a:ea typeface="+mn-ea"/>
            <a:cs typeface="+mn-cs"/>
          </a:endParaRPr>
        </a:p>
      </dsp:txBody>
      <dsp:txXfrm>
        <a:off x="19876" y="19876"/>
        <a:ext cx="9104248" cy="367410"/>
      </dsp:txXfrm>
    </dsp:sp>
  </dsp:spTree>
</dsp:drawing>
</file>

<file path=ppt/diagrams/drawing8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9144000" cy="407162"/>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IN" sz="2800" b="1" i="0" kern="1200" dirty="0"/>
            <a:t>Docker + </a:t>
          </a:r>
          <a:r>
            <a:rPr lang="en-IN" sz="2800" b="1" i="0" kern="1200" dirty="0" err="1"/>
            <a:t>DevSecOps</a:t>
          </a:r>
          <a:r>
            <a:rPr lang="en-IN" sz="2800" b="1" i="0" kern="1200" dirty="0"/>
            <a:t> + K8s + SRE Workflow</a:t>
          </a:r>
          <a:endParaRPr lang="en-US" sz="2800" kern="1200" dirty="0">
            <a:solidFill>
              <a:prstClr val="white"/>
            </a:solidFill>
            <a:latin typeface="Calibri"/>
            <a:ea typeface="+mn-ea"/>
            <a:cs typeface="+mn-cs"/>
          </a:endParaRPr>
        </a:p>
      </dsp:txBody>
      <dsp:txXfrm>
        <a:off x="19876" y="19876"/>
        <a:ext cx="9104248" cy="367410"/>
      </dsp:txXfrm>
    </dsp:sp>
  </dsp:spTree>
</dsp:drawing>
</file>

<file path=ppt/diagrams/drawing8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9144000" cy="407162"/>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IN" sz="2800" b="1" i="0" kern="1200" dirty="0"/>
            <a:t>VS Code &amp; Community Edition Useful Tools</a:t>
          </a:r>
          <a:endParaRPr lang="en-US" sz="2800" kern="1200" dirty="0">
            <a:solidFill>
              <a:prstClr val="white"/>
            </a:solidFill>
            <a:latin typeface="Calibri"/>
            <a:ea typeface="+mn-ea"/>
            <a:cs typeface="+mn-cs"/>
          </a:endParaRPr>
        </a:p>
      </dsp:txBody>
      <dsp:txXfrm>
        <a:off x="19876" y="19876"/>
        <a:ext cx="9104248" cy="367410"/>
      </dsp:txXfrm>
    </dsp:sp>
  </dsp:spTree>
</dsp:drawing>
</file>

<file path=ppt/diagrams/drawing8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9144000" cy="407162"/>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IN" sz="2800" b="1" i="0" kern="1200" dirty="0"/>
            <a:t>VS Code &amp; Community Edition Useful Tools</a:t>
          </a:r>
          <a:endParaRPr lang="en-US" sz="2800" kern="1200" dirty="0">
            <a:solidFill>
              <a:prstClr val="white"/>
            </a:solidFill>
            <a:latin typeface="Calibri"/>
            <a:ea typeface="+mn-ea"/>
            <a:cs typeface="+mn-cs"/>
          </a:endParaRPr>
        </a:p>
      </dsp:txBody>
      <dsp:txXfrm>
        <a:off x="19876" y="19876"/>
        <a:ext cx="9104248" cy="367410"/>
      </dsp:txXfrm>
    </dsp:sp>
  </dsp:spTree>
</dsp:drawing>
</file>

<file path=ppt/diagrams/drawing8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9144000" cy="407162"/>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IN" sz="2800" b="1" i="0" kern="1200" dirty="0"/>
            <a:t>VS Code &amp; Community Edition Useful Tools</a:t>
          </a:r>
          <a:endParaRPr lang="en-US" sz="2800" kern="1200" dirty="0">
            <a:solidFill>
              <a:prstClr val="white"/>
            </a:solidFill>
            <a:latin typeface="Calibri"/>
            <a:ea typeface="+mn-ea"/>
            <a:cs typeface="+mn-cs"/>
          </a:endParaRPr>
        </a:p>
      </dsp:txBody>
      <dsp:txXfrm>
        <a:off x="19876" y="19876"/>
        <a:ext cx="9104248" cy="367410"/>
      </dsp:txXfrm>
    </dsp:sp>
  </dsp:spTree>
</dsp:drawing>
</file>

<file path=ppt/diagrams/drawing8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9067800" cy="377842"/>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kern="1200" dirty="0">
              <a:solidFill>
                <a:prstClr val="white"/>
              </a:solidFill>
              <a:latin typeface="Calibri"/>
              <a:ea typeface="+mn-ea"/>
              <a:cs typeface="+mn-cs"/>
            </a:rPr>
            <a:t>Production Debugging</a:t>
          </a:r>
        </a:p>
      </dsp:txBody>
      <dsp:txXfrm>
        <a:off x="18445" y="18445"/>
        <a:ext cx="9030910" cy="340952"/>
      </dsp:txXfrm>
    </dsp:sp>
  </dsp:spTree>
</dsp:drawing>
</file>

<file path=ppt/diagrams/layout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3.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4.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5.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6.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7.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8.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9.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0.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2.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3.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4.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5.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6.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7.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8.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9.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0.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2.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3.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4.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5.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6.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7.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8.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9.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30.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3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32.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33.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34.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35.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36.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37.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38.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39.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40.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4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42.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43.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44.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45.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46.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47.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48.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49.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50.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5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52.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53.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54.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55.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56.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57.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58.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59.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60.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6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62.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63.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64.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65.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66.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67.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68.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69.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70.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7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72.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73.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74.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75.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76.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77.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78.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79.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80.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8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82.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83.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84.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85.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8.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9.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0.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8.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9.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0.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8.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9.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0.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8.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9.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0.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8.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9.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0.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8.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9.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0.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8.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9.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0.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8.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9.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80.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8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8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8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8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8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298450"/>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5180013" y="0"/>
            <a:ext cx="3962400" cy="298450"/>
          </a:xfrm>
          <a:prstGeom prst="rect">
            <a:avLst/>
          </a:prstGeom>
        </p:spPr>
        <p:txBody>
          <a:bodyPr vert="horz" lIns="91440" tIns="45720" rIns="91440" bIns="45720" rtlCol="0"/>
          <a:lstStyle>
            <a:lvl1pPr algn="r">
              <a:defRPr sz="1200"/>
            </a:lvl1pPr>
          </a:lstStyle>
          <a:p>
            <a:fld id="{9AE750B3-386C-4233-BFC3-7F4AC971F92C}" type="datetimeFigureOut">
              <a:rPr lang="en-US" smtClean="0"/>
              <a:t>4/6/26</a:t>
            </a:fld>
            <a:endParaRPr lang="en-US" dirty="0"/>
          </a:p>
        </p:txBody>
      </p:sp>
      <p:sp>
        <p:nvSpPr>
          <p:cNvPr id="4" name="Slide Image Placeholder 3"/>
          <p:cNvSpPr>
            <a:spLocks noGrp="1" noRot="1" noChangeAspect="1"/>
          </p:cNvSpPr>
          <p:nvPr>
            <p:ph type="sldImg" idx="2"/>
          </p:nvPr>
        </p:nvSpPr>
        <p:spPr>
          <a:xfrm>
            <a:off x="3028950" y="742950"/>
            <a:ext cx="3086100" cy="20066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914400" y="2860675"/>
            <a:ext cx="7315200" cy="2339975"/>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5645150"/>
            <a:ext cx="3962400" cy="298450"/>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5180013" y="5645150"/>
            <a:ext cx="3962400" cy="298450"/>
          </a:xfrm>
          <a:prstGeom prst="rect">
            <a:avLst/>
          </a:prstGeom>
        </p:spPr>
        <p:txBody>
          <a:bodyPr vert="horz" lIns="91440" tIns="45720" rIns="91440" bIns="45720" rtlCol="0" anchor="b"/>
          <a:lstStyle>
            <a:lvl1pPr algn="r">
              <a:defRPr sz="1200"/>
            </a:lvl1pPr>
          </a:lstStyle>
          <a:p>
            <a:fld id="{0C49AC16-2221-4935-809C-2A72A26F729C}" type="slidenum">
              <a:rPr lang="en-US" smtClean="0"/>
              <a:t>‹#›</a:t>
            </a:fld>
            <a:endParaRPr lang="en-US" dirty="0"/>
          </a:p>
        </p:txBody>
      </p:sp>
    </p:spTree>
    <p:extLst>
      <p:ext uri="{BB962C8B-B14F-4D97-AF65-F5344CB8AC3E}">
        <p14:creationId xmlns:p14="http://schemas.microsoft.com/office/powerpoint/2010/main" val="408158293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88.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89.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9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DE6BDE-E9C3-7496-FE80-1B63E6607D3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4616A48-1141-56D5-4D16-15083E06F4E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E1097AB-B9BD-8AA2-F290-569CBDAD1591}"/>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E116A813-D722-5DE3-FC2A-607C5A06382A}"/>
              </a:ext>
            </a:extLst>
          </p:cNvPr>
          <p:cNvSpPr>
            <a:spLocks noGrp="1"/>
          </p:cNvSpPr>
          <p:nvPr>
            <p:ph type="sldNum" sz="quarter" idx="5"/>
          </p:nvPr>
        </p:nvSpPr>
        <p:spPr/>
        <p:txBody>
          <a:bodyPr/>
          <a:lstStyle/>
          <a:p>
            <a:fld id="{0C49AC16-2221-4935-809C-2A72A26F729C}" type="slidenum">
              <a:rPr lang="en-US" smtClean="0"/>
              <a:t>60</a:t>
            </a:fld>
            <a:endParaRPr lang="en-US" dirty="0"/>
          </a:p>
        </p:txBody>
      </p:sp>
    </p:spTree>
    <p:extLst>
      <p:ext uri="{BB962C8B-B14F-4D97-AF65-F5344CB8AC3E}">
        <p14:creationId xmlns:p14="http://schemas.microsoft.com/office/powerpoint/2010/main" val="202396332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1409D2-C3BD-9030-BA67-AE8A7A35BD0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271CE1B-A030-4AE1-7153-7D0AFFC495B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4500197-0B41-3102-C611-0CE334AA5861}"/>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9D3285CE-3138-0E51-8F9D-9D0CA54028B9}"/>
              </a:ext>
            </a:extLst>
          </p:cNvPr>
          <p:cNvSpPr>
            <a:spLocks noGrp="1"/>
          </p:cNvSpPr>
          <p:nvPr>
            <p:ph type="sldNum" sz="quarter" idx="5"/>
          </p:nvPr>
        </p:nvSpPr>
        <p:spPr/>
        <p:txBody>
          <a:bodyPr/>
          <a:lstStyle/>
          <a:p>
            <a:fld id="{0C49AC16-2221-4935-809C-2A72A26F729C}" type="slidenum">
              <a:rPr lang="en-US" smtClean="0"/>
              <a:t>62</a:t>
            </a:fld>
            <a:endParaRPr lang="en-US" dirty="0"/>
          </a:p>
        </p:txBody>
      </p:sp>
    </p:spTree>
    <p:extLst>
      <p:ext uri="{BB962C8B-B14F-4D97-AF65-F5344CB8AC3E}">
        <p14:creationId xmlns:p14="http://schemas.microsoft.com/office/powerpoint/2010/main" val="27921237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271B20-B881-5966-97C2-19745A4A76F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1799C37-66CE-12DB-5C03-F17B6EBBB57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FB69DCD-CBD4-4622-5E9D-2AFB7900F4DA}"/>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636718F7-1B86-E2A3-0FDB-C3439C6BE437}"/>
              </a:ext>
            </a:extLst>
          </p:cNvPr>
          <p:cNvSpPr>
            <a:spLocks noGrp="1"/>
          </p:cNvSpPr>
          <p:nvPr>
            <p:ph type="sldNum" sz="quarter" idx="5"/>
          </p:nvPr>
        </p:nvSpPr>
        <p:spPr/>
        <p:txBody>
          <a:bodyPr/>
          <a:lstStyle/>
          <a:p>
            <a:fld id="{0C49AC16-2221-4935-809C-2A72A26F729C}" type="slidenum">
              <a:rPr lang="en-US" smtClean="0"/>
              <a:t>63</a:t>
            </a:fld>
            <a:endParaRPr lang="en-US" dirty="0"/>
          </a:p>
        </p:txBody>
      </p:sp>
    </p:spTree>
    <p:extLst>
      <p:ext uri="{BB962C8B-B14F-4D97-AF65-F5344CB8AC3E}">
        <p14:creationId xmlns:p14="http://schemas.microsoft.com/office/powerpoint/2010/main" val="386972017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502025-14EE-8C6F-5DAE-A0675E78B7A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F035EDA-CE52-FDFC-B862-22857B2F90D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FA4E2B0-3A27-7AC2-BA73-A9A37FB6D67C}"/>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7ACF3893-C7DF-A6C6-29D8-73AB4D98B147}"/>
              </a:ext>
            </a:extLst>
          </p:cNvPr>
          <p:cNvSpPr>
            <a:spLocks noGrp="1"/>
          </p:cNvSpPr>
          <p:nvPr>
            <p:ph type="sldNum" sz="quarter" idx="5"/>
          </p:nvPr>
        </p:nvSpPr>
        <p:spPr/>
        <p:txBody>
          <a:bodyPr/>
          <a:lstStyle/>
          <a:p>
            <a:fld id="{0C49AC16-2221-4935-809C-2A72A26F729C}" type="slidenum">
              <a:rPr lang="en-US" smtClean="0"/>
              <a:t>64</a:t>
            </a:fld>
            <a:endParaRPr lang="en-US" dirty="0"/>
          </a:p>
        </p:txBody>
      </p:sp>
    </p:spTree>
    <p:extLst>
      <p:ext uri="{BB962C8B-B14F-4D97-AF65-F5344CB8AC3E}">
        <p14:creationId xmlns:p14="http://schemas.microsoft.com/office/powerpoint/2010/main" val="282213320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4433A6-8B05-E2E0-E8A8-75ECD60883B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81C057D-BF70-BC71-639C-CFF4419BEF8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A705DE1-C418-D2E0-0662-17F9A4F58AC5}"/>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88E96A95-A345-5F7E-01B6-B6EADD88AD90}"/>
              </a:ext>
            </a:extLst>
          </p:cNvPr>
          <p:cNvSpPr>
            <a:spLocks noGrp="1"/>
          </p:cNvSpPr>
          <p:nvPr>
            <p:ph type="sldNum" sz="quarter" idx="5"/>
          </p:nvPr>
        </p:nvSpPr>
        <p:spPr/>
        <p:txBody>
          <a:bodyPr/>
          <a:lstStyle/>
          <a:p>
            <a:fld id="{0C49AC16-2221-4935-809C-2A72A26F729C}" type="slidenum">
              <a:rPr lang="en-US" smtClean="0"/>
              <a:t>65</a:t>
            </a:fld>
            <a:endParaRPr lang="en-US" dirty="0"/>
          </a:p>
        </p:txBody>
      </p:sp>
    </p:spTree>
    <p:extLst>
      <p:ext uri="{BB962C8B-B14F-4D97-AF65-F5344CB8AC3E}">
        <p14:creationId xmlns:p14="http://schemas.microsoft.com/office/powerpoint/2010/main" val="336384687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53CD2A-BA9F-603E-CCE8-531FEE1EDDD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50290E3-CB9F-21BA-7C7B-F19CECCA78C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91DCE0C-FFD8-9A8F-968B-7CB4D8CAA9A7}"/>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7B898A2A-3DFB-78D8-A010-07CB7939EAAC}"/>
              </a:ext>
            </a:extLst>
          </p:cNvPr>
          <p:cNvSpPr>
            <a:spLocks noGrp="1"/>
          </p:cNvSpPr>
          <p:nvPr>
            <p:ph type="sldNum" sz="quarter" idx="5"/>
          </p:nvPr>
        </p:nvSpPr>
        <p:spPr/>
        <p:txBody>
          <a:bodyPr/>
          <a:lstStyle/>
          <a:p>
            <a:fld id="{0C49AC16-2221-4935-809C-2A72A26F729C}" type="slidenum">
              <a:rPr lang="en-US" smtClean="0"/>
              <a:t>66</a:t>
            </a:fld>
            <a:endParaRPr lang="en-US" dirty="0"/>
          </a:p>
        </p:txBody>
      </p:sp>
    </p:spTree>
    <p:extLst>
      <p:ext uri="{BB962C8B-B14F-4D97-AF65-F5344CB8AC3E}">
        <p14:creationId xmlns:p14="http://schemas.microsoft.com/office/powerpoint/2010/main" val="408905961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4EC303-126B-5640-AA33-5B10EE0269E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1341FD7-081D-D4C1-098A-23D7DBDA9DC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45CC43B-D61F-3F3A-8D54-88F8F28B6BB9}"/>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B4337D6B-B359-6CBE-F7E4-31E5D2BBD3DB}"/>
              </a:ext>
            </a:extLst>
          </p:cNvPr>
          <p:cNvSpPr>
            <a:spLocks noGrp="1"/>
          </p:cNvSpPr>
          <p:nvPr>
            <p:ph type="sldNum" sz="quarter" idx="5"/>
          </p:nvPr>
        </p:nvSpPr>
        <p:spPr/>
        <p:txBody>
          <a:bodyPr/>
          <a:lstStyle/>
          <a:p>
            <a:fld id="{0C49AC16-2221-4935-809C-2A72A26F729C}" type="slidenum">
              <a:rPr lang="en-US" smtClean="0"/>
              <a:t>67</a:t>
            </a:fld>
            <a:endParaRPr lang="en-US" dirty="0"/>
          </a:p>
        </p:txBody>
      </p:sp>
    </p:spTree>
    <p:extLst>
      <p:ext uri="{BB962C8B-B14F-4D97-AF65-F5344CB8AC3E}">
        <p14:creationId xmlns:p14="http://schemas.microsoft.com/office/powerpoint/2010/main" val="184303370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236912-CA53-A5ED-0574-53173B8E4A3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32D6D9E-3DD6-1E16-E943-01459471CC6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6C275D1-BDC5-063E-6B63-692CBB36FC6F}"/>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A7FE320B-DBA5-E52B-E79C-A1173D6D7358}"/>
              </a:ext>
            </a:extLst>
          </p:cNvPr>
          <p:cNvSpPr>
            <a:spLocks noGrp="1"/>
          </p:cNvSpPr>
          <p:nvPr>
            <p:ph type="sldNum" sz="quarter" idx="5"/>
          </p:nvPr>
        </p:nvSpPr>
        <p:spPr/>
        <p:txBody>
          <a:bodyPr/>
          <a:lstStyle/>
          <a:p>
            <a:fld id="{0C49AC16-2221-4935-809C-2A72A26F729C}" type="slidenum">
              <a:rPr lang="en-US" smtClean="0"/>
              <a:t>68</a:t>
            </a:fld>
            <a:endParaRPr lang="en-US" dirty="0"/>
          </a:p>
        </p:txBody>
      </p:sp>
    </p:spTree>
    <p:extLst>
      <p:ext uri="{BB962C8B-B14F-4D97-AF65-F5344CB8AC3E}">
        <p14:creationId xmlns:p14="http://schemas.microsoft.com/office/powerpoint/2010/main" val="370350801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419055-0292-A09A-CCDD-B7216FB2F4C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9E636C5-0E13-914D-613F-A04E75757FD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83D8ABA-3B75-3AFC-6C3A-597CDAF7EE58}"/>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922EDB8E-FC45-0051-1AFB-56545318CD7E}"/>
              </a:ext>
            </a:extLst>
          </p:cNvPr>
          <p:cNvSpPr>
            <a:spLocks noGrp="1"/>
          </p:cNvSpPr>
          <p:nvPr>
            <p:ph type="sldNum" sz="quarter" idx="5"/>
          </p:nvPr>
        </p:nvSpPr>
        <p:spPr/>
        <p:txBody>
          <a:bodyPr/>
          <a:lstStyle/>
          <a:p>
            <a:fld id="{0C49AC16-2221-4935-809C-2A72A26F729C}" type="slidenum">
              <a:rPr lang="en-US" smtClean="0"/>
              <a:t>69</a:t>
            </a:fld>
            <a:endParaRPr lang="en-US" dirty="0"/>
          </a:p>
        </p:txBody>
      </p:sp>
    </p:spTree>
    <p:extLst>
      <p:ext uri="{BB962C8B-B14F-4D97-AF65-F5344CB8AC3E}">
        <p14:creationId xmlns:p14="http://schemas.microsoft.com/office/powerpoint/2010/main" val="365319721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36F87C-82B3-16FC-E4C6-297BFC2C189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AF3CFD8-D12E-6B44-C9B8-DFA9B527978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5CA4855-1075-6D70-0A2F-0998DA8CDF3F}"/>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85723ACF-A21A-E5AC-1966-DEEFA0855C8E}"/>
              </a:ext>
            </a:extLst>
          </p:cNvPr>
          <p:cNvSpPr>
            <a:spLocks noGrp="1"/>
          </p:cNvSpPr>
          <p:nvPr>
            <p:ph type="sldNum" sz="quarter" idx="5"/>
          </p:nvPr>
        </p:nvSpPr>
        <p:spPr/>
        <p:txBody>
          <a:bodyPr/>
          <a:lstStyle/>
          <a:p>
            <a:fld id="{0C49AC16-2221-4935-809C-2A72A26F729C}" type="slidenum">
              <a:rPr lang="en-US" smtClean="0"/>
              <a:t>70</a:t>
            </a:fld>
            <a:endParaRPr lang="en-US" dirty="0"/>
          </a:p>
        </p:txBody>
      </p:sp>
    </p:spTree>
    <p:extLst>
      <p:ext uri="{BB962C8B-B14F-4D97-AF65-F5344CB8AC3E}">
        <p14:creationId xmlns:p14="http://schemas.microsoft.com/office/powerpoint/2010/main" val="259232184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1FDD3D-2E67-89FE-A537-E416A1AA8D2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B618C10-D8AE-59F8-0F2C-E0FB5211A47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90DAEC2-A5DA-A752-3229-6E4684E8A019}"/>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AECD5375-CEBC-98B1-34E7-6931D47CABA9}"/>
              </a:ext>
            </a:extLst>
          </p:cNvPr>
          <p:cNvSpPr>
            <a:spLocks noGrp="1"/>
          </p:cNvSpPr>
          <p:nvPr>
            <p:ph type="sldNum" sz="quarter" idx="5"/>
          </p:nvPr>
        </p:nvSpPr>
        <p:spPr/>
        <p:txBody>
          <a:bodyPr/>
          <a:lstStyle/>
          <a:p>
            <a:fld id="{0C49AC16-2221-4935-809C-2A72A26F729C}" type="slidenum">
              <a:rPr lang="en-US" smtClean="0"/>
              <a:t>72</a:t>
            </a:fld>
            <a:endParaRPr lang="en-US" dirty="0"/>
          </a:p>
        </p:txBody>
      </p:sp>
    </p:spTree>
    <p:extLst>
      <p:ext uri="{BB962C8B-B14F-4D97-AF65-F5344CB8AC3E}">
        <p14:creationId xmlns:p14="http://schemas.microsoft.com/office/powerpoint/2010/main" val="294288967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210871-BE5D-B654-464E-22CF50F1ED2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35A6D70-021B-E7BB-6657-8A170D1DE96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4D930DA-4F79-36AD-08F8-715B768ECF24}"/>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C7D51448-B2AA-4789-8D00-D1F3694D55C2}"/>
              </a:ext>
            </a:extLst>
          </p:cNvPr>
          <p:cNvSpPr>
            <a:spLocks noGrp="1"/>
          </p:cNvSpPr>
          <p:nvPr>
            <p:ph type="sldNum" sz="quarter" idx="5"/>
          </p:nvPr>
        </p:nvSpPr>
        <p:spPr/>
        <p:txBody>
          <a:bodyPr/>
          <a:lstStyle/>
          <a:p>
            <a:fld id="{0C49AC16-2221-4935-809C-2A72A26F729C}" type="slidenum">
              <a:rPr lang="en-US" smtClean="0"/>
              <a:t>73</a:t>
            </a:fld>
            <a:endParaRPr lang="en-US" dirty="0"/>
          </a:p>
        </p:txBody>
      </p:sp>
    </p:spTree>
    <p:extLst>
      <p:ext uri="{BB962C8B-B14F-4D97-AF65-F5344CB8AC3E}">
        <p14:creationId xmlns:p14="http://schemas.microsoft.com/office/powerpoint/2010/main" val="12218773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12CFBF-2118-06E2-5ED2-4E292079548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730243D-F5EF-5A38-E25D-A457EA73D4D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851474C-7E23-B133-82A1-CE61472601B3}"/>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918BA9CD-C605-8019-2BC9-839A460DED65}"/>
              </a:ext>
            </a:extLst>
          </p:cNvPr>
          <p:cNvSpPr>
            <a:spLocks noGrp="1"/>
          </p:cNvSpPr>
          <p:nvPr>
            <p:ph type="sldNum" sz="quarter" idx="5"/>
          </p:nvPr>
        </p:nvSpPr>
        <p:spPr/>
        <p:txBody>
          <a:bodyPr/>
          <a:lstStyle/>
          <a:p>
            <a:fld id="{0C49AC16-2221-4935-809C-2A72A26F729C}" type="slidenum">
              <a:rPr lang="en-US" smtClean="0"/>
              <a:t>74</a:t>
            </a:fld>
            <a:endParaRPr lang="en-US" dirty="0"/>
          </a:p>
        </p:txBody>
      </p:sp>
    </p:spTree>
    <p:extLst>
      <p:ext uri="{BB962C8B-B14F-4D97-AF65-F5344CB8AC3E}">
        <p14:creationId xmlns:p14="http://schemas.microsoft.com/office/powerpoint/2010/main" val="334649286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0F03BF-BE16-615E-0FF3-4A879559DA2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FE09DC5-C35F-6C5A-4E15-7BAB02CDDEF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6F2D269-6EDD-0902-F914-CBF81A57ED97}"/>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010B2265-EE13-7129-EB9A-82A9977F4283}"/>
              </a:ext>
            </a:extLst>
          </p:cNvPr>
          <p:cNvSpPr>
            <a:spLocks noGrp="1"/>
          </p:cNvSpPr>
          <p:nvPr>
            <p:ph type="sldNum" sz="quarter" idx="5"/>
          </p:nvPr>
        </p:nvSpPr>
        <p:spPr/>
        <p:txBody>
          <a:bodyPr/>
          <a:lstStyle/>
          <a:p>
            <a:fld id="{0C49AC16-2221-4935-809C-2A72A26F729C}" type="slidenum">
              <a:rPr lang="en-US" smtClean="0"/>
              <a:t>75</a:t>
            </a:fld>
            <a:endParaRPr lang="en-US" dirty="0"/>
          </a:p>
        </p:txBody>
      </p:sp>
    </p:spTree>
    <p:extLst>
      <p:ext uri="{BB962C8B-B14F-4D97-AF65-F5344CB8AC3E}">
        <p14:creationId xmlns:p14="http://schemas.microsoft.com/office/powerpoint/2010/main" val="127168946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E7C784-D0F2-487D-792D-BA2BEF21427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C1597D9-FCE7-8024-21BA-806801D5883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25B0B45-C02E-A289-E714-E3F15F281A56}"/>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4BC371A0-87D5-5E81-7411-ECE43BFA5719}"/>
              </a:ext>
            </a:extLst>
          </p:cNvPr>
          <p:cNvSpPr>
            <a:spLocks noGrp="1"/>
          </p:cNvSpPr>
          <p:nvPr>
            <p:ph type="sldNum" sz="quarter" idx="5"/>
          </p:nvPr>
        </p:nvSpPr>
        <p:spPr/>
        <p:txBody>
          <a:bodyPr/>
          <a:lstStyle/>
          <a:p>
            <a:fld id="{0C49AC16-2221-4935-809C-2A72A26F729C}" type="slidenum">
              <a:rPr lang="en-US" smtClean="0"/>
              <a:t>76</a:t>
            </a:fld>
            <a:endParaRPr lang="en-US" dirty="0"/>
          </a:p>
        </p:txBody>
      </p:sp>
    </p:spTree>
    <p:extLst>
      <p:ext uri="{BB962C8B-B14F-4D97-AF65-F5344CB8AC3E}">
        <p14:creationId xmlns:p14="http://schemas.microsoft.com/office/powerpoint/2010/main" val="248628726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23DE7C-4E85-E15D-E872-AD92635583E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9855313-B6ED-4642-D944-8737F5B0157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283B1C9-C2FC-267B-544C-FCD0044ACA7C}"/>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FB48B998-17C5-4ACB-CE99-347ABE6FF062}"/>
              </a:ext>
            </a:extLst>
          </p:cNvPr>
          <p:cNvSpPr>
            <a:spLocks noGrp="1"/>
          </p:cNvSpPr>
          <p:nvPr>
            <p:ph type="sldNum" sz="quarter" idx="5"/>
          </p:nvPr>
        </p:nvSpPr>
        <p:spPr/>
        <p:txBody>
          <a:bodyPr/>
          <a:lstStyle/>
          <a:p>
            <a:fld id="{0C49AC16-2221-4935-809C-2A72A26F729C}" type="slidenum">
              <a:rPr lang="en-US" smtClean="0"/>
              <a:t>77</a:t>
            </a:fld>
            <a:endParaRPr lang="en-US" dirty="0"/>
          </a:p>
        </p:txBody>
      </p:sp>
    </p:spTree>
    <p:extLst>
      <p:ext uri="{BB962C8B-B14F-4D97-AF65-F5344CB8AC3E}">
        <p14:creationId xmlns:p14="http://schemas.microsoft.com/office/powerpoint/2010/main" val="387049502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8843FE-10F5-9FC9-B491-A03830EB187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979A1FF-7BDF-EF43-CE83-37A662E4E91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9F166EB-E226-9958-DED3-2A76D1DC98CE}"/>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21E0EE72-5247-BB0A-D9BC-9F7DEA860928}"/>
              </a:ext>
            </a:extLst>
          </p:cNvPr>
          <p:cNvSpPr>
            <a:spLocks noGrp="1"/>
          </p:cNvSpPr>
          <p:nvPr>
            <p:ph type="sldNum" sz="quarter" idx="5"/>
          </p:nvPr>
        </p:nvSpPr>
        <p:spPr/>
        <p:txBody>
          <a:bodyPr/>
          <a:lstStyle/>
          <a:p>
            <a:fld id="{0C49AC16-2221-4935-809C-2A72A26F729C}" type="slidenum">
              <a:rPr lang="en-US" smtClean="0"/>
              <a:t>78</a:t>
            </a:fld>
            <a:endParaRPr lang="en-US" dirty="0"/>
          </a:p>
        </p:txBody>
      </p:sp>
    </p:spTree>
    <p:extLst>
      <p:ext uri="{BB962C8B-B14F-4D97-AF65-F5344CB8AC3E}">
        <p14:creationId xmlns:p14="http://schemas.microsoft.com/office/powerpoint/2010/main" val="2171921507"/>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FCA2DC-860E-1436-1B93-3CE4E883D55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D7D875D-A297-5D08-12A1-1B62071F8BD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290B801-BDCD-C253-96FC-3ED63390D6F3}"/>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BAD06CE6-0500-0A2A-E239-EF624848D3B1}"/>
              </a:ext>
            </a:extLst>
          </p:cNvPr>
          <p:cNvSpPr>
            <a:spLocks noGrp="1"/>
          </p:cNvSpPr>
          <p:nvPr>
            <p:ph type="sldNum" sz="quarter" idx="5"/>
          </p:nvPr>
        </p:nvSpPr>
        <p:spPr/>
        <p:txBody>
          <a:bodyPr/>
          <a:lstStyle/>
          <a:p>
            <a:fld id="{0C49AC16-2221-4935-809C-2A72A26F729C}" type="slidenum">
              <a:rPr lang="en-US" smtClean="0"/>
              <a:t>79</a:t>
            </a:fld>
            <a:endParaRPr lang="en-US" dirty="0"/>
          </a:p>
        </p:txBody>
      </p:sp>
    </p:spTree>
    <p:extLst>
      <p:ext uri="{BB962C8B-B14F-4D97-AF65-F5344CB8AC3E}">
        <p14:creationId xmlns:p14="http://schemas.microsoft.com/office/powerpoint/2010/main" val="3380805410"/>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5868E9-BF1C-9BBA-7BF9-F22CBF3DE8A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FA2966C-EF61-ECFC-BB93-E14A43C1ECE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68C765F-49BF-0C43-0EAE-975A1341845D}"/>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17D2EB45-CB50-ED0F-6A0A-C9F3A39FBBD8}"/>
              </a:ext>
            </a:extLst>
          </p:cNvPr>
          <p:cNvSpPr>
            <a:spLocks noGrp="1"/>
          </p:cNvSpPr>
          <p:nvPr>
            <p:ph type="sldNum" sz="quarter" idx="5"/>
          </p:nvPr>
        </p:nvSpPr>
        <p:spPr/>
        <p:txBody>
          <a:bodyPr/>
          <a:lstStyle/>
          <a:p>
            <a:fld id="{0C49AC16-2221-4935-809C-2A72A26F729C}" type="slidenum">
              <a:rPr lang="en-US" smtClean="0"/>
              <a:t>80</a:t>
            </a:fld>
            <a:endParaRPr lang="en-US" dirty="0"/>
          </a:p>
        </p:txBody>
      </p:sp>
    </p:spTree>
    <p:extLst>
      <p:ext uri="{BB962C8B-B14F-4D97-AF65-F5344CB8AC3E}">
        <p14:creationId xmlns:p14="http://schemas.microsoft.com/office/powerpoint/2010/main" val="3132607808"/>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F32242-92DC-B4FA-EE30-FAF0B1FDB43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0A72C2A-8710-A1F2-8288-6A8EBB9409C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08402BD-FA82-E6C8-F04D-1EEBB2D221C9}"/>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940E7CE1-E31B-C287-184B-325520EB688C}"/>
              </a:ext>
            </a:extLst>
          </p:cNvPr>
          <p:cNvSpPr>
            <a:spLocks noGrp="1"/>
          </p:cNvSpPr>
          <p:nvPr>
            <p:ph type="sldNum" sz="quarter" idx="5"/>
          </p:nvPr>
        </p:nvSpPr>
        <p:spPr/>
        <p:txBody>
          <a:bodyPr/>
          <a:lstStyle/>
          <a:p>
            <a:fld id="{0C49AC16-2221-4935-809C-2A72A26F729C}" type="slidenum">
              <a:rPr lang="en-US" smtClean="0"/>
              <a:t>81</a:t>
            </a:fld>
            <a:endParaRPr lang="en-US" dirty="0"/>
          </a:p>
        </p:txBody>
      </p:sp>
    </p:spTree>
    <p:extLst>
      <p:ext uri="{BB962C8B-B14F-4D97-AF65-F5344CB8AC3E}">
        <p14:creationId xmlns:p14="http://schemas.microsoft.com/office/powerpoint/2010/main" val="1613878408"/>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0D6419-E28B-7354-8C33-D71B989BE81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2F8F60B-B3BE-710E-E3FF-4AF5AB642B7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8D40150-8547-ACA8-55A1-57041F514C2E}"/>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84AE9984-4A9D-FBF6-844F-121ACFDAA484}"/>
              </a:ext>
            </a:extLst>
          </p:cNvPr>
          <p:cNvSpPr>
            <a:spLocks noGrp="1"/>
          </p:cNvSpPr>
          <p:nvPr>
            <p:ph type="sldNum" sz="quarter" idx="5"/>
          </p:nvPr>
        </p:nvSpPr>
        <p:spPr/>
        <p:txBody>
          <a:bodyPr/>
          <a:lstStyle/>
          <a:p>
            <a:fld id="{0C49AC16-2221-4935-809C-2A72A26F729C}" type="slidenum">
              <a:rPr lang="en-US" smtClean="0"/>
              <a:t>82</a:t>
            </a:fld>
            <a:endParaRPr lang="en-US" dirty="0"/>
          </a:p>
        </p:txBody>
      </p:sp>
    </p:spTree>
    <p:extLst>
      <p:ext uri="{BB962C8B-B14F-4D97-AF65-F5344CB8AC3E}">
        <p14:creationId xmlns:p14="http://schemas.microsoft.com/office/powerpoint/2010/main" val="541227713"/>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C3A23E-F361-0E46-397B-2289CAA6F9B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84B20B7-0B49-CE16-0D0A-ABCC877F331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486FFE3-19D0-FFEC-249C-5CF3E7973750}"/>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F4EA78AD-53FD-FB5C-D55F-EC9F0968A84E}"/>
              </a:ext>
            </a:extLst>
          </p:cNvPr>
          <p:cNvSpPr>
            <a:spLocks noGrp="1"/>
          </p:cNvSpPr>
          <p:nvPr>
            <p:ph type="sldNum" sz="quarter" idx="5"/>
          </p:nvPr>
        </p:nvSpPr>
        <p:spPr/>
        <p:txBody>
          <a:bodyPr/>
          <a:lstStyle/>
          <a:p>
            <a:fld id="{0C49AC16-2221-4935-809C-2A72A26F729C}" type="slidenum">
              <a:rPr lang="en-US" smtClean="0"/>
              <a:t>83</a:t>
            </a:fld>
            <a:endParaRPr lang="en-US" dirty="0"/>
          </a:p>
        </p:txBody>
      </p:sp>
    </p:spTree>
    <p:extLst>
      <p:ext uri="{BB962C8B-B14F-4D97-AF65-F5344CB8AC3E}">
        <p14:creationId xmlns:p14="http://schemas.microsoft.com/office/powerpoint/2010/main" val="1120674727"/>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241584-184F-812B-A540-22904986F13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408AEA7-2A52-8CCB-7350-4C128F23F14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6C5B6EE-1E96-DF06-E02C-DD7F4A6696CD}"/>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754E1A5A-22FF-4C0A-CDB2-14C8A6DE56CA}"/>
              </a:ext>
            </a:extLst>
          </p:cNvPr>
          <p:cNvSpPr>
            <a:spLocks noGrp="1"/>
          </p:cNvSpPr>
          <p:nvPr>
            <p:ph type="sldNum" sz="quarter" idx="5"/>
          </p:nvPr>
        </p:nvSpPr>
        <p:spPr/>
        <p:txBody>
          <a:bodyPr/>
          <a:lstStyle/>
          <a:p>
            <a:fld id="{0C49AC16-2221-4935-809C-2A72A26F729C}" type="slidenum">
              <a:rPr lang="en-US" smtClean="0"/>
              <a:t>85</a:t>
            </a:fld>
            <a:endParaRPr lang="en-US" dirty="0"/>
          </a:p>
        </p:txBody>
      </p:sp>
    </p:spTree>
    <p:extLst>
      <p:ext uri="{BB962C8B-B14F-4D97-AF65-F5344CB8AC3E}">
        <p14:creationId xmlns:p14="http://schemas.microsoft.com/office/powerpoint/2010/main" val="16608668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596CA9-3EED-B400-BDC2-8F50C763F1C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5611B7C-EA1A-06C9-4651-6E3BB173F9F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FDFBEF0-83FF-F67F-34B1-62B475BAEFE8}"/>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A673F99B-AC1A-F1C1-6EC3-8548BACA968B}"/>
              </a:ext>
            </a:extLst>
          </p:cNvPr>
          <p:cNvSpPr>
            <a:spLocks noGrp="1"/>
          </p:cNvSpPr>
          <p:nvPr>
            <p:ph type="sldNum" sz="quarter" idx="5"/>
          </p:nvPr>
        </p:nvSpPr>
        <p:spPr/>
        <p:txBody>
          <a:bodyPr/>
          <a:lstStyle/>
          <a:p>
            <a:fld id="{0C49AC16-2221-4935-809C-2A72A26F729C}" type="slidenum">
              <a:rPr lang="en-US" smtClean="0"/>
              <a:t>86</a:t>
            </a:fld>
            <a:endParaRPr lang="en-US" dirty="0"/>
          </a:p>
        </p:txBody>
      </p:sp>
    </p:spTree>
    <p:extLst>
      <p:ext uri="{BB962C8B-B14F-4D97-AF65-F5344CB8AC3E}">
        <p14:creationId xmlns:p14="http://schemas.microsoft.com/office/powerpoint/2010/main" val="2752561393"/>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AC510D-E552-FA71-7F2E-65321C766BE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2E02B39-0F72-D10C-2F69-0B6DF54733F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424A5D9-7400-E3C3-FFD1-C7861538D8E2}"/>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3A350DAE-80EA-22A1-FCDE-6A01F3683E4A}"/>
              </a:ext>
            </a:extLst>
          </p:cNvPr>
          <p:cNvSpPr>
            <a:spLocks noGrp="1"/>
          </p:cNvSpPr>
          <p:nvPr>
            <p:ph type="sldNum" sz="quarter" idx="5"/>
          </p:nvPr>
        </p:nvSpPr>
        <p:spPr/>
        <p:txBody>
          <a:bodyPr/>
          <a:lstStyle/>
          <a:p>
            <a:fld id="{0C49AC16-2221-4935-809C-2A72A26F729C}" type="slidenum">
              <a:rPr lang="en-US" smtClean="0"/>
              <a:t>87</a:t>
            </a:fld>
            <a:endParaRPr lang="en-US" dirty="0"/>
          </a:p>
        </p:txBody>
      </p:sp>
    </p:spTree>
    <p:extLst>
      <p:ext uri="{BB962C8B-B14F-4D97-AF65-F5344CB8AC3E}">
        <p14:creationId xmlns:p14="http://schemas.microsoft.com/office/powerpoint/2010/main" val="3947912177"/>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99AA48-B6CB-E696-5BE1-D1D131218D4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83D6294-D573-439D-0385-7EBCD69DB03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9369408-D347-C782-B6EA-8FD3ADF6D2D5}"/>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1BEBC988-8FE1-EB4B-0B4D-8ECEBB20DC4B}"/>
              </a:ext>
            </a:extLst>
          </p:cNvPr>
          <p:cNvSpPr>
            <a:spLocks noGrp="1"/>
          </p:cNvSpPr>
          <p:nvPr>
            <p:ph type="sldNum" sz="quarter" idx="5"/>
          </p:nvPr>
        </p:nvSpPr>
        <p:spPr/>
        <p:txBody>
          <a:bodyPr/>
          <a:lstStyle/>
          <a:p>
            <a:fld id="{0C49AC16-2221-4935-809C-2A72A26F729C}" type="slidenum">
              <a:rPr lang="en-US" smtClean="0"/>
              <a:t>88</a:t>
            </a:fld>
            <a:endParaRPr lang="en-US" dirty="0"/>
          </a:p>
        </p:txBody>
      </p:sp>
    </p:spTree>
    <p:extLst>
      <p:ext uri="{BB962C8B-B14F-4D97-AF65-F5344CB8AC3E}">
        <p14:creationId xmlns:p14="http://schemas.microsoft.com/office/powerpoint/2010/main" val="2004765433"/>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65722C-1C6E-1BA6-1C94-FC510C45FE2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2EB026D-0910-7714-03F0-80D5F8F8255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E9BC726-5C6F-4051-B0B7-D1E349DB7F77}"/>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CE4276C5-6741-E81F-6AF4-1A68EA797D5D}"/>
              </a:ext>
            </a:extLst>
          </p:cNvPr>
          <p:cNvSpPr>
            <a:spLocks noGrp="1"/>
          </p:cNvSpPr>
          <p:nvPr>
            <p:ph type="sldNum" sz="quarter" idx="5"/>
          </p:nvPr>
        </p:nvSpPr>
        <p:spPr/>
        <p:txBody>
          <a:bodyPr/>
          <a:lstStyle/>
          <a:p>
            <a:fld id="{0C49AC16-2221-4935-809C-2A72A26F729C}" type="slidenum">
              <a:rPr lang="en-US" smtClean="0"/>
              <a:t>89</a:t>
            </a:fld>
            <a:endParaRPr lang="en-US" dirty="0"/>
          </a:p>
        </p:txBody>
      </p:sp>
    </p:spTree>
    <p:extLst>
      <p:ext uri="{BB962C8B-B14F-4D97-AF65-F5344CB8AC3E}">
        <p14:creationId xmlns:p14="http://schemas.microsoft.com/office/powerpoint/2010/main" val="4247954385"/>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6939CD-97F2-BD6E-BC0D-DF3645F5E7C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AD1AA07-B2FE-DC86-F516-EDD1A35D597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96B680C-688B-FD87-F22F-6E44061A5269}"/>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5D2DE0A6-653A-ED99-7600-F808B279E640}"/>
              </a:ext>
            </a:extLst>
          </p:cNvPr>
          <p:cNvSpPr>
            <a:spLocks noGrp="1"/>
          </p:cNvSpPr>
          <p:nvPr>
            <p:ph type="sldNum" sz="quarter" idx="5"/>
          </p:nvPr>
        </p:nvSpPr>
        <p:spPr/>
        <p:txBody>
          <a:bodyPr/>
          <a:lstStyle/>
          <a:p>
            <a:fld id="{0C49AC16-2221-4935-809C-2A72A26F729C}" type="slidenum">
              <a:rPr lang="en-US" smtClean="0"/>
              <a:t>90</a:t>
            </a:fld>
            <a:endParaRPr lang="en-US" dirty="0"/>
          </a:p>
        </p:txBody>
      </p:sp>
    </p:spTree>
    <p:extLst>
      <p:ext uri="{BB962C8B-B14F-4D97-AF65-F5344CB8AC3E}">
        <p14:creationId xmlns:p14="http://schemas.microsoft.com/office/powerpoint/2010/main" val="3420281705"/>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obj" preserve="1">
  <p:cSld name="Title Slide">
    <p:bg>
      <p:bgPr>
        <a:solidFill>
          <a:schemeClr val="bg1"/>
        </a:solidFill>
        <a:effectLst/>
      </p:bgPr>
    </p:bg>
    <p:spTree>
      <p:nvGrpSpPr>
        <p:cNvPr id="1" name=""/>
        <p:cNvGrpSpPr/>
        <p:nvPr/>
      </p:nvGrpSpPr>
      <p:grpSpPr>
        <a:xfrm>
          <a:off x="0" y="0"/>
          <a:ext cx="0" cy="0"/>
          <a:chOff x="0" y="0"/>
          <a:chExt cx="0" cy="0"/>
        </a:xfrm>
      </p:grpSpPr>
      <p:sp>
        <p:nvSpPr>
          <p:cNvPr id="16" name="bk object 16"/>
          <p:cNvSpPr/>
          <p:nvPr/>
        </p:nvSpPr>
        <p:spPr>
          <a:xfrm>
            <a:off x="0" y="0"/>
            <a:ext cx="9144000" cy="5943600"/>
          </a:xfrm>
          <a:prstGeom prst="rect">
            <a:avLst/>
          </a:prstGeom>
          <a:blipFill>
            <a:blip r:embed="rId2" cstate="print"/>
            <a:stretch>
              <a:fillRect/>
            </a:stretch>
          </a:blipFill>
        </p:spPr>
        <p:txBody>
          <a:bodyPr wrap="square" lIns="0" tIns="0" rIns="0" bIns="0" rtlCol="0"/>
          <a:lstStyle/>
          <a:p>
            <a:endParaRPr dirty="0"/>
          </a:p>
        </p:txBody>
      </p:sp>
      <p:sp>
        <p:nvSpPr>
          <p:cNvPr id="17" name="bk object 17"/>
          <p:cNvSpPr/>
          <p:nvPr/>
        </p:nvSpPr>
        <p:spPr>
          <a:xfrm>
            <a:off x="3079584" y="2139810"/>
            <a:ext cx="3027045" cy="1153795"/>
          </a:xfrm>
          <a:custGeom>
            <a:avLst/>
            <a:gdLst/>
            <a:ahLst/>
            <a:cxnLst/>
            <a:rect l="l" t="t" r="r" b="b"/>
            <a:pathLst>
              <a:path w="3027045" h="1153795">
                <a:moveTo>
                  <a:pt x="0" y="1153236"/>
                </a:moveTo>
                <a:lnTo>
                  <a:pt x="3026829" y="1153236"/>
                </a:lnTo>
                <a:lnTo>
                  <a:pt x="3026829" y="0"/>
                </a:lnTo>
                <a:lnTo>
                  <a:pt x="0" y="0"/>
                </a:lnTo>
                <a:lnTo>
                  <a:pt x="0" y="1153236"/>
                </a:lnTo>
                <a:close/>
              </a:path>
            </a:pathLst>
          </a:custGeom>
          <a:solidFill>
            <a:srgbClr val="FFFFFF"/>
          </a:solidFill>
        </p:spPr>
        <p:txBody>
          <a:bodyPr wrap="square" lIns="0" tIns="0" rIns="0" bIns="0" rtlCol="0"/>
          <a:lstStyle/>
          <a:p>
            <a:endParaRPr dirty="0"/>
          </a:p>
        </p:txBody>
      </p:sp>
      <p:sp>
        <p:nvSpPr>
          <p:cNvPr id="18" name="bk object 18"/>
          <p:cNvSpPr/>
          <p:nvPr/>
        </p:nvSpPr>
        <p:spPr>
          <a:xfrm>
            <a:off x="3186950" y="2836551"/>
            <a:ext cx="779145" cy="0"/>
          </a:xfrm>
          <a:custGeom>
            <a:avLst/>
            <a:gdLst/>
            <a:ahLst/>
            <a:cxnLst/>
            <a:rect l="l" t="t" r="r" b="b"/>
            <a:pathLst>
              <a:path w="779145">
                <a:moveTo>
                  <a:pt x="0" y="0"/>
                </a:moveTo>
                <a:lnTo>
                  <a:pt x="778573" y="0"/>
                </a:lnTo>
              </a:path>
            </a:pathLst>
          </a:custGeom>
          <a:ln w="36258">
            <a:solidFill>
              <a:srgbClr val="D322F2"/>
            </a:solidFill>
          </a:ln>
        </p:spPr>
        <p:txBody>
          <a:bodyPr wrap="square" lIns="0" tIns="0" rIns="0" bIns="0" rtlCol="0"/>
          <a:lstStyle/>
          <a:p>
            <a:endParaRPr dirty="0"/>
          </a:p>
        </p:txBody>
      </p:sp>
      <p:sp>
        <p:nvSpPr>
          <p:cNvPr id="19" name="bk object 19"/>
          <p:cNvSpPr/>
          <p:nvPr/>
        </p:nvSpPr>
        <p:spPr>
          <a:xfrm>
            <a:off x="3186950" y="2781966"/>
            <a:ext cx="779145" cy="0"/>
          </a:xfrm>
          <a:custGeom>
            <a:avLst/>
            <a:gdLst/>
            <a:ahLst/>
            <a:cxnLst/>
            <a:rect l="l" t="t" r="r" b="b"/>
            <a:pathLst>
              <a:path w="779145">
                <a:moveTo>
                  <a:pt x="0" y="0"/>
                </a:moveTo>
                <a:lnTo>
                  <a:pt x="778573" y="0"/>
                </a:lnTo>
              </a:path>
            </a:pathLst>
          </a:custGeom>
          <a:ln w="36258">
            <a:solidFill>
              <a:srgbClr val="D322F2"/>
            </a:solidFill>
          </a:ln>
        </p:spPr>
        <p:txBody>
          <a:bodyPr wrap="square" lIns="0" tIns="0" rIns="0" bIns="0" rtlCol="0"/>
          <a:lstStyle/>
          <a:p>
            <a:endParaRPr dirty="0"/>
          </a:p>
        </p:txBody>
      </p:sp>
      <p:sp>
        <p:nvSpPr>
          <p:cNvPr id="2" name="Holder 2"/>
          <p:cNvSpPr>
            <a:spLocks noGrp="1"/>
          </p:cNvSpPr>
          <p:nvPr>
            <p:ph type="ctrTitle"/>
          </p:nvPr>
        </p:nvSpPr>
        <p:spPr>
          <a:xfrm>
            <a:off x="3174246" y="2190333"/>
            <a:ext cx="2415540" cy="354964"/>
          </a:xfrm>
          <a:prstGeom prst="rect">
            <a:avLst/>
          </a:prstGeom>
        </p:spPr>
        <p:txBody>
          <a:bodyPr wrap="square" lIns="0" tIns="0" rIns="0" bIns="0">
            <a:spAutoFit/>
          </a:bodyPr>
          <a:lstStyle>
            <a:lvl1pPr>
              <a:defRPr sz="2150" b="1" i="0">
                <a:solidFill>
                  <a:srgbClr val="231F20"/>
                </a:solidFill>
                <a:latin typeface="Arial"/>
                <a:cs typeface="Arial"/>
              </a:defRPr>
            </a:lvl1pPr>
          </a:lstStyle>
          <a:p>
            <a:endParaRPr/>
          </a:p>
        </p:txBody>
      </p:sp>
      <p:sp>
        <p:nvSpPr>
          <p:cNvPr id="3" name="Holder 3"/>
          <p:cNvSpPr>
            <a:spLocks noGrp="1"/>
          </p:cNvSpPr>
          <p:nvPr>
            <p:ph type="subTitle" idx="4"/>
          </p:nvPr>
        </p:nvSpPr>
        <p:spPr>
          <a:xfrm>
            <a:off x="1371600" y="3328416"/>
            <a:ext cx="6400800" cy="1485900"/>
          </a:xfrm>
          <a:prstGeom prst="rect">
            <a:avLst/>
          </a:prstGeom>
        </p:spPr>
        <p:txBody>
          <a:bodyPr wrap="square" lIns="0" tIns="0" rIns="0" bIns="0">
            <a:spAutoFit/>
          </a:bodyPr>
          <a:lstStyle>
            <a:lvl1pPr>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dirty="0"/>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4/6/26</a:t>
            </a:fld>
            <a:endParaRPr lang="en-US" dirty="0"/>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200" b="1" i="0">
                <a:solidFill>
                  <a:schemeClr val="tx1"/>
                </a:solidFill>
                <a:latin typeface="Lucida Sans"/>
                <a:cs typeface="Lucida Sans"/>
              </a:defRPr>
            </a:lvl1pPr>
          </a:lstStyle>
          <a:p>
            <a:endParaRPr/>
          </a:p>
        </p:txBody>
      </p:sp>
      <p:sp>
        <p:nvSpPr>
          <p:cNvPr id="3" name="Holder 3"/>
          <p:cNvSpPr>
            <a:spLocks noGrp="1"/>
          </p:cNvSpPr>
          <p:nvPr>
            <p:ph type="body" idx="1"/>
          </p:nvPr>
        </p:nvSpPr>
        <p:spPr/>
        <p:txBody>
          <a:bodyPr lIns="0" tIns="0" rIns="0" bIns="0"/>
          <a:lstStyle>
            <a:lvl1pPr>
              <a:defRPr sz="1300" b="1" i="0">
                <a:solidFill>
                  <a:schemeClr val="tx1"/>
                </a:solidFill>
                <a:latin typeface="Lucida Sans"/>
                <a:cs typeface="Lucida Sans"/>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dirty="0"/>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4/6/26</a:t>
            </a:fld>
            <a:endParaRPr lang="en-US" dirty="0"/>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200" b="1" i="0">
                <a:solidFill>
                  <a:schemeClr val="tx1"/>
                </a:solidFill>
                <a:latin typeface="Lucida Sans"/>
                <a:cs typeface="Lucida Sans"/>
              </a:defRPr>
            </a:lvl1pPr>
          </a:lstStyle>
          <a:p>
            <a:endParaRPr/>
          </a:p>
        </p:txBody>
      </p:sp>
      <p:sp>
        <p:nvSpPr>
          <p:cNvPr id="3" name="Holder 3"/>
          <p:cNvSpPr>
            <a:spLocks noGrp="1"/>
          </p:cNvSpPr>
          <p:nvPr>
            <p:ph sz="half" idx="2"/>
          </p:nvPr>
        </p:nvSpPr>
        <p:spPr>
          <a:xfrm>
            <a:off x="457200" y="1367028"/>
            <a:ext cx="3977640" cy="3922776"/>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4709160" y="1367028"/>
            <a:ext cx="3977640" cy="3922776"/>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endParaRPr dirty="0"/>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4/6/26</a:t>
            </a:fld>
            <a:endParaRPr lang="en-US" dirty="0"/>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200" b="1" i="0">
                <a:solidFill>
                  <a:schemeClr val="tx1"/>
                </a:solidFill>
                <a:latin typeface="Lucida Sans"/>
                <a:cs typeface="Lucida Sans"/>
              </a:defRPr>
            </a:lvl1pPr>
          </a:lstStyle>
          <a:p>
            <a:endParaRPr/>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a:endParaRPr dirty="0"/>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4/6/26</a:t>
            </a:fld>
            <a:endParaRPr lang="en-US" dirty="0"/>
          </a:p>
        </p:txBody>
      </p:sp>
      <p:sp>
        <p:nvSpPr>
          <p:cNvPr id="5" name="Holder 5"/>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a:endParaRPr dirty="0"/>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4/6/26</a:t>
            </a:fld>
            <a:endParaRPr lang="en-US" dirty="0"/>
          </a:p>
        </p:txBody>
      </p:sp>
      <p:sp>
        <p:nvSpPr>
          <p:cNvPr id="4" name="Holder 4"/>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dirty="0"/>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older 2"/>
          <p:cNvSpPr>
            <a:spLocks noGrp="1"/>
          </p:cNvSpPr>
          <p:nvPr>
            <p:ph type="title"/>
          </p:nvPr>
        </p:nvSpPr>
        <p:spPr>
          <a:xfrm>
            <a:off x="275300" y="830562"/>
            <a:ext cx="2907665" cy="995044"/>
          </a:xfrm>
          <a:prstGeom prst="rect">
            <a:avLst/>
          </a:prstGeom>
        </p:spPr>
        <p:txBody>
          <a:bodyPr wrap="square" lIns="0" tIns="0" rIns="0" bIns="0">
            <a:spAutoFit/>
          </a:bodyPr>
          <a:lstStyle>
            <a:lvl1pPr>
              <a:defRPr sz="3200" b="1" i="0">
                <a:solidFill>
                  <a:schemeClr val="tx1"/>
                </a:solidFill>
                <a:latin typeface="Lucida Sans"/>
                <a:cs typeface="Lucida Sans"/>
              </a:defRPr>
            </a:lvl1pPr>
          </a:lstStyle>
          <a:p>
            <a:endParaRPr/>
          </a:p>
        </p:txBody>
      </p:sp>
      <p:sp>
        <p:nvSpPr>
          <p:cNvPr id="3" name="Holder 3"/>
          <p:cNvSpPr>
            <a:spLocks noGrp="1"/>
          </p:cNvSpPr>
          <p:nvPr>
            <p:ph type="body" idx="1"/>
          </p:nvPr>
        </p:nvSpPr>
        <p:spPr>
          <a:xfrm>
            <a:off x="1217940" y="1414945"/>
            <a:ext cx="6708119" cy="1580514"/>
          </a:xfrm>
          <a:prstGeom prst="rect">
            <a:avLst/>
          </a:prstGeom>
        </p:spPr>
        <p:txBody>
          <a:bodyPr wrap="square" lIns="0" tIns="0" rIns="0" bIns="0">
            <a:spAutoFit/>
          </a:bodyPr>
          <a:lstStyle>
            <a:lvl1pPr>
              <a:defRPr sz="1300" b="1" i="0">
                <a:solidFill>
                  <a:schemeClr val="tx1"/>
                </a:solidFill>
                <a:latin typeface="Lucida Sans"/>
                <a:cs typeface="Lucida Sans"/>
              </a:defRPr>
            </a:lvl1pPr>
          </a:lstStyle>
          <a:p>
            <a:endParaRPr/>
          </a:p>
        </p:txBody>
      </p:sp>
      <p:sp>
        <p:nvSpPr>
          <p:cNvPr id="4" name="Holder 4"/>
          <p:cNvSpPr>
            <a:spLocks noGrp="1"/>
          </p:cNvSpPr>
          <p:nvPr>
            <p:ph type="ftr" sz="quarter" idx="5"/>
          </p:nvPr>
        </p:nvSpPr>
        <p:spPr>
          <a:xfrm>
            <a:off x="3108960" y="5527548"/>
            <a:ext cx="2926080" cy="297180"/>
          </a:xfrm>
          <a:prstGeom prst="rect">
            <a:avLst/>
          </a:prstGeom>
        </p:spPr>
        <p:txBody>
          <a:bodyPr wrap="square" lIns="0" tIns="0" rIns="0" bIns="0">
            <a:spAutoFit/>
          </a:bodyPr>
          <a:lstStyle>
            <a:lvl1pPr algn="ctr">
              <a:defRPr>
                <a:solidFill>
                  <a:schemeClr val="tx1">
                    <a:tint val="75000"/>
                  </a:schemeClr>
                </a:solidFill>
              </a:defRPr>
            </a:lvl1pPr>
          </a:lstStyle>
          <a:p>
            <a:endParaRPr dirty="0"/>
          </a:p>
        </p:txBody>
      </p:sp>
      <p:sp>
        <p:nvSpPr>
          <p:cNvPr id="5" name="Holder 5"/>
          <p:cNvSpPr>
            <a:spLocks noGrp="1"/>
          </p:cNvSpPr>
          <p:nvPr>
            <p:ph type="dt" sz="half" idx="6"/>
          </p:nvPr>
        </p:nvSpPr>
        <p:spPr>
          <a:xfrm>
            <a:off x="457200" y="5527548"/>
            <a:ext cx="2103120" cy="297180"/>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t>4/6/26</a:t>
            </a:fld>
            <a:endParaRPr lang="en-US" dirty="0"/>
          </a:p>
        </p:txBody>
      </p:sp>
      <p:sp>
        <p:nvSpPr>
          <p:cNvPr id="6" name="Holder 6"/>
          <p:cNvSpPr>
            <a:spLocks noGrp="1"/>
          </p:cNvSpPr>
          <p:nvPr>
            <p:ph type="sldNum" sz="quarter" idx="7"/>
          </p:nvPr>
        </p:nvSpPr>
        <p:spPr>
          <a:xfrm>
            <a:off x="6583680" y="5527548"/>
            <a:ext cx="2103120" cy="297180"/>
          </a:xfrm>
          <a:prstGeom prst="rect">
            <a:avLst/>
          </a:prstGeom>
        </p:spPr>
        <p:txBody>
          <a:bodyPr wrap="square" lIns="0" tIns="0" rIns="0" bIns="0">
            <a:spAutoFit/>
          </a:bodyPr>
          <a:lstStyle>
            <a:lvl1pPr algn="r">
              <a:defRPr>
                <a:solidFill>
                  <a:schemeClr val="tx1">
                    <a:tint val="75000"/>
                  </a:schemeClr>
                </a:solidFill>
              </a:defRPr>
            </a:lvl1pPr>
          </a:lstStyle>
          <a:p>
            <a:fld id="{B6F15528-21DE-4FAA-801E-634DDDAF4B2B}" type="slidenum">
              <a:t>‹#›</a:t>
            </a:fld>
            <a:endParaRPr dirty="0"/>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2.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3.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2.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4.xml.rels><?xml version="1.0" encoding="UTF-8" standalone="yes"?>
<Relationships xmlns="http://schemas.openxmlformats.org/package/2006/relationships"><Relationship Id="rId3" Type="http://schemas.openxmlformats.org/officeDocument/2006/relationships/diagramLayout" Target="../diagrams/layout4.xml"/><Relationship Id="rId2" Type="http://schemas.openxmlformats.org/officeDocument/2006/relationships/diagramData" Target="../diagrams/data4.xml"/><Relationship Id="rId1" Type="http://schemas.openxmlformats.org/officeDocument/2006/relationships/slideLayout" Target="../slideLayouts/slideLayout2.xml"/><Relationship Id="rId6" Type="http://schemas.microsoft.com/office/2007/relationships/diagramDrawing" Target="../diagrams/drawing4.xml"/><Relationship Id="rId5" Type="http://schemas.openxmlformats.org/officeDocument/2006/relationships/diagramColors" Target="../diagrams/colors4.xml"/><Relationship Id="rId4" Type="http://schemas.openxmlformats.org/officeDocument/2006/relationships/diagramQuickStyle" Target="../diagrams/quickStyle4.xml"/></Relationships>
</file>

<file path=ppt/slides/_rels/slide5.xml.rels><?xml version="1.0" encoding="UTF-8" standalone="yes"?>
<Relationships xmlns="http://schemas.openxmlformats.org/package/2006/relationships"><Relationship Id="rId3" Type="http://schemas.openxmlformats.org/officeDocument/2006/relationships/diagramLayout" Target="../diagrams/layout5.xml"/><Relationship Id="rId2" Type="http://schemas.openxmlformats.org/officeDocument/2006/relationships/diagramData" Target="../diagrams/data5.xml"/><Relationship Id="rId1" Type="http://schemas.openxmlformats.org/officeDocument/2006/relationships/slideLayout" Target="../slideLayouts/slideLayout2.xml"/><Relationship Id="rId6" Type="http://schemas.microsoft.com/office/2007/relationships/diagramDrawing" Target="../diagrams/drawing5.xml"/><Relationship Id="rId5" Type="http://schemas.openxmlformats.org/officeDocument/2006/relationships/diagramColors" Target="../diagrams/colors5.xml"/><Relationship Id="rId4" Type="http://schemas.openxmlformats.org/officeDocument/2006/relationships/diagramQuickStyle" Target="../diagrams/quickStyle5.xml"/></Relationships>
</file>

<file path=ppt/slides/_rels/slide6.xml.rels><?xml version="1.0" encoding="UTF-8" standalone="yes"?>
<Relationships xmlns="http://schemas.openxmlformats.org/package/2006/relationships"><Relationship Id="rId3" Type="http://schemas.openxmlformats.org/officeDocument/2006/relationships/diagramLayout" Target="../diagrams/layout6.xml"/><Relationship Id="rId7" Type="http://schemas.openxmlformats.org/officeDocument/2006/relationships/hyperlink" Target="https://github.com/sandipray63in/DDD-Based-Enterprise-Application-Framework/blob/master/Testing.Repository/EFRespositoryAndUnitOfWorkTest.cs" TargetMode="External"/><Relationship Id="rId2" Type="http://schemas.openxmlformats.org/officeDocument/2006/relationships/diagramData" Target="../diagrams/data6.xml"/><Relationship Id="rId1" Type="http://schemas.openxmlformats.org/officeDocument/2006/relationships/slideLayout" Target="../slideLayouts/slideLayout2.xml"/><Relationship Id="rId6" Type="http://schemas.microsoft.com/office/2007/relationships/diagramDrawing" Target="../diagrams/drawing6.xml"/><Relationship Id="rId5" Type="http://schemas.openxmlformats.org/officeDocument/2006/relationships/diagramColors" Target="../diagrams/colors6.xml"/><Relationship Id="rId4" Type="http://schemas.openxmlformats.org/officeDocument/2006/relationships/diagramQuickStyle" Target="../diagrams/quickStyle6.xml"/></Relationships>
</file>

<file path=ppt/slides/_rels/slide7.xml.rels><?xml version="1.0" encoding="UTF-8" standalone="yes"?>
<Relationships xmlns="http://schemas.openxmlformats.org/package/2006/relationships"><Relationship Id="rId3" Type="http://schemas.openxmlformats.org/officeDocument/2006/relationships/diagramLayout" Target="../diagrams/layout7.xml"/><Relationship Id="rId2" Type="http://schemas.openxmlformats.org/officeDocument/2006/relationships/diagramData" Target="../diagrams/data7.xml"/><Relationship Id="rId1" Type="http://schemas.openxmlformats.org/officeDocument/2006/relationships/slideLayout" Target="../slideLayouts/slideLayout2.xml"/><Relationship Id="rId6" Type="http://schemas.microsoft.com/office/2007/relationships/diagramDrawing" Target="../diagrams/drawing7.xml"/><Relationship Id="rId5" Type="http://schemas.openxmlformats.org/officeDocument/2006/relationships/diagramColors" Target="../diagrams/colors7.xml"/><Relationship Id="rId4" Type="http://schemas.openxmlformats.org/officeDocument/2006/relationships/diagramQuickStyle" Target="../diagrams/quickStyle7.xml"/></Relationships>
</file>

<file path=ppt/slides/_rels/slide8.xml.rels><?xml version="1.0" encoding="UTF-8" standalone="yes"?>
<Relationships xmlns="http://schemas.openxmlformats.org/package/2006/relationships"><Relationship Id="rId3" Type="http://schemas.openxmlformats.org/officeDocument/2006/relationships/diagramLayout" Target="../diagrams/layout8.xml"/><Relationship Id="rId2" Type="http://schemas.openxmlformats.org/officeDocument/2006/relationships/diagramData" Target="../diagrams/data8.xml"/><Relationship Id="rId1" Type="http://schemas.openxmlformats.org/officeDocument/2006/relationships/slideLayout" Target="../slideLayouts/slideLayout2.xml"/><Relationship Id="rId6" Type="http://schemas.microsoft.com/office/2007/relationships/diagramDrawing" Target="../diagrams/drawing8.xml"/><Relationship Id="rId5" Type="http://schemas.openxmlformats.org/officeDocument/2006/relationships/diagramColors" Target="../diagrams/colors8.xml"/><Relationship Id="rId4" Type="http://schemas.openxmlformats.org/officeDocument/2006/relationships/diagramQuickStyle" Target="../diagrams/quickStyle8.xml"/></Relationships>
</file>

<file path=ppt/slides/_rels/slide9.xml.rels><?xml version="1.0" encoding="UTF-8" standalone="yes"?>
<Relationships xmlns="http://schemas.openxmlformats.org/package/2006/relationships"><Relationship Id="rId3" Type="http://schemas.openxmlformats.org/officeDocument/2006/relationships/diagramLayout" Target="../diagrams/layout9.xml"/><Relationship Id="rId7" Type="http://schemas.openxmlformats.org/officeDocument/2006/relationships/hyperlink" Target="https://github.com/sandipray63in/DDD-Based-Enterprise-Application-Framework/blob/master/Testing.Repository/App.config" TargetMode="External"/><Relationship Id="rId2" Type="http://schemas.openxmlformats.org/officeDocument/2006/relationships/diagramData" Target="../diagrams/data9.xml"/><Relationship Id="rId1" Type="http://schemas.openxmlformats.org/officeDocument/2006/relationships/slideLayout" Target="../slideLayouts/slideLayout2.xml"/><Relationship Id="rId6" Type="http://schemas.microsoft.com/office/2007/relationships/diagramDrawing" Target="../diagrams/drawing9.xml"/><Relationship Id="rId5" Type="http://schemas.openxmlformats.org/officeDocument/2006/relationships/diagramColors" Target="../diagrams/colors9.xml"/><Relationship Id="rId4" Type="http://schemas.openxmlformats.org/officeDocument/2006/relationships/diagramQuickStyle" Target="../diagrams/quickStyle9.xml"/></Relationships>
</file>

<file path=ppt/slides/_rels/slide10.xml.rels><?xml version="1.0" encoding="UTF-8" standalone="yes"?>
<Relationships xmlns="http://schemas.openxmlformats.org/package/2006/relationships"><Relationship Id="rId8" Type="http://schemas.openxmlformats.org/officeDocument/2006/relationships/hyperlink" Target="http://xunitpatterns.com/" TargetMode="External"/><Relationship Id="rId3" Type="http://schemas.openxmlformats.org/officeDocument/2006/relationships/diagramLayout" Target="../diagrams/layout10.xml"/><Relationship Id="rId7" Type="http://schemas.openxmlformats.org/officeDocument/2006/relationships/hyperlink" Target="https://github.com/daryllabar/XrmUnitTest" TargetMode="External"/><Relationship Id="rId2" Type="http://schemas.openxmlformats.org/officeDocument/2006/relationships/diagramData" Target="../diagrams/data10.xml"/><Relationship Id="rId1" Type="http://schemas.openxmlformats.org/officeDocument/2006/relationships/slideLayout" Target="../slideLayouts/slideLayout2.xml"/><Relationship Id="rId6" Type="http://schemas.microsoft.com/office/2007/relationships/diagramDrawing" Target="../diagrams/drawing10.xml"/><Relationship Id="rId5" Type="http://schemas.openxmlformats.org/officeDocument/2006/relationships/diagramColors" Target="../diagrams/colors10.xml"/><Relationship Id="rId10" Type="http://schemas.openxmlformats.org/officeDocument/2006/relationships/hyperlink" Target="https://hovermind.com/xunit/autodata-with-autofixure.html" TargetMode="External"/><Relationship Id="rId4" Type="http://schemas.openxmlformats.org/officeDocument/2006/relationships/diagramQuickStyle" Target="../diagrams/quickStyle10.xml"/><Relationship Id="rId9" Type="http://schemas.openxmlformats.org/officeDocument/2006/relationships/hyperlink" Target="https://medium.com/@kova98/parameterized-unit-tests-in-net-7-with-xunit-183f7bf6a4d7" TargetMode="External"/></Relationships>
</file>

<file path=ppt/slides/_rels/slide11.xml.rels><?xml version="1.0" encoding="UTF-8" standalone="yes"?>
<Relationships xmlns="http://schemas.openxmlformats.org/package/2006/relationships"><Relationship Id="rId8" Type="http://schemas.openxmlformats.org/officeDocument/2006/relationships/image" Target="../media/image3.png"/><Relationship Id="rId3" Type="http://schemas.openxmlformats.org/officeDocument/2006/relationships/diagramLayout" Target="../diagrams/layout11.xml"/><Relationship Id="rId7" Type="http://schemas.openxmlformats.org/officeDocument/2006/relationships/image" Target="../media/image2.png"/><Relationship Id="rId2" Type="http://schemas.openxmlformats.org/officeDocument/2006/relationships/diagramData" Target="../diagrams/data11.xml"/><Relationship Id="rId1" Type="http://schemas.openxmlformats.org/officeDocument/2006/relationships/slideLayout" Target="../slideLayouts/slideLayout2.xml"/><Relationship Id="rId6" Type="http://schemas.microsoft.com/office/2007/relationships/diagramDrawing" Target="../diagrams/drawing11.xml"/><Relationship Id="rId5" Type="http://schemas.openxmlformats.org/officeDocument/2006/relationships/diagramColors" Target="../diagrams/colors11.xml"/><Relationship Id="rId4" Type="http://schemas.openxmlformats.org/officeDocument/2006/relationships/diagramQuickStyle" Target="../diagrams/quickStyle11.xml"/></Relationships>
</file>

<file path=ppt/slides/_rels/slide12.xml.rels><?xml version="1.0" encoding="UTF-8" standalone="yes"?>
<Relationships xmlns="http://schemas.openxmlformats.org/package/2006/relationships"><Relationship Id="rId3" Type="http://schemas.openxmlformats.org/officeDocument/2006/relationships/diagramLayout" Target="../diagrams/layout12.xml"/><Relationship Id="rId7" Type="http://schemas.openxmlformats.org/officeDocument/2006/relationships/image" Target="../media/image4.png"/><Relationship Id="rId2" Type="http://schemas.openxmlformats.org/officeDocument/2006/relationships/diagramData" Target="../diagrams/data12.xml"/><Relationship Id="rId1" Type="http://schemas.openxmlformats.org/officeDocument/2006/relationships/slideLayout" Target="../slideLayouts/slideLayout2.xml"/><Relationship Id="rId6" Type="http://schemas.microsoft.com/office/2007/relationships/diagramDrawing" Target="../diagrams/drawing12.xml"/><Relationship Id="rId5" Type="http://schemas.openxmlformats.org/officeDocument/2006/relationships/diagramColors" Target="../diagrams/colors12.xml"/><Relationship Id="rId4" Type="http://schemas.openxmlformats.org/officeDocument/2006/relationships/diagramQuickStyle" Target="../diagrams/quickStyle12.xml"/></Relationships>
</file>

<file path=ppt/slides/_rels/slide13.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diagramLayout" Target="../diagrams/layout13.xml"/><Relationship Id="rId7" Type="http://schemas.openxmlformats.org/officeDocument/2006/relationships/image" Target="../media/image5.png"/><Relationship Id="rId2" Type="http://schemas.openxmlformats.org/officeDocument/2006/relationships/diagramData" Target="../diagrams/data13.xml"/><Relationship Id="rId1" Type="http://schemas.openxmlformats.org/officeDocument/2006/relationships/slideLayout" Target="../slideLayouts/slideLayout2.xml"/><Relationship Id="rId6" Type="http://schemas.microsoft.com/office/2007/relationships/diagramDrawing" Target="../diagrams/drawing13.xml"/><Relationship Id="rId5" Type="http://schemas.openxmlformats.org/officeDocument/2006/relationships/diagramColors" Target="../diagrams/colors13.xml"/><Relationship Id="rId4" Type="http://schemas.openxmlformats.org/officeDocument/2006/relationships/diagramQuickStyle" Target="../diagrams/quickStyle13.xml"/></Relationships>
</file>

<file path=ppt/slides/_rels/slide14.xml.rels><?xml version="1.0" encoding="UTF-8" standalone="yes"?>
<Relationships xmlns="http://schemas.openxmlformats.org/package/2006/relationships"><Relationship Id="rId8" Type="http://schemas.openxmlformats.org/officeDocument/2006/relationships/image" Target="../media/image8.png"/><Relationship Id="rId3" Type="http://schemas.openxmlformats.org/officeDocument/2006/relationships/diagramLayout" Target="../diagrams/layout14.xml"/><Relationship Id="rId7" Type="http://schemas.openxmlformats.org/officeDocument/2006/relationships/image" Target="../media/image7.png"/><Relationship Id="rId2" Type="http://schemas.openxmlformats.org/officeDocument/2006/relationships/diagramData" Target="../diagrams/data14.xml"/><Relationship Id="rId1" Type="http://schemas.openxmlformats.org/officeDocument/2006/relationships/slideLayout" Target="../slideLayouts/slideLayout2.xml"/><Relationship Id="rId6" Type="http://schemas.microsoft.com/office/2007/relationships/diagramDrawing" Target="../diagrams/drawing14.xml"/><Relationship Id="rId5" Type="http://schemas.openxmlformats.org/officeDocument/2006/relationships/diagramColors" Target="../diagrams/colors14.xml"/><Relationship Id="rId4" Type="http://schemas.openxmlformats.org/officeDocument/2006/relationships/diagramQuickStyle" Target="../diagrams/quickStyle14.xml"/></Relationships>
</file>

<file path=ppt/slides/_rels/slide15.xml.rels><?xml version="1.0" encoding="UTF-8" standalone="yes"?>
<Relationships xmlns="http://schemas.openxmlformats.org/package/2006/relationships"><Relationship Id="rId3" Type="http://schemas.openxmlformats.org/officeDocument/2006/relationships/diagramLayout" Target="../diagrams/layout15.xml"/><Relationship Id="rId2" Type="http://schemas.openxmlformats.org/officeDocument/2006/relationships/diagramData" Target="../diagrams/data15.xml"/><Relationship Id="rId1" Type="http://schemas.openxmlformats.org/officeDocument/2006/relationships/slideLayout" Target="../slideLayouts/slideLayout2.xml"/><Relationship Id="rId6" Type="http://schemas.microsoft.com/office/2007/relationships/diagramDrawing" Target="../diagrams/drawing15.xml"/><Relationship Id="rId5" Type="http://schemas.openxmlformats.org/officeDocument/2006/relationships/diagramColors" Target="../diagrams/colors15.xml"/><Relationship Id="rId4" Type="http://schemas.openxmlformats.org/officeDocument/2006/relationships/diagramQuickStyle" Target="../diagrams/quickStyle15.xml"/></Relationships>
</file>

<file path=ppt/slides/_rels/slide16.xml.rels><?xml version="1.0" encoding="UTF-8" standalone="yes"?>
<Relationships xmlns="http://schemas.openxmlformats.org/package/2006/relationships"><Relationship Id="rId8" Type="http://schemas.openxmlformats.org/officeDocument/2006/relationships/hyperlink" Target="https://docs.specflow.org/en/latest/Examples.html" TargetMode="External"/><Relationship Id="rId3" Type="http://schemas.openxmlformats.org/officeDocument/2006/relationships/diagramLayout" Target="../diagrams/layout16.xml"/><Relationship Id="rId7" Type="http://schemas.openxmlformats.org/officeDocument/2006/relationships/hyperlink" Target="https://github.com/sandipray63in/WeatherForecastAzureFunctionAndAngularSample/tree/master/WeatherForecastBDD" TargetMode="External"/><Relationship Id="rId2" Type="http://schemas.openxmlformats.org/officeDocument/2006/relationships/diagramData" Target="../diagrams/data16.xml"/><Relationship Id="rId1" Type="http://schemas.openxmlformats.org/officeDocument/2006/relationships/slideLayout" Target="../slideLayouts/slideLayout2.xml"/><Relationship Id="rId6" Type="http://schemas.microsoft.com/office/2007/relationships/diagramDrawing" Target="../diagrams/drawing16.xml"/><Relationship Id="rId5" Type="http://schemas.openxmlformats.org/officeDocument/2006/relationships/diagramColors" Target="../diagrams/colors16.xml"/><Relationship Id="rId4" Type="http://schemas.openxmlformats.org/officeDocument/2006/relationships/diagramQuickStyle" Target="../diagrams/quickStyle16.xml"/><Relationship Id="rId9" Type="http://schemas.openxmlformats.org/officeDocument/2006/relationships/hyperlink" Target="https://docs.reqnroll.net/latest/help/samples.html" TargetMode="External"/></Relationships>
</file>

<file path=ppt/slides/_rels/slide17.xml.rels><?xml version="1.0" encoding="UTF-8" standalone="yes"?>
<Relationships xmlns="http://schemas.openxmlformats.org/package/2006/relationships"><Relationship Id="rId3" Type="http://schemas.openxmlformats.org/officeDocument/2006/relationships/diagramLayout" Target="../diagrams/layout17.xml"/><Relationship Id="rId7" Type="http://schemas.openxmlformats.org/officeDocument/2006/relationships/image" Target="../media/image9.png"/><Relationship Id="rId2" Type="http://schemas.openxmlformats.org/officeDocument/2006/relationships/diagramData" Target="../diagrams/data17.xml"/><Relationship Id="rId1" Type="http://schemas.openxmlformats.org/officeDocument/2006/relationships/slideLayout" Target="../slideLayouts/slideLayout2.xml"/><Relationship Id="rId6" Type="http://schemas.microsoft.com/office/2007/relationships/diagramDrawing" Target="../diagrams/drawing17.xml"/><Relationship Id="rId5" Type="http://schemas.openxmlformats.org/officeDocument/2006/relationships/diagramColors" Target="../diagrams/colors17.xml"/><Relationship Id="rId4" Type="http://schemas.openxmlformats.org/officeDocument/2006/relationships/diagramQuickStyle" Target="../diagrams/quickStyle17.xml"/></Relationships>
</file>

<file path=ppt/slides/_rels/slide18.xml.rels><?xml version="1.0" encoding="UTF-8" standalone="yes"?>
<Relationships xmlns="http://schemas.openxmlformats.org/package/2006/relationships"><Relationship Id="rId8" Type="http://schemas.openxmlformats.org/officeDocument/2006/relationships/hyperlink" Target="https://learn.microsoft.com/en-us/aspnet/core/test/integration-tests?view=aspnetcore-10.0&amp;pivots=xunit" TargetMode="External"/><Relationship Id="rId3" Type="http://schemas.openxmlformats.org/officeDocument/2006/relationships/diagramLayout" Target="../diagrams/layout18.xml"/><Relationship Id="rId7" Type="http://schemas.openxmlformats.org/officeDocument/2006/relationships/image" Target="../media/image10.png"/><Relationship Id="rId2" Type="http://schemas.openxmlformats.org/officeDocument/2006/relationships/diagramData" Target="../diagrams/data18.xml"/><Relationship Id="rId1" Type="http://schemas.openxmlformats.org/officeDocument/2006/relationships/slideLayout" Target="../slideLayouts/slideLayout2.xml"/><Relationship Id="rId6" Type="http://schemas.microsoft.com/office/2007/relationships/diagramDrawing" Target="../diagrams/drawing18.xml"/><Relationship Id="rId5" Type="http://schemas.openxmlformats.org/officeDocument/2006/relationships/diagramColors" Target="../diagrams/colors18.xml"/><Relationship Id="rId4" Type="http://schemas.openxmlformats.org/officeDocument/2006/relationships/diagramQuickStyle" Target="../diagrams/quickStyle18.xml"/></Relationships>
</file>

<file path=ppt/slides/_rels/slide19.xml.rels><?xml version="1.0" encoding="UTF-8" standalone="yes"?>
<Relationships xmlns="http://schemas.openxmlformats.org/package/2006/relationships"><Relationship Id="rId8" Type="http://schemas.openxmlformats.org/officeDocument/2006/relationships/hyperlink" Target="https://kata-log.rocks/bdd" TargetMode="External"/><Relationship Id="rId3" Type="http://schemas.openxmlformats.org/officeDocument/2006/relationships/diagramLayout" Target="../diagrams/layout19.xml"/><Relationship Id="rId7" Type="http://schemas.openxmlformats.org/officeDocument/2006/relationships/hyperlink" Target="https://kata-log.rocks/tdd" TargetMode="External"/><Relationship Id="rId2" Type="http://schemas.openxmlformats.org/officeDocument/2006/relationships/diagramData" Target="../diagrams/data19.xml"/><Relationship Id="rId1" Type="http://schemas.openxmlformats.org/officeDocument/2006/relationships/slideLayout" Target="../slideLayouts/slideLayout2.xml"/><Relationship Id="rId6" Type="http://schemas.microsoft.com/office/2007/relationships/diagramDrawing" Target="../diagrams/drawing19.xml"/><Relationship Id="rId5" Type="http://schemas.openxmlformats.org/officeDocument/2006/relationships/diagramColors" Target="../diagrams/colors19.xml"/><Relationship Id="rId4" Type="http://schemas.openxmlformats.org/officeDocument/2006/relationships/diagramQuickStyle" Target="../diagrams/quickStyle19.xml"/></Relationships>
</file>

<file path=ppt/slides/_rels/slide20.xml.rels><?xml version="1.0" encoding="UTF-8" standalone="yes"?>
<Relationships xmlns="http://schemas.openxmlformats.org/package/2006/relationships"><Relationship Id="rId3" Type="http://schemas.openxmlformats.org/officeDocument/2006/relationships/hyperlink" Target="https://www.google.com/search?q=Gherkin-based+scenarios+%28Cucumber%29&amp;safe=active&amp;sca_esv=633469e161d1facd&amp;rlz=1C1GCEW_enIN1075IN1075&amp;sxsrf=ANbL-n7whe4OY5YjOToReAzKNnR9x5sI9Q%3A1771852681816&amp;ei=iVOcaZPFMdDh1e8PmJCC0AY&amp;biw=1280&amp;bih=585&amp;ved=2ahUKEwjDrOWU2--SAxVaUGcHHbZEAJIQgK4QegQIARAC&amp;uact=5&amp;oq=Comprehensive+%26+exhaustive+guide+on+TDD+%26+BDD+based+Code+Coverage+in+tabular+format&amp;gs_lp=Egxnd3Mtd2l6LXNlcnAiU0NvbXByZWhlbnNpdmUgJiBleGhhdXN0aXZlIGd1aWRlIG9uIFRERCAmIEJERCBiYXNlZCBDb2RlIENvdmVyYWdlIGluIHRhYnVsYXIgZm9ybWF0SJUzUABYwydwAHgBkAEAmAGQAqABjhGqAQUwLjYuNbgBA8gBAPgBAZgCAKACAJgDAOIDBRIBMSBAkgcAoAesC7IHALgHAMIHAMgHAIAIAA&amp;sclient=gws-wiz-serp&amp;mstk=AUtExfAgLulG3xPMiQoNl3syoIaq0LsEZ8q3BULhb5KGjVM-smSAAL87Ay1_RnD2MAZzQqjgo4ku9Am51XADZvnLlb6GBwT_9lzSTirIcmhVxU8jVC8DRIYtgcbGOLCho3-6N_sX2AbgYx3SgrECXBBLtB8WyBNq3O1xeDJ5Fm-WKDaD0dNuBkBniM8JmHP3AiwYbbdHtai70ockHefJYyZOpwtpNw5S7wDFvLIRgk1uox_W1SakmrmkQ7EJmix6KEVFQD9dECC018crC64OKtJ7esKbObbo6e-wDz94bljjOV_9iA&amp;csui=3" TargetMode="External"/><Relationship Id="rId2" Type="http://schemas.openxmlformats.org/officeDocument/2006/relationships/hyperlink" Target="https://www.google.com/search?q=unit+tests+%28JUnit%2FPytest%29&amp;safe=active&amp;sca_esv=633469e161d1facd&amp;rlz=1C1GCEW_enIN1075IN1075&amp;sxsrf=ANbL-n7whe4OY5YjOToReAzKNnR9x5sI9Q%3A1771852681816&amp;ei=iVOcaZPFMdDh1e8PmJCC0AY&amp;biw=1280&amp;bih=585&amp;ved=2ahUKEwjDrOWU2--SAxVaUGcHHbZEAJIQgK4QegQIARAB&amp;uact=5&amp;oq=Comprehensive+%26+exhaustive+guide+on+TDD+%26+BDD+based+Code+Coverage+in+tabular+format&amp;gs_lp=Egxnd3Mtd2l6LXNlcnAiU0NvbXByZWhlbnNpdmUgJiBleGhhdXN0aXZlIGd1aWRlIG9uIFRERCAmIEJERCBiYXNlZCBDb2RlIENvdmVyYWdlIGluIHRhYnVsYXIgZm9ybWF0SJUzUABYwydwAHgBkAEAmAGQAqABjhGqAQUwLjYuNbgBA8gBAPgBAZgCAKACAJgDAOIDBRIBMSBAkgcAoAesC7IHALgHAMIHAMgHAIAIAA&amp;sclient=gws-wiz-serp&amp;mstk=AUtExfAgLulG3xPMiQoNl3syoIaq0LsEZ8q3BULhb5KGjVM-smSAAL87Ay1_RnD2MAZzQqjgo4ku9Am51XADZvnLlb6GBwT_9lzSTirIcmhVxU8jVC8DRIYtgcbGOLCho3-6N_sX2AbgYx3SgrECXBBLtB8WyBNq3O1xeDJ5Fm-WKDaD0dNuBkBniM8JmHP3AiwYbbdHtai70ockHefJYyZOpwtpNw5S7wDFvLIRgk1uox_W1SakmrmkQ7EJmix6KEVFQD9dECC018crC64OKtJ7esKbObbo6e-wDz94bljjOV_9iA&amp;csui=3" TargetMode="External"/><Relationship Id="rId1" Type="http://schemas.openxmlformats.org/officeDocument/2006/relationships/slideLayout" Target="../slideLayouts/slideLayout2.xml"/><Relationship Id="rId5" Type="http://schemas.openxmlformats.org/officeDocument/2006/relationships/image" Target="../media/image12.png"/><Relationship Id="rId4" Type="http://schemas.openxmlformats.org/officeDocument/2006/relationships/image" Target="../media/image11.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hyperlink" Target="https://blogs.halodoc.io/test-automation-reporting-improvements/" TargetMode="External"/><Relationship Id="rId2" Type="http://schemas.openxmlformats.org/officeDocument/2006/relationships/hyperlink" Target="https://allurereport.org/" TargetMode="Externa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diagramLayout" Target="../diagrams/layout20.xml"/><Relationship Id="rId7" Type="http://schemas.openxmlformats.org/officeDocument/2006/relationships/image" Target="../media/image14.png"/><Relationship Id="rId2" Type="http://schemas.openxmlformats.org/officeDocument/2006/relationships/diagramData" Target="../diagrams/data20.xml"/><Relationship Id="rId1" Type="http://schemas.openxmlformats.org/officeDocument/2006/relationships/slideLayout" Target="../slideLayouts/slideLayout2.xml"/><Relationship Id="rId6" Type="http://schemas.microsoft.com/office/2007/relationships/diagramDrawing" Target="../diagrams/drawing20.xml"/><Relationship Id="rId5" Type="http://schemas.openxmlformats.org/officeDocument/2006/relationships/diagramColors" Target="../diagrams/colors20.xml"/><Relationship Id="rId4" Type="http://schemas.openxmlformats.org/officeDocument/2006/relationships/diagramQuickStyle" Target="../diagrams/quickStyle20.xml"/></Relationships>
</file>

<file path=ppt/slides/_rels/slide26.xml.rels><?xml version="1.0" encoding="UTF-8" standalone="yes"?>
<Relationships xmlns="http://schemas.openxmlformats.org/package/2006/relationships"><Relationship Id="rId3" Type="http://schemas.openxmlformats.org/officeDocument/2006/relationships/diagramLayout" Target="../diagrams/layout21.xml"/><Relationship Id="rId7" Type="http://schemas.openxmlformats.org/officeDocument/2006/relationships/image" Target="../media/image15.jpeg"/><Relationship Id="rId2" Type="http://schemas.openxmlformats.org/officeDocument/2006/relationships/diagramData" Target="../diagrams/data21.xml"/><Relationship Id="rId1" Type="http://schemas.openxmlformats.org/officeDocument/2006/relationships/slideLayout" Target="../slideLayouts/slideLayout2.xml"/><Relationship Id="rId6" Type="http://schemas.microsoft.com/office/2007/relationships/diagramDrawing" Target="../diagrams/drawing21.xml"/><Relationship Id="rId5" Type="http://schemas.openxmlformats.org/officeDocument/2006/relationships/diagramColors" Target="../diagrams/colors21.xml"/><Relationship Id="rId4" Type="http://schemas.openxmlformats.org/officeDocument/2006/relationships/diagramQuickStyle" Target="../diagrams/quickStyle21.xml"/></Relationships>
</file>

<file path=ppt/slides/_rels/slide27.xml.rels><?xml version="1.0" encoding="UTF-8" standalone="yes"?>
<Relationships xmlns="http://schemas.openxmlformats.org/package/2006/relationships"><Relationship Id="rId8" Type="http://schemas.openxmlformats.org/officeDocument/2006/relationships/image" Target="../media/image17.png"/><Relationship Id="rId3" Type="http://schemas.openxmlformats.org/officeDocument/2006/relationships/diagramLayout" Target="../diagrams/layout22.xml"/><Relationship Id="rId7" Type="http://schemas.openxmlformats.org/officeDocument/2006/relationships/image" Target="../media/image16.png"/><Relationship Id="rId2" Type="http://schemas.openxmlformats.org/officeDocument/2006/relationships/diagramData" Target="../diagrams/data22.xml"/><Relationship Id="rId1" Type="http://schemas.openxmlformats.org/officeDocument/2006/relationships/slideLayout" Target="../slideLayouts/slideLayout2.xml"/><Relationship Id="rId6" Type="http://schemas.microsoft.com/office/2007/relationships/diagramDrawing" Target="../diagrams/drawing22.xml"/><Relationship Id="rId5" Type="http://schemas.openxmlformats.org/officeDocument/2006/relationships/diagramColors" Target="../diagrams/colors22.xml"/><Relationship Id="rId4" Type="http://schemas.openxmlformats.org/officeDocument/2006/relationships/diagramQuickStyle" Target="../diagrams/quickStyle22.xml"/></Relationships>
</file>

<file path=ppt/slides/_rels/slide28.xml.rels><?xml version="1.0" encoding="UTF-8" standalone="yes"?>
<Relationships xmlns="http://schemas.openxmlformats.org/package/2006/relationships"><Relationship Id="rId3" Type="http://schemas.openxmlformats.org/officeDocument/2006/relationships/diagramLayout" Target="../diagrams/layout23.xml"/><Relationship Id="rId2" Type="http://schemas.openxmlformats.org/officeDocument/2006/relationships/diagramData" Target="../diagrams/data23.xml"/><Relationship Id="rId1" Type="http://schemas.openxmlformats.org/officeDocument/2006/relationships/slideLayout" Target="../slideLayouts/slideLayout2.xml"/><Relationship Id="rId6" Type="http://schemas.microsoft.com/office/2007/relationships/diagramDrawing" Target="../diagrams/drawing23.xml"/><Relationship Id="rId5" Type="http://schemas.openxmlformats.org/officeDocument/2006/relationships/diagramColors" Target="../diagrams/colors23.xml"/><Relationship Id="rId4" Type="http://schemas.openxmlformats.org/officeDocument/2006/relationships/diagramQuickStyle" Target="../diagrams/quickStyle23.xml"/></Relationships>
</file>

<file path=ppt/slides/_rels/slide29.xml.rels><?xml version="1.0" encoding="UTF-8" standalone="yes"?>
<Relationships xmlns="http://schemas.openxmlformats.org/package/2006/relationships"><Relationship Id="rId8" Type="http://schemas.openxmlformats.org/officeDocument/2006/relationships/hyperlink" Target="https://www.linkedin.com/posts/brijpandeyji_cicd-gitops-cicd-activity-7128026853541322754-i645/?trk=public_profile_share_view" TargetMode="External"/><Relationship Id="rId13" Type="http://schemas.openxmlformats.org/officeDocument/2006/relationships/hyperlink" Target="https://learn.microsoft.com/en-us/azure/architecture/solution-ideas/articles/devsecops-infrastructure-as-code" TargetMode="External"/><Relationship Id="rId18" Type="http://schemas.openxmlformats.org/officeDocument/2006/relationships/hyperlink" Target="https://developers.redhat.com/e-books/devops-culture-and-practice-openshift" TargetMode="External"/><Relationship Id="rId3" Type="http://schemas.openxmlformats.org/officeDocument/2006/relationships/diagramLayout" Target="../diagrams/layout24.xml"/><Relationship Id="rId21" Type="http://schemas.openxmlformats.org/officeDocument/2006/relationships/hyperlink" Target="https://www.dynatrace.com/news/blog/what-is-shift-left-and-what-is-shift-right/" TargetMode="External"/><Relationship Id="rId7" Type="http://schemas.openxmlformats.org/officeDocument/2006/relationships/hyperlink" Target="https://about.gitlab.com/topics/devops/" TargetMode="External"/><Relationship Id="rId12" Type="http://schemas.openxmlformats.org/officeDocument/2006/relationships/hyperlink" Target="https://learn.microsoft.com/en-us/devops/operate/security-in-devops" TargetMode="External"/><Relationship Id="rId17" Type="http://schemas.openxmlformats.org/officeDocument/2006/relationships/hyperlink" Target="https://developers.redhat.com/e-books/getting-gitops-practical-platform-openshift-argo-cd-and-tekton" TargetMode="External"/><Relationship Id="rId2" Type="http://schemas.openxmlformats.org/officeDocument/2006/relationships/diagramData" Target="../diagrams/data24.xml"/><Relationship Id="rId16" Type="http://schemas.openxmlformats.org/officeDocument/2006/relationships/hyperlink" Target="https://www.redhat.com/en/technologies/cloud-computing/openshift/features" TargetMode="External"/><Relationship Id="rId20" Type="http://schemas.openxmlformats.org/officeDocument/2006/relationships/hyperlink" Target="https://www.packtpub.com/en-dk/product/hands-on-security-in-devops-9781788995504" TargetMode="External"/><Relationship Id="rId1" Type="http://schemas.openxmlformats.org/officeDocument/2006/relationships/slideLayout" Target="../slideLayouts/slideLayout2.xml"/><Relationship Id="rId6" Type="http://schemas.microsoft.com/office/2007/relationships/diagramDrawing" Target="../diagrams/drawing24.xml"/><Relationship Id="rId11" Type="http://schemas.openxmlformats.org/officeDocument/2006/relationships/hyperlink" Target="https://learn.microsoft.com/en-us/shows/devops-lab/devsecops-on-azure" TargetMode="External"/><Relationship Id="rId5" Type="http://schemas.openxmlformats.org/officeDocument/2006/relationships/diagramColors" Target="../diagrams/colors24.xml"/><Relationship Id="rId15" Type="http://schemas.openxmlformats.org/officeDocument/2006/relationships/hyperlink" Target="https://docs.aws.amazon.com/wellarchitected/latest/devops-guidance/everything-as-code.html" TargetMode="External"/><Relationship Id="rId23" Type="http://schemas.openxmlformats.org/officeDocument/2006/relationships/hyperlink" Target="https://en.wikipedia.org/wiki/DevOps_Research_and_Assessment" TargetMode="External"/><Relationship Id="rId10" Type="http://schemas.openxmlformats.org/officeDocument/2006/relationships/hyperlink" Target="https://www.pgadmin.org/" TargetMode="External"/><Relationship Id="rId19" Type="http://schemas.openxmlformats.org/officeDocument/2006/relationships/hyperlink" Target="https://www.practical-devsecops.com/e-books/" TargetMode="External"/><Relationship Id="rId4" Type="http://schemas.openxmlformats.org/officeDocument/2006/relationships/diagramQuickStyle" Target="../diagrams/quickStyle24.xml"/><Relationship Id="rId9" Type="http://schemas.openxmlformats.org/officeDocument/2006/relationships/hyperlink" Target="https://www.mssqltips.com/sqlservertip/6130/automating-sample-database-dacpac-and-setup-script-availability-for-database-development-testing/" TargetMode="External"/><Relationship Id="rId14" Type="http://schemas.openxmlformats.org/officeDocument/2006/relationships/hyperlink" Target="https://qualityclouds.com/quality-gates-devops-pipeline/" TargetMode="External"/><Relationship Id="rId22" Type="http://schemas.openxmlformats.org/officeDocument/2006/relationships/hyperlink" Target="https://www.oreilly.com/library/view/accelerate/9781457191435/" TargetMode="External"/></Relationships>
</file>

<file path=ppt/slides/_rels/slide30.xml.rels><?xml version="1.0" encoding="UTF-8" standalone="yes"?>
<Relationships xmlns="http://schemas.openxmlformats.org/package/2006/relationships"><Relationship Id="rId8" Type="http://schemas.openxmlformats.org/officeDocument/2006/relationships/hyperlink" Target="https://www.hashicorp.com/resources/what-is-mutable-vs-immutable-infrastructure" TargetMode="External"/><Relationship Id="rId3" Type="http://schemas.openxmlformats.org/officeDocument/2006/relationships/diagramLayout" Target="../diagrams/layout25.xml"/><Relationship Id="rId7" Type="http://schemas.openxmlformats.org/officeDocument/2006/relationships/image" Target="../media/image18.png"/><Relationship Id="rId2" Type="http://schemas.openxmlformats.org/officeDocument/2006/relationships/diagramData" Target="../diagrams/data25.xml"/><Relationship Id="rId1" Type="http://schemas.openxmlformats.org/officeDocument/2006/relationships/slideLayout" Target="../slideLayouts/slideLayout2.xml"/><Relationship Id="rId6" Type="http://schemas.microsoft.com/office/2007/relationships/diagramDrawing" Target="../diagrams/drawing25.xml"/><Relationship Id="rId5" Type="http://schemas.openxmlformats.org/officeDocument/2006/relationships/diagramColors" Target="../diagrams/colors25.xml"/><Relationship Id="rId4" Type="http://schemas.openxmlformats.org/officeDocument/2006/relationships/diagramQuickStyle" Target="../diagrams/quickStyle25.xml"/></Relationships>
</file>

<file path=ppt/slides/_rels/slide31.xml.rels><?xml version="1.0" encoding="UTF-8" standalone="yes"?>
<Relationships xmlns="http://schemas.openxmlformats.org/package/2006/relationships"><Relationship Id="rId8" Type="http://schemas.openxmlformats.org/officeDocument/2006/relationships/hyperlink" Target="https://www.cloudbees.com/blog/configuration-as-code-everything-need-know" TargetMode="External"/><Relationship Id="rId13" Type="http://schemas.openxmlformats.org/officeDocument/2006/relationships/hyperlink" Target="https://github.com/PacktPublishing/Infrastructure-as-Code-for-Beginners" TargetMode="External"/><Relationship Id="rId18" Type="http://schemas.openxmlformats.org/officeDocument/2006/relationships/hyperlink" Target="https://github.com/PacktPublishing/Infrastructure-as-Code-with-Azure-Bicep" TargetMode="External"/><Relationship Id="rId3" Type="http://schemas.openxmlformats.org/officeDocument/2006/relationships/diagramLayout" Target="../diagrams/layout26.xml"/><Relationship Id="rId7" Type="http://schemas.openxmlformats.org/officeDocument/2006/relationships/hyperlink" Target="https://medium.com/@cloudhacks_/infrastructure-as-code-iac-vs-configuration-as-code-cac-unraveling-the-differences-24fbce05ae25" TargetMode="External"/><Relationship Id="rId12" Type="http://schemas.openxmlformats.org/officeDocument/2006/relationships/hyperlink" Target="https://www.udemy.com/course/terraform-and-ansible/?kw=Terraform+with+Ansible&amp;src=sac&amp;couponCode=MT180825C" TargetMode="External"/><Relationship Id="rId17" Type="http://schemas.openxmlformats.org/officeDocument/2006/relationships/hyperlink" Target="https://www.udemy.com/course/azure-bicep-mastering-infrastructure-as-code-with-bicep/?couponCode=MT180825C" TargetMode="External"/><Relationship Id="rId2" Type="http://schemas.openxmlformats.org/officeDocument/2006/relationships/diagramData" Target="../diagrams/data26.xml"/><Relationship Id="rId16" Type="http://schemas.openxmlformats.org/officeDocument/2006/relationships/hyperlink" Target="https://www.udemy.com/course/master-azure-bicep/?couponCode=MT180825C" TargetMode="External"/><Relationship Id="rId20" Type="http://schemas.openxmlformats.org/officeDocument/2006/relationships/image" Target="../media/image19.png"/><Relationship Id="rId1" Type="http://schemas.openxmlformats.org/officeDocument/2006/relationships/slideLayout" Target="../slideLayouts/slideLayout2.xml"/><Relationship Id="rId6" Type="http://schemas.microsoft.com/office/2007/relationships/diagramDrawing" Target="../diagrams/drawing26.xml"/><Relationship Id="rId11" Type="http://schemas.openxmlformats.org/officeDocument/2006/relationships/hyperlink" Target="https://learn.microsoft.com/en-us/azure/developer/terraform/comparing-terraform-and-bicep?tabs=comparing-bicep-terraform-integration-features" TargetMode="External"/><Relationship Id="rId5" Type="http://schemas.openxmlformats.org/officeDocument/2006/relationships/diagramColors" Target="../diagrams/colors26.xml"/><Relationship Id="rId15" Type="http://schemas.openxmlformats.org/officeDocument/2006/relationships/hyperlink" Target="https://github.com/PacktPublishing/Terraform-Cookbook-Second-Edition" TargetMode="External"/><Relationship Id="rId10" Type="http://schemas.openxmlformats.org/officeDocument/2006/relationships/hyperlink" Target="https://www.warpbuild.com/" TargetMode="External"/><Relationship Id="rId19" Type="http://schemas.openxmlformats.org/officeDocument/2006/relationships/hyperlink" Target="https://www.pulumi.com/docs/iac/comparisons/terraform/" TargetMode="External"/><Relationship Id="rId4" Type="http://schemas.openxmlformats.org/officeDocument/2006/relationships/diagramQuickStyle" Target="../diagrams/quickStyle26.xml"/><Relationship Id="rId9" Type="http://schemas.openxmlformats.org/officeDocument/2006/relationships/hyperlink" Target="https://elisabethirgens.github.io/notes/2021/06/gitops/" TargetMode="External"/><Relationship Id="rId14" Type="http://schemas.openxmlformats.org/officeDocument/2006/relationships/hyperlink" Target="https://github.com/PacktPublishing/Mastering-Terraform" TargetMode="External"/></Relationships>
</file>

<file path=ppt/slides/_rels/slide32.xml.rels><?xml version="1.0" encoding="UTF-8" standalone="yes"?>
<Relationships xmlns="http://schemas.openxmlformats.org/package/2006/relationships"><Relationship Id="rId3" Type="http://schemas.openxmlformats.org/officeDocument/2006/relationships/diagramLayout" Target="../diagrams/layout27.xml"/><Relationship Id="rId7" Type="http://schemas.openxmlformats.org/officeDocument/2006/relationships/image" Target="../media/image20.png"/><Relationship Id="rId2" Type="http://schemas.openxmlformats.org/officeDocument/2006/relationships/diagramData" Target="../diagrams/data27.xml"/><Relationship Id="rId1" Type="http://schemas.openxmlformats.org/officeDocument/2006/relationships/slideLayout" Target="../slideLayouts/slideLayout2.xml"/><Relationship Id="rId6" Type="http://schemas.microsoft.com/office/2007/relationships/diagramDrawing" Target="../diagrams/drawing27.xml"/><Relationship Id="rId5" Type="http://schemas.openxmlformats.org/officeDocument/2006/relationships/diagramColors" Target="../diagrams/colors27.xml"/><Relationship Id="rId4" Type="http://schemas.openxmlformats.org/officeDocument/2006/relationships/diagramQuickStyle" Target="../diagrams/quickStyle27.xml"/></Relationships>
</file>

<file path=ppt/slides/_rels/slide33.xml.rels><?xml version="1.0" encoding="UTF-8" standalone="yes"?>
<Relationships xmlns="http://schemas.openxmlformats.org/package/2006/relationships"><Relationship Id="rId8" Type="http://schemas.openxmlformats.org/officeDocument/2006/relationships/hyperlink" Target="https://techcommunity.microsoft.com/blog/coreinfrastructureandsecurityblog/infrastructure-as-code-testing-with-azure-policy/3921765" TargetMode="External"/><Relationship Id="rId3" Type="http://schemas.openxmlformats.org/officeDocument/2006/relationships/diagramLayout" Target="../diagrams/layout28.xml"/><Relationship Id="rId7" Type="http://schemas.openxmlformats.org/officeDocument/2006/relationships/hyperlink" Target="https://sysdig.com/learn-cloud-native/what-is-policy-as-code/" TargetMode="External"/><Relationship Id="rId2" Type="http://schemas.openxmlformats.org/officeDocument/2006/relationships/diagramData" Target="../diagrams/data28.xml"/><Relationship Id="rId1" Type="http://schemas.openxmlformats.org/officeDocument/2006/relationships/slideLayout" Target="../slideLayouts/slideLayout2.xml"/><Relationship Id="rId6" Type="http://schemas.microsoft.com/office/2007/relationships/diagramDrawing" Target="../diagrams/drawing28.xml"/><Relationship Id="rId5" Type="http://schemas.openxmlformats.org/officeDocument/2006/relationships/diagramColors" Target="../diagrams/colors28.xml"/><Relationship Id="rId4" Type="http://schemas.openxmlformats.org/officeDocument/2006/relationships/diagramQuickStyle" Target="../diagrams/quickStyle28.xml"/><Relationship Id="rId9" Type="http://schemas.openxmlformats.org/officeDocument/2006/relationships/hyperlink" Target="https://www.packtpub.com/en-us/product/policy-design-in-the-age-of-digital-adoption-9781801811743" TargetMode="External"/></Relationships>
</file>

<file path=ppt/slides/_rels/slide34.xml.rels><?xml version="1.0" encoding="UTF-8" standalone="yes"?>
<Relationships xmlns="http://schemas.openxmlformats.org/package/2006/relationships"><Relationship Id="rId3" Type="http://schemas.openxmlformats.org/officeDocument/2006/relationships/diagramLayout" Target="../diagrams/layout29.xml"/><Relationship Id="rId2" Type="http://schemas.openxmlformats.org/officeDocument/2006/relationships/diagramData" Target="../diagrams/data29.xml"/><Relationship Id="rId1" Type="http://schemas.openxmlformats.org/officeDocument/2006/relationships/slideLayout" Target="../slideLayouts/slideLayout2.xml"/><Relationship Id="rId6" Type="http://schemas.microsoft.com/office/2007/relationships/diagramDrawing" Target="../diagrams/drawing29.xml"/><Relationship Id="rId5" Type="http://schemas.openxmlformats.org/officeDocument/2006/relationships/diagramColors" Target="../diagrams/colors29.xml"/><Relationship Id="rId4" Type="http://schemas.openxmlformats.org/officeDocument/2006/relationships/diagramQuickStyle" Target="../diagrams/quickStyle29.xml"/></Relationships>
</file>

<file path=ppt/slides/_rels/slide35.xml.rels><?xml version="1.0" encoding="UTF-8" standalone="yes"?>
<Relationships xmlns="http://schemas.openxmlformats.org/package/2006/relationships"><Relationship Id="rId3" Type="http://schemas.openxmlformats.org/officeDocument/2006/relationships/diagramLayout" Target="../diagrams/layout30.xml"/><Relationship Id="rId2" Type="http://schemas.openxmlformats.org/officeDocument/2006/relationships/diagramData" Target="../diagrams/data30.xml"/><Relationship Id="rId1" Type="http://schemas.openxmlformats.org/officeDocument/2006/relationships/slideLayout" Target="../slideLayouts/slideLayout2.xml"/><Relationship Id="rId6" Type="http://schemas.microsoft.com/office/2007/relationships/diagramDrawing" Target="../diagrams/drawing30.xml"/><Relationship Id="rId5" Type="http://schemas.openxmlformats.org/officeDocument/2006/relationships/diagramColors" Target="../diagrams/colors30.xml"/><Relationship Id="rId4" Type="http://schemas.openxmlformats.org/officeDocument/2006/relationships/diagramQuickStyle" Target="../diagrams/quickStyle30.xml"/></Relationships>
</file>

<file path=ppt/slides/_rels/slide36.xml.rels><?xml version="1.0" encoding="UTF-8" standalone="yes"?>
<Relationships xmlns="http://schemas.openxmlformats.org/package/2006/relationships"><Relationship Id="rId3" Type="http://schemas.openxmlformats.org/officeDocument/2006/relationships/diagramLayout" Target="../diagrams/layout31.xml"/><Relationship Id="rId2" Type="http://schemas.openxmlformats.org/officeDocument/2006/relationships/diagramData" Target="../diagrams/data31.xml"/><Relationship Id="rId1" Type="http://schemas.openxmlformats.org/officeDocument/2006/relationships/slideLayout" Target="../slideLayouts/slideLayout2.xml"/><Relationship Id="rId6" Type="http://schemas.microsoft.com/office/2007/relationships/diagramDrawing" Target="../diagrams/drawing31.xml"/><Relationship Id="rId5" Type="http://schemas.openxmlformats.org/officeDocument/2006/relationships/diagramColors" Target="../diagrams/colors31.xml"/><Relationship Id="rId4" Type="http://schemas.openxmlformats.org/officeDocument/2006/relationships/diagramQuickStyle" Target="../diagrams/quickStyle31.xml"/></Relationships>
</file>

<file path=ppt/slides/_rels/slide37.xml.rels><?xml version="1.0" encoding="UTF-8" standalone="yes"?>
<Relationships xmlns="http://schemas.openxmlformats.org/package/2006/relationships"><Relationship Id="rId3" Type="http://schemas.openxmlformats.org/officeDocument/2006/relationships/diagramLayout" Target="../diagrams/layout32.xml"/><Relationship Id="rId2" Type="http://schemas.openxmlformats.org/officeDocument/2006/relationships/diagramData" Target="../diagrams/data32.xml"/><Relationship Id="rId1" Type="http://schemas.openxmlformats.org/officeDocument/2006/relationships/slideLayout" Target="../slideLayouts/slideLayout2.xml"/><Relationship Id="rId6" Type="http://schemas.microsoft.com/office/2007/relationships/diagramDrawing" Target="../diagrams/drawing32.xml"/><Relationship Id="rId5" Type="http://schemas.openxmlformats.org/officeDocument/2006/relationships/diagramColors" Target="../diagrams/colors32.xml"/><Relationship Id="rId4" Type="http://schemas.openxmlformats.org/officeDocument/2006/relationships/diagramQuickStyle" Target="../diagrams/quickStyle32.xml"/></Relationships>
</file>

<file path=ppt/slides/_rels/slide38.xml.rels><?xml version="1.0" encoding="UTF-8" standalone="yes"?>
<Relationships xmlns="http://schemas.openxmlformats.org/package/2006/relationships"><Relationship Id="rId3" Type="http://schemas.openxmlformats.org/officeDocument/2006/relationships/diagramLayout" Target="../diagrams/layout33.xml"/><Relationship Id="rId2" Type="http://schemas.openxmlformats.org/officeDocument/2006/relationships/diagramData" Target="../diagrams/data33.xml"/><Relationship Id="rId1" Type="http://schemas.openxmlformats.org/officeDocument/2006/relationships/slideLayout" Target="../slideLayouts/slideLayout2.xml"/><Relationship Id="rId6" Type="http://schemas.microsoft.com/office/2007/relationships/diagramDrawing" Target="../diagrams/drawing33.xml"/><Relationship Id="rId5" Type="http://schemas.openxmlformats.org/officeDocument/2006/relationships/diagramColors" Target="../diagrams/colors33.xml"/><Relationship Id="rId4" Type="http://schemas.openxmlformats.org/officeDocument/2006/relationships/diagramQuickStyle" Target="../diagrams/quickStyle33.xml"/></Relationships>
</file>

<file path=ppt/slides/_rels/slide39.xml.rels><?xml version="1.0" encoding="UTF-8" standalone="yes"?>
<Relationships xmlns="http://schemas.openxmlformats.org/package/2006/relationships"><Relationship Id="rId3" Type="http://schemas.openxmlformats.org/officeDocument/2006/relationships/diagramLayout" Target="../diagrams/layout34.xml"/><Relationship Id="rId2" Type="http://schemas.openxmlformats.org/officeDocument/2006/relationships/diagramData" Target="../diagrams/data34.xml"/><Relationship Id="rId1" Type="http://schemas.openxmlformats.org/officeDocument/2006/relationships/slideLayout" Target="../slideLayouts/slideLayout2.xml"/><Relationship Id="rId6" Type="http://schemas.microsoft.com/office/2007/relationships/diagramDrawing" Target="../diagrams/drawing34.xml"/><Relationship Id="rId5" Type="http://schemas.openxmlformats.org/officeDocument/2006/relationships/diagramColors" Target="../diagrams/colors34.xml"/><Relationship Id="rId4" Type="http://schemas.openxmlformats.org/officeDocument/2006/relationships/diagramQuickStyle" Target="../diagrams/quickStyle34.xml"/></Relationships>
</file>

<file path=ppt/slides/_rels/slide40.xml.rels><?xml version="1.0" encoding="UTF-8" standalone="yes"?>
<Relationships xmlns="http://schemas.openxmlformats.org/package/2006/relationships"><Relationship Id="rId3" Type="http://schemas.openxmlformats.org/officeDocument/2006/relationships/diagramLayout" Target="../diagrams/layout35.xml"/><Relationship Id="rId7" Type="http://schemas.openxmlformats.org/officeDocument/2006/relationships/image" Target="../media/image21.png"/><Relationship Id="rId2" Type="http://schemas.openxmlformats.org/officeDocument/2006/relationships/diagramData" Target="../diagrams/data35.xml"/><Relationship Id="rId1" Type="http://schemas.openxmlformats.org/officeDocument/2006/relationships/slideLayout" Target="../slideLayouts/slideLayout2.xml"/><Relationship Id="rId6" Type="http://schemas.microsoft.com/office/2007/relationships/diagramDrawing" Target="../diagrams/drawing35.xml"/><Relationship Id="rId5" Type="http://schemas.openxmlformats.org/officeDocument/2006/relationships/diagramColors" Target="../diagrams/colors35.xml"/><Relationship Id="rId4" Type="http://schemas.openxmlformats.org/officeDocument/2006/relationships/diagramQuickStyle" Target="../diagrams/quickStyle35.xml"/></Relationships>
</file>

<file path=ppt/slides/_rels/slide41.xml.rels><?xml version="1.0" encoding="UTF-8" standalone="yes"?>
<Relationships xmlns="http://schemas.openxmlformats.org/package/2006/relationships"><Relationship Id="rId8" Type="http://schemas.openxmlformats.org/officeDocument/2006/relationships/hyperlink" Target="https://konghq.com/resources/e-book/unlock-apis-potential-with-apiops" TargetMode="External"/><Relationship Id="rId3" Type="http://schemas.openxmlformats.org/officeDocument/2006/relationships/diagramLayout" Target="../diagrams/layout36.xml"/><Relationship Id="rId7" Type="http://schemas.openxmlformats.org/officeDocument/2006/relationships/hyperlink" Target="https://www.veritis.com/blog/a-guide-to-apiops-the-collaborative-approach-for-api-production/" TargetMode="External"/><Relationship Id="rId12" Type="http://schemas.openxmlformats.org/officeDocument/2006/relationships/hyperlink" Target="https://apiquality.io/" TargetMode="External"/><Relationship Id="rId2" Type="http://schemas.openxmlformats.org/officeDocument/2006/relationships/diagramData" Target="../diagrams/data36.xml"/><Relationship Id="rId1" Type="http://schemas.openxmlformats.org/officeDocument/2006/relationships/slideLayout" Target="../slideLayouts/slideLayout2.xml"/><Relationship Id="rId6" Type="http://schemas.microsoft.com/office/2007/relationships/diagramDrawing" Target="../diagrams/drawing36.xml"/><Relationship Id="rId11" Type="http://schemas.openxmlformats.org/officeDocument/2006/relationships/hyperlink" Target="https://github.com/Kong/apiops-lab" TargetMode="External"/><Relationship Id="rId5" Type="http://schemas.openxmlformats.org/officeDocument/2006/relationships/diagramColors" Target="../diagrams/colors36.xml"/><Relationship Id="rId10" Type="http://schemas.openxmlformats.org/officeDocument/2006/relationships/hyperlink" Target="https://azure.github.io/apiops/" TargetMode="External"/><Relationship Id="rId4" Type="http://schemas.openxmlformats.org/officeDocument/2006/relationships/diagramQuickStyle" Target="../diagrams/quickStyle36.xml"/><Relationship Id="rId9" Type="http://schemas.openxmlformats.org/officeDocument/2006/relationships/hyperlink" Target="https://learn.microsoft.com/en-us/azure/architecture/example-scenario/devops/automated-api-deployments-apiops" TargetMode="External"/></Relationships>
</file>

<file path=ppt/slides/_rels/slide42.xml.rels><?xml version="1.0" encoding="UTF-8" standalone="yes"?>
<Relationships xmlns="http://schemas.openxmlformats.org/package/2006/relationships"><Relationship Id="rId3" Type="http://schemas.openxmlformats.org/officeDocument/2006/relationships/diagramLayout" Target="../diagrams/layout37.xml"/><Relationship Id="rId2" Type="http://schemas.openxmlformats.org/officeDocument/2006/relationships/diagramData" Target="../diagrams/data37.xml"/><Relationship Id="rId1" Type="http://schemas.openxmlformats.org/officeDocument/2006/relationships/slideLayout" Target="../slideLayouts/slideLayout2.xml"/><Relationship Id="rId6" Type="http://schemas.microsoft.com/office/2007/relationships/diagramDrawing" Target="../diagrams/drawing37.xml"/><Relationship Id="rId5" Type="http://schemas.openxmlformats.org/officeDocument/2006/relationships/diagramColors" Target="../diagrams/colors37.xml"/><Relationship Id="rId4" Type="http://schemas.openxmlformats.org/officeDocument/2006/relationships/diagramQuickStyle" Target="../diagrams/quickStyle37.xml"/></Relationships>
</file>

<file path=ppt/slides/_rels/slide43.xml.rels><?xml version="1.0" encoding="UTF-8" standalone="yes"?>
<Relationships xmlns="http://schemas.openxmlformats.org/package/2006/relationships"><Relationship Id="rId3" Type="http://schemas.openxmlformats.org/officeDocument/2006/relationships/diagramLayout" Target="../diagrams/layout38.xml"/><Relationship Id="rId2" Type="http://schemas.openxmlformats.org/officeDocument/2006/relationships/diagramData" Target="../diagrams/data38.xml"/><Relationship Id="rId1" Type="http://schemas.openxmlformats.org/officeDocument/2006/relationships/slideLayout" Target="../slideLayouts/slideLayout2.xml"/><Relationship Id="rId6" Type="http://schemas.microsoft.com/office/2007/relationships/diagramDrawing" Target="../diagrams/drawing38.xml"/><Relationship Id="rId5" Type="http://schemas.openxmlformats.org/officeDocument/2006/relationships/diagramColors" Target="../diagrams/colors38.xml"/><Relationship Id="rId4" Type="http://schemas.openxmlformats.org/officeDocument/2006/relationships/diagramQuickStyle" Target="../diagrams/quickStyle38.xml"/></Relationships>
</file>

<file path=ppt/slides/_rels/slide44.xml.rels><?xml version="1.0" encoding="UTF-8" standalone="yes"?>
<Relationships xmlns="http://schemas.openxmlformats.org/package/2006/relationships"><Relationship Id="rId3" Type="http://schemas.openxmlformats.org/officeDocument/2006/relationships/diagramLayout" Target="../diagrams/layout39.xml"/><Relationship Id="rId2" Type="http://schemas.openxmlformats.org/officeDocument/2006/relationships/diagramData" Target="../diagrams/data39.xml"/><Relationship Id="rId1" Type="http://schemas.openxmlformats.org/officeDocument/2006/relationships/slideLayout" Target="../slideLayouts/slideLayout2.xml"/><Relationship Id="rId6" Type="http://schemas.microsoft.com/office/2007/relationships/diagramDrawing" Target="../diagrams/drawing39.xml"/><Relationship Id="rId5" Type="http://schemas.openxmlformats.org/officeDocument/2006/relationships/diagramColors" Target="../diagrams/colors39.xml"/><Relationship Id="rId4" Type="http://schemas.openxmlformats.org/officeDocument/2006/relationships/diagramQuickStyle" Target="../diagrams/quickStyle39.xml"/></Relationships>
</file>

<file path=ppt/slides/_rels/slide45.xml.rels><?xml version="1.0" encoding="UTF-8" standalone="yes"?>
<Relationships xmlns="http://schemas.openxmlformats.org/package/2006/relationships"><Relationship Id="rId3" Type="http://schemas.openxmlformats.org/officeDocument/2006/relationships/diagramLayout" Target="../diagrams/layout40.xml"/><Relationship Id="rId2" Type="http://schemas.openxmlformats.org/officeDocument/2006/relationships/diagramData" Target="../diagrams/data40.xml"/><Relationship Id="rId1" Type="http://schemas.openxmlformats.org/officeDocument/2006/relationships/slideLayout" Target="../slideLayouts/slideLayout2.xml"/><Relationship Id="rId6" Type="http://schemas.microsoft.com/office/2007/relationships/diagramDrawing" Target="../diagrams/drawing40.xml"/><Relationship Id="rId5" Type="http://schemas.openxmlformats.org/officeDocument/2006/relationships/diagramColors" Target="../diagrams/colors40.xml"/><Relationship Id="rId4" Type="http://schemas.openxmlformats.org/officeDocument/2006/relationships/diagramQuickStyle" Target="../diagrams/quickStyle40.xml"/></Relationships>
</file>

<file path=ppt/slides/_rels/slide46.xml.rels><?xml version="1.0" encoding="UTF-8" standalone="yes"?>
<Relationships xmlns="http://schemas.openxmlformats.org/package/2006/relationships"><Relationship Id="rId3" Type="http://schemas.openxmlformats.org/officeDocument/2006/relationships/diagramLayout" Target="../diagrams/layout41.xml"/><Relationship Id="rId2" Type="http://schemas.openxmlformats.org/officeDocument/2006/relationships/diagramData" Target="../diagrams/data41.xml"/><Relationship Id="rId1" Type="http://schemas.openxmlformats.org/officeDocument/2006/relationships/slideLayout" Target="../slideLayouts/slideLayout2.xml"/><Relationship Id="rId6" Type="http://schemas.microsoft.com/office/2007/relationships/diagramDrawing" Target="../diagrams/drawing41.xml"/><Relationship Id="rId5" Type="http://schemas.openxmlformats.org/officeDocument/2006/relationships/diagramColors" Target="../diagrams/colors41.xml"/><Relationship Id="rId4" Type="http://schemas.openxmlformats.org/officeDocument/2006/relationships/diagramQuickStyle" Target="../diagrams/quickStyle41.xml"/></Relationships>
</file>

<file path=ppt/slides/_rels/slide47.xml.rels><?xml version="1.0" encoding="UTF-8" standalone="yes"?>
<Relationships xmlns="http://schemas.openxmlformats.org/package/2006/relationships"><Relationship Id="rId3" Type="http://schemas.openxmlformats.org/officeDocument/2006/relationships/diagramLayout" Target="../diagrams/layout42.xml"/><Relationship Id="rId2" Type="http://schemas.openxmlformats.org/officeDocument/2006/relationships/diagramData" Target="../diagrams/data42.xml"/><Relationship Id="rId1" Type="http://schemas.openxmlformats.org/officeDocument/2006/relationships/slideLayout" Target="../slideLayouts/slideLayout2.xml"/><Relationship Id="rId6" Type="http://schemas.microsoft.com/office/2007/relationships/diagramDrawing" Target="../diagrams/drawing42.xml"/><Relationship Id="rId5" Type="http://schemas.openxmlformats.org/officeDocument/2006/relationships/diagramColors" Target="../diagrams/colors42.xml"/><Relationship Id="rId4" Type="http://schemas.openxmlformats.org/officeDocument/2006/relationships/diagramQuickStyle" Target="../diagrams/quickStyle42.xml"/></Relationships>
</file>

<file path=ppt/slides/_rels/slide48.xml.rels><?xml version="1.0" encoding="UTF-8" standalone="yes"?>
<Relationships xmlns="http://schemas.openxmlformats.org/package/2006/relationships"><Relationship Id="rId3" Type="http://schemas.openxmlformats.org/officeDocument/2006/relationships/diagramLayout" Target="../diagrams/layout43.xml"/><Relationship Id="rId2" Type="http://schemas.openxmlformats.org/officeDocument/2006/relationships/diagramData" Target="../diagrams/data43.xml"/><Relationship Id="rId1" Type="http://schemas.openxmlformats.org/officeDocument/2006/relationships/slideLayout" Target="../slideLayouts/slideLayout2.xml"/><Relationship Id="rId6" Type="http://schemas.microsoft.com/office/2007/relationships/diagramDrawing" Target="../diagrams/drawing43.xml"/><Relationship Id="rId5" Type="http://schemas.openxmlformats.org/officeDocument/2006/relationships/diagramColors" Target="../diagrams/colors43.xml"/><Relationship Id="rId4" Type="http://schemas.openxmlformats.org/officeDocument/2006/relationships/diagramQuickStyle" Target="../diagrams/quickStyle43.xml"/></Relationships>
</file>

<file path=ppt/slides/_rels/slide49.xml.rels><?xml version="1.0" encoding="UTF-8" standalone="yes"?>
<Relationships xmlns="http://schemas.openxmlformats.org/package/2006/relationships"><Relationship Id="rId3" Type="http://schemas.openxmlformats.org/officeDocument/2006/relationships/diagramLayout" Target="../diagrams/layout44.xml"/><Relationship Id="rId2" Type="http://schemas.openxmlformats.org/officeDocument/2006/relationships/diagramData" Target="../diagrams/data44.xml"/><Relationship Id="rId1" Type="http://schemas.openxmlformats.org/officeDocument/2006/relationships/slideLayout" Target="../slideLayouts/slideLayout2.xml"/><Relationship Id="rId6" Type="http://schemas.microsoft.com/office/2007/relationships/diagramDrawing" Target="../diagrams/drawing44.xml"/><Relationship Id="rId5" Type="http://schemas.openxmlformats.org/officeDocument/2006/relationships/diagramColors" Target="../diagrams/colors44.xml"/><Relationship Id="rId4" Type="http://schemas.openxmlformats.org/officeDocument/2006/relationships/diagramQuickStyle" Target="../diagrams/quickStyle44.xml"/></Relationships>
</file>

<file path=ppt/slides/_rels/slide50.xml.rels><?xml version="1.0" encoding="UTF-8" standalone="yes"?>
<Relationships xmlns="http://schemas.openxmlformats.org/package/2006/relationships"><Relationship Id="rId3" Type="http://schemas.openxmlformats.org/officeDocument/2006/relationships/diagramLayout" Target="../diagrams/layout45.xml"/><Relationship Id="rId2" Type="http://schemas.openxmlformats.org/officeDocument/2006/relationships/diagramData" Target="../diagrams/data45.xml"/><Relationship Id="rId1" Type="http://schemas.openxmlformats.org/officeDocument/2006/relationships/slideLayout" Target="../slideLayouts/slideLayout2.xml"/><Relationship Id="rId6" Type="http://schemas.microsoft.com/office/2007/relationships/diagramDrawing" Target="../diagrams/drawing45.xml"/><Relationship Id="rId5" Type="http://schemas.openxmlformats.org/officeDocument/2006/relationships/diagramColors" Target="../diagrams/colors45.xml"/><Relationship Id="rId4" Type="http://schemas.openxmlformats.org/officeDocument/2006/relationships/diagramQuickStyle" Target="../diagrams/quickStyle45.xml"/></Relationships>
</file>

<file path=ppt/slides/_rels/slide51.xml.rels><?xml version="1.0" encoding="UTF-8" standalone="yes"?>
<Relationships xmlns="http://schemas.openxmlformats.org/package/2006/relationships"><Relationship Id="rId3" Type="http://schemas.openxmlformats.org/officeDocument/2006/relationships/diagramLayout" Target="../diagrams/layout46.xml"/><Relationship Id="rId2" Type="http://schemas.openxmlformats.org/officeDocument/2006/relationships/diagramData" Target="../diagrams/data46.xml"/><Relationship Id="rId1" Type="http://schemas.openxmlformats.org/officeDocument/2006/relationships/slideLayout" Target="../slideLayouts/slideLayout2.xml"/><Relationship Id="rId6" Type="http://schemas.microsoft.com/office/2007/relationships/diagramDrawing" Target="../diagrams/drawing46.xml"/><Relationship Id="rId5" Type="http://schemas.openxmlformats.org/officeDocument/2006/relationships/diagramColors" Target="../diagrams/colors46.xml"/><Relationship Id="rId4" Type="http://schemas.openxmlformats.org/officeDocument/2006/relationships/diagramQuickStyle" Target="../diagrams/quickStyle46.xml"/></Relationships>
</file>

<file path=ppt/slides/_rels/slide52.xml.rels><?xml version="1.0" encoding="UTF-8" standalone="yes"?>
<Relationships xmlns="http://schemas.openxmlformats.org/package/2006/relationships"><Relationship Id="rId3" Type="http://schemas.openxmlformats.org/officeDocument/2006/relationships/diagramLayout" Target="../diagrams/layout47.xml"/><Relationship Id="rId2" Type="http://schemas.openxmlformats.org/officeDocument/2006/relationships/diagramData" Target="../diagrams/data47.xml"/><Relationship Id="rId1" Type="http://schemas.openxmlformats.org/officeDocument/2006/relationships/slideLayout" Target="../slideLayouts/slideLayout2.xml"/><Relationship Id="rId6" Type="http://schemas.microsoft.com/office/2007/relationships/diagramDrawing" Target="../diagrams/drawing47.xml"/><Relationship Id="rId5" Type="http://schemas.openxmlformats.org/officeDocument/2006/relationships/diagramColors" Target="../diagrams/colors47.xml"/><Relationship Id="rId4" Type="http://schemas.openxmlformats.org/officeDocument/2006/relationships/diagramQuickStyle" Target="../diagrams/quickStyle47.xml"/></Relationships>
</file>

<file path=ppt/slides/_rels/slide53.xml.rels><?xml version="1.0" encoding="UTF-8" standalone="yes"?>
<Relationships xmlns="http://schemas.openxmlformats.org/package/2006/relationships"><Relationship Id="rId3" Type="http://schemas.openxmlformats.org/officeDocument/2006/relationships/diagramLayout" Target="../diagrams/layout48.xml"/><Relationship Id="rId2" Type="http://schemas.openxmlformats.org/officeDocument/2006/relationships/diagramData" Target="../diagrams/data48.xml"/><Relationship Id="rId1" Type="http://schemas.openxmlformats.org/officeDocument/2006/relationships/slideLayout" Target="../slideLayouts/slideLayout2.xml"/><Relationship Id="rId6" Type="http://schemas.microsoft.com/office/2007/relationships/diagramDrawing" Target="../diagrams/drawing48.xml"/><Relationship Id="rId5" Type="http://schemas.openxmlformats.org/officeDocument/2006/relationships/diagramColors" Target="../diagrams/colors48.xml"/><Relationship Id="rId4" Type="http://schemas.openxmlformats.org/officeDocument/2006/relationships/diagramQuickStyle" Target="../diagrams/quickStyle48.xml"/></Relationships>
</file>

<file path=ppt/slides/_rels/slide54.xml.rels><?xml version="1.0" encoding="UTF-8" standalone="yes"?>
<Relationships xmlns="http://schemas.openxmlformats.org/package/2006/relationships"><Relationship Id="rId3" Type="http://schemas.openxmlformats.org/officeDocument/2006/relationships/diagramLayout" Target="../diagrams/layout49.xml"/><Relationship Id="rId2" Type="http://schemas.openxmlformats.org/officeDocument/2006/relationships/diagramData" Target="../diagrams/data49.xml"/><Relationship Id="rId1" Type="http://schemas.openxmlformats.org/officeDocument/2006/relationships/slideLayout" Target="../slideLayouts/slideLayout2.xml"/><Relationship Id="rId6" Type="http://schemas.microsoft.com/office/2007/relationships/diagramDrawing" Target="../diagrams/drawing49.xml"/><Relationship Id="rId5" Type="http://schemas.openxmlformats.org/officeDocument/2006/relationships/diagramColors" Target="../diagrams/colors49.xml"/><Relationship Id="rId4" Type="http://schemas.openxmlformats.org/officeDocument/2006/relationships/diagramQuickStyle" Target="../diagrams/quickStyle49.xml"/></Relationships>
</file>

<file path=ppt/slides/_rels/slide55.xml.rels><?xml version="1.0" encoding="UTF-8" standalone="yes"?>
<Relationships xmlns="http://schemas.openxmlformats.org/package/2006/relationships"><Relationship Id="rId8" Type="http://schemas.openxmlformats.org/officeDocument/2006/relationships/hyperlink" Target="https://www.googlecloudcommunity.com/gc/Community-Blogs/Site-Reliability-Engineering-SRE-Fundamentals/ba-p/472590" TargetMode="External"/><Relationship Id="rId13" Type="http://schemas.openxmlformats.org/officeDocument/2006/relationships/hyperlink" Target="https://www.udemy.com/course/sre-fundamentals-mastering-site-reliability-engineering/?couponCode=MT180825C" TargetMode="External"/><Relationship Id="rId3" Type="http://schemas.openxmlformats.org/officeDocument/2006/relationships/diagramLayout" Target="../diagrams/layout50.xml"/><Relationship Id="rId7" Type="http://schemas.openxmlformats.org/officeDocument/2006/relationships/image" Target="../media/image22.png"/><Relationship Id="rId12" Type="http://schemas.openxmlformats.org/officeDocument/2006/relationships/hyperlink" Target="https://github.com/MicrosoftDocs/azure-docs/blob/main/articles/automation/automation-runbook-gallery.md" TargetMode="External"/><Relationship Id="rId2" Type="http://schemas.openxmlformats.org/officeDocument/2006/relationships/diagramData" Target="../diagrams/data50.xml"/><Relationship Id="rId1" Type="http://schemas.openxmlformats.org/officeDocument/2006/relationships/slideLayout" Target="../slideLayouts/slideLayout2.xml"/><Relationship Id="rId6" Type="http://schemas.microsoft.com/office/2007/relationships/diagramDrawing" Target="../diagrams/drawing50.xml"/><Relationship Id="rId11" Type="http://schemas.openxmlformats.org/officeDocument/2006/relationships/hyperlink" Target="https://learn.microsoft.com/en-us/azure/automation/automation-runbook-execution" TargetMode="External"/><Relationship Id="rId5" Type="http://schemas.openxmlformats.org/officeDocument/2006/relationships/diagramColors" Target="../diagrams/colors50.xml"/><Relationship Id="rId15" Type="http://schemas.openxmlformats.org/officeDocument/2006/relationships/hyperlink" Target="https://github.com/PacktPublishing/Real-World-SRE" TargetMode="External"/><Relationship Id="rId10" Type="http://schemas.openxmlformats.org/officeDocument/2006/relationships/hyperlink" Target="https://university.pagerduty.com/" TargetMode="External"/><Relationship Id="rId4" Type="http://schemas.openxmlformats.org/officeDocument/2006/relationships/diagramQuickStyle" Target="../diagrams/quickStyle50.xml"/><Relationship Id="rId9" Type="http://schemas.openxmlformats.org/officeDocument/2006/relationships/hyperlink" Target="https://www.pagerduty.com/resources/learn/what-is-a-runbook/" TargetMode="External"/><Relationship Id="rId14" Type="http://schemas.openxmlformats.org/officeDocument/2006/relationships/hyperlink" Target="https://github.com/PacktPublishing/Becoming-a-Rockstar-SRE" TargetMode="External"/></Relationships>
</file>

<file path=ppt/slides/_rels/slide56.xml.rels><?xml version="1.0" encoding="UTF-8" standalone="yes"?>
<Relationships xmlns="http://schemas.openxmlformats.org/package/2006/relationships"><Relationship Id="rId3" Type="http://schemas.openxmlformats.org/officeDocument/2006/relationships/diagramLayout" Target="../diagrams/layout51.xml"/><Relationship Id="rId7" Type="http://schemas.openxmlformats.org/officeDocument/2006/relationships/image" Target="../media/image23.png"/><Relationship Id="rId2" Type="http://schemas.openxmlformats.org/officeDocument/2006/relationships/diagramData" Target="../diagrams/data51.xml"/><Relationship Id="rId1" Type="http://schemas.openxmlformats.org/officeDocument/2006/relationships/slideLayout" Target="../slideLayouts/slideLayout2.xml"/><Relationship Id="rId6" Type="http://schemas.microsoft.com/office/2007/relationships/diagramDrawing" Target="../diagrams/drawing51.xml"/><Relationship Id="rId5" Type="http://schemas.openxmlformats.org/officeDocument/2006/relationships/diagramColors" Target="../diagrams/colors51.xml"/><Relationship Id="rId4" Type="http://schemas.openxmlformats.org/officeDocument/2006/relationships/diagramQuickStyle" Target="../diagrams/quickStyle51.xml"/></Relationships>
</file>

<file path=ppt/slides/_rels/slide57.xml.rels><?xml version="1.0" encoding="UTF-8" standalone="yes"?>
<Relationships xmlns="http://schemas.openxmlformats.org/package/2006/relationships"><Relationship Id="rId3" Type="http://schemas.openxmlformats.org/officeDocument/2006/relationships/diagramLayout" Target="../diagrams/layout52.xml"/><Relationship Id="rId2" Type="http://schemas.openxmlformats.org/officeDocument/2006/relationships/diagramData" Target="../diagrams/data52.xml"/><Relationship Id="rId1" Type="http://schemas.openxmlformats.org/officeDocument/2006/relationships/slideLayout" Target="../slideLayouts/slideLayout2.xml"/><Relationship Id="rId6" Type="http://schemas.microsoft.com/office/2007/relationships/diagramDrawing" Target="../diagrams/drawing52.xml"/><Relationship Id="rId5" Type="http://schemas.openxmlformats.org/officeDocument/2006/relationships/diagramColors" Target="../diagrams/colors52.xml"/><Relationship Id="rId4" Type="http://schemas.openxmlformats.org/officeDocument/2006/relationships/diagramQuickStyle" Target="../diagrams/quickStyle52.xml"/></Relationships>
</file>

<file path=ppt/slides/_rels/slide58.xml.rels><?xml version="1.0" encoding="UTF-8" standalone="yes"?>
<Relationships xmlns="http://schemas.openxmlformats.org/package/2006/relationships"><Relationship Id="rId3" Type="http://schemas.openxmlformats.org/officeDocument/2006/relationships/diagramLayout" Target="../diagrams/layout53.xml"/><Relationship Id="rId7" Type="http://schemas.openxmlformats.org/officeDocument/2006/relationships/image" Target="../media/image24.png"/><Relationship Id="rId2" Type="http://schemas.openxmlformats.org/officeDocument/2006/relationships/diagramData" Target="../diagrams/data53.xml"/><Relationship Id="rId1" Type="http://schemas.openxmlformats.org/officeDocument/2006/relationships/slideLayout" Target="../slideLayouts/slideLayout2.xml"/><Relationship Id="rId6" Type="http://schemas.microsoft.com/office/2007/relationships/diagramDrawing" Target="../diagrams/drawing53.xml"/><Relationship Id="rId5" Type="http://schemas.openxmlformats.org/officeDocument/2006/relationships/diagramColors" Target="../diagrams/colors53.xml"/><Relationship Id="rId4" Type="http://schemas.openxmlformats.org/officeDocument/2006/relationships/diagramQuickStyle" Target="../diagrams/quickStyle53.xml"/></Relationships>
</file>

<file path=ppt/slides/_rels/slide59.xml.rels><?xml version="1.0" encoding="UTF-8" standalone="yes"?>
<Relationships xmlns="http://schemas.openxmlformats.org/package/2006/relationships"><Relationship Id="rId8" Type="http://schemas.openxmlformats.org/officeDocument/2006/relationships/hyperlink" Target="https://cloud.google.com/stackdriver/docs/solutions/slo-monitoring" TargetMode="External"/><Relationship Id="rId13" Type="http://schemas.openxmlformats.org/officeDocument/2006/relationships/hyperlink" Target="https://www.oreilly.com/library/view/implementing-service-level/9781492076803/" TargetMode="External"/><Relationship Id="rId3" Type="http://schemas.openxmlformats.org/officeDocument/2006/relationships/diagramLayout" Target="../diagrams/layout54.xml"/><Relationship Id="rId7" Type="http://schemas.openxmlformats.org/officeDocument/2006/relationships/hyperlink" Target="https://markosrendell.wordpress.com/2019/06/05/slis-and-slos-versus-nfrs/" TargetMode="External"/><Relationship Id="rId12" Type="http://schemas.openxmlformats.org/officeDocument/2006/relationships/hyperlink" Target="https://newrelic.com/blog/best-practices/what-are-slos-slis-slas" TargetMode="External"/><Relationship Id="rId2" Type="http://schemas.openxmlformats.org/officeDocument/2006/relationships/diagramData" Target="../diagrams/data54.xml"/><Relationship Id="rId1" Type="http://schemas.openxmlformats.org/officeDocument/2006/relationships/slideLayout" Target="../slideLayouts/slideLayout2.xml"/><Relationship Id="rId6" Type="http://schemas.microsoft.com/office/2007/relationships/diagramDrawing" Target="../diagrams/drawing54.xml"/><Relationship Id="rId11" Type="http://schemas.openxmlformats.org/officeDocument/2006/relationships/hyperlink" Target="https://www.cortex.io/post/building-reliable-services-a-guide-to-setting-slos" TargetMode="External"/><Relationship Id="rId5" Type="http://schemas.openxmlformats.org/officeDocument/2006/relationships/diagramColors" Target="../diagrams/colors54.xml"/><Relationship Id="rId10" Type="http://schemas.openxmlformats.org/officeDocument/2006/relationships/hyperlink" Target="https://www.blameless.com/blog/service-level-objectives" TargetMode="External"/><Relationship Id="rId4" Type="http://schemas.openxmlformats.org/officeDocument/2006/relationships/diagramQuickStyle" Target="../diagrams/quickStyle54.xml"/><Relationship Id="rId9" Type="http://schemas.openxmlformats.org/officeDocument/2006/relationships/hyperlink" Target="https://last9.io/blog/a-practical-guide-to-implementing-slos/" TargetMode="External"/><Relationship Id="rId14" Type="http://schemas.openxmlformats.org/officeDocument/2006/relationships/hyperlink" Target="https://www.squadcast.com/blog/introducing-our-open-source-slo-tracker-a-simple-tool-to-track-slos-and-error-budget" TargetMode="External"/></Relationships>
</file>

<file path=ppt/slides/_rels/slide60.xml.rels><?xml version="1.0" encoding="UTF-8" standalone="yes"?>
<Relationships xmlns="http://schemas.openxmlformats.org/package/2006/relationships"><Relationship Id="rId8" Type="http://schemas.openxmlformats.org/officeDocument/2006/relationships/image" Target="../media/image25.png"/><Relationship Id="rId3" Type="http://schemas.openxmlformats.org/officeDocument/2006/relationships/diagramData" Target="../diagrams/data55.xml"/><Relationship Id="rId7" Type="http://schemas.microsoft.com/office/2007/relationships/diagramDrawing" Target="../diagrams/drawing55.xml"/><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diagramColors" Target="../diagrams/colors55.xml"/><Relationship Id="rId5" Type="http://schemas.openxmlformats.org/officeDocument/2006/relationships/diagramQuickStyle" Target="../diagrams/quickStyle55.xml"/><Relationship Id="rId4" Type="http://schemas.openxmlformats.org/officeDocument/2006/relationships/diagramLayout" Target="../diagrams/layout55.xml"/><Relationship Id="rId9" Type="http://schemas.openxmlformats.org/officeDocument/2006/relationships/image" Target="../media/image26.png"/></Relationships>
</file>

<file path=ppt/slides/_rels/slide61.xml.rels><?xml version="1.0" encoding="UTF-8" standalone="yes"?>
<Relationships xmlns="http://schemas.openxmlformats.org/package/2006/relationships"><Relationship Id="rId3" Type="http://schemas.openxmlformats.org/officeDocument/2006/relationships/diagramLayout" Target="../diagrams/layout56.xml"/><Relationship Id="rId7" Type="http://schemas.openxmlformats.org/officeDocument/2006/relationships/image" Target="../media/image27.png"/><Relationship Id="rId2" Type="http://schemas.openxmlformats.org/officeDocument/2006/relationships/diagramData" Target="../diagrams/data56.xml"/><Relationship Id="rId1" Type="http://schemas.openxmlformats.org/officeDocument/2006/relationships/slideLayout" Target="../slideLayouts/slideLayout2.xml"/><Relationship Id="rId6" Type="http://schemas.microsoft.com/office/2007/relationships/diagramDrawing" Target="../diagrams/drawing56.xml"/><Relationship Id="rId5" Type="http://schemas.openxmlformats.org/officeDocument/2006/relationships/diagramColors" Target="../diagrams/colors56.xml"/><Relationship Id="rId4" Type="http://schemas.openxmlformats.org/officeDocument/2006/relationships/diagramQuickStyle" Target="../diagrams/quickStyle56.xml"/></Relationships>
</file>

<file path=ppt/slides/_rels/slide62.xml.rels><?xml version="1.0" encoding="UTF-8" standalone="yes"?>
<Relationships xmlns="http://schemas.openxmlformats.org/package/2006/relationships"><Relationship Id="rId3" Type="http://schemas.openxmlformats.org/officeDocument/2006/relationships/diagramData" Target="../diagrams/data57.xml"/><Relationship Id="rId7" Type="http://schemas.microsoft.com/office/2007/relationships/diagramDrawing" Target="../diagrams/drawing57.xml"/><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diagramColors" Target="../diagrams/colors57.xml"/><Relationship Id="rId5" Type="http://schemas.openxmlformats.org/officeDocument/2006/relationships/diagramQuickStyle" Target="../diagrams/quickStyle57.xml"/><Relationship Id="rId4" Type="http://schemas.openxmlformats.org/officeDocument/2006/relationships/diagramLayout" Target="../diagrams/layout57.xml"/></Relationships>
</file>

<file path=ppt/slides/_rels/slide63.xml.rels><?xml version="1.0" encoding="UTF-8" standalone="yes"?>
<Relationships xmlns="http://schemas.openxmlformats.org/package/2006/relationships"><Relationship Id="rId3" Type="http://schemas.openxmlformats.org/officeDocument/2006/relationships/diagramData" Target="../diagrams/data58.xml"/><Relationship Id="rId7" Type="http://schemas.microsoft.com/office/2007/relationships/diagramDrawing" Target="../diagrams/drawing58.xml"/><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diagramColors" Target="../diagrams/colors58.xml"/><Relationship Id="rId5" Type="http://schemas.openxmlformats.org/officeDocument/2006/relationships/diagramQuickStyle" Target="../diagrams/quickStyle58.xml"/><Relationship Id="rId4" Type="http://schemas.openxmlformats.org/officeDocument/2006/relationships/diagramLayout" Target="../diagrams/layout58.xml"/></Relationships>
</file>

<file path=ppt/slides/_rels/slide64.xml.rels><?xml version="1.0" encoding="UTF-8" standalone="yes"?>
<Relationships xmlns="http://schemas.openxmlformats.org/package/2006/relationships"><Relationship Id="rId3" Type="http://schemas.openxmlformats.org/officeDocument/2006/relationships/diagramData" Target="../diagrams/data59.xml"/><Relationship Id="rId7" Type="http://schemas.microsoft.com/office/2007/relationships/diagramDrawing" Target="../diagrams/drawing59.xml"/><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diagramColors" Target="../diagrams/colors59.xml"/><Relationship Id="rId5" Type="http://schemas.openxmlformats.org/officeDocument/2006/relationships/diagramQuickStyle" Target="../diagrams/quickStyle59.xml"/><Relationship Id="rId4" Type="http://schemas.openxmlformats.org/officeDocument/2006/relationships/diagramLayout" Target="../diagrams/layout59.xml"/></Relationships>
</file>

<file path=ppt/slides/_rels/slide65.xml.rels><?xml version="1.0" encoding="UTF-8" standalone="yes"?>
<Relationships xmlns="http://schemas.openxmlformats.org/package/2006/relationships"><Relationship Id="rId3" Type="http://schemas.openxmlformats.org/officeDocument/2006/relationships/diagramData" Target="../diagrams/data60.xml"/><Relationship Id="rId7" Type="http://schemas.microsoft.com/office/2007/relationships/diagramDrawing" Target="../diagrams/drawing60.xml"/><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diagramColors" Target="../diagrams/colors60.xml"/><Relationship Id="rId5" Type="http://schemas.openxmlformats.org/officeDocument/2006/relationships/diagramQuickStyle" Target="../diagrams/quickStyle60.xml"/><Relationship Id="rId4" Type="http://schemas.openxmlformats.org/officeDocument/2006/relationships/diagramLayout" Target="../diagrams/layout60.xml"/></Relationships>
</file>

<file path=ppt/slides/_rels/slide66.xml.rels><?xml version="1.0" encoding="UTF-8" standalone="yes"?>
<Relationships xmlns="http://schemas.openxmlformats.org/package/2006/relationships"><Relationship Id="rId3" Type="http://schemas.openxmlformats.org/officeDocument/2006/relationships/diagramData" Target="../diagrams/data61.xml"/><Relationship Id="rId7" Type="http://schemas.microsoft.com/office/2007/relationships/diagramDrawing" Target="../diagrams/drawing61.xml"/><Relationship Id="rId2" Type="http://schemas.openxmlformats.org/officeDocument/2006/relationships/notesSlide" Target="../notesSlides/notesSlide6.xml"/><Relationship Id="rId1" Type="http://schemas.openxmlformats.org/officeDocument/2006/relationships/slideLayout" Target="../slideLayouts/slideLayout2.xml"/><Relationship Id="rId6" Type="http://schemas.openxmlformats.org/officeDocument/2006/relationships/diagramColors" Target="../diagrams/colors61.xml"/><Relationship Id="rId5" Type="http://schemas.openxmlformats.org/officeDocument/2006/relationships/diagramQuickStyle" Target="../diagrams/quickStyle61.xml"/><Relationship Id="rId4" Type="http://schemas.openxmlformats.org/officeDocument/2006/relationships/diagramLayout" Target="../diagrams/layout61.xml"/></Relationships>
</file>

<file path=ppt/slides/_rels/slide67.xml.rels><?xml version="1.0" encoding="UTF-8" standalone="yes"?>
<Relationships xmlns="http://schemas.openxmlformats.org/package/2006/relationships"><Relationship Id="rId8" Type="http://schemas.openxmlformats.org/officeDocument/2006/relationships/image" Target="../media/image28.png"/><Relationship Id="rId3" Type="http://schemas.openxmlformats.org/officeDocument/2006/relationships/diagramData" Target="../diagrams/data62.xml"/><Relationship Id="rId7" Type="http://schemas.microsoft.com/office/2007/relationships/diagramDrawing" Target="../diagrams/drawing62.xml"/><Relationship Id="rId2" Type="http://schemas.openxmlformats.org/officeDocument/2006/relationships/notesSlide" Target="../notesSlides/notesSlide7.xml"/><Relationship Id="rId1" Type="http://schemas.openxmlformats.org/officeDocument/2006/relationships/slideLayout" Target="../slideLayouts/slideLayout2.xml"/><Relationship Id="rId6" Type="http://schemas.openxmlformats.org/officeDocument/2006/relationships/diagramColors" Target="../diagrams/colors62.xml"/><Relationship Id="rId11" Type="http://schemas.openxmlformats.org/officeDocument/2006/relationships/image" Target="../media/image31.png"/><Relationship Id="rId5" Type="http://schemas.openxmlformats.org/officeDocument/2006/relationships/diagramQuickStyle" Target="../diagrams/quickStyle62.xml"/><Relationship Id="rId10" Type="http://schemas.openxmlformats.org/officeDocument/2006/relationships/image" Target="../media/image30.png"/><Relationship Id="rId4" Type="http://schemas.openxmlformats.org/officeDocument/2006/relationships/diagramLayout" Target="../diagrams/layout62.xml"/><Relationship Id="rId9" Type="http://schemas.openxmlformats.org/officeDocument/2006/relationships/image" Target="../media/image29.png"/></Relationships>
</file>

<file path=ppt/slides/_rels/slide68.xml.rels><?xml version="1.0" encoding="UTF-8" standalone="yes"?>
<Relationships xmlns="http://schemas.openxmlformats.org/package/2006/relationships"><Relationship Id="rId8" Type="http://schemas.openxmlformats.org/officeDocument/2006/relationships/image" Target="../media/image32.png"/><Relationship Id="rId3" Type="http://schemas.openxmlformats.org/officeDocument/2006/relationships/diagramData" Target="../diagrams/data63.xml"/><Relationship Id="rId7" Type="http://schemas.microsoft.com/office/2007/relationships/diagramDrawing" Target="../diagrams/drawing63.xml"/><Relationship Id="rId2" Type="http://schemas.openxmlformats.org/officeDocument/2006/relationships/notesSlide" Target="../notesSlides/notesSlide8.xml"/><Relationship Id="rId1" Type="http://schemas.openxmlformats.org/officeDocument/2006/relationships/slideLayout" Target="../slideLayouts/slideLayout2.xml"/><Relationship Id="rId6" Type="http://schemas.openxmlformats.org/officeDocument/2006/relationships/diagramColors" Target="../diagrams/colors63.xml"/><Relationship Id="rId5" Type="http://schemas.openxmlformats.org/officeDocument/2006/relationships/diagramQuickStyle" Target="../diagrams/quickStyle63.xml"/><Relationship Id="rId10" Type="http://schemas.openxmlformats.org/officeDocument/2006/relationships/image" Target="../media/image34.png"/><Relationship Id="rId4" Type="http://schemas.openxmlformats.org/officeDocument/2006/relationships/diagramLayout" Target="../diagrams/layout63.xml"/><Relationship Id="rId9" Type="http://schemas.openxmlformats.org/officeDocument/2006/relationships/image" Target="../media/image33.png"/></Relationships>
</file>

<file path=ppt/slides/_rels/slide69.xml.rels><?xml version="1.0" encoding="UTF-8" standalone="yes"?>
<Relationships xmlns="http://schemas.openxmlformats.org/package/2006/relationships"><Relationship Id="rId8" Type="http://schemas.openxmlformats.org/officeDocument/2006/relationships/image" Target="../media/image35.png"/><Relationship Id="rId3" Type="http://schemas.openxmlformats.org/officeDocument/2006/relationships/diagramData" Target="../diagrams/data64.xml"/><Relationship Id="rId7" Type="http://schemas.microsoft.com/office/2007/relationships/diagramDrawing" Target="../diagrams/drawing64.xml"/><Relationship Id="rId2" Type="http://schemas.openxmlformats.org/officeDocument/2006/relationships/notesSlide" Target="../notesSlides/notesSlide9.xml"/><Relationship Id="rId1" Type="http://schemas.openxmlformats.org/officeDocument/2006/relationships/slideLayout" Target="../slideLayouts/slideLayout2.xml"/><Relationship Id="rId6" Type="http://schemas.openxmlformats.org/officeDocument/2006/relationships/diagramColors" Target="../diagrams/colors64.xml"/><Relationship Id="rId5" Type="http://schemas.openxmlformats.org/officeDocument/2006/relationships/diagramQuickStyle" Target="../diagrams/quickStyle64.xml"/><Relationship Id="rId10" Type="http://schemas.openxmlformats.org/officeDocument/2006/relationships/image" Target="../media/image37.png"/><Relationship Id="rId4" Type="http://schemas.openxmlformats.org/officeDocument/2006/relationships/diagramLayout" Target="../diagrams/layout64.xml"/><Relationship Id="rId9" Type="http://schemas.openxmlformats.org/officeDocument/2006/relationships/image" Target="../media/image36.png"/></Relationships>
</file>

<file path=ppt/slides/_rels/slide70.xml.rels><?xml version="1.0" encoding="UTF-8" standalone="yes"?>
<Relationships xmlns="http://schemas.openxmlformats.org/package/2006/relationships"><Relationship Id="rId8" Type="http://schemas.openxmlformats.org/officeDocument/2006/relationships/image" Target="../media/image38.png"/><Relationship Id="rId3" Type="http://schemas.openxmlformats.org/officeDocument/2006/relationships/diagramData" Target="../diagrams/data65.xml"/><Relationship Id="rId7" Type="http://schemas.microsoft.com/office/2007/relationships/diagramDrawing" Target="../diagrams/drawing65.xml"/><Relationship Id="rId2" Type="http://schemas.openxmlformats.org/officeDocument/2006/relationships/notesSlide" Target="../notesSlides/notesSlide10.xml"/><Relationship Id="rId1" Type="http://schemas.openxmlformats.org/officeDocument/2006/relationships/slideLayout" Target="../slideLayouts/slideLayout2.xml"/><Relationship Id="rId6" Type="http://schemas.openxmlformats.org/officeDocument/2006/relationships/diagramColors" Target="../diagrams/colors65.xml"/><Relationship Id="rId5" Type="http://schemas.openxmlformats.org/officeDocument/2006/relationships/diagramQuickStyle" Target="../diagrams/quickStyle65.xml"/><Relationship Id="rId4" Type="http://schemas.openxmlformats.org/officeDocument/2006/relationships/diagramLayout" Target="../diagrams/layout65.xml"/><Relationship Id="rId9" Type="http://schemas.openxmlformats.org/officeDocument/2006/relationships/image" Target="../media/image39.png"/></Relationships>
</file>

<file path=ppt/slides/_rels/slide71.xml.rels><?xml version="1.0" encoding="UTF-8" standalone="yes"?>
<Relationships xmlns="http://schemas.openxmlformats.org/package/2006/relationships"><Relationship Id="rId8" Type="http://schemas.openxmlformats.org/officeDocument/2006/relationships/hyperlink" Target="https://www.linkedin.com/pulse/point-view-devsecops-sre-key-asks-considerations-balaji-ramarajan-rbb8c/" TargetMode="External"/><Relationship Id="rId3" Type="http://schemas.openxmlformats.org/officeDocument/2006/relationships/diagramLayout" Target="../diagrams/layout66.xml"/><Relationship Id="rId7" Type="http://schemas.openxmlformats.org/officeDocument/2006/relationships/hyperlink" Target="https://www.purestorage.com/au/knowledge/what-is-aiops.html" TargetMode="External"/><Relationship Id="rId2" Type="http://schemas.openxmlformats.org/officeDocument/2006/relationships/diagramData" Target="../diagrams/data66.xml"/><Relationship Id="rId1" Type="http://schemas.openxmlformats.org/officeDocument/2006/relationships/slideLayout" Target="../slideLayouts/slideLayout2.xml"/><Relationship Id="rId6" Type="http://schemas.microsoft.com/office/2007/relationships/diagramDrawing" Target="../diagrams/drawing66.xml"/><Relationship Id="rId5" Type="http://schemas.openxmlformats.org/officeDocument/2006/relationships/diagramColors" Target="../diagrams/colors66.xml"/><Relationship Id="rId4" Type="http://schemas.openxmlformats.org/officeDocument/2006/relationships/diagramQuickStyle" Target="../diagrams/quickStyle66.xml"/><Relationship Id="rId9" Type="http://schemas.openxmlformats.org/officeDocument/2006/relationships/image" Target="../media/image40.png"/></Relationships>
</file>

<file path=ppt/slides/_rels/slide72.xml.rels><?xml version="1.0" encoding="UTF-8" standalone="yes"?>
<Relationships xmlns="http://schemas.openxmlformats.org/package/2006/relationships"><Relationship Id="rId8" Type="http://schemas.openxmlformats.org/officeDocument/2006/relationships/hyperlink" Target="https://learn.microsoft.com/en-us/dotnet/core/diagnostics/observability-with-otel" TargetMode="External"/><Relationship Id="rId13" Type="http://schemas.openxmlformats.org/officeDocument/2006/relationships/hyperlink" Target="https://sre.google/books/" TargetMode="External"/><Relationship Id="rId18" Type="http://schemas.openxmlformats.org/officeDocument/2006/relationships/hyperlink" Target="https://grafana.com/docs/grafana/latest/as-code/observability-as-code/" TargetMode="External"/><Relationship Id="rId26" Type="http://schemas.openxmlformats.org/officeDocument/2006/relationships/hyperlink" Target="https://grafana.com/grafana/dashboards/18283-kubernetes-dashboard/" TargetMode="External"/><Relationship Id="rId3" Type="http://schemas.openxmlformats.org/officeDocument/2006/relationships/diagramData" Target="../diagrams/data67.xml"/><Relationship Id="rId21" Type="http://schemas.openxmlformats.org/officeDocument/2006/relationships/hyperlink" Target="https://www.sysdig.com/blog/golden-signals-kubernetes" TargetMode="External"/><Relationship Id="rId7" Type="http://schemas.microsoft.com/office/2007/relationships/diagramDrawing" Target="../diagrams/drawing67.xml"/><Relationship Id="rId12" Type="http://schemas.openxmlformats.org/officeDocument/2006/relationships/hyperlink" Target="https://learn.microsoft.com/en-us/azure/azure-monitor/visualize/visualize-grafana-overview" TargetMode="External"/><Relationship Id="rId17" Type="http://schemas.openxmlformats.org/officeDocument/2006/relationships/hyperlink" Target="https://www.checklyhq.com/blog/observability-as-code/" TargetMode="External"/><Relationship Id="rId25" Type="http://schemas.openxmlformats.org/officeDocument/2006/relationships/hyperlink" Target="https://pagertree.com/learn/devops/what-is-observability/use-and-red-method" TargetMode="External"/><Relationship Id="rId2" Type="http://schemas.openxmlformats.org/officeDocument/2006/relationships/notesSlide" Target="../notesSlides/notesSlide11.xml"/><Relationship Id="rId16" Type="http://schemas.openxmlformats.org/officeDocument/2006/relationships/hyperlink" Target="https://www.udemy.com/topic/prometheus-software/?srsltid=AfmBOorR2WD0G6DLtGgH06XKat6hwHumQWvFlmA0ZGvNwamYLEpSKiHN" TargetMode="External"/><Relationship Id="rId20" Type="http://schemas.openxmlformats.org/officeDocument/2006/relationships/hyperlink" Target="https://resolve.io/blog/runbook-automation-tools-complete-guide" TargetMode="External"/><Relationship Id="rId1" Type="http://schemas.openxmlformats.org/officeDocument/2006/relationships/slideLayout" Target="../slideLayouts/slideLayout2.xml"/><Relationship Id="rId6" Type="http://schemas.openxmlformats.org/officeDocument/2006/relationships/diagramColors" Target="../diagrams/colors67.xml"/><Relationship Id="rId11" Type="http://schemas.openxmlformats.org/officeDocument/2006/relationships/hyperlink" Target="https://learn.microsoft.com/en-us/azure/azure-resource-manager/bicep/scenarios-monitoring" TargetMode="External"/><Relationship Id="rId24" Type="http://schemas.openxmlformats.org/officeDocument/2006/relationships/hyperlink" Target="https://firehydrant.com/blog/4-sre-golden-signals-what-they-are-and-why-they-matter/" TargetMode="External"/><Relationship Id="rId5" Type="http://schemas.openxmlformats.org/officeDocument/2006/relationships/diagramQuickStyle" Target="../diagrams/quickStyle67.xml"/><Relationship Id="rId15" Type="http://schemas.openxmlformats.org/officeDocument/2006/relationships/hyperlink" Target="https://www.udemy.com/topic/grafana/?srsltid=AfmBOoorM_nuHZkGY31C4KRSLp3P3gUr4VB0QahKnbbHwT9-HsI9FEjC" TargetMode="External"/><Relationship Id="rId23" Type="http://schemas.openxmlformats.org/officeDocument/2006/relationships/hyperlink" Target="https://newrelic.com/blog/apm/monitoring-golden-signals" TargetMode="External"/><Relationship Id="rId10" Type="http://schemas.openxmlformats.org/officeDocument/2006/relationships/hyperlink" Target="https://learn.microsoft.com/en-us/kusto/query/?view=microsoft-fabric" TargetMode="External"/><Relationship Id="rId19" Type="http://schemas.openxmlformats.org/officeDocument/2006/relationships/hyperlink" Target="https://www.splunk.com/en_us/blog/learn/observability-as-code-oac.html" TargetMode="External"/><Relationship Id="rId4" Type="http://schemas.openxmlformats.org/officeDocument/2006/relationships/diagramLayout" Target="../diagrams/layout67.xml"/><Relationship Id="rId9" Type="http://schemas.openxmlformats.org/officeDocument/2006/relationships/hyperlink" Target="https://learn.microsoft.com/en-us/aspnet/core/host-and-deploy/health-checks?view=aspnetcore-10.0" TargetMode="External"/><Relationship Id="rId14" Type="http://schemas.openxmlformats.org/officeDocument/2006/relationships/hyperlink" Target="https://www.udemy.com/topic/opentelemetry/?srsltid=AfmBOop4zF68BfhQ4TgsF9OxvO46a75omGvSdWiV8d8iv2jNlIsiKgZN" TargetMode="External"/><Relationship Id="rId22" Type="http://schemas.openxmlformats.org/officeDocument/2006/relationships/hyperlink" Target="https://www.dynatrace.com/knowledge-base/golden-signals/" TargetMode="External"/></Relationships>
</file>

<file path=ppt/slides/_rels/slide73.xml.rels><?xml version="1.0" encoding="UTF-8" standalone="yes"?>
<Relationships xmlns="http://schemas.openxmlformats.org/package/2006/relationships"><Relationship Id="rId8" Type="http://schemas.openxmlformats.org/officeDocument/2006/relationships/image" Target="../media/image41.png"/><Relationship Id="rId3" Type="http://schemas.openxmlformats.org/officeDocument/2006/relationships/diagramData" Target="../diagrams/data68.xml"/><Relationship Id="rId7" Type="http://schemas.microsoft.com/office/2007/relationships/diagramDrawing" Target="../diagrams/drawing68.xml"/><Relationship Id="rId2" Type="http://schemas.openxmlformats.org/officeDocument/2006/relationships/notesSlide" Target="../notesSlides/notesSlide12.xml"/><Relationship Id="rId1" Type="http://schemas.openxmlformats.org/officeDocument/2006/relationships/slideLayout" Target="../slideLayouts/slideLayout2.xml"/><Relationship Id="rId6" Type="http://schemas.openxmlformats.org/officeDocument/2006/relationships/diagramColors" Target="../diagrams/colors68.xml"/><Relationship Id="rId5" Type="http://schemas.openxmlformats.org/officeDocument/2006/relationships/diagramQuickStyle" Target="../diagrams/quickStyle68.xml"/><Relationship Id="rId4" Type="http://schemas.openxmlformats.org/officeDocument/2006/relationships/diagramLayout" Target="../diagrams/layout68.xml"/></Relationships>
</file>

<file path=ppt/slides/_rels/slide74.xml.rels><?xml version="1.0" encoding="UTF-8" standalone="yes"?>
<Relationships xmlns="http://schemas.openxmlformats.org/package/2006/relationships"><Relationship Id="rId8" Type="http://schemas.openxmlformats.org/officeDocument/2006/relationships/image" Target="../media/image42.png"/><Relationship Id="rId3" Type="http://schemas.openxmlformats.org/officeDocument/2006/relationships/diagramData" Target="../diagrams/data69.xml"/><Relationship Id="rId7" Type="http://schemas.microsoft.com/office/2007/relationships/diagramDrawing" Target="../diagrams/drawing69.xml"/><Relationship Id="rId2" Type="http://schemas.openxmlformats.org/officeDocument/2006/relationships/notesSlide" Target="../notesSlides/notesSlide13.xml"/><Relationship Id="rId1" Type="http://schemas.openxmlformats.org/officeDocument/2006/relationships/slideLayout" Target="../slideLayouts/slideLayout2.xml"/><Relationship Id="rId6" Type="http://schemas.openxmlformats.org/officeDocument/2006/relationships/diagramColors" Target="../diagrams/colors69.xml"/><Relationship Id="rId5" Type="http://schemas.openxmlformats.org/officeDocument/2006/relationships/diagramQuickStyle" Target="../diagrams/quickStyle69.xml"/><Relationship Id="rId4" Type="http://schemas.openxmlformats.org/officeDocument/2006/relationships/diagramLayout" Target="../diagrams/layout69.xml"/><Relationship Id="rId9" Type="http://schemas.openxmlformats.org/officeDocument/2006/relationships/image" Target="../media/image43.png"/></Relationships>
</file>

<file path=ppt/slides/_rels/slide75.xml.rels><?xml version="1.0" encoding="UTF-8" standalone="yes"?>
<Relationships xmlns="http://schemas.openxmlformats.org/package/2006/relationships"><Relationship Id="rId8" Type="http://schemas.openxmlformats.org/officeDocument/2006/relationships/hyperlink" Target="https://istio.io/" TargetMode="External"/><Relationship Id="rId3" Type="http://schemas.openxmlformats.org/officeDocument/2006/relationships/diagramData" Target="../diagrams/data70.xml"/><Relationship Id="rId7" Type="http://schemas.microsoft.com/office/2007/relationships/diagramDrawing" Target="../diagrams/drawing70.xml"/><Relationship Id="rId2" Type="http://schemas.openxmlformats.org/officeDocument/2006/relationships/notesSlide" Target="../notesSlides/notesSlide14.xml"/><Relationship Id="rId1" Type="http://schemas.openxmlformats.org/officeDocument/2006/relationships/slideLayout" Target="../slideLayouts/slideLayout2.xml"/><Relationship Id="rId6" Type="http://schemas.openxmlformats.org/officeDocument/2006/relationships/diagramColors" Target="../diagrams/colors70.xml"/><Relationship Id="rId5" Type="http://schemas.openxmlformats.org/officeDocument/2006/relationships/diagramQuickStyle" Target="../diagrams/quickStyle70.xml"/><Relationship Id="rId10" Type="http://schemas.openxmlformats.org/officeDocument/2006/relationships/image" Target="../media/image44.png"/><Relationship Id="rId4" Type="http://schemas.openxmlformats.org/officeDocument/2006/relationships/diagramLayout" Target="../diagrams/layout70.xml"/><Relationship Id="rId9" Type="http://schemas.openxmlformats.org/officeDocument/2006/relationships/hyperlink" Target="https://linkerd.io/" TargetMode="External"/></Relationships>
</file>

<file path=ppt/slides/_rels/slide76.xml.rels><?xml version="1.0" encoding="UTF-8" standalone="yes"?>
<Relationships xmlns="http://schemas.openxmlformats.org/package/2006/relationships"><Relationship Id="rId8" Type="http://schemas.openxmlformats.org/officeDocument/2006/relationships/image" Target="../media/image45.png"/><Relationship Id="rId3" Type="http://schemas.openxmlformats.org/officeDocument/2006/relationships/diagramData" Target="../diagrams/data71.xml"/><Relationship Id="rId7" Type="http://schemas.microsoft.com/office/2007/relationships/diagramDrawing" Target="../diagrams/drawing71.xml"/><Relationship Id="rId2" Type="http://schemas.openxmlformats.org/officeDocument/2006/relationships/notesSlide" Target="../notesSlides/notesSlide15.xml"/><Relationship Id="rId1" Type="http://schemas.openxmlformats.org/officeDocument/2006/relationships/slideLayout" Target="../slideLayouts/slideLayout2.xml"/><Relationship Id="rId6" Type="http://schemas.openxmlformats.org/officeDocument/2006/relationships/diagramColors" Target="../diagrams/colors71.xml"/><Relationship Id="rId5" Type="http://schemas.openxmlformats.org/officeDocument/2006/relationships/diagramQuickStyle" Target="../diagrams/quickStyle71.xml"/><Relationship Id="rId4" Type="http://schemas.openxmlformats.org/officeDocument/2006/relationships/diagramLayout" Target="../diagrams/layout71.xml"/><Relationship Id="rId9" Type="http://schemas.openxmlformats.org/officeDocument/2006/relationships/image" Target="../media/image46.png"/></Relationships>
</file>

<file path=ppt/slides/_rels/slide77.xml.rels><?xml version="1.0" encoding="UTF-8" standalone="yes"?>
<Relationships xmlns="http://schemas.openxmlformats.org/package/2006/relationships"><Relationship Id="rId8" Type="http://schemas.openxmlformats.org/officeDocument/2006/relationships/image" Target="../media/image47.png"/><Relationship Id="rId3" Type="http://schemas.openxmlformats.org/officeDocument/2006/relationships/diagramData" Target="../diagrams/data72.xml"/><Relationship Id="rId7" Type="http://schemas.microsoft.com/office/2007/relationships/diagramDrawing" Target="../diagrams/drawing72.xml"/><Relationship Id="rId2" Type="http://schemas.openxmlformats.org/officeDocument/2006/relationships/notesSlide" Target="../notesSlides/notesSlide16.xml"/><Relationship Id="rId1" Type="http://schemas.openxmlformats.org/officeDocument/2006/relationships/slideLayout" Target="../slideLayouts/slideLayout2.xml"/><Relationship Id="rId6" Type="http://schemas.openxmlformats.org/officeDocument/2006/relationships/diagramColors" Target="../diagrams/colors72.xml"/><Relationship Id="rId5" Type="http://schemas.openxmlformats.org/officeDocument/2006/relationships/diagramQuickStyle" Target="../diagrams/quickStyle72.xml"/><Relationship Id="rId4" Type="http://schemas.openxmlformats.org/officeDocument/2006/relationships/diagramLayout" Target="../diagrams/layout72.xml"/></Relationships>
</file>

<file path=ppt/slides/_rels/slide78.xml.rels><?xml version="1.0" encoding="UTF-8" standalone="yes"?>
<Relationships xmlns="http://schemas.openxmlformats.org/package/2006/relationships"><Relationship Id="rId8" Type="http://schemas.openxmlformats.org/officeDocument/2006/relationships/image" Target="../media/image48.png"/><Relationship Id="rId3" Type="http://schemas.openxmlformats.org/officeDocument/2006/relationships/diagramData" Target="../diagrams/data73.xml"/><Relationship Id="rId7" Type="http://schemas.microsoft.com/office/2007/relationships/diagramDrawing" Target="../diagrams/drawing73.xml"/><Relationship Id="rId2" Type="http://schemas.openxmlformats.org/officeDocument/2006/relationships/notesSlide" Target="../notesSlides/notesSlide17.xml"/><Relationship Id="rId1" Type="http://schemas.openxmlformats.org/officeDocument/2006/relationships/slideLayout" Target="../slideLayouts/slideLayout2.xml"/><Relationship Id="rId6" Type="http://schemas.openxmlformats.org/officeDocument/2006/relationships/diagramColors" Target="../diagrams/colors73.xml"/><Relationship Id="rId5" Type="http://schemas.openxmlformats.org/officeDocument/2006/relationships/diagramQuickStyle" Target="../diagrams/quickStyle73.xml"/><Relationship Id="rId10" Type="http://schemas.openxmlformats.org/officeDocument/2006/relationships/image" Target="../media/image50.png"/><Relationship Id="rId4" Type="http://schemas.openxmlformats.org/officeDocument/2006/relationships/diagramLayout" Target="../diagrams/layout73.xml"/><Relationship Id="rId9" Type="http://schemas.openxmlformats.org/officeDocument/2006/relationships/image" Target="../media/image49.png"/></Relationships>
</file>

<file path=ppt/slides/_rels/slide79.xml.rels><?xml version="1.0" encoding="UTF-8" standalone="yes"?>
<Relationships xmlns="http://schemas.openxmlformats.org/package/2006/relationships"><Relationship Id="rId8" Type="http://schemas.openxmlformats.org/officeDocument/2006/relationships/image" Target="../media/image51.png"/><Relationship Id="rId3" Type="http://schemas.openxmlformats.org/officeDocument/2006/relationships/diagramData" Target="../diagrams/data74.xml"/><Relationship Id="rId7" Type="http://schemas.microsoft.com/office/2007/relationships/diagramDrawing" Target="../diagrams/drawing74.xml"/><Relationship Id="rId2" Type="http://schemas.openxmlformats.org/officeDocument/2006/relationships/notesSlide" Target="../notesSlides/notesSlide18.xml"/><Relationship Id="rId1" Type="http://schemas.openxmlformats.org/officeDocument/2006/relationships/slideLayout" Target="../slideLayouts/slideLayout2.xml"/><Relationship Id="rId6" Type="http://schemas.openxmlformats.org/officeDocument/2006/relationships/diagramColors" Target="../diagrams/colors74.xml"/><Relationship Id="rId5" Type="http://schemas.openxmlformats.org/officeDocument/2006/relationships/diagramQuickStyle" Target="../diagrams/quickStyle74.xml"/><Relationship Id="rId4" Type="http://schemas.openxmlformats.org/officeDocument/2006/relationships/diagramLayout" Target="../diagrams/layout74.xml"/><Relationship Id="rId9" Type="http://schemas.openxmlformats.org/officeDocument/2006/relationships/image" Target="../media/image52.png"/></Relationships>
</file>

<file path=ppt/slides/_rels/slide80.xml.rels><?xml version="1.0" encoding="UTF-8" standalone="yes"?>
<Relationships xmlns="http://schemas.openxmlformats.org/package/2006/relationships"><Relationship Id="rId8" Type="http://schemas.openxmlformats.org/officeDocument/2006/relationships/image" Target="../media/image53.png"/><Relationship Id="rId3" Type="http://schemas.openxmlformats.org/officeDocument/2006/relationships/diagramData" Target="../diagrams/data75.xml"/><Relationship Id="rId7" Type="http://schemas.microsoft.com/office/2007/relationships/diagramDrawing" Target="../diagrams/drawing75.xml"/><Relationship Id="rId2" Type="http://schemas.openxmlformats.org/officeDocument/2006/relationships/notesSlide" Target="../notesSlides/notesSlide19.xml"/><Relationship Id="rId1" Type="http://schemas.openxmlformats.org/officeDocument/2006/relationships/slideLayout" Target="../slideLayouts/slideLayout2.xml"/><Relationship Id="rId6" Type="http://schemas.openxmlformats.org/officeDocument/2006/relationships/diagramColors" Target="../diagrams/colors75.xml"/><Relationship Id="rId5" Type="http://schemas.openxmlformats.org/officeDocument/2006/relationships/diagramQuickStyle" Target="../diagrams/quickStyle75.xml"/><Relationship Id="rId4" Type="http://schemas.openxmlformats.org/officeDocument/2006/relationships/diagramLayout" Target="../diagrams/layout75.xml"/></Relationships>
</file>

<file path=ppt/slides/_rels/slide81.xml.rels><?xml version="1.0" encoding="UTF-8" standalone="yes"?>
<Relationships xmlns="http://schemas.openxmlformats.org/package/2006/relationships"><Relationship Id="rId8" Type="http://schemas.openxmlformats.org/officeDocument/2006/relationships/image" Target="../media/image54.png"/><Relationship Id="rId3" Type="http://schemas.openxmlformats.org/officeDocument/2006/relationships/diagramData" Target="../diagrams/data76.xml"/><Relationship Id="rId7" Type="http://schemas.microsoft.com/office/2007/relationships/diagramDrawing" Target="../diagrams/drawing76.xml"/><Relationship Id="rId2" Type="http://schemas.openxmlformats.org/officeDocument/2006/relationships/notesSlide" Target="../notesSlides/notesSlide20.xml"/><Relationship Id="rId1" Type="http://schemas.openxmlformats.org/officeDocument/2006/relationships/slideLayout" Target="../slideLayouts/slideLayout2.xml"/><Relationship Id="rId6" Type="http://schemas.openxmlformats.org/officeDocument/2006/relationships/diagramColors" Target="../diagrams/colors76.xml"/><Relationship Id="rId5" Type="http://schemas.openxmlformats.org/officeDocument/2006/relationships/diagramQuickStyle" Target="../diagrams/quickStyle76.xml"/><Relationship Id="rId4" Type="http://schemas.openxmlformats.org/officeDocument/2006/relationships/diagramLayout" Target="../diagrams/layout76.xml"/><Relationship Id="rId9" Type="http://schemas.openxmlformats.org/officeDocument/2006/relationships/image" Target="../media/image55.png"/></Relationships>
</file>

<file path=ppt/slides/_rels/slide82.xml.rels><?xml version="1.0" encoding="UTF-8" standalone="yes"?>
<Relationships xmlns="http://schemas.openxmlformats.org/package/2006/relationships"><Relationship Id="rId8" Type="http://schemas.openxmlformats.org/officeDocument/2006/relationships/image" Target="../media/image56.png"/><Relationship Id="rId3" Type="http://schemas.openxmlformats.org/officeDocument/2006/relationships/diagramData" Target="../diagrams/data77.xml"/><Relationship Id="rId7" Type="http://schemas.microsoft.com/office/2007/relationships/diagramDrawing" Target="../diagrams/drawing77.xml"/><Relationship Id="rId2" Type="http://schemas.openxmlformats.org/officeDocument/2006/relationships/notesSlide" Target="../notesSlides/notesSlide21.xml"/><Relationship Id="rId1" Type="http://schemas.openxmlformats.org/officeDocument/2006/relationships/slideLayout" Target="../slideLayouts/slideLayout2.xml"/><Relationship Id="rId6" Type="http://schemas.openxmlformats.org/officeDocument/2006/relationships/diagramColors" Target="../diagrams/colors77.xml"/><Relationship Id="rId5" Type="http://schemas.openxmlformats.org/officeDocument/2006/relationships/diagramQuickStyle" Target="../diagrams/quickStyle77.xml"/><Relationship Id="rId4" Type="http://schemas.openxmlformats.org/officeDocument/2006/relationships/diagramLayout" Target="../diagrams/layout77.xml"/><Relationship Id="rId9" Type="http://schemas.openxmlformats.org/officeDocument/2006/relationships/image" Target="../media/image57.png"/></Relationships>
</file>

<file path=ppt/slides/_rels/slide83.xml.rels><?xml version="1.0" encoding="UTF-8" standalone="yes"?>
<Relationships xmlns="http://schemas.openxmlformats.org/package/2006/relationships"><Relationship Id="rId3" Type="http://schemas.openxmlformats.org/officeDocument/2006/relationships/diagramData" Target="../diagrams/data78.xml"/><Relationship Id="rId7" Type="http://schemas.microsoft.com/office/2007/relationships/diagramDrawing" Target="../diagrams/drawing78.xml"/><Relationship Id="rId2" Type="http://schemas.openxmlformats.org/officeDocument/2006/relationships/notesSlide" Target="../notesSlides/notesSlide22.xml"/><Relationship Id="rId1" Type="http://schemas.openxmlformats.org/officeDocument/2006/relationships/slideLayout" Target="../slideLayouts/slideLayout2.xml"/><Relationship Id="rId6" Type="http://schemas.openxmlformats.org/officeDocument/2006/relationships/diagramColors" Target="../diagrams/colors78.xml"/><Relationship Id="rId5" Type="http://schemas.openxmlformats.org/officeDocument/2006/relationships/diagramQuickStyle" Target="../diagrams/quickStyle78.xml"/><Relationship Id="rId4" Type="http://schemas.openxmlformats.org/officeDocument/2006/relationships/diagramLayout" Target="../diagrams/layout78.xml"/></Relationships>
</file>

<file path=ppt/slides/_rels/slide84.xml.rels><?xml version="1.0" encoding="UTF-8" standalone="yes"?>
<Relationships xmlns="http://schemas.openxmlformats.org/package/2006/relationships"><Relationship Id="rId8" Type="http://schemas.openxmlformats.org/officeDocument/2006/relationships/hyperlink" Target="https://github.com/PacktPublishing/Mastering-Service-Mesh" TargetMode="External"/><Relationship Id="rId13" Type="http://schemas.openxmlformats.org/officeDocument/2006/relationships/hyperlink" Target="https://service-mesh-patterns.github.io/service-mesh-patterns/" TargetMode="External"/><Relationship Id="rId3" Type="http://schemas.openxmlformats.org/officeDocument/2006/relationships/hyperlink" Target="https://www.getambassador.io/blog/microservices-discovery-api-gateway-vs-service-mesh" TargetMode="External"/><Relationship Id="rId7" Type="http://schemas.openxmlformats.org/officeDocument/2006/relationships/hyperlink" Target="https://www.syncfusion.com/succinctly-free-ebooks/istio-succinctly" TargetMode="External"/><Relationship Id="rId12" Type="http://schemas.openxmlformats.org/officeDocument/2006/relationships/hyperlink" Target="https://layer5.io/learn/service-mesh-books/the-enterprise-path-to-service-mesh-architectures-2nd-edition" TargetMode="External"/><Relationship Id="rId2" Type="http://schemas.openxmlformats.org/officeDocument/2006/relationships/hyperlink" Target="https://www.techtarget.com/searchitoperations/definition/service-mesh" TargetMode="External"/><Relationship Id="rId16" Type="http://schemas.openxmlformats.org/officeDocument/2006/relationships/hyperlink" Target="https://gist.github.com/sandipray63in/5492d6c39d7f2f0ae4a264612c365d20" TargetMode="External"/><Relationship Id="rId1" Type="http://schemas.openxmlformats.org/officeDocument/2006/relationships/slideLayout" Target="../slideLayouts/slideLayout2.xml"/><Relationship Id="rId6" Type="http://schemas.openxmlformats.org/officeDocument/2006/relationships/hyperlink" Target="https://cloud.google.com/learn/what-is-istio?hl=en" TargetMode="External"/><Relationship Id="rId11" Type="http://schemas.openxmlformats.org/officeDocument/2006/relationships/hyperlink" Target="https://github.com/marketplace/actions/service-mesh-interface-conformance-with-meshery" TargetMode="External"/><Relationship Id="rId5" Type="http://schemas.openxmlformats.org/officeDocument/2006/relationships/hyperlink" Target="https://github.com/PacktPublishing/Kubernetes-Service-Mesh-with-Istio" TargetMode="External"/><Relationship Id="rId15" Type="http://schemas.openxmlformats.org/officeDocument/2006/relationships/hyperlink" Target="https://istio.io/latest/docs/" TargetMode="External"/><Relationship Id="rId10" Type="http://schemas.openxmlformats.org/officeDocument/2006/relationships/hyperlink" Target="https://github.com/PacktPublishing/Bootstrap-Service-Mesh-Implementations-with-Istio" TargetMode="External"/><Relationship Id="rId4" Type="http://schemas.openxmlformats.org/officeDocument/2006/relationships/hyperlink" Target="https://medium.com/microservices-learning/how-to-implement-security-for-microservices-89b140d3e555" TargetMode="External"/><Relationship Id="rId9" Type="http://schemas.openxmlformats.org/officeDocument/2006/relationships/hyperlink" Target="https://github.com/PacktPublishing/Mastering-Service-Mesh-Architecture" TargetMode="External"/><Relationship Id="rId14" Type="http://schemas.openxmlformats.org/officeDocument/2006/relationships/hyperlink" Target="https://www.linkedin.com/feed/update/urn:li:activity:7224311940091666432/" TargetMode="External"/></Relationships>
</file>

<file path=ppt/slides/_rels/slide85.xml.rels><?xml version="1.0" encoding="UTF-8" standalone="yes"?>
<Relationships xmlns="http://schemas.openxmlformats.org/package/2006/relationships"><Relationship Id="rId3" Type="http://schemas.openxmlformats.org/officeDocument/2006/relationships/diagramData" Target="../diagrams/data79.xml"/><Relationship Id="rId7" Type="http://schemas.microsoft.com/office/2007/relationships/diagramDrawing" Target="../diagrams/drawing79.xml"/><Relationship Id="rId2" Type="http://schemas.openxmlformats.org/officeDocument/2006/relationships/notesSlide" Target="../notesSlides/notesSlide23.xml"/><Relationship Id="rId1" Type="http://schemas.openxmlformats.org/officeDocument/2006/relationships/slideLayout" Target="../slideLayouts/slideLayout2.xml"/><Relationship Id="rId6" Type="http://schemas.openxmlformats.org/officeDocument/2006/relationships/diagramColors" Target="../diagrams/colors79.xml"/><Relationship Id="rId5" Type="http://schemas.openxmlformats.org/officeDocument/2006/relationships/diagramQuickStyle" Target="../diagrams/quickStyle79.xml"/><Relationship Id="rId4" Type="http://schemas.openxmlformats.org/officeDocument/2006/relationships/diagramLayout" Target="../diagrams/layout79.xml"/></Relationships>
</file>

<file path=ppt/slides/_rels/slide86.xml.rels><?xml version="1.0" encoding="UTF-8" standalone="yes"?>
<Relationships xmlns="http://schemas.openxmlformats.org/package/2006/relationships"><Relationship Id="rId3" Type="http://schemas.openxmlformats.org/officeDocument/2006/relationships/diagramData" Target="../diagrams/data80.xml"/><Relationship Id="rId7" Type="http://schemas.microsoft.com/office/2007/relationships/diagramDrawing" Target="../diagrams/drawing80.xml"/><Relationship Id="rId2" Type="http://schemas.openxmlformats.org/officeDocument/2006/relationships/notesSlide" Target="../notesSlides/notesSlide24.xml"/><Relationship Id="rId1" Type="http://schemas.openxmlformats.org/officeDocument/2006/relationships/slideLayout" Target="../slideLayouts/slideLayout2.xml"/><Relationship Id="rId6" Type="http://schemas.openxmlformats.org/officeDocument/2006/relationships/diagramColors" Target="../diagrams/colors80.xml"/><Relationship Id="rId5" Type="http://schemas.openxmlformats.org/officeDocument/2006/relationships/diagramQuickStyle" Target="../diagrams/quickStyle80.xml"/><Relationship Id="rId4" Type="http://schemas.openxmlformats.org/officeDocument/2006/relationships/diagramLayout" Target="../diagrams/layout80.xml"/></Relationships>
</file>

<file path=ppt/slides/_rels/slide87.xml.rels><?xml version="1.0" encoding="UTF-8" standalone="yes"?>
<Relationships xmlns="http://schemas.openxmlformats.org/package/2006/relationships"><Relationship Id="rId3" Type="http://schemas.openxmlformats.org/officeDocument/2006/relationships/diagramData" Target="../diagrams/data81.xml"/><Relationship Id="rId7" Type="http://schemas.microsoft.com/office/2007/relationships/diagramDrawing" Target="../diagrams/drawing81.xml"/><Relationship Id="rId2" Type="http://schemas.openxmlformats.org/officeDocument/2006/relationships/notesSlide" Target="../notesSlides/notesSlide25.xml"/><Relationship Id="rId1" Type="http://schemas.openxmlformats.org/officeDocument/2006/relationships/slideLayout" Target="../slideLayouts/slideLayout2.xml"/><Relationship Id="rId6" Type="http://schemas.openxmlformats.org/officeDocument/2006/relationships/diagramColors" Target="../diagrams/colors81.xml"/><Relationship Id="rId5" Type="http://schemas.openxmlformats.org/officeDocument/2006/relationships/diagramQuickStyle" Target="../diagrams/quickStyle81.xml"/><Relationship Id="rId4" Type="http://schemas.openxmlformats.org/officeDocument/2006/relationships/diagramLayout" Target="../diagrams/layout81.xml"/></Relationships>
</file>

<file path=ppt/slides/_rels/slide88.xml.rels><?xml version="1.0" encoding="UTF-8" standalone="yes"?>
<Relationships xmlns="http://schemas.openxmlformats.org/package/2006/relationships"><Relationship Id="rId8" Type="http://schemas.openxmlformats.org/officeDocument/2006/relationships/image" Target="../media/image58.png"/><Relationship Id="rId3" Type="http://schemas.openxmlformats.org/officeDocument/2006/relationships/diagramData" Target="../diagrams/data82.xml"/><Relationship Id="rId7" Type="http://schemas.microsoft.com/office/2007/relationships/diagramDrawing" Target="../diagrams/drawing82.xml"/><Relationship Id="rId2" Type="http://schemas.openxmlformats.org/officeDocument/2006/relationships/notesSlide" Target="../notesSlides/notesSlide26.xml"/><Relationship Id="rId1" Type="http://schemas.openxmlformats.org/officeDocument/2006/relationships/slideLayout" Target="../slideLayouts/slideLayout2.xml"/><Relationship Id="rId6" Type="http://schemas.openxmlformats.org/officeDocument/2006/relationships/diagramColors" Target="../diagrams/colors82.xml"/><Relationship Id="rId5" Type="http://schemas.openxmlformats.org/officeDocument/2006/relationships/diagramQuickStyle" Target="../diagrams/quickStyle82.xml"/><Relationship Id="rId4" Type="http://schemas.openxmlformats.org/officeDocument/2006/relationships/diagramLayout" Target="../diagrams/layout82.xml"/><Relationship Id="rId9" Type="http://schemas.openxmlformats.org/officeDocument/2006/relationships/image" Target="../media/image59.png"/></Relationships>
</file>

<file path=ppt/slides/_rels/slide89.xml.rels><?xml version="1.0" encoding="UTF-8" standalone="yes"?>
<Relationships xmlns="http://schemas.openxmlformats.org/package/2006/relationships"><Relationship Id="rId8" Type="http://schemas.openxmlformats.org/officeDocument/2006/relationships/image" Target="../media/image60.png"/><Relationship Id="rId3" Type="http://schemas.openxmlformats.org/officeDocument/2006/relationships/diagramData" Target="../diagrams/data83.xml"/><Relationship Id="rId7" Type="http://schemas.microsoft.com/office/2007/relationships/diagramDrawing" Target="../diagrams/drawing83.xml"/><Relationship Id="rId2" Type="http://schemas.openxmlformats.org/officeDocument/2006/relationships/notesSlide" Target="../notesSlides/notesSlide27.xml"/><Relationship Id="rId1" Type="http://schemas.openxmlformats.org/officeDocument/2006/relationships/slideLayout" Target="../slideLayouts/slideLayout2.xml"/><Relationship Id="rId6" Type="http://schemas.openxmlformats.org/officeDocument/2006/relationships/diagramColors" Target="../diagrams/colors83.xml"/><Relationship Id="rId5" Type="http://schemas.openxmlformats.org/officeDocument/2006/relationships/diagramQuickStyle" Target="../diagrams/quickStyle83.xml"/><Relationship Id="rId4" Type="http://schemas.openxmlformats.org/officeDocument/2006/relationships/diagramLayout" Target="../diagrams/layout83.xml"/><Relationship Id="rId9" Type="http://schemas.openxmlformats.org/officeDocument/2006/relationships/image" Target="../media/image61.png"/></Relationships>
</file>

<file path=ppt/slides/_rels/slide90.xml.rels><?xml version="1.0" encoding="UTF-8" standalone="yes"?>
<Relationships xmlns="http://schemas.openxmlformats.org/package/2006/relationships"><Relationship Id="rId8" Type="http://schemas.openxmlformats.org/officeDocument/2006/relationships/hyperlink" Target="https://www.linkedin.com/pulse/visual-studio-code-vs-2022-professional-comprehensive-john-straumann-lznce/" TargetMode="External"/><Relationship Id="rId13" Type="http://schemas.openxmlformats.org/officeDocument/2006/relationships/hyperlink" Target="https://code.visualstudio.com/docs/getstarted/tips-and-tricks" TargetMode="External"/><Relationship Id="rId18" Type="http://schemas.openxmlformats.org/officeDocument/2006/relationships/hyperlink" Target="https://marketplace.visualstudio.com/items?itemName=mutantdino.resourcemonitor" TargetMode="External"/><Relationship Id="rId3" Type="http://schemas.openxmlformats.org/officeDocument/2006/relationships/diagramData" Target="../diagrams/data84.xml"/><Relationship Id="rId7" Type="http://schemas.microsoft.com/office/2007/relationships/diagramDrawing" Target="../diagrams/drawing84.xml"/><Relationship Id="rId12" Type="http://schemas.openxmlformats.org/officeDocument/2006/relationships/hyperlink" Target="https://www.syncfusion.com/blogs/post/tricks-in-visual-studio-code" TargetMode="External"/><Relationship Id="rId17" Type="http://schemas.openxmlformats.org/officeDocument/2006/relationships/hyperlink" Target="https://marketplace.visualstudio.com/items?itemName=kisstkondoros.vscode-codemetrics" TargetMode="External"/><Relationship Id="rId2" Type="http://schemas.openxmlformats.org/officeDocument/2006/relationships/notesSlide" Target="../notesSlides/notesSlide28.xml"/><Relationship Id="rId16" Type="http://schemas.openxmlformats.org/officeDocument/2006/relationships/hyperlink" Target="https://code.visualstudio.com/docs/editing/refactoring" TargetMode="External"/><Relationship Id="rId1" Type="http://schemas.openxmlformats.org/officeDocument/2006/relationships/slideLayout" Target="../slideLayouts/slideLayout2.xml"/><Relationship Id="rId6" Type="http://schemas.openxmlformats.org/officeDocument/2006/relationships/diagramColors" Target="../diagrams/colors84.xml"/><Relationship Id="rId11" Type="http://schemas.openxmlformats.org/officeDocument/2006/relationships/hyperlink" Target="https://daily.dev/blog/visual-studio-code-read-this-before-you-get-started" TargetMode="External"/><Relationship Id="rId5" Type="http://schemas.openxmlformats.org/officeDocument/2006/relationships/diagramQuickStyle" Target="../diagrams/quickStyle84.xml"/><Relationship Id="rId15" Type="http://schemas.openxmlformats.org/officeDocument/2006/relationships/hyperlink" Target="https://learn.microsoft.com/en-us/visualstudio/ide/productivity-features?view=visualstudio&amp;pivots=programming-language-csharp" TargetMode="External"/><Relationship Id="rId10" Type="http://schemas.openxmlformats.org/officeDocument/2006/relationships/hyperlink" Target="https://code.visualstudio.com/docs/editor/whyvscode" TargetMode="External"/><Relationship Id="rId19" Type="http://schemas.openxmlformats.org/officeDocument/2006/relationships/hyperlink" Target="https://learn.microsoft.com/en-us/visualstudio/extensibility/visualstudio.extensibility/editor/editor?view=visualstudio" TargetMode="External"/><Relationship Id="rId4" Type="http://schemas.openxmlformats.org/officeDocument/2006/relationships/diagramLayout" Target="../diagrams/layout84.xml"/><Relationship Id="rId9" Type="http://schemas.openxmlformats.org/officeDocument/2006/relationships/hyperlink" Target="https://learn.microsoft.com/en-us/visualstudio/debugger/write-better-code-with-visual-studio?view=visualstudio" TargetMode="External"/><Relationship Id="rId14" Type="http://schemas.openxmlformats.org/officeDocument/2006/relationships/hyperlink" Target="https://github.com/mikeroyal/VSCode-Guide" TargetMode="External"/></Relationships>
</file>

<file path=ppt/slides/_rels/slide91.xml.rels><?xml version="1.0" encoding="UTF-8" standalone="yes"?>
<Relationships xmlns="http://schemas.openxmlformats.org/package/2006/relationships"><Relationship Id="rId3" Type="http://schemas.openxmlformats.org/officeDocument/2006/relationships/diagramLayout" Target="../diagrams/layout85.xml"/><Relationship Id="rId2" Type="http://schemas.openxmlformats.org/officeDocument/2006/relationships/diagramData" Target="../diagrams/data85.xml"/><Relationship Id="rId1" Type="http://schemas.openxmlformats.org/officeDocument/2006/relationships/slideLayout" Target="../slideLayouts/slideLayout2.xml"/><Relationship Id="rId6" Type="http://schemas.microsoft.com/office/2007/relationships/diagramDrawing" Target="../diagrams/drawing85.xml"/><Relationship Id="rId5" Type="http://schemas.openxmlformats.org/officeDocument/2006/relationships/diagramColors" Target="../diagrams/colors85.xml"/><Relationship Id="rId4" Type="http://schemas.openxmlformats.org/officeDocument/2006/relationships/diagramQuickStyle" Target="../diagrams/quickStyle85.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object 4"/>
          <p:cNvSpPr/>
          <p:nvPr/>
        </p:nvSpPr>
        <p:spPr>
          <a:xfrm>
            <a:off x="1756803" y="2588399"/>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p:cNvSpPr/>
          <p:nvPr/>
        </p:nvSpPr>
        <p:spPr>
          <a:xfrm>
            <a:off x="1756803" y="2789999"/>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226DC635-E9B3-0133-0548-37B556605D82}"/>
              </a:ext>
            </a:extLst>
          </p:cNvPr>
          <p:cNvGraphicFramePr/>
          <p:nvPr>
            <p:extLst>
              <p:ext uri="{D42A27DB-BD31-4B8C-83A1-F6EECF244321}">
                <p14:modId xmlns:p14="http://schemas.microsoft.com/office/powerpoint/2010/main" val="3073845793"/>
              </p:ext>
            </p:extLst>
          </p:nvPr>
        </p:nvGraphicFramePr>
        <p:xfrm>
          <a:off x="275300" y="636149"/>
          <a:ext cx="4982500" cy="186431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p:nvPr/>
        </p:nvSpPr>
        <p:spPr>
          <a:xfrm>
            <a:off x="1756803" y="19050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p:cNvSpPr/>
          <p:nvPr/>
        </p:nvSpPr>
        <p:spPr>
          <a:xfrm>
            <a:off x="1756803" y="1752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226DC635-E9B3-0133-0548-37B556605D82}"/>
              </a:ext>
            </a:extLst>
          </p:cNvPr>
          <p:cNvGraphicFramePr/>
          <p:nvPr>
            <p:extLst>
              <p:ext uri="{D42A27DB-BD31-4B8C-83A1-F6EECF244321}">
                <p14:modId xmlns:p14="http://schemas.microsoft.com/office/powerpoint/2010/main" val="1219683782"/>
              </p:ext>
            </p:extLst>
          </p:nvPr>
        </p:nvGraphicFramePr>
        <p:xfrm>
          <a:off x="275300" y="0"/>
          <a:ext cx="4982500" cy="232151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object 2">
            <a:extLst>
              <a:ext uri="{FF2B5EF4-FFF2-40B4-BE49-F238E27FC236}">
                <a16:creationId xmlns:a16="http://schemas.microsoft.com/office/drawing/2014/main" id="{1AF3A9D7-6EEA-E129-DFCF-5E7F922ACB9A}"/>
              </a:ext>
            </a:extLst>
          </p:cNvPr>
          <p:cNvSpPr txBox="1">
            <a:spLocks/>
          </p:cNvSpPr>
          <p:nvPr/>
        </p:nvSpPr>
        <p:spPr>
          <a:xfrm>
            <a:off x="428526" y="2309336"/>
            <a:ext cx="5195937" cy="369332"/>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220" dirty="0">
                <a:solidFill>
                  <a:schemeClr val="accent6"/>
                </a:solidFill>
              </a:rPr>
              <a:t>When Is Your Software Reliable?</a:t>
            </a:r>
            <a:endParaRPr lang="en-US" sz="2400" kern="0" spc="-80" dirty="0">
              <a:solidFill>
                <a:schemeClr val="accent6"/>
              </a:solidFill>
            </a:endParaRPr>
          </a:p>
        </p:txBody>
      </p:sp>
      <p:sp>
        <p:nvSpPr>
          <p:cNvPr id="3" name="object 2">
            <a:extLst>
              <a:ext uri="{FF2B5EF4-FFF2-40B4-BE49-F238E27FC236}">
                <a16:creationId xmlns:a16="http://schemas.microsoft.com/office/drawing/2014/main" id="{664E5AFA-933B-F5D7-4B05-6E729B1E8C50}"/>
              </a:ext>
            </a:extLst>
          </p:cNvPr>
          <p:cNvSpPr txBox="1">
            <a:spLocks/>
          </p:cNvSpPr>
          <p:nvPr/>
        </p:nvSpPr>
        <p:spPr>
          <a:xfrm>
            <a:off x="366663" y="3440668"/>
            <a:ext cx="5228594" cy="369332"/>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220" dirty="0">
                <a:solidFill>
                  <a:schemeClr val="accent6"/>
                </a:solidFill>
              </a:rPr>
              <a:t> How To Make Your Software Reliable?</a:t>
            </a:r>
            <a:endParaRPr lang="en-US" sz="2400" kern="0" spc="-80" dirty="0">
              <a:solidFill>
                <a:schemeClr val="accent6"/>
              </a:solidFill>
            </a:endParaRPr>
          </a:p>
        </p:txBody>
      </p:sp>
    </p:spTree>
    <p:extLst>
      <p:ext uri="{BB962C8B-B14F-4D97-AF65-F5344CB8AC3E}">
        <p14:creationId xmlns:p14="http://schemas.microsoft.com/office/powerpoint/2010/main" val="381904334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p:nvPr/>
        </p:nvSpPr>
        <p:spPr>
          <a:xfrm>
            <a:off x="1756803" y="19050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p:cNvSpPr/>
          <p:nvPr/>
        </p:nvSpPr>
        <p:spPr>
          <a:xfrm>
            <a:off x="1756803" y="1752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226DC635-E9B3-0133-0548-37B556605D82}"/>
              </a:ext>
            </a:extLst>
          </p:cNvPr>
          <p:cNvGraphicFramePr/>
          <p:nvPr>
            <p:extLst>
              <p:ext uri="{D42A27DB-BD31-4B8C-83A1-F6EECF244321}">
                <p14:modId xmlns:p14="http://schemas.microsoft.com/office/powerpoint/2010/main" val="1014046510"/>
              </p:ext>
            </p:extLst>
          </p:nvPr>
        </p:nvGraphicFramePr>
        <p:xfrm>
          <a:off x="228600" y="0"/>
          <a:ext cx="4982500" cy="232151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7" name="object 2">
            <a:extLst>
              <a:ext uri="{FF2B5EF4-FFF2-40B4-BE49-F238E27FC236}">
                <a16:creationId xmlns:a16="http://schemas.microsoft.com/office/drawing/2014/main" id="{B520FB4B-6F38-5D4B-41A0-32E78E06B7C3}"/>
              </a:ext>
            </a:extLst>
          </p:cNvPr>
          <p:cNvSpPr txBox="1">
            <a:spLocks/>
          </p:cNvSpPr>
          <p:nvPr/>
        </p:nvSpPr>
        <p:spPr>
          <a:xfrm>
            <a:off x="442863" y="2309336"/>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220" dirty="0">
                <a:solidFill>
                  <a:schemeClr val="accent6"/>
                </a:solidFill>
              </a:rPr>
              <a:t>Your Software is Reliable when it’s well tested but then you need to make your software testable</a:t>
            </a:r>
            <a:endParaRPr lang="en-US" sz="2400" kern="0" spc="-80" dirty="0">
              <a:solidFill>
                <a:schemeClr val="accent6"/>
              </a:solidFill>
            </a:endParaRPr>
          </a:p>
        </p:txBody>
      </p:sp>
      <p:sp>
        <p:nvSpPr>
          <p:cNvPr id="8" name="object 2">
            <a:extLst>
              <a:ext uri="{FF2B5EF4-FFF2-40B4-BE49-F238E27FC236}">
                <a16:creationId xmlns:a16="http://schemas.microsoft.com/office/drawing/2014/main" id="{E5EF76FD-0192-0846-C06F-3F1C33143AF0}"/>
              </a:ext>
            </a:extLst>
          </p:cNvPr>
          <p:cNvSpPr txBox="1">
            <a:spLocks/>
          </p:cNvSpPr>
          <p:nvPr/>
        </p:nvSpPr>
        <p:spPr>
          <a:xfrm>
            <a:off x="442863" y="4214336"/>
            <a:ext cx="8243937" cy="369332"/>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220" dirty="0">
                <a:solidFill>
                  <a:schemeClr val="accent6"/>
                </a:solidFill>
              </a:rPr>
              <a:t>But How To Make Your Software Testable?</a:t>
            </a:r>
            <a:endParaRPr lang="en-US" sz="2400" kern="0" spc="-80" dirty="0">
              <a:solidFill>
                <a:schemeClr val="accent6"/>
              </a:solidFill>
            </a:endParaRPr>
          </a:p>
        </p:txBody>
      </p:sp>
    </p:spTree>
    <p:extLst>
      <p:ext uri="{BB962C8B-B14F-4D97-AF65-F5344CB8AC3E}">
        <p14:creationId xmlns:p14="http://schemas.microsoft.com/office/powerpoint/2010/main" val="207408331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p:nvPr/>
        </p:nvSpPr>
        <p:spPr>
          <a:xfrm>
            <a:off x="1756803" y="19050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p:cNvSpPr/>
          <p:nvPr/>
        </p:nvSpPr>
        <p:spPr>
          <a:xfrm>
            <a:off x="1756803" y="1752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226DC635-E9B3-0133-0548-37B556605D82}"/>
              </a:ext>
            </a:extLst>
          </p:cNvPr>
          <p:cNvGraphicFramePr/>
          <p:nvPr/>
        </p:nvGraphicFramePr>
        <p:xfrm>
          <a:off x="228600" y="0"/>
          <a:ext cx="4982500" cy="232151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9" name="object 2">
            <a:extLst>
              <a:ext uri="{FF2B5EF4-FFF2-40B4-BE49-F238E27FC236}">
                <a16:creationId xmlns:a16="http://schemas.microsoft.com/office/drawing/2014/main" id="{D3280730-D0CC-0C8E-2194-BFC85719FAF0}"/>
              </a:ext>
            </a:extLst>
          </p:cNvPr>
          <p:cNvSpPr txBox="1">
            <a:spLocks/>
          </p:cNvSpPr>
          <p:nvPr/>
        </p:nvSpPr>
        <p:spPr>
          <a:xfrm>
            <a:off x="442863" y="2233136"/>
            <a:ext cx="71771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220" dirty="0">
                <a:solidFill>
                  <a:schemeClr val="accent6"/>
                </a:solidFill>
              </a:rPr>
              <a:t>Your Software is made (unit) testable using DI(Dependency Injection)</a:t>
            </a:r>
            <a:endParaRPr lang="en-US" sz="2400" kern="0" spc="-80" dirty="0">
              <a:solidFill>
                <a:schemeClr val="accent6"/>
              </a:solidFill>
            </a:endParaRPr>
          </a:p>
        </p:txBody>
      </p:sp>
      <p:sp>
        <p:nvSpPr>
          <p:cNvPr id="10" name="object 2">
            <a:extLst>
              <a:ext uri="{FF2B5EF4-FFF2-40B4-BE49-F238E27FC236}">
                <a16:creationId xmlns:a16="http://schemas.microsoft.com/office/drawing/2014/main" id="{D338FFD9-147A-3CB5-CA12-CDBC4DE5F4DD}"/>
              </a:ext>
            </a:extLst>
          </p:cNvPr>
          <p:cNvSpPr txBox="1">
            <a:spLocks/>
          </p:cNvSpPr>
          <p:nvPr/>
        </p:nvSpPr>
        <p:spPr>
          <a:xfrm>
            <a:off x="457200" y="3593068"/>
            <a:ext cx="5195937" cy="369332"/>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220" dirty="0">
                <a:solidFill>
                  <a:schemeClr val="accent6"/>
                </a:solidFill>
              </a:rPr>
              <a:t>What are Mocks, Stubs &amp; Fakes?</a:t>
            </a:r>
            <a:endParaRPr lang="en-US" sz="2400" kern="0" spc="-80" dirty="0">
              <a:solidFill>
                <a:schemeClr val="accent6"/>
              </a:solidFill>
            </a:endParaRPr>
          </a:p>
        </p:txBody>
      </p:sp>
    </p:spTree>
    <p:extLst>
      <p:ext uri="{BB962C8B-B14F-4D97-AF65-F5344CB8AC3E}">
        <p14:creationId xmlns:p14="http://schemas.microsoft.com/office/powerpoint/2010/main" val="130279013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p:nvPr/>
        </p:nvSpPr>
        <p:spPr>
          <a:xfrm>
            <a:off x="1756803" y="19050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p:cNvSpPr/>
          <p:nvPr/>
        </p:nvSpPr>
        <p:spPr>
          <a:xfrm>
            <a:off x="1756803" y="1752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226DC635-E9B3-0133-0548-37B556605D82}"/>
              </a:ext>
            </a:extLst>
          </p:cNvPr>
          <p:cNvGraphicFramePr/>
          <p:nvPr>
            <p:extLst>
              <p:ext uri="{D42A27DB-BD31-4B8C-83A1-F6EECF244321}">
                <p14:modId xmlns:p14="http://schemas.microsoft.com/office/powerpoint/2010/main" val="2610551000"/>
              </p:ext>
            </p:extLst>
          </p:nvPr>
        </p:nvGraphicFramePr>
        <p:xfrm>
          <a:off x="228600" y="-76200"/>
          <a:ext cx="4982500" cy="239771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object 2">
            <a:extLst>
              <a:ext uri="{FF2B5EF4-FFF2-40B4-BE49-F238E27FC236}">
                <a16:creationId xmlns:a16="http://schemas.microsoft.com/office/drawing/2014/main" id="{2A85007D-85CB-9E07-C8E3-8F9AA3212E64}"/>
              </a:ext>
            </a:extLst>
          </p:cNvPr>
          <p:cNvSpPr txBox="1">
            <a:spLocks/>
          </p:cNvSpPr>
          <p:nvPr/>
        </p:nvSpPr>
        <p:spPr>
          <a:xfrm>
            <a:off x="442863" y="1981200"/>
            <a:ext cx="481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220" dirty="0">
                <a:solidFill>
                  <a:schemeClr val="accent6"/>
                </a:solidFill>
              </a:rPr>
              <a:t>Mocks Aren’t Stubs</a:t>
            </a:r>
          </a:p>
          <a:p>
            <a:pPr marL="12700" marR="5080"/>
            <a:r>
              <a:rPr lang="en-US" sz="2400" kern="0" spc="-220" dirty="0">
                <a:solidFill>
                  <a:schemeClr val="accent6"/>
                </a:solidFill>
              </a:rPr>
              <a:t> </a:t>
            </a:r>
            <a:endParaRPr lang="en-US" sz="2400" kern="0" spc="-80" dirty="0">
              <a:solidFill>
                <a:schemeClr val="accent6"/>
              </a:solidFill>
            </a:endParaRPr>
          </a:p>
        </p:txBody>
      </p:sp>
      <p:graphicFrame>
        <p:nvGraphicFramePr>
          <p:cNvPr id="3" name="Table 2">
            <a:extLst>
              <a:ext uri="{FF2B5EF4-FFF2-40B4-BE49-F238E27FC236}">
                <a16:creationId xmlns:a16="http://schemas.microsoft.com/office/drawing/2014/main" id="{2A4AB218-F351-4CA4-AE78-37FF55105AEE}"/>
              </a:ext>
            </a:extLst>
          </p:cNvPr>
          <p:cNvGraphicFramePr>
            <a:graphicFrameLocks noGrp="1"/>
          </p:cNvGraphicFramePr>
          <p:nvPr>
            <p:extLst>
              <p:ext uri="{D42A27DB-BD31-4B8C-83A1-F6EECF244321}">
                <p14:modId xmlns:p14="http://schemas.microsoft.com/office/powerpoint/2010/main" val="3205282619"/>
              </p:ext>
            </p:extLst>
          </p:nvPr>
        </p:nvGraphicFramePr>
        <p:xfrm>
          <a:off x="457200" y="2285999"/>
          <a:ext cx="7315200" cy="2103120"/>
        </p:xfrm>
        <a:graphic>
          <a:graphicData uri="http://schemas.openxmlformats.org/drawingml/2006/table">
            <a:tbl>
              <a:tblPr firstRow="1" bandRow="1">
                <a:tableStyleId>{5C22544A-7EE6-4342-B048-85BDC9FD1C3A}</a:tableStyleId>
              </a:tblPr>
              <a:tblGrid>
                <a:gridCol w="2438400">
                  <a:extLst>
                    <a:ext uri="{9D8B030D-6E8A-4147-A177-3AD203B41FA5}">
                      <a16:colId xmlns:a16="http://schemas.microsoft.com/office/drawing/2014/main" val="3139777760"/>
                    </a:ext>
                  </a:extLst>
                </a:gridCol>
                <a:gridCol w="2438400">
                  <a:extLst>
                    <a:ext uri="{9D8B030D-6E8A-4147-A177-3AD203B41FA5}">
                      <a16:colId xmlns:a16="http://schemas.microsoft.com/office/drawing/2014/main" val="3749877404"/>
                    </a:ext>
                  </a:extLst>
                </a:gridCol>
                <a:gridCol w="2438400">
                  <a:extLst>
                    <a:ext uri="{9D8B030D-6E8A-4147-A177-3AD203B41FA5}">
                      <a16:colId xmlns:a16="http://schemas.microsoft.com/office/drawing/2014/main" val="3899027352"/>
                    </a:ext>
                  </a:extLst>
                </a:gridCol>
              </a:tblGrid>
              <a:tr h="339595">
                <a:tc>
                  <a:txBody>
                    <a:bodyPr/>
                    <a:lstStyle/>
                    <a:p>
                      <a:r>
                        <a:rPr lang="en-US" dirty="0"/>
                        <a:t>Mocks</a:t>
                      </a:r>
                      <a:endParaRPr lang="en-IN" dirty="0"/>
                    </a:p>
                  </a:txBody>
                  <a:tcPr/>
                </a:tc>
                <a:tc>
                  <a:txBody>
                    <a:bodyPr/>
                    <a:lstStyle/>
                    <a:p>
                      <a:r>
                        <a:rPr lang="en-US" dirty="0"/>
                        <a:t>Stubs</a:t>
                      </a:r>
                      <a:endParaRPr lang="en-IN" dirty="0"/>
                    </a:p>
                  </a:txBody>
                  <a:tcPr/>
                </a:tc>
                <a:tc>
                  <a:txBody>
                    <a:bodyPr/>
                    <a:lstStyle/>
                    <a:p>
                      <a:r>
                        <a:rPr lang="en-US" dirty="0"/>
                        <a:t>Fakes</a:t>
                      </a:r>
                      <a:endParaRPr lang="en-IN" dirty="0"/>
                    </a:p>
                  </a:txBody>
                  <a:tcPr/>
                </a:tc>
                <a:extLst>
                  <a:ext uri="{0D108BD9-81ED-4DB2-BD59-A6C34878D82A}">
                    <a16:rowId xmlns:a16="http://schemas.microsoft.com/office/drawing/2014/main" val="83875761"/>
                  </a:ext>
                </a:extLst>
              </a:tr>
              <a:tr h="1613076">
                <a:tc>
                  <a:txBody>
                    <a:bodyPr/>
                    <a:lstStyle/>
                    <a:p>
                      <a:r>
                        <a:rPr lang="en-US" dirty="0"/>
                        <a:t>Mainly used to mock methods having return types</a:t>
                      </a:r>
                      <a:endParaRPr lang="en-IN" dirty="0"/>
                    </a:p>
                  </a:txBody>
                  <a:tcPr/>
                </a:tc>
                <a:tc>
                  <a:txBody>
                    <a:bodyPr/>
                    <a:lstStyle/>
                    <a:p>
                      <a:r>
                        <a:rPr lang="en-US" dirty="0"/>
                        <a:t>Mainly used to mock methods having no return </a:t>
                      </a:r>
                      <a:r>
                        <a:rPr lang="en-US"/>
                        <a:t>type(i.e. </a:t>
                      </a:r>
                      <a:r>
                        <a:rPr lang="en-US" dirty="0"/>
                        <a:t>void)</a:t>
                      </a:r>
                      <a:endParaRPr lang="en-IN" dirty="0"/>
                    </a:p>
                  </a:txBody>
                  <a:tcPr/>
                </a:tc>
                <a:tc>
                  <a:txBody>
                    <a:bodyPr/>
                    <a:lstStyle/>
                    <a:p>
                      <a:r>
                        <a:rPr lang="en-US" dirty="0"/>
                        <a:t>Mainly used to create fake objects/data that can serve as input(/output) to(/from) some function</a:t>
                      </a:r>
                      <a:endParaRPr lang="en-IN" dirty="0"/>
                    </a:p>
                  </a:txBody>
                  <a:tcPr/>
                </a:tc>
                <a:extLst>
                  <a:ext uri="{0D108BD9-81ED-4DB2-BD59-A6C34878D82A}">
                    <a16:rowId xmlns:a16="http://schemas.microsoft.com/office/drawing/2014/main" val="1842472014"/>
                  </a:ext>
                </a:extLst>
              </a:tr>
            </a:tbl>
          </a:graphicData>
        </a:graphic>
      </p:graphicFrame>
      <p:sp>
        <p:nvSpPr>
          <p:cNvPr id="7" name="object 2">
            <a:extLst>
              <a:ext uri="{FF2B5EF4-FFF2-40B4-BE49-F238E27FC236}">
                <a16:creationId xmlns:a16="http://schemas.microsoft.com/office/drawing/2014/main" id="{1683882C-B266-61B6-0D35-D4C11693B26C}"/>
              </a:ext>
            </a:extLst>
          </p:cNvPr>
          <p:cNvSpPr txBox="1">
            <a:spLocks/>
          </p:cNvSpPr>
          <p:nvPr/>
        </p:nvSpPr>
        <p:spPr>
          <a:xfrm>
            <a:off x="457200" y="4572000"/>
            <a:ext cx="5195937" cy="1477328"/>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220" dirty="0">
                <a:solidFill>
                  <a:schemeClr val="accent2"/>
                </a:solidFill>
              </a:rPr>
              <a:t>AAA Pattern </a:t>
            </a:r>
          </a:p>
          <a:p>
            <a:pPr marL="12700" marR="5080"/>
            <a:r>
              <a:rPr lang="en-US" sz="2400" kern="0" spc="-220" dirty="0">
                <a:solidFill>
                  <a:schemeClr val="accent6"/>
                </a:solidFill>
              </a:rPr>
              <a:t>   Arrange </a:t>
            </a:r>
          </a:p>
          <a:p>
            <a:pPr marL="12700" marR="5080"/>
            <a:r>
              <a:rPr lang="en-US" sz="2400" kern="0" spc="-220" dirty="0">
                <a:solidFill>
                  <a:schemeClr val="accent6"/>
                </a:solidFill>
              </a:rPr>
              <a:t>   Act</a:t>
            </a:r>
          </a:p>
          <a:p>
            <a:pPr marL="12700" marR="5080"/>
            <a:r>
              <a:rPr lang="en-US" sz="2400" kern="0" spc="-220" dirty="0">
                <a:solidFill>
                  <a:schemeClr val="accent6"/>
                </a:solidFill>
              </a:rPr>
              <a:t>   Assert</a:t>
            </a:r>
            <a:endParaRPr lang="en-US" sz="2400" kern="0" spc="-80" dirty="0">
              <a:solidFill>
                <a:schemeClr val="accent6"/>
              </a:solidFill>
            </a:endParaRPr>
          </a:p>
        </p:txBody>
      </p:sp>
    </p:spTree>
    <p:extLst>
      <p:ext uri="{BB962C8B-B14F-4D97-AF65-F5344CB8AC3E}">
        <p14:creationId xmlns:p14="http://schemas.microsoft.com/office/powerpoint/2010/main" val="252001847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p:nvPr/>
        </p:nvSpPr>
        <p:spPr>
          <a:xfrm>
            <a:off x="1756803" y="15240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p:cNvSpPr/>
          <p:nvPr/>
        </p:nvSpPr>
        <p:spPr>
          <a:xfrm>
            <a:off x="1756803" y="1371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226DC635-E9B3-0133-0548-37B556605D82}"/>
              </a:ext>
            </a:extLst>
          </p:cNvPr>
          <p:cNvGraphicFramePr/>
          <p:nvPr>
            <p:extLst>
              <p:ext uri="{D42A27DB-BD31-4B8C-83A1-F6EECF244321}">
                <p14:modId xmlns:p14="http://schemas.microsoft.com/office/powerpoint/2010/main" val="3931998339"/>
              </p:ext>
            </p:extLst>
          </p:nvPr>
        </p:nvGraphicFramePr>
        <p:xfrm>
          <a:off x="228600" y="40688"/>
          <a:ext cx="4982500" cy="1621306"/>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8" name="object 2">
            <a:extLst>
              <a:ext uri="{FF2B5EF4-FFF2-40B4-BE49-F238E27FC236}">
                <a16:creationId xmlns:a16="http://schemas.microsoft.com/office/drawing/2014/main" id="{CA08C2B3-9F6B-87F7-CADB-8F2CE95F1656}"/>
              </a:ext>
            </a:extLst>
          </p:cNvPr>
          <p:cNvSpPr txBox="1">
            <a:spLocks/>
          </p:cNvSpPr>
          <p:nvPr/>
        </p:nvSpPr>
        <p:spPr>
          <a:xfrm>
            <a:off x="381000" y="1752600"/>
            <a:ext cx="8458200" cy="1661993"/>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220" dirty="0">
                <a:solidFill>
                  <a:schemeClr val="accent2"/>
                </a:solidFill>
              </a:rPr>
              <a:t>Life Before </a:t>
            </a:r>
            <a:r>
              <a:rPr lang="en-US" sz="2400" kern="0" spc="-220" dirty="0" err="1">
                <a:solidFill>
                  <a:schemeClr val="accent2"/>
                </a:solidFill>
              </a:rPr>
              <a:t>AutoFixture</a:t>
            </a:r>
            <a:endParaRPr lang="en-US" sz="2400" kern="0" spc="-220" dirty="0">
              <a:solidFill>
                <a:schemeClr val="accent2"/>
              </a:solidFill>
            </a:endParaRPr>
          </a:p>
          <a:p>
            <a:pPr marL="12700" marR="5080"/>
            <a:r>
              <a:rPr lang="en-US" sz="2400" kern="0" spc="-220" dirty="0">
                <a:solidFill>
                  <a:schemeClr val="accent6"/>
                </a:solidFill>
              </a:rPr>
              <a:t>  </a:t>
            </a:r>
            <a:r>
              <a:rPr lang="en-US" sz="2000" kern="0" spc="-220" dirty="0">
                <a:solidFill>
                  <a:schemeClr val="accent6"/>
                </a:solidFill>
              </a:rPr>
              <a:t>- Lots of Boilerplate code(mainly in Arrange Part)</a:t>
            </a:r>
          </a:p>
          <a:p>
            <a:pPr marL="12700" marR="5080"/>
            <a:r>
              <a:rPr lang="en-US" sz="2000" kern="0" spc="-220" dirty="0">
                <a:solidFill>
                  <a:schemeClr val="accent6"/>
                </a:solidFill>
              </a:rPr>
              <a:t>   - </a:t>
            </a:r>
            <a:r>
              <a:rPr lang="en-US" sz="2000" kern="0" spc="-220" dirty="0" err="1">
                <a:solidFill>
                  <a:schemeClr val="accent6"/>
                </a:solidFill>
              </a:rPr>
              <a:t>BoilerPlate</a:t>
            </a:r>
            <a:r>
              <a:rPr lang="en-US" sz="2000" kern="0" spc="-220" dirty="0">
                <a:solidFill>
                  <a:schemeClr val="accent6"/>
                </a:solidFill>
              </a:rPr>
              <a:t> code example</a:t>
            </a:r>
          </a:p>
          <a:p>
            <a:pPr marL="12700" marR="5080"/>
            <a:r>
              <a:rPr lang="en-US" sz="2000" kern="0" spc="-220" dirty="0">
                <a:solidFill>
                  <a:schemeClr val="accent6"/>
                </a:solidFill>
              </a:rPr>
              <a:t>     </a:t>
            </a:r>
            <a:r>
              <a:rPr lang="en-IN" sz="1200" dirty="0">
                <a:hlinkClick r:id="rId7"/>
              </a:rPr>
              <a:t>DDD-Based-Enterprise-Application-Framework/</a:t>
            </a:r>
            <a:r>
              <a:rPr lang="en-IN" sz="1200" dirty="0" err="1">
                <a:hlinkClick r:id="rId7"/>
              </a:rPr>
              <a:t>Testing.Repository</a:t>
            </a:r>
            <a:r>
              <a:rPr lang="en-IN" sz="1200" dirty="0">
                <a:hlinkClick r:id="rId7"/>
              </a:rPr>
              <a:t>/</a:t>
            </a:r>
            <a:r>
              <a:rPr lang="en-IN" sz="1200" dirty="0" err="1">
                <a:hlinkClick r:id="rId7"/>
              </a:rPr>
              <a:t>EFRespositoryAndUnitOfWorkTest.cs</a:t>
            </a:r>
            <a:r>
              <a:rPr lang="en-IN" sz="1200" dirty="0">
                <a:hlinkClick r:id="rId7"/>
              </a:rPr>
              <a:t> at master · sandipray63in/DDD-Based-Enterprise-Application-Framework · GitHub</a:t>
            </a:r>
            <a:r>
              <a:rPr lang="en-IN" sz="1200" dirty="0"/>
              <a:t> </a:t>
            </a:r>
            <a:r>
              <a:rPr lang="en-US" sz="2000" kern="0" spc="-220" dirty="0">
                <a:solidFill>
                  <a:schemeClr val="accent6"/>
                </a:solidFill>
              </a:rPr>
              <a:t>  </a:t>
            </a:r>
            <a:endParaRPr lang="en-US" sz="2000" kern="0" spc="-80" dirty="0">
              <a:solidFill>
                <a:schemeClr val="accent6"/>
              </a:solidFill>
            </a:endParaRPr>
          </a:p>
        </p:txBody>
      </p:sp>
      <p:sp>
        <p:nvSpPr>
          <p:cNvPr id="9" name="object 2">
            <a:extLst>
              <a:ext uri="{FF2B5EF4-FFF2-40B4-BE49-F238E27FC236}">
                <a16:creationId xmlns:a16="http://schemas.microsoft.com/office/drawing/2014/main" id="{71336B18-089D-FDBB-74C0-D1A3FEFE8E98}"/>
              </a:ext>
            </a:extLst>
          </p:cNvPr>
          <p:cNvSpPr txBox="1">
            <a:spLocks/>
          </p:cNvSpPr>
          <p:nvPr/>
        </p:nvSpPr>
        <p:spPr>
          <a:xfrm>
            <a:off x="381000" y="4114800"/>
            <a:ext cx="8305800" cy="1354217"/>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220" dirty="0">
                <a:solidFill>
                  <a:schemeClr val="accent2"/>
                </a:solidFill>
              </a:rPr>
              <a:t>Life After </a:t>
            </a:r>
            <a:r>
              <a:rPr lang="en-US" sz="2400" kern="0" spc="-220" dirty="0" err="1">
                <a:solidFill>
                  <a:schemeClr val="accent2"/>
                </a:solidFill>
              </a:rPr>
              <a:t>AutoFixture</a:t>
            </a:r>
            <a:endParaRPr lang="en-US" sz="2400" kern="0" spc="-220" dirty="0">
              <a:solidFill>
                <a:schemeClr val="accent2"/>
              </a:solidFill>
            </a:endParaRPr>
          </a:p>
          <a:p>
            <a:pPr marL="12700" marR="5080"/>
            <a:r>
              <a:rPr lang="en-US" sz="2400" kern="0" spc="-220" dirty="0">
                <a:solidFill>
                  <a:schemeClr val="accent6"/>
                </a:solidFill>
              </a:rPr>
              <a:t>  </a:t>
            </a:r>
            <a:r>
              <a:rPr lang="en-US" sz="2000" kern="0" spc="-220" dirty="0">
                <a:solidFill>
                  <a:schemeClr val="accent6"/>
                </a:solidFill>
              </a:rPr>
              <a:t>-  Most of  the Boilerplate code handled automatically</a:t>
            </a:r>
          </a:p>
          <a:p>
            <a:pPr marL="12700" marR="5080"/>
            <a:r>
              <a:rPr lang="en-US" sz="2000" kern="0" spc="-220" dirty="0">
                <a:solidFill>
                  <a:schemeClr val="accent6"/>
                </a:solidFill>
              </a:rPr>
              <a:t>   </a:t>
            </a:r>
          </a:p>
          <a:p>
            <a:pPr marL="12700" marR="5080"/>
            <a:r>
              <a:rPr lang="en-US" sz="2000" kern="0" spc="-220" dirty="0">
                <a:solidFill>
                  <a:schemeClr val="accent6"/>
                </a:solidFill>
              </a:rPr>
              <a:t>      </a:t>
            </a:r>
            <a:endParaRPr lang="en-US" sz="2000" kern="0" spc="-80" dirty="0">
              <a:solidFill>
                <a:schemeClr val="accent6"/>
              </a:solidFill>
            </a:endParaRPr>
          </a:p>
        </p:txBody>
      </p:sp>
    </p:spTree>
    <p:extLst>
      <p:ext uri="{BB962C8B-B14F-4D97-AF65-F5344CB8AC3E}">
        <p14:creationId xmlns:p14="http://schemas.microsoft.com/office/powerpoint/2010/main" val="87181196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p:nvPr/>
        </p:nvSpPr>
        <p:spPr>
          <a:xfrm>
            <a:off x="1756803" y="15240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p:cNvSpPr/>
          <p:nvPr/>
        </p:nvSpPr>
        <p:spPr>
          <a:xfrm>
            <a:off x="1756803" y="1371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226DC635-E9B3-0133-0548-37B556605D82}"/>
              </a:ext>
            </a:extLst>
          </p:cNvPr>
          <p:cNvGraphicFramePr/>
          <p:nvPr/>
        </p:nvGraphicFramePr>
        <p:xfrm>
          <a:off x="228600" y="40688"/>
          <a:ext cx="4982500" cy="1621306"/>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object 2">
            <a:extLst>
              <a:ext uri="{FF2B5EF4-FFF2-40B4-BE49-F238E27FC236}">
                <a16:creationId xmlns:a16="http://schemas.microsoft.com/office/drawing/2014/main" id="{CF90CE24-D184-E4D5-D679-B975192E5CF5}"/>
              </a:ext>
            </a:extLst>
          </p:cNvPr>
          <p:cNvSpPr txBox="1">
            <a:spLocks/>
          </p:cNvSpPr>
          <p:nvPr/>
        </p:nvSpPr>
        <p:spPr>
          <a:xfrm>
            <a:off x="457200" y="1799273"/>
            <a:ext cx="5195937" cy="369332"/>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220" dirty="0">
                <a:solidFill>
                  <a:schemeClr val="accent2"/>
                </a:solidFill>
              </a:rPr>
              <a:t>What’s the Frozen Attribute?</a:t>
            </a:r>
            <a:endParaRPr lang="en-US" sz="2400" kern="0" spc="-80" dirty="0">
              <a:solidFill>
                <a:schemeClr val="accent2"/>
              </a:solidFill>
            </a:endParaRPr>
          </a:p>
        </p:txBody>
      </p:sp>
      <p:sp>
        <p:nvSpPr>
          <p:cNvPr id="3" name="object 2">
            <a:extLst>
              <a:ext uri="{FF2B5EF4-FFF2-40B4-BE49-F238E27FC236}">
                <a16:creationId xmlns:a16="http://schemas.microsoft.com/office/drawing/2014/main" id="{8D76551D-E8C4-435C-E74C-2F11A112311C}"/>
              </a:ext>
            </a:extLst>
          </p:cNvPr>
          <p:cNvSpPr txBox="1">
            <a:spLocks/>
          </p:cNvSpPr>
          <p:nvPr/>
        </p:nvSpPr>
        <p:spPr>
          <a:xfrm>
            <a:off x="381000" y="3399472"/>
            <a:ext cx="8458200" cy="1477328"/>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220" dirty="0">
                <a:solidFill>
                  <a:schemeClr val="accent6"/>
                </a:solidFill>
              </a:rPr>
              <a:t> - To whichever function parameter Frozen attribute is applied, that will act as a singleton instance. </a:t>
            </a:r>
          </a:p>
          <a:p>
            <a:pPr marL="12700" marR="5080"/>
            <a:r>
              <a:rPr lang="en-US" sz="2400" kern="0" spc="-220" dirty="0">
                <a:solidFill>
                  <a:schemeClr val="accent6"/>
                </a:solidFill>
              </a:rPr>
              <a:t> </a:t>
            </a:r>
          </a:p>
          <a:p>
            <a:pPr marL="12700" marR="5080"/>
            <a:r>
              <a:rPr lang="en-US" sz="2400" kern="0" spc="-220" dirty="0">
                <a:solidFill>
                  <a:schemeClr val="accent6"/>
                </a:solidFill>
              </a:rPr>
              <a:t> </a:t>
            </a:r>
            <a:endParaRPr lang="en-US" sz="2400" kern="0" spc="-80" dirty="0">
              <a:solidFill>
                <a:schemeClr val="accent6"/>
              </a:solidFill>
            </a:endParaRPr>
          </a:p>
        </p:txBody>
      </p:sp>
    </p:spTree>
    <p:extLst>
      <p:ext uri="{BB962C8B-B14F-4D97-AF65-F5344CB8AC3E}">
        <p14:creationId xmlns:p14="http://schemas.microsoft.com/office/powerpoint/2010/main" val="191015722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p:nvPr/>
        </p:nvSpPr>
        <p:spPr>
          <a:xfrm>
            <a:off x="1756803" y="12954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p:cNvSpPr/>
          <p:nvPr/>
        </p:nvSpPr>
        <p:spPr>
          <a:xfrm>
            <a:off x="1756803" y="11430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226DC635-E9B3-0133-0548-37B556605D82}"/>
              </a:ext>
            </a:extLst>
          </p:cNvPr>
          <p:cNvGraphicFramePr/>
          <p:nvPr>
            <p:extLst>
              <p:ext uri="{D42A27DB-BD31-4B8C-83A1-F6EECF244321}">
                <p14:modId xmlns:p14="http://schemas.microsoft.com/office/powerpoint/2010/main" val="2739978886"/>
              </p:ext>
            </p:extLst>
          </p:nvPr>
        </p:nvGraphicFramePr>
        <p:xfrm>
          <a:off x="228600" y="0"/>
          <a:ext cx="4982500" cy="1292176"/>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7" name="object 2">
            <a:extLst>
              <a:ext uri="{FF2B5EF4-FFF2-40B4-BE49-F238E27FC236}">
                <a16:creationId xmlns:a16="http://schemas.microsoft.com/office/drawing/2014/main" id="{9C970DBA-81FB-D5AE-C44E-DEDA1B8B824E}"/>
              </a:ext>
            </a:extLst>
          </p:cNvPr>
          <p:cNvSpPr txBox="1">
            <a:spLocks/>
          </p:cNvSpPr>
          <p:nvPr/>
        </p:nvSpPr>
        <p:spPr>
          <a:xfrm>
            <a:off x="457200" y="1447800"/>
            <a:ext cx="5195937" cy="369332"/>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220" dirty="0">
                <a:solidFill>
                  <a:schemeClr val="accent2"/>
                </a:solidFill>
              </a:rPr>
              <a:t>What’s the Substitute Attribute?</a:t>
            </a:r>
            <a:endParaRPr lang="en-US" sz="2400" kern="0" spc="-80" dirty="0">
              <a:solidFill>
                <a:schemeClr val="accent2"/>
              </a:solidFill>
            </a:endParaRPr>
          </a:p>
        </p:txBody>
      </p:sp>
      <p:sp>
        <p:nvSpPr>
          <p:cNvPr id="8" name="object 2">
            <a:extLst>
              <a:ext uri="{FF2B5EF4-FFF2-40B4-BE49-F238E27FC236}">
                <a16:creationId xmlns:a16="http://schemas.microsoft.com/office/drawing/2014/main" id="{4B77E709-3D53-DD31-7AF1-E3C94167CA42}"/>
              </a:ext>
            </a:extLst>
          </p:cNvPr>
          <p:cNvSpPr txBox="1">
            <a:spLocks/>
          </p:cNvSpPr>
          <p:nvPr/>
        </p:nvSpPr>
        <p:spPr>
          <a:xfrm>
            <a:off x="381000" y="1980486"/>
            <a:ext cx="8763000" cy="3693319"/>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220" dirty="0">
                <a:solidFill>
                  <a:schemeClr val="accent6"/>
                </a:solidFill>
              </a:rPr>
              <a:t>  </a:t>
            </a:r>
          </a:p>
          <a:p>
            <a:pPr marL="12700" marR="5080"/>
            <a:r>
              <a:rPr lang="en-US" sz="2400" kern="0" spc="-220" dirty="0">
                <a:solidFill>
                  <a:schemeClr val="accent6"/>
                </a:solidFill>
              </a:rPr>
              <a:t>  - When used </a:t>
            </a:r>
            <a:r>
              <a:rPr lang="en-US" sz="2400" kern="0" spc="-220" dirty="0" err="1">
                <a:solidFill>
                  <a:schemeClr val="accent6"/>
                </a:solidFill>
              </a:rPr>
              <a:t>alongwith</a:t>
            </a:r>
            <a:r>
              <a:rPr lang="en-US" sz="2400" kern="0" spc="-220" dirty="0">
                <a:solidFill>
                  <a:schemeClr val="accent6"/>
                </a:solidFill>
              </a:rPr>
              <a:t> </a:t>
            </a:r>
            <a:r>
              <a:rPr lang="en-US" sz="2400" kern="0" spc="-220" dirty="0" err="1">
                <a:solidFill>
                  <a:schemeClr val="accent6"/>
                </a:solidFill>
              </a:rPr>
              <a:t>AutoFixture</a:t>
            </a:r>
            <a:r>
              <a:rPr lang="en-US" sz="2400" kern="0" spc="-220" dirty="0">
                <a:solidFill>
                  <a:schemeClr val="accent6"/>
                </a:solidFill>
              </a:rPr>
              <a:t>, to whichever function </a:t>
            </a:r>
            <a:r>
              <a:rPr lang="en-US" sz="2400" kern="0" spc="-220">
                <a:solidFill>
                  <a:schemeClr val="accent6"/>
                </a:solidFill>
              </a:rPr>
              <a:t>parameter Substitute </a:t>
            </a:r>
            <a:r>
              <a:rPr lang="en-US" sz="2400" kern="0" spc="-220" dirty="0">
                <a:solidFill>
                  <a:schemeClr val="accent6"/>
                </a:solidFill>
              </a:rPr>
              <a:t>Attribute is applied, a mock object is created with default values for the state of the object</a:t>
            </a:r>
          </a:p>
          <a:p>
            <a:pPr marL="12700" marR="5080"/>
            <a:r>
              <a:rPr lang="en-US" sz="2400" kern="0" spc="-220" dirty="0">
                <a:solidFill>
                  <a:schemeClr val="accent6"/>
                </a:solidFill>
              </a:rPr>
              <a:t>  </a:t>
            </a:r>
          </a:p>
          <a:p>
            <a:pPr marL="12700" marR="5080"/>
            <a:r>
              <a:rPr lang="en-US" sz="2400" kern="0" spc="-220" dirty="0">
                <a:solidFill>
                  <a:schemeClr val="accent6"/>
                </a:solidFill>
              </a:rPr>
              <a:t>  - But the SUT(Subject Under Test) class should be the last parameter of the function &amp; all dependencies of that class should be declared before that.</a:t>
            </a:r>
          </a:p>
          <a:p>
            <a:pPr marL="12700" marR="5080"/>
            <a:r>
              <a:rPr lang="en-US" sz="2400" kern="0" spc="-220" dirty="0">
                <a:solidFill>
                  <a:schemeClr val="accent6"/>
                </a:solidFill>
              </a:rPr>
              <a:t>  </a:t>
            </a:r>
          </a:p>
          <a:p>
            <a:pPr marL="12700" marR="5080"/>
            <a:r>
              <a:rPr lang="en-US" sz="2400" kern="0" spc="-220" dirty="0">
                <a:solidFill>
                  <a:schemeClr val="accent6"/>
                </a:solidFill>
              </a:rPr>
              <a:t>  </a:t>
            </a:r>
            <a:endParaRPr lang="en-US" sz="2400" kern="0" spc="-80" dirty="0">
              <a:solidFill>
                <a:schemeClr val="accent6"/>
              </a:solidFill>
            </a:endParaRPr>
          </a:p>
        </p:txBody>
      </p:sp>
    </p:spTree>
    <p:extLst>
      <p:ext uri="{BB962C8B-B14F-4D97-AF65-F5344CB8AC3E}">
        <p14:creationId xmlns:p14="http://schemas.microsoft.com/office/powerpoint/2010/main" val="424832102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p:nvPr/>
        </p:nvSpPr>
        <p:spPr>
          <a:xfrm>
            <a:off x="1756803" y="15240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p:cNvSpPr/>
          <p:nvPr/>
        </p:nvSpPr>
        <p:spPr>
          <a:xfrm>
            <a:off x="1756803" y="1371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226DC635-E9B3-0133-0548-37B556605D82}"/>
              </a:ext>
            </a:extLst>
          </p:cNvPr>
          <p:cNvGraphicFramePr/>
          <p:nvPr>
            <p:extLst>
              <p:ext uri="{D42A27DB-BD31-4B8C-83A1-F6EECF244321}">
                <p14:modId xmlns:p14="http://schemas.microsoft.com/office/powerpoint/2010/main" val="1308349259"/>
              </p:ext>
            </p:extLst>
          </p:nvPr>
        </p:nvGraphicFramePr>
        <p:xfrm>
          <a:off x="228600" y="40688"/>
          <a:ext cx="4982500" cy="133091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object 2">
            <a:extLst>
              <a:ext uri="{FF2B5EF4-FFF2-40B4-BE49-F238E27FC236}">
                <a16:creationId xmlns:a16="http://schemas.microsoft.com/office/drawing/2014/main" id="{D92F1B33-55F2-497E-F00F-778666AF33D7}"/>
              </a:ext>
            </a:extLst>
          </p:cNvPr>
          <p:cNvSpPr txBox="1">
            <a:spLocks/>
          </p:cNvSpPr>
          <p:nvPr/>
        </p:nvSpPr>
        <p:spPr>
          <a:xfrm>
            <a:off x="457200" y="1905000"/>
            <a:ext cx="8458200" cy="1107996"/>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220" dirty="0">
                <a:solidFill>
                  <a:schemeClr val="accent6"/>
                </a:solidFill>
              </a:rPr>
              <a:t>The idea is to have an in-memory representation of the actual </a:t>
            </a:r>
            <a:r>
              <a:rPr lang="en-US" sz="2400" kern="0" spc="-220" dirty="0" err="1">
                <a:solidFill>
                  <a:schemeClr val="accent6"/>
                </a:solidFill>
              </a:rPr>
              <a:t>persistance</a:t>
            </a:r>
            <a:r>
              <a:rPr lang="en-US" sz="2400" b="0" kern="0" spc="-220" dirty="0">
                <a:solidFill>
                  <a:schemeClr val="accent6"/>
                </a:solidFill>
              </a:rPr>
              <a:t> </a:t>
            </a:r>
            <a:r>
              <a:rPr lang="en-US" sz="2400" kern="0" spc="-220" dirty="0">
                <a:solidFill>
                  <a:schemeClr val="accent6"/>
                </a:solidFill>
              </a:rPr>
              <a:t>store &amp; do CRUD operations over the in-memory </a:t>
            </a:r>
            <a:r>
              <a:rPr lang="en-US" sz="2400" kern="0" spc="-220" dirty="0" err="1">
                <a:solidFill>
                  <a:schemeClr val="accent6"/>
                </a:solidFill>
              </a:rPr>
              <a:t>persistance</a:t>
            </a:r>
            <a:endParaRPr lang="en-US" sz="2400" kern="0" spc="-220" dirty="0">
              <a:solidFill>
                <a:schemeClr val="accent6"/>
              </a:solidFill>
            </a:endParaRPr>
          </a:p>
        </p:txBody>
      </p:sp>
      <p:sp>
        <p:nvSpPr>
          <p:cNvPr id="7" name="object 2">
            <a:extLst>
              <a:ext uri="{FF2B5EF4-FFF2-40B4-BE49-F238E27FC236}">
                <a16:creationId xmlns:a16="http://schemas.microsoft.com/office/drawing/2014/main" id="{936B40A4-8738-A9BA-1647-DF3CAECE60BF}"/>
              </a:ext>
            </a:extLst>
          </p:cNvPr>
          <p:cNvSpPr txBox="1">
            <a:spLocks/>
          </p:cNvSpPr>
          <p:nvPr/>
        </p:nvSpPr>
        <p:spPr>
          <a:xfrm>
            <a:off x="519063" y="3976807"/>
            <a:ext cx="8396337" cy="1046440"/>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220" dirty="0">
                <a:solidFill>
                  <a:schemeClr val="accent2"/>
                </a:solidFill>
              </a:rPr>
              <a:t>EF </a:t>
            </a:r>
            <a:r>
              <a:rPr lang="en-US" sz="2400" kern="0" spc="-220" dirty="0" err="1">
                <a:solidFill>
                  <a:schemeClr val="accent2"/>
                </a:solidFill>
              </a:rPr>
              <a:t>Persistance</a:t>
            </a:r>
            <a:r>
              <a:rPr lang="en-US" sz="2400" kern="0" spc="-220" dirty="0">
                <a:solidFill>
                  <a:schemeClr val="accent2"/>
                </a:solidFill>
              </a:rPr>
              <a:t> Example</a:t>
            </a:r>
            <a:r>
              <a:rPr lang="en-US" sz="2400" kern="0" spc="-220" dirty="0">
                <a:solidFill>
                  <a:schemeClr val="tx2">
                    <a:lumMod val="60000"/>
                    <a:lumOff val="40000"/>
                  </a:schemeClr>
                </a:solidFill>
              </a:rPr>
              <a:t> </a:t>
            </a:r>
          </a:p>
          <a:p>
            <a:pPr marL="12700" marR="5080"/>
            <a:r>
              <a:rPr lang="en-US" sz="2000" kern="0" spc="-220" dirty="0">
                <a:solidFill>
                  <a:schemeClr val="accent6"/>
                </a:solidFill>
              </a:rPr>
              <a:t> </a:t>
            </a:r>
            <a:r>
              <a:rPr lang="en-IN" sz="1200" dirty="0">
                <a:hlinkClick r:id="rId7"/>
              </a:rPr>
              <a:t>DDD-Based-Enterprise-Application-Framework/</a:t>
            </a:r>
            <a:r>
              <a:rPr lang="en-IN" sz="1200" dirty="0" err="1">
                <a:hlinkClick r:id="rId7"/>
              </a:rPr>
              <a:t>Testing.Repository</a:t>
            </a:r>
            <a:r>
              <a:rPr lang="en-IN" sz="1200" dirty="0">
                <a:hlinkClick r:id="rId7"/>
              </a:rPr>
              <a:t>/</a:t>
            </a:r>
            <a:r>
              <a:rPr lang="en-IN" sz="1200" dirty="0" err="1">
                <a:hlinkClick r:id="rId7"/>
              </a:rPr>
              <a:t>App.config</a:t>
            </a:r>
            <a:r>
              <a:rPr lang="en-IN" sz="1200" dirty="0">
                <a:hlinkClick r:id="rId7"/>
              </a:rPr>
              <a:t> at master · sandipray63in/DDD-Based-Enterprise-Application-Framework · GitHub</a:t>
            </a:r>
            <a:r>
              <a:rPr lang="en-US" sz="2400" b="0" kern="0" spc="-220" dirty="0">
                <a:solidFill>
                  <a:schemeClr val="accent6"/>
                </a:solidFill>
              </a:rPr>
              <a:t> </a:t>
            </a:r>
            <a:endParaRPr lang="en-US" sz="2400" b="0" kern="0" spc="-80" dirty="0">
              <a:solidFill>
                <a:schemeClr val="accent6"/>
              </a:solidFill>
            </a:endParaRPr>
          </a:p>
        </p:txBody>
      </p:sp>
    </p:spTree>
    <p:extLst>
      <p:ext uri="{BB962C8B-B14F-4D97-AF65-F5344CB8AC3E}">
        <p14:creationId xmlns:p14="http://schemas.microsoft.com/office/powerpoint/2010/main" val="283285273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p:nvPr/>
        </p:nvSpPr>
        <p:spPr>
          <a:xfrm>
            <a:off x="1756803" y="15240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p:cNvSpPr/>
          <p:nvPr/>
        </p:nvSpPr>
        <p:spPr>
          <a:xfrm>
            <a:off x="1756803" y="1371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226DC635-E9B3-0133-0548-37B556605D82}"/>
              </a:ext>
            </a:extLst>
          </p:cNvPr>
          <p:cNvGraphicFramePr/>
          <p:nvPr/>
        </p:nvGraphicFramePr>
        <p:xfrm>
          <a:off x="228600" y="40688"/>
          <a:ext cx="4982500" cy="133091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3" name="object 2">
            <a:extLst>
              <a:ext uri="{FF2B5EF4-FFF2-40B4-BE49-F238E27FC236}">
                <a16:creationId xmlns:a16="http://schemas.microsoft.com/office/drawing/2014/main" id="{248D408B-A4D3-9D3C-49D4-193DDCBACC6D}"/>
              </a:ext>
            </a:extLst>
          </p:cNvPr>
          <p:cNvSpPr txBox="1">
            <a:spLocks/>
          </p:cNvSpPr>
          <p:nvPr/>
        </p:nvSpPr>
        <p:spPr>
          <a:xfrm>
            <a:off x="457200" y="2209800"/>
            <a:ext cx="8382000" cy="178510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220" dirty="0">
                <a:solidFill>
                  <a:schemeClr val="accent2"/>
                </a:solidFill>
              </a:rPr>
              <a:t>Some Other Examples</a:t>
            </a:r>
          </a:p>
          <a:p>
            <a:pPr marL="12700" marR="5080"/>
            <a:r>
              <a:rPr lang="en-US" sz="2000" kern="0" spc="-220" dirty="0">
                <a:solidFill>
                  <a:schemeClr val="accent6"/>
                </a:solidFill>
              </a:rPr>
              <a:t>  </a:t>
            </a:r>
            <a:r>
              <a:rPr lang="en-US" sz="2400" kern="0" spc="-220" dirty="0">
                <a:solidFill>
                  <a:schemeClr val="accent6"/>
                </a:solidFill>
              </a:rPr>
              <a:t>To mock CRM </a:t>
            </a:r>
            <a:r>
              <a:rPr lang="en-US" sz="2400" kern="0" spc="-220" dirty="0" err="1">
                <a:solidFill>
                  <a:schemeClr val="accent6"/>
                </a:solidFill>
              </a:rPr>
              <a:t>IOrganizationService</a:t>
            </a:r>
            <a:r>
              <a:rPr lang="en-US" sz="2400" kern="0" spc="-220" dirty="0">
                <a:solidFill>
                  <a:schemeClr val="accent6"/>
                </a:solidFill>
              </a:rPr>
              <a:t>, can use - </a:t>
            </a:r>
          </a:p>
          <a:p>
            <a:pPr marL="12700" marR="5080"/>
            <a:r>
              <a:rPr lang="en-US" sz="2400" kern="0" spc="-220" dirty="0">
                <a:solidFill>
                  <a:schemeClr val="accent6"/>
                </a:solidFill>
              </a:rPr>
              <a:t>  </a:t>
            </a:r>
            <a:r>
              <a:rPr lang="en-US" sz="2400" kern="0" spc="-220" dirty="0" err="1">
                <a:solidFill>
                  <a:schemeClr val="accent6"/>
                </a:solidFill>
              </a:rPr>
              <a:t>FakeXRMEasy</a:t>
            </a:r>
            <a:r>
              <a:rPr lang="en-US" sz="2400" kern="0" spc="-220" dirty="0">
                <a:solidFill>
                  <a:schemeClr val="accent6"/>
                </a:solidFill>
              </a:rPr>
              <a:t> (but that’s now paid)</a:t>
            </a:r>
          </a:p>
          <a:p>
            <a:pPr marL="12700" marR="5080"/>
            <a:r>
              <a:rPr lang="en-US" sz="2400" kern="0" spc="-220" dirty="0">
                <a:solidFill>
                  <a:schemeClr val="accent6"/>
                </a:solidFill>
              </a:rPr>
              <a:t>  </a:t>
            </a:r>
            <a:r>
              <a:rPr lang="en-US" sz="2400" kern="0" spc="-220" dirty="0" err="1">
                <a:solidFill>
                  <a:schemeClr val="accent6"/>
                </a:solidFill>
              </a:rPr>
              <a:t>XrmUnitTest</a:t>
            </a:r>
            <a:r>
              <a:rPr lang="en-US" sz="2400" kern="0" spc="-220" dirty="0">
                <a:solidFill>
                  <a:schemeClr val="accent6"/>
                </a:solidFill>
              </a:rPr>
              <a:t> (free Open Source alternative)</a:t>
            </a:r>
          </a:p>
          <a:p>
            <a:pPr marL="12700" marR="5080"/>
            <a:r>
              <a:rPr lang="en-US" sz="2000" b="0" kern="0" spc="-220" dirty="0">
                <a:solidFill>
                  <a:schemeClr val="accent6"/>
                </a:solidFill>
              </a:rPr>
              <a:t>   </a:t>
            </a:r>
            <a:r>
              <a:rPr lang="en-US" sz="1200" dirty="0">
                <a:hlinkClick r:id="rId7"/>
              </a:rPr>
              <a:t>GitHub - </a:t>
            </a:r>
            <a:r>
              <a:rPr lang="en-US" sz="1200" dirty="0" err="1">
                <a:hlinkClick r:id="rId7"/>
              </a:rPr>
              <a:t>daryllabar</a:t>
            </a:r>
            <a:r>
              <a:rPr lang="en-US" sz="1200" dirty="0">
                <a:hlinkClick r:id="rId7"/>
              </a:rPr>
              <a:t>/</a:t>
            </a:r>
            <a:r>
              <a:rPr lang="en-US" sz="1200" dirty="0" err="1">
                <a:hlinkClick r:id="rId7"/>
              </a:rPr>
              <a:t>XrmUnitTest</a:t>
            </a:r>
            <a:r>
              <a:rPr lang="en-US" sz="1200" dirty="0">
                <a:hlinkClick r:id="rId7"/>
              </a:rPr>
              <a:t>: </a:t>
            </a:r>
            <a:r>
              <a:rPr lang="en-US" sz="1200" dirty="0" err="1">
                <a:hlinkClick r:id="rId7"/>
              </a:rPr>
              <a:t>Xrm</a:t>
            </a:r>
            <a:r>
              <a:rPr lang="en-US" sz="1200" dirty="0">
                <a:hlinkClick r:id="rId7"/>
              </a:rPr>
              <a:t> Unit Testing Framework With "In Memory" CRM server</a:t>
            </a:r>
            <a:r>
              <a:rPr lang="en-US" sz="1200" dirty="0"/>
              <a:t> </a:t>
            </a:r>
            <a:endParaRPr lang="en-US" sz="2400" b="0" kern="0" spc="-80" dirty="0">
              <a:solidFill>
                <a:schemeClr val="accent6"/>
              </a:solidFill>
            </a:endParaRPr>
          </a:p>
        </p:txBody>
      </p:sp>
      <p:sp>
        <p:nvSpPr>
          <p:cNvPr id="2" name="object 2">
            <a:extLst>
              <a:ext uri="{FF2B5EF4-FFF2-40B4-BE49-F238E27FC236}">
                <a16:creationId xmlns:a16="http://schemas.microsoft.com/office/drawing/2014/main" id="{56B1588E-43A5-7A69-67CC-90FD0CE14336}"/>
              </a:ext>
            </a:extLst>
          </p:cNvPr>
          <p:cNvSpPr txBox="1">
            <a:spLocks/>
          </p:cNvSpPr>
          <p:nvPr/>
        </p:nvSpPr>
        <p:spPr>
          <a:xfrm>
            <a:off x="304800" y="4527828"/>
            <a:ext cx="8610600" cy="1015663"/>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220" dirty="0">
                <a:solidFill>
                  <a:schemeClr val="accent2"/>
                </a:solidFill>
              </a:rPr>
              <a:t>For Further Exploration</a:t>
            </a:r>
          </a:p>
          <a:p>
            <a:pPr marL="12700" marR="5080"/>
            <a:r>
              <a:rPr lang="en-IN" sz="1400" dirty="0">
                <a:hlinkClick r:id="rId8"/>
              </a:rPr>
              <a:t>Index at XUnitPatterns.com</a:t>
            </a:r>
            <a:r>
              <a:rPr lang="en-IN" sz="1400" dirty="0"/>
              <a:t> </a:t>
            </a:r>
            <a:r>
              <a:rPr lang="en-US" sz="1400" b="0" kern="0" spc="-220" dirty="0">
                <a:solidFill>
                  <a:schemeClr val="accent6"/>
                </a:solidFill>
              </a:rPr>
              <a:t>     </a:t>
            </a:r>
          </a:p>
          <a:p>
            <a:pPr marL="12700" marR="5080"/>
            <a:r>
              <a:rPr lang="en-US" sz="1400" kern="0" spc="-220" dirty="0">
                <a:solidFill>
                  <a:schemeClr val="accent6"/>
                </a:solidFill>
              </a:rPr>
              <a:t> </a:t>
            </a:r>
            <a:r>
              <a:rPr lang="en-US" sz="1400" dirty="0">
                <a:hlinkClick r:id="rId9"/>
              </a:rPr>
              <a:t>Parameterized Unit Tests in .NET 7 with </a:t>
            </a:r>
            <a:r>
              <a:rPr lang="en-US" sz="1400" dirty="0" err="1">
                <a:hlinkClick r:id="rId9"/>
              </a:rPr>
              <a:t>xUnit</a:t>
            </a:r>
            <a:r>
              <a:rPr lang="en-US" sz="1400" dirty="0">
                <a:hlinkClick r:id="rId9"/>
              </a:rPr>
              <a:t> | by Roko Kovač | Medium</a:t>
            </a:r>
            <a:endParaRPr lang="en-US" sz="1400" dirty="0"/>
          </a:p>
          <a:p>
            <a:pPr marL="12700" marR="5080"/>
            <a:r>
              <a:rPr lang="en-IN" sz="1400" dirty="0" err="1">
                <a:hlinkClick r:id="rId10"/>
              </a:rPr>
              <a:t>xUnit</a:t>
            </a:r>
            <a:r>
              <a:rPr lang="en-IN" sz="1400" dirty="0">
                <a:hlinkClick r:id="rId10"/>
              </a:rPr>
              <a:t> </a:t>
            </a:r>
            <a:r>
              <a:rPr lang="en-IN" sz="1400" dirty="0" err="1">
                <a:hlinkClick r:id="rId10"/>
              </a:rPr>
              <a:t>Autodata</a:t>
            </a:r>
            <a:r>
              <a:rPr lang="en-IN" sz="1400" dirty="0">
                <a:hlinkClick r:id="rId10"/>
              </a:rPr>
              <a:t> with </a:t>
            </a:r>
            <a:r>
              <a:rPr lang="en-IN" sz="1400" dirty="0" err="1">
                <a:hlinkClick r:id="rId10"/>
              </a:rPr>
              <a:t>autofixure</a:t>
            </a:r>
            <a:endParaRPr lang="en-US" sz="1400" kern="0" spc="-80" dirty="0">
              <a:solidFill>
                <a:schemeClr val="accent6"/>
              </a:solidFill>
            </a:endParaRPr>
          </a:p>
        </p:txBody>
      </p:sp>
    </p:spTree>
    <p:extLst>
      <p:ext uri="{BB962C8B-B14F-4D97-AF65-F5344CB8AC3E}">
        <p14:creationId xmlns:p14="http://schemas.microsoft.com/office/powerpoint/2010/main" val="346971040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113D32-7E01-D46A-6B97-C83759F54A81}"/>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B32F4922-E5FE-12F0-F64B-7D8D1DE7EF52}"/>
              </a:ext>
            </a:extLst>
          </p:cNvPr>
          <p:cNvSpPr/>
          <p:nvPr/>
        </p:nvSpPr>
        <p:spPr>
          <a:xfrm>
            <a:off x="1756801" y="907205"/>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ECB3C46A-346C-8D6A-5EAA-D4D9C05883DF}"/>
              </a:ext>
            </a:extLst>
          </p:cNvPr>
          <p:cNvSpPr/>
          <p:nvPr/>
        </p:nvSpPr>
        <p:spPr>
          <a:xfrm>
            <a:off x="1756801" y="759596"/>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3F645B18-E835-BA1D-A5DE-EB646428F9A7}"/>
              </a:ext>
            </a:extLst>
          </p:cNvPr>
          <p:cNvGraphicFramePr/>
          <p:nvPr>
            <p:extLst>
              <p:ext uri="{D42A27DB-BD31-4B8C-83A1-F6EECF244321}">
                <p14:modId xmlns:p14="http://schemas.microsoft.com/office/powerpoint/2010/main" val="176838780"/>
              </p:ext>
            </p:extLst>
          </p:nvPr>
        </p:nvGraphicFramePr>
        <p:xfrm>
          <a:off x="228600" y="76200"/>
          <a:ext cx="8763000" cy="6858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pic>
        <p:nvPicPr>
          <p:cNvPr id="7" name="Picture 6">
            <a:extLst>
              <a:ext uri="{FF2B5EF4-FFF2-40B4-BE49-F238E27FC236}">
                <a16:creationId xmlns:a16="http://schemas.microsoft.com/office/drawing/2014/main" id="{86DD2B10-1409-67F8-C84F-D4F0FDD8D530}"/>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152400" y="1054814"/>
            <a:ext cx="8763000" cy="2455091"/>
          </a:xfrm>
          <a:prstGeom prst="rect">
            <a:avLst/>
          </a:prstGeom>
        </p:spPr>
      </p:pic>
      <p:pic>
        <p:nvPicPr>
          <p:cNvPr id="10" name="Picture 9">
            <a:extLst>
              <a:ext uri="{FF2B5EF4-FFF2-40B4-BE49-F238E27FC236}">
                <a16:creationId xmlns:a16="http://schemas.microsoft.com/office/drawing/2014/main" id="{D33A5F63-2372-4785-3FB4-2DADDAB9A6AC}"/>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152400" y="3543850"/>
            <a:ext cx="8762999" cy="2399750"/>
          </a:xfrm>
          <a:prstGeom prst="rect">
            <a:avLst/>
          </a:prstGeom>
        </p:spPr>
      </p:pic>
    </p:spTree>
    <p:extLst>
      <p:ext uri="{BB962C8B-B14F-4D97-AF65-F5344CB8AC3E}">
        <p14:creationId xmlns:p14="http://schemas.microsoft.com/office/powerpoint/2010/main" val="182631341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72C750-F337-1E0E-EAC4-29D18681A139}"/>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D83C032F-3A4F-6EAA-6717-08BBF5C0F9F0}"/>
              </a:ext>
            </a:extLst>
          </p:cNvPr>
          <p:cNvSpPr/>
          <p:nvPr/>
        </p:nvSpPr>
        <p:spPr>
          <a:xfrm>
            <a:off x="1756802" y="1098185"/>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D0C58AB3-E55B-A53C-6D4D-E52DEEA2D14F}"/>
              </a:ext>
            </a:extLst>
          </p:cNvPr>
          <p:cNvSpPr/>
          <p:nvPr/>
        </p:nvSpPr>
        <p:spPr>
          <a:xfrm>
            <a:off x="1756803" y="951864"/>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BA0A6359-89FC-BF49-5F64-4690070478D4}"/>
              </a:ext>
            </a:extLst>
          </p:cNvPr>
          <p:cNvGraphicFramePr/>
          <p:nvPr>
            <p:extLst>
              <p:ext uri="{D42A27DB-BD31-4B8C-83A1-F6EECF244321}">
                <p14:modId xmlns:p14="http://schemas.microsoft.com/office/powerpoint/2010/main" val="3236500393"/>
              </p:ext>
            </p:extLst>
          </p:nvPr>
        </p:nvGraphicFramePr>
        <p:xfrm>
          <a:off x="228600" y="76200"/>
          <a:ext cx="8763000" cy="87566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pic>
        <p:nvPicPr>
          <p:cNvPr id="8" name="Picture 7">
            <a:extLst>
              <a:ext uri="{FF2B5EF4-FFF2-40B4-BE49-F238E27FC236}">
                <a16:creationId xmlns:a16="http://schemas.microsoft.com/office/drawing/2014/main" id="{4F7807FE-CD94-C01E-9105-0574A393F451}"/>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228600" y="1244506"/>
            <a:ext cx="8763000" cy="4178520"/>
          </a:xfrm>
          <a:prstGeom prst="rect">
            <a:avLst/>
          </a:prstGeom>
        </p:spPr>
      </p:pic>
    </p:spTree>
    <p:extLst>
      <p:ext uri="{BB962C8B-B14F-4D97-AF65-F5344CB8AC3E}">
        <p14:creationId xmlns:p14="http://schemas.microsoft.com/office/powerpoint/2010/main" val="96361080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69BA75-E9D6-9CDF-73E4-7D34CDE5D4F0}"/>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C47D1CF8-BDCB-9E13-BF63-31FD76F8083F}"/>
              </a:ext>
            </a:extLst>
          </p:cNvPr>
          <p:cNvSpPr/>
          <p:nvPr/>
        </p:nvSpPr>
        <p:spPr>
          <a:xfrm>
            <a:off x="1756802" y="1098185"/>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BA4FA72B-CCDA-1064-F6A4-CD8573917A5F}"/>
              </a:ext>
            </a:extLst>
          </p:cNvPr>
          <p:cNvSpPr/>
          <p:nvPr/>
        </p:nvSpPr>
        <p:spPr>
          <a:xfrm>
            <a:off x="1756803" y="951864"/>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A8999091-B8C0-21EC-2A40-D98755B634E5}"/>
              </a:ext>
            </a:extLst>
          </p:cNvPr>
          <p:cNvGraphicFramePr/>
          <p:nvPr>
            <p:extLst>
              <p:ext uri="{D42A27DB-BD31-4B8C-83A1-F6EECF244321}">
                <p14:modId xmlns:p14="http://schemas.microsoft.com/office/powerpoint/2010/main" val="3155264597"/>
              </p:ext>
            </p:extLst>
          </p:nvPr>
        </p:nvGraphicFramePr>
        <p:xfrm>
          <a:off x="228600" y="76200"/>
          <a:ext cx="8763000" cy="87566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pic>
        <p:nvPicPr>
          <p:cNvPr id="7" name="Picture 6">
            <a:extLst>
              <a:ext uri="{FF2B5EF4-FFF2-40B4-BE49-F238E27FC236}">
                <a16:creationId xmlns:a16="http://schemas.microsoft.com/office/drawing/2014/main" id="{D8C3EBA2-A7D1-B022-9AA3-8A15C1602359}"/>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304800" y="1263453"/>
            <a:ext cx="8610600" cy="2775147"/>
          </a:xfrm>
          <a:prstGeom prst="rect">
            <a:avLst/>
          </a:prstGeom>
        </p:spPr>
      </p:pic>
      <p:pic>
        <p:nvPicPr>
          <p:cNvPr id="10" name="Picture 9">
            <a:extLst>
              <a:ext uri="{FF2B5EF4-FFF2-40B4-BE49-F238E27FC236}">
                <a16:creationId xmlns:a16="http://schemas.microsoft.com/office/drawing/2014/main" id="{711A1D1C-0070-FA50-B9EB-9F9773A59A49}"/>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399749" y="4178213"/>
            <a:ext cx="8134651" cy="1689187"/>
          </a:xfrm>
          <a:prstGeom prst="rect">
            <a:avLst/>
          </a:prstGeom>
        </p:spPr>
      </p:pic>
    </p:spTree>
    <p:extLst>
      <p:ext uri="{BB962C8B-B14F-4D97-AF65-F5344CB8AC3E}">
        <p14:creationId xmlns:p14="http://schemas.microsoft.com/office/powerpoint/2010/main" val="14827084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4E702D-4520-167B-8E52-B90D78C1BF5B}"/>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65973A80-9BA7-C85C-DB27-E181E64C0278}"/>
              </a:ext>
            </a:extLst>
          </p:cNvPr>
          <p:cNvSpPr/>
          <p:nvPr/>
        </p:nvSpPr>
        <p:spPr>
          <a:xfrm>
            <a:off x="1756802" y="1098185"/>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DB94F547-90A1-0D1D-D96D-CCF9FC11EB55}"/>
              </a:ext>
            </a:extLst>
          </p:cNvPr>
          <p:cNvSpPr/>
          <p:nvPr/>
        </p:nvSpPr>
        <p:spPr>
          <a:xfrm>
            <a:off x="1756803" y="951864"/>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C29127C5-18CC-EFCF-406F-BE2176F758ED}"/>
              </a:ext>
            </a:extLst>
          </p:cNvPr>
          <p:cNvGraphicFramePr/>
          <p:nvPr>
            <p:extLst>
              <p:ext uri="{D42A27DB-BD31-4B8C-83A1-F6EECF244321}">
                <p14:modId xmlns:p14="http://schemas.microsoft.com/office/powerpoint/2010/main" val="1614700401"/>
              </p:ext>
            </p:extLst>
          </p:nvPr>
        </p:nvGraphicFramePr>
        <p:xfrm>
          <a:off x="228600" y="76200"/>
          <a:ext cx="8763000" cy="87566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pic>
        <p:nvPicPr>
          <p:cNvPr id="3" name="Picture 2">
            <a:extLst>
              <a:ext uri="{FF2B5EF4-FFF2-40B4-BE49-F238E27FC236}">
                <a16:creationId xmlns:a16="http://schemas.microsoft.com/office/drawing/2014/main" id="{AC32EDF2-BBB7-A178-5DF4-DFA77FA50EDD}"/>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228600" y="1295204"/>
            <a:ext cx="8763000" cy="2438596"/>
          </a:xfrm>
          <a:prstGeom prst="rect">
            <a:avLst/>
          </a:prstGeom>
        </p:spPr>
      </p:pic>
      <p:pic>
        <p:nvPicPr>
          <p:cNvPr id="9" name="Picture 8">
            <a:extLst>
              <a:ext uri="{FF2B5EF4-FFF2-40B4-BE49-F238E27FC236}">
                <a16:creationId xmlns:a16="http://schemas.microsoft.com/office/drawing/2014/main" id="{040D2042-C437-D4B8-E8B9-61091029E3C4}"/>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381000" y="3733800"/>
            <a:ext cx="8534400" cy="2209800"/>
          </a:xfrm>
          <a:prstGeom prst="rect">
            <a:avLst/>
          </a:prstGeom>
        </p:spPr>
      </p:pic>
    </p:spTree>
    <p:extLst>
      <p:ext uri="{BB962C8B-B14F-4D97-AF65-F5344CB8AC3E}">
        <p14:creationId xmlns:p14="http://schemas.microsoft.com/office/powerpoint/2010/main" val="375255882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p:nvPr/>
        </p:nvSpPr>
        <p:spPr>
          <a:xfrm>
            <a:off x="1756803" y="15240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p:cNvSpPr/>
          <p:nvPr/>
        </p:nvSpPr>
        <p:spPr>
          <a:xfrm>
            <a:off x="1756803" y="1371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226DC635-E9B3-0133-0548-37B556605D82}"/>
              </a:ext>
            </a:extLst>
          </p:cNvPr>
          <p:cNvGraphicFramePr/>
          <p:nvPr>
            <p:extLst>
              <p:ext uri="{D42A27DB-BD31-4B8C-83A1-F6EECF244321}">
                <p14:modId xmlns:p14="http://schemas.microsoft.com/office/powerpoint/2010/main" val="200200915"/>
              </p:ext>
            </p:extLst>
          </p:nvPr>
        </p:nvGraphicFramePr>
        <p:xfrm>
          <a:off x="228600" y="40688"/>
          <a:ext cx="4982500" cy="133091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object 2">
            <a:extLst>
              <a:ext uri="{FF2B5EF4-FFF2-40B4-BE49-F238E27FC236}">
                <a16:creationId xmlns:a16="http://schemas.microsoft.com/office/drawing/2014/main" id="{D92F1B33-55F2-497E-F00F-778666AF33D7}"/>
              </a:ext>
            </a:extLst>
          </p:cNvPr>
          <p:cNvSpPr txBox="1">
            <a:spLocks/>
          </p:cNvSpPr>
          <p:nvPr/>
        </p:nvSpPr>
        <p:spPr>
          <a:xfrm>
            <a:off x="457200" y="2133600"/>
            <a:ext cx="8382000" cy="369332"/>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220" dirty="0">
                <a:solidFill>
                  <a:schemeClr val="accent6"/>
                </a:solidFill>
              </a:rPr>
              <a:t>Mainly used for E2E Integration Testing.</a:t>
            </a:r>
            <a:endParaRPr lang="en-US" sz="2400" kern="0" spc="-80" dirty="0">
              <a:solidFill>
                <a:schemeClr val="accent6"/>
              </a:solidFill>
            </a:endParaRPr>
          </a:p>
        </p:txBody>
      </p:sp>
      <p:sp>
        <p:nvSpPr>
          <p:cNvPr id="3" name="object 2">
            <a:extLst>
              <a:ext uri="{FF2B5EF4-FFF2-40B4-BE49-F238E27FC236}">
                <a16:creationId xmlns:a16="http://schemas.microsoft.com/office/drawing/2014/main" id="{2A28705E-CB3C-5794-D9AE-4B24A2DBD434}"/>
              </a:ext>
            </a:extLst>
          </p:cNvPr>
          <p:cNvSpPr txBox="1">
            <a:spLocks/>
          </p:cNvSpPr>
          <p:nvPr/>
        </p:nvSpPr>
        <p:spPr>
          <a:xfrm>
            <a:off x="457200" y="3581400"/>
            <a:ext cx="8534400" cy="369332"/>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220" dirty="0">
                <a:solidFill>
                  <a:schemeClr val="accent6"/>
                </a:solidFill>
              </a:rPr>
              <a:t>But can serve as User Acceptance Documentation as well</a:t>
            </a:r>
            <a:endParaRPr lang="en-US" sz="2400" kern="0" spc="-80" dirty="0">
              <a:solidFill>
                <a:schemeClr val="accent6"/>
              </a:solidFill>
            </a:endParaRPr>
          </a:p>
        </p:txBody>
      </p:sp>
      <p:sp>
        <p:nvSpPr>
          <p:cNvPr id="7" name="object 2">
            <a:extLst>
              <a:ext uri="{FF2B5EF4-FFF2-40B4-BE49-F238E27FC236}">
                <a16:creationId xmlns:a16="http://schemas.microsoft.com/office/drawing/2014/main" id="{C373EBB1-6CEE-5E2F-BD52-D0EDF04F7E98}"/>
              </a:ext>
            </a:extLst>
          </p:cNvPr>
          <p:cNvSpPr txBox="1">
            <a:spLocks/>
          </p:cNvSpPr>
          <p:nvPr/>
        </p:nvSpPr>
        <p:spPr>
          <a:xfrm>
            <a:off x="457200" y="4648200"/>
            <a:ext cx="8534400" cy="1107996"/>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220" dirty="0">
                <a:solidFill>
                  <a:schemeClr val="accent6"/>
                </a:solidFill>
              </a:rPr>
              <a:t>Also, E2E Functional Automation Testing can be done using BDD. Most of the new age Functional Automation Testing Tools in the market are BDD based.</a:t>
            </a:r>
            <a:endParaRPr lang="en-US" sz="2400" kern="0" spc="-80" dirty="0">
              <a:solidFill>
                <a:schemeClr val="accent6"/>
              </a:solidFill>
            </a:endParaRPr>
          </a:p>
        </p:txBody>
      </p:sp>
    </p:spTree>
    <p:extLst>
      <p:ext uri="{BB962C8B-B14F-4D97-AF65-F5344CB8AC3E}">
        <p14:creationId xmlns:p14="http://schemas.microsoft.com/office/powerpoint/2010/main" val="162757379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p:nvPr/>
        </p:nvSpPr>
        <p:spPr>
          <a:xfrm>
            <a:off x="1756803" y="15240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p:cNvSpPr/>
          <p:nvPr/>
        </p:nvSpPr>
        <p:spPr>
          <a:xfrm>
            <a:off x="1756803" y="1371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226DC635-E9B3-0133-0548-37B556605D82}"/>
              </a:ext>
            </a:extLst>
          </p:cNvPr>
          <p:cNvGraphicFramePr/>
          <p:nvPr>
            <p:extLst>
              <p:ext uri="{D42A27DB-BD31-4B8C-83A1-F6EECF244321}">
                <p14:modId xmlns:p14="http://schemas.microsoft.com/office/powerpoint/2010/main" val="661005834"/>
              </p:ext>
            </p:extLst>
          </p:nvPr>
        </p:nvGraphicFramePr>
        <p:xfrm>
          <a:off x="228600" y="40688"/>
          <a:ext cx="4982500" cy="133091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object 2">
            <a:extLst>
              <a:ext uri="{FF2B5EF4-FFF2-40B4-BE49-F238E27FC236}">
                <a16:creationId xmlns:a16="http://schemas.microsoft.com/office/drawing/2014/main" id="{D92F1B33-55F2-497E-F00F-778666AF33D7}"/>
              </a:ext>
            </a:extLst>
          </p:cNvPr>
          <p:cNvSpPr txBox="1">
            <a:spLocks/>
          </p:cNvSpPr>
          <p:nvPr/>
        </p:nvSpPr>
        <p:spPr>
          <a:xfrm>
            <a:off x="228600" y="1761172"/>
            <a:ext cx="5195937" cy="369332"/>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220" dirty="0">
                <a:solidFill>
                  <a:schemeClr val="accent2"/>
                </a:solidFill>
              </a:rPr>
              <a:t>The Gherkin Language</a:t>
            </a:r>
            <a:endParaRPr lang="en-US" sz="2400" kern="0" spc="-80" dirty="0">
              <a:solidFill>
                <a:schemeClr val="accent2"/>
              </a:solidFill>
            </a:endParaRPr>
          </a:p>
        </p:txBody>
      </p:sp>
      <p:sp>
        <p:nvSpPr>
          <p:cNvPr id="3" name="object 2">
            <a:extLst>
              <a:ext uri="{FF2B5EF4-FFF2-40B4-BE49-F238E27FC236}">
                <a16:creationId xmlns:a16="http://schemas.microsoft.com/office/drawing/2014/main" id="{2A28705E-CB3C-5794-D9AE-4B24A2DBD434}"/>
              </a:ext>
            </a:extLst>
          </p:cNvPr>
          <p:cNvSpPr txBox="1">
            <a:spLocks/>
          </p:cNvSpPr>
          <p:nvPr/>
        </p:nvSpPr>
        <p:spPr>
          <a:xfrm>
            <a:off x="457200" y="2168604"/>
            <a:ext cx="5195937" cy="1107996"/>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220" dirty="0">
                <a:solidFill>
                  <a:schemeClr val="accent6"/>
                </a:solidFill>
              </a:rPr>
              <a:t>Given </a:t>
            </a:r>
          </a:p>
          <a:p>
            <a:pPr marL="12700" marR="5080"/>
            <a:r>
              <a:rPr lang="en-US" sz="2400" kern="0" spc="-220" dirty="0">
                <a:solidFill>
                  <a:schemeClr val="accent6"/>
                </a:solidFill>
              </a:rPr>
              <a:t>When</a:t>
            </a:r>
          </a:p>
          <a:p>
            <a:pPr marL="12700" marR="5080"/>
            <a:r>
              <a:rPr lang="en-US" sz="2400" kern="0" spc="-220" dirty="0">
                <a:solidFill>
                  <a:schemeClr val="accent6"/>
                </a:solidFill>
              </a:rPr>
              <a:t>Then</a:t>
            </a:r>
            <a:endParaRPr lang="en-US" sz="2400" kern="0" spc="-80" dirty="0">
              <a:solidFill>
                <a:schemeClr val="accent6"/>
              </a:solidFill>
            </a:endParaRPr>
          </a:p>
        </p:txBody>
      </p:sp>
      <p:sp>
        <p:nvSpPr>
          <p:cNvPr id="7" name="object 2">
            <a:extLst>
              <a:ext uri="{FF2B5EF4-FFF2-40B4-BE49-F238E27FC236}">
                <a16:creationId xmlns:a16="http://schemas.microsoft.com/office/drawing/2014/main" id="{9C5AA52C-0160-84B2-CA89-C663E71AA8F7}"/>
              </a:ext>
            </a:extLst>
          </p:cNvPr>
          <p:cNvSpPr txBox="1">
            <a:spLocks/>
          </p:cNvSpPr>
          <p:nvPr/>
        </p:nvSpPr>
        <p:spPr>
          <a:xfrm>
            <a:off x="304800" y="3352800"/>
            <a:ext cx="8610600" cy="923330"/>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220" dirty="0">
                <a:solidFill>
                  <a:schemeClr val="accent2"/>
                </a:solidFill>
              </a:rPr>
              <a:t>Example (using </a:t>
            </a:r>
            <a:r>
              <a:rPr lang="en-US" sz="2400" kern="0" spc="-220" dirty="0" err="1">
                <a:solidFill>
                  <a:schemeClr val="accent2"/>
                </a:solidFill>
              </a:rPr>
              <a:t>SpecFlow</a:t>
            </a:r>
            <a:r>
              <a:rPr lang="en-US" sz="2400" kern="0" spc="-220" dirty="0">
                <a:solidFill>
                  <a:schemeClr val="accent2"/>
                </a:solidFill>
              </a:rPr>
              <a:t>)</a:t>
            </a:r>
          </a:p>
          <a:p>
            <a:pPr marL="12700" marR="5080"/>
            <a:r>
              <a:rPr lang="en-US" sz="1200" dirty="0" err="1">
                <a:hlinkClick r:id="rId7"/>
              </a:rPr>
              <a:t>WeatherForecastAzureFunctionAndAngularSample</a:t>
            </a:r>
            <a:r>
              <a:rPr lang="en-US" sz="1200" dirty="0">
                <a:hlinkClick r:id="rId7"/>
              </a:rPr>
              <a:t>/</a:t>
            </a:r>
            <a:r>
              <a:rPr lang="en-US" sz="1200" dirty="0" err="1">
                <a:hlinkClick r:id="rId7"/>
              </a:rPr>
              <a:t>WeatherForecastBDD</a:t>
            </a:r>
            <a:r>
              <a:rPr lang="en-US" sz="1200" dirty="0">
                <a:hlinkClick r:id="rId7"/>
              </a:rPr>
              <a:t> at master · sandipray63in/</a:t>
            </a:r>
            <a:r>
              <a:rPr lang="en-US" sz="1200" dirty="0" err="1">
                <a:hlinkClick r:id="rId7"/>
              </a:rPr>
              <a:t>WeatherForecastAzureFunctionAndAngularSample</a:t>
            </a:r>
            <a:r>
              <a:rPr lang="en-US" sz="1200" dirty="0">
                <a:hlinkClick r:id="rId7"/>
              </a:rPr>
              <a:t> · GitHub</a:t>
            </a:r>
            <a:r>
              <a:rPr lang="en-US" sz="1200" dirty="0"/>
              <a:t> </a:t>
            </a:r>
            <a:r>
              <a:rPr lang="en-US" sz="2400" kern="0" spc="-220" dirty="0">
                <a:solidFill>
                  <a:schemeClr val="accent6"/>
                </a:solidFill>
              </a:rPr>
              <a:t> </a:t>
            </a:r>
            <a:endParaRPr lang="en-US" sz="2400" kern="0" spc="-80" dirty="0">
              <a:solidFill>
                <a:schemeClr val="accent6"/>
              </a:solidFill>
            </a:endParaRPr>
          </a:p>
        </p:txBody>
      </p:sp>
      <p:sp>
        <p:nvSpPr>
          <p:cNvPr id="8" name="object 2">
            <a:extLst>
              <a:ext uri="{FF2B5EF4-FFF2-40B4-BE49-F238E27FC236}">
                <a16:creationId xmlns:a16="http://schemas.microsoft.com/office/drawing/2014/main" id="{EB26CE50-144F-EBD9-4BB8-50D5133F58C7}"/>
              </a:ext>
            </a:extLst>
          </p:cNvPr>
          <p:cNvSpPr txBox="1">
            <a:spLocks/>
          </p:cNvSpPr>
          <p:nvPr/>
        </p:nvSpPr>
        <p:spPr>
          <a:xfrm>
            <a:off x="304800" y="4527828"/>
            <a:ext cx="8610600" cy="1415772"/>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220" dirty="0">
                <a:solidFill>
                  <a:schemeClr val="accent2"/>
                </a:solidFill>
              </a:rPr>
              <a:t>For Further Exploration</a:t>
            </a:r>
          </a:p>
          <a:p>
            <a:pPr marL="12700" marR="5080"/>
            <a:r>
              <a:rPr lang="en-IN" sz="1200" dirty="0" err="1">
                <a:hlinkClick r:id="rId8"/>
              </a:rPr>
              <a:t>Specflow</a:t>
            </a:r>
            <a:r>
              <a:rPr lang="en-IN" sz="1200" dirty="0">
                <a:hlinkClick r:id="rId8"/>
              </a:rPr>
              <a:t> Examples — documentation</a:t>
            </a:r>
            <a:r>
              <a:rPr lang="en-US" sz="2000" b="0" kern="0" spc="-220" dirty="0">
                <a:solidFill>
                  <a:schemeClr val="accent6"/>
                </a:solidFill>
              </a:rPr>
              <a:t> </a:t>
            </a:r>
          </a:p>
          <a:p>
            <a:pPr marL="12700" marR="5080"/>
            <a:r>
              <a:rPr lang="en-IN" sz="1200" dirty="0">
                <a:hlinkClick r:id="rId9"/>
              </a:rPr>
              <a:t>Samples - </a:t>
            </a:r>
            <a:r>
              <a:rPr lang="en-IN" sz="1200" dirty="0" err="1">
                <a:hlinkClick r:id="rId9"/>
              </a:rPr>
              <a:t>Reqnroll</a:t>
            </a:r>
            <a:r>
              <a:rPr lang="en-IN" sz="1200" dirty="0">
                <a:hlinkClick r:id="rId9"/>
              </a:rPr>
              <a:t> Documentation</a:t>
            </a:r>
            <a:r>
              <a:rPr lang="en-US" sz="2400" b="0" kern="0" spc="-220" dirty="0">
                <a:solidFill>
                  <a:schemeClr val="accent6"/>
                </a:solidFill>
              </a:rPr>
              <a:t>   </a:t>
            </a:r>
          </a:p>
          <a:p>
            <a:pPr marL="12700" marR="5080"/>
            <a:r>
              <a:rPr lang="en-US" sz="2400" kern="0" spc="-220" dirty="0">
                <a:solidFill>
                  <a:schemeClr val="accent6"/>
                </a:solidFill>
              </a:rPr>
              <a:t> </a:t>
            </a:r>
            <a:endParaRPr lang="en-US" sz="2400" kern="0" spc="-80" dirty="0">
              <a:solidFill>
                <a:schemeClr val="accent6"/>
              </a:solidFill>
            </a:endParaRPr>
          </a:p>
        </p:txBody>
      </p:sp>
    </p:spTree>
    <p:extLst>
      <p:ext uri="{BB962C8B-B14F-4D97-AF65-F5344CB8AC3E}">
        <p14:creationId xmlns:p14="http://schemas.microsoft.com/office/powerpoint/2010/main" val="318344904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D96736-4517-FA4A-4CB4-FF115FAE24E9}"/>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811D9E84-3CF5-EF56-4F25-FF00E835A03D}"/>
              </a:ext>
            </a:extLst>
          </p:cNvPr>
          <p:cNvSpPr/>
          <p:nvPr/>
        </p:nvSpPr>
        <p:spPr>
          <a:xfrm>
            <a:off x="1761157" y="1128849"/>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A56D60D5-B242-0B5E-E0F2-B10602C82736}"/>
              </a:ext>
            </a:extLst>
          </p:cNvPr>
          <p:cNvSpPr/>
          <p:nvPr/>
        </p:nvSpPr>
        <p:spPr>
          <a:xfrm>
            <a:off x="1761157" y="953136"/>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2DD78B17-E97C-F858-E11D-05006858C58D}"/>
              </a:ext>
            </a:extLst>
          </p:cNvPr>
          <p:cNvGraphicFramePr/>
          <p:nvPr>
            <p:extLst>
              <p:ext uri="{D42A27DB-BD31-4B8C-83A1-F6EECF244321}">
                <p14:modId xmlns:p14="http://schemas.microsoft.com/office/powerpoint/2010/main" val="2488147322"/>
              </p:ext>
            </p:extLst>
          </p:nvPr>
        </p:nvGraphicFramePr>
        <p:xfrm>
          <a:off x="228600" y="76200"/>
          <a:ext cx="8686800" cy="8382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pic>
        <p:nvPicPr>
          <p:cNvPr id="10" name="Picture 9">
            <a:extLst>
              <a:ext uri="{FF2B5EF4-FFF2-40B4-BE49-F238E27FC236}">
                <a16:creationId xmlns:a16="http://schemas.microsoft.com/office/drawing/2014/main" id="{D8FF3380-DF64-F06B-0673-9DB5FE5F1870}"/>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152400" y="1307901"/>
            <a:ext cx="8839200" cy="4559499"/>
          </a:xfrm>
          <a:prstGeom prst="rect">
            <a:avLst/>
          </a:prstGeom>
        </p:spPr>
      </p:pic>
    </p:spTree>
    <p:extLst>
      <p:ext uri="{BB962C8B-B14F-4D97-AF65-F5344CB8AC3E}">
        <p14:creationId xmlns:p14="http://schemas.microsoft.com/office/powerpoint/2010/main" val="284047033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A0C5B7-0D92-10ED-61E2-065641433254}"/>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99A55FE4-B297-2257-4552-E3930771F91A}"/>
              </a:ext>
            </a:extLst>
          </p:cNvPr>
          <p:cNvSpPr/>
          <p:nvPr/>
        </p:nvSpPr>
        <p:spPr>
          <a:xfrm>
            <a:off x="1761157" y="1128849"/>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2E71FF86-2226-8F41-9162-D8AB0FCE3F70}"/>
              </a:ext>
            </a:extLst>
          </p:cNvPr>
          <p:cNvSpPr/>
          <p:nvPr/>
        </p:nvSpPr>
        <p:spPr>
          <a:xfrm>
            <a:off x="1761157" y="953136"/>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DCB1A98C-B511-9067-1ED6-280F0625FDE2}"/>
              </a:ext>
            </a:extLst>
          </p:cNvPr>
          <p:cNvGraphicFramePr/>
          <p:nvPr/>
        </p:nvGraphicFramePr>
        <p:xfrm>
          <a:off x="228600" y="76200"/>
          <a:ext cx="8686800" cy="8382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pic>
        <p:nvPicPr>
          <p:cNvPr id="9" name="Picture 8">
            <a:extLst>
              <a:ext uri="{FF2B5EF4-FFF2-40B4-BE49-F238E27FC236}">
                <a16:creationId xmlns:a16="http://schemas.microsoft.com/office/drawing/2014/main" id="{5B3B2871-4DA9-4439-E7FC-A7831C6DE231}"/>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228600" y="1247685"/>
            <a:ext cx="8839200" cy="4080361"/>
          </a:xfrm>
          <a:prstGeom prst="rect">
            <a:avLst/>
          </a:prstGeom>
        </p:spPr>
      </p:pic>
      <p:sp>
        <p:nvSpPr>
          <p:cNvPr id="11" name="object 2">
            <a:extLst>
              <a:ext uri="{FF2B5EF4-FFF2-40B4-BE49-F238E27FC236}">
                <a16:creationId xmlns:a16="http://schemas.microsoft.com/office/drawing/2014/main" id="{CC7CA459-022C-BA7E-9486-A4E86ADB92E8}"/>
              </a:ext>
            </a:extLst>
          </p:cNvPr>
          <p:cNvSpPr txBox="1">
            <a:spLocks/>
          </p:cNvSpPr>
          <p:nvPr/>
        </p:nvSpPr>
        <p:spPr>
          <a:xfrm>
            <a:off x="0" y="5328047"/>
            <a:ext cx="8610600" cy="615553"/>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000" kern="0" spc="-220" dirty="0">
                <a:solidFill>
                  <a:schemeClr val="accent2"/>
                </a:solidFill>
              </a:rPr>
              <a:t>For Further Exploration</a:t>
            </a:r>
          </a:p>
          <a:p>
            <a:pPr marL="12700" marR="5080"/>
            <a:r>
              <a:rPr lang="en-US" sz="2000" dirty="0">
                <a:hlinkClick r:id="rId8"/>
              </a:rPr>
              <a:t>Integration tests in ASP.NET Core | Microsoft Learn</a:t>
            </a:r>
            <a:endParaRPr lang="en-US" sz="2000" kern="0" spc="-220" dirty="0">
              <a:solidFill>
                <a:schemeClr val="accent2"/>
              </a:solidFill>
            </a:endParaRPr>
          </a:p>
        </p:txBody>
      </p:sp>
    </p:spTree>
    <p:extLst>
      <p:ext uri="{BB962C8B-B14F-4D97-AF65-F5344CB8AC3E}">
        <p14:creationId xmlns:p14="http://schemas.microsoft.com/office/powerpoint/2010/main" val="420634960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p:nvPr/>
        </p:nvSpPr>
        <p:spPr>
          <a:xfrm>
            <a:off x="1756803" y="15240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p:cNvSpPr/>
          <p:nvPr/>
        </p:nvSpPr>
        <p:spPr>
          <a:xfrm>
            <a:off x="1756803" y="1371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226DC635-E9B3-0133-0548-37B556605D82}"/>
              </a:ext>
            </a:extLst>
          </p:cNvPr>
          <p:cNvGraphicFramePr/>
          <p:nvPr>
            <p:extLst>
              <p:ext uri="{D42A27DB-BD31-4B8C-83A1-F6EECF244321}">
                <p14:modId xmlns:p14="http://schemas.microsoft.com/office/powerpoint/2010/main" val="3369902024"/>
              </p:ext>
            </p:extLst>
          </p:nvPr>
        </p:nvGraphicFramePr>
        <p:xfrm>
          <a:off x="228600" y="40688"/>
          <a:ext cx="4982500" cy="133091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object 2">
            <a:extLst>
              <a:ext uri="{FF2B5EF4-FFF2-40B4-BE49-F238E27FC236}">
                <a16:creationId xmlns:a16="http://schemas.microsoft.com/office/drawing/2014/main" id="{D92F1B33-55F2-497E-F00F-778666AF33D7}"/>
              </a:ext>
            </a:extLst>
          </p:cNvPr>
          <p:cNvSpPr txBox="1">
            <a:spLocks/>
          </p:cNvSpPr>
          <p:nvPr/>
        </p:nvSpPr>
        <p:spPr>
          <a:xfrm>
            <a:off x="457200" y="1752600"/>
            <a:ext cx="5195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IN" sz="1400" dirty="0">
                <a:hlinkClick r:id="rId7"/>
              </a:rPr>
              <a:t>Katas to learn TDD</a:t>
            </a:r>
            <a:r>
              <a:rPr lang="en-IN" sz="1400" dirty="0"/>
              <a:t> </a:t>
            </a:r>
            <a:r>
              <a:rPr lang="en-US" sz="2400" kern="0" spc="-220" dirty="0">
                <a:solidFill>
                  <a:schemeClr val="accent6"/>
                </a:solidFill>
              </a:rPr>
              <a:t> </a:t>
            </a:r>
          </a:p>
          <a:p>
            <a:pPr marL="12700" marR="5080"/>
            <a:r>
              <a:rPr lang="en-IN" sz="1400">
                <a:hlinkClick r:id="rId8"/>
              </a:rPr>
              <a:t>Katas to practice BDD</a:t>
            </a:r>
            <a:r>
              <a:rPr lang="en-US" sz="2400" kern="0" spc="-220">
                <a:solidFill>
                  <a:schemeClr val="accent6"/>
                </a:solidFill>
              </a:rPr>
              <a:t> </a:t>
            </a:r>
            <a:endParaRPr lang="en-US" sz="2400" kern="0" spc="-80" dirty="0">
              <a:solidFill>
                <a:schemeClr val="accent6"/>
              </a:solidFill>
            </a:endParaRPr>
          </a:p>
        </p:txBody>
      </p:sp>
    </p:spTree>
    <p:extLst>
      <p:ext uri="{BB962C8B-B14F-4D97-AF65-F5344CB8AC3E}">
        <p14:creationId xmlns:p14="http://schemas.microsoft.com/office/powerpoint/2010/main" val="158120577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3FC736-FF1F-9DE5-D950-4E3675FD3056}"/>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9CB12DC4-BDE5-887A-82AB-E0A95C38E0C9}"/>
              </a:ext>
            </a:extLst>
          </p:cNvPr>
          <p:cNvSpPr/>
          <p:nvPr/>
        </p:nvSpPr>
        <p:spPr>
          <a:xfrm>
            <a:off x="1736483" y="996946"/>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81869083-1A81-6DC4-017B-E74848C9CCD3}"/>
              </a:ext>
            </a:extLst>
          </p:cNvPr>
          <p:cNvSpPr/>
          <p:nvPr/>
        </p:nvSpPr>
        <p:spPr>
          <a:xfrm>
            <a:off x="1736483" y="834598"/>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2" name="object 2">
            <a:extLst>
              <a:ext uri="{FF2B5EF4-FFF2-40B4-BE49-F238E27FC236}">
                <a16:creationId xmlns:a16="http://schemas.microsoft.com/office/drawing/2014/main" id="{8FBA5186-839E-7395-6303-0AFD978BDE69}"/>
              </a:ext>
            </a:extLst>
          </p:cNvPr>
          <p:cNvSpPr txBox="1">
            <a:spLocks/>
          </p:cNvSpPr>
          <p:nvPr/>
        </p:nvSpPr>
        <p:spPr>
          <a:xfrm>
            <a:off x="56129" y="1159294"/>
            <a:ext cx="9046981" cy="1384995"/>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IN" sz="1800" dirty="0">
                <a:solidFill>
                  <a:schemeClr val="accent6"/>
                </a:solidFill>
                <a:latin typeface="+mn-lt"/>
                <a:ea typeface="+mn-ea"/>
                <a:cs typeface="+mn-cs"/>
              </a:rPr>
              <a:t>TDD and BDD provide high code coverage by ensuring testing precedes or defines development, focusing on unit-level precision (TDD) and user-scenario </a:t>
            </a:r>
            <a:r>
              <a:rPr lang="en-IN" sz="1800" dirty="0" err="1">
                <a:solidFill>
                  <a:schemeClr val="accent6"/>
                </a:solidFill>
                <a:latin typeface="+mn-lt"/>
                <a:ea typeface="+mn-ea"/>
                <a:cs typeface="+mn-cs"/>
              </a:rPr>
              <a:t>behavior</a:t>
            </a:r>
            <a:r>
              <a:rPr lang="en-IN" sz="1800" dirty="0">
                <a:solidFill>
                  <a:schemeClr val="accent6"/>
                </a:solidFill>
                <a:latin typeface="+mn-lt"/>
                <a:ea typeface="+mn-ea"/>
                <a:cs typeface="+mn-cs"/>
              </a:rPr>
              <a:t> (BDD). TDD relies on </a:t>
            </a:r>
            <a:r>
              <a:rPr lang="en-IN" sz="1800" dirty="0">
                <a:solidFill>
                  <a:schemeClr val="accent6"/>
                </a:solidFill>
                <a:latin typeface="+mn-lt"/>
                <a:ea typeface="+mn-ea"/>
                <a:cs typeface="+mn-cs"/>
                <a:hlinkClick r:id="rId2">
                  <a:extLst>
                    <a:ext uri="{A12FA001-AC4F-418D-AE19-62706E023703}">
                      <ahyp:hlinkClr xmlns:ahyp="http://schemas.microsoft.com/office/drawing/2018/hyperlinkcolor" val="tx"/>
                    </a:ext>
                  </a:extLst>
                </a:hlinkClick>
              </a:rPr>
              <a:t>unit tests (JUnit/</a:t>
            </a:r>
            <a:r>
              <a:rPr lang="en-IN" sz="1800" dirty="0" err="1">
                <a:solidFill>
                  <a:schemeClr val="accent6"/>
                </a:solidFill>
                <a:latin typeface="+mn-lt"/>
                <a:ea typeface="+mn-ea"/>
                <a:cs typeface="+mn-cs"/>
                <a:hlinkClick r:id="rId2">
                  <a:extLst>
                    <a:ext uri="{A12FA001-AC4F-418D-AE19-62706E023703}">
                      <ahyp:hlinkClr xmlns:ahyp="http://schemas.microsoft.com/office/drawing/2018/hyperlinkcolor" val="tx"/>
                    </a:ext>
                  </a:extLst>
                </a:hlinkClick>
              </a:rPr>
              <a:t>Pytest</a:t>
            </a:r>
            <a:r>
              <a:rPr lang="en-IN" sz="1800" dirty="0">
                <a:solidFill>
                  <a:schemeClr val="accent6"/>
                </a:solidFill>
                <a:latin typeface="+mn-lt"/>
                <a:ea typeface="+mn-ea"/>
                <a:cs typeface="+mn-cs"/>
                <a:hlinkClick r:id="rId2">
                  <a:extLst>
                    <a:ext uri="{A12FA001-AC4F-418D-AE19-62706E023703}">
                      <ahyp:hlinkClr xmlns:ahyp="http://schemas.microsoft.com/office/drawing/2018/hyperlinkcolor" val="tx"/>
                    </a:ext>
                  </a:extLst>
                </a:hlinkClick>
              </a:rPr>
              <a:t>)</a:t>
            </a:r>
            <a:r>
              <a:rPr lang="en-IN" sz="1800" dirty="0">
                <a:solidFill>
                  <a:schemeClr val="accent6"/>
                </a:solidFill>
                <a:latin typeface="+mn-lt"/>
                <a:ea typeface="+mn-ea"/>
                <a:cs typeface="+mn-cs"/>
              </a:rPr>
              <a:t> to achieve high line/branch coverage, while BDD uses </a:t>
            </a:r>
            <a:r>
              <a:rPr lang="en-IN" sz="1800" dirty="0">
                <a:solidFill>
                  <a:schemeClr val="accent6"/>
                </a:solidFill>
                <a:latin typeface="+mn-lt"/>
                <a:ea typeface="+mn-ea"/>
                <a:cs typeface="+mn-cs"/>
                <a:hlinkClick r:id="rId3">
                  <a:extLst>
                    <a:ext uri="{A12FA001-AC4F-418D-AE19-62706E023703}">
                      <ahyp:hlinkClr xmlns:ahyp="http://schemas.microsoft.com/office/drawing/2018/hyperlinkcolor" val="tx"/>
                    </a:ext>
                  </a:extLst>
                </a:hlinkClick>
              </a:rPr>
              <a:t>Gherkin-based scenarios (Cucumber)</a:t>
            </a:r>
            <a:r>
              <a:rPr lang="en-IN" sz="1800" dirty="0">
                <a:solidFill>
                  <a:schemeClr val="accent6"/>
                </a:solidFill>
                <a:latin typeface="+mn-lt"/>
                <a:ea typeface="+mn-ea"/>
                <a:cs typeface="+mn-cs"/>
              </a:rPr>
              <a:t> to ensure </a:t>
            </a:r>
            <a:r>
              <a:rPr lang="en-IN" sz="1800" dirty="0" err="1">
                <a:solidFill>
                  <a:schemeClr val="accent6"/>
                </a:solidFill>
                <a:latin typeface="+mn-lt"/>
                <a:ea typeface="+mn-ea"/>
                <a:cs typeface="+mn-cs"/>
              </a:rPr>
              <a:t>behavior</a:t>
            </a:r>
            <a:r>
              <a:rPr lang="en-IN" sz="1800" dirty="0">
                <a:solidFill>
                  <a:schemeClr val="accent6"/>
                </a:solidFill>
                <a:latin typeface="+mn-lt"/>
                <a:ea typeface="+mn-ea"/>
                <a:cs typeface="+mn-cs"/>
              </a:rPr>
              <a:t>-driven coverage, reducing redundant code.</a:t>
            </a:r>
            <a:endParaRPr lang="en-US" sz="1800" dirty="0">
              <a:solidFill>
                <a:schemeClr val="accent6"/>
              </a:solidFill>
              <a:latin typeface="+mn-lt"/>
              <a:ea typeface="+mn-ea"/>
              <a:cs typeface="+mn-cs"/>
            </a:endParaRPr>
          </a:p>
        </p:txBody>
      </p:sp>
      <p:grpSp>
        <p:nvGrpSpPr>
          <p:cNvPr id="3" name="Group 2">
            <a:extLst>
              <a:ext uri="{FF2B5EF4-FFF2-40B4-BE49-F238E27FC236}">
                <a16:creationId xmlns:a16="http://schemas.microsoft.com/office/drawing/2014/main" id="{19C2460B-3BAA-23FB-BD58-6489E397ABC5}"/>
              </a:ext>
            </a:extLst>
          </p:cNvPr>
          <p:cNvGrpSpPr/>
          <p:nvPr/>
        </p:nvGrpSpPr>
        <p:grpSpPr>
          <a:xfrm>
            <a:off x="0" y="0"/>
            <a:ext cx="9144000" cy="795753"/>
            <a:chOff x="0" y="29528"/>
            <a:chExt cx="8686800" cy="795753"/>
          </a:xfrm>
        </p:grpSpPr>
        <p:sp>
          <p:nvSpPr>
            <p:cNvPr id="7" name="Rectangle: Rounded Corners 6">
              <a:extLst>
                <a:ext uri="{FF2B5EF4-FFF2-40B4-BE49-F238E27FC236}">
                  <a16:creationId xmlns:a16="http://schemas.microsoft.com/office/drawing/2014/main" id="{565C3466-4177-8832-746C-5C7578564790}"/>
                </a:ext>
              </a:extLst>
            </p:cNvPr>
            <p:cNvSpPr/>
            <p:nvPr/>
          </p:nvSpPr>
          <p:spPr>
            <a:xfrm>
              <a:off x="0" y="29528"/>
              <a:ext cx="8686800" cy="795753"/>
            </a:xfrm>
            <a:prstGeom prst="roundRect">
              <a:avLst/>
            </a:prstGeom>
          </p:spPr>
          <p:style>
            <a:lnRef idx="2">
              <a:schemeClr val="lt1">
                <a:hueOff val="0"/>
                <a:satOff val="0"/>
                <a:lumOff val="0"/>
                <a:alphaOff val="0"/>
              </a:schemeClr>
            </a:lnRef>
            <a:fillRef idx="1">
              <a:schemeClr val="accent6">
                <a:hueOff val="0"/>
                <a:satOff val="0"/>
                <a:lumOff val="0"/>
                <a:alphaOff val="0"/>
              </a:schemeClr>
            </a:fillRef>
            <a:effectRef idx="0">
              <a:schemeClr val="accent6">
                <a:hueOff val="0"/>
                <a:satOff val="0"/>
                <a:lumOff val="0"/>
                <a:alphaOff val="0"/>
              </a:schemeClr>
            </a:effectRef>
            <a:fontRef idx="minor">
              <a:schemeClr val="lt1"/>
            </a:fontRef>
          </p:style>
          <p:txBody>
            <a:bodyPr/>
            <a:lstStyle/>
            <a:p>
              <a:endParaRPr lang="en-IN"/>
            </a:p>
          </p:txBody>
        </p:sp>
        <p:sp>
          <p:nvSpPr>
            <p:cNvPr id="8" name="Rectangle: Rounded Corners 4">
              <a:extLst>
                <a:ext uri="{FF2B5EF4-FFF2-40B4-BE49-F238E27FC236}">
                  <a16:creationId xmlns:a16="http://schemas.microsoft.com/office/drawing/2014/main" id="{5164006D-E1AC-96E6-5E43-A65D138BA624}"/>
                </a:ext>
              </a:extLst>
            </p:cNvPr>
            <p:cNvSpPr txBox="1"/>
            <p:nvPr/>
          </p:nvSpPr>
          <p:spPr>
            <a:xfrm>
              <a:off x="38845" y="68373"/>
              <a:ext cx="8609110" cy="718063"/>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118110" tIns="118110" rIns="118110" bIns="118110" numCol="1" spcCol="1270" anchor="ctr" anchorCtr="0">
              <a:noAutofit/>
            </a:bodyPr>
            <a:lstStyle/>
            <a:p>
              <a:pPr marL="0" lvl="0" indent="0" algn="l" defTabSz="1377950">
                <a:lnSpc>
                  <a:spcPct val="90000"/>
                </a:lnSpc>
                <a:spcBef>
                  <a:spcPct val="0"/>
                </a:spcBef>
                <a:spcAft>
                  <a:spcPct val="35000"/>
                </a:spcAft>
                <a:buNone/>
              </a:pPr>
              <a:r>
                <a:rPr lang="en-US" sz="3100" b="1" i="0" kern="1200" dirty="0"/>
                <a:t>TDD and BDD Code Coverage</a:t>
              </a:r>
              <a:endParaRPr lang="en-US" sz="3100" kern="1200" dirty="0"/>
            </a:p>
          </p:txBody>
        </p:sp>
      </p:grpSp>
      <p:pic>
        <p:nvPicPr>
          <p:cNvPr id="9" name="Picture 8">
            <a:extLst>
              <a:ext uri="{FF2B5EF4-FFF2-40B4-BE49-F238E27FC236}">
                <a16:creationId xmlns:a16="http://schemas.microsoft.com/office/drawing/2014/main" id="{89D9D3FF-C4C6-F8DA-C519-2F40237EFCD7}"/>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6129" y="2544288"/>
            <a:ext cx="9031741" cy="3018311"/>
          </a:xfrm>
          <a:prstGeom prst="rect">
            <a:avLst/>
          </a:prstGeom>
        </p:spPr>
      </p:pic>
      <p:pic>
        <p:nvPicPr>
          <p:cNvPr id="12" name="Picture 11">
            <a:extLst>
              <a:ext uri="{FF2B5EF4-FFF2-40B4-BE49-F238E27FC236}">
                <a16:creationId xmlns:a16="http://schemas.microsoft.com/office/drawing/2014/main" id="{5CEC32C2-96DD-BB2F-0B2B-F64EA06EE3D2}"/>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0" y="5448275"/>
            <a:ext cx="8763000" cy="479777"/>
          </a:xfrm>
          <a:prstGeom prst="rect">
            <a:avLst/>
          </a:prstGeom>
        </p:spPr>
      </p:pic>
    </p:spTree>
    <p:extLst>
      <p:ext uri="{BB962C8B-B14F-4D97-AF65-F5344CB8AC3E}">
        <p14:creationId xmlns:p14="http://schemas.microsoft.com/office/powerpoint/2010/main" val="368589399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141ECE-20EE-18C6-58EF-2E5A4FB62603}"/>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A9549BA9-9C02-CC68-1A5C-6E2693B0DC33}"/>
              </a:ext>
            </a:extLst>
          </p:cNvPr>
          <p:cNvSpPr/>
          <p:nvPr/>
        </p:nvSpPr>
        <p:spPr>
          <a:xfrm>
            <a:off x="1736483" y="996946"/>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07632006-C23E-4355-88FB-9A93C03100DA}"/>
              </a:ext>
            </a:extLst>
          </p:cNvPr>
          <p:cNvSpPr/>
          <p:nvPr/>
        </p:nvSpPr>
        <p:spPr>
          <a:xfrm>
            <a:off x="1736483" y="834598"/>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2" name="object 2">
            <a:extLst>
              <a:ext uri="{FF2B5EF4-FFF2-40B4-BE49-F238E27FC236}">
                <a16:creationId xmlns:a16="http://schemas.microsoft.com/office/drawing/2014/main" id="{6180D304-B456-AD36-56A7-BABE77573055}"/>
              </a:ext>
            </a:extLst>
          </p:cNvPr>
          <p:cNvSpPr txBox="1">
            <a:spLocks/>
          </p:cNvSpPr>
          <p:nvPr/>
        </p:nvSpPr>
        <p:spPr>
          <a:xfrm>
            <a:off x="56129" y="1159294"/>
            <a:ext cx="9046981" cy="3600986"/>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800" dirty="0">
                <a:solidFill>
                  <a:schemeClr val="accent2"/>
                </a:solidFill>
                <a:latin typeface="+mn-lt"/>
                <a:ea typeface="+mn-ea"/>
                <a:cs typeface="+mn-cs"/>
              </a:rPr>
              <a:t>TDD &amp; BDD Integration for Optimal Coverage </a:t>
            </a:r>
          </a:p>
          <a:p>
            <a:pPr marL="12700" marR="5080"/>
            <a:r>
              <a:rPr lang="en-US" sz="1800" dirty="0">
                <a:solidFill>
                  <a:schemeClr val="accent2"/>
                </a:solidFill>
                <a:latin typeface="+mn-lt"/>
                <a:ea typeface="+mn-ea"/>
                <a:cs typeface="+mn-cs"/>
              </a:rPr>
              <a:t>Layered Approach: </a:t>
            </a:r>
            <a:r>
              <a:rPr lang="en-US" sz="1800" dirty="0">
                <a:solidFill>
                  <a:schemeClr val="accent6"/>
                </a:solidFill>
                <a:latin typeface="+mn-lt"/>
                <a:ea typeface="+mn-ea"/>
                <a:cs typeface="+mn-cs"/>
              </a:rPr>
              <a:t>Use BDD to define high-level feature coverage and TDD to ensure 100% path coverage for the implementation of those features.</a:t>
            </a:r>
          </a:p>
          <a:p>
            <a:pPr marL="12700" marR="5080"/>
            <a:r>
              <a:rPr lang="en-US" sz="1800" dirty="0">
                <a:solidFill>
                  <a:schemeClr val="accent2"/>
                </a:solidFill>
                <a:latin typeface="+mn-lt"/>
                <a:ea typeface="+mn-ea"/>
                <a:cs typeface="+mn-cs"/>
              </a:rPr>
              <a:t>Iterative Cycles:</a:t>
            </a:r>
            <a:r>
              <a:rPr lang="en-US" sz="1800" dirty="0">
                <a:solidFill>
                  <a:schemeClr val="accent6"/>
                </a:solidFill>
                <a:latin typeface="+mn-lt"/>
                <a:ea typeface="+mn-ea"/>
                <a:cs typeface="+mn-cs"/>
              </a:rPr>
              <a:t> In BDD, each step definition should ideally be developed using TDD.</a:t>
            </a:r>
          </a:p>
          <a:p>
            <a:pPr marL="12700" marR="5080"/>
            <a:r>
              <a:rPr lang="en-US" sz="1800" dirty="0">
                <a:solidFill>
                  <a:schemeClr val="accent2"/>
                </a:solidFill>
                <a:latin typeface="+mn-lt"/>
                <a:ea typeface="+mn-ea"/>
                <a:cs typeface="+mn-cs"/>
              </a:rPr>
              <a:t>Refactoring: </a:t>
            </a:r>
            <a:r>
              <a:rPr lang="en-US" sz="1800" dirty="0">
                <a:solidFill>
                  <a:schemeClr val="accent6"/>
                </a:solidFill>
                <a:latin typeface="+mn-lt"/>
                <a:ea typeface="+mn-ea"/>
                <a:cs typeface="+mn-cs"/>
              </a:rPr>
              <a:t>TDD’s refactoring phase ensures that as coverage increases, the code quality remains high without breaking existing functionality. </a:t>
            </a:r>
          </a:p>
          <a:p>
            <a:pPr marL="12700" marR="5080"/>
            <a:endParaRPr lang="en-US" sz="1800" dirty="0">
              <a:solidFill>
                <a:schemeClr val="accent6"/>
              </a:solidFill>
              <a:latin typeface="+mn-lt"/>
              <a:ea typeface="+mn-ea"/>
              <a:cs typeface="+mn-cs"/>
            </a:endParaRPr>
          </a:p>
          <a:p>
            <a:pPr marL="12700" marR="5080"/>
            <a:r>
              <a:rPr lang="en-US" sz="1800" dirty="0">
                <a:solidFill>
                  <a:schemeClr val="accent2"/>
                </a:solidFill>
                <a:latin typeface="+mn-lt"/>
                <a:ea typeface="+mn-ea"/>
                <a:cs typeface="+mn-cs"/>
              </a:rPr>
              <a:t>Typical Workflow for High Coverage </a:t>
            </a:r>
          </a:p>
          <a:p>
            <a:pPr marL="12700" marR="5080"/>
            <a:r>
              <a:rPr lang="en-US" sz="1800" dirty="0">
                <a:solidFill>
                  <a:schemeClr val="accent2"/>
                </a:solidFill>
                <a:latin typeface="+mn-lt"/>
                <a:ea typeface="+mn-ea"/>
                <a:cs typeface="+mn-cs"/>
              </a:rPr>
              <a:t>Define BDD Feature: </a:t>
            </a:r>
            <a:r>
              <a:rPr lang="en-US" sz="1800" dirty="0">
                <a:solidFill>
                  <a:schemeClr val="accent6"/>
                </a:solidFill>
                <a:latin typeface="+mn-lt"/>
                <a:ea typeface="+mn-ea"/>
                <a:cs typeface="+mn-cs"/>
              </a:rPr>
              <a:t>Write Gherkin (Given, When, Then) for a user story.</a:t>
            </a:r>
          </a:p>
          <a:p>
            <a:pPr marL="12700" marR="5080"/>
            <a:r>
              <a:rPr lang="en-US" sz="1800" dirty="0">
                <a:solidFill>
                  <a:schemeClr val="accent2"/>
                </a:solidFill>
                <a:latin typeface="+mn-lt"/>
                <a:ea typeface="+mn-ea"/>
                <a:cs typeface="+mn-cs"/>
              </a:rPr>
              <a:t>TDD Cycle for Step Definitions: </a:t>
            </a:r>
            <a:r>
              <a:rPr lang="en-US" sz="1800" dirty="0">
                <a:solidFill>
                  <a:schemeClr val="accent6"/>
                </a:solidFill>
                <a:latin typeface="+mn-lt"/>
                <a:ea typeface="+mn-ea"/>
                <a:cs typeface="+mn-cs"/>
              </a:rPr>
              <a:t>For each step in the BDD scenario, write a failing unit test.</a:t>
            </a:r>
          </a:p>
          <a:p>
            <a:pPr marL="12700" marR="5080"/>
            <a:r>
              <a:rPr lang="en-US" sz="1800" dirty="0">
                <a:solidFill>
                  <a:schemeClr val="accent2"/>
                </a:solidFill>
                <a:latin typeface="+mn-lt"/>
                <a:ea typeface="+mn-ea"/>
                <a:cs typeface="+mn-cs"/>
              </a:rPr>
              <a:t>Implement Code:</a:t>
            </a:r>
            <a:r>
              <a:rPr lang="en-US" sz="1800" dirty="0">
                <a:solidFill>
                  <a:schemeClr val="accent6"/>
                </a:solidFill>
                <a:latin typeface="+mn-lt"/>
                <a:ea typeface="+mn-ea"/>
                <a:cs typeface="+mn-cs"/>
              </a:rPr>
              <a:t> Write the minimum code to make the unit test pass.</a:t>
            </a:r>
          </a:p>
          <a:p>
            <a:pPr marL="12700" marR="5080"/>
            <a:r>
              <a:rPr lang="en-US" sz="1800" dirty="0">
                <a:solidFill>
                  <a:schemeClr val="accent2"/>
                </a:solidFill>
                <a:latin typeface="+mn-lt"/>
                <a:ea typeface="+mn-ea"/>
                <a:cs typeface="+mn-cs"/>
              </a:rPr>
              <a:t>Refactor:</a:t>
            </a:r>
            <a:r>
              <a:rPr lang="en-US" sz="1800" dirty="0">
                <a:solidFill>
                  <a:schemeClr val="accent6"/>
                </a:solidFill>
                <a:latin typeface="+mn-lt"/>
                <a:ea typeface="+mn-ea"/>
                <a:cs typeface="+mn-cs"/>
              </a:rPr>
              <a:t> Optimize the code while keeping tests passing.</a:t>
            </a:r>
          </a:p>
          <a:p>
            <a:pPr marL="12700" marR="5080"/>
            <a:r>
              <a:rPr lang="en-US" sz="1800" dirty="0">
                <a:solidFill>
                  <a:schemeClr val="accent2"/>
                </a:solidFill>
                <a:latin typeface="+mn-lt"/>
                <a:ea typeface="+mn-ea"/>
                <a:cs typeface="+mn-cs"/>
              </a:rPr>
              <a:t>Run All Tests: </a:t>
            </a:r>
            <a:r>
              <a:rPr lang="en-US" sz="1800" dirty="0">
                <a:solidFill>
                  <a:schemeClr val="accent6"/>
                </a:solidFill>
                <a:latin typeface="+mn-lt"/>
                <a:ea typeface="+mn-ea"/>
                <a:cs typeface="+mn-cs"/>
              </a:rPr>
              <a:t>Ensure both unit tests (TDD) and scenario tests (BDD) pass. </a:t>
            </a:r>
          </a:p>
        </p:txBody>
      </p:sp>
      <p:grpSp>
        <p:nvGrpSpPr>
          <p:cNvPr id="3" name="Group 2">
            <a:extLst>
              <a:ext uri="{FF2B5EF4-FFF2-40B4-BE49-F238E27FC236}">
                <a16:creationId xmlns:a16="http://schemas.microsoft.com/office/drawing/2014/main" id="{DDB511C0-F5F7-FF0C-6FE1-6DA0551F9F87}"/>
              </a:ext>
            </a:extLst>
          </p:cNvPr>
          <p:cNvGrpSpPr/>
          <p:nvPr/>
        </p:nvGrpSpPr>
        <p:grpSpPr>
          <a:xfrm>
            <a:off x="0" y="0"/>
            <a:ext cx="9144000" cy="795753"/>
            <a:chOff x="0" y="29528"/>
            <a:chExt cx="8686800" cy="795753"/>
          </a:xfrm>
        </p:grpSpPr>
        <p:sp>
          <p:nvSpPr>
            <p:cNvPr id="7" name="Rectangle: Rounded Corners 6">
              <a:extLst>
                <a:ext uri="{FF2B5EF4-FFF2-40B4-BE49-F238E27FC236}">
                  <a16:creationId xmlns:a16="http://schemas.microsoft.com/office/drawing/2014/main" id="{EBC6AE43-68CE-1F77-C422-828D0786856F}"/>
                </a:ext>
              </a:extLst>
            </p:cNvPr>
            <p:cNvSpPr/>
            <p:nvPr/>
          </p:nvSpPr>
          <p:spPr>
            <a:xfrm>
              <a:off x="0" y="29528"/>
              <a:ext cx="8686800" cy="795753"/>
            </a:xfrm>
            <a:prstGeom prst="roundRect">
              <a:avLst/>
            </a:prstGeom>
          </p:spPr>
          <p:style>
            <a:lnRef idx="2">
              <a:schemeClr val="lt1">
                <a:hueOff val="0"/>
                <a:satOff val="0"/>
                <a:lumOff val="0"/>
                <a:alphaOff val="0"/>
              </a:schemeClr>
            </a:lnRef>
            <a:fillRef idx="1">
              <a:schemeClr val="accent6">
                <a:hueOff val="0"/>
                <a:satOff val="0"/>
                <a:lumOff val="0"/>
                <a:alphaOff val="0"/>
              </a:schemeClr>
            </a:fillRef>
            <a:effectRef idx="0">
              <a:schemeClr val="accent6">
                <a:hueOff val="0"/>
                <a:satOff val="0"/>
                <a:lumOff val="0"/>
                <a:alphaOff val="0"/>
              </a:schemeClr>
            </a:effectRef>
            <a:fontRef idx="minor">
              <a:schemeClr val="lt1"/>
            </a:fontRef>
          </p:style>
          <p:txBody>
            <a:bodyPr/>
            <a:lstStyle/>
            <a:p>
              <a:endParaRPr lang="en-IN"/>
            </a:p>
          </p:txBody>
        </p:sp>
        <p:sp>
          <p:nvSpPr>
            <p:cNvPr id="8" name="Rectangle: Rounded Corners 4">
              <a:extLst>
                <a:ext uri="{FF2B5EF4-FFF2-40B4-BE49-F238E27FC236}">
                  <a16:creationId xmlns:a16="http://schemas.microsoft.com/office/drawing/2014/main" id="{8182C0B8-AE52-C025-67D0-908FEBC09A25}"/>
                </a:ext>
              </a:extLst>
            </p:cNvPr>
            <p:cNvSpPr txBox="1"/>
            <p:nvPr/>
          </p:nvSpPr>
          <p:spPr>
            <a:xfrm>
              <a:off x="38845" y="68373"/>
              <a:ext cx="8609110" cy="718063"/>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118110" tIns="118110" rIns="118110" bIns="118110" numCol="1" spcCol="1270" anchor="ctr" anchorCtr="0">
              <a:noAutofit/>
            </a:bodyPr>
            <a:lstStyle/>
            <a:p>
              <a:pPr marL="0" lvl="0" indent="0" algn="l" defTabSz="1377950">
                <a:lnSpc>
                  <a:spcPct val="90000"/>
                </a:lnSpc>
                <a:spcBef>
                  <a:spcPct val="0"/>
                </a:spcBef>
                <a:spcAft>
                  <a:spcPct val="35000"/>
                </a:spcAft>
                <a:buNone/>
              </a:pPr>
              <a:r>
                <a:rPr lang="en-US" sz="3100" b="1" i="0" kern="1200" dirty="0"/>
                <a:t>TDD and BDD Code Coverage</a:t>
              </a:r>
              <a:endParaRPr lang="en-US" sz="3100" kern="1200" dirty="0"/>
            </a:p>
          </p:txBody>
        </p:sp>
      </p:grpSp>
    </p:spTree>
    <p:extLst>
      <p:ext uri="{BB962C8B-B14F-4D97-AF65-F5344CB8AC3E}">
        <p14:creationId xmlns:p14="http://schemas.microsoft.com/office/powerpoint/2010/main" val="93871133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EE49C9-7BD7-B7BB-B77E-D94B0B6D8C3E}"/>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25B94F15-11BC-D2E7-9891-C4E4262A2484}"/>
              </a:ext>
            </a:extLst>
          </p:cNvPr>
          <p:cNvSpPr/>
          <p:nvPr/>
        </p:nvSpPr>
        <p:spPr>
          <a:xfrm>
            <a:off x="1736483" y="996946"/>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12B438A1-004A-A2ED-8804-93304E6F0A76}"/>
              </a:ext>
            </a:extLst>
          </p:cNvPr>
          <p:cNvSpPr/>
          <p:nvPr/>
        </p:nvSpPr>
        <p:spPr>
          <a:xfrm>
            <a:off x="1736483" y="834598"/>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2" name="object 2">
            <a:extLst>
              <a:ext uri="{FF2B5EF4-FFF2-40B4-BE49-F238E27FC236}">
                <a16:creationId xmlns:a16="http://schemas.microsoft.com/office/drawing/2014/main" id="{E4D61579-5F1C-F56E-373E-79E8989532FC}"/>
              </a:ext>
            </a:extLst>
          </p:cNvPr>
          <p:cNvSpPr txBox="1">
            <a:spLocks/>
          </p:cNvSpPr>
          <p:nvPr/>
        </p:nvSpPr>
        <p:spPr>
          <a:xfrm>
            <a:off x="56129" y="1159294"/>
            <a:ext cx="9046981" cy="1384995"/>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IN" sz="1800" dirty="0">
                <a:solidFill>
                  <a:schemeClr val="accent6"/>
                </a:solidFill>
                <a:latin typeface="+mn-lt"/>
                <a:ea typeface="+mn-ea"/>
                <a:cs typeface="+mn-cs"/>
              </a:rPr>
              <a:t>TDD and BDD reporting differs by audience and scope: TDD produces technical, developer-centric reports focused on unit-level pass/fail rates, while BDD delivers business-readable, scenario-based reports (Gherkin syntax) highlighting user </a:t>
            </a:r>
            <a:r>
              <a:rPr lang="en-IN" sz="1800" dirty="0" err="1">
                <a:solidFill>
                  <a:schemeClr val="accent6"/>
                </a:solidFill>
                <a:latin typeface="+mn-lt"/>
                <a:ea typeface="+mn-ea"/>
                <a:cs typeface="+mn-cs"/>
              </a:rPr>
              <a:t>behavior</a:t>
            </a:r>
            <a:r>
              <a:rPr lang="en-IN" sz="1800" dirty="0">
                <a:solidFill>
                  <a:schemeClr val="accent6"/>
                </a:solidFill>
                <a:latin typeface="+mn-lt"/>
                <a:ea typeface="+mn-ea"/>
                <a:cs typeface="+mn-cs"/>
              </a:rPr>
              <a:t>. Key tools include JUnit/</a:t>
            </a:r>
            <a:r>
              <a:rPr lang="en-IN" sz="1800" dirty="0" err="1">
                <a:solidFill>
                  <a:schemeClr val="accent6"/>
                </a:solidFill>
                <a:latin typeface="+mn-lt"/>
                <a:ea typeface="+mn-ea"/>
                <a:cs typeface="+mn-cs"/>
              </a:rPr>
              <a:t>NUnit</a:t>
            </a:r>
            <a:r>
              <a:rPr lang="en-IN" sz="1800" dirty="0">
                <a:solidFill>
                  <a:schemeClr val="accent6"/>
                </a:solidFill>
                <a:latin typeface="+mn-lt"/>
                <a:ea typeface="+mn-ea"/>
                <a:cs typeface="+mn-cs"/>
              </a:rPr>
              <a:t> for TDD, and Cucumber/</a:t>
            </a:r>
            <a:r>
              <a:rPr lang="en-IN" sz="1800" dirty="0" err="1">
                <a:solidFill>
                  <a:schemeClr val="accent6"/>
                </a:solidFill>
                <a:latin typeface="+mn-lt"/>
                <a:ea typeface="+mn-ea"/>
                <a:cs typeface="+mn-cs"/>
              </a:rPr>
              <a:t>SpecFlow</a:t>
            </a:r>
            <a:r>
              <a:rPr lang="en-IN" sz="1800" dirty="0">
                <a:solidFill>
                  <a:schemeClr val="accent6"/>
                </a:solidFill>
                <a:latin typeface="+mn-lt"/>
                <a:ea typeface="+mn-ea"/>
                <a:cs typeface="+mn-cs"/>
              </a:rPr>
              <a:t> for BDD, typically integrated into CI/CD pipelines.</a:t>
            </a:r>
            <a:endParaRPr lang="en-US" sz="1800" dirty="0">
              <a:solidFill>
                <a:schemeClr val="accent6"/>
              </a:solidFill>
              <a:latin typeface="+mn-lt"/>
              <a:ea typeface="+mn-ea"/>
              <a:cs typeface="+mn-cs"/>
            </a:endParaRPr>
          </a:p>
        </p:txBody>
      </p:sp>
      <p:grpSp>
        <p:nvGrpSpPr>
          <p:cNvPr id="3" name="Group 2">
            <a:extLst>
              <a:ext uri="{FF2B5EF4-FFF2-40B4-BE49-F238E27FC236}">
                <a16:creationId xmlns:a16="http://schemas.microsoft.com/office/drawing/2014/main" id="{24C7335B-DAA0-95DD-663E-747B2ED5527A}"/>
              </a:ext>
            </a:extLst>
          </p:cNvPr>
          <p:cNvGrpSpPr/>
          <p:nvPr/>
        </p:nvGrpSpPr>
        <p:grpSpPr>
          <a:xfrm>
            <a:off x="0" y="0"/>
            <a:ext cx="9144000" cy="795753"/>
            <a:chOff x="0" y="29528"/>
            <a:chExt cx="8686800" cy="795753"/>
          </a:xfrm>
        </p:grpSpPr>
        <p:sp>
          <p:nvSpPr>
            <p:cNvPr id="7" name="Rectangle: Rounded Corners 6">
              <a:extLst>
                <a:ext uri="{FF2B5EF4-FFF2-40B4-BE49-F238E27FC236}">
                  <a16:creationId xmlns:a16="http://schemas.microsoft.com/office/drawing/2014/main" id="{07D42F0E-D482-C9EF-EDA1-791123F14FC9}"/>
                </a:ext>
              </a:extLst>
            </p:cNvPr>
            <p:cNvSpPr/>
            <p:nvPr/>
          </p:nvSpPr>
          <p:spPr>
            <a:xfrm>
              <a:off x="0" y="29528"/>
              <a:ext cx="8686800" cy="795753"/>
            </a:xfrm>
            <a:prstGeom prst="roundRect">
              <a:avLst/>
            </a:prstGeom>
          </p:spPr>
          <p:style>
            <a:lnRef idx="2">
              <a:schemeClr val="lt1">
                <a:hueOff val="0"/>
                <a:satOff val="0"/>
                <a:lumOff val="0"/>
                <a:alphaOff val="0"/>
              </a:schemeClr>
            </a:lnRef>
            <a:fillRef idx="1">
              <a:schemeClr val="accent6">
                <a:hueOff val="0"/>
                <a:satOff val="0"/>
                <a:lumOff val="0"/>
                <a:alphaOff val="0"/>
              </a:schemeClr>
            </a:fillRef>
            <a:effectRef idx="0">
              <a:schemeClr val="accent6">
                <a:hueOff val="0"/>
                <a:satOff val="0"/>
                <a:lumOff val="0"/>
                <a:alphaOff val="0"/>
              </a:schemeClr>
            </a:effectRef>
            <a:fontRef idx="minor">
              <a:schemeClr val="lt1"/>
            </a:fontRef>
          </p:style>
          <p:txBody>
            <a:bodyPr/>
            <a:lstStyle/>
            <a:p>
              <a:endParaRPr lang="en-IN"/>
            </a:p>
          </p:txBody>
        </p:sp>
        <p:sp>
          <p:nvSpPr>
            <p:cNvPr id="8" name="Rectangle: Rounded Corners 4">
              <a:extLst>
                <a:ext uri="{FF2B5EF4-FFF2-40B4-BE49-F238E27FC236}">
                  <a16:creationId xmlns:a16="http://schemas.microsoft.com/office/drawing/2014/main" id="{DD18A2FA-5D04-B1ED-28CE-6BC5E05A6711}"/>
                </a:ext>
              </a:extLst>
            </p:cNvPr>
            <p:cNvSpPr txBox="1"/>
            <p:nvPr/>
          </p:nvSpPr>
          <p:spPr>
            <a:xfrm>
              <a:off x="38845" y="68373"/>
              <a:ext cx="8609110" cy="718063"/>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118110" tIns="118110" rIns="118110" bIns="118110" numCol="1" spcCol="1270" anchor="ctr" anchorCtr="0">
              <a:noAutofit/>
            </a:bodyPr>
            <a:lstStyle/>
            <a:p>
              <a:pPr marL="0" lvl="0" indent="0" algn="l" defTabSz="1377950">
                <a:lnSpc>
                  <a:spcPct val="90000"/>
                </a:lnSpc>
                <a:spcBef>
                  <a:spcPct val="0"/>
                </a:spcBef>
                <a:spcAft>
                  <a:spcPct val="35000"/>
                </a:spcAft>
                <a:buNone/>
              </a:pPr>
              <a:r>
                <a:rPr lang="en-US" sz="3100" b="1" i="0" kern="1200" dirty="0"/>
                <a:t>TDD and BDD Reporting</a:t>
              </a:r>
              <a:endParaRPr lang="en-US" sz="3100" kern="1200" dirty="0"/>
            </a:p>
          </p:txBody>
        </p:sp>
      </p:grpSp>
      <p:pic>
        <p:nvPicPr>
          <p:cNvPr id="10" name="Picture 9">
            <a:extLst>
              <a:ext uri="{FF2B5EF4-FFF2-40B4-BE49-F238E27FC236}">
                <a16:creationId xmlns:a16="http://schemas.microsoft.com/office/drawing/2014/main" id="{1FE89527-608B-4078-BFC7-4978F494DBE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2544288"/>
            <a:ext cx="9144000" cy="3360467"/>
          </a:xfrm>
          <a:prstGeom prst="rect">
            <a:avLst/>
          </a:prstGeom>
        </p:spPr>
      </p:pic>
    </p:spTree>
    <p:extLst>
      <p:ext uri="{BB962C8B-B14F-4D97-AF65-F5344CB8AC3E}">
        <p14:creationId xmlns:p14="http://schemas.microsoft.com/office/powerpoint/2010/main" val="367984017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FD60EC-4080-7D82-293D-4972F066856F}"/>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6A528712-6469-D316-6B7B-61D7AAD960E4}"/>
              </a:ext>
            </a:extLst>
          </p:cNvPr>
          <p:cNvSpPr/>
          <p:nvPr/>
        </p:nvSpPr>
        <p:spPr>
          <a:xfrm>
            <a:off x="1736483" y="996946"/>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820C3362-52C1-DF03-2329-D700AFD099EE}"/>
              </a:ext>
            </a:extLst>
          </p:cNvPr>
          <p:cNvSpPr/>
          <p:nvPr/>
        </p:nvSpPr>
        <p:spPr>
          <a:xfrm>
            <a:off x="1736483" y="834598"/>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2" name="object 2">
            <a:extLst>
              <a:ext uri="{FF2B5EF4-FFF2-40B4-BE49-F238E27FC236}">
                <a16:creationId xmlns:a16="http://schemas.microsoft.com/office/drawing/2014/main" id="{91B60D82-D15A-D487-71F4-DD7E0CDCCE4D}"/>
              </a:ext>
            </a:extLst>
          </p:cNvPr>
          <p:cNvSpPr txBox="1">
            <a:spLocks/>
          </p:cNvSpPr>
          <p:nvPr/>
        </p:nvSpPr>
        <p:spPr>
          <a:xfrm>
            <a:off x="48508" y="1110610"/>
            <a:ext cx="9046981" cy="4708981"/>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800" dirty="0">
                <a:solidFill>
                  <a:schemeClr val="accent2"/>
                </a:solidFill>
                <a:latin typeface="+mn-lt"/>
                <a:ea typeface="+mn-ea"/>
                <a:cs typeface="+mn-cs"/>
              </a:rPr>
              <a:t>Exhaustive TDD Results Reporting Breakdown</a:t>
            </a:r>
          </a:p>
          <a:p>
            <a:pPr marL="12700" marR="5080"/>
            <a:r>
              <a:rPr lang="en-US" sz="1800" dirty="0">
                <a:solidFill>
                  <a:schemeClr val="accent2"/>
                </a:solidFill>
                <a:latin typeface="+mn-lt"/>
                <a:ea typeface="+mn-ea"/>
                <a:cs typeface="+mn-cs"/>
              </a:rPr>
              <a:t>Format:</a:t>
            </a:r>
            <a:r>
              <a:rPr lang="en-US" sz="1800" dirty="0">
                <a:solidFill>
                  <a:schemeClr val="accent6"/>
                </a:solidFill>
                <a:latin typeface="+mn-lt"/>
                <a:ea typeface="+mn-ea"/>
                <a:cs typeface="+mn-cs"/>
              </a:rPr>
              <a:t> Primarily textual logs in IDE, or JUnit XML format, often converted to HTML via CI/CD tools like Jenkins.</a:t>
            </a:r>
          </a:p>
          <a:p>
            <a:pPr marL="12700" marR="5080"/>
            <a:r>
              <a:rPr lang="en-US" sz="1800" dirty="0">
                <a:solidFill>
                  <a:schemeClr val="accent2"/>
                </a:solidFill>
                <a:latin typeface="+mn-lt"/>
                <a:ea typeface="+mn-ea"/>
                <a:cs typeface="+mn-cs"/>
              </a:rPr>
              <a:t>Key Data Points:</a:t>
            </a:r>
          </a:p>
          <a:p>
            <a:pPr marL="12700" marR="5080"/>
            <a:r>
              <a:rPr lang="en-US" sz="1800" dirty="0">
                <a:solidFill>
                  <a:schemeClr val="accent2"/>
                </a:solidFill>
                <a:latin typeface="+mn-lt"/>
                <a:ea typeface="+mn-ea"/>
                <a:cs typeface="+mn-cs"/>
              </a:rPr>
              <a:t>Class/Method Name: </a:t>
            </a:r>
            <a:r>
              <a:rPr lang="en-US" sz="1800" dirty="0">
                <a:solidFill>
                  <a:schemeClr val="accent6"/>
                </a:solidFill>
                <a:latin typeface="+mn-lt"/>
                <a:ea typeface="+mn-ea"/>
                <a:cs typeface="+mn-cs"/>
              </a:rPr>
              <a:t>Which function was tested.</a:t>
            </a:r>
          </a:p>
          <a:p>
            <a:pPr marL="12700" marR="5080"/>
            <a:r>
              <a:rPr lang="en-US" sz="1800" dirty="0">
                <a:solidFill>
                  <a:schemeClr val="accent2"/>
                </a:solidFill>
                <a:latin typeface="+mn-lt"/>
                <a:ea typeface="+mn-ea"/>
                <a:cs typeface="+mn-cs"/>
              </a:rPr>
              <a:t>Assertion Failures: </a:t>
            </a:r>
            <a:r>
              <a:rPr lang="en-US" sz="1800" dirty="0">
                <a:solidFill>
                  <a:schemeClr val="accent6"/>
                </a:solidFill>
                <a:latin typeface="+mn-lt"/>
                <a:ea typeface="+mn-ea"/>
                <a:cs typeface="+mn-cs"/>
              </a:rPr>
              <a:t>Specific value mismatches (Expected X, got Y).</a:t>
            </a:r>
          </a:p>
          <a:p>
            <a:pPr marL="12700" marR="5080"/>
            <a:r>
              <a:rPr lang="en-US" sz="1800" dirty="0">
                <a:solidFill>
                  <a:schemeClr val="accent2"/>
                </a:solidFill>
                <a:latin typeface="+mn-lt"/>
                <a:ea typeface="+mn-ea"/>
                <a:cs typeface="+mn-cs"/>
              </a:rPr>
              <a:t>Execution Time: </a:t>
            </a:r>
            <a:r>
              <a:rPr lang="en-US" sz="1800" dirty="0">
                <a:solidFill>
                  <a:schemeClr val="accent6"/>
                </a:solidFill>
                <a:latin typeface="+mn-lt"/>
                <a:ea typeface="+mn-ea"/>
                <a:cs typeface="+mn-cs"/>
              </a:rPr>
              <a:t>Milliseconds per test.</a:t>
            </a:r>
          </a:p>
          <a:p>
            <a:pPr marL="12700" marR="5080"/>
            <a:r>
              <a:rPr lang="en-US" sz="1800" dirty="0">
                <a:solidFill>
                  <a:schemeClr val="accent2"/>
                </a:solidFill>
                <a:latin typeface="+mn-lt"/>
                <a:ea typeface="+mn-ea"/>
                <a:cs typeface="+mn-cs"/>
              </a:rPr>
              <a:t>Stack Trace:</a:t>
            </a:r>
            <a:r>
              <a:rPr lang="en-US" sz="1800" dirty="0">
                <a:solidFill>
                  <a:schemeClr val="accent6"/>
                </a:solidFill>
                <a:latin typeface="+mn-lt"/>
                <a:ea typeface="+mn-ea"/>
                <a:cs typeface="+mn-cs"/>
              </a:rPr>
              <a:t> Line number of failure. </a:t>
            </a:r>
          </a:p>
          <a:p>
            <a:pPr marL="12700" marR="5080"/>
            <a:endParaRPr lang="en-US" sz="1800" dirty="0">
              <a:solidFill>
                <a:schemeClr val="accent2"/>
              </a:solidFill>
              <a:latin typeface="+mn-lt"/>
              <a:ea typeface="+mn-ea"/>
              <a:cs typeface="+mn-cs"/>
            </a:endParaRPr>
          </a:p>
          <a:p>
            <a:pPr marL="12700" marR="5080"/>
            <a:r>
              <a:rPr lang="en-US" sz="1800" dirty="0">
                <a:solidFill>
                  <a:schemeClr val="accent2"/>
                </a:solidFill>
                <a:latin typeface="+mn-lt"/>
                <a:ea typeface="+mn-ea"/>
                <a:cs typeface="+mn-cs"/>
              </a:rPr>
              <a:t>Exhaustive BDD Results Reporting Breakdown</a:t>
            </a:r>
          </a:p>
          <a:p>
            <a:pPr marL="12700" marR="5080"/>
            <a:r>
              <a:rPr lang="en-US" sz="1800" dirty="0">
                <a:solidFill>
                  <a:schemeClr val="accent2"/>
                </a:solidFill>
                <a:latin typeface="+mn-lt"/>
                <a:ea typeface="+mn-ea"/>
                <a:cs typeface="+mn-cs"/>
              </a:rPr>
              <a:t>Format: </a:t>
            </a:r>
            <a:r>
              <a:rPr lang="en-US" sz="1800" dirty="0">
                <a:solidFill>
                  <a:schemeClr val="accent6"/>
                </a:solidFill>
                <a:latin typeface="+mn-lt"/>
                <a:ea typeface="+mn-ea"/>
                <a:cs typeface="+mn-cs"/>
              </a:rPr>
              <a:t>HTML reports generated by Cucumber/</a:t>
            </a:r>
            <a:r>
              <a:rPr lang="en-US" sz="1800" dirty="0" err="1">
                <a:solidFill>
                  <a:schemeClr val="accent6"/>
                </a:solidFill>
                <a:latin typeface="+mn-lt"/>
                <a:ea typeface="+mn-ea"/>
                <a:cs typeface="+mn-cs"/>
              </a:rPr>
              <a:t>SpecFlow</a:t>
            </a:r>
            <a:r>
              <a:rPr lang="en-US" sz="1800" dirty="0">
                <a:solidFill>
                  <a:schemeClr val="accent6"/>
                </a:solidFill>
                <a:latin typeface="+mn-lt"/>
                <a:ea typeface="+mn-ea"/>
                <a:cs typeface="+mn-cs"/>
              </a:rPr>
              <a:t>, often interactive, allowing stakeholders to drill down into failures.</a:t>
            </a:r>
          </a:p>
          <a:p>
            <a:pPr marL="12700" marR="5080"/>
            <a:r>
              <a:rPr lang="en-US" sz="1800" dirty="0">
                <a:solidFill>
                  <a:schemeClr val="accent2"/>
                </a:solidFill>
                <a:latin typeface="+mn-lt"/>
                <a:ea typeface="+mn-ea"/>
                <a:cs typeface="+mn-cs"/>
              </a:rPr>
              <a:t>Key Data Points:</a:t>
            </a:r>
          </a:p>
          <a:p>
            <a:pPr marL="12700" marR="5080"/>
            <a:r>
              <a:rPr lang="en-US" sz="1800" dirty="0">
                <a:solidFill>
                  <a:schemeClr val="accent2"/>
                </a:solidFill>
                <a:latin typeface="+mn-lt"/>
                <a:ea typeface="+mn-ea"/>
                <a:cs typeface="+mn-cs"/>
              </a:rPr>
              <a:t>Feature/Scenario Name: </a:t>
            </a:r>
            <a:r>
              <a:rPr lang="en-US" sz="1800" dirty="0">
                <a:solidFill>
                  <a:schemeClr val="accent6"/>
                </a:solidFill>
                <a:latin typeface="+mn-lt"/>
                <a:ea typeface="+mn-ea"/>
                <a:cs typeface="+mn-cs"/>
              </a:rPr>
              <a:t>Describes the business requirement.</a:t>
            </a:r>
          </a:p>
          <a:p>
            <a:pPr marL="12700" marR="5080"/>
            <a:r>
              <a:rPr lang="en-US" sz="1800" dirty="0">
                <a:solidFill>
                  <a:schemeClr val="accent2"/>
                </a:solidFill>
                <a:latin typeface="+mn-lt"/>
                <a:ea typeface="+mn-ea"/>
                <a:cs typeface="+mn-cs"/>
              </a:rPr>
              <a:t>Given-When-Then Steps: </a:t>
            </a:r>
            <a:r>
              <a:rPr lang="en-US" sz="1800" dirty="0">
                <a:solidFill>
                  <a:schemeClr val="accent6"/>
                </a:solidFill>
                <a:latin typeface="+mn-lt"/>
                <a:ea typeface="+mn-ea"/>
                <a:cs typeface="+mn-cs"/>
              </a:rPr>
              <a:t>Shows which step in the scenario failed.</a:t>
            </a:r>
          </a:p>
          <a:p>
            <a:pPr marL="12700" marR="5080"/>
            <a:r>
              <a:rPr lang="en-US" sz="1800" dirty="0">
                <a:solidFill>
                  <a:schemeClr val="accent2"/>
                </a:solidFill>
                <a:latin typeface="+mn-lt"/>
                <a:ea typeface="+mn-ea"/>
                <a:cs typeface="+mn-cs"/>
              </a:rPr>
              <a:t>Steps Definitions Mapping:</a:t>
            </a:r>
            <a:r>
              <a:rPr lang="en-US" sz="1800" dirty="0">
                <a:solidFill>
                  <a:schemeClr val="accent6"/>
                </a:solidFill>
                <a:latin typeface="+mn-lt"/>
                <a:ea typeface="+mn-ea"/>
                <a:cs typeface="+mn-cs"/>
              </a:rPr>
              <a:t> Links Gherkin to code.</a:t>
            </a:r>
          </a:p>
          <a:p>
            <a:pPr marL="12700" marR="5080"/>
            <a:r>
              <a:rPr lang="en-US" sz="1800" dirty="0">
                <a:solidFill>
                  <a:schemeClr val="accent2"/>
                </a:solidFill>
                <a:latin typeface="+mn-lt"/>
                <a:ea typeface="+mn-ea"/>
                <a:cs typeface="+mn-cs"/>
              </a:rPr>
              <a:t>Screenshots/Videos:</a:t>
            </a:r>
            <a:r>
              <a:rPr lang="en-US" sz="1800" dirty="0">
                <a:solidFill>
                  <a:schemeClr val="accent6"/>
                </a:solidFill>
                <a:latin typeface="+mn-lt"/>
                <a:ea typeface="+mn-ea"/>
                <a:cs typeface="+mn-cs"/>
              </a:rPr>
              <a:t> Captured upon failure for UI scenarios. </a:t>
            </a:r>
          </a:p>
        </p:txBody>
      </p:sp>
      <p:grpSp>
        <p:nvGrpSpPr>
          <p:cNvPr id="3" name="Group 2">
            <a:extLst>
              <a:ext uri="{FF2B5EF4-FFF2-40B4-BE49-F238E27FC236}">
                <a16:creationId xmlns:a16="http://schemas.microsoft.com/office/drawing/2014/main" id="{0C102FB5-11D5-4503-12A0-8C4C7AB130EC}"/>
              </a:ext>
            </a:extLst>
          </p:cNvPr>
          <p:cNvGrpSpPr/>
          <p:nvPr/>
        </p:nvGrpSpPr>
        <p:grpSpPr>
          <a:xfrm>
            <a:off x="0" y="0"/>
            <a:ext cx="9144000" cy="795753"/>
            <a:chOff x="0" y="29528"/>
            <a:chExt cx="8686800" cy="795753"/>
          </a:xfrm>
        </p:grpSpPr>
        <p:sp>
          <p:nvSpPr>
            <p:cNvPr id="7" name="Rectangle: Rounded Corners 6">
              <a:extLst>
                <a:ext uri="{FF2B5EF4-FFF2-40B4-BE49-F238E27FC236}">
                  <a16:creationId xmlns:a16="http://schemas.microsoft.com/office/drawing/2014/main" id="{B60D32BF-F206-558D-D174-ADA7F0A76F05}"/>
                </a:ext>
              </a:extLst>
            </p:cNvPr>
            <p:cNvSpPr/>
            <p:nvPr/>
          </p:nvSpPr>
          <p:spPr>
            <a:xfrm>
              <a:off x="0" y="29528"/>
              <a:ext cx="8686800" cy="795753"/>
            </a:xfrm>
            <a:prstGeom prst="roundRect">
              <a:avLst/>
            </a:prstGeom>
          </p:spPr>
          <p:style>
            <a:lnRef idx="2">
              <a:schemeClr val="lt1">
                <a:hueOff val="0"/>
                <a:satOff val="0"/>
                <a:lumOff val="0"/>
                <a:alphaOff val="0"/>
              </a:schemeClr>
            </a:lnRef>
            <a:fillRef idx="1">
              <a:schemeClr val="accent6">
                <a:hueOff val="0"/>
                <a:satOff val="0"/>
                <a:lumOff val="0"/>
                <a:alphaOff val="0"/>
              </a:schemeClr>
            </a:fillRef>
            <a:effectRef idx="0">
              <a:schemeClr val="accent6">
                <a:hueOff val="0"/>
                <a:satOff val="0"/>
                <a:lumOff val="0"/>
                <a:alphaOff val="0"/>
              </a:schemeClr>
            </a:effectRef>
            <a:fontRef idx="minor">
              <a:schemeClr val="lt1"/>
            </a:fontRef>
          </p:style>
          <p:txBody>
            <a:bodyPr/>
            <a:lstStyle/>
            <a:p>
              <a:endParaRPr lang="en-IN"/>
            </a:p>
          </p:txBody>
        </p:sp>
        <p:sp>
          <p:nvSpPr>
            <p:cNvPr id="8" name="Rectangle: Rounded Corners 4">
              <a:extLst>
                <a:ext uri="{FF2B5EF4-FFF2-40B4-BE49-F238E27FC236}">
                  <a16:creationId xmlns:a16="http://schemas.microsoft.com/office/drawing/2014/main" id="{0FABA47B-6447-ECD5-5042-6C688BD1696F}"/>
                </a:ext>
              </a:extLst>
            </p:cNvPr>
            <p:cNvSpPr txBox="1"/>
            <p:nvPr/>
          </p:nvSpPr>
          <p:spPr>
            <a:xfrm>
              <a:off x="38845" y="68373"/>
              <a:ext cx="8609110" cy="718063"/>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118110" tIns="118110" rIns="118110" bIns="118110" numCol="1" spcCol="1270" anchor="ctr" anchorCtr="0">
              <a:noAutofit/>
            </a:bodyPr>
            <a:lstStyle/>
            <a:p>
              <a:pPr marL="0" lvl="0" indent="0" algn="l" defTabSz="1377950">
                <a:lnSpc>
                  <a:spcPct val="90000"/>
                </a:lnSpc>
                <a:spcBef>
                  <a:spcPct val="0"/>
                </a:spcBef>
                <a:spcAft>
                  <a:spcPct val="35000"/>
                </a:spcAft>
                <a:buNone/>
              </a:pPr>
              <a:r>
                <a:rPr lang="en-US" sz="3100" b="1" i="0" kern="1200" dirty="0"/>
                <a:t>TDD and BDD Reporting</a:t>
              </a:r>
              <a:endParaRPr lang="en-US" sz="3100" kern="1200" dirty="0"/>
            </a:p>
          </p:txBody>
        </p:sp>
      </p:grpSp>
    </p:spTree>
    <p:extLst>
      <p:ext uri="{BB962C8B-B14F-4D97-AF65-F5344CB8AC3E}">
        <p14:creationId xmlns:p14="http://schemas.microsoft.com/office/powerpoint/2010/main" val="49396778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45FF7E-0D84-2DF5-3294-F071720D2CA7}"/>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FF7E21FE-0B74-E4D3-669E-81DA67513919}"/>
              </a:ext>
            </a:extLst>
          </p:cNvPr>
          <p:cNvSpPr/>
          <p:nvPr/>
        </p:nvSpPr>
        <p:spPr>
          <a:xfrm>
            <a:off x="1736483" y="996946"/>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2DB070F2-9420-1A1F-9FFB-943520A7FA30}"/>
              </a:ext>
            </a:extLst>
          </p:cNvPr>
          <p:cNvSpPr/>
          <p:nvPr/>
        </p:nvSpPr>
        <p:spPr>
          <a:xfrm>
            <a:off x="1736483" y="834598"/>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2" name="object 2">
            <a:extLst>
              <a:ext uri="{FF2B5EF4-FFF2-40B4-BE49-F238E27FC236}">
                <a16:creationId xmlns:a16="http://schemas.microsoft.com/office/drawing/2014/main" id="{991DDEDE-038F-2C3C-52FB-5C5A85A09699}"/>
              </a:ext>
            </a:extLst>
          </p:cNvPr>
          <p:cNvSpPr txBox="1">
            <a:spLocks/>
          </p:cNvSpPr>
          <p:nvPr/>
        </p:nvSpPr>
        <p:spPr>
          <a:xfrm>
            <a:off x="48508" y="1110610"/>
            <a:ext cx="9046981" cy="3323987"/>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800" dirty="0">
                <a:solidFill>
                  <a:schemeClr val="accent2"/>
                </a:solidFill>
                <a:latin typeface="+mn-lt"/>
                <a:ea typeface="+mn-ea"/>
                <a:cs typeface="+mn-cs"/>
              </a:rPr>
              <a:t>Best Practices for Reporting</a:t>
            </a:r>
          </a:p>
          <a:p>
            <a:pPr marL="12700" marR="5080"/>
            <a:r>
              <a:rPr lang="en-US" sz="1800" dirty="0">
                <a:solidFill>
                  <a:schemeClr val="accent2"/>
                </a:solidFill>
                <a:latin typeface="+mn-lt"/>
                <a:ea typeface="+mn-ea"/>
                <a:cs typeface="+mn-cs"/>
              </a:rPr>
              <a:t>Automate in CI/CD: </a:t>
            </a:r>
            <a:r>
              <a:rPr lang="en-US" sz="1800" dirty="0">
                <a:solidFill>
                  <a:schemeClr val="accent6"/>
                </a:solidFill>
                <a:latin typeface="+mn-lt"/>
                <a:ea typeface="+mn-ea"/>
                <a:cs typeface="+mn-cs"/>
              </a:rPr>
              <a:t>Integrate tests into pipeline (e.g., Jenkins, GitHub Actions) for automatic report generation upon commits.</a:t>
            </a:r>
          </a:p>
          <a:p>
            <a:pPr marL="12700" marR="5080"/>
            <a:r>
              <a:rPr lang="en-US" sz="1800" dirty="0">
                <a:solidFill>
                  <a:schemeClr val="accent2"/>
                </a:solidFill>
                <a:latin typeface="+mn-lt"/>
                <a:ea typeface="+mn-ea"/>
                <a:cs typeface="+mn-cs"/>
              </a:rPr>
              <a:t>Centralized Dashboards: </a:t>
            </a:r>
            <a:r>
              <a:rPr lang="en-US" sz="1800" dirty="0">
                <a:solidFill>
                  <a:schemeClr val="accent6"/>
                </a:solidFill>
                <a:latin typeface="+mn-lt"/>
                <a:ea typeface="+mn-ea"/>
                <a:cs typeface="+mn-cs"/>
              </a:rPr>
              <a:t>Use tools like Allure or </a:t>
            </a:r>
            <a:r>
              <a:rPr lang="en-US" sz="1800" dirty="0" err="1">
                <a:solidFill>
                  <a:schemeClr val="accent6"/>
                </a:solidFill>
                <a:latin typeface="+mn-lt"/>
                <a:ea typeface="+mn-ea"/>
                <a:cs typeface="+mn-cs"/>
              </a:rPr>
              <a:t>ExtentReports</a:t>
            </a:r>
            <a:r>
              <a:rPr lang="en-US" sz="1800" dirty="0">
                <a:solidFill>
                  <a:schemeClr val="accent6"/>
                </a:solidFill>
                <a:latin typeface="+mn-lt"/>
                <a:ea typeface="+mn-ea"/>
                <a:cs typeface="+mn-cs"/>
              </a:rPr>
              <a:t> to aggregate results for both TDD and BDD in one view.</a:t>
            </a:r>
          </a:p>
          <a:p>
            <a:pPr marL="12700" marR="5080"/>
            <a:r>
              <a:rPr lang="en-US" sz="1800" dirty="0">
                <a:solidFill>
                  <a:schemeClr val="accent2"/>
                </a:solidFill>
                <a:latin typeface="+mn-lt"/>
                <a:ea typeface="+mn-ea"/>
                <a:cs typeface="+mn-cs"/>
              </a:rPr>
              <a:t>Keep BDD Readable: </a:t>
            </a:r>
            <a:r>
              <a:rPr lang="en-US" sz="1800" dirty="0">
                <a:solidFill>
                  <a:schemeClr val="accent6"/>
                </a:solidFill>
                <a:latin typeface="+mn-lt"/>
                <a:ea typeface="+mn-ea"/>
                <a:cs typeface="+mn-cs"/>
              </a:rPr>
              <a:t>Ensure Gherkin scenarios are non-technical so non-developers can understand the report.</a:t>
            </a:r>
          </a:p>
          <a:p>
            <a:pPr marL="12700" marR="5080"/>
            <a:r>
              <a:rPr lang="en-US" sz="1800" dirty="0">
                <a:solidFill>
                  <a:schemeClr val="accent2"/>
                </a:solidFill>
                <a:latin typeface="+mn-lt"/>
                <a:ea typeface="+mn-ea"/>
                <a:cs typeface="+mn-cs"/>
              </a:rPr>
              <a:t>Monitor Trends: </a:t>
            </a:r>
            <a:r>
              <a:rPr lang="en-US" sz="1800" dirty="0">
                <a:solidFill>
                  <a:schemeClr val="accent6"/>
                </a:solidFill>
                <a:latin typeface="+mn-lt"/>
                <a:ea typeface="+mn-ea"/>
                <a:cs typeface="+mn-cs"/>
              </a:rPr>
              <a:t>Track failed scenarios over time, not just in the current build.</a:t>
            </a:r>
          </a:p>
          <a:p>
            <a:pPr marL="12700" marR="5080"/>
            <a:endParaRPr lang="en-US" sz="1800" dirty="0">
              <a:solidFill>
                <a:schemeClr val="accent6"/>
              </a:solidFill>
              <a:latin typeface="+mn-lt"/>
              <a:ea typeface="+mn-ea"/>
              <a:cs typeface="+mn-cs"/>
            </a:endParaRPr>
          </a:p>
          <a:p>
            <a:pPr marL="12700" marR="5080"/>
            <a:r>
              <a:rPr lang="en-US" sz="1800" dirty="0">
                <a:solidFill>
                  <a:schemeClr val="accent2"/>
                </a:solidFill>
                <a:latin typeface="+mn-lt"/>
                <a:ea typeface="+mn-ea"/>
                <a:cs typeface="+mn-cs"/>
              </a:rPr>
              <a:t>For Further Exploration</a:t>
            </a:r>
          </a:p>
          <a:p>
            <a:pPr marL="12700" marR="5080"/>
            <a:r>
              <a:rPr lang="en-US" sz="1800" dirty="0">
                <a:hlinkClick r:id="rId2"/>
              </a:rPr>
              <a:t>Allure Report — Open-source HTML test automation report tool</a:t>
            </a:r>
            <a:endParaRPr lang="en-US" sz="1800" dirty="0"/>
          </a:p>
          <a:p>
            <a:pPr marL="12700" marR="5080"/>
            <a:r>
              <a:rPr lang="en-US" sz="1800">
                <a:hlinkClick r:id="rId3"/>
              </a:rPr>
              <a:t>Test automation reporting improvements through Allure</a:t>
            </a:r>
            <a:endParaRPr lang="en-US" sz="1800" dirty="0">
              <a:solidFill>
                <a:schemeClr val="accent2"/>
              </a:solidFill>
              <a:latin typeface="+mn-lt"/>
              <a:ea typeface="+mn-ea"/>
              <a:cs typeface="+mn-cs"/>
            </a:endParaRPr>
          </a:p>
        </p:txBody>
      </p:sp>
      <p:grpSp>
        <p:nvGrpSpPr>
          <p:cNvPr id="3" name="Group 2">
            <a:extLst>
              <a:ext uri="{FF2B5EF4-FFF2-40B4-BE49-F238E27FC236}">
                <a16:creationId xmlns:a16="http://schemas.microsoft.com/office/drawing/2014/main" id="{FE2B7C67-AE71-2D06-955B-67E185081771}"/>
              </a:ext>
            </a:extLst>
          </p:cNvPr>
          <p:cNvGrpSpPr/>
          <p:nvPr/>
        </p:nvGrpSpPr>
        <p:grpSpPr>
          <a:xfrm>
            <a:off x="0" y="0"/>
            <a:ext cx="9144000" cy="795753"/>
            <a:chOff x="0" y="29528"/>
            <a:chExt cx="8686800" cy="795753"/>
          </a:xfrm>
        </p:grpSpPr>
        <p:sp>
          <p:nvSpPr>
            <p:cNvPr id="7" name="Rectangle: Rounded Corners 6">
              <a:extLst>
                <a:ext uri="{FF2B5EF4-FFF2-40B4-BE49-F238E27FC236}">
                  <a16:creationId xmlns:a16="http://schemas.microsoft.com/office/drawing/2014/main" id="{C04DEC20-9AA0-BFCC-5F65-95003A9DEDA2}"/>
                </a:ext>
              </a:extLst>
            </p:cNvPr>
            <p:cNvSpPr/>
            <p:nvPr/>
          </p:nvSpPr>
          <p:spPr>
            <a:xfrm>
              <a:off x="0" y="29528"/>
              <a:ext cx="8686800" cy="795753"/>
            </a:xfrm>
            <a:prstGeom prst="roundRect">
              <a:avLst/>
            </a:prstGeom>
          </p:spPr>
          <p:style>
            <a:lnRef idx="2">
              <a:schemeClr val="lt1">
                <a:hueOff val="0"/>
                <a:satOff val="0"/>
                <a:lumOff val="0"/>
                <a:alphaOff val="0"/>
              </a:schemeClr>
            </a:lnRef>
            <a:fillRef idx="1">
              <a:schemeClr val="accent6">
                <a:hueOff val="0"/>
                <a:satOff val="0"/>
                <a:lumOff val="0"/>
                <a:alphaOff val="0"/>
              </a:schemeClr>
            </a:fillRef>
            <a:effectRef idx="0">
              <a:schemeClr val="accent6">
                <a:hueOff val="0"/>
                <a:satOff val="0"/>
                <a:lumOff val="0"/>
                <a:alphaOff val="0"/>
              </a:schemeClr>
            </a:effectRef>
            <a:fontRef idx="minor">
              <a:schemeClr val="lt1"/>
            </a:fontRef>
          </p:style>
          <p:txBody>
            <a:bodyPr/>
            <a:lstStyle/>
            <a:p>
              <a:endParaRPr lang="en-IN"/>
            </a:p>
          </p:txBody>
        </p:sp>
        <p:sp>
          <p:nvSpPr>
            <p:cNvPr id="8" name="Rectangle: Rounded Corners 4">
              <a:extLst>
                <a:ext uri="{FF2B5EF4-FFF2-40B4-BE49-F238E27FC236}">
                  <a16:creationId xmlns:a16="http://schemas.microsoft.com/office/drawing/2014/main" id="{A14600EA-76F1-88FF-A089-B1784910662C}"/>
                </a:ext>
              </a:extLst>
            </p:cNvPr>
            <p:cNvSpPr txBox="1"/>
            <p:nvPr/>
          </p:nvSpPr>
          <p:spPr>
            <a:xfrm>
              <a:off x="38845" y="68373"/>
              <a:ext cx="8609110" cy="718063"/>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118110" tIns="118110" rIns="118110" bIns="118110" numCol="1" spcCol="1270" anchor="ctr" anchorCtr="0">
              <a:noAutofit/>
            </a:bodyPr>
            <a:lstStyle/>
            <a:p>
              <a:pPr marL="0" lvl="0" indent="0" algn="l" defTabSz="1377950">
                <a:lnSpc>
                  <a:spcPct val="90000"/>
                </a:lnSpc>
                <a:spcBef>
                  <a:spcPct val="0"/>
                </a:spcBef>
                <a:spcAft>
                  <a:spcPct val="35000"/>
                </a:spcAft>
                <a:buNone/>
              </a:pPr>
              <a:r>
                <a:rPr lang="en-US" sz="3100" b="1" i="0" kern="1200" dirty="0"/>
                <a:t>TDD and BDD Reporting</a:t>
              </a:r>
              <a:endParaRPr lang="en-US" sz="3100" kern="1200" dirty="0"/>
            </a:p>
          </p:txBody>
        </p:sp>
      </p:grpSp>
    </p:spTree>
    <p:extLst>
      <p:ext uri="{BB962C8B-B14F-4D97-AF65-F5344CB8AC3E}">
        <p14:creationId xmlns:p14="http://schemas.microsoft.com/office/powerpoint/2010/main" val="72125271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317004-688E-D33B-0DBA-D09AE2F37C6F}"/>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7F79C4E9-755C-33D2-0429-A67CA4B73A67}"/>
              </a:ext>
            </a:extLst>
          </p:cNvPr>
          <p:cNvSpPr/>
          <p:nvPr/>
        </p:nvSpPr>
        <p:spPr>
          <a:xfrm>
            <a:off x="1756802" y="626517"/>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8D1E9541-E59E-6E2C-3D0F-E3A588B3AE4D}"/>
              </a:ext>
            </a:extLst>
          </p:cNvPr>
          <p:cNvSpPr/>
          <p:nvPr/>
        </p:nvSpPr>
        <p:spPr>
          <a:xfrm>
            <a:off x="1756802" y="458377"/>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C4C82AA0-7624-9A8D-CF74-DCBF241BB05F}"/>
              </a:ext>
            </a:extLst>
          </p:cNvPr>
          <p:cNvGraphicFramePr/>
          <p:nvPr/>
        </p:nvGraphicFramePr>
        <p:xfrm>
          <a:off x="0" y="1"/>
          <a:ext cx="9067800" cy="5334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object 2">
            <a:extLst>
              <a:ext uri="{FF2B5EF4-FFF2-40B4-BE49-F238E27FC236}">
                <a16:creationId xmlns:a16="http://schemas.microsoft.com/office/drawing/2014/main" id="{E6DCF2A5-F2CC-7CAA-7990-C424B41A1E0D}"/>
              </a:ext>
            </a:extLst>
          </p:cNvPr>
          <p:cNvSpPr txBox="1">
            <a:spLocks/>
          </p:cNvSpPr>
          <p:nvPr/>
        </p:nvSpPr>
        <p:spPr>
          <a:xfrm>
            <a:off x="228600" y="762000"/>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p:txBody>
      </p:sp>
      <p:sp>
        <p:nvSpPr>
          <p:cNvPr id="7" name="object 2">
            <a:extLst>
              <a:ext uri="{FF2B5EF4-FFF2-40B4-BE49-F238E27FC236}">
                <a16:creationId xmlns:a16="http://schemas.microsoft.com/office/drawing/2014/main" id="{15D61512-8742-CF02-FC90-95C24EAB21E3}"/>
              </a:ext>
            </a:extLst>
          </p:cNvPr>
          <p:cNvSpPr txBox="1">
            <a:spLocks/>
          </p:cNvSpPr>
          <p:nvPr/>
        </p:nvSpPr>
        <p:spPr>
          <a:xfrm>
            <a:off x="138063" y="5023247"/>
            <a:ext cx="8624937" cy="246221"/>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600" kern="0" spc="-80" dirty="0">
                <a:solidFill>
                  <a:schemeClr val="accent2"/>
                </a:solidFill>
              </a:rPr>
              <a:t>  </a:t>
            </a:r>
          </a:p>
        </p:txBody>
      </p:sp>
      <p:pic>
        <p:nvPicPr>
          <p:cNvPr id="8" name="Picture 7">
            <a:extLst>
              <a:ext uri="{FF2B5EF4-FFF2-40B4-BE49-F238E27FC236}">
                <a16:creationId xmlns:a16="http://schemas.microsoft.com/office/drawing/2014/main" id="{63009598-4F11-0152-FDF1-A7174B881657}"/>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0" y="803226"/>
            <a:ext cx="9067799" cy="2982932"/>
          </a:xfrm>
          <a:prstGeom prst="rect">
            <a:avLst/>
          </a:prstGeom>
        </p:spPr>
      </p:pic>
      <p:sp>
        <p:nvSpPr>
          <p:cNvPr id="10" name="TextBox 9">
            <a:extLst>
              <a:ext uri="{FF2B5EF4-FFF2-40B4-BE49-F238E27FC236}">
                <a16:creationId xmlns:a16="http://schemas.microsoft.com/office/drawing/2014/main" id="{FA0379AF-FDAE-90E2-0C8E-6931DE340E96}"/>
              </a:ext>
            </a:extLst>
          </p:cNvPr>
          <p:cNvSpPr txBox="1"/>
          <p:nvPr/>
        </p:nvSpPr>
        <p:spPr>
          <a:xfrm>
            <a:off x="152400" y="3912275"/>
            <a:ext cx="8610600" cy="2031325"/>
          </a:xfrm>
          <a:prstGeom prst="rect">
            <a:avLst/>
          </a:prstGeom>
          <a:noFill/>
        </p:spPr>
        <p:txBody>
          <a:bodyPr wrap="square">
            <a:spAutoFit/>
          </a:bodyPr>
          <a:lstStyle/>
          <a:p>
            <a:r>
              <a:rPr lang="en-IN" b="1" dirty="0">
                <a:solidFill>
                  <a:schemeClr val="accent2"/>
                </a:solidFill>
              </a:rPr>
              <a:t>Key Differences in Approach</a:t>
            </a:r>
          </a:p>
          <a:p>
            <a:r>
              <a:rPr lang="en-IN" b="1" dirty="0">
                <a:solidFill>
                  <a:schemeClr val="accent2"/>
                </a:solidFill>
              </a:rPr>
              <a:t>Security Integration:</a:t>
            </a:r>
            <a:r>
              <a:rPr lang="en-IN" b="1" dirty="0">
                <a:solidFill>
                  <a:schemeClr val="accent6"/>
                </a:solidFill>
              </a:rPr>
              <a:t> DevOps focuses on the "how" of building, while </a:t>
            </a:r>
            <a:r>
              <a:rPr lang="en-IN" b="1" dirty="0" err="1">
                <a:solidFill>
                  <a:schemeClr val="accent6"/>
                </a:solidFill>
              </a:rPr>
              <a:t>DevSecOps</a:t>
            </a:r>
            <a:r>
              <a:rPr lang="en-IN" b="1" dirty="0">
                <a:solidFill>
                  <a:schemeClr val="accent6"/>
                </a:solidFill>
              </a:rPr>
              <a:t> focuses on the "how" of building securely.</a:t>
            </a:r>
          </a:p>
          <a:p>
            <a:r>
              <a:rPr lang="en-IN" b="1" dirty="0">
                <a:solidFill>
                  <a:schemeClr val="accent2"/>
                </a:solidFill>
              </a:rPr>
              <a:t>Cultural Shift:</a:t>
            </a:r>
            <a:r>
              <a:rPr lang="en-IN" b="1" dirty="0">
                <a:solidFill>
                  <a:schemeClr val="accent6"/>
                </a:solidFill>
              </a:rPr>
              <a:t> </a:t>
            </a:r>
            <a:r>
              <a:rPr lang="en-IN" b="1" dirty="0" err="1">
                <a:solidFill>
                  <a:schemeClr val="accent6"/>
                </a:solidFill>
              </a:rPr>
              <a:t>DevSecOps</a:t>
            </a:r>
            <a:r>
              <a:rPr lang="en-IN" b="1" dirty="0">
                <a:solidFill>
                  <a:schemeClr val="accent6"/>
                </a:solidFill>
              </a:rPr>
              <a:t> treats security as code, ensuring every team member is responsible for security, not just a siloed security team.</a:t>
            </a:r>
          </a:p>
          <a:p>
            <a:r>
              <a:rPr lang="en-IN" b="1" dirty="0">
                <a:solidFill>
                  <a:schemeClr val="accent2"/>
                </a:solidFill>
              </a:rPr>
              <a:t>Velocity vs. Security:</a:t>
            </a:r>
            <a:r>
              <a:rPr lang="en-IN" b="1" dirty="0">
                <a:solidFill>
                  <a:schemeClr val="accent6"/>
                </a:solidFill>
              </a:rPr>
              <a:t> While DevOps can sometimes sacrifice security for speed, </a:t>
            </a:r>
            <a:r>
              <a:rPr lang="en-IN" b="1" dirty="0" err="1">
                <a:solidFill>
                  <a:schemeClr val="accent6"/>
                </a:solidFill>
              </a:rPr>
              <a:t>DevSecOps</a:t>
            </a:r>
            <a:r>
              <a:rPr lang="en-IN" b="1" dirty="0">
                <a:solidFill>
                  <a:schemeClr val="accent6"/>
                </a:solidFill>
              </a:rPr>
              <a:t> aims to balance both, ensuring speed does not introduce vulnerabilities. </a:t>
            </a:r>
          </a:p>
        </p:txBody>
      </p:sp>
    </p:spTree>
    <p:extLst>
      <p:ext uri="{BB962C8B-B14F-4D97-AF65-F5344CB8AC3E}">
        <p14:creationId xmlns:p14="http://schemas.microsoft.com/office/powerpoint/2010/main" val="426483774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p:nvPr/>
        </p:nvSpPr>
        <p:spPr>
          <a:xfrm>
            <a:off x="1746642" y="64516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p:cNvSpPr/>
          <p:nvPr/>
        </p:nvSpPr>
        <p:spPr>
          <a:xfrm>
            <a:off x="1746643" y="50439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226DC635-E9B3-0133-0548-37B556605D82}"/>
              </a:ext>
            </a:extLst>
          </p:cNvPr>
          <p:cNvGraphicFramePr/>
          <p:nvPr>
            <p:extLst>
              <p:ext uri="{D42A27DB-BD31-4B8C-83A1-F6EECF244321}">
                <p14:modId xmlns:p14="http://schemas.microsoft.com/office/powerpoint/2010/main" val="2930746340"/>
              </p:ext>
            </p:extLst>
          </p:nvPr>
        </p:nvGraphicFramePr>
        <p:xfrm>
          <a:off x="51412" y="34425"/>
          <a:ext cx="9016388" cy="461511"/>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object 2">
            <a:extLst>
              <a:ext uri="{FF2B5EF4-FFF2-40B4-BE49-F238E27FC236}">
                <a16:creationId xmlns:a16="http://schemas.microsoft.com/office/drawing/2014/main" id="{467B9D11-568F-0B6E-084E-840496724AFC}"/>
              </a:ext>
            </a:extLst>
          </p:cNvPr>
          <p:cNvSpPr txBox="1">
            <a:spLocks/>
          </p:cNvSpPr>
          <p:nvPr/>
        </p:nvSpPr>
        <p:spPr>
          <a:xfrm>
            <a:off x="228600" y="762000"/>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p:txBody>
      </p:sp>
      <p:sp>
        <p:nvSpPr>
          <p:cNvPr id="3" name="object 2">
            <a:extLst>
              <a:ext uri="{FF2B5EF4-FFF2-40B4-BE49-F238E27FC236}">
                <a16:creationId xmlns:a16="http://schemas.microsoft.com/office/drawing/2014/main" id="{E085A9C1-1662-182C-D6C7-9E8801FFFC5C}"/>
              </a:ext>
            </a:extLst>
          </p:cNvPr>
          <p:cNvSpPr txBox="1">
            <a:spLocks/>
          </p:cNvSpPr>
          <p:nvPr/>
        </p:nvSpPr>
        <p:spPr>
          <a:xfrm>
            <a:off x="1" y="685800"/>
            <a:ext cx="8762306" cy="369332"/>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Lifecycle</a:t>
            </a:r>
          </a:p>
        </p:txBody>
      </p:sp>
      <p:sp>
        <p:nvSpPr>
          <p:cNvPr id="7" name="object 2">
            <a:extLst>
              <a:ext uri="{FF2B5EF4-FFF2-40B4-BE49-F238E27FC236}">
                <a16:creationId xmlns:a16="http://schemas.microsoft.com/office/drawing/2014/main" id="{D844A7B1-E550-0B17-B5D4-E0FB5CF44D9B}"/>
              </a:ext>
            </a:extLst>
          </p:cNvPr>
          <p:cNvSpPr txBox="1">
            <a:spLocks/>
          </p:cNvSpPr>
          <p:nvPr/>
        </p:nvSpPr>
        <p:spPr>
          <a:xfrm>
            <a:off x="138063" y="5023247"/>
            <a:ext cx="8624937" cy="246221"/>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600" kern="0" spc="-80" dirty="0">
                <a:solidFill>
                  <a:schemeClr val="accent2"/>
                </a:solidFill>
              </a:rPr>
              <a:t>  </a:t>
            </a:r>
          </a:p>
        </p:txBody>
      </p:sp>
      <p:pic>
        <p:nvPicPr>
          <p:cNvPr id="34820" name="Picture 4" descr="Las 10 herramientas imprescindibles de DevOps utilizadas por las empresas  más grandes del mundo">
            <a:extLst>
              <a:ext uri="{FF2B5EF4-FFF2-40B4-BE49-F238E27FC236}">
                <a16:creationId xmlns:a16="http://schemas.microsoft.com/office/drawing/2014/main" id="{BE406BB4-EC26-8CC7-91CA-FA2EEA527A06}"/>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38063" y="1095771"/>
            <a:ext cx="8929737" cy="481340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24448342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9967C1-853B-E664-54DE-533960F921D6}"/>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F72F67F5-FD1E-6948-4BBD-0450F07B1D8B}"/>
              </a:ext>
            </a:extLst>
          </p:cNvPr>
          <p:cNvSpPr/>
          <p:nvPr/>
        </p:nvSpPr>
        <p:spPr>
          <a:xfrm>
            <a:off x="1756802" y="626517"/>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76C3CF38-E3AA-E47B-7674-8CFD4FEB3772}"/>
              </a:ext>
            </a:extLst>
          </p:cNvPr>
          <p:cNvSpPr/>
          <p:nvPr/>
        </p:nvSpPr>
        <p:spPr>
          <a:xfrm>
            <a:off x="1756802" y="458377"/>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FB59DC10-2992-8B82-4ECD-7E946768DCA0}"/>
              </a:ext>
            </a:extLst>
          </p:cNvPr>
          <p:cNvGraphicFramePr/>
          <p:nvPr/>
        </p:nvGraphicFramePr>
        <p:xfrm>
          <a:off x="0" y="1"/>
          <a:ext cx="9067800" cy="5334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object 2">
            <a:extLst>
              <a:ext uri="{FF2B5EF4-FFF2-40B4-BE49-F238E27FC236}">
                <a16:creationId xmlns:a16="http://schemas.microsoft.com/office/drawing/2014/main" id="{0360DAEA-C87C-D0D3-C648-35A921636D35}"/>
              </a:ext>
            </a:extLst>
          </p:cNvPr>
          <p:cNvSpPr txBox="1">
            <a:spLocks/>
          </p:cNvSpPr>
          <p:nvPr/>
        </p:nvSpPr>
        <p:spPr>
          <a:xfrm>
            <a:off x="228600" y="762000"/>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p:txBody>
      </p:sp>
      <p:sp>
        <p:nvSpPr>
          <p:cNvPr id="7" name="object 2">
            <a:extLst>
              <a:ext uri="{FF2B5EF4-FFF2-40B4-BE49-F238E27FC236}">
                <a16:creationId xmlns:a16="http://schemas.microsoft.com/office/drawing/2014/main" id="{392BFDE4-7EC6-8CFE-EA57-03EA919DCB6B}"/>
              </a:ext>
            </a:extLst>
          </p:cNvPr>
          <p:cNvSpPr txBox="1">
            <a:spLocks/>
          </p:cNvSpPr>
          <p:nvPr/>
        </p:nvSpPr>
        <p:spPr>
          <a:xfrm>
            <a:off x="138063" y="5023247"/>
            <a:ext cx="8624937" cy="246221"/>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600" kern="0" spc="-80" dirty="0">
                <a:solidFill>
                  <a:schemeClr val="accent2"/>
                </a:solidFill>
              </a:rPr>
              <a:t>  </a:t>
            </a:r>
          </a:p>
        </p:txBody>
      </p:sp>
      <p:sp>
        <p:nvSpPr>
          <p:cNvPr id="10" name="TextBox 9">
            <a:extLst>
              <a:ext uri="{FF2B5EF4-FFF2-40B4-BE49-F238E27FC236}">
                <a16:creationId xmlns:a16="http://schemas.microsoft.com/office/drawing/2014/main" id="{8E2287E8-BF9E-79D2-1540-A8CA6295FCE3}"/>
              </a:ext>
            </a:extLst>
          </p:cNvPr>
          <p:cNvSpPr txBox="1"/>
          <p:nvPr/>
        </p:nvSpPr>
        <p:spPr>
          <a:xfrm>
            <a:off x="29066" y="657154"/>
            <a:ext cx="8610600" cy="1969770"/>
          </a:xfrm>
          <a:prstGeom prst="rect">
            <a:avLst/>
          </a:prstGeom>
          <a:noFill/>
        </p:spPr>
        <p:txBody>
          <a:bodyPr wrap="square">
            <a:spAutoFit/>
          </a:bodyPr>
          <a:lstStyle/>
          <a:p>
            <a:pPr marL="12700" marR="5080"/>
            <a:r>
              <a:rPr lang="en-US" sz="2400" kern="0" spc="-80" dirty="0">
                <a:solidFill>
                  <a:schemeClr val="accent2"/>
                </a:solidFill>
              </a:rPr>
              <a:t>Lifecycle</a:t>
            </a:r>
          </a:p>
          <a:p>
            <a:pPr marL="12700" marR="5080"/>
            <a:r>
              <a:rPr lang="en-US" sz="1500" b="1" dirty="0">
                <a:solidFill>
                  <a:schemeClr val="accent6"/>
                </a:solidFill>
              </a:rPr>
              <a:t>A </a:t>
            </a:r>
            <a:r>
              <a:rPr lang="en-US" sz="1500" b="1" dirty="0" err="1">
                <a:solidFill>
                  <a:schemeClr val="accent6"/>
                </a:solidFill>
              </a:rPr>
              <a:t>DevSecOps</a:t>
            </a:r>
            <a:r>
              <a:rPr lang="en-US" sz="1500" b="1" dirty="0">
                <a:solidFill>
                  <a:schemeClr val="accent6"/>
                </a:solidFill>
              </a:rPr>
              <a:t> lifecycle integrates security into every phase of the software delivery pipeline, which includes practices like </a:t>
            </a:r>
            <a:r>
              <a:rPr lang="en-US" sz="1500" b="1" dirty="0">
                <a:solidFill>
                  <a:schemeClr val="accent2"/>
                </a:solidFill>
              </a:rPr>
              <a:t>Infrastructure as Code (</a:t>
            </a:r>
            <a:r>
              <a:rPr lang="en-US" sz="1500" b="1" dirty="0" err="1">
                <a:solidFill>
                  <a:schemeClr val="accent2"/>
                </a:solidFill>
              </a:rPr>
              <a:t>IaC</a:t>
            </a:r>
            <a:r>
              <a:rPr lang="en-US" sz="1500" b="1" dirty="0">
                <a:solidFill>
                  <a:schemeClr val="accent2"/>
                </a:solidFill>
              </a:rPr>
              <a:t>)</a:t>
            </a:r>
            <a:r>
              <a:rPr lang="en-US" sz="1500" b="1" dirty="0">
                <a:solidFill>
                  <a:schemeClr val="accent6"/>
                </a:solidFill>
              </a:rPr>
              <a:t> and </a:t>
            </a:r>
            <a:r>
              <a:rPr lang="en-US" sz="1500" b="1" dirty="0">
                <a:solidFill>
                  <a:schemeClr val="accent2"/>
                </a:solidFill>
              </a:rPr>
              <a:t>Configuration as Code (</a:t>
            </a:r>
            <a:r>
              <a:rPr lang="en-US" sz="1500" b="1" dirty="0" err="1">
                <a:solidFill>
                  <a:schemeClr val="accent2"/>
                </a:solidFill>
              </a:rPr>
              <a:t>CaC</a:t>
            </a:r>
            <a:r>
              <a:rPr lang="en-US" sz="1500" b="1" dirty="0">
                <a:solidFill>
                  <a:schemeClr val="accent2"/>
                </a:solidFill>
              </a:rPr>
              <a:t>)</a:t>
            </a:r>
            <a:r>
              <a:rPr lang="en-US" sz="1500" b="1" dirty="0">
                <a:solidFill>
                  <a:schemeClr val="accent6"/>
                </a:solidFill>
              </a:rPr>
              <a:t>, orchestrated through CI/CD tools.</a:t>
            </a:r>
          </a:p>
          <a:p>
            <a:pPr marL="12700" marR="5080"/>
            <a:endParaRPr lang="en-US" sz="1500" b="1" kern="0" spc="-80" dirty="0">
              <a:solidFill>
                <a:schemeClr val="accent2"/>
              </a:solidFill>
            </a:endParaRPr>
          </a:p>
          <a:p>
            <a:endParaRPr lang="en-US" sz="2000" b="1" dirty="0">
              <a:solidFill>
                <a:schemeClr val="accent2"/>
              </a:solidFill>
            </a:endParaRPr>
          </a:p>
          <a:p>
            <a:endParaRPr lang="en-IN" b="1" dirty="0">
              <a:solidFill>
                <a:schemeClr val="accent2"/>
              </a:solidFill>
            </a:endParaRPr>
          </a:p>
        </p:txBody>
      </p:sp>
      <p:pic>
        <p:nvPicPr>
          <p:cNvPr id="9" name="Picture 8">
            <a:extLst>
              <a:ext uri="{FF2B5EF4-FFF2-40B4-BE49-F238E27FC236}">
                <a16:creationId xmlns:a16="http://schemas.microsoft.com/office/drawing/2014/main" id="{FB5780CF-1E94-4A50-2D4E-F8883B01BB3F}"/>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29066" y="1830376"/>
            <a:ext cx="8929737" cy="2011844"/>
          </a:xfrm>
          <a:prstGeom prst="rect">
            <a:avLst/>
          </a:prstGeom>
        </p:spPr>
      </p:pic>
      <p:pic>
        <p:nvPicPr>
          <p:cNvPr id="12" name="Picture 11">
            <a:extLst>
              <a:ext uri="{FF2B5EF4-FFF2-40B4-BE49-F238E27FC236}">
                <a16:creationId xmlns:a16="http://schemas.microsoft.com/office/drawing/2014/main" id="{65273287-B731-4ABA-B5F7-4CDCB0382EFD}"/>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152400" y="3923899"/>
            <a:ext cx="8686799" cy="2011844"/>
          </a:xfrm>
          <a:prstGeom prst="rect">
            <a:avLst/>
          </a:prstGeom>
        </p:spPr>
      </p:pic>
    </p:spTree>
    <p:extLst>
      <p:ext uri="{BB962C8B-B14F-4D97-AF65-F5344CB8AC3E}">
        <p14:creationId xmlns:p14="http://schemas.microsoft.com/office/powerpoint/2010/main" val="390597692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5CFEE8-079D-F44F-4D0B-AEFDD1DB0637}"/>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B5977A01-8D43-D794-E81A-76639825DFFD}"/>
              </a:ext>
            </a:extLst>
          </p:cNvPr>
          <p:cNvSpPr/>
          <p:nvPr/>
        </p:nvSpPr>
        <p:spPr>
          <a:xfrm>
            <a:off x="1756802" y="626517"/>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7A8F620C-137F-C4E0-A47D-DBBC926BA589}"/>
              </a:ext>
            </a:extLst>
          </p:cNvPr>
          <p:cNvSpPr/>
          <p:nvPr/>
        </p:nvSpPr>
        <p:spPr>
          <a:xfrm>
            <a:off x="1756802" y="458377"/>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ED8F5DB2-089E-ED9B-B5EA-71755FED8EF4}"/>
              </a:ext>
            </a:extLst>
          </p:cNvPr>
          <p:cNvGraphicFramePr/>
          <p:nvPr/>
        </p:nvGraphicFramePr>
        <p:xfrm>
          <a:off x="0" y="1"/>
          <a:ext cx="9067800" cy="5334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object 2">
            <a:extLst>
              <a:ext uri="{FF2B5EF4-FFF2-40B4-BE49-F238E27FC236}">
                <a16:creationId xmlns:a16="http://schemas.microsoft.com/office/drawing/2014/main" id="{AD32AD9D-5ED4-A2AE-CA4A-7DA1428903ED}"/>
              </a:ext>
            </a:extLst>
          </p:cNvPr>
          <p:cNvSpPr txBox="1">
            <a:spLocks/>
          </p:cNvSpPr>
          <p:nvPr/>
        </p:nvSpPr>
        <p:spPr>
          <a:xfrm>
            <a:off x="228600" y="762000"/>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p:txBody>
      </p:sp>
      <p:sp>
        <p:nvSpPr>
          <p:cNvPr id="7" name="object 2">
            <a:extLst>
              <a:ext uri="{FF2B5EF4-FFF2-40B4-BE49-F238E27FC236}">
                <a16:creationId xmlns:a16="http://schemas.microsoft.com/office/drawing/2014/main" id="{13639547-A911-4508-C14E-94014D25B60B}"/>
              </a:ext>
            </a:extLst>
          </p:cNvPr>
          <p:cNvSpPr txBox="1">
            <a:spLocks/>
          </p:cNvSpPr>
          <p:nvPr/>
        </p:nvSpPr>
        <p:spPr>
          <a:xfrm>
            <a:off x="138063" y="5023247"/>
            <a:ext cx="8624937" cy="246221"/>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600" kern="0" spc="-80" dirty="0">
                <a:solidFill>
                  <a:schemeClr val="accent2"/>
                </a:solidFill>
              </a:rPr>
              <a:t>  </a:t>
            </a:r>
          </a:p>
        </p:txBody>
      </p:sp>
      <p:sp>
        <p:nvSpPr>
          <p:cNvPr id="10" name="TextBox 9">
            <a:extLst>
              <a:ext uri="{FF2B5EF4-FFF2-40B4-BE49-F238E27FC236}">
                <a16:creationId xmlns:a16="http://schemas.microsoft.com/office/drawing/2014/main" id="{1865AE84-4D2D-A159-287E-FB462D0F65C3}"/>
              </a:ext>
            </a:extLst>
          </p:cNvPr>
          <p:cNvSpPr txBox="1"/>
          <p:nvPr/>
        </p:nvSpPr>
        <p:spPr>
          <a:xfrm>
            <a:off x="29066" y="657154"/>
            <a:ext cx="8610600" cy="3785652"/>
          </a:xfrm>
          <a:prstGeom prst="rect">
            <a:avLst/>
          </a:prstGeom>
          <a:noFill/>
        </p:spPr>
        <p:txBody>
          <a:bodyPr wrap="square">
            <a:spAutoFit/>
          </a:bodyPr>
          <a:lstStyle/>
          <a:p>
            <a:r>
              <a:rPr lang="en-US" sz="2000" b="1" dirty="0">
                <a:solidFill>
                  <a:schemeClr val="accent2"/>
                </a:solidFill>
              </a:rPr>
              <a:t>Key Principles Illustrated in the Lifecycle(in earlier slide)</a:t>
            </a:r>
          </a:p>
          <a:p>
            <a:r>
              <a:rPr lang="en-US" sz="2000" b="1" dirty="0">
                <a:solidFill>
                  <a:schemeClr val="accent2"/>
                </a:solidFill>
              </a:rPr>
              <a:t>"Shift Left":</a:t>
            </a:r>
            <a:r>
              <a:rPr lang="en-US" sz="2000" b="1" dirty="0">
                <a:solidFill>
                  <a:schemeClr val="accent6"/>
                </a:solidFill>
              </a:rPr>
              <a:t> Security is integrated into the earliest stages (Plan and Develop) rather than being an afterthought.</a:t>
            </a:r>
          </a:p>
          <a:p>
            <a:r>
              <a:rPr lang="en-US" sz="2000" b="1" dirty="0">
                <a:solidFill>
                  <a:schemeClr val="accent2"/>
                </a:solidFill>
              </a:rPr>
              <a:t>Automation: </a:t>
            </a:r>
            <a:r>
              <a:rPr lang="en-US" sz="2000" b="1" dirty="0">
                <a:solidFill>
                  <a:schemeClr val="accent6"/>
                </a:solidFill>
              </a:rPr>
              <a:t>CI/CD pipelines automate security scanning and policy enforcement throughout the workflow, ensuring consistency and speed.</a:t>
            </a:r>
          </a:p>
          <a:p>
            <a:r>
              <a:rPr lang="en-US" sz="2000" b="1" dirty="0">
                <a:solidFill>
                  <a:schemeClr val="accent2"/>
                </a:solidFill>
              </a:rPr>
              <a:t>Everything as Code: </a:t>
            </a:r>
            <a:r>
              <a:rPr lang="en-US" sz="2000" b="1" dirty="0">
                <a:solidFill>
                  <a:schemeClr val="accent6"/>
                </a:solidFill>
              </a:rPr>
              <a:t>Infrastructure (</a:t>
            </a:r>
            <a:r>
              <a:rPr lang="en-US" sz="2000" b="1" dirty="0" err="1">
                <a:solidFill>
                  <a:schemeClr val="accent6"/>
                </a:solidFill>
              </a:rPr>
              <a:t>IaC</a:t>
            </a:r>
            <a:r>
              <a:rPr lang="en-US" sz="2000" b="1" dirty="0">
                <a:solidFill>
                  <a:schemeClr val="accent6"/>
                </a:solidFill>
              </a:rPr>
              <a:t>) and configuration (</a:t>
            </a:r>
            <a:r>
              <a:rPr lang="en-US" sz="2000" b="1" dirty="0" err="1">
                <a:solidFill>
                  <a:schemeClr val="accent6"/>
                </a:solidFill>
              </a:rPr>
              <a:t>CaC</a:t>
            </a:r>
            <a:r>
              <a:rPr lang="en-US" sz="2000" b="1" dirty="0">
                <a:solidFill>
                  <a:schemeClr val="accent6"/>
                </a:solidFill>
              </a:rPr>
              <a:t>) are treated as version-controlled code, allowing security policies to be written and automated as "policy as code".</a:t>
            </a:r>
          </a:p>
          <a:p>
            <a:r>
              <a:rPr lang="en-US" sz="2000" b="1" dirty="0">
                <a:solidFill>
                  <a:schemeClr val="accent2"/>
                </a:solidFill>
              </a:rPr>
              <a:t>Continuous Feedback Loop: </a:t>
            </a:r>
            <a:r>
              <a:rPr lang="en-US" sz="2000" b="1" dirty="0">
                <a:solidFill>
                  <a:schemeClr val="accent6"/>
                </a:solidFill>
              </a:rPr>
              <a:t>Monitoring in the production stage feeds back into the planning stage, ensuring continuous improvement of the security posture.</a:t>
            </a:r>
          </a:p>
          <a:p>
            <a:r>
              <a:rPr lang="en-US" sz="2000" b="1" dirty="0">
                <a:solidFill>
                  <a:schemeClr val="accent6"/>
                </a:solidFill>
              </a:rPr>
              <a:t>This lifecycle transforms security from a potential bottleneck into an accelerator for secure, rapid software delivery.</a:t>
            </a:r>
          </a:p>
        </p:txBody>
      </p:sp>
    </p:spTree>
    <p:extLst>
      <p:ext uri="{BB962C8B-B14F-4D97-AF65-F5344CB8AC3E}">
        <p14:creationId xmlns:p14="http://schemas.microsoft.com/office/powerpoint/2010/main" val="161623328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96AA04-F562-08AD-8A3D-EA56CC9802AE}"/>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D2868759-BC11-024D-62CD-FC410938E5B9}"/>
              </a:ext>
            </a:extLst>
          </p:cNvPr>
          <p:cNvSpPr/>
          <p:nvPr/>
        </p:nvSpPr>
        <p:spPr>
          <a:xfrm>
            <a:off x="1746642" y="64516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5A42360E-71B0-5CB0-0EFB-192959F046FA}"/>
              </a:ext>
            </a:extLst>
          </p:cNvPr>
          <p:cNvSpPr/>
          <p:nvPr/>
        </p:nvSpPr>
        <p:spPr>
          <a:xfrm>
            <a:off x="1746643" y="50439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D9410DD5-4672-A7AB-0578-FA7B8E24ECC3}"/>
              </a:ext>
            </a:extLst>
          </p:cNvPr>
          <p:cNvGraphicFramePr/>
          <p:nvPr/>
        </p:nvGraphicFramePr>
        <p:xfrm>
          <a:off x="51412" y="34425"/>
          <a:ext cx="9016388" cy="461511"/>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object 2">
            <a:extLst>
              <a:ext uri="{FF2B5EF4-FFF2-40B4-BE49-F238E27FC236}">
                <a16:creationId xmlns:a16="http://schemas.microsoft.com/office/drawing/2014/main" id="{A7E51F01-FC32-65D7-8F17-7153E86584BA}"/>
              </a:ext>
            </a:extLst>
          </p:cNvPr>
          <p:cNvSpPr txBox="1">
            <a:spLocks/>
          </p:cNvSpPr>
          <p:nvPr/>
        </p:nvSpPr>
        <p:spPr>
          <a:xfrm>
            <a:off x="228600" y="762000"/>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p:txBody>
      </p:sp>
      <p:sp>
        <p:nvSpPr>
          <p:cNvPr id="3" name="object 2">
            <a:extLst>
              <a:ext uri="{FF2B5EF4-FFF2-40B4-BE49-F238E27FC236}">
                <a16:creationId xmlns:a16="http://schemas.microsoft.com/office/drawing/2014/main" id="{96A0356B-4055-DE25-C07C-F6D1F8BCCC12}"/>
              </a:ext>
            </a:extLst>
          </p:cNvPr>
          <p:cNvSpPr txBox="1">
            <a:spLocks/>
          </p:cNvSpPr>
          <p:nvPr/>
        </p:nvSpPr>
        <p:spPr>
          <a:xfrm>
            <a:off x="1" y="685800"/>
            <a:ext cx="8762306" cy="369332"/>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Lifecycle</a:t>
            </a:r>
          </a:p>
        </p:txBody>
      </p:sp>
      <p:sp>
        <p:nvSpPr>
          <p:cNvPr id="7" name="object 2">
            <a:extLst>
              <a:ext uri="{FF2B5EF4-FFF2-40B4-BE49-F238E27FC236}">
                <a16:creationId xmlns:a16="http://schemas.microsoft.com/office/drawing/2014/main" id="{5C3196CD-A409-1538-7C50-1F9E15276B09}"/>
              </a:ext>
            </a:extLst>
          </p:cNvPr>
          <p:cNvSpPr txBox="1">
            <a:spLocks/>
          </p:cNvSpPr>
          <p:nvPr/>
        </p:nvSpPr>
        <p:spPr>
          <a:xfrm>
            <a:off x="138063" y="5023247"/>
            <a:ext cx="8624937" cy="246221"/>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600" kern="0" spc="-80" dirty="0">
                <a:solidFill>
                  <a:schemeClr val="accent2"/>
                </a:solidFill>
              </a:rPr>
              <a:t>  </a:t>
            </a:r>
          </a:p>
        </p:txBody>
      </p:sp>
      <p:sp>
        <p:nvSpPr>
          <p:cNvPr id="8" name="object 2">
            <a:extLst>
              <a:ext uri="{FF2B5EF4-FFF2-40B4-BE49-F238E27FC236}">
                <a16:creationId xmlns:a16="http://schemas.microsoft.com/office/drawing/2014/main" id="{9FFE3D20-EF04-FCC6-AE6A-DF14548A7067}"/>
              </a:ext>
            </a:extLst>
          </p:cNvPr>
          <p:cNvSpPr txBox="1">
            <a:spLocks/>
          </p:cNvSpPr>
          <p:nvPr/>
        </p:nvSpPr>
        <p:spPr>
          <a:xfrm>
            <a:off x="15852" y="1077413"/>
            <a:ext cx="8624937" cy="4962897"/>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500" kern="0" spc="-80" dirty="0">
                <a:solidFill>
                  <a:schemeClr val="accent2"/>
                </a:solidFill>
              </a:rPr>
              <a:t>For Further Exploration -</a:t>
            </a:r>
          </a:p>
          <a:p>
            <a:pPr marL="12700" marR="5080"/>
            <a:r>
              <a:rPr lang="en-IN" sz="1500" dirty="0">
                <a:hlinkClick r:id="rId7"/>
              </a:rPr>
              <a:t>What is DevOps?? | GitLab</a:t>
            </a:r>
            <a:endParaRPr lang="en-IN" sz="1500" dirty="0"/>
          </a:p>
          <a:p>
            <a:pPr marL="12700" marR="5080"/>
            <a:r>
              <a:rPr lang="en-IN" sz="1500" dirty="0">
                <a:hlinkClick r:id="rId8"/>
              </a:rPr>
              <a:t>What is CI/CD | LinkedIn</a:t>
            </a:r>
            <a:endParaRPr lang="en-IN" sz="1500" dirty="0"/>
          </a:p>
          <a:p>
            <a:pPr marL="12700" marR="5080"/>
            <a:r>
              <a:rPr lang="en-US" sz="1500" dirty="0">
                <a:hlinkClick r:id="rId9"/>
              </a:rPr>
              <a:t>Automate DACPAC Creation and Setup Scripts for Database Development</a:t>
            </a:r>
            <a:endParaRPr lang="en-US" sz="1500" dirty="0"/>
          </a:p>
          <a:p>
            <a:pPr marL="12700" marR="5080"/>
            <a:r>
              <a:rPr lang="en-IN" sz="1500" dirty="0" err="1">
                <a:hlinkClick r:id="rId10"/>
              </a:rPr>
              <a:t>pgAdmin</a:t>
            </a:r>
            <a:r>
              <a:rPr lang="en-IN" sz="1500" dirty="0">
                <a:hlinkClick r:id="rId10"/>
              </a:rPr>
              <a:t> - PostgreSQL Tools</a:t>
            </a:r>
            <a:endParaRPr lang="en-IN" sz="1500" dirty="0"/>
          </a:p>
          <a:p>
            <a:r>
              <a:rPr lang="en-US" sz="1600" dirty="0" err="1">
                <a:hlinkClick r:id="rId11"/>
              </a:rPr>
              <a:t>DevSecOps</a:t>
            </a:r>
            <a:r>
              <a:rPr lang="en-US" sz="1600" dirty="0">
                <a:hlinkClick r:id="rId11"/>
              </a:rPr>
              <a:t> on Azure | Microsoft Learn</a:t>
            </a:r>
            <a:endParaRPr lang="en-US" sz="1600" dirty="0"/>
          </a:p>
          <a:p>
            <a:r>
              <a:rPr lang="en-US" sz="1600" dirty="0">
                <a:hlinkClick r:id="rId12"/>
              </a:rPr>
              <a:t>Security in DevOps (</a:t>
            </a:r>
            <a:r>
              <a:rPr lang="en-US" sz="1600" dirty="0" err="1">
                <a:hlinkClick r:id="rId12"/>
              </a:rPr>
              <a:t>DevSecOps</a:t>
            </a:r>
            <a:r>
              <a:rPr lang="en-US" sz="1600" dirty="0">
                <a:hlinkClick r:id="rId12"/>
              </a:rPr>
              <a:t>) - Azure DevOps | Microsoft Learn</a:t>
            </a:r>
            <a:endParaRPr lang="en-US" sz="1600" dirty="0"/>
          </a:p>
          <a:p>
            <a:r>
              <a:rPr lang="en-IN" sz="1600" dirty="0" err="1">
                <a:hlinkClick r:id="rId13"/>
              </a:rPr>
              <a:t>DevSecOps</a:t>
            </a:r>
            <a:r>
              <a:rPr lang="en-IN" sz="1600" dirty="0">
                <a:hlinkClick r:id="rId13"/>
              </a:rPr>
              <a:t> for Infrastructure as Code (</a:t>
            </a:r>
            <a:r>
              <a:rPr lang="en-IN" sz="1600" dirty="0" err="1">
                <a:hlinkClick r:id="rId13"/>
              </a:rPr>
              <a:t>IaC</a:t>
            </a:r>
            <a:r>
              <a:rPr lang="en-IN" sz="1600" dirty="0">
                <a:hlinkClick r:id="rId13"/>
              </a:rPr>
              <a:t>) - Azure Architecture </a:t>
            </a:r>
            <a:r>
              <a:rPr lang="en-IN" sz="1600" dirty="0" err="1">
                <a:hlinkClick r:id="rId13"/>
              </a:rPr>
              <a:t>Center</a:t>
            </a:r>
            <a:r>
              <a:rPr lang="en-IN" sz="1600" dirty="0">
                <a:hlinkClick r:id="rId13"/>
              </a:rPr>
              <a:t> | Microsoft Learn</a:t>
            </a:r>
            <a:endParaRPr lang="en-IN" sz="1600" dirty="0"/>
          </a:p>
          <a:p>
            <a:pPr marL="12700" marR="5080"/>
            <a:r>
              <a:rPr lang="en-US" sz="1500" dirty="0">
                <a:hlinkClick r:id="rId14"/>
              </a:rPr>
              <a:t>Quality Gates: Why your DevOps Pipeline needs them! - Quality Clouds</a:t>
            </a:r>
            <a:endParaRPr lang="en-US" sz="1500" dirty="0"/>
          </a:p>
          <a:p>
            <a:pPr marL="12700" marR="5080"/>
            <a:r>
              <a:rPr lang="en-US" sz="1500" dirty="0">
                <a:hlinkClick r:id="rId15"/>
              </a:rPr>
              <a:t>Everything as code - DevOps Guidance</a:t>
            </a:r>
            <a:endParaRPr lang="en-US" sz="1500" dirty="0"/>
          </a:p>
          <a:p>
            <a:pPr marL="12700" marR="5080"/>
            <a:r>
              <a:rPr lang="en-US" sz="1500" dirty="0">
                <a:hlinkClick r:id="rId16"/>
              </a:rPr>
              <a:t>Features and benefits of Red Hat OpenShift</a:t>
            </a:r>
            <a:endParaRPr lang="en-US" sz="1500" dirty="0"/>
          </a:p>
          <a:p>
            <a:pPr marL="12700" marR="5080"/>
            <a:r>
              <a:rPr lang="en-US" sz="1500" dirty="0">
                <a:hlinkClick r:id="rId17"/>
              </a:rPr>
              <a:t>Getting </a:t>
            </a:r>
            <a:r>
              <a:rPr lang="en-US" sz="1500" dirty="0" err="1">
                <a:hlinkClick r:id="rId17"/>
              </a:rPr>
              <a:t>GitOps</a:t>
            </a:r>
            <a:r>
              <a:rPr lang="en-US" sz="1500" dirty="0">
                <a:hlinkClick r:id="rId17"/>
              </a:rPr>
              <a:t>: A practical platform with OpenShift, Argo CD, and </a:t>
            </a:r>
            <a:r>
              <a:rPr lang="en-US" sz="1500" dirty="0" err="1">
                <a:hlinkClick r:id="rId17"/>
              </a:rPr>
              <a:t>Tekton</a:t>
            </a:r>
            <a:r>
              <a:rPr lang="en-US" sz="1500" dirty="0">
                <a:hlinkClick r:id="rId17"/>
              </a:rPr>
              <a:t> | Red Hat Developer</a:t>
            </a:r>
            <a:endParaRPr lang="en-US" sz="1500" dirty="0"/>
          </a:p>
          <a:p>
            <a:pPr marL="12700" marR="5080"/>
            <a:r>
              <a:rPr lang="en-US" sz="1500" dirty="0">
                <a:hlinkClick r:id="rId18"/>
              </a:rPr>
              <a:t>DevOps Culture and Practice with OpenShift | Red Hat Developer</a:t>
            </a:r>
            <a:endParaRPr lang="en-US" sz="1500" dirty="0"/>
          </a:p>
          <a:p>
            <a:pPr marL="12700" marR="5080"/>
            <a:r>
              <a:rPr lang="en-IN" sz="1500" dirty="0">
                <a:hlinkClick r:id="rId19"/>
              </a:rPr>
              <a:t>E-books - Practical </a:t>
            </a:r>
            <a:r>
              <a:rPr lang="en-IN" sz="1500" dirty="0" err="1">
                <a:hlinkClick r:id="rId19"/>
              </a:rPr>
              <a:t>DevSecOps</a:t>
            </a:r>
            <a:endParaRPr lang="en-US" sz="1500" dirty="0"/>
          </a:p>
          <a:p>
            <a:pPr marL="12700" marR="5080"/>
            <a:r>
              <a:rPr lang="en-US" sz="1500" dirty="0">
                <a:hlinkClick r:id="rId20"/>
              </a:rPr>
              <a:t>Hands-On Security in DevOps | Cloud &amp; Networking | Paperback</a:t>
            </a:r>
            <a:endParaRPr lang="en-US" sz="1500" dirty="0"/>
          </a:p>
          <a:p>
            <a:pPr marL="12700" marR="5080"/>
            <a:r>
              <a:rPr lang="en-US" sz="1500" dirty="0">
                <a:hlinkClick r:id="rId21"/>
              </a:rPr>
              <a:t>Shift left vs shift right: A DevOps mystery solved</a:t>
            </a:r>
            <a:endParaRPr lang="en-US" sz="1500" dirty="0"/>
          </a:p>
          <a:p>
            <a:pPr marL="12700" marR="5080"/>
            <a:r>
              <a:rPr lang="en-IN" sz="1400" dirty="0">
                <a:hlinkClick r:id="rId22"/>
              </a:rPr>
              <a:t>Accelerate [Book]</a:t>
            </a:r>
            <a:r>
              <a:rPr lang="en-IN" sz="2000" dirty="0">
                <a:solidFill>
                  <a:schemeClr val="accent6"/>
                </a:solidFill>
                <a:latin typeface="+mn-lt"/>
                <a:ea typeface="+mn-ea"/>
                <a:cs typeface="+mn-cs"/>
              </a:rPr>
              <a:t>(Check </a:t>
            </a:r>
            <a:r>
              <a:rPr lang="en-US" sz="1400" dirty="0">
                <a:hlinkClick r:id="rId23"/>
              </a:rPr>
              <a:t>DORA[DevOps Research and Assessment] Metrics</a:t>
            </a:r>
            <a:r>
              <a:rPr lang="en-IN" sz="2000" dirty="0">
                <a:solidFill>
                  <a:schemeClr val="accent6"/>
                </a:solidFill>
                <a:latin typeface="+mn-lt"/>
                <a:ea typeface="+mn-ea"/>
                <a:cs typeface="+mn-cs"/>
              </a:rPr>
              <a:t>)</a:t>
            </a:r>
            <a:endParaRPr lang="en-US" sz="2000" dirty="0">
              <a:solidFill>
                <a:schemeClr val="accent6"/>
              </a:solidFill>
              <a:latin typeface="+mn-lt"/>
              <a:ea typeface="+mn-ea"/>
              <a:cs typeface="+mn-cs"/>
            </a:endParaRPr>
          </a:p>
          <a:p>
            <a:pPr marL="12700" marR="5080"/>
            <a:endParaRPr lang="en-US" sz="1350" kern="0" spc="-80" dirty="0">
              <a:solidFill>
                <a:schemeClr val="accent2"/>
              </a:solidFill>
            </a:endParaRPr>
          </a:p>
          <a:p>
            <a:pPr marL="12700" marR="5080"/>
            <a:endParaRPr lang="en-US" sz="1500" kern="0" spc="-80" dirty="0">
              <a:solidFill>
                <a:schemeClr val="accent2"/>
              </a:solidFill>
            </a:endParaRPr>
          </a:p>
        </p:txBody>
      </p:sp>
    </p:spTree>
    <p:extLst>
      <p:ext uri="{BB962C8B-B14F-4D97-AF65-F5344CB8AC3E}">
        <p14:creationId xmlns:p14="http://schemas.microsoft.com/office/powerpoint/2010/main" val="301403112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p:nvPr/>
        </p:nvSpPr>
        <p:spPr>
          <a:xfrm>
            <a:off x="1751721" y="657957"/>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p:cNvSpPr/>
          <p:nvPr/>
        </p:nvSpPr>
        <p:spPr>
          <a:xfrm>
            <a:off x="1751722" y="509651"/>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226DC635-E9B3-0133-0548-37B556605D82}"/>
              </a:ext>
            </a:extLst>
          </p:cNvPr>
          <p:cNvGraphicFramePr/>
          <p:nvPr>
            <p:extLst>
              <p:ext uri="{D42A27DB-BD31-4B8C-83A1-F6EECF244321}">
                <p14:modId xmlns:p14="http://schemas.microsoft.com/office/powerpoint/2010/main" val="3230245805"/>
              </p:ext>
            </p:extLst>
          </p:nvPr>
        </p:nvGraphicFramePr>
        <p:xfrm>
          <a:off x="-1" y="34425"/>
          <a:ext cx="9005937" cy="516596"/>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object 2">
            <a:extLst>
              <a:ext uri="{FF2B5EF4-FFF2-40B4-BE49-F238E27FC236}">
                <a16:creationId xmlns:a16="http://schemas.microsoft.com/office/drawing/2014/main" id="{467B9D11-568F-0B6E-084E-840496724AFC}"/>
              </a:ext>
            </a:extLst>
          </p:cNvPr>
          <p:cNvSpPr txBox="1">
            <a:spLocks/>
          </p:cNvSpPr>
          <p:nvPr/>
        </p:nvSpPr>
        <p:spPr>
          <a:xfrm>
            <a:off x="228600" y="762000"/>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p:txBody>
      </p:sp>
      <p:sp>
        <p:nvSpPr>
          <p:cNvPr id="3" name="object 2">
            <a:extLst>
              <a:ext uri="{FF2B5EF4-FFF2-40B4-BE49-F238E27FC236}">
                <a16:creationId xmlns:a16="http://schemas.microsoft.com/office/drawing/2014/main" id="{E085A9C1-1662-182C-D6C7-9E8801FFFC5C}"/>
              </a:ext>
            </a:extLst>
          </p:cNvPr>
          <p:cNvSpPr txBox="1">
            <a:spLocks/>
          </p:cNvSpPr>
          <p:nvPr/>
        </p:nvSpPr>
        <p:spPr>
          <a:xfrm>
            <a:off x="-35560" y="801679"/>
            <a:ext cx="8762306" cy="369332"/>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Immutable Infrastructure</a:t>
            </a:r>
          </a:p>
        </p:txBody>
      </p:sp>
      <p:sp>
        <p:nvSpPr>
          <p:cNvPr id="7" name="object 2">
            <a:extLst>
              <a:ext uri="{FF2B5EF4-FFF2-40B4-BE49-F238E27FC236}">
                <a16:creationId xmlns:a16="http://schemas.microsoft.com/office/drawing/2014/main" id="{D844A7B1-E550-0B17-B5D4-E0FB5CF44D9B}"/>
              </a:ext>
            </a:extLst>
          </p:cNvPr>
          <p:cNvSpPr txBox="1">
            <a:spLocks/>
          </p:cNvSpPr>
          <p:nvPr/>
        </p:nvSpPr>
        <p:spPr>
          <a:xfrm>
            <a:off x="138063" y="5023247"/>
            <a:ext cx="8624937" cy="246221"/>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600" kern="0" spc="-80" dirty="0">
                <a:solidFill>
                  <a:schemeClr val="accent2"/>
                </a:solidFill>
              </a:rPr>
              <a:t>  </a:t>
            </a:r>
          </a:p>
        </p:txBody>
      </p:sp>
      <p:pic>
        <p:nvPicPr>
          <p:cNvPr id="9" name="Picture 8">
            <a:extLst>
              <a:ext uri="{FF2B5EF4-FFF2-40B4-BE49-F238E27FC236}">
                <a16:creationId xmlns:a16="http://schemas.microsoft.com/office/drawing/2014/main" id="{9485A48B-597D-E5AC-1F25-584E15124DD6}"/>
              </a:ext>
            </a:extLst>
          </p:cNvPr>
          <p:cNvPicPr>
            <a:picLocks noChangeAspect="1"/>
          </p:cNvPicPr>
          <p:nvPr/>
        </p:nvPicPr>
        <p:blipFill>
          <a:blip r:embed="rId7"/>
          <a:stretch>
            <a:fillRect/>
          </a:stretch>
        </p:blipFill>
        <p:spPr>
          <a:xfrm>
            <a:off x="138062" y="1210690"/>
            <a:ext cx="8867875" cy="4117357"/>
          </a:xfrm>
          <a:prstGeom prst="rect">
            <a:avLst/>
          </a:prstGeom>
        </p:spPr>
      </p:pic>
      <p:sp>
        <p:nvSpPr>
          <p:cNvPr id="8" name="object 2">
            <a:extLst>
              <a:ext uri="{FF2B5EF4-FFF2-40B4-BE49-F238E27FC236}">
                <a16:creationId xmlns:a16="http://schemas.microsoft.com/office/drawing/2014/main" id="{AA392C04-10B5-BE84-F023-7493AE5351BF}"/>
              </a:ext>
            </a:extLst>
          </p:cNvPr>
          <p:cNvSpPr txBox="1">
            <a:spLocks/>
          </p:cNvSpPr>
          <p:nvPr/>
        </p:nvSpPr>
        <p:spPr>
          <a:xfrm>
            <a:off x="137369" y="5328047"/>
            <a:ext cx="8624937" cy="615553"/>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500" kern="0" spc="-80" dirty="0">
                <a:solidFill>
                  <a:schemeClr val="accent2"/>
                </a:solidFill>
              </a:rPr>
              <a:t>For Further Exploration </a:t>
            </a:r>
            <a:r>
              <a:rPr lang="en-US" sz="2400" kern="0" spc="-80" dirty="0">
                <a:solidFill>
                  <a:schemeClr val="accent2"/>
                </a:solidFill>
              </a:rPr>
              <a:t>–</a:t>
            </a:r>
          </a:p>
          <a:p>
            <a:pPr marL="12700" marR="5080"/>
            <a:r>
              <a:rPr lang="en-US" sz="1500" kern="0" spc="-80" dirty="0">
                <a:solidFill>
                  <a:schemeClr val="accent2"/>
                </a:solidFill>
              </a:rPr>
              <a:t> </a:t>
            </a:r>
            <a:r>
              <a:rPr lang="en-IN" sz="1500" dirty="0">
                <a:hlinkClick r:id="rId8"/>
              </a:rPr>
              <a:t>Immutable Infrastructure: Benefits, Comparisons &amp; More</a:t>
            </a:r>
            <a:endParaRPr lang="en-US" sz="1500" kern="0" spc="-80" dirty="0">
              <a:solidFill>
                <a:schemeClr val="accent2"/>
              </a:solidFill>
            </a:endParaRPr>
          </a:p>
        </p:txBody>
      </p:sp>
    </p:spTree>
    <p:extLst>
      <p:ext uri="{BB962C8B-B14F-4D97-AF65-F5344CB8AC3E}">
        <p14:creationId xmlns:p14="http://schemas.microsoft.com/office/powerpoint/2010/main" val="325113786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p:nvPr/>
        </p:nvSpPr>
        <p:spPr>
          <a:xfrm>
            <a:off x="1756803" y="655876"/>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p:cNvSpPr/>
          <p:nvPr/>
        </p:nvSpPr>
        <p:spPr>
          <a:xfrm>
            <a:off x="1756803" y="503636"/>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226DC635-E9B3-0133-0548-37B556605D82}"/>
              </a:ext>
            </a:extLst>
          </p:cNvPr>
          <p:cNvGraphicFramePr/>
          <p:nvPr>
            <p:extLst>
              <p:ext uri="{D42A27DB-BD31-4B8C-83A1-F6EECF244321}">
                <p14:modId xmlns:p14="http://schemas.microsoft.com/office/powerpoint/2010/main" val="4133954813"/>
              </p:ext>
            </p:extLst>
          </p:nvPr>
        </p:nvGraphicFramePr>
        <p:xfrm>
          <a:off x="0" y="34425"/>
          <a:ext cx="9144000" cy="42277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object 2">
            <a:extLst>
              <a:ext uri="{FF2B5EF4-FFF2-40B4-BE49-F238E27FC236}">
                <a16:creationId xmlns:a16="http://schemas.microsoft.com/office/drawing/2014/main" id="{467B9D11-568F-0B6E-084E-840496724AFC}"/>
              </a:ext>
            </a:extLst>
          </p:cNvPr>
          <p:cNvSpPr txBox="1">
            <a:spLocks/>
          </p:cNvSpPr>
          <p:nvPr/>
        </p:nvSpPr>
        <p:spPr>
          <a:xfrm>
            <a:off x="228600" y="762000"/>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p:txBody>
      </p:sp>
      <p:sp>
        <p:nvSpPr>
          <p:cNvPr id="3" name="object 2">
            <a:extLst>
              <a:ext uri="{FF2B5EF4-FFF2-40B4-BE49-F238E27FC236}">
                <a16:creationId xmlns:a16="http://schemas.microsoft.com/office/drawing/2014/main" id="{E085A9C1-1662-182C-D6C7-9E8801FFFC5C}"/>
              </a:ext>
            </a:extLst>
          </p:cNvPr>
          <p:cNvSpPr txBox="1">
            <a:spLocks/>
          </p:cNvSpPr>
          <p:nvPr/>
        </p:nvSpPr>
        <p:spPr>
          <a:xfrm>
            <a:off x="1" y="823341"/>
            <a:ext cx="8915399" cy="369332"/>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err="1">
                <a:solidFill>
                  <a:schemeClr val="accent2"/>
                </a:solidFill>
              </a:rPr>
              <a:t>IaC</a:t>
            </a:r>
            <a:r>
              <a:rPr lang="en-US" sz="2400" kern="0" spc="-80" dirty="0">
                <a:solidFill>
                  <a:schemeClr val="accent2"/>
                </a:solidFill>
              </a:rPr>
              <a:t>(Infrastructure as Code)</a:t>
            </a:r>
          </a:p>
        </p:txBody>
      </p:sp>
      <p:sp>
        <p:nvSpPr>
          <p:cNvPr id="7" name="object 2">
            <a:extLst>
              <a:ext uri="{FF2B5EF4-FFF2-40B4-BE49-F238E27FC236}">
                <a16:creationId xmlns:a16="http://schemas.microsoft.com/office/drawing/2014/main" id="{D844A7B1-E550-0B17-B5D4-E0FB5CF44D9B}"/>
              </a:ext>
            </a:extLst>
          </p:cNvPr>
          <p:cNvSpPr txBox="1">
            <a:spLocks/>
          </p:cNvSpPr>
          <p:nvPr/>
        </p:nvSpPr>
        <p:spPr>
          <a:xfrm>
            <a:off x="138063" y="5023247"/>
            <a:ext cx="8624937" cy="246221"/>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600" kern="0" spc="-80" dirty="0">
                <a:solidFill>
                  <a:schemeClr val="accent2"/>
                </a:solidFill>
              </a:rPr>
              <a:t>  </a:t>
            </a:r>
          </a:p>
        </p:txBody>
      </p:sp>
      <p:sp>
        <p:nvSpPr>
          <p:cNvPr id="8" name="object 2">
            <a:extLst>
              <a:ext uri="{FF2B5EF4-FFF2-40B4-BE49-F238E27FC236}">
                <a16:creationId xmlns:a16="http://schemas.microsoft.com/office/drawing/2014/main" id="{3102C7EC-7155-21AB-C7D8-BE8CCB5D0E31}"/>
              </a:ext>
            </a:extLst>
          </p:cNvPr>
          <p:cNvSpPr txBox="1">
            <a:spLocks/>
          </p:cNvSpPr>
          <p:nvPr/>
        </p:nvSpPr>
        <p:spPr>
          <a:xfrm>
            <a:off x="0" y="3473693"/>
            <a:ext cx="9005937" cy="2469907"/>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500" kern="0" spc="-80" dirty="0">
                <a:solidFill>
                  <a:schemeClr val="accent2"/>
                </a:solidFill>
              </a:rPr>
              <a:t>For Further Exploration </a:t>
            </a:r>
            <a:r>
              <a:rPr lang="en-US" sz="2400" kern="0" spc="-80" dirty="0">
                <a:solidFill>
                  <a:schemeClr val="accent2"/>
                </a:solidFill>
              </a:rPr>
              <a:t>-</a:t>
            </a:r>
          </a:p>
          <a:p>
            <a:pPr marL="12700" marR="5080"/>
            <a:r>
              <a:rPr lang="en-US" sz="1050" dirty="0">
                <a:hlinkClick r:id="rId7"/>
              </a:rPr>
              <a:t>Infrastructure as Code (</a:t>
            </a:r>
            <a:r>
              <a:rPr lang="en-US" sz="1050" dirty="0" err="1">
                <a:hlinkClick r:id="rId7"/>
              </a:rPr>
              <a:t>IaC</a:t>
            </a:r>
            <a:r>
              <a:rPr lang="en-US" sz="1050" dirty="0">
                <a:hlinkClick r:id="rId7"/>
              </a:rPr>
              <a:t>) vs. Configuration as Code (</a:t>
            </a:r>
            <a:r>
              <a:rPr lang="en-US" sz="1050" dirty="0" err="1">
                <a:hlinkClick r:id="rId7"/>
              </a:rPr>
              <a:t>CaC</a:t>
            </a:r>
            <a:r>
              <a:rPr lang="en-US" sz="1050" dirty="0">
                <a:hlinkClick r:id="rId7"/>
              </a:rPr>
              <a:t>)</a:t>
            </a:r>
            <a:endParaRPr lang="en-US" sz="1050" dirty="0"/>
          </a:p>
          <a:p>
            <a:pPr marL="12700" marR="5080"/>
            <a:r>
              <a:rPr lang="en-US" sz="1050" dirty="0">
                <a:hlinkClick r:id="rId8"/>
              </a:rPr>
              <a:t>Configuration as Code: Everything You Need to Know</a:t>
            </a:r>
            <a:endParaRPr lang="en-US" sz="1050" dirty="0"/>
          </a:p>
          <a:p>
            <a:pPr marL="12700" marR="5080"/>
            <a:r>
              <a:rPr lang="en-IN" sz="1050" dirty="0" err="1">
                <a:hlinkClick r:id="rId9"/>
              </a:rPr>
              <a:t>GitOps</a:t>
            </a:r>
            <a:r>
              <a:rPr lang="en-IN" sz="1050" dirty="0">
                <a:hlinkClick r:id="rId9"/>
              </a:rPr>
              <a:t> vs </a:t>
            </a:r>
            <a:r>
              <a:rPr lang="en-IN" sz="1050" dirty="0" err="1">
                <a:hlinkClick r:id="rId9"/>
              </a:rPr>
              <a:t>GitFlow</a:t>
            </a:r>
            <a:endParaRPr lang="fr-FR" sz="1050" dirty="0"/>
          </a:p>
          <a:p>
            <a:pPr marL="12700" marR="5080"/>
            <a:r>
              <a:rPr lang="en-US" sz="1050" dirty="0" err="1">
                <a:hlinkClick r:id="rId10"/>
              </a:rPr>
              <a:t>WarpBuild</a:t>
            </a:r>
            <a:r>
              <a:rPr lang="en-US" sz="1050" dirty="0">
                <a:hlinkClick r:id="rId10"/>
              </a:rPr>
              <a:t> - 10x faster, 90% cheaper </a:t>
            </a:r>
            <a:r>
              <a:rPr lang="en-US" sz="1050" dirty="0" err="1">
                <a:hlinkClick r:id="rId10"/>
              </a:rPr>
              <a:t>Github</a:t>
            </a:r>
            <a:r>
              <a:rPr lang="en-US" sz="1050" dirty="0">
                <a:hlinkClick r:id="rId10"/>
              </a:rPr>
              <a:t> Actions runners</a:t>
            </a:r>
            <a:endParaRPr lang="en-US" sz="1050" dirty="0"/>
          </a:p>
          <a:p>
            <a:pPr marL="12700" marR="5080"/>
            <a:r>
              <a:rPr lang="en-US" sz="1050" dirty="0">
                <a:hlinkClick r:id="rId11"/>
              </a:rPr>
              <a:t>Comparing Terraform and Bicep | Microsoft Learn</a:t>
            </a:r>
            <a:endParaRPr lang="en-US" sz="1050" dirty="0"/>
          </a:p>
          <a:p>
            <a:pPr marL="12700" marR="5080"/>
            <a:r>
              <a:rPr lang="en-US" sz="1050" dirty="0">
                <a:hlinkClick r:id="rId12"/>
              </a:rPr>
              <a:t>The Complete Terraform with Ansible Bootcamp 2025 | Udemy</a:t>
            </a:r>
            <a:endParaRPr lang="en-US" sz="1050" dirty="0"/>
          </a:p>
          <a:p>
            <a:pPr marL="12700" marR="5080"/>
            <a:r>
              <a:rPr lang="en-IN" sz="1050" dirty="0">
                <a:hlinkClick r:id="rId13"/>
              </a:rPr>
              <a:t>Infrastructure-as-Code-for-Beginners</a:t>
            </a:r>
            <a:endParaRPr lang="en-US" sz="1050" kern="0" spc="-80" dirty="0">
              <a:solidFill>
                <a:schemeClr val="accent2"/>
              </a:solidFill>
            </a:endParaRPr>
          </a:p>
          <a:p>
            <a:pPr marL="12700" marR="5080"/>
            <a:r>
              <a:rPr lang="en-US" sz="1050" dirty="0">
                <a:hlinkClick r:id="rId14"/>
              </a:rPr>
              <a:t>Mastering-Terraform</a:t>
            </a:r>
            <a:endParaRPr lang="en-US" sz="1050" dirty="0"/>
          </a:p>
          <a:p>
            <a:pPr marL="12700" marR="5080"/>
            <a:r>
              <a:rPr lang="en-US" sz="1050" dirty="0">
                <a:hlinkClick r:id="rId15"/>
              </a:rPr>
              <a:t>Terraform-Cookbook</a:t>
            </a:r>
            <a:endParaRPr lang="en-US" sz="1050" dirty="0"/>
          </a:p>
          <a:p>
            <a:pPr marL="12700" marR="5080"/>
            <a:r>
              <a:rPr lang="en-US" sz="1050" dirty="0">
                <a:hlinkClick r:id="rId16"/>
              </a:rPr>
              <a:t>Master Azure Bicep: Explore Advanced Features and Techniques | Udemy</a:t>
            </a:r>
            <a:endParaRPr lang="en-US" sz="1050" dirty="0"/>
          </a:p>
          <a:p>
            <a:pPr marL="12700" marR="5080"/>
            <a:r>
              <a:rPr lang="en-US" sz="1050" dirty="0">
                <a:hlinkClick r:id="rId17"/>
              </a:rPr>
              <a:t>Azure Bicep: Mastering Infrastructure as Code with Bicep | Udemy</a:t>
            </a:r>
            <a:endParaRPr lang="en-US" sz="1050" dirty="0"/>
          </a:p>
          <a:p>
            <a:pPr marL="12700" marR="5080"/>
            <a:r>
              <a:rPr lang="en-US" sz="1050" dirty="0">
                <a:hlinkClick r:id="rId18"/>
              </a:rPr>
              <a:t>Infrastructure-as-Code-with-Azure-Bicep</a:t>
            </a:r>
            <a:endParaRPr lang="en-US" sz="1050" dirty="0"/>
          </a:p>
          <a:p>
            <a:pPr marL="12700" marR="5080"/>
            <a:r>
              <a:rPr lang="it-IT" sz="1050" dirty="0">
                <a:hlinkClick r:id="rId19"/>
              </a:rPr>
              <a:t>Terraform vs. Pulumi IaC | Pulumi Docs</a:t>
            </a:r>
            <a:endParaRPr lang="en-US" sz="1050" dirty="0"/>
          </a:p>
        </p:txBody>
      </p:sp>
      <p:pic>
        <p:nvPicPr>
          <p:cNvPr id="37896" name="Picture 8" descr="What is Infrastructure as Code?">
            <a:extLst>
              <a:ext uri="{FF2B5EF4-FFF2-40B4-BE49-F238E27FC236}">
                <a16:creationId xmlns:a16="http://schemas.microsoft.com/office/drawing/2014/main" id="{6B7F7B51-C2A9-B372-3FA8-A23AA5CDD264}"/>
              </a:ext>
            </a:extLst>
          </p:cNvPr>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136227" y="1192673"/>
            <a:ext cx="8533706" cy="227106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16803843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p:nvPr/>
        </p:nvSpPr>
        <p:spPr>
          <a:xfrm>
            <a:off x="1756803" y="609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p:cNvSpPr/>
          <p:nvPr/>
        </p:nvSpPr>
        <p:spPr>
          <a:xfrm>
            <a:off x="1756803" y="457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226DC635-E9B3-0133-0548-37B556605D82}"/>
              </a:ext>
            </a:extLst>
          </p:cNvPr>
          <p:cNvGraphicFramePr/>
          <p:nvPr>
            <p:extLst>
              <p:ext uri="{D42A27DB-BD31-4B8C-83A1-F6EECF244321}">
                <p14:modId xmlns:p14="http://schemas.microsoft.com/office/powerpoint/2010/main" val="166547718"/>
              </p:ext>
            </p:extLst>
          </p:nvPr>
        </p:nvGraphicFramePr>
        <p:xfrm>
          <a:off x="0" y="34426"/>
          <a:ext cx="9067800" cy="35252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object 2">
            <a:extLst>
              <a:ext uri="{FF2B5EF4-FFF2-40B4-BE49-F238E27FC236}">
                <a16:creationId xmlns:a16="http://schemas.microsoft.com/office/drawing/2014/main" id="{467B9D11-568F-0B6E-084E-840496724AFC}"/>
              </a:ext>
            </a:extLst>
          </p:cNvPr>
          <p:cNvSpPr txBox="1">
            <a:spLocks/>
          </p:cNvSpPr>
          <p:nvPr/>
        </p:nvSpPr>
        <p:spPr>
          <a:xfrm>
            <a:off x="228600" y="762000"/>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p:txBody>
      </p:sp>
      <p:sp>
        <p:nvSpPr>
          <p:cNvPr id="3" name="object 2">
            <a:extLst>
              <a:ext uri="{FF2B5EF4-FFF2-40B4-BE49-F238E27FC236}">
                <a16:creationId xmlns:a16="http://schemas.microsoft.com/office/drawing/2014/main" id="{E085A9C1-1662-182C-D6C7-9E8801FFFC5C}"/>
              </a:ext>
            </a:extLst>
          </p:cNvPr>
          <p:cNvSpPr txBox="1">
            <a:spLocks/>
          </p:cNvSpPr>
          <p:nvPr/>
        </p:nvSpPr>
        <p:spPr>
          <a:xfrm>
            <a:off x="0" y="697468"/>
            <a:ext cx="8915399" cy="369332"/>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Policy as Code - </a:t>
            </a:r>
          </a:p>
        </p:txBody>
      </p:sp>
      <p:sp>
        <p:nvSpPr>
          <p:cNvPr id="7" name="object 2">
            <a:extLst>
              <a:ext uri="{FF2B5EF4-FFF2-40B4-BE49-F238E27FC236}">
                <a16:creationId xmlns:a16="http://schemas.microsoft.com/office/drawing/2014/main" id="{D844A7B1-E550-0B17-B5D4-E0FB5CF44D9B}"/>
              </a:ext>
            </a:extLst>
          </p:cNvPr>
          <p:cNvSpPr txBox="1">
            <a:spLocks/>
          </p:cNvSpPr>
          <p:nvPr/>
        </p:nvSpPr>
        <p:spPr>
          <a:xfrm>
            <a:off x="138063" y="5023247"/>
            <a:ext cx="8624937" cy="246221"/>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600" kern="0" spc="-80" dirty="0">
                <a:solidFill>
                  <a:schemeClr val="accent2"/>
                </a:solidFill>
              </a:rPr>
              <a:t>  </a:t>
            </a:r>
          </a:p>
        </p:txBody>
      </p:sp>
      <p:sp>
        <p:nvSpPr>
          <p:cNvPr id="8" name="object 2">
            <a:extLst>
              <a:ext uri="{FF2B5EF4-FFF2-40B4-BE49-F238E27FC236}">
                <a16:creationId xmlns:a16="http://schemas.microsoft.com/office/drawing/2014/main" id="{3102C7EC-7155-21AB-C7D8-BE8CCB5D0E31}"/>
              </a:ext>
            </a:extLst>
          </p:cNvPr>
          <p:cNvSpPr txBox="1">
            <a:spLocks/>
          </p:cNvSpPr>
          <p:nvPr/>
        </p:nvSpPr>
        <p:spPr>
          <a:xfrm>
            <a:off x="137369" y="4772561"/>
            <a:ext cx="8624937" cy="1323439"/>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400" kern="0" spc="-80" dirty="0">
                <a:solidFill>
                  <a:schemeClr val="accent6"/>
                </a:solidFill>
              </a:rPr>
              <a:t>Policy as code is not only used exclusively for AuthN and </a:t>
            </a:r>
            <a:r>
              <a:rPr lang="en-US" sz="1400" kern="0" spc="-80" dirty="0" err="1">
                <a:solidFill>
                  <a:schemeClr val="accent6"/>
                </a:solidFill>
              </a:rPr>
              <a:t>AuthZ</a:t>
            </a:r>
            <a:r>
              <a:rPr lang="en-US" sz="1400" kern="0" spc="-80" dirty="0">
                <a:solidFill>
                  <a:schemeClr val="accent6"/>
                </a:solidFill>
              </a:rPr>
              <a:t>; it is a broader concept applied to managing infrastructure and operations, including infrastructure provisioning, workload orchestration, and a wide range of other operational concerns beyond just security access controls. While it is a powerful tool for implementing complex AuthN and </a:t>
            </a:r>
            <a:r>
              <a:rPr lang="en-US" sz="1400" kern="0" spc="-80" dirty="0" err="1">
                <a:solidFill>
                  <a:schemeClr val="accent6"/>
                </a:solidFill>
              </a:rPr>
              <a:t>AuthZ</a:t>
            </a:r>
            <a:r>
              <a:rPr lang="en-US" sz="1400" kern="0" spc="-80" dirty="0">
                <a:solidFill>
                  <a:schemeClr val="accent6"/>
                </a:solidFill>
              </a:rPr>
              <a:t> policies, its primary purpose is to bring code-like management to any form of operational policy.</a:t>
            </a:r>
            <a:br>
              <a:rPr lang="en-US" sz="1400" kern="0" spc="-80" dirty="0">
                <a:solidFill>
                  <a:schemeClr val="accent6"/>
                </a:solidFill>
              </a:rPr>
            </a:br>
            <a:endParaRPr lang="en-US" sz="1400" kern="0" spc="-80" dirty="0">
              <a:solidFill>
                <a:schemeClr val="accent6"/>
              </a:solidFill>
            </a:endParaRPr>
          </a:p>
        </p:txBody>
      </p:sp>
      <p:pic>
        <p:nvPicPr>
          <p:cNvPr id="38914" name="Picture 2">
            <a:extLst>
              <a:ext uri="{FF2B5EF4-FFF2-40B4-BE49-F238E27FC236}">
                <a16:creationId xmlns:a16="http://schemas.microsoft.com/office/drawing/2014/main" id="{082CF192-4F18-22E3-6533-BB4E3E1C5456}"/>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37369" y="1105536"/>
            <a:ext cx="8716168" cy="369506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74769908"/>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6367A5-CE18-0EC2-BA19-FC1F11BBAAED}"/>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78428826-C8C6-91FB-51B5-081BE2CDDF34}"/>
              </a:ext>
            </a:extLst>
          </p:cNvPr>
          <p:cNvSpPr/>
          <p:nvPr/>
        </p:nvSpPr>
        <p:spPr>
          <a:xfrm>
            <a:off x="1756803" y="643652"/>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625D118D-2C4F-A709-886A-44B6CC0BB37C}"/>
              </a:ext>
            </a:extLst>
          </p:cNvPr>
          <p:cNvSpPr/>
          <p:nvPr/>
        </p:nvSpPr>
        <p:spPr>
          <a:xfrm>
            <a:off x="1756803" y="495936"/>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13A5DFD9-BD50-3A79-E45F-1E8E73CCE711}"/>
              </a:ext>
            </a:extLst>
          </p:cNvPr>
          <p:cNvGraphicFramePr/>
          <p:nvPr>
            <p:extLst>
              <p:ext uri="{D42A27DB-BD31-4B8C-83A1-F6EECF244321}">
                <p14:modId xmlns:p14="http://schemas.microsoft.com/office/powerpoint/2010/main" val="4145250981"/>
              </p:ext>
            </p:extLst>
          </p:nvPr>
        </p:nvGraphicFramePr>
        <p:xfrm>
          <a:off x="0" y="34425"/>
          <a:ext cx="9144000" cy="42277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object 2">
            <a:extLst>
              <a:ext uri="{FF2B5EF4-FFF2-40B4-BE49-F238E27FC236}">
                <a16:creationId xmlns:a16="http://schemas.microsoft.com/office/drawing/2014/main" id="{BE5E9881-4547-8666-AC79-2375FB263999}"/>
              </a:ext>
            </a:extLst>
          </p:cNvPr>
          <p:cNvSpPr txBox="1">
            <a:spLocks/>
          </p:cNvSpPr>
          <p:nvPr/>
        </p:nvSpPr>
        <p:spPr>
          <a:xfrm>
            <a:off x="228600" y="762000"/>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p:txBody>
      </p:sp>
      <p:sp>
        <p:nvSpPr>
          <p:cNvPr id="3" name="object 2">
            <a:extLst>
              <a:ext uri="{FF2B5EF4-FFF2-40B4-BE49-F238E27FC236}">
                <a16:creationId xmlns:a16="http://schemas.microsoft.com/office/drawing/2014/main" id="{449FABE1-EC1E-437B-8269-2CDD63C552C7}"/>
              </a:ext>
            </a:extLst>
          </p:cNvPr>
          <p:cNvSpPr txBox="1">
            <a:spLocks/>
          </p:cNvSpPr>
          <p:nvPr/>
        </p:nvSpPr>
        <p:spPr>
          <a:xfrm>
            <a:off x="1" y="725884"/>
            <a:ext cx="8915399" cy="3964162"/>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Policy as Code –</a:t>
            </a:r>
          </a:p>
          <a:p>
            <a:pPr marL="12700" marR="5080"/>
            <a:r>
              <a:rPr lang="en-US" sz="1460" kern="0" spc="-80" dirty="0">
                <a:solidFill>
                  <a:schemeClr val="accent2"/>
                </a:solidFill>
              </a:rPr>
              <a:t>How Policy as Code is Used:</a:t>
            </a:r>
            <a:br>
              <a:rPr lang="en-US" sz="1460" kern="0" spc="-80" dirty="0">
                <a:solidFill>
                  <a:schemeClr val="accent6"/>
                </a:solidFill>
              </a:rPr>
            </a:br>
            <a:r>
              <a:rPr lang="en-US" sz="1460" kern="0" spc="-80" dirty="0">
                <a:solidFill>
                  <a:schemeClr val="accent2"/>
                </a:solidFill>
              </a:rPr>
              <a:t>Infrastructure Management:</a:t>
            </a:r>
            <a:r>
              <a:rPr lang="en-US" sz="1460" kern="0" spc="-80" dirty="0">
                <a:solidFill>
                  <a:schemeClr val="accent6"/>
                </a:solidFill>
              </a:rPr>
              <a:t> Defining and enforcing policies for provisioning and configuring infrastructure resources.</a:t>
            </a:r>
            <a:br>
              <a:rPr lang="en-US" sz="1460" kern="0" spc="-80" dirty="0">
                <a:solidFill>
                  <a:schemeClr val="accent6"/>
                </a:solidFill>
              </a:rPr>
            </a:br>
            <a:r>
              <a:rPr lang="en-US" sz="1460" kern="0" spc="-80" dirty="0">
                <a:solidFill>
                  <a:schemeClr val="accent2"/>
                </a:solidFill>
              </a:rPr>
              <a:t>Workload Orchestration:</a:t>
            </a:r>
            <a:r>
              <a:rPr lang="en-US" sz="1460" kern="0" spc="-80" dirty="0">
                <a:solidFill>
                  <a:schemeClr val="accent6"/>
                </a:solidFill>
              </a:rPr>
              <a:t> Managing and governing the deployment and execution of workloads and applications.</a:t>
            </a:r>
            <a:br>
              <a:rPr lang="en-US" sz="1460" kern="0" spc="-80" dirty="0">
                <a:solidFill>
                  <a:schemeClr val="accent6"/>
                </a:solidFill>
              </a:rPr>
            </a:br>
            <a:r>
              <a:rPr lang="en-US" sz="1460" kern="0" spc="-80" dirty="0">
                <a:solidFill>
                  <a:schemeClr val="accent2"/>
                </a:solidFill>
              </a:rPr>
              <a:t>Security:</a:t>
            </a:r>
            <a:r>
              <a:rPr lang="en-US" sz="1460" kern="0" spc="-80" dirty="0">
                <a:solidFill>
                  <a:schemeClr val="accent6"/>
                </a:solidFill>
              </a:rPr>
              <a:t> Implementing AuthN and </a:t>
            </a:r>
            <a:r>
              <a:rPr lang="en-US" sz="1460" kern="0" spc="-80" dirty="0" err="1">
                <a:solidFill>
                  <a:schemeClr val="accent6"/>
                </a:solidFill>
              </a:rPr>
              <a:t>AuthZ</a:t>
            </a:r>
            <a:r>
              <a:rPr lang="en-US" sz="1460" kern="0" spc="-80" dirty="0">
                <a:solidFill>
                  <a:schemeClr val="accent6"/>
                </a:solidFill>
              </a:rPr>
              <a:t> policies to control access to resources and ensure compliance.</a:t>
            </a:r>
            <a:br>
              <a:rPr lang="en-US" sz="1460" kern="0" spc="-80" dirty="0">
                <a:solidFill>
                  <a:schemeClr val="accent6"/>
                </a:solidFill>
              </a:rPr>
            </a:br>
            <a:r>
              <a:rPr lang="en-US" sz="1460" kern="0" spc="-80" dirty="0">
                <a:solidFill>
                  <a:schemeClr val="accent2"/>
                </a:solidFill>
              </a:rPr>
              <a:t>Compliance:</a:t>
            </a:r>
            <a:r>
              <a:rPr lang="en-US" sz="1460" kern="0" spc="-80" dirty="0">
                <a:solidFill>
                  <a:schemeClr val="accent6"/>
                </a:solidFill>
              </a:rPr>
              <a:t> Automating the enforcement of regulatory and organizational compliance requirements.</a:t>
            </a:r>
            <a:br>
              <a:rPr lang="en-US" sz="1460" kern="0" spc="-80" dirty="0">
                <a:solidFill>
                  <a:schemeClr val="accent6"/>
                </a:solidFill>
              </a:rPr>
            </a:br>
            <a:r>
              <a:rPr lang="en-US" sz="1460" kern="0" spc="-80" dirty="0">
                <a:solidFill>
                  <a:schemeClr val="accent2"/>
                </a:solidFill>
              </a:rPr>
              <a:t>Cost Management:</a:t>
            </a:r>
            <a:r>
              <a:rPr lang="en-US" sz="1460" kern="0" spc="-80" dirty="0">
                <a:solidFill>
                  <a:schemeClr val="accent6"/>
                </a:solidFill>
              </a:rPr>
              <a:t> Setting policies to control cloud spending and resource utilization.</a:t>
            </a:r>
            <a:br>
              <a:rPr lang="en-US" sz="1460" kern="0" spc="-80" dirty="0">
                <a:solidFill>
                  <a:schemeClr val="accent6"/>
                </a:solidFill>
              </a:rPr>
            </a:br>
            <a:r>
              <a:rPr lang="en-US" sz="1460" kern="0" spc="-80" dirty="0">
                <a:solidFill>
                  <a:schemeClr val="accent2"/>
                </a:solidFill>
              </a:rPr>
              <a:t>Why it Extends Beyond Security:</a:t>
            </a:r>
            <a:br>
              <a:rPr lang="en-US" sz="1460" kern="0" spc="-80" dirty="0">
                <a:solidFill>
                  <a:schemeClr val="accent6"/>
                </a:solidFill>
              </a:rPr>
            </a:br>
            <a:r>
              <a:rPr lang="en-US" sz="1460" kern="0" spc="-80" dirty="0">
                <a:solidFill>
                  <a:schemeClr val="accent6"/>
                </a:solidFill>
              </a:rPr>
              <a:t>The term "policy as code" signifies the process of defining, managing, and versioning any kind of policy using code, similar to how software is developed. </a:t>
            </a:r>
          </a:p>
          <a:p>
            <a:pPr marL="12700" marR="5080"/>
            <a:r>
              <a:rPr lang="en-US" sz="1460" kern="0" spc="-80" dirty="0">
                <a:solidFill>
                  <a:schemeClr val="accent2"/>
                </a:solidFill>
              </a:rPr>
              <a:t>This allows for:</a:t>
            </a:r>
            <a:br>
              <a:rPr lang="en-US" sz="1460" kern="0" spc="-80" dirty="0">
                <a:solidFill>
                  <a:schemeClr val="accent6"/>
                </a:solidFill>
              </a:rPr>
            </a:br>
            <a:r>
              <a:rPr lang="en-US" sz="1460" kern="0" spc="-80" dirty="0">
                <a:solidFill>
                  <a:schemeClr val="accent2"/>
                </a:solidFill>
              </a:rPr>
              <a:t>Automation: </a:t>
            </a:r>
            <a:r>
              <a:rPr lang="en-US" sz="1460" kern="0" spc="-80" dirty="0">
                <a:solidFill>
                  <a:schemeClr val="accent6"/>
                </a:solidFill>
              </a:rPr>
              <a:t>Policies are automatically enforced, reducing manual effort and human error.</a:t>
            </a:r>
            <a:br>
              <a:rPr lang="en-US" sz="1460" kern="0" spc="-80" dirty="0">
                <a:solidFill>
                  <a:schemeClr val="accent6"/>
                </a:solidFill>
              </a:rPr>
            </a:br>
            <a:r>
              <a:rPr lang="en-US" sz="1460" kern="0" spc="-80" dirty="0">
                <a:solidFill>
                  <a:schemeClr val="accent2"/>
                </a:solidFill>
              </a:rPr>
              <a:t>Version Control: </a:t>
            </a:r>
            <a:r>
              <a:rPr lang="en-US" sz="1460" kern="0" spc="-80" dirty="0">
                <a:solidFill>
                  <a:schemeClr val="accent6"/>
                </a:solidFill>
              </a:rPr>
              <a:t>Policies can be tracked, audited, and rolled back to previous versions, just like code.</a:t>
            </a:r>
            <a:br>
              <a:rPr lang="en-US" sz="1460" kern="0" spc="-80" dirty="0">
                <a:solidFill>
                  <a:schemeClr val="accent6"/>
                </a:solidFill>
              </a:rPr>
            </a:br>
            <a:r>
              <a:rPr lang="en-US" sz="1460" kern="0" spc="-80" dirty="0">
                <a:solidFill>
                  <a:schemeClr val="accent2"/>
                </a:solidFill>
              </a:rPr>
              <a:t>Scalability:</a:t>
            </a:r>
            <a:r>
              <a:rPr lang="en-US" sz="1460" kern="0" spc="-80" dirty="0">
                <a:solidFill>
                  <a:schemeClr val="accent6"/>
                </a:solidFill>
              </a:rPr>
              <a:t> Policies can be applied consistently across large and complex infrastructures.</a:t>
            </a:r>
            <a:br>
              <a:rPr lang="en-US" sz="1460" kern="0" spc="-80" dirty="0">
                <a:solidFill>
                  <a:schemeClr val="accent6"/>
                </a:solidFill>
              </a:rPr>
            </a:br>
            <a:r>
              <a:rPr lang="en-US" sz="1460" kern="0" spc="-80" dirty="0">
                <a:solidFill>
                  <a:schemeClr val="accent2"/>
                </a:solidFill>
              </a:rPr>
              <a:t>Flexibility:</a:t>
            </a:r>
            <a:r>
              <a:rPr lang="en-US" sz="1460" kern="0" spc="-80" dirty="0">
                <a:solidFill>
                  <a:schemeClr val="accent6"/>
                </a:solidFill>
              </a:rPr>
              <a:t> The same framework can be used for various operational concerns, not just security.</a:t>
            </a:r>
          </a:p>
        </p:txBody>
      </p:sp>
      <p:sp>
        <p:nvSpPr>
          <p:cNvPr id="7" name="object 2">
            <a:extLst>
              <a:ext uri="{FF2B5EF4-FFF2-40B4-BE49-F238E27FC236}">
                <a16:creationId xmlns:a16="http://schemas.microsoft.com/office/drawing/2014/main" id="{4A26C91D-A50F-E8A9-A335-8E2D7835DA5D}"/>
              </a:ext>
            </a:extLst>
          </p:cNvPr>
          <p:cNvSpPr txBox="1">
            <a:spLocks/>
          </p:cNvSpPr>
          <p:nvPr/>
        </p:nvSpPr>
        <p:spPr>
          <a:xfrm>
            <a:off x="138063" y="5023247"/>
            <a:ext cx="8624937" cy="246221"/>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600" kern="0" spc="-80" dirty="0">
                <a:solidFill>
                  <a:schemeClr val="accent2"/>
                </a:solidFill>
              </a:rPr>
              <a:t>  </a:t>
            </a:r>
          </a:p>
        </p:txBody>
      </p:sp>
      <p:sp>
        <p:nvSpPr>
          <p:cNvPr id="8" name="object 2">
            <a:extLst>
              <a:ext uri="{FF2B5EF4-FFF2-40B4-BE49-F238E27FC236}">
                <a16:creationId xmlns:a16="http://schemas.microsoft.com/office/drawing/2014/main" id="{42B385FC-0B5C-2E6F-44C4-EC1D1E709B50}"/>
              </a:ext>
            </a:extLst>
          </p:cNvPr>
          <p:cNvSpPr txBox="1">
            <a:spLocks/>
          </p:cNvSpPr>
          <p:nvPr/>
        </p:nvSpPr>
        <p:spPr>
          <a:xfrm>
            <a:off x="0" y="4881771"/>
            <a:ext cx="8624937" cy="1061829"/>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500" kern="0" spc="-80" dirty="0">
                <a:solidFill>
                  <a:schemeClr val="accent2"/>
                </a:solidFill>
              </a:rPr>
              <a:t>For Further Exploration </a:t>
            </a:r>
            <a:r>
              <a:rPr lang="en-US" sz="2400" kern="0" spc="-80" dirty="0">
                <a:solidFill>
                  <a:schemeClr val="accent2"/>
                </a:solidFill>
              </a:rPr>
              <a:t>–</a:t>
            </a:r>
          </a:p>
          <a:p>
            <a:pPr marL="12700" marR="5080"/>
            <a:r>
              <a:rPr lang="en-IN" sz="1500" dirty="0">
                <a:hlinkClick r:id="rId7"/>
              </a:rPr>
              <a:t>What is Policy-as-Code? | </a:t>
            </a:r>
            <a:r>
              <a:rPr lang="en-IN" sz="1500" dirty="0" err="1">
                <a:hlinkClick r:id="rId7"/>
              </a:rPr>
              <a:t>Sysdig</a:t>
            </a:r>
            <a:endParaRPr lang="en-IN" sz="1500" dirty="0"/>
          </a:p>
          <a:p>
            <a:pPr marL="12700" marR="5080"/>
            <a:r>
              <a:rPr lang="en-US" sz="1500" dirty="0">
                <a:hlinkClick r:id="rId8"/>
              </a:rPr>
              <a:t>Infrastructure as Code Testing with Azure Policy | Microsoft Community Hub</a:t>
            </a:r>
            <a:endParaRPr lang="en-US" sz="1500" dirty="0"/>
          </a:p>
          <a:p>
            <a:pPr marL="12700" marR="5080"/>
            <a:r>
              <a:rPr lang="en-US" sz="1500" dirty="0">
                <a:hlinkClick r:id="rId9"/>
              </a:rPr>
              <a:t>Policy Design in the Age of Digital Adoption | Cloud &amp; Networking | Print</a:t>
            </a:r>
            <a:endParaRPr lang="en-US" sz="1500" dirty="0"/>
          </a:p>
        </p:txBody>
      </p:sp>
    </p:spTree>
    <p:extLst>
      <p:ext uri="{BB962C8B-B14F-4D97-AF65-F5344CB8AC3E}">
        <p14:creationId xmlns:p14="http://schemas.microsoft.com/office/powerpoint/2010/main" val="418034656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67E7D5-72A0-DC18-9996-B75070FB36E1}"/>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1738706C-FA31-15E6-A84F-9090A5642DE7}"/>
              </a:ext>
            </a:extLst>
          </p:cNvPr>
          <p:cNvSpPr/>
          <p:nvPr/>
        </p:nvSpPr>
        <p:spPr>
          <a:xfrm>
            <a:off x="1764664" y="648336"/>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9DB78D89-ACD4-5DBE-AE6D-5154D1259FE7}"/>
              </a:ext>
            </a:extLst>
          </p:cNvPr>
          <p:cNvSpPr/>
          <p:nvPr/>
        </p:nvSpPr>
        <p:spPr>
          <a:xfrm>
            <a:off x="1756803" y="495936"/>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A3616153-5A3C-B5FD-95E1-F4AC4543674C}"/>
              </a:ext>
            </a:extLst>
          </p:cNvPr>
          <p:cNvGraphicFramePr/>
          <p:nvPr>
            <p:extLst>
              <p:ext uri="{D42A27DB-BD31-4B8C-83A1-F6EECF244321}">
                <p14:modId xmlns:p14="http://schemas.microsoft.com/office/powerpoint/2010/main" val="4254963298"/>
              </p:ext>
            </p:extLst>
          </p:nvPr>
        </p:nvGraphicFramePr>
        <p:xfrm>
          <a:off x="0" y="34425"/>
          <a:ext cx="9067800" cy="42277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object 2">
            <a:extLst>
              <a:ext uri="{FF2B5EF4-FFF2-40B4-BE49-F238E27FC236}">
                <a16:creationId xmlns:a16="http://schemas.microsoft.com/office/drawing/2014/main" id="{99963ECE-32DE-8715-B5A6-4E7C7EA6A5EA}"/>
              </a:ext>
            </a:extLst>
          </p:cNvPr>
          <p:cNvSpPr txBox="1">
            <a:spLocks/>
          </p:cNvSpPr>
          <p:nvPr/>
        </p:nvSpPr>
        <p:spPr>
          <a:xfrm>
            <a:off x="228600" y="762000"/>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p:txBody>
      </p:sp>
      <p:sp>
        <p:nvSpPr>
          <p:cNvPr id="3" name="object 2">
            <a:extLst>
              <a:ext uri="{FF2B5EF4-FFF2-40B4-BE49-F238E27FC236}">
                <a16:creationId xmlns:a16="http://schemas.microsoft.com/office/drawing/2014/main" id="{DE9E6363-11F3-B484-5EFC-1E23C72872F3}"/>
              </a:ext>
            </a:extLst>
          </p:cNvPr>
          <p:cNvSpPr txBox="1">
            <a:spLocks/>
          </p:cNvSpPr>
          <p:nvPr/>
        </p:nvSpPr>
        <p:spPr>
          <a:xfrm>
            <a:off x="83368" y="741680"/>
            <a:ext cx="8915399" cy="5232202"/>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err="1">
                <a:solidFill>
                  <a:schemeClr val="accent2"/>
                </a:solidFill>
              </a:rPr>
              <a:t>APIOps</a:t>
            </a:r>
            <a:endParaRPr lang="en-US" sz="2400" kern="0" spc="-80" dirty="0">
              <a:solidFill>
                <a:schemeClr val="accent2"/>
              </a:solidFill>
            </a:endParaRPr>
          </a:p>
          <a:p>
            <a:pPr marL="12700" marR="5080"/>
            <a:r>
              <a:rPr lang="en-US" sz="2400" kern="0" spc="-80" dirty="0">
                <a:solidFill>
                  <a:schemeClr val="accent2"/>
                </a:solidFill>
              </a:rPr>
              <a:t>✅ </a:t>
            </a:r>
            <a:r>
              <a:rPr lang="en-US" sz="1460" kern="0" spc="-80" dirty="0">
                <a:solidFill>
                  <a:schemeClr val="accent2"/>
                </a:solidFill>
              </a:rPr>
              <a:t>What is </a:t>
            </a:r>
            <a:r>
              <a:rPr lang="en-US" sz="1460" kern="0" spc="-80" dirty="0" err="1">
                <a:solidFill>
                  <a:schemeClr val="accent2"/>
                </a:solidFill>
              </a:rPr>
              <a:t>APIOps</a:t>
            </a:r>
            <a:r>
              <a:rPr lang="en-US" sz="1460" kern="0" spc="-80" dirty="0">
                <a:solidFill>
                  <a:schemeClr val="accent2"/>
                </a:solidFill>
              </a:rPr>
              <a:t>?</a:t>
            </a:r>
          </a:p>
          <a:p>
            <a:pPr marL="12700" marR="5080"/>
            <a:r>
              <a:rPr lang="en-US" sz="1460" kern="0" spc="-80" dirty="0" err="1">
                <a:solidFill>
                  <a:schemeClr val="accent6"/>
                </a:solidFill>
              </a:rPr>
              <a:t>APIOps</a:t>
            </a:r>
            <a:r>
              <a:rPr lang="en-US" sz="1460" kern="0" spc="-80" dirty="0">
                <a:solidFill>
                  <a:schemeClr val="accent6"/>
                </a:solidFill>
              </a:rPr>
              <a:t> is to APIs what DevOps is to software.</a:t>
            </a:r>
          </a:p>
          <a:p>
            <a:pPr marL="12700" marR="5080"/>
            <a:r>
              <a:rPr lang="en-US" sz="1460" kern="0" spc="-80" dirty="0">
                <a:solidFill>
                  <a:schemeClr val="accent6"/>
                </a:solidFill>
              </a:rPr>
              <a:t>DevOps = Automate building &amp; deploying code.</a:t>
            </a:r>
          </a:p>
          <a:p>
            <a:pPr marL="12700" marR="5080"/>
            <a:r>
              <a:rPr lang="en-US" sz="1460" kern="0" spc="-80" dirty="0" err="1">
                <a:solidFill>
                  <a:schemeClr val="accent6"/>
                </a:solidFill>
              </a:rPr>
              <a:t>APIOps</a:t>
            </a:r>
            <a:r>
              <a:rPr lang="en-US" sz="1460" kern="0" spc="-80" dirty="0">
                <a:solidFill>
                  <a:schemeClr val="accent6"/>
                </a:solidFill>
              </a:rPr>
              <a:t> = Automate designing, publishing &amp; managing APIs.</a:t>
            </a:r>
          </a:p>
          <a:p>
            <a:pPr marL="12700" marR="5080"/>
            <a:r>
              <a:rPr lang="en-US" sz="1460" kern="0" spc="-80" dirty="0">
                <a:solidFill>
                  <a:schemeClr val="accent2"/>
                </a:solidFill>
              </a:rPr>
              <a:t>Think of </a:t>
            </a:r>
            <a:r>
              <a:rPr lang="en-US" sz="1460" kern="0" spc="-80" dirty="0" err="1">
                <a:solidFill>
                  <a:schemeClr val="accent2"/>
                </a:solidFill>
              </a:rPr>
              <a:t>APIOps</a:t>
            </a:r>
            <a:r>
              <a:rPr lang="en-US" sz="1460" kern="0" spc="-80" dirty="0">
                <a:solidFill>
                  <a:schemeClr val="accent2"/>
                </a:solidFill>
              </a:rPr>
              <a:t> as:</a:t>
            </a:r>
          </a:p>
          <a:p>
            <a:pPr marL="12700" marR="5080"/>
            <a:r>
              <a:rPr lang="en-US" sz="1460" kern="0" spc="-80" dirty="0">
                <a:solidFill>
                  <a:schemeClr val="accent6"/>
                </a:solidFill>
              </a:rPr>
              <a:t>A repeatable, automated, version-controlled workflow to design, test, secure, deploy, and govern APIs.</a:t>
            </a:r>
          </a:p>
          <a:p>
            <a:pPr marL="12700" marR="5080"/>
            <a:endParaRPr lang="en-US" sz="1460" kern="0" spc="-80" dirty="0">
              <a:solidFill>
                <a:schemeClr val="accent6"/>
              </a:solidFill>
            </a:endParaRPr>
          </a:p>
          <a:p>
            <a:pPr marL="12700" marR="5080"/>
            <a:r>
              <a:rPr lang="en-US" sz="1460" kern="0" spc="-80" dirty="0">
                <a:solidFill>
                  <a:schemeClr val="accent2"/>
                </a:solidFill>
              </a:rPr>
              <a:t>🤔 Why Was </a:t>
            </a:r>
            <a:r>
              <a:rPr lang="en-US" sz="1460" kern="0" spc="-80" dirty="0" err="1">
                <a:solidFill>
                  <a:schemeClr val="accent2"/>
                </a:solidFill>
              </a:rPr>
              <a:t>APIOps</a:t>
            </a:r>
            <a:r>
              <a:rPr lang="en-US" sz="1460" kern="0" spc="-80" dirty="0">
                <a:solidFill>
                  <a:schemeClr val="accent2"/>
                </a:solidFill>
              </a:rPr>
              <a:t> Needed?</a:t>
            </a:r>
          </a:p>
          <a:p>
            <a:pPr marL="12700" marR="5080"/>
            <a:r>
              <a:rPr lang="en-US" sz="1460" kern="0" spc="-80" dirty="0">
                <a:solidFill>
                  <a:schemeClr val="accent2"/>
                </a:solidFill>
              </a:rPr>
              <a:t>Traditional APIs were deployed like this:</a:t>
            </a:r>
          </a:p>
          <a:p>
            <a:pPr marL="12700" marR="5080"/>
            <a:r>
              <a:rPr lang="en-US" sz="1460" kern="0" spc="-80" dirty="0">
                <a:solidFill>
                  <a:schemeClr val="accent6"/>
                </a:solidFill>
              </a:rPr>
              <a:t>Developer writes API code</a:t>
            </a:r>
          </a:p>
          <a:p>
            <a:pPr marL="12700" marR="5080"/>
            <a:r>
              <a:rPr lang="en-US" sz="1460" kern="0" spc="-80" dirty="0">
                <a:solidFill>
                  <a:schemeClr val="accent6"/>
                </a:solidFill>
              </a:rPr>
              <a:t>Writes documentation later (maybe 😅)</a:t>
            </a:r>
          </a:p>
          <a:p>
            <a:pPr marL="12700" marR="5080"/>
            <a:r>
              <a:rPr lang="en-US" sz="1460" kern="0" spc="-80" dirty="0">
                <a:solidFill>
                  <a:schemeClr val="accent6"/>
                </a:solidFill>
              </a:rPr>
              <a:t>Manually configures gateway policies</a:t>
            </a:r>
          </a:p>
          <a:p>
            <a:pPr marL="12700" marR="5080"/>
            <a:r>
              <a:rPr lang="en-US" sz="1460" kern="0" spc="-80" dirty="0">
                <a:solidFill>
                  <a:schemeClr val="accent6"/>
                </a:solidFill>
              </a:rPr>
              <a:t>Pushes to production</a:t>
            </a:r>
          </a:p>
          <a:p>
            <a:pPr marL="12700" marR="5080"/>
            <a:r>
              <a:rPr lang="en-US" sz="1460" kern="0" spc="-80" dirty="0">
                <a:solidFill>
                  <a:schemeClr val="accent6"/>
                </a:solidFill>
              </a:rPr>
              <a:t>Teams struggle to maintain consistency</a:t>
            </a:r>
          </a:p>
          <a:p>
            <a:pPr marL="12700" marR="5080"/>
            <a:r>
              <a:rPr lang="en-US" sz="1460" kern="0" spc="-80" dirty="0">
                <a:solidFill>
                  <a:schemeClr val="accent2"/>
                </a:solidFill>
              </a:rPr>
              <a:t>This causes:</a:t>
            </a:r>
          </a:p>
          <a:p>
            <a:pPr marL="12700" marR="5080"/>
            <a:r>
              <a:rPr lang="en-US" sz="1460" kern="0" spc="-80" dirty="0">
                <a:solidFill>
                  <a:schemeClr val="accent6"/>
                </a:solidFill>
              </a:rPr>
              <a:t>Different APIs behave differently</a:t>
            </a:r>
          </a:p>
          <a:p>
            <a:pPr marL="12700" marR="5080"/>
            <a:r>
              <a:rPr lang="en-US" sz="1460" kern="0" spc="-80" dirty="0">
                <a:solidFill>
                  <a:schemeClr val="accent6"/>
                </a:solidFill>
              </a:rPr>
              <a:t>Security policies are inconsistent</a:t>
            </a:r>
          </a:p>
          <a:p>
            <a:pPr marL="12700" marR="5080"/>
            <a:r>
              <a:rPr lang="en-US" sz="1460" kern="0" spc="-80" dirty="0">
                <a:solidFill>
                  <a:schemeClr val="accent6"/>
                </a:solidFill>
              </a:rPr>
              <a:t>Breaking changes happen silently</a:t>
            </a:r>
          </a:p>
          <a:p>
            <a:pPr marL="12700" marR="5080"/>
            <a:r>
              <a:rPr lang="en-US" sz="1460" kern="0" spc="-80" dirty="0">
                <a:solidFill>
                  <a:schemeClr val="accent6"/>
                </a:solidFill>
              </a:rPr>
              <a:t>Nobody knows which version does what</a:t>
            </a:r>
          </a:p>
          <a:p>
            <a:pPr marL="12700" marR="5080"/>
            <a:r>
              <a:rPr lang="en-US" sz="1460" kern="0" spc="-80" dirty="0">
                <a:solidFill>
                  <a:schemeClr val="accent6"/>
                </a:solidFill>
              </a:rPr>
              <a:t>Time to market is slow</a:t>
            </a:r>
          </a:p>
          <a:p>
            <a:pPr marL="12700" marR="5080"/>
            <a:r>
              <a:rPr lang="en-US" sz="1460" kern="0" spc="-80" dirty="0" err="1">
                <a:solidFill>
                  <a:schemeClr val="accent6"/>
                </a:solidFill>
              </a:rPr>
              <a:t>APIOps</a:t>
            </a:r>
            <a:r>
              <a:rPr lang="en-US" sz="1460" kern="0" spc="-80" dirty="0">
                <a:solidFill>
                  <a:schemeClr val="accent6"/>
                </a:solidFill>
              </a:rPr>
              <a:t> solves this by standardizing and automating the entire lifecycle.</a:t>
            </a:r>
          </a:p>
        </p:txBody>
      </p:sp>
      <p:sp>
        <p:nvSpPr>
          <p:cNvPr id="7" name="object 2">
            <a:extLst>
              <a:ext uri="{FF2B5EF4-FFF2-40B4-BE49-F238E27FC236}">
                <a16:creationId xmlns:a16="http://schemas.microsoft.com/office/drawing/2014/main" id="{0D92070D-D2C3-DDE2-3A76-38F5EC2EFBAB}"/>
              </a:ext>
            </a:extLst>
          </p:cNvPr>
          <p:cNvSpPr txBox="1">
            <a:spLocks/>
          </p:cNvSpPr>
          <p:nvPr/>
        </p:nvSpPr>
        <p:spPr>
          <a:xfrm>
            <a:off x="138063" y="5023247"/>
            <a:ext cx="8624937" cy="246221"/>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600" kern="0" spc="-80" dirty="0">
                <a:solidFill>
                  <a:schemeClr val="accent2"/>
                </a:solidFill>
              </a:rPr>
              <a:t>  </a:t>
            </a:r>
          </a:p>
        </p:txBody>
      </p:sp>
    </p:spTree>
    <p:extLst>
      <p:ext uri="{BB962C8B-B14F-4D97-AF65-F5344CB8AC3E}">
        <p14:creationId xmlns:p14="http://schemas.microsoft.com/office/powerpoint/2010/main" val="1328551097"/>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3F9AF0-C307-EAC3-BD9C-6B70E0107626}"/>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C613E2BA-F958-F759-3206-2FE7228DBC97}"/>
              </a:ext>
            </a:extLst>
          </p:cNvPr>
          <p:cNvSpPr/>
          <p:nvPr/>
        </p:nvSpPr>
        <p:spPr>
          <a:xfrm>
            <a:off x="1756802" y="648336"/>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18D81C98-0038-E2EB-9236-FB46B7006DEA}"/>
              </a:ext>
            </a:extLst>
          </p:cNvPr>
          <p:cNvSpPr/>
          <p:nvPr/>
        </p:nvSpPr>
        <p:spPr>
          <a:xfrm>
            <a:off x="1756803" y="474222"/>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2907778A-955C-2D2D-50E5-93A2E2FE117E}"/>
              </a:ext>
            </a:extLst>
          </p:cNvPr>
          <p:cNvGraphicFramePr/>
          <p:nvPr>
            <p:extLst>
              <p:ext uri="{D42A27DB-BD31-4B8C-83A1-F6EECF244321}">
                <p14:modId xmlns:p14="http://schemas.microsoft.com/office/powerpoint/2010/main" val="3221402702"/>
              </p:ext>
            </p:extLst>
          </p:nvPr>
        </p:nvGraphicFramePr>
        <p:xfrm>
          <a:off x="-10160" y="5682"/>
          <a:ext cx="9053462" cy="54664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object 2">
            <a:extLst>
              <a:ext uri="{FF2B5EF4-FFF2-40B4-BE49-F238E27FC236}">
                <a16:creationId xmlns:a16="http://schemas.microsoft.com/office/drawing/2014/main" id="{1AC0D820-5AE8-12B2-2EBE-F09C6087E177}"/>
              </a:ext>
            </a:extLst>
          </p:cNvPr>
          <p:cNvSpPr txBox="1">
            <a:spLocks/>
          </p:cNvSpPr>
          <p:nvPr/>
        </p:nvSpPr>
        <p:spPr>
          <a:xfrm>
            <a:off x="228600" y="762000"/>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p:txBody>
      </p:sp>
      <p:sp>
        <p:nvSpPr>
          <p:cNvPr id="3" name="object 2">
            <a:extLst>
              <a:ext uri="{FF2B5EF4-FFF2-40B4-BE49-F238E27FC236}">
                <a16:creationId xmlns:a16="http://schemas.microsoft.com/office/drawing/2014/main" id="{14EA447E-D5CE-0F51-B150-F650599AEB1B}"/>
              </a:ext>
            </a:extLst>
          </p:cNvPr>
          <p:cNvSpPr txBox="1">
            <a:spLocks/>
          </p:cNvSpPr>
          <p:nvPr/>
        </p:nvSpPr>
        <p:spPr>
          <a:xfrm>
            <a:off x="127903" y="714376"/>
            <a:ext cx="8915399" cy="239142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err="1">
                <a:solidFill>
                  <a:schemeClr val="accent2"/>
                </a:solidFill>
              </a:rPr>
              <a:t>APIOps</a:t>
            </a:r>
            <a:endParaRPr lang="en-US" sz="2400" kern="0" spc="-80" dirty="0">
              <a:solidFill>
                <a:schemeClr val="accent2"/>
              </a:solidFill>
            </a:endParaRPr>
          </a:p>
          <a:p>
            <a:pPr marL="12700" marR="5080"/>
            <a:r>
              <a:rPr lang="en-US" sz="1460" kern="0" spc="-80" dirty="0">
                <a:solidFill>
                  <a:schemeClr val="accent2"/>
                </a:solidFill>
              </a:rPr>
              <a:t>🧠 Core Mindset Behind </a:t>
            </a:r>
            <a:r>
              <a:rPr lang="en-US" sz="1460" kern="0" spc="-80" dirty="0" err="1">
                <a:solidFill>
                  <a:schemeClr val="accent2"/>
                </a:solidFill>
              </a:rPr>
              <a:t>APIOps</a:t>
            </a:r>
            <a:endParaRPr lang="en-US" sz="1460" kern="0" spc="-80" dirty="0">
              <a:solidFill>
                <a:schemeClr val="accent2"/>
              </a:solidFill>
            </a:endParaRPr>
          </a:p>
          <a:p>
            <a:pPr marL="12700" marR="5080"/>
            <a:r>
              <a:rPr lang="en-US" sz="1460" kern="0" spc="-80" dirty="0">
                <a:solidFill>
                  <a:schemeClr val="accent2"/>
                </a:solidFill>
              </a:rPr>
              <a:t>Traditional API Development	          </a:t>
            </a:r>
            <a:r>
              <a:rPr lang="en-US" sz="1460" kern="0" spc="-80" dirty="0" err="1">
                <a:solidFill>
                  <a:schemeClr val="accent2"/>
                </a:solidFill>
              </a:rPr>
              <a:t>APIOps</a:t>
            </a:r>
            <a:r>
              <a:rPr lang="en-US" sz="1460" kern="0" spc="-80" dirty="0">
                <a:solidFill>
                  <a:schemeClr val="accent2"/>
                </a:solidFill>
              </a:rPr>
              <a:t> Way</a:t>
            </a:r>
          </a:p>
          <a:p>
            <a:pPr marL="12700" marR="5080"/>
            <a:r>
              <a:rPr lang="en-US" sz="1460" kern="0" spc="-80" dirty="0">
                <a:solidFill>
                  <a:schemeClr val="accent6"/>
                </a:solidFill>
              </a:rPr>
              <a:t>Manual configuration	          Automated pipelines</a:t>
            </a:r>
          </a:p>
          <a:p>
            <a:pPr marL="12700" marR="5080"/>
            <a:r>
              <a:rPr lang="en-US" sz="1460" kern="0" spc="-80" dirty="0">
                <a:solidFill>
                  <a:schemeClr val="accent6"/>
                </a:solidFill>
              </a:rPr>
              <a:t>Docs are afterthought	          API design-first</a:t>
            </a:r>
          </a:p>
          <a:p>
            <a:pPr marL="12700" marR="5080"/>
            <a:r>
              <a:rPr lang="en-US" sz="1460" kern="0" spc="-80" dirty="0">
                <a:solidFill>
                  <a:schemeClr val="accent6"/>
                </a:solidFill>
              </a:rPr>
              <a:t>Inconsistent policies	                             Central policy enforcement</a:t>
            </a:r>
          </a:p>
          <a:p>
            <a:pPr marL="12700" marR="5080"/>
            <a:r>
              <a:rPr lang="en-US" sz="1460" kern="0" spc="-80" dirty="0">
                <a:solidFill>
                  <a:schemeClr val="accent6"/>
                </a:solidFill>
              </a:rPr>
              <a:t>Hard to track changes	          Version-controlled API definitions</a:t>
            </a:r>
          </a:p>
          <a:p>
            <a:pPr marL="12700" marR="5080"/>
            <a:r>
              <a:rPr lang="en-US" sz="1460" kern="0" spc="-80" dirty="0">
                <a:solidFill>
                  <a:schemeClr val="accent6"/>
                </a:solidFill>
              </a:rPr>
              <a:t>Deployment is risky	Incremental, tested releases</a:t>
            </a:r>
          </a:p>
          <a:p>
            <a:pPr marL="12700" marR="5080"/>
            <a:endParaRPr lang="en-US" sz="1460" kern="0" spc="-80" dirty="0">
              <a:solidFill>
                <a:schemeClr val="accent6"/>
              </a:solidFill>
            </a:endParaRPr>
          </a:p>
          <a:p>
            <a:pPr marL="12700" marR="5080"/>
            <a:r>
              <a:rPr lang="en-US" sz="1460" kern="0" spc="-80" dirty="0">
                <a:solidFill>
                  <a:schemeClr val="accent2"/>
                </a:solidFill>
              </a:rPr>
              <a:t>🧱 The Three Pillars of </a:t>
            </a:r>
            <a:r>
              <a:rPr lang="en-US" sz="1460" kern="0" spc="-80" dirty="0" err="1">
                <a:solidFill>
                  <a:schemeClr val="accent2"/>
                </a:solidFill>
              </a:rPr>
              <a:t>APIOps</a:t>
            </a:r>
            <a:endParaRPr lang="en-US" sz="1460" kern="0" spc="-80" dirty="0">
              <a:solidFill>
                <a:schemeClr val="accent2"/>
              </a:solidFill>
            </a:endParaRPr>
          </a:p>
        </p:txBody>
      </p:sp>
      <p:sp>
        <p:nvSpPr>
          <p:cNvPr id="7" name="object 2">
            <a:extLst>
              <a:ext uri="{FF2B5EF4-FFF2-40B4-BE49-F238E27FC236}">
                <a16:creationId xmlns:a16="http://schemas.microsoft.com/office/drawing/2014/main" id="{A63DC108-A9C9-6A61-59C1-27E1279993EB}"/>
              </a:ext>
            </a:extLst>
          </p:cNvPr>
          <p:cNvSpPr txBox="1">
            <a:spLocks/>
          </p:cNvSpPr>
          <p:nvPr/>
        </p:nvSpPr>
        <p:spPr>
          <a:xfrm>
            <a:off x="138063" y="5023247"/>
            <a:ext cx="8624937" cy="246221"/>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600" kern="0" spc="-80" dirty="0">
                <a:solidFill>
                  <a:schemeClr val="accent2"/>
                </a:solidFill>
              </a:rPr>
              <a:t>  </a:t>
            </a:r>
          </a:p>
        </p:txBody>
      </p:sp>
      <p:graphicFrame>
        <p:nvGraphicFramePr>
          <p:cNvPr id="8" name="Table 7">
            <a:extLst>
              <a:ext uri="{FF2B5EF4-FFF2-40B4-BE49-F238E27FC236}">
                <a16:creationId xmlns:a16="http://schemas.microsoft.com/office/drawing/2014/main" id="{58CAE305-4A92-7E46-0B15-687D897A2EDF}"/>
              </a:ext>
            </a:extLst>
          </p:cNvPr>
          <p:cNvGraphicFramePr>
            <a:graphicFrameLocks noGrp="1"/>
          </p:cNvGraphicFramePr>
          <p:nvPr>
            <p:extLst>
              <p:ext uri="{D42A27DB-BD31-4B8C-83A1-F6EECF244321}">
                <p14:modId xmlns:p14="http://schemas.microsoft.com/office/powerpoint/2010/main" val="1655619052"/>
              </p:ext>
            </p:extLst>
          </p:nvPr>
        </p:nvGraphicFramePr>
        <p:xfrm>
          <a:off x="76200" y="3153424"/>
          <a:ext cx="8915400" cy="2790176"/>
        </p:xfrm>
        <a:graphic>
          <a:graphicData uri="http://schemas.openxmlformats.org/drawingml/2006/table">
            <a:tbl>
              <a:tblPr firstRow="1" bandRow="1">
                <a:tableStyleId>{5C22544A-7EE6-4342-B048-85BDC9FD1C3A}</a:tableStyleId>
              </a:tblPr>
              <a:tblGrid>
                <a:gridCol w="2971800">
                  <a:extLst>
                    <a:ext uri="{9D8B030D-6E8A-4147-A177-3AD203B41FA5}">
                      <a16:colId xmlns:a16="http://schemas.microsoft.com/office/drawing/2014/main" val="1690969337"/>
                    </a:ext>
                  </a:extLst>
                </a:gridCol>
                <a:gridCol w="2971800">
                  <a:extLst>
                    <a:ext uri="{9D8B030D-6E8A-4147-A177-3AD203B41FA5}">
                      <a16:colId xmlns:a16="http://schemas.microsoft.com/office/drawing/2014/main" val="2386306598"/>
                    </a:ext>
                  </a:extLst>
                </a:gridCol>
                <a:gridCol w="2971800">
                  <a:extLst>
                    <a:ext uri="{9D8B030D-6E8A-4147-A177-3AD203B41FA5}">
                      <a16:colId xmlns:a16="http://schemas.microsoft.com/office/drawing/2014/main" val="66783500"/>
                    </a:ext>
                  </a:extLst>
                </a:gridCol>
              </a:tblGrid>
              <a:tr h="403332">
                <a:tc>
                  <a:txBody>
                    <a:bodyPr/>
                    <a:lstStyle/>
                    <a:p>
                      <a:r>
                        <a:rPr lang="en-IN" dirty="0"/>
                        <a:t>Pillar</a:t>
                      </a:r>
                    </a:p>
                  </a:txBody>
                  <a:tcPr/>
                </a:tc>
                <a:tc>
                  <a:txBody>
                    <a:bodyPr/>
                    <a:lstStyle/>
                    <a:p>
                      <a:r>
                        <a:rPr lang="en-IN" dirty="0"/>
                        <a:t>Meaning</a:t>
                      </a:r>
                    </a:p>
                  </a:txBody>
                  <a:tcPr/>
                </a:tc>
                <a:tc>
                  <a:txBody>
                    <a:bodyPr/>
                    <a:lstStyle/>
                    <a:p>
                      <a:r>
                        <a:rPr lang="en-IN" dirty="0"/>
                        <a:t>Example Tools</a:t>
                      </a:r>
                    </a:p>
                  </a:txBody>
                  <a:tcPr/>
                </a:tc>
                <a:extLst>
                  <a:ext uri="{0D108BD9-81ED-4DB2-BD59-A6C34878D82A}">
                    <a16:rowId xmlns:a16="http://schemas.microsoft.com/office/drawing/2014/main" val="174657277"/>
                  </a:ext>
                </a:extLst>
              </a:tr>
              <a:tr h="696163">
                <a:tc>
                  <a:txBody>
                    <a:bodyPr/>
                    <a:lstStyle/>
                    <a:p>
                      <a:r>
                        <a:rPr lang="en-IN" dirty="0"/>
                        <a:t>Design-First</a:t>
                      </a:r>
                    </a:p>
                  </a:txBody>
                  <a:tcPr/>
                </a:tc>
                <a:tc>
                  <a:txBody>
                    <a:bodyPr/>
                    <a:lstStyle/>
                    <a:p>
                      <a:r>
                        <a:rPr lang="en-US" dirty="0"/>
                        <a:t>API contract written before implementation</a:t>
                      </a:r>
                      <a:endParaRPr lang="en-IN" dirty="0"/>
                    </a:p>
                  </a:txBody>
                  <a:tcPr/>
                </a:tc>
                <a:tc>
                  <a:txBody>
                    <a:bodyPr/>
                    <a:lstStyle/>
                    <a:p>
                      <a:r>
                        <a:rPr lang="en-IN" dirty="0" err="1"/>
                        <a:t>OpenAPI</a:t>
                      </a:r>
                      <a:r>
                        <a:rPr lang="en-IN" dirty="0"/>
                        <a:t>, Swagger, Postman Collections</a:t>
                      </a:r>
                    </a:p>
                  </a:txBody>
                  <a:tcPr/>
                </a:tc>
                <a:extLst>
                  <a:ext uri="{0D108BD9-81ED-4DB2-BD59-A6C34878D82A}">
                    <a16:rowId xmlns:a16="http://schemas.microsoft.com/office/drawing/2014/main" val="3384934793"/>
                  </a:ext>
                </a:extLst>
              </a:tr>
              <a:tr h="696163">
                <a:tc>
                  <a:txBody>
                    <a:bodyPr/>
                    <a:lstStyle/>
                    <a:p>
                      <a:r>
                        <a:rPr lang="en-IN" dirty="0" err="1"/>
                        <a:t>GitOps</a:t>
                      </a:r>
                      <a:r>
                        <a:rPr lang="en-IN" dirty="0"/>
                        <a:t> for API Objects</a:t>
                      </a:r>
                    </a:p>
                  </a:txBody>
                  <a:tcPr/>
                </a:tc>
                <a:tc>
                  <a:txBody>
                    <a:bodyPr/>
                    <a:lstStyle/>
                    <a:p>
                      <a:r>
                        <a:rPr lang="en-US" dirty="0"/>
                        <a:t>Treat API definitions as code stored in Git</a:t>
                      </a:r>
                      <a:endParaRPr lang="en-IN" dirty="0"/>
                    </a:p>
                  </a:txBody>
                  <a:tcPr/>
                </a:tc>
                <a:tc>
                  <a:txBody>
                    <a:bodyPr/>
                    <a:lstStyle/>
                    <a:p>
                      <a:r>
                        <a:rPr lang="en-IN" dirty="0"/>
                        <a:t>GitHub, GitLab, Bitbucket</a:t>
                      </a:r>
                    </a:p>
                    <a:p>
                      <a:endParaRPr lang="en-IN" dirty="0"/>
                    </a:p>
                  </a:txBody>
                  <a:tcPr/>
                </a:tc>
                <a:extLst>
                  <a:ext uri="{0D108BD9-81ED-4DB2-BD59-A6C34878D82A}">
                    <a16:rowId xmlns:a16="http://schemas.microsoft.com/office/drawing/2014/main" val="3445748172"/>
                  </a:ext>
                </a:extLst>
              </a:tr>
              <a:tr h="994518">
                <a:tc>
                  <a:txBody>
                    <a:bodyPr/>
                    <a:lstStyle/>
                    <a:p>
                      <a:r>
                        <a:rPr lang="en-IN" dirty="0"/>
                        <a:t>Automated API Release Pipelines</a:t>
                      </a:r>
                    </a:p>
                  </a:txBody>
                  <a:tcPr/>
                </a:tc>
                <a:tc>
                  <a:txBody>
                    <a:bodyPr/>
                    <a:lstStyle/>
                    <a:p>
                      <a:r>
                        <a:rPr lang="en-US" dirty="0"/>
                        <a:t>Deploy APIs using CI/CD pipelines</a:t>
                      </a:r>
                      <a:endParaRPr lang="en-IN" dirty="0"/>
                    </a:p>
                  </a:txBody>
                  <a:tcPr/>
                </a:tc>
                <a:tc>
                  <a:txBody>
                    <a:bodyPr/>
                    <a:lstStyle/>
                    <a:p>
                      <a:r>
                        <a:rPr lang="en-IN" dirty="0"/>
                        <a:t>Azure DevOps, GitHub Actions, Jenkins</a:t>
                      </a:r>
                    </a:p>
                    <a:p>
                      <a:endParaRPr lang="en-IN" dirty="0"/>
                    </a:p>
                  </a:txBody>
                  <a:tcPr/>
                </a:tc>
                <a:extLst>
                  <a:ext uri="{0D108BD9-81ED-4DB2-BD59-A6C34878D82A}">
                    <a16:rowId xmlns:a16="http://schemas.microsoft.com/office/drawing/2014/main" val="4081212319"/>
                  </a:ext>
                </a:extLst>
              </a:tr>
            </a:tbl>
          </a:graphicData>
        </a:graphic>
      </p:graphicFrame>
    </p:spTree>
    <p:extLst>
      <p:ext uri="{BB962C8B-B14F-4D97-AF65-F5344CB8AC3E}">
        <p14:creationId xmlns:p14="http://schemas.microsoft.com/office/powerpoint/2010/main" val="677735537"/>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6223F8-A943-D523-C9E5-2B837B9508B0}"/>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78B69671-5AE3-3562-B6CE-F1F7042D666F}"/>
              </a:ext>
            </a:extLst>
          </p:cNvPr>
          <p:cNvSpPr/>
          <p:nvPr/>
        </p:nvSpPr>
        <p:spPr>
          <a:xfrm>
            <a:off x="1756802" y="674132"/>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2C4F0B33-08DC-28EF-BFDC-2A7F55E78A3E}"/>
              </a:ext>
            </a:extLst>
          </p:cNvPr>
          <p:cNvSpPr/>
          <p:nvPr/>
        </p:nvSpPr>
        <p:spPr>
          <a:xfrm>
            <a:off x="1756803" y="50105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16E7CACC-49A8-F1D8-FCBA-74900E4644BD}"/>
              </a:ext>
            </a:extLst>
          </p:cNvPr>
          <p:cNvGraphicFramePr/>
          <p:nvPr>
            <p:extLst>
              <p:ext uri="{D42A27DB-BD31-4B8C-83A1-F6EECF244321}">
                <p14:modId xmlns:p14="http://schemas.microsoft.com/office/powerpoint/2010/main" val="2812059310"/>
              </p:ext>
            </p:extLst>
          </p:nvPr>
        </p:nvGraphicFramePr>
        <p:xfrm>
          <a:off x="-30932" y="-69010"/>
          <a:ext cx="9144000" cy="536439"/>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object 2">
            <a:extLst>
              <a:ext uri="{FF2B5EF4-FFF2-40B4-BE49-F238E27FC236}">
                <a16:creationId xmlns:a16="http://schemas.microsoft.com/office/drawing/2014/main" id="{9B23F64F-3219-3FF2-3601-196DBBD73766}"/>
              </a:ext>
            </a:extLst>
          </p:cNvPr>
          <p:cNvSpPr txBox="1">
            <a:spLocks/>
          </p:cNvSpPr>
          <p:nvPr/>
        </p:nvSpPr>
        <p:spPr>
          <a:xfrm>
            <a:off x="228600" y="762000"/>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p:txBody>
      </p:sp>
      <p:sp>
        <p:nvSpPr>
          <p:cNvPr id="3" name="object 2">
            <a:extLst>
              <a:ext uri="{FF2B5EF4-FFF2-40B4-BE49-F238E27FC236}">
                <a16:creationId xmlns:a16="http://schemas.microsoft.com/office/drawing/2014/main" id="{D5A2B221-023C-9E8A-D56E-5A19D49FF6A7}"/>
              </a:ext>
            </a:extLst>
          </p:cNvPr>
          <p:cNvSpPr txBox="1">
            <a:spLocks/>
          </p:cNvSpPr>
          <p:nvPr/>
        </p:nvSpPr>
        <p:spPr>
          <a:xfrm>
            <a:off x="10160" y="821417"/>
            <a:ext cx="8915399" cy="5312223"/>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err="1">
                <a:solidFill>
                  <a:schemeClr val="accent2"/>
                </a:solidFill>
              </a:rPr>
              <a:t>APIOps</a:t>
            </a:r>
            <a:endParaRPr lang="en-US" sz="2400" kern="0" spc="-80" dirty="0">
              <a:solidFill>
                <a:schemeClr val="accent2"/>
              </a:solidFill>
            </a:endParaRPr>
          </a:p>
          <a:p>
            <a:pPr marL="12700" marR="5080"/>
            <a:r>
              <a:rPr lang="en-US" sz="1460" kern="0" spc="-80" dirty="0">
                <a:solidFill>
                  <a:schemeClr val="accent2"/>
                </a:solidFill>
              </a:rPr>
              <a:t>🚦 The </a:t>
            </a:r>
            <a:r>
              <a:rPr lang="en-US" sz="1460" kern="0" spc="-80" dirty="0" err="1">
                <a:solidFill>
                  <a:schemeClr val="accent2"/>
                </a:solidFill>
              </a:rPr>
              <a:t>APIOps</a:t>
            </a:r>
            <a:r>
              <a:rPr lang="en-US" sz="1460" kern="0" spc="-80" dirty="0">
                <a:solidFill>
                  <a:schemeClr val="accent2"/>
                </a:solidFill>
              </a:rPr>
              <a:t> Lifecycle (Very Important)</a:t>
            </a:r>
          </a:p>
          <a:p>
            <a:pPr marL="12700" marR="5080"/>
            <a:r>
              <a:rPr lang="en-US" sz="1460" kern="0" spc="-80" dirty="0">
                <a:solidFill>
                  <a:schemeClr val="accent6"/>
                </a:solidFill>
              </a:rPr>
              <a:t>Design → Validate → Secure → Test → Publish → Monitor → Improve → Version → Repeat</a:t>
            </a:r>
          </a:p>
          <a:p>
            <a:pPr marL="12700" marR="5080"/>
            <a:r>
              <a:rPr lang="en-US" sz="1460" kern="0" spc="-80" dirty="0">
                <a:solidFill>
                  <a:schemeClr val="accent2"/>
                </a:solidFill>
              </a:rPr>
              <a:t>1. Design</a:t>
            </a:r>
          </a:p>
          <a:p>
            <a:pPr marL="12700" marR="5080"/>
            <a:r>
              <a:rPr lang="en-US" sz="1460" kern="0" spc="-80" dirty="0">
                <a:solidFill>
                  <a:schemeClr val="accent6"/>
                </a:solidFill>
              </a:rPr>
              <a:t>Write API spec in </a:t>
            </a:r>
            <a:r>
              <a:rPr lang="en-US" sz="1460" kern="0" spc="-80" dirty="0" err="1">
                <a:solidFill>
                  <a:schemeClr val="accent6"/>
                </a:solidFill>
              </a:rPr>
              <a:t>OpenAPI</a:t>
            </a:r>
            <a:r>
              <a:rPr lang="en-US" sz="1460" kern="0" spc="-80" dirty="0">
                <a:solidFill>
                  <a:schemeClr val="accent6"/>
                </a:solidFill>
              </a:rPr>
              <a:t> (YAML/JSON)</a:t>
            </a:r>
          </a:p>
          <a:p>
            <a:pPr marL="12700" marR="5080"/>
            <a:r>
              <a:rPr lang="en-US" sz="1460" kern="0" spc="-80" dirty="0">
                <a:solidFill>
                  <a:schemeClr val="accent6"/>
                </a:solidFill>
              </a:rPr>
              <a:t>Define endpoints, request/response schemas, error codes</a:t>
            </a:r>
          </a:p>
          <a:p>
            <a:pPr marL="12700" marR="5080"/>
            <a:r>
              <a:rPr lang="en-US" sz="1460" kern="0" spc="-80" dirty="0">
                <a:solidFill>
                  <a:schemeClr val="accent2"/>
                </a:solidFill>
              </a:rPr>
              <a:t>2. Validate</a:t>
            </a:r>
          </a:p>
          <a:p>
            <a:pPr marL="12700" marR="5080"/>
            <a:r>
              <a:rPr lang="en-US" sz="1460" kern="0" spc="-80" dirty="0">
                <a:solidFill>
                  <a:schemeClr val="accent6"/>
                </a:solidFill>
              </a:rPr>
              <a:t>Check naming conventions</a:t>
            </a:r>
          </a:p>
          <a:p>
            <a:pPr marL="12700" marR="5080"/>
            <a:r>
              <a:rPr lang="en-US" sz="1460" kern="0" spc="-80" dirty="0">
                <a:solidFill>
                  <a:schemeClr val="accent6"/>
                </a:solidFill>
              </a:rPr>
              <a:t>Enforce versioning strategy</a:t>
            </a:r>
          </a:p>
          <a:p>
            <a:pPr marL="12700" marR="5080"/>
            <a:r>
              <a:rPr lang="en-US" sz="1460" kern="0" spc="-80" dirty="0">
                <a:solidFill>
                  <a:schemeClr val="accent6"/>
                </a:solidFill>
              </a:rPr>
              <a:t>Ensure proper status codes</a:t>
            </a:r>
          </a:p>
          <a:p>
            <a:pPr marL="12700" marR="5080"/>
            <a:r>
              <a:rPr lang="en-US" sz="1460" kern="0" spc="-80" dirty="0">
                <a:solidFill>
                  <a:schemeClr val="accent6"/>
                </a:solidFill>
              </a:rPr>
              <a:t>Validate API structure automatically</a:t>
            </a:r>
          </a:p>
          <a:p>
            <a:pPr marL="12700" marR="5080"/>
            <a:r>
              <a:rPr lang="en-US" sz="1460" kern="0" spc="-80" dirty="0">
                <a:solidFill>
                  <a:schemeClr val="accent2"/>
                </a:solidFill>
              </a:rPr>
              <a:t>3. Secure</a:t>
            </a:r>
          </a:p>
          <a:p>
            <a:pPr marL="12700" marR="5080"/>
            <a:r>
              <a:rPr lang="en-US" sz="1460" kern="0" spc="-80" dirty="0">
                <a:solidFill>
                  <a:schemeClr val="accent6"/>
                </a:solidFill>
              </a:rPr>
              <a:t>Apply API gateway policies:</a:t>
            </a:r>
          </a:p>
          <a:p>
            <a:pPr marL="12700" marR="5080"/>
            <a:r>
              <a:rPr lang="en-US" sz="1460" kern="0" spc="-80" dirty="0">
                <a:solidFill>
                  <a:schemeClr val="accent6"/>
                </a:solidFill>
              </a:rPr>
              <a:t>Rate limiting</a:t>
            </a:r>
          </a:p>
          <a:p>
            <a:pPr marL="12700" marR="5080"/>
            <a:r>
              <a:rPr lang="en-US" sz="1460" kern="0" spc="-80" dirty="0">
                <a:solidFill>
                  <a:schemeClr val="accent6"/>
                </a:solidFill>
              </a:rPr>
              <a:t>JWT validation</a:t>
            </a:r>
          </a:p>
          <a:p>
            <a:pPr marL="12700" marR="5080"/>
            <a:r>
              <a:rPr lang="en-US" sz="1460" kern="0" spc="-80" dirty="0">
                <a:solidFill>
                  <a:schemeClr val="accent6"/>
                </a:solidFill>
              </a:rPr>
              <a:t>OAuth2 token enforcement</a:t>
            </a:r>
          </a:p>
          <a:p>
            <a:pPr marL="12700" marR="5080"/>
            <a:r>
              <a:rPr lang="en-US" sz="1460" kern="0" spc="-80" dirty="0">
                <a:solidFill>
                  <a:schemeClr val="accent6"/>
                </a:solidFill>
              </a:rPr>
              <a:t>IP allow/deny</a:t>
            </a:r>
          </a:p>
          <a:p>
            <a:pPr marL="12700" marR="5080"/>
            <a:r>
              <a:rPr lang="en-US" sz="1460" kern="0" spc="-80" dirty="0">
                <a:solidFill>
                  <a:schemeClr val="accent6"/>
                </a:solidFill>
              </a:rPr>
              <a:t>WAF integration</a:t>
            </a:r>
          </a:p>
          <a:p>
            <a:pPr marL="12700" marR="5080"/>
            <a:r>
              <a:rPr lang="en-US" sz="1460" kern="0" spc="-80" dirty="0">
                <a:solidFill>
                  <a:schemeClr val="accent2"/>
                </a:solidFill>
              </a:rPr>
              <a:t>4. Test</a:t>
            </a:r>
          </a:p>
          <a:p>
            <a:pPr marL="12700" marR="5080"/>
            <a:r>
              <a:rPr lang="en-US" sz="1460" kern="0" spc="-80" dirty="0">
                <a:solidFill>
                  <a:schemeClr val="accent6"/>
                </a:solidFill>
              </a:rPr>
              <a:t>Contract tests (Does API follow spec?)</a:t>
            </a:r>
          </a:p>
          <a:p>
            <a:pPr marL="12700" marR="5080"/>
            <a:r>
              <a:rPr lang="en-US" sz="1460" kern="0" spc="-80" dirty="0">
                <a:solidFill>
                  <a:schemeClr val="accent6"/>
                </a:solidFill>
              </a:rPr>
              <a:t>Functional tests (Does it behave correctly?)</a:t>
            </a:r>
          </a:p>
          <a:p>
            <a:pPr marL="12700" marR="5080"/>
            <a:r>
              <a:rPr lang="en-US" sz="1460" kern="0" spc="-80" dirty="0">
                <a:solidFill>
                  <a:schemeClr val="accent6"/>
                </a:solidFill>
              </a:rPr>
              <a:t>Performance tests (Does it scale?)</a:t>
            </a:r>
          </a:p>
          <a:p>
            <a:pPr marL="12700" marR="5080"/>
            <a:endParaRPr lang="en-US" sz="1460" kern="0" spc="-80" dirty="0">
              <a:solidFill>
                <a:schemeClr val="accent6"/>
              </a:solidFill>
            </a:endParaRPr>
          </a:p>
        </p:txBody>
      </p:sp>
      <p:sp>
        <p:nvSpPr>
          <p:cNvPr id="7" name="object 2">
            <a:extLst>
              <a:ext uri="{FF2B5EF4-FFF2-40B4-BE49-F238E27FC236}">
                <a16:creationId xmlns:a16="http://schemas.microsoft.com/office/drawing/2014/main" id="{A8EDDD5C-E810-4D4E-2EDA-F698F75ADFD4}"/>
              </a:ext>
            </a:extLst>
          </p:cNvPr>
          <p:cNvSpPr txBox="1">
            <a:spLocks/>
          </p:cNvSpPr>
          <p:nvPr/>
        </p:nvSpPr>
        <p:spPr>
          <a:xfrm>
            <a:off x="138063" y="5023247"/>
            <a:ext cx="8624937" cy="246221"/>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600" kern="0" spc="-80" dirty="0">
                <a:solidFill>
                  <a:schemeClr val="accent2"/>
                </a:solidFill>
              </a:rPr>
              <a:t>  </a:t>
            </a:r>
          </a:p>
        </p:txBody>
      </p:sp>
    </p:spTree>
    <p:extLst>
      <p:ext uri="{BB962C8B-B14F-4D97-AF65-F5344CB8AC3E}">
        <p14:creationId xmlns:p14="http://schemas.microsoft.com/office/powerpoint/2010/main" val="2343161969"/>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7170DC-9112-AB65-DC15-A5B0FBE6DE2D}"/>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820759F2-4BA9-1361-40FA-021FAA2E0900}"/>
              </a:ext>
            </a:extLst>
          </p:cNvPr>
          <p:cNvSpPr/>
          <p:nvPr/>
        </p:nvSpPr>
        <p:spPr>
          <a:xfrm>
            <a:off x="1756802" y="648288"/>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4A80321E-5770-3CB7-7E11-81A258B32F1B}"/>
              </a:ext>
            </a:extLst>
          </p:cNvPr>
          <p:cNvSpPr/>
          <p:nvPr/>
        </p:nvSpPr>
        <p:spPr>
          <a:xfrm>
            <a:off x="1756802" y="485776"/>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92A873E0-CC93-FCE9-BD0A-14BDAFEAC370}"/>
              </a:ext>
            </a:extLst>
          </p:cNvPr>
          <p:cNvGraphicFramePr/>
          <p:nvPr>
            <p:extLst>
              <p:ext uri="{D42A27DB-BD31-4B8C-83A1-F6EECF244321}">
                <p14:modId xmlns:p14="http://schemas.microsoft.com/office/powerpoint/2010/main" val="3637204837"/>
              </p:ext>
            </p:extLst>
          </p:nvPr>
        </p:nvGraphicFramePr>
        <p:xfrm>
          <a:off x="0" y="34426"/>
          <a:ext cx="9144000" cy="42277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object 2">
            <a:extLst>
              <a:ext uri="{FF2B5EF4-FFF2-40B4-BE49-F238E27FC236}">
                <a16:creationId xmlns:a16="http://schemas.microsoft.com/office/drawing/2014/main" id="{053EC074-F5B6-A36E-45BA-84DF034A31E1}"/>
              </a:ext>
            </a:extLst>
          </p:cNvPr>
          <p:cNvSpPr txBox="1">
            <a:spLocks/>
          </p:cNvSpPr>
          <p:nvPr/>
        </p:nvSpPr>
        <p:spPr>
          <a:xfrm>
            <a:off x="228600" y="762000"/>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p:txBody>
      </p:sp>
      <p:sp>
        <p:nvSpPr>
          <p:cNvPr id="3" name="object 2">
            <a:extLst>
              <a:ext uri="{FF2B5EF4-FFF2-40B4-BE49-F238E27FC236}">
                <a16:creationId xmlns:a16="http://schemas.microsoft.com/office/drawing/2014/main" id="{B95247AA-7344-E05A-86B6-5254476F74A0}"/>
              </a:ext>
            </a:extLst>
          </p:cNvPr>
          <p:cNvSpPr txBox="1">
            <a:spLocks/>
          </p:cNvSpPr>
          <p:nvPr/>
        </p:nvSpPr>
        <p:spPr>
          <a:xfrm>
            <a:off x="60058" y="599440"/>
            <a:ext cx="8915399" cy="5676939"/>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err="1">
                <a:solidFill>
                  <a:schemeClr val="accent2"/>
                </a:solidFill>
              </a:rPr>
              <a:t>APIOps</a:t>
            </a:r>
            <a:endParaRPr lang="en-US" sz="2400" kern="0" spc="-80" dirty="0">
              <a:solidFill>
                <a:schemeClr val="accent2"/>
              </a:solidFill>
            </a:endParaRPr>
          </a:p>
          <a:p>
            <a:pPr marL="12700" marR="5080"/>
            <a:r>
              <a:rPr lang="en-US" sz="1450" kern="0" spc="-80" dirty="0">
                <a:solidFill>
                  <a:schemeClr val="accent2"/>
                </a:solidFill>
              </a:rPr>
              <a:t>5. Publish</a:t>
            </a:r>
          </a:p>
          <a:p>
            <a:pPr marL="12700" marR="5080"/>
            <a:r>
              <a:rPr lang="en-US" sz="1460" kern="0" spc="-80" dirty="0">
                <a:solidFill>
                  <a:schemeClr val="accent2"/>
                </a:solidFill>
              </a:rPr>
              <a:t>Deploy to:</a:t>
            </a:r>
          </a:p>
          <a:p>
            <a:pPr marL="12700" marR="5080"/>
            <a:r>
              <a:rPr lang="en-US" sz="1460" kern="0" spc="-80" dirty="0">
                <a:solidFill>
                  <a:schemeClr val="accent6"/>
                </a:solidFill>
              </a:rPr>
              <a:t>Gateway (Azure APIM, Kong, Apigee, Nginx)</a:t>
            </a:r>
          </a:p>
          <a:p>
            <a:pPr marL="12700" marR="5080"/>
            <a:r>
              <a:rPr lang="en-US" sz="1460" kern="0" spc="-80" dirty="0">
                <a:solidFill>
                  <a:schemeClr val="accent6"/>
                </a:solidFill>
              </a:rPr>
              <a:t>Developer Portal (Docs are auto-generated!)</a:t>
            </a:r>
          </a:p>
          <a:p>
            <a:pPr marL="12700" marR="5080"/>
            <a:r>
              <a:rPr lang="en-US" sz="1460" kern="0" spc="-80" dirty="0">
                <a:solidFill>
                  <a:schemeClr val="accent2"/>
                </a:solidFill>
              </a:rPr>
              <a:t>6. Monitor</a:t>
            </a:r>
          </a:p>
          <a:p>
            <a:pPr marL="12700" marR="5080"/>
            <a:r>
              <a:rPr lang="en-US" sz="1460" kern="0" spc="-80" dirty="0">
                <a:solidFill>
                  <a:schemeClr val="accent6"/>
                </a:solidFill>
              </a:rPr>
              <a:t>Latency</a:t>
            </a:r>
          </a:p>
          <a:p>
            <a:pPr marL="12700" marR="5080"/>
            <a:r>
              <a:rPr lang="en-US" sz="1460" kern="0" spc="-80" dirty="0">
                <a:solidFill>
                  <a:schemeClr val="accent6"/>
                </a:solidFill>
              </a:rPr>
              <a:t>Errors per endpoint</a:t>
            </a:r>
          </a:p>
          <a:p>
            <a:pPr marL="12700" marR="5080"/>
            <a:r>
              <a:rPr lang="en-US" sz="1460" kern="0" spc="-80" dirty="0">
                <a:solidFill>
                  <a:schemeClr val="accent6"/>
                </a:solidFill>
              </a:rPr>
              <a:t>Traffic patterns</a:t>
            </a:r>
          </a:p>
          <a:p>
            <a:pPr marL="12700" marR="5080"/>
            <a:r>
              <a:rPr lang="en-US" sz="1460" kern="0" spc="-80" dirty="0">
                <a:solidFill>
                  <a:schemeClr val="accent2"/>
                </a:solidFill>
              </a:rPr>
              <a:t>7. Improve</a:t>
            </a:r>
          </a:p>
          <a:p>
            <a:pPr marL="12700" marR="5080"/>
            <a:r>
              <a:rPr lang="en-US" sz="1460" kern="0" spc="-80" dirty="0">
                <a:solidFill>
                  <a:schemeClr val="accent6"/>
                </a:solidFill>
              </a:rPr>
              <a:t>Use metrics + logs to refine usage</a:t>
            </a:r>
          </a:p>
          <a:p>
            <a:pPr marL="12700" marR="5080"/>
            <a:r>
              <a:rPr lang="en-US" sz="1460" kern="0" spc="-80" dirty="0">
                <a:solidFill>
                  <a:schemeClr val="accent2"/>
                </a:solidFill>
              </a:rPr>
              <a:t>8. Version</a:t>
            </a:r>
          </a:p>
          <a:p>
            <a:pPr marL="12700" marR="5080"/>
            <a:r>
              <a:rPr lang="en-US" sz="1460" kern="0" spc="-80" dirty="0">
                <a:solidFill>
                  <a:schemeClr val="accent6"/>
                </a:solidFill>
              </a:rPr>
              <a:t>Support parallel versions when breaking changes happen</a:t>
            </a:r>
          </a:p>
          <a:p>
            <a:pPr marL="12700" marR="5080"/>
            <a:r>
              <a:rPr lang="en-US" sz="1460" kern="0" spc="-80" dirty="0">
                <a:solidFill>
                  <a:schemeClr val="accent2"/>
                </a:solidFill>
              </a:rPr>
              <a:t>🔁 A Typical </a:t>
            </a:r>
            <a:r>
              <a:rPr lang="en-US" sz="1460" kern="0" spc="-80" dirty="0" err="1">
                <a:solidFill>
                  <a:schemeClr val="accent2"/>
                </a:solidFill>
              </a:rPr>
              <a:t>APIOps</a:t>
            </a:r>
            <a:r>
              <a:rPr lang="en-US" sz="1460" kern="0" spc="-80" dirty="0">
                <a:solidFill>
                  <a:schemeClr val="accent2"/>
                </a:solidFill>
              </a:rPr>
              <a:t> Pipeline (Concrete Example)</a:t>
            </a:r>
          </a:p>
          <a:p>
            <a:pPr marL="12700" marR="5080"/>
            <a:r>
              <a:rPr lang="en-US" sz="1460" kern="0" spc="-80" dirty="0">
                <a:solidFill>
                  <a:schemeClr val="accent6"/>
                </a:solidFill>
              </a:rPr>
              <a:t>When a developer commits </a:t>
            </a:r>
            <a:r>
              <a:rPr lang="en-US" sz="1460" kern="0" spc="-80" dirty="0" err="1">
                <a:solidFill>
                  <a:schemeClr val="accent6"/>
                </a:solidFill>
              </a:rPr>
              <a:t>openapi.yaml</a:t>
            </a:r>
            <a:r>
              <a:rPr lang="en-US" sz="1460" kern="0" spc="-80" dirty="0">
                <a:solidFill>
                  <a:schemeClr val="accent6"/>
                </a:solidFill>
              </a:rPr>
              <a:t> to Git —</a:t>
            </a:r>
          </a:p>
          <a:p>
            <a:pPr marL="12700" marR="5080"/>
            <a:r>
              <a:rPr lang="en-US" sz="1400" kern="0" spc="-80" dirty="0">
                <a:solidFill>
                  <a:schemeClr val="accent2"/>
                </a:solidFill>
              </a:rPr>
              <a:t>Step	Action	                                                                            Tool</a:t>
            </a:r>
          </a:p>
          <a:p>
            <a:pPr marL="12700" marR="5080"/>
            <a:r>
              <a:rPr lang="en-US" sz="1400" kern="0" spc="-80" dirty="0">
                <a:solidFill>
                  <a:schemeClr val="accent6"/>
                </a:solidFill>
              </a:rPr>
              <a:t>1	Lint spec	                                                                            Spectral, </a:t>
            </a:r>
            <a:r>
              <a:rPr lang="en-US" sz="1400" kern="0" spc="-80" dirty="0" err="1">
                <a:solidFill>
                  <a:schemeClr val="accent6"/>
                </a:solidFill>
              </a:rPr>
              <a:t>Redocly</a:t>
            </a:r>
            <a:endParaRPr lang="en-US" sz="1400" kern="0" spc="-80" dirty="0">
              <a:solidFill>
                <a:schemeClr val="accent6"/>
              </a:solidFill>
            </a:endParaRPr>
          </a:p>
          <a:p>
            <a:pPr marL="12700" marR="5080"/>
            <a:r>
              <a:rPr lang="en-US" sz="1400" kern="0" spc="-80" dirty="0">
                <a:solidFill>
                  <a:schemeClr val="accent6"/>
                </a:solidFill>
              </a:rPr>
              <a:t>2	Generate mock APIs	                                                         Prism / </a:t>
            </a:r>
            <a:r>
              <a:rPr lang="en-US" sz="1400" kern="0" spc="-80" dirty="0" err="1">
                <a:solidFill>
                  <a:schemeClr val="accent6"/>
                </a:solidFill>
              </a:rPr>
              <a:t>WireMock</a:t>
            </a:r>
            <a:endParaRPr lang="en-US" sz="1400" kern="0" spc="-80" dirty="0">
              <a:solidFill>
                <a:schemeClr val="accent6"/>
              </a:solidFill>
            </a:endParaRPr>
          </a:p>
          <a:p>
            <a:pPr marL="12700" marR="5080"/>
            <a:r>
              <a:rPr lang="en-US" sz="1400" kern="0" spc="-80" dirty="0">
                <a:solidFill>
                  <a:schemeClr val="accent6"/>
                </a:solidFill>
              </a:rPr>
              <a:t>3	Run contract tests	                                                         Postman/Newman</a:t>
            </a:r>
          </a:p>
          <a:p>
            <a:pPr marL="12700" marR="5080"/>
            <a:r>
              <a:rPr lang="en-US" sz="1400" kern="0" spc="-80" dirty="0">
                <a:solidFill>
                  <a:schemeClr val="accent6"/>
                </a:solidFill>
              </a:rPr>
              <a:t>4	Deploy to dev gateway                                                        CI/CD Pipeline</a:t>
            </a:r>
          </a:p>
          <a:p>
            <a:pPr marL="12700" marR="5080"/>
            <a:r>
              <a:rPr lang="en-US" sz="1400" kern="0" spc="-80" dirty="0">
                <a:solidFill>
                  <a:schemeClr val="accent6"/>
                </a:solidFill>
              </a:rPr>
              <a:t>5	Apply security policies automatically	                  APIM / Kong</a:t>
            </a:r>
          </a:p>
          <a:p>
            <a:pPr marL="12700" marR="5080"/>
            <a:r>
              <a:rPr lang="en-US" sz="1400" kern="0" spc="-80" dirty="0">
                <a:solidFill>
                  <a:schemeClr val="accent6"/>
                </a:solidFill>
              </a:rPr>
              <a:t>6	Run end-to-end smoke tests	                                     K6 / JMeter</a:t>
            </a:r>
          </a:p>
          <a:p>
            <a:pPr marL="355600" marR="5080" indent="-342900">
              <a:buAutoNum type="arabicPlain" startAt="7"/>
            </a:pPr>
            <a:r>
              <a:rPr lang="en-US" sz="1400" kern="0" spc="-80" dirty="0">
                <a:solidFill>
                  <a:schemeClr val="accent6"/>
                </a:solidFill>
              </a:rPr>
              <a:t>            Promote to staging/production after approval               </a:t>
            </a:r>
            <a:r>
              <a:rPr lang="en-US" sz="1400" kern="0" spc="-80" dirty="0" err="1">
                <a:solidFill>
                  <a:schemeClr val="accent6"/>
                </a:solidFill>
              </a:rPr>
              <a:t>GitOps</a:t>
            </a:r>
            <a:r>
              <a:rPr lang="en-US" sz="1400" kern="0" spc="-80" dirty="0">
                <a:solidFill>
                  <a:schemeClr val="accent6"/>
                </a:solidFill>
              </a:rPr>
              <a:t> deployment workflow</a:t>
            </a:r>
          </a:p>
          <a:p>
            <a:pPr marL="355600" marR="5080" indent="-342900">
              <a:buFontTx/>
              <a:buAutoNum type="arabicPlain" startAt="7"/>
            </a:pPr>
            <a:r>
              <a:rPr lang="en-US" sz="1400" kern="0" spc="-80" dirty="0">
                <a:solidFill>
                  <a:schemeClr val="accent6"/>
                </a:solidFill>
              </a:rPr>
              <a:t>            Everything happens automatically                                    Consistent every time.</a:t>
            </a:r>
          </a:p>
          <a:p>
            <a:pPr marL="355600" marR="5080" indent="-342900">
              <a:buAutoNum type="arabicPlain" startAt="7"/>
            </a:pPr>
            <a:endParaRPr lang="en-US" sz="1460" kern="0" spc="-80" dirty="0">
              <a:solidFill>
                <a:schemeClr val="accent6"/>
              </a:solidFill>
            </a:endParaRPr>
          </a:p>
        </p:txBody>
      </p:sp>
      <p:sp>
        <p:nvSpPr>
          <p:cNvPr id="7" name="object 2">
            <a:extLst>
              <a:ext uri="{FF2B5EF4-FFF2-40B4-BE49-F238E27FC236}">
                <a16:creationId xmlns:a16="http://schemas.microsoft.com/office/drawing/2014/main" id="{9C312944-19F9-039B-C188-1EA06268F391}"/>
              </a:ext>
            </a:extLst>
          </p:cNvPr>
          <p:cNvSpPr txBox="1">
            <a:spLocks/>
          </p:cNvSpPr>
          <p:nvPr/>
        </p:nvSpPr>
        <p:spPr>
          <a:xfrm>
            <a:off x="138063" y="5023247"/>
            <a:ext cx="8624937" cy="246221"/>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600" kern="0" spc="-80" dirty="0">
                <a:solidFill>
                  <a:schemeClr val="accent2"/>
                </a:solidFill>
              </a:rPr>
              <a:t>  </a:t>
            </a:r>
          </a:p>
        </p:txBody>
      </p:sp>
    </p:spTree>
    <p:extLst>
      <p:ext uri="{BB962C8B-B14F-4D97-AF65-F5344CB8AC3E}">
        <p14:creationId xmlns:p14="http://schemas.microsoft.com/office/powerpoint/2010/main" val="1072775325"/>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E019B0-357E-C1B3-5BCA-1AB6B96EEB6D}"/>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65BF7D41-7D6B-72FC-9550-BAA5AF483BA2}"/>
              </a:ext>
            </a:extLst>
          </p:cNvPr>
          <p:cNvSpPr/>
          <p:nvPr/>
        </p:nvSpPr>
        <p:spPr>
          <a:xfrm>
            <a:off x="1756802" y="674132"/>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DD3ECD83-455B-9730-5A05-AA7910ED2421}"/>
              </a:ext>
            </a:extLst>
          </p:cNvPr>
          <p:cNvSpPr/>
          <p:nvPr/>
        </p:nvSpPr>
        <p:spPr>
          <a:xfrm>
            <a:off x="1756803" y="495936"/>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323942CA-51C6-D193-4D81-0759AB87F798}"/>
              </a:ext>
            </a:extLst>
          </p:cNvPr>
          <p:cNvGraphicFramePr/>
          <p:nvPr>
            <p:extLst>
              <p:ext uri="{D42A27DB-BD31-4B8C-83A1-F6EECF244321}">
                <p14:modId xmlns:p14="http://schemas.microsoft.com/office/powerpoint/2010/main" val="2342015247"/>
              </p:ext>
            </p:extLst>
          </p:nvPr>
        </p:nvGraphicFramePr>
        <p:xfrm>
          <a:off x="0" y="34425"/>
          <a:ext cx="9144000" cy="42277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object 2">
            <a:extLst>
              <a:ext uri="{FF2B5EF4-FFF2-40B4-BE49-F238E27FC236}">
                <a16:creationId xmlns:a16="http://schemas.microsoft.com/office/drawing/2014/main" id="{4A7AB5B2-B61A-46ED-ED7A-5F64FF822E42}"/>
              </a:ext>
            </a:extLst>
          </p:cNvPr>
          <p:cNvSpPr txBox="1">
            <a:spLocks/>
          </p:cNvSpPr>
          <p:nvPr/>
        </p:nvSpPr>
        <p:spPr>
          <a:xfrm>
            <a:off x="228600" y="762000"/>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p:txBody>
      </p:sp>
      <p:sp>
        <p:nvSpPr>
          <p:cNvPr id="3" name="object 2">
            <a:extLst>
              <a:ext uri="{FF2B5EF4-FFF2-40B4-BE49-F238E27FC236}">
                <a16:creationId xmlns:a16="http://schemas.microsoft.com/office/drawing/2014/main" id="{83EF674D-21FF-D46C-9D60-CD6B0B3E4A52}"/>
              </a:ext>
            </a:extLst>
          </p:cNvPr>
          <p:cNvSpPr txBox="1">
            <a:spLocks/>
          </p:cNvSpPr>
          <p:nvPr/>
        </p:nvSpPr>
        <p:spPr>
          <a:xfrm>
            <a:off x="0" y="616137"/>
            <a:ext cx="8915399" cy="5312223"/>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err="1">
                <a:solidFill>
                  <a:schemeClr val="accent2"/>
                </a:solidFill>
              </a:rPr>
              <a:t>APIOps</a:t>
            </a:r>
            <a:endParaRPr lang="en-US" sz="2400" kern="0" spc="-80" dirty="0">
              <a:solidFill>
                <a:schemeClr val="accent2"/>
              </a:solidFill>
            </a:endParaRPr>
          </a:p>
          <a:p>
            <a:pPr marL="12700" marR="5080"/>
            <a:r>
              <a:rPr lang="en-US" sz="1460" kern="0" spc="-80" dirty="0">
                <a:solidFill>
                  <a:schemeClr val="accent2"/>
                </a:solidFill>
              </a:rPr>
              <a:t>🏛️ Governance in </a:t>
            </a:r>
            <a:r>
              <a:rPr lang="en-US" sz="1460" kern="0" spc="-80" dirty="0" err="1">
                <a:solidFill>
                  <a:schemeClr val="accent2"/>
                </a:solidFill>
              </a:rPr>
              <a:t>APIOps</a:t>
            </a:r>
            <a:endParaRPr lang="en-US" sz="1460" kern="0" spc="-80" dirty="0">
              <a:solidFill>
                <a:schemeClr val="accent2"/>
              </a:solidFill>
            </a:endParaRPr>
          </a:p>
          <a:p>
            <a:pPr marL="12700" marR="5080"/>
            <a:r>
              <a:rPr lang="en-US" sz="1460" kern="0" spc="-80" dirty="0">
                <a:solidFill>
                  <a:schemeClr val="accent2"/>
                </a:solidFill>
              </a:rPr>
              <a:t>Governance ensures all APIs follow rules:</a:t>
            </a:r>
          </a:p>
          <a:p>
            <a:pPr marL="12700" marR="5080"/>
            <a:r>
              <a:rPr lang="en-US" sz="1460" kern="0" spc="-80" dirty="0">
                <a:solidFill>
                  <a:schemeClr val="accent2"/>
                </a:solidFill>
              </a:rPr>
              <a:t>Policy Category	                                     Examples</a:t>
            </a:r>
          </a:p>
          <a:p>
            <a:pPr marL="12700" marR="5080"/>
            <a:r>
              <a:rPr lang="en-US" sz="1460" kern="0" spc="-80" dirty="0">
                <a:solidFill>
                  <a:schemeClr val="accent6"/>
                </a:solidFill>
              </a:rPr>
              <a:t>Naming	                                                        /customers/{id} not /</a:t>
            </a:r>
            <a:r>
              <a:rPr lang="en-US" sz="1460" kern="0" spc="-80" dirty="0" err="1">
                <a:solidFill>
                  <a:schemeClr val="accent6"/>
                </a:solidFill>
              </a:rPr>
              <a:t>getCustomerData</a:t>
            </a:r>
            <a:endParaRPr lang="en-US" sz="1460" kern="0" spc="-80" dirty="0">
              <a:solidFill>
                <a:schemeClr val="accent6"/>
              </a:solidFill>
            </a:endParaRPr>
          </a:p>
          <a:p>
            <a:pPr marL="12700" marR="5080"/>
            <a:r>
              <a:rPr lang="en-US" sz="1460" kern="0" spc="-80" dirty="0">
                <a:solidFill>
                  <a:schemeClr val="accent6"/>
                </a:solidFill>
              </a:rPr>
              <a:t>Versioning	                                     /v1/, /v2/</a:t>
            </a:r>
          </a:p>
          <a:p>
            <a:pPr marL="12700" marR="5080"/>
            <a:r>
              <a:rPr lang="en-US" sz="1460" kern="0" spc="-80" dirty="0">
                <a:solidFill>
                  <a:schemeClr val="accent6"/>
                </a:solidFill>
              </a:rPr>
              <a:t>Security	                                                        OAuth2 required on all production APIs</a:t>
            </a:r>
          </a:p>
          <a:p>
            <a:pPr marL="12700" marR="5080"/>
            <a:r>
              <a:rPr lang="en-US" sz="1460" kern="0" spc="-80" dirty="0">
                <a:solidFill>
                  <a:schemeClr val="accent6"/>
                </a:solidFill>
              </a:rPr>
              <a:t>Error Format	                                     Standard JSON error bodies</a:t>
            </a:r>
          </a:p>
          <a:p>
            <a:pPr marL="12700" marR="5080"/>
            <a:r>
              <a:rPr lang="en-US" sz="1460" kern="0" spc="-80" dirty="0">
                <a:solidFill>
                  <a:schemeClr val="accent6"/>
                </a:solidFill>
              </a:rPr>
              <a:t>Documentation	                                     Must auto-generate</a:t>
            </a:r>
          </a:p>
          <a:p>
            <a:pPr marL="12700" marR="5080"/>
            <a:r>
              <a:rPr lang="en-US" sz="1460" kern="0" spc="-80" dirty="0">
                <a:solidFill>
                  <a:schemeClr val="accent6"/>
                </a:solidFill>
              </a:rPr>
              <a:t>Governance is enforced through tools + pipelines, not meetings.</a:t>
            </a:r>
          </a:p>
          <a:p>
            <a:pPr marL="12700" marR="5080"/>
            <a:r>
              <a:rPr lang="en-US" sz="1460" kern="0" spc="-80" dirty="0">
                <a:solidFill>
                  <a:schemeClr val="accent2"/>
                </a:solidFill>
              </a:rPr>
              <a:t>🧰 Reference Architecture for </a:t>
            </a:r>
            <a:r>
              <a:rPr lang="en-US" sz="1460" kern="0" spc="-80" dirty="0" err="1">
                <a:solidFill>
                  <a:schemeClr val="accent2"/>
                </a:solidFill>
              </a:rPr>
              <a:t>APIOps</a:t>
            </a:r>
            <a:endParaRPr lang="en-US" sz="1460" kern="0" spc="-80" dirty="0">
              <a:solidFill>
                <a:schemeClr val="accent2"/>
              </a:solidFill>
            </a:endParaRPr>
          </a:p>
          <a:p>
            <a:pPr marL="12700" marR="5080"/>
            <a:r>
              <a:rPr lang="en-US" sz="1460" kern="0" spc="-80" dirty="0">
                <a:solidFill>
                  <a:schemeClr val="accent6"/>
                </a:solidFill>
              </a:rPr>
              <a:t>Developers → Git (API Spec) → CI Pipeline → API Linter → Tests</a:t>
            </a:r>
          </a:p>
          <a:p>
            <a:pPr marL="12700" marR="5080"/>
            <a:r>
              <a:rPr lang="en-US" sz="1460" kern="0" spc="-80" dirty="0">
                <a:solidFill>
                  <a:schemeClr val="accent6"/>
                </a:solidFill>
              </a:rPr>
              <a:t>                                       ↓</a:t>
            </a:r>
          </a:p>
          <a:p>
            <a:pPr marL="12700" marR="5080"/>
            <a:r>
              <a:rPr lang="en-US" sz="1460" kern="0" spc="-80" dirty="0">
                <a:solidFill>
                  <a:schemeClr val="accent6"/>
                </a:solidFill>
              </a:rPr>
              <a:t>                             API Gateway (APIM/Kong/Apigee)</a:t>
            </a:r>
          </a:p>
          <a:p>
            <a:pPr marL="12700" marR="5080"/>
            <a:r>
              <a:rPr lang="en-US" sz="1460" kern="0" spc="-80" dirty="0">
                <a:solidFill>
                  <a:schemeClr val="accent6"/>
                </a:solidFill>
              </a:rPr>
              <a:t>                                       ↓</a:t>
            </a:r>
          </a:p>
          <a:p>
            <a:pPr marL="12700" marR="5080"/>
            <a:r>
              <a:rPr lang="en-US" sz="1460" kern="0" spc="-80" dirty="0">
                <a:solidFill>
                  <a:schemeClr val="accent6"/>
                </a:solidFill>
              </a:rPr>
              <a:t>                              Developer Portal + Monitoring</a:t>
            </a:r>
          </a:p>
          <a:p>
            <a:pPr marL="12700" marR="5080"/>
            <a:r>
              <a:rPr lang="en-US" sz="1460" kern="0" spc="-80" dirty="0">
                <a:solidFill>
                  <a:schemeClr val="accent2"/>
                </a:solidFill>
              </a:rPr>
              <a:t>🎯 Practical Tools You Will Actually Use</a:t>
            </a:r>
          </a:p>
          <a:p>
            <a:pPr marL="12700" marR="5080"/>
            <a:r>
              <a:rPr lang="en-US" sz="1460" kern="0" spc="-80" dirty="0">
                <a:solidFill>
                  <a:schemeClr val="accent2"/>
                </a:solidFill>
              </a:rPr>
              <a:t>Function	                   Tools</a:t>
            </a:r>
          </a:p>
          <a:p>
            <a:pPr marL="12700" marR="5080"/>
            <a:r>
              <a:rPr lang="en-US" sz="1460" kern="0" spc="-80" dirty="0">
                <a:solidFill>
                  <a:schemeClr val="accent6"/>
                </a:solidFill>
              </a:rPr>
              <a:t>API Design	</a:t>
            </a:r>
            <a:r>
              <a:rPr lang="en-US" sz="1460" kern="0" spc="-80" dirty="0" err="1">
                <a:solidFill>
                  <a:schemeClr val="accent6"/>
                </a:solidFill>
              </a:rPr>
              <a:t>SwaggerHub</a:t>
            </a:r>
            <a:r>
              <a:rPr lang="en-US" sz="1460" kern="0" spc="-80" dirty="0">
                <a:solidFill>
                  <a:schemeClr val="accent6"/>
                </a:solidFill>
              </a:rPr>
              <a:t>, Postman, Stoplight</a:t>
            </a:r>
          </a:p>
          <a:p>
            <a:pPr marL="12700" marR="5080"/>
            <a:r>
              <a:rPr lang="en-US" sz="1460" kern="0" spc="-80" dirty="0">
                <a:solidFill>
                  <a:schemeClr val="accent6"/>
                </a:solidFill>
              </a:rPr>
              <a:t>API Validation	Spectral, </a:t>
            </a:r>
            <a:r>
              <a:rPr lang="en-US" sz="1460" kern="0" spc="-80" dirty="0" err="1">
                <a:solidFill>
                  <a:schemeClr val="accent6"/>
                </a:solidFill>
              </a:rPr>
              <a:t>Redocly</a:t>
            </a:r>
            <a:r>
              <a:rPr lang="en-US" sz="1460" kern="0" spc="-80" dirty="0">
                <a:solidFill>
                  <a:schemeClr val="accent6"/>
                </a:solidFill>
              </a:rPr>
              <a:t>, </a:t>
            </a:r>
            <a:r>
              <a:rPr lang="en-US" sz="1460" kern="0" spc="-80" dirty="0" err="1">
                <a:solidFill>
                  <a:schemeClr val="accent6"/>
                </a:solidFill>
              </a:rPr>
              <a:t>Schemathesis</a:t>
            </a:r>
            <a:endParaRPr lang="en-US" sz="1460" kern="0" spc="-80" dirty="0">
              <a:solidFill>
                <a:schemeClr val="accent6"/>
              </a:solidFill>
            </a:endParaRPr>
          </a:p>
          <a:p>
            <a:pPr marL="12700" marR="5080"/>
            <a:r>
              <a:rPr lang="en-US" sz="1460" kern="0" spc="-80" dirty="0">
                <a:solidFill>
                  <a:schemeClr val="accent6"/>
                </a:solidFill>
              </a:rPr>
              <a:t>CI/CD	                   GitHub Actions, Azure DevOps, GitLab CI</a:t>
            </a:r>
          </a:p>
          <a:p>
            <a:pPr marL="12700" marR="5080"/>
            <a:r>
              <a:rPr lang="en-US" sz="1460" kern="0" spc="-80" dirty="0">
                <a:solidFill>
                  <a:schemeClr val="accent6"/>
                </a:solidFill>
              </a:rPr>
              <a:t>API Gateways	Azure API Management, Kong, Apigee, AWS API Gateway</a:t>
            </a:r>
          </a:p>
          <a:p>
            <a:pPr marL="12700" marR="5080"/>
            <a:r>
              <a:rPr lang="en-US" sz="1460" kern="0" spc="-80" dirty="0">
                <a:solidFill>
                  <a:schemeClr val="accent6"/>
                </a:solidFill>
              </a:rPr>
              <a:t>Observability	Prometheus, Grafana, Splunk, APIM Analytics</a:t>
            </a:r>
          </a:p>
        </p:txBody>
      </p:sp>
      <p:sp>
        <p:nvSpPr>
          <p:cNvPr id="7" name="object 2">
            <a:extLst>
              <a:ext uri="{FF2B5EF4-FFF2-40B4-BE49-F238E27FC236}">
                <a16:creationId xmlns:a16="http://schemas.microsoft.com/office/drawing/2014/main" id="{0E23B0CD-435E-A9D7-3924-2D9727242EB3}"/>
              </a:ext>
            </a:extLst>
          </p:cNvPr>
          <p:cNvSpPr txBox="1">
            <a:spLocks/>
          </p:cNvSpPr>
          <p:nvPr/>
        </p:nvSpPr>
        <p:spPr>
          <a:xfrm>
            <a:off x="138063" y="5023247"/>
            <a:ext cx="8624937" cy="246221"/>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600" kern="0" spc="-80" dirty="0">
                <a:solidFill>
                  <a:schemeClr val="accent2"/>
                </a:solidFill>
              </a:rPr>
              <a:t>  </a:t>
            </a:r>
          </a:p>
        </p:txBody>
      </p:sp>
    </p:spTree>
    <p:extLst>
      <p:ext uri="{BB962C8B-B14F-4D97-AF65-F5344CB8AC3E}">
        <p14:creationId xmlns:p14="http://schemas.microsoft.com/office/powerpoint/2010/main" val="647450233"/>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FA07A9-7EC7-61D0-725A-50CB3BFC2060}"/>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8C88868F-3E7B-6DB0-E570-5BF662B23552}"/>
              </a:ext>
            </a:extLst>
          </p:cNvPr>
          <p:cNvSpPr/>
          <p:nvPr/>
        </p:nvSpPr>
        <p:spPr>
          <a:xfrm>
            <a:off x="1756802" y="591988"/>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8728254E-5D25-09AB-DFB6-366C71536CE3}"/>
              </a:ext>
            </a:extLst>
          </p:cNvPr>
          <p:cNvSpPr/>
          <p:nvPr/>
        </p:nvSpPr>
        <p:spPr>
          <a:xfrm>
            <a:off x="1756802" y="437699"/>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2E6E57B0-9EE1-09F5-D79D-370C383C0526}"/>
              </a:ext>
            </a:extLst>
          </p:cNvPr>
          <p:cNvGraphicFramePr/>
          <p:nvPr>
            <p:extLst>
              <p:ext uri="{D42A27DB-BD31-4B8C-83A1-F6EECF244321}">
                <p14:modId xmlns:p14="http://schemas.microsoft.com/office/powerpoint/2010/main" val="2525416899"/>
              </p:ext>
            </p:extLst>
          </p:nvPr>
        </p:nvGraphicFramePr>
        <p:xfrm>
          <a:off x="-25400" y="-152792"/>
          <a:ext cx="9144000" cy="56350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3" name="object 2">
            <a:extLst>
              <a:ext uri="{FF2B5EF4-FFF2-40B4-BE49-F238E27FC236}">
                <a16:creationId xmlns:a16="http://schemas.microsoft.com/office/drawing/2014/main" id="{AF8A0ADA-A0C5-ABD9-55BF-14C45D5B26D6}"/>
              </a:ext>
            </a:extLst>
          </p:cNvPr>
          <p:cNvSpPr txBox="1">
            <a:spLocks/>
          </p:cNvSpPr>
          <p:nvPr/>
        </p:nvSpPr>
        <p:spPr>
          <a:xfrm>
            <a:off x="0" y="763639"/>
            <a:ext cx="8915399" cy="3964162"/>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err="1">
                <a:solidFill>
                  <a:schemeClr val="accent2"/>
                </a:solidFill>
              </a:rPr>
              <a:t>APIOps</a:t>
            </a:r>
            <a:endParaRPr lang="en-US" sz="2400" kern="0" spc="-80" dirty="0">
              <a:solidFill>
                <a:schemeClr val="accent2"/>
              </a:solidFill>
            </a:endParaRPr>
          </a:p>
          <a:p>
            <a:pPr marL="12700" marR="5080"/>
            <a:r>
              <a:rPr lang="en-US" sz="1460" kern="0" spc="-80" dirty="0">
                <a:solidFill>
                  <a:schemeClr val="accent2"/>
                </a:solidFill>
              </a:rPr>
              <a:t>🌍 Real-World Example Scenario</a:t>
            </a:r>
          </a:p>
          <a:p>
            <a:pPr marL="12700" marR="5080"/>
            <a:r>
              <a:rPr lang="en-US" sz="1460" kern="0" spc="-80" dirty="0">
                <a:solidFill>
                  <a:schemeClr val="accent6"/>
                </a:solidFill>
              </a:rPr>
              <a:t>A bank exposes account lookup API to fintech partners.</a:t>
            </a:r>
          </a:p>
          <a:p>
            <a:pPr marL="12700" marR="5080"/>
            <a:r>
              <a:rPr lang="en-US" sz="1460" kern="0" spc="-80" dirty="0">
                <a:solidFill>
                  <a:schemeClr val="accent2"/>
                </a:solidFill>
              </a:rPr>
              <a:t>With </a:t>
            </a:r>
            <a:r>
              <a:rPr lang="en-US" sz="1460" kern="0" spc="-80" dirty="0" err="1">
                <a:solidFill>
                  <a:schemeClr val="accent2"/>
                </a:solidFill>
              </a:rPr>
              <a:t>APIOps</a:t>
            </a:r>
            <a:r>
              <a:rPr lang="en-US" sz="1460" kern="0" spc="-80" dirty="0">
                <a:solidFill>
                  <a:schemeClr val="accent2"/>
                </a:solidFill>
              </a:rPr>
              <a:t>:</a:t>
            </a:r>
          </a:p>
          <a:p>
            <a:pPr marL="12700" marR="5080"/>
            <a:r>
              <a:rPr lang="en-US" sz="1460" kern="0" spc="-80" dirty="0">
                <a:solidFill>
                  <a:schemeClr val="accent6"/>
                </a:solidFill>
              </a:rPr>
              <a:t>API spec is versioned in Git</a:t>
            </a:r>
          </a:p>
          <a:p>
            <a:pPr marL="12700" marR="5080"/>
            <a:r>
              <a:rPr lang="en-US" sz="1460" kern="0" spc="-80" dirty="0">
                <a:solidFill>
                  <a:schemeClr val="accent6"/>
                </a:solidFill>
              </a:rPr>
              <a:t>Every change triggers open API validation &amp; security review pipeline</a:t>
            </a:r>
          </a:p>
          <a:p>
            <a:pPr marL="12700" marR="5080"/>
            <a:r>
              <a:rPr lang="en-US" sz="1460" kern="0" spc="-80" dirty="0">
                <a:solidFill>
                  <a:schemeClr val="accent6"/>
                </a:solidFill>
              </a:rPr>
              <a:t>Published docs update automatically on the Partner Developer Portal</a:t>
            </a:r>
          </a:p>
          <a:p>
            <a:pPr marL="12700" marR="5080"/>
            <a:r>
              <a:rPr lang="en-US" sz="1460" kern="0" spc="-80" dirty="0">
                <a:solidFill>
                  <a:schemeClr val="accent6"/>
                </a:solidFill>
              </a:rPr>
              <a:t>Monitoring triggers alerts if latency spikes</a:t>
            </a:r>
          </a:p>
          <a:p>
            <a:pPr marL="12700" marR="5080"/>
            <a:r>
              <a:rPr lang="en-US" sz="1460" kern="0" spc="-80" dirty="0">
                <a:solidFill>
                  <a:schemeClr val="accent6"/>
                </a:solidFill>
              </a:rPr>
              <a:t>Breaking change? → Create /v2/ and deprecate /v1/ cleanly</a:t>
            </a:r>
          </a:p>
          <a:p>
            <a:pPr marL="12700" marR="5080"/>
            <a:r>
              <a:rPr lang="en-US" sz="1460" kern="0" spc="-80" dirty="0">
                <a:solidFill>
                  <a:schemeClr val="accent2"/>
                </a:solidFill>
              </a:rPr>
              <a:t>This improves:</a:t>
            </a:r>
          </a:p>
          <a:p>
            <a:pPr marL="12700" marR="5080"/>
            <a:r>
              <a:rPr lang="en-US" sz="1460" kern="0" spc="-80" dirty="0">
                <a:solidFill>
                  <a:schemeClr val="accent6"/>
                </a:solidFill>
              </a:rPr>
              <a:t>Security</a:t>
            </a:r>
          </a:p>
          <a:p>
            <a:pPr marL="12700" marR="5080"/>
            <a:r>
              <a:rPr lang="en-US" sz="1460" kern="0" spc="-80" dirty="0">
                <a:solidFill>
                  <a:schemeClr val="accent6"/>
                </a:solidFill>
              </a:rPr>
              <a:t>Compliance</a:t>
            </a:r>
          </a:p>
          <a:p>
            <a:pPr marL="12700" marR="5080"/>
            <a:r>
              <a:rPr lang="en-US" sz="1460" kern="0" spc="-80" dirty="0">
                <a:solidFill>
                  <a:schemeClr val="accent6"/>
                </a:solidFill>
              </a:rPr>
              <a:t>Time-to-market</a:t>
            </a:r>
          </a:p>
          <a:p>
            <a:pPr marL="12700" marR="5080"/>
            <a:r>
              <a:rPr lang="en-US" sz="1460" kern="0" spc="-80" dirty="0">
                <a:solidFill>
                  <a:schemeClr val="accent6"/>
                </a:solidFill>
              </a:rPr>
              <a:t>Developer trust</a:t>
            </a:r>
          </a:p>
          <a:p>
            <a:pPr marL="12700" marR="5080"/>
            <a:r>
              <a:rPr lang="en-US" sz="1460" kern="0" spc="-80" dirty="0">
                <a:solidFill>
                  <a:schemeClr val="accent2"/>
                </a:solidFill>
              </a:rPr>
              <a:t>🎁 Summary (Memory Shortcut)</a:t>
            </a:r>
          </a:p>
          <a:p>
            <a:pPr marL="12700" marR="5080"/>
            <a:r>
              <a:rPr lang="en-US" sz="1460" kern="0" spc="-80" dirty="0" err="1">
                <a:solidFill>
                  <a:schemeClr val="accent6"/>
                </a:solidFill>
              </a:rPr>
              <a:t>APIOps</a:t>
            </a:r>
            <a:r>
              <a:rPr lang="en-US" sz="1460" kern="0" spc="-80" dirty="0">
                <a:solidFill>
                  <a:schemeClr val="accent6"/>
                </a:solidFill>
              </a:rPr>
              <a:t> = </a:t>
            </a:r>
            <a:r>
              <a:rPr lang="en-US" sz="1460" kern="0" spc="-80" dirty="0" err="1">
                <a:solidFill>
                  <a:schemeClr val="accent6"/>
                </a:solidFill>
              </a:rPr>
              <a:t>OpenAPI</a:t>
            </a:r>
            <a:r>
              <a:rPr lang="en-US" sz="1460" kern="0" spc="-80" dirty="0">
                <a:solidFill>
                  <a:schemeClr val="accent6"/>
                </a:solidFill>
              </a:rPr>
              <a:t> + Git + CI/CD + API Gateway Policies + Automated Documentation + Monitoring</a:t>
            </a:r>
          </a:p>
          <a:p>
            <a:pPr marL="12700" marR="5080"/>
            <a:r>
              <a:rPr lang="en-US" sz="1460" kern="0" spc="-80" dirty="0">
                <a:solidFill>
                  <a:schemeClr val="accent6"/>
                </a:solidFill>
              </a:rPr>
              <a:t>If a process involving APIs is manual → automate it.</a:t>
            </a:r>
          </a:p>
        </p:txBody>
      </p:sp>
      <p:sp>
        <p:nvSpPr>
          <p:cNvPr id="7" name="object 2">
            <a:extLst>
              <a:ext uri="{FF2B5EF4-FFF2-40B4-BE49-F238E27FC236}">
                <a16:creationId xmlns:a16="http://schemas.microsoft.com/office/drawing/2014/main" id="{010D7606-400F-3C89-BF9B-23E6DC63F9F9}"/>
              </a:ext>
            </a:extLst>
          </p:cNvPr>
          <p:cNvSpPr txBox="1">
            <a:spLocks/>
          </p:cNvSpPr>
          <p:nvPr/>
        </p:nvSpPr>
        <p:spPr>
          <a:xfrm>
            <a:off x="138063" y="5023247"/>
            <a:ext cx="8624937" cy="246221"/>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600" kern="0" spc="-80" dirty="0">
                <a:solidFill>
                  <a:schemeClr val="accent2"/>
                </a:solidFill>
              </a:rPr>
              <a:t>  </a:t>
            </a:r>
          </a:p>
        </p:txBody>
      </p:sp>
    </p:spTree>
    <p:extLst>
      <p:ext uri="{BB962C8B-B14F-4D97-AF65-F5344CB8AC3E}">
        <p14:creationId xmlns:p14="http://schemas.microsoft.com/office/powerpoint/2010/main" val="170272053"/>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46C4AA-05A8-84D8-BCD0-331126CA63D5}"/>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4AB21BB4-3D64-4659-698E-23F09CC3830B}"/>
              </a:ext>
            </a:extLst>
          </p:cNvPr>
          <p:cNvSpPr/>
          <p:nvPr/>
        </p:nvSpPr>
        <p:spPr>
          <a:xfrm>
            <a:off x="1756803" y="609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324694C2-4209-2276-C27E-3F7376964B0F}"/>
              </a:ext>
            </a:extLst>
          </p:cNvPr>
          <p:cNvSpPr/>
          <p:nvPr/>
        </p:nvSpPr>
        <p:spPr>
          <a:xfrm>
            <a:off x="1756803" y="457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EDC2D2E5-AB92-56D2-CA18-D5569058A80B}"/>
              </a:ext>
            </a:extLst>
          </p:cNvPr>
          <p:cNvGraphicFramePr/>
          <p:nvPr>
            <p:extLst>
              <p:ext uri="{D42A27DB-BD31-4B8C-83A1-F6EECF244321}">
                <p14:modId xmlns:p14="http://schemas.microsoft.com/office/powerpoint/2010/main" val="2544943043"/>
              </p:ext>
            </p:extLst>
          </p:nvPr>
        </p:nvGraphicFramePr>
        <p:xfrm>
          <a:off x="0" y="34425"/>
          <a:ext cx="9144000" cy="35039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object 2">
            <a:extLst>
              <a:ext uri="{FF2B5EF4-FFF2-40B4-BE49-F238E27FC236}">
                <a16:creationId xmlns:a16="http://schemas.microsoft.com/office/drawing/2014/main" id="{4CFBEFE1-4DE8-E043-756B-57B91F847022}"/>
              </a:ext>
            </a:extLst>
          </p:cNvPr>
          <p:cNvSpPr txBox="1">
            <a:spLocks/>
          </p:cNvSpPr>
          <p:nvPr/>
        </p:nvSpPr>
        <p:spPr>
          <a:xfrm>
            <a:off x="228600" y="762000"/>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p:txBody>
      </p:sp>
      <p:sp>
        <p:nvSpPr>
          <p:cNvPr id="3" name="object 2">
            <a:extLst>
              <a:ext uri="{FF2B5EF4-FFF2-40B4-BE49-F238E27FC236}">
                <a16:creationId xmlns:a16="http://schemas.microsoft.com/office/drawing/2014/main" id="{A596D6A7-01F8-D339-D65E-56541E271BA1}"/>
              </a:ext>
            </a:extLst>
          </p:cNvPr>
          <p:cNvSpPr txBox="1">
            <a:spLocks/>
          </p:cNvSpPr>
          <p:nvPr/>
        </p:nvSpPr>
        <p:spPr>
          <a:xfrm>
            <a:off x="0" y="609600"/>
            <a:ext cx="8915399" cy="818686"/>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err="1">
                <a:solidFill>
                  <a:schemeClr val="accent2"/>
                </a:solidFill>
              </a:rPr>
              <a:t>APIOps</a:t>
            </a:r>
            <a:endParaRPr lang="en-US" sz="2400" kern="0" spc="-80" dirty="0">
              <a:solidFill>
                <a:schemeClr val="accent2"/>
              </a:solidFill>
            </a:endParaRPr>
          </a:p>
          <a:p>
            <a:pPr marL="12700" marR="5080"/>
            <a:r>
              <a:rPr lang="en-US" sz="1460" kern="0" spc="-80" dirty="0">
                <a:solidFill>
                  <a:schemeClr val="accent2"/>
                </a:solidFill>
              </a:rPr>
              <a:t>🚀 </a:t>
            </a:r>
            <a:r>
              <a:rPr lang="en-US" sz="1460" kern="0" spc="-80" dirty="0" err="1">
                <a:solidFill>
                  <a:schemeClr val="accent2"/>
                </a:solidFill>
              </a:rPr>
              <a:t>APIOps</a:t>
            </a:r>
            <a:r>
              <a:rPr lang="en-US" sz="1460" kern="0" spc="-80" dirty="0">
                <a:solidFill>
                  <a:schemeClr val="accent2"/>
                </a:solidFill>
              </a:rPr>
              <a:t> Maturity Roadmap (Enterprise-Ready)</a:t>
            </a:r>
          </a:p>
          <a:p>
            <a:pPr marL="12700" marR="5080"/>
            <a:r>
              <a:rPr lang="en-US" sz="1460" kern="0" spc="-80" dirty="0">
                <a:solidFill>
                  <a:schemeClr val="accent6"/>
                </a:solidFill>
              </a:rPr>
              <a:t>In general, 5 maturity levels:</a:t>
            </a:r>
          </a:p>
        </p:txBody>
      </p:sp>
      <p:sp>
        <p:nvSpPr>
          <p:cNvPr id="7" name="object 2">
            <a:extLst>
              <a:ext uri="{FF2B5EF4-FFF2-40B4-BE49-F238E27FC236}">
                <a16:creationId xmlns:a16="http://schemas.microsoft.com/office/drawing/2014/main" id="{F294B3FE-2D03-4833-509C-71068EDC68A1}"/>
              </a:ext>
            </a:extLst>
          </p:cNvPr>
          <p:cNvSpPr txBox="1">
            <a:spLocks/>
          </p:cNvSpPr>
          <p:nvPr/>
        </p:nvSpPr>
        <p:spPr>
          <a:xfrm>
            <a:off x="138063" y="5023247"/>
            <a:ext cx="8624937" cy="246221"/>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600" kern="0" spc="-80" dirty="0">
                <a:solidFill>
                  <a:schemeClr val="accent2"/>
                </a:solidFill>
              </a:rPr>
              <a:t>  </a:t>
            </a:r>
          </a:p>
        </p:txBody>
      </p:sp>
      <p:pic>
        <p:nvPicPr>
          <p:cNvPr id="11" name="Picture 10" descr="A screenshot of a computer&#10;&#10;AI-generated content may be incorrect.">
            <a:extLst>
              <a:ext uri="{FF2B5EF4-FFF2-40B4-BE49-F238E27FC236}">
                <a16:creationId xmlns:a16="http://schemas.microsoft.com/office/drawing/2014/main" id="{AA961B36-6B57-082C-F243-4835D8BD5F09}"/>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76200" y="1428286"/>
            <a:ext cx="8915399" cy="4515314"/>
          </a:xfrm>
          <a:prstGeom prst="rect">
            <a:avLst/>
          </a:prstGeom>
        </p:spPr>
      </p:pic>
    </p:spTree>
    <p:extLst>
      <p:ext uri="{BB962C8B-B14F-4D97-AF65-F5344CB8AC3E}">
        <p14:creationId xmlns:p14="http://schemas.microsoft.com/office/powerpoint/2010/main" val="1956614369"/>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2586AA-0088-BFA2-32E4-16D3FCF87847}"/>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782BD1FF-C479-CB23-D7D0-F8A02A42541F}"/>
              </a:ext>
            </a:extLst>
          </p:cNvPr>
          <p:cNvSpPr/>
          <p:nvPr/>
        </p:nvSpPr>
        <p:spPr>
          <a:xfrm>
            <a:off x="1756803" y="667704"/>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11FDAF2E-1875-FDB2-7DC8-BD7FBCDD0FA3}"/>
              </a:ext>
            </a:extLst>
          </p:cNvPr>
          <p:cNvSpPr/>
          <p:nvPr/>
        </p:nvSpPr>
        <p:spPr>
          <a:xfrm>
            <a:off x="1756803" y="495936"/>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64D66423-C7A1-142F-1BF1-02C38C0228A7}"/>
              </a:ext>
            </a:extLst>
          </p:cNvPr>
          <p:cNvGraphicFramePr/>
          <p:nvPr>
            <p:extLst>
              <p:ext uri="{D42A27DB-BD31-4B8C-83A1-F6EECF244321}">
                <p14:modId xmlns:p14="http://schemas.microsoft.com/office/powerpoint/2010/main" val="2730792011"/>
              </p:ext>
            </p:extLst>
          </p:nvPr>
        </p:nvGraphicFramePr>
        <p:xfrm>
          <a:off x="-76200" y="34425"/>
          <a:ext cx="9144000" cy="42277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object 2">
            <a:extLst>
              <a:ext uri="{FF2B5EF4-FFF2-40B4-BE49-F238E27FC236}">
                <a16:creationId xmlns:a16="http://schemas.microsoft.com/office/drawing/2014/main" id="{932B8EC6-B507-D07F-9FDF-C356DEE1209B}"/>
              </a:ext>
            </a:extLst>
          </p:cNvPr>
          <p:cNvSpPr txBox="1">
            <a:spLocks/>
          </p:cNvSpPr>
          <p:nvPr/>
        </p:nvSpPr>
        <p:spPr>
          <a:xfrm>
            <a:off x="228600" y="762000"/>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p:txBody>
      </p:sp>
      <p:sp>
        <p:nvSpPr>
          <p:cNvPr id="3" name="object 2">
            <a:extLst>
              <a:ext uri="{FF2B5EF4-FFF2-40B4-BE49-F238E27FC236}">
                <a16:creationId xmlns:a16="http://schemas.microsoft.com/office/drawing/2014/main" id="{8127DF7B-CE11-7EF0-F7AC-4AB45E7A25E8}"/>
              </a:ext>
            </a:extLst>
          </p:cNvPr>
          <p:cNvSpPr txBox="1">
            <a:spLocks/>
          </p:cNvSpPr>
          <p:nvPr/>
        </p:nvSpPr>
        <p:spPr>
          <a:xfrm>
            <a:off x="-7862" y="714376"/>
            <a:ext cx="8915399" cy="5299912"/>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err="1">
                <a:solidFill>
                  <a:schemeClr val="accent2"/>
                </a:solidFill>
              </a:rPr>
              <a:t>APIOps</a:t>
            </a:r>
            <a:endParaRPr lang="en-US" sz="2400" kern="0" spc="-80" dirty="0">
              <a:solidFill>
                <a:schemeClr val="accent2"/>
              </a:solidFill>
            </a:endParaRPr>
          </a:p>
          <a:p>
            <a:pPr marL="12700" marR="5080"/>
            <a:r>
              <a:rPr lang="en-US" sz="1460" kern="0" spc="-80" dirty="0">
                <a:solidFill>
                  <a:schemeClr val="accent2"/>
                </a:solidFill>
              </a:rPr>
              <a:t>🎨 Visual Roadmap Summary (Memory Snapshot)</a:t>
            </a:r>
          </a:p>
          <a:p>
            <a:pPr marL="12700" marR="5080"/>
            <a:r>
              <a:rPr lang="en-US" sz="1460" kern="0" spc="-80" dirty="0">
                <a:solidFill>
                  <a:schemeClr val="accent6"/>
                </a:solidFill>
              </a:rPr>
              <a:t>Level 0 → No Strategy → Chaos</a:t>
            </a:r>
          </a:p>
          <a:p>
            <a:pPr marL="12700" marR="5080"/>
            <a:r>
              <a:rPr lang="en-US" sz="1460" kern="0" spc="-80" dirty="0">
                <a:solidFill>
                  <a:schemeClr val="accent6"/>
                </a:solidFill>
              </a:rPr>
              <a:t>Level 1 → Documentation → Visibility</a:t>
            </a:r>
          </a:p>
          <a:p>
            <a:pPr marL="12700" marR="5080"/>
            <a:r>
              <a:rPr lang="en-US" sz="1460" kern="0" spc="-80" dirty="0">
                <a:solidFill>
                  <a:schemeClr val="accent6"/>
                </a:solidFill>
              </a:rPr>
              <a:t>Level 2 → Design-First → Consistency</a:t>
            </a:r>
          </a:p>
          <a:p>
            <a:pPr marL="12700" marR="5080"/>
            <a:r>
              <a:rPr lang="en-US" sz="1460" kern="0" spc="-80" dirty="0">
                <a:solidFill>
                  <a:schemeClr val="accent6"/>
                </a:solidFill>
              </a:rPr>
              <a:t>Level 3 → Automated </a:t>
            </a:r>
            <a:r>
              <a:rPr lang="en-US" sz="1460" kern="0" spc="-80" dirty="0" err="1">
                <a:solidFill>
                  <a:schemeClr val="accent6"/>
                </a:solidFill>
              </a:rPr>
              <a:t>APIOps</a:t>
            </a:r>
            <a:r>
              <a:rPr lang="en-US" sz="1460" kern="0" spc="-80" dirty="0">
                <a:solidFill>
                  <a:schemeClr val="accent6"/>
                </a:solidFill>
              </a:rPr>
              <a:t> Pipelines → Quality + Speed</a:t>
            </a:r>
          </a:p>
          <a:p>
            <a:pPr marL="12700" marR="5080"/>
            <a:r>
              <a:rPr lang="en-US" sz="1460" kern="0" spc="-80" dirty="0">
                <a:solidFill>
                  <a:schemeClr val="accent6"/>
                </a:solidFill>
              </a:rPr>
              <a:t>Level 4 → Governance + Self-Service → Scale + Reliability.</a:t>
            </a:r>
          </a:p>
          <a:p>
            <a:pPr marL="12700" marR="5080"/>
            <a:endParaRPr lang="en-US" sz="1460" kern="0" spc="-80" dirty="0">
              <a:solidFill>
                <a:schemeClr val="accent6"/>
              </a:solidFill>
            </a:endParaRPr>
          </a:p>
          <a:p>
            <a:pPr marL="12700" marR="5080"/>
            <a:endParaRPr lang="en-US" sz="1460" kern="0" spc="-80" dirty="0">
              <a:solidFill>
                <a:schemeClr val="accent6"/>
              </a:solidFill>
            </a:endParaRPr>
          </a:p>
          <a:p>
            <a:pPr marL="12700" marR="5080"/>
            <a:endParaRPr lang="en-US" sz="1460" kern="0" spc="-80" dirty="0">
              <a:solidFill>
                <a:schemeClr val="accent6"/>
              </a:solidFill>
            </a:endParaRPr>
          </a:p>
          <a:p>
            <a:pPr marL="12700" marR="5080"/>
            <a:endParaRPr lang="en-US" sz="1460" kern="0" spc="-80" dirty="0">
              <a:solidFill>
                <a:schemeClr val="accent6"/>
              </a:solidFill>
            </a:endParaRPr>
          </a:p>
          <a:p>
            <a:pPr marL="12700" marR="5080"/>
            <a:endParaRPr lang="en-US" sz="1460" kern="0" spc="-80" dirty="0">
              <a:solidFill>
                <a:schemeClr val="accent6"/>
              </a:solidFill>
            </a:endParaRPr>
          </a:p>
          <a:p>
            <a:pPr marL="12700" marR="5080"/>
            <a:endParaRPr lang="en-US" sz="1460" kern="0" spc="-80" dirty="0">
              <a:solidFill>
                <a:schemeClr val="accent6"/>
              </a:solidFill>
            </a:endParaRPr>
          </a:p>
          <a:p>
            <a:pPr marL="12700" marR="5080"/>
            <a:endParaRPr lang="en-US" sz="1460" kern="0" spc="-80" dirty="0">
              <a:solidFill>
                <a:schemeClr val="accent6"/>
              </a:solidFill>
            </a:endParaRPr>
          </a:p>
          <a:p>
            <a:pPr marL="12700" marR="5080"/>
            <a:endParaRPr lang="en-US" sz="1460" kern="0" spc="-80" dirty="0">
              <a:solidFill>
                <a:schemeClr val="accent6"/>
              </a:solidFill>
            </a:endParaRPr>
          </a:p>
          <a:p>
            <a:pPr marL="12700" marR="5080"/>
            <a:r>
              <a:rPr lang="en-US" sz="2000" kern="0" spc="-80" dirty="0">
                <a:solidFill>
                  <a:schemeClr val="accent2"/>
                </a:solidFill>
              </a:rPr>
              <a:t>For Further Exploration</a:t>
            </a:r>
          </a:p>
          <a:p>
            <a:pPr marL="12700" marR="5080"/>
            <a:r>
              <a:rPr lang="en-US" sz="1600" dirty="0">
                <a:hlinkClick r:id="rId7"/>
              </a:rPr>
              <a:t>Guide to </a:t>
            </a:r>
            <a:r>
              <a:rPr lang="en-US" sz="1600" dirty="0" err="1">
                <a:hlinkClick r:id="rId7"/>
              </a:rPr>
              <a:t>APIOps</a:t>
            </a:r>
            <a:r>
              <a:rPr lang="en-US" sz="1600" dirty="0">
                <a:hlinkClick r:id="rId7"/>
              </a:rPr>
              <a:t>, the Collaborative Approach for API Production</a:t>
            </a:r>
            <a:endParaRPr lang="en-US" sz="1600" dirty="0"/>
          </a:p>
          <a:p>
            <a:pPr marL="12700" marR="5080"/>
            <a:r>
              <a:rPr lang="en-US" sz="1600" dirty="0" err="1">
                <a:hlinkClick r:id="rId8"/>
              </a:rPr>
              <a:t>APIOps</a:t>
            </a:r>
            <a:r>
              <a:rPr lang="en-US" sz="1600" dirty="0">
                <a:hlinkClick r:id="rId8"/>
              </a:rPr>
              <a:t>: Transforming API Development with DevOps Principles</a:t>
            </a:r>
            <a:endParaRPr lang="en-US" sz="1600" dirty="0"/>
          </a:p>
          <a:p>
            <a:pPr marL="12700" marR="5080"/>
            <a:r>
              <a:rPr lang="en-US" sz="1600" dirty="0">
                <a:hlinkClick r:id="rId9"/>
              </a:rPr>
              <a:t>Automated API deployments using </a:t>
            </a:r>
            <a:r>
              <a:rPr lang="en-US" sz="1600" dirty="0" err="1">
                <a:hlinkClick r:id="rId9"/>
              </a:rPr>
              <a:t>APIOps</a:t>
            </a:r>
            <a:endParaRPr lang="en-US" sz="1600" dirty="0"/>
          </a:p>
          <a:p>
            <a:pPr marL="12700" marR="5080"/>
            <a:r>
              <a:rPr lang="en-US" sz="1600" dirty="0" err="1">
                <a:hlinkClick r:id="rId10"/>
              </a:rPr>
              <a:t>APIOps</a:t>
            </a:r>
            <a:r>
              <a:rPr lang="en-US" sz="1600" dirty="0">
                <a:hlinkClick r:id="rId10"/>
              </a:rPr>
              <a:t> – Documentation</a:t>
            </a:r>
            <a:endParaRPr lang="en-US" sz="1600" dirty="0"/>
          </a:p>
          <a:p>
            <a:pPr marL="12700" marR="5080"/>
            <a:r>
              <a:rPr lang="en-US" sz="1600" dirty="0" err="1">
                <a:hlinkClick r:id="rId11"/>
              </a:rPr>
              <a:t>APIOps</a:t>
            </a:r>
            <a:r>
              <a:rPr lang="en-US" sz="1600" dirty="0">
                <a:hlinkClick r:id="rId11"/>
              </a:rPr>
              <a:t>-Lab</a:t>
            </a:r>
            <a:endParaRPr lang="en-US" sz="1600" dirty="0"/>
          </a:p>
          <a:p>
            <a:pPr marL="12700" marR="5080"/>
            <a:r>
              <a:rPr lang="en-US" sz="1600" dirty="0" err="1">
                <a:hlinkClick r:id="rId12"/>
              </a:rPr>
              <a:t>APIQuality</a:t>
            </a:r>
            <a:r>
              <a:rPr lang="en-US" sz="1600" dirty="0">
                <a:hlinkClick r:id="rId12"/>
              </a:rPr>
              <a:t> - </a:t>
            </a:r>
            <a:r>
              <a:rPr lang="en-US" sz="1600" dirty="0" err="1">
                <a:hlinkClick r:id="rId12"/>
              </a:rPr>
              <a:t>APIOps</a:t>
            </a:r>
            <a:r>
              <a:rPr lang="en-US" sz="1600" dirty="0">
                <a:hlinkClick r:id="rId12"/>
              </a:rPr>
              <a:t> Low Code with artificial intelligent</a:t>
            </a:r>
            <a:endParaRPr lang="en-US" sz="1460" kern="0" spc="-80" dirty="0">
              <a:solidFill>
                <a:schemeClr val="accent2"/>
              </a:solidFill>
            </a:endParaRPr>
          </a:p>
        </p:txBody>
      </p:sp>
      <p:sp>
        <p:nvSpPr>
          <p:cNvPr id="7" name="object 2">
            <a:extLst>
              <a:ext uri="{FF2B5EF4-FFF2-40B4-BE49-F238E27FC236}">
                <a16:creationId xmlns:a16="http://schemas.microsoft.com/office/drawing/2014/main" id="{EAE1740F-E0B9-A5E7-5B22-D559FCFCD0B6}"/>
              </a:ext>
            </a:extLst>
          </p:cNvPr>
          <p:cNvSpPr txBox="1">
            <a:spLocks/>
          </p:cNvSpPr>
          <p:nvPr/>
        </p:nvSpPr>
        <p:spPr>
          <a:xfrm>
            <a:off x="138063" y="5023247"/>
            <a:ext cx="8624937" cy="246221"/>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600" kern="0" spc="-80" dirty="0">
                <a:solidFill>
                  <a:schemeClr val="accent2"/>
                </a:solidFill>
              </a:rPr>
              <a:t>  </a:t>
            </a:r>
          </a:p>
        </p:txBody>
      </p:sp>
    </p:spTree>
    <p:extLst>
      <p:ext uri="{BB962C8B-B14F-4D97-AF65-F5344CB8AC3E}">
        <p14:creationId xmlns:p14="http://schemas.microsoft.com/office/powerpoint/2010/main" val="1719857417"/>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3485B5-B21C-C748-3D01-29CAE04896E2}"/>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6AB7B4E9-E09C-8D23-39CA-C304B20197FF}"/>
              </a:ext>
            </a:extLst>
          </p:cNvPr>
          <p:cNvSpPr/>
          <p:nvPr/>
        </p:nvSpPr>
        <p:spPr>
          <a:xfrm>
            <a:off x="1764664" y="606198"/>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A86B3F08-C4F3-F1BE-357D-D4157F941FC2}"/>
              </a:ext>
            </a:extLst>
          </p:cNvPr>
          <p:cNvSpPr/>
          <p:nvPr/>
        </p:nvSpPr>
        <p:spPr>
          <a:xfrm>
            <a:off x="1756802" y="450396"/>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1E86D2D5-AEAC-37FE-4B6D-02F7572BB912}"/>
              </a:ext>
            </a:extLst>
          </p:cNvPr>
          <p:cNvGraphicFramePr/>
          <p:nvPr>
            <p:extLst>
              <p:ext uri="{D42A27DB-BD31-4B8C-83A1-F6EECF244321}">
                <p14:modId xmlns:p14="http://schemas.microsoft.com/office/powerpoint/2010/main" val="3133221946"/>
              </p:ext>
            </p:extLst>
          </p:nvPr>
        </p:nvGraphicFramePr>
        <p:xfrm>
          <a:off x="-30932" y="-15214"/>
          <a:ext cx="9144000" cy="536439"/>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object 2">
            <a:extLst>
              <a:ext uri="{FF2B5EF4-FFF2-40B4-BE49-F238E27FC236}">
                <a16:creationId xmlns:a16="http://schemas.microsoft.com/office/drawing/2014/main" id="{B9585600-3ED7-0EF4-A175-F7C78E708722}"/>
              </a:ext>
            </a:extLst>
          </p:cNvPr>
          <p:cNvSpPr txBox="1">
            <a:spLocks/>
          </p:cNvSpPr>
          <p:nvPr/>
        </p:nvSpPr>
        <p:spPr>
          <a:xfrm>
            <a:off x="228600" y="762000"/>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p:txBody>
      </p:sp>
      <p:sp>
        <p:nvSpPr>
          <p:cNvPr id="3" name="object 2">
            <a:extLst>
              <a:ext uri="{FF2B5EF4-FFF2-40B4-BE49-F238E27FC236}">
                <a16:creationId xmlns:a16="http://schemas.microsoft.com/office/drawing/2014/main" id="{95B0E900-E50D-F49A-8980-98D03A249751}"/>
              </a:ext>
            </a:extLst>
          </p:cNvPr>
          <p:cNvSpPr txBox="1">
            <a:spLocks/>
          </p:cNvSpPr>
          <p:nvPr/>
        </p:nvSpPr>
        <p:spPr>
          <a:xfrm>
            <a:off x="1" y="632500"/>
            <a:ext cx="8915399" cy="5355312"/>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err="1">
                <a:solidFill>
                  <a:schemeClr val="accent2"/>
                </a:solidFill>
              </a:rPr>
              <a:t>WorkerOps</a:t>
            </a:r>
            <a:endParaRPr lang="en-US" sz="2400" kern="0" spc="-80" dirty="0">
              <a:solidFill>
                <a:schemeClr val="accent2"/>
              </a:solidFill>
            </a:endParaRPr>
          </a:p>
          <a:p>
            <a:pPr marL="12700" marR="5080"/>
            <a:r>
              <a:rPr lang="en-US" sz="1800" kern="0" spc="-80" dirty="0">
                <a:solidFill>
                  <a:schemeClr val="accent2"/>
                </a:solidFill>
              </a:rPr>
              <a:t>1. </a:t>
            </a:r>
            <a:r>
              <a:rPr lang="en-US" sz="1800" kern="0" spc="-80" dirty="0" err="1">
                <a:solidFill>
                  <a:schemeClr val="accent2"/>
                </a:solidFill>
              </a:rPr>
              <a:t>APIOps</a:t>
            </a:r>
            <a:r>
              <a:rPr lang="en-US" sz="1800" kern="0" spc="-80" dirty="0">
                <a:solidFill>
                  <a:schemeClr val="accent2"/>
                </a:solidFill>
              </a:rPr>
              <a:t> Recap</a:t>
            </a:r>
          </a:p>
          <a:p>
            <a:pPr marL="12700" marR="5080"/>
            <a:r>
              <a:rPr lang="en-US" sz="1800" kern="0" spc="-80" dirty="0" err="1">
                <a:solidFill>
                  <a:schemeClr val="accent6"/>
                </a:solidFill>
              </a:rPr>
              <a:t>APIOps</a:t>
            </a:r>
            <a:r>
              <a:rPr lang="en-US" sz="1800" kern="0" spc="-80" dirty="0">
                <a:solidFill>
                  <a:schemeClr val="accent6"/>
                </a:solidFill>
              </a:rPr>
              <a:t> applies DevOps-like practices specifically to APIs, covering the lifecycle from design, deployment, testing, monitoring, versioning, and governance. </a:t>
            </a:r>
          </a:p>
          <a:p>
            <a:pPr marL="12700" marR="5080"/>
            <a:r>
              <a:rPr lang="en-US" sz="1800" kern="0" spc="-80" dirty="0">
                <a:solidFill>
                  <a:schemeClr val="accent2"/>
                </a:solidFill>
              </a:rPr>
              <a:t>Key aspects include:</a:t>
            </a:r>
          </a:p>
          <a:p>
            <a:pPr marL="12700" marR="5080"/>
            <a:r>
              <a:rPr lang="en-US" sz="1800" kern="0" spc="-80" dirty="0">
                <a:solidFill>
                  <a:schemeClr val="accent6"/>
                </a:solidFill>
              </a:rPr>
              <a:t>Automation (CI/CD)</a:t>
            </a:r>
          </a:p>
          <a:p>
            <a:pPr marL="12700" marR="5080"/>
            <a:r>
              <a:rPr lang="en-US" sz="1800" kern="0" spc="-80" dirty="0">
                <a:solidFill>
                  <a:schemeClr val="accent6"/>
                </a:solidFill>
              </a:rPr>
              <a:t>Observability (metrics, logs, tracing)</a:t>
            </a:r>
          </a:p>
          <a:p>
            <a:pPr marL="12700" marR="5080"/>
            <a:r>
              <a:rPr lang="en-US" sz="1800" kern="0" spc="-80" dirty="0">
                <a:solidFill>
                  <a:schemeClr val="accent6"/>
                </a:solidFill>
              </a:rPr>
              <a:t>Governance &amp; security</a:t>
            </a:r>
          </a:p>
          <a:p>
            <a:pPr marL="12700" marR="5080"/>
            <a:r>
              <a:rPr lang="en-US" sz="1800" kern="0" spc="-80" dirty="0">
                <a:solidFill>
                  <a:schemeClr val="accent6"/>
                </a:solidFill>
              </a:rPr>
              <a:t>Lifecycle management</a:t>
            </a:r>
          </a:p>
          <a:p>
            <a:pPr marL="12700" marR="5080"/>
            <a:r>
              <a:rPr lang="en-US" sz="1800" kern="0" spc="-80" dirty="0">
                <a:solidFill>
                  <a:schemeClr val="accent6"/>
                </a:solidFill>
              </a:rPr>
              <a:t>Policy enforcement</a:t>
            </a:r>
          </a:p>
          <a:p>
            <a:pPr marL="12700" marR="5080"/>
            <a:endParaRPr lang="en-US" sz="1800" kern="0" spc="-80" dirty="0">
              <a:solidFill>
                <a:schemeClr val="accent6"/>
              </a:solidFill>
            </a:endParaRPr>
          </a:p>
          <a:p>
            <a:pPr marL="12700" marR="5080"/>
            <a:r>
              <a:rPr lang="en-US" sz="1800" kern="0" spc="-80" dirty="0">
                <a:solidFill>
                  <a:schemeClr val="accent2"/>
                </a:solidFill>
              </a:rPr>
              <a:t>2. Background Services / Workers</a:t>
            </a:r>
          </a:p>
          <a:p>
            <a:pPr marL="12700" marR="5080"/>
            <a:r>
              <a:rPr lang="en-US" sz="1800" kern="0" spc="-80" dirty="0">
                <a:solidFill>
                  <a:schemeClr val="accent6"/>
                </a:solidFill>
              </a:rPr>
              <a:t>Background services (e.g., </a:t>
            </a:r>
            <a:r>
              <a:rPr lang="en-US" sz="1800" kern="0" spc="-80" dirty="0" err="1">
                <a:solidFill>
                  <a:schemeClr val="accent6"/>
                </a:solidFill>
              </a:rPr>
              <a:t>cron</a:t>
            </a:r>
            <a:r>
              <a:rPr lang="en-US" sz="1800" kern="0" spc="-80" dirty="0">
                <a:solidFill>
                  <a:schemeClr val="accent6"/>
                </a:solidFill>
              </a:rPr>
              <a:t> jobs, message queue consumers, ETL processes, microservices triggered by events) have some similarities to APIs in terms of lifecycle:</a:t>
            </a:r>
          </a:p>
          <a:p>
            <a:pPr marL="12700" marR="5080"/>
            <a:r>
              <a:rPr lang="en-US" sz="1800" kern="0" spc="-80" dirty="0">
                <a:solidFill>
                  <a:schemeClr val="accent6"/>
                </a:solidFill>
              </a:rPr>
              <a:t>They are deployed and updated continuously</a:t>
            </a:r>
          </a:p>
          <a:p>
            <a:pPr marL="12700" marR="5080"/>
            <a:r>
              <a:rPr lang="en-US" sz="1800" kern="0" spc="-80" dirty="0">
                <a:solidFill>
                  <a:schemeClr val="accent6"/>
                </a:solidFill>
              </a:rPr>
              <a:t>They consume or produce data (via message queues, databases, or events)</a:t>
            </a:r>
          </a:p>
          <a:p>
            <a:pPr marL="12700" marR="5080"/>
            <a:r>
              <a:rPr lang="en-US" sz="1800" kern="0" spc="-80" dirty="0">
                <a:solidFill>
                  <a:schemeClr val="accent6"/>
                </a:solidFill>
              </a:rPr>
              <a:t>They require reliability, monitoring, and scaling</a:t>
            </a:r>
          </a:p>
          <a:p>
            <a:pPr marL="12700" marR="5080"/>
            <a:r>
              <a:rPr lang="en-US" sz="1800" kern="0" spc="-80" dirty="0">
                <a:solidFill>
                  <a:schemeClr val="accent6"/>
                </a:solidFill>
              </a:rPr>
              <a:t>So, applying </a:t>
            </a:r>
            <a:r>
              <a:rPr lang="en-US" sz="1800" kern="0" spc="-80" dirty="0" err="1">
                <a:solidFill>
                  <a:schemeClr val="accent6"/>
                </a:solidFill>
              </a:rPr>
              <a:t>APIOps</a:t>
            </a:r>
            <a:r>
              <a:rPr lang="en-US" sz="1800" kern="0" spc="-80" dirty="0">
                <a:solidFill>
                  <a:schemeClr val="accent6"/>
                </a:solidFill>
              </a:rPr>
              <a:t>-like principles here makes sense.</a:t>
            </a:r>
          </a:p>
        </p:txBody>
      </p:sp>
      <p:sp>
        <p:nvSpPr>
          <p:cNvPr id="7" name="object 2">
            <a:extLst>
              <a:ext uri="{FF2B5EF4-FFF2-40B4-BE49-F238E27FC236}">
                <a16:creationId xmlns:a16="http://schemas.microsoft.com/office/drawing/2014/main" id="{5AF76C23-7376-D2CC-7B35-94E987D5B43E}"/>
              </a:ext>
            </a:extLst>
          </p:cNvPr>
          <p:cNvSpPr txBox="1">
            <a:spLocks/>
          </p:cNvSpPr>
          <p:nvPr/>
        </p:nvSpPr>
        <p:spPr>
          <a:xfrm>
            <a:off x="138063" y="5023247"/>
            <a:ext cx="8624937" cy="246221"/>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600" kern="0" spc="-80" dirty="0">
                <a:solidFill>
                  <a:schemeClr val="accent2"/>
                </a:solidFill>
              </a:rPr>
              <a:t>  </a:t>
            </a:r>
          </a:p>
        </p:txBody>
      </p:sp>
    </p:spTree>
    <p:extLst>
      <p:ext uri="{BB962C8B-B14F-4D97-AF65-F5344CB8AC3E}">
        <p14:creationId xmlns:p14="http://schemas.microsoft.com/office/powerpoint/2010/main" val="249634377"/>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CBE637-2D9A-A24B-76AD-027FF786BE2E}"/>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31F12BC7-232A-E433-D600-FB1B486B7A9F}"/>
              </a:ext>
            </a:extLst>
          </p:cNvPr>
          <p:cNvSpPr/>
          <p:nvPr/>
        </p:nvSpPr>
        <p:spPr>
          <a:xfrm>
            <a:off x="1756803" y="609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E8D4EDE2-E59A-DFEC-6BBD-03CCA6F94491}"/>
              </a:ext>
            </a:extLst>
          </p:cNvPr>
          <p:cNvSpPr/>
          <p:nvPr/>
        </p:nvSpPr>
        <p:spPr>
          <a:xfrm>
            <a:off x="1756803" y="457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B18FC56A-1F02-1AB5-E204-61CBB2B5111F}"/>
              </a:ext>
            </a:extLst>
          </p:cNvPr>
          <p:cNvGraphicFramePr/>
          <p:nvPr>
            <p:extLst>
              <p:ext uri="{D42A27DB-BD31-4B8C-83A1-F6EECF244321}">
                <p14:modId xmlns:p14="http://schemas.microsoft.com/office/powerpoint/2010/main" val="3647946433"/>
              </p:ext>
            </p:extLst>
          </p:nvPr>
        </p:nvGraphicFramePr>
        <p:xfrm>
          <a:off x="0" y="34426"/>
          <a:ext cx="9144000" cy="38403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object 2">
            <a:extLst>
              <a:ext uri="{FF2B5EF4-FFF2-40B4-BE49-F238E27FC236}">
                <a16:creationId xmlns:a16="http://schemas.microsoft.com/office/drawing/2014/main" id="{8DAB3AA3-824D-2E2E-FAB4-E81AD45AED5C}"/>
              </a:ext>
            </a:extLst>
          </p:cNvPr>
          <p:cNvSpPr txBox="1">
            <a:spLocks/>
          </p:cNvSpPr>
          <p:nvPr/>
        </p:nvSpPr>
        <p:spPr>
          <a:xfrm>
            <a:off x="228600" y="762000"/>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p:txBody>
      </p:sp>
      <p:sp>
        <p:nvSpPr>
          <p:cNvPr id="3" name="object 2">
            <a:extLst>
              <a:ext uri="{FF2B5EF4-FFF2-40B4-BE49-F238E27FC236}">
                <a16:creationId xmlns:a16="http://schemas.microsoft.com/office/drawing/2014/main" id="{7D20FB82-6B17-7139-4DC5-4210A5EDCBFF}"/>
              </a:ext>
            </a:extLst>
          </p:cNvPr>
          <p:cNvSpPr txBox="1">
            <a:spLocks/>
          </p:cNvSpPr>
          <p:nvPr/>
        </p:nvSpPr>
        <p:spPr>
          <a:xfrm>
            <a:off x="0" y="609600"/>
            <a:ext cx="8915399" cy="5087547"/>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err="1">
                <a:solidFill>
                  <a:schemeClr val="accent2"/>
                </a:solidFill>
              </a:rPr>
              <a:t>WorkerOps</a:t>
            </a:r>
            <a:endParaRPr lang="en-US" sz="2400" kern="0" spc="-80" dirty="0">
              <a:solidFill>
                <a:schemeClr val="accent2"/>
              </a:solidFill>
            </a:endParaRPr>
          </a:p>
          <a:p>
            <a:pPr marL="12700" marR="5080"/>
            <a:r>
              <a:rPr lang="en-US" sz="1460" kern="0" spc="-80" dirty="0">
                <a:solidFill>
                  <a:schemeClr val="accent2"/>
                </a:solidFill>
              </a:rPr>
              <a:t>3. “</a:t>
            </a:r>
            <a:r>
              <a:rPr lang="en-US" sz="1460" kern="0" spc="-80" dirty="0" err="1">
                <a:solidFill>
                  <a:schemeClr val="accent2"/>
                </a:solidFill>
              </a:rPr>
              <a:t>WorkerOps</a:t>
            </a:r>
            <a:r>
              <a:rPr lang="en-US" sz="1460" kern="0" spc="-80" dirty="0">
                <a:solidFill>
                  <a:schemeClr val="accent2"/>
                </a:solidFill>
              </a:rPr>
              <a:t>” / “</a:t>
            </a:r>
            <a:r>
              <a:rPr lang="en-US" sz="1460" kern="0" spc="-80" dirty="0" err="1">
                <a:solidFill>
                  <a:schemeClr val="accent2"/>
                </a:solidFill>
              </a:rPr>
              <a:t>ServiceOps</a:t>
            </a:r>
            <a:r>
              <a:rPr lang="en-US" sz="1460" kern="0" spc="-80" dirty="0">
                <a:solidFill>
                  <a:schemeClr val="accent2"/>
                </a:solidFill>
              </a:rPr>
              <a:t>” Concept</a:t>
            </a:r>
          </a:p>
          <a:p>
            <a:pPr marL="12700" marR="5080"/>
            <a:r>
              <a:rPr lang="en-US" sz="1460" kern="0" spc="-80" dirty="0">
                <a:solidFill>
                  <a:schemeClr val="accent6"/>
                </a:solidFill>
              </a:rPr>
              <a:t>There isn’t a standard industry term like “</a:t>
            </a:r>
            <a:r>
              <a:rPr lang="en-US" sz="1460" kern="0" spc="-80" dirty="0" err="1">
                <a:solidFill>
                  <a:schemeClr val="accent6"/>
                </a:solidFill>
              </a:rPr>
              <a:t>APIOps</a:t>
            </a:r>
            <a:r>
              <a:rPr lang="en-US" sz="1460" kern="0" spc="-80" dirty="0">
                <a:solidFill>
                  <a:schemeClr val="accent6"/>
                </a:solidFill>
              </a:rPr>
              <a:t>” for background services, but the practices exist under: </a:t>
            </a:r>
            <a:r>
              <a:rPr lang="en-US" sz="1460" kern="0" spc="-80" dirty="0" err="1">
                <a:solidFill>
                  <a:schemeClr val="accent6"/>
                </a:solidFill>
              </a:rPr>
              <a:t>WorkerOps</a:t>
            </a:r>
            <a:r>
              <a:rPr lang="en-US" sz="1460" kern="0" spc="-80" dirty="0">
                <a:solidFill>
                  <a:schemeClr val="accent6"/>
                </a:solidFill>
              </a:rPr>
              <a:t> / </a:t>
            </a:r>
            <a:r>
              <a:rPr lang="en-US" sz="1460" kern="0" spc="-80" dirty="0" err="1">
                <a:solidFill>
                  <a:schemeClr val="accent6"/>
                </a:solidFill>
              </a:rPr>
              <a:t>JobOps</a:t>
            </a:r>
            <a:r>
              <a:rPr lang="en-US" sz="1460" kern="0" spc="-80" dirty="0">
                <a:solidFill>
                  <a:schemeClr val="accent6"/>
                </a:solidFill>
              </a:rPr>
              <a:t> / </a:t>
            </a:r>
            <a:r>
              <a:rPr lang="en-US" sz="1460" kern="0" spc="-80" dirty="0" err="1">
                <a:solidFill>
                  <a:schemeClr val="accent6"/>
                </a:solidFill>
              </a:rPr>
              <a:t>ServiceOps</a:t>
            </a:r>
            <a:r>
              <a:rPr lang="en-US" sz="1460" kern="0" spc="-80" dirty="0">
                <a:solidFill>
                  <a:schemeClr val="accent6"/>
                </a:solidFill>
              </a:rPr>
              <a:t> (informal) and DevOps / SRE for background services</a:t>
            </a:r>
          </a:p>
          <a:p>
            <a:pPr marL="12700" marR="5080"/>
            <a:r>
              <a:rPr lang="en-US" sz="1460" kern="0" spc="-80" dirty="0">
                <a:solidFill>
                  <a:schemeClr val="accent6"/>
                </a:solidFill>
              </a:rPr>
              <a:t>The idea is to treat background services as first-class deployable units with the same rigor as APIs:</a:t>
            </a:r>
          </a:p>
          <a:p>
            <a:pPr marL="12700" marR="5080"/>
            <a:r>
              <a:rPr lang="en-US" sz="1460" kern="0" spc="-80" dirty="0">
                <a:solidFill>
                  <a:schemeClr val="accent2"/>
                </a:solidFill>
              </a:rPr>
              <a:t>CI/CD: </a:t>
            </a:r>
            <a:r>
              <a:rPr lang="en-US" sz="1460" kern="0" spc="-80" dirty="0">
                <a:solidFill>
                  <a:schemeClr val="accent6"/>
                </a:solidFill>
              </a:rPr>
              <a:t>Automatic build, test, and deploy pipelines for background services.</a:t>
            </a:r>
          </a:p>
          <a:p>
            <a:pPr marL="12700" marR="5080"/>
            <a:r>
              <a:rPr lang="en-US" sz="1460" kern="0" spc="-80" dirty="0">
                <a:solidFill>
                  <a:schemeClr val="accent2"/>
                </a:solidFill>
              </a:rPr>
              <a:t>Example:</a:t>
            </a:r>
            <a:r>
              <a:rPr lang="en-US" sz="1460" kern="0" spc="-80" dirty="0">
                <a:solidFill>
                  <a:schemeClr val="accent6"/>
                </a:solidFill>
              </a:rPr>
              <a:t> Azure DevOps pipelines for a Service Bus triggered worker.</a:t>
            </a:r>
          </a:p>
          <a:p>
            <a:pPr marL="12700" marR="5080"/>
            <a:r>
              <a:rPr lang="en-US" sz="1460" kern="0" spc="-80" dirty="0">
                <a:solidFill>
                  <a:schemeClr val="accent2"/>
                </a:solidFill>
              </a:rPr>
              <a:t>Observability &amp; Monitoring:</a:t>
            </a:r>
            <a:r>
              <a:rPr lang="en-US" sz="1460" kern="0" spc="-80" dirty="0">
                <a:solidFill>
                  <a:schemeClr val="accent6"/>
                </a:solidFill>
              </a:rPr>
              <a:t> Collect logs, metrics, traces, and business KPIs.</a:t>
            </a:r>
          </a:p>
          <a:p>
            <a:pPr marL="12700" marR="5080"/>
            <a:r>
              <a:rPr lang="en-US" sz="1460" kern="0" spc="-80" dirty="0">
                <a:solidFill>
                  <a:schemeClr val="accent2"/>
                </a:solidFill>
              </a:rPr>
              <a:t>Example:</a:t>
            </a:r>
            <a:r>
              <a:rPr lang="en-US" sz="1460" kern="0" spc="-80" dirty="0">
                <a:solidFill>
                  <a:schemeClr val="accent6"/>
                </a:solidFill>
              </a:rPr>
              <a:t> Prometheus + Grafana monitoring worker job completion, failure rates, queue length.</a:t>
            </a:r>
          </a:p>
          <a:p>
            <a:pPr marL="12700" marR="5080"/>
            <a:r>
              <a:rPr lang="en-US" sz="1460" kern="0" spc="-80" dirty="0">
                <a:solidFill>
                  <a:schemeClr val="accent2"/>
                </a:solidFill>
              </a:rPr>
              <a:t>Scaling &amp; Resiliency:</a:t>
            </a:r>
            <a:r>
              <a:rPr lang="en-US" sz="1460" kern="0" spc="-80" dirty="0">
                <a:solidFill>
                  <a:schemeClr val="accent6"/>
                </a:solidFill>
              </a:rPr>
              <a:t> Use autoscaling or message-driven scaling (KEDA for Kubernetes).</a:t>
            </a:r>
          </a:p>
          <a:p>
            <a:pPr marL="12700" marR="5080"/>
            <a:r>
              <a:rPr lang="en-US" sz="1460" kern="0" spc="-80" dirty="0">
                <a:solidFill>
                  <a:schemeClr val="accent2"/>
                </a:solidFill>
              </a:rPr>
              <a:t>Example: </a:t>
            </a:r>
            <a:r>
              <a:rPr lang="en-US" sz="1460" kern="0" spc="-80" dirty="0">
                <a:solidFill>
                  <a:schemeClr val="accent6"/>
                </a:solidFill>
              </a:rPr>
              <a:t>Scale workers up/down based on Service Bus queue length.</a:t>
            </a:r>
          </a:p>
          <a:p>
            <a:pPr marL="12700" marR="5080"/>
            <a:r>
              <a:rPr lang="en-US" sz="1460" kern="0" spc="-80" dirty="0">
                <a:solidFill>
                  <a:schemeClr val="accent2"/>
                </a:solidFill>
              </a:rPr>
              <a:t>Testing &amp; Quality Gates:</a:t>
            </a:r>
            <a:r>
              <a:rPr lang="en-US" sz="1460" kern="0" spc="-80" dirty="0">
                <a:solidFill>
                  <a:schemeClr val="accent6"/>
                </a:solidFill>
              </a:rPr>
              <a:t> Unit tests, integration tests, chaos testing.</a:t>
            </a:r>
          </a:p>
          <a:p>
            <a:pPr marL="12700" marR="5080"/>
            <a:r>
              <a:rPr lang="en-US" sz="1460" kern="0" spc="-80" dirty="0">
                <a:solidFill>
                  <a:schemeClr val="accent2"/>
                </a:solidFill>
              </a:rPr>
              <a:t>Example:</a:t>
            </a:r>
            <a:r>
              <a:rPr lang="en-US" sz="1460" kern="0" spc="-80" dirty="0">
                <a:solidFill>
                  <a:schemeClr val="accent6"/>
                </a:solidFill>
              </a:rPr>
              <a:t> Ensure worker handles edge cases like malformed messages or network timeouts.</a:t>
            </a:r>
          </a:p>
          <a:p>
            <a:pPr marL="12700" marR="5080"/>
            <a:r>
              <a:rPr lang="en-US" sz="1460" kern="0" spc="-80" dirty="0">
                <a:solidFill>
                  <a:schemeClr val="accent2"/>
                </a:solidFill>
              </a:rPr>
              <a:t>Policy &amp; Governance: </a:t>
            </a:r>
            <a:r>
              <a:rPr lang="en-US" sz="1460" kern="0" spc="-80" dirty="0">
                <a:solidFill>
                  <a:schemeClr val="accent6"/>
                </a:solidFill>
              </a:rPr>
              <a:t>Security, throttling, resource limits, retries.</a:t>
            </a:r>
          </a:p>
          <a:p>
            <a:pPr marL="12700" marR="5080"/>
            <a:endParaRPr lang="en-US" sz="1460" kern="0" spc="-80" dirty="0">
              <a:solidFill>
                <a:schemeClr val="accent6"/>
              </a:solidFill>
            </a:endParaRPr>
          </a:p>
          <a:p>
            <a:pPr marL="12700" marR="5080"/>
            <a:r>
              <a:rPr lang="en-US" sz="1460" kern="0" spc="-80" dirty="0">
                <a:solidFill>
                  <a:schemeClr val="accent2"/>
                </a:solidFill>
              </a:rPr>
              <a:t>4. Tools &amp; Frameworks</a:t>
            </a:r>
          </a:p>
          <a:p>
            <a:pPr marL="12700" marR="5080"/>
            <a:r>
              <a:rPr lang="en-US" sz="1460" kern="0" spc="-80" dirty="0">
                <a:solidFill>
                  <a:schemeClr val="accent6"/>
                </a:solidFill>
              </a:rPr>
              <a:t>You can leverage DevOps/SRE tools to implement “</a:t>
            </a:r>
            <a:r>
              <a:rPr lang="en-US" sz="1460" kern="0" spc="-80" dirty="0" err="1">
                <a:solidFill>
                  <a:schemeClr val="accent6"/>
                </a:solidFill>
              </a:rPr>
              <a:t>WorkerOps</a:t>
            </a:r>
            <a:r>
              <a:rPr lang="en-US" sz="1460" kern="0" spc="-80" dirty="0">
                <a:solidFill>
                  <a:schemeClr val="accent6"/>
                </a:solidFill>
              </a:rPr>
              <a:t>”:</a:t>
            </a:r>
          </a:p>
          <a:p>
            <a:pPr marL="12700" marR="5080"/>
            <a:r>
              <a:rPr lang="en-US" sz="1460" kern="0" spc="-80" dirty="0">
                <a:solidFill>
                  <a:schemeClr val="accent2"/>
                </a:solidFill>
              </a:rPr>
              <a:t>Area	                   Example Tools</a:t>
            </a:r>
          </a:p>
          <a:p>
            <a:pPr marL="12700" marR="5080"/>
            <a:r>
              <a:rPr lang="en-US" sz="1460" kern="0" spc="-80" dirty="0">
                <a:solidFill>
                  <a:schemeClr val="accent6"/>
                </a:solidFill>
              </a:rPr>
              <a:t>CI/CD	                   GitHub Actions, Azure DevOps, Jenkins</a:t>
            </a:r>
          </a:p>
          <a:p>
            <a:pPr marL="12700" marR="5080"/>
            <a:r>
              <a:rPr lang="en-US" sz="1460" kern="0" spc="-80" dirty="0">
                <a:solidFill>
                  <a:schemeClr val="accent6"/>
                </a:solidFill>
              </a:rPr>
              <a:t>Monitoring	Prometheus, Grafana, Application Insights, ELK stack</a:t>
            </a:r>
          </a:p>
          <a:p>
            <a:pPr marL="12700" marR="5080"/>
            <a:r>
              <a:rPr lang="en-US" sz="1460" kern="0" spc="-80" dirty="0">
                <a:solidFill>
                  <a:schemeClr val="accent6"/>
                </a:solidFill>
              </a:rPr>
              <a:t>Autoscaling	KEDA, Kubernetes HPA, AWS Lambda concurrency scaling</a:t>
            </a:r>
          </a:p>
          <a:p>
            <a:pPr marL="12700" marR="5080"/>
            <a:r>
              <a:rPr lang="en-US" sz="1460" kern="0" spc="-80" dirty="0">
                <a:solidFill>
                  <a:schemeClr val="accent6"/>
                </a:solidFill>
              </a:rPr>
              <a:t>Testing	                  </a:t>
            </a:r>
            <a:r>
              <a:rPr lang="en-US" sz="1460" kern="0" spc="-80" dirty="0" err="1">
                <a:solidFill>
                  <a:schemeClr val="accent6"/>
                </a:solidFill>
              </a:rPr>
              <a:t>xUnit</a:t>
            </a:r>
            <a:r>
              <a:rPr lang="en-US" sz="1460" kern="0" spc="-80" dirty="0">
                <a:solidFill>
                  <a:schemeClr val="accent6"/>
                </a:solidFill>
              </a:rPr>
              <a:t>, </a:t>
            </a:r>
            <a:r>
              <a:rPr lang="en-US" sz="1460" kern="0" spc="-80" dirty="0" err="1">
                <a:solidFill>
                  <a:schemeClr val="accent6"/>
                </a:solidFill>
              </a:rPr>
              <a:t>pytest</a:t>
            </a:r>
            <a:r>
              <a:rPr lang="en-US" sz="1460" kern="0" spc="-80" dirty="0">
                <a:solidFill>
                  <a:schemeClr val="accent6"/>
                </a:solidFill>
              </a:rPr>
              <a:t>, integration frameworks, chaos testing</a:t>
            </a:r>
          </a:p>
        </p:txBody>
      </p:sp>
      <p:sp>
        <p:nvSpPr>
          <p:cNvPr id="7" name="object 2">
            <a:extLst>
              <a:ext uri="{FF2B5EF4-FFF2-40B4-BE49-F238E27FC236}">
                <a16:creationId xmlns:a16="http://schemas.microsoft.com/office/drawing/2014/main" id="{9C044DB3-4B53-987B-3547-707EBE223121}"/>
              </a:ext>
            </a:extLst>
          </p:cNvPr>
          <p:cNvSpPr txBox="1">
            <a:spLocks/>
          </p:cNvSpPr>
          <p:nvPr/>
        </p:nvSpPr>
        <p:spPr>
          <a:xfrm>
            <a:off x="138063" y="5023247"/>
            <a:ext cx="8624937" cy="246221"/>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600" kern="0" spc="-80" dirty="0">
                <a:solidFill>
                  <a:schemeClr val="accent2"/>
                </a:solidFill>
              </a:rPr>
              <a:t>  </a:t>
            </a:r>
          </a:p>
        </p:txBody>
      </p:sp>
    </p:spTree>
    <p:extLst>
      <p:ext uri="{BB962C8B-B14F-4D97-AF65-F5344CB8AC3E}">
        <p14:creationId xmlns:p14="http://schemas.microsoft.com/office/powerpoint/2010/main" val="2726785858"/>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A9CD3F-F054-D9E9-7DC9-ECA7CB54BC82}"/>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16796DA1-420D-65EA-56BE-00AC5E86CD45}"/>
              </a:ext>
            </a:extLst>
          </p:cNvPr>
          <p:cNvSpPr/>
          <p:nvPr/>
        </p:nvSpPr>
        <p:spPr>
          <a:xfrm>
            <a:off x="1756803" y="609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1AC66E9C-F2BA-4A96-361B-FDEAF4EFDB84}"/>
              </a:ext>
            </a:extLst>
          </p:cNvPr>
          <p:cNvSpPr/>
          <p:nvPr/>
        </p:nvSpPr>
        <p:spPr>
          <a:xfrm>
            <a:off x="1756803" y="419736"/>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944EC762-37E0-CB66-7647-A5FC2D95BB96}"/>
              </a:ext>
            </a:extLst>
          </p:cNvPr>
          <p:cNvGraphicFramePr/>
          <p:nvPr>
            <p:extLst>
              <p:ext uri="{D42A27DB-BD31-4B8C-83A1-F6EECF244321}">
                <p14:modId xmlns:p14="http://schemas.microsoft.com/office/powerpoint/2010/main" val="3244714867"/>
              </p:ext>
            </p:extLst>
          </p:nvPr>
        </p:nvGraphicFramePr>
        <p:xfrm>
          <a:off x="0" y="34425"/>
          <a:ext cx="8991600" cy="3506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object 2">
            <a:extLst>
              <a:ext uri="{FF2B5EF4-FFF2-40B4-BE49-F238E27FC236}">
                <a16:creationId xmlns:a16="http://schemas.microsoft.com/office/drawing/2014/main" id="{7CE32797-315C-9DC5-CFFD-B00D3682D9A8}"/>
              </a:ext>
            </a:extLst>
          </p:cNvPr>
          <p:cNvSpPr txBox="1">
            <a:spLocks/>
          </p:cNvSpPr>
          <p:nvPr/>
        </p:nvSpPr>
        <p:spPr>
          <a:xfrm>
            <a:off x="228600" y="762000"/>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p:txBody>
      </p:sp>
      <p:sp>
        <p:nvSpPr>
          <p:cNvPr id="3" name="object 2">
            <a:extLst>
              <a:ext uri="{FF2B5EF4-FFF2-40B4-BE49-F238E27FC236}">
                <a16:creationId xmlns:a16="http://schemas.microsoft.com/office/drawing/2014/main" id="{057A0446-8022-240C-1BB1-11234E4F24F6}"/>
              </a:ext>
            </a:extLst>
          </p:cNvPr>
          <p:cNvSpPr txBox="1">
            <a:spLocks/>
          </p:cNvSpPr>
          <p:nvPr/>
        </p:nvSpPr>
        <p:spPr>
          <a:xfrm>
            <a:off x="0" y="609600"/>
            <a:ext cx="8915399" cy="1268039"/>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err="1">
                <a:solidFill>
                  <a:schemeClr val="accent2"/>
                </a:solidFill>
              </a:rPr>
              <a:t>WorkerOps</a:t>
            </a:r>
            <a:endParaRPr lang="en-US" sz="2400" kern="0" spc="-80" dirty="0">
              <a:solidFill>
                <a:schemeClr val="accent2"/>
              </a:solidFill>
            </a:endParaRPr>
          </a:p>
          <a:p>
            <a:pPr marL="12700" marR="5080"/>
            <a:r>
              <a:rPr lang="en-US" sz="1460" kern="0" spc="-80" dirty="0">
                <a:solidFill>
                  <a:schemeClr val="accent2"/>
                </a:solidFill>
              </a:rPr>
              <a:t>✅ Summary</a:t>
            </a:r>
          </a:p>
          <a:p>
            <a:pPr marL="12700" marR="5080"/>
            <a:r>
              <a:rPr lang="en-US" sz="1460" kern="0" spc="-80" dirty="0" err="1">
                <a:solidFill>
                  <a:schemeClr val="accent6"/>
                </a:solidFill>
              </a:rPr>
              <a:t>APIOps</a:t>
            </a:r>
            <a:r>
              <a:rPr lang="en-US" sz="1460" kern="0" spc="-80" dirty="0">
                <a:solidFill>
                  <a:schemeClr val="accent6"/>
                </a:solidFill>
              </a:rPr>
              <a:t> is API-specific, but the same lifecycle principles apply to background services.</a:t>
            </a:r>
          </a:p>
          <a:p>
            <a:pPr marL="12700" marR="5080"/>
            <a:r>
              <a:rPr lang="en-US" sz="1460" kern="0" spc="-80" dirty="0">
                <a:solidFill>
                  <a:schemeClr val="accent6"/>
                </a:solidFill>
              </a:rPr>
              <a:t>Industry term could be “</a:t>
            </a:r>
            <a:r>
              <a:rPr lang="en-US" sz="1460" kern="0" spc="-80" dirty="0" err="1">
                <a:solidFill>
                  <a:schemeClr val="accent6"/>
                </a:solidFill>
              </a:rPr>
              <a:t>WorkerOps</a:t>
            </a:r>
            <a:r>
              <a:rPr lang="en-US" sz="1460" kern="0" spc="-80" dirty="0">
                <a:solidFill>
                  <a:schemeClr val="accent6"/>
                </a:solidFill>
              </a:rPr>
              <a:t>” or just DevOps/SRE applied to background services.</a:t>
            </a:r>
          </a:p>
          <a:p>
            <a:pPr marL="12700" marR="5080"/>
            <a:r>
              <a:rPr lang="en-US" sz="1460" kern="0" spc="-80" dirty="0">
                <a:solidFill>
                  <a:schemeClr val="accent6"/>
                </a:solidFill>
              </a:rPr>
              <a:t>The focus is on automation, observability, scaling, reliability, testing, and governance. </a:t>
            </a:r>
          </a:p>
        </p:txBody>
      </p:sp>
      <p:sp>
        <p:nvSpPr>
          <p:cNvPr id="7" name="object 2">
            <a:extLst>
              <a:ext uri="{FF2B5EF4-FFF2-40B4-BE49-F238E27FC236}">
                <a16:creationId xmlns:a16="http://schemas.microsoft.com/office/drawing/2014/main" id="{47BA4C4A-616F-8700-6E4D-90FF113C4B2A}"/>
              </a:ext>
            </a:extLst>
          </p:cNvPr>
          <p:cNvSpPr txBox="1">
            <a:spLocks/>
          </p:cNvSpPr>
          <p:nvPr/>
        </p:nvSpPr>
        <p:spPr>
          <a:xfrm>
            <a:off x="138063" y="5023247"/>
            <a:ext cx="8624937" cy="246221"/>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600" kern="0" spc="-80" dirty="0">
                <a:solidFill>
                  <a:schemeClr val="accent2"/>
                </a:solidFill>
              </a:rPr>
              <a:t>  </a:t>
            </a:r>
          </a:p>
        </p:txBody>
      </p:sp>
    </p:spTree>
    <p:extLst>
      <p:ext uri="{BB962C8B-B14F-4D97-AF65-F5344CB8AC3E}">
        <p14:creationId xmlns:p14="http://schemas.microsoft.com/office/powerpoint/2010/main" val="1526163827"/>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83449C-9BD3-6212-5EA7-5C499DEE1723}"/>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38690AE6-9797-3827-4C42-88412FCF66B2}"/>
              </a:ext>
            </a:extLst>
          </p:cNvPr>
          <p:cNvSpPr/>
          <p:nvPr/>
        </p:nvSpPr>
        <p:spPr>
          <a:xfrm>
            <a:off x="1756803" y="648336"/>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3DDB75B8-17E0-0EA8-7085-6823495554ED}"/>
              </a:ext>
            </a:extLst>
          </p:cNvPr>
          <p:cNvSpPr/>
          <p:nvPr/>
        </p:nvSpPr>
        <p:spPr>
          <a:xfrm>
            <a:off x="1756803" y="495936"/>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C4AC555B-00C2-A3B3-8129-7288707AA98B}"/>
              </a:ext>
            </a:extLst>
          </p:cNvPr>
          <p:cNvGraphicFramePr/>
          <p:nvPr>
            <p:extLst>
              <p:ext uri="{D42A27DB-BD31-4B8C-83A1-F6EECF244321}">
                <p14:modId xmlns:p14="http://schemas.microsoft.com/office/powerpoint/2010/main" val="1702734332"/>
              </p:ext>
            </p:extLst>
          </p:nvPr>
        </p:nvGraphicFramePr>
        <p:xfrm>
          <a:off x="0" y="34425"/>
          <a:ext cx="9143306" cy="42277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object 2">
            <a:extLst>
              <a:ext uri="{FF2B5EF4-FFF2-40B4-BE49-F238E27FC236}">
                <a16:creationId xmlns:a16="http://schemas.microsoft.com/office/drawing/2014/main" id="{9E0E11AF-6A63-CA27-FC21-99A6BA22DAF5}"/>
              </a:ext>
            </a:extLst>
          </p:cNvPr>
          <p:cNvSpPr txBox="1">
            <a:spLocks/>
          </p:cNvSpPr>
          <p:nvPr/>
        </p:nvSpPr>
        <p:spPr>
          <a:xfrm>
            <a:off x="228600" y="762000"/>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p:txBody>
      </p:sp>
      <p:sp>
        <p:nvSpPr>
          <p:cNvPr id="7" name="object 2">
            <a:extLst>
              <a:ext uri="{FF2B5EF4-FFF2-40B4-BE49-F238E27FC236}">
                <a16:creationId xmlns:a16="http://schemas.microsoft.com/office/drawing/2014/main" id="{15462416-B54B-CDB8-FBB8-0FF6738C2E13}"/>
              </a:ext>
            </a:extLst>
          </p:cNvPr>
          <p:cNvSpPr txBox="1">
            <a:spLocks/>
          </p:cNvSpPr>
          <p:nvPr/>
        </p:nvSpPr>
        <p:spPr>
          <a:xfrm>
            <a:off x="138063" y="5023247"/>
            <a:ext cx="8624937" cy="246221"/>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600" kern="0" spc="-80" dirty="0">
                <a:solidFill>
                  <a:schemeClr val="accent2"/>
                </a:solidFill>
              </a:rPr>
              <a:t>  </a:t>
            </a:r>
          </a:p>
        </p:txBody>
      </p:sp>
      <p:sp>
        <p:nvSpPr>
          <p:cNvPr id="12" name="object 2">
            <a:extLst>
              <a:ext uri="{FF2B5EF4-FFF2-40B4-BE49-F238E27FC236}">
                <a16:creationId xmlns:a16="http://schemas.microsoft.com/office/drawing/2014/main" id="{62A105E5-FF71-86B9-2DA9-310D3E011268}"/>
              </a:ext>
            </a:extLst>
          </p:cNvPr>
          <p:cNvSpPr txBox="1">
            <a:spLocks/>
          </p:cNvSpPr>
          <p:nvPr/>
        </p:nvSpPr>
        <p:spPr>
          <a:xfrm>
            <a:off x="0" y="865561"/>
            <a:ext cx="8915399" cy="5167568"/>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460" kern="0" spc="-80" dirty="0">
                <a:solidFill>
                  <a:schemeClr val="accent2"/>
                </a:solidFill>
              </a:rPr>
              <a:t>🔁 High-Level Architecture (Closed-Loop Ops)</a:t>
            </a:r>
          </a:p>
          <a:p>
            <a:pPr marL="12700" marR="5080"/>
            <a:r>
              <a:rPr lang="en-US" sz="1460" kern="0" spc="-80" dirty="0">
                <a:solidFill>
                  <a:schemeClr val="accent2"/>
                </a:solidFill>
              </a:rPr>
              <a:t>Conceptually:</a:t>
            </a:r>
          </a:p>
          <a:p>
            <a:pPr marL="12700" marR="5080"/>
            <a:r>
              <a:rPr lang="en-US" sz="1460" kern="0" spc="-80" dirty="0">
                <a:solidFill>
                  <a:schemeClr val="accent6"/>
                </a:solidFill>
              </a:rPr>
              <a:t>IT Landscape</a:t>
            </a:r>
          </a:p>
          <a:p>
            <a:pPr marL="12700" marR="5080"/>
            <a:r>
              <a:rPr lang="en-US" sz="1460" kern="0" spc="-80" dirty="0">
                <a:solidFill>
                  <a:schemeClr val="accent6"/>
                </a:solidFill>
              </a:rPr>
              <a:t>   ↓</a:t>
            </a:r>
          </a:p>
          <a:p>
            <a:pPr marL="12700" marR="5080"/>
            <a:r>
              <a:rPr lang="en-US" sz="1460" kern="0" spc="-80" dirty="0">
                <a:solidFill>
                  <a:schemeClr val="accent6"/>
                </a:solidFill>
              </a:rPr>
              <a:t>Observability (Metrics / Logs / Traces / Events)</a:t>
            </a:r>
          </a:p>
          <a:p>
            <a:pPr marL="12700" marR="5080"/>
            <a:r>
              <a:rPr lang="en-US" sz="1460" kern="0" spc="-80" dirty="0">
                <a:solidFill>
                  <a:schemeClr val="accent6"/>
                </a:solidFill>
              </a:rPr>
              <a:t>   ↓</a:t>
            </a:r>
          </a:p>
          <a:p>
            <a:pPr marL="12700" marR="5080"/>
            <a:r>
              <a:rPr lang="en-US" sz="1460" kern="0" spc="-80" dirty="0">
                <a:solidFill>
                  <a:schemeClr val="accent6"/>
                </a:solidFill>
              </a:rPr>
              <a:t>AIOps (Correlation / RCA / Prediction)</a:t>
            </a:r>
          </a:p>
          <a:p>
            <a:pPr marL="12700" marR="5080"/>
            <a:r>
              <a:rPr lang="en-US" sz="1460" kern="0" spc="-80" dirty="0">
                <a:solidFill>
                  <a:schemeClr val="accent6"/>
                </a:solidFill>
              </a:rPr>
              <a:t>   ↓</a:t>
            </a:r>
          </a:p>
          <a:p>
            <a:pPr marL="12700" marR="5080"/>
            <a:r>
              <a:rPr lang="en-US" sz="1460" kern="0" spc="-80" dirty="0">
                <a:solidFill>
                  <a:schemeClr val="accent6"/>
                </a:solidFill>
              </a:rPr>
              <a:t>Ticketing / Incident </a:t>
            </a:r>
            <a:r>
              <a:rPr lang="en-US" sz="1460" kern="0" spc="-80" dirty="0" err="1">
                <a:solidFill>
                  <a:schemeClr val="accent6"/>
                </a:solidFill>
              </a:rPr>
              <a:t>Mgmt</a:t>
            </a:r>
            <a:endParaRPr lang="en-US" sz="1460" kern="0" spc="-80" dirty="0">
              <a:solidFill>
                <a:schemeClr val="accent6"/>
              </a:solidFill>
            </a:endParaRPr>
          </a:p>
          <a:p>
            <a:pPr marL="12700" marR="5080"/>
            <a:r>
              <a:rPr lang="en-US" sz="1460" kern="0" spc="-80" dirty="0">
                <a:solidFill>
                  <a:schemeClr val="accent6"/>
                </a:solidFill>
              </a:rPr>
              <a:t>   ↓</a:t>
            </a:r>
          </a:p>
          <a:p>
            <a:pPr marL="12700" marR="5080"/>
            <a:r>
              <a:rPr lang="en-US" sz="1460" kern="0" spc="-80" dirty="0">
                <a:solidFill>
                  <a:schemeClr val="accent6"/>
                </a:solidFill>
              </a:rPr>
              <a:t>Automation Engine</a:t>
            </a:r>
          </a:p>
          <a:p>
            <a:pPr marL="12700" marR="5080"/>
            <a:r>
              <a:rPr lang="en-US" sz="1460" kern="0" spc="-80" dirty="0">
                <a:solidFill>
                  <a:schemeClr val="accent6"/>
                </a:solidFill>
              </a:rPr>
              <a:t>   ↓</a:t>
            </a:r>
          </a:p>
          <a:p>
            <a:pPr marL="12700" marR="5080"/>
            <a:r>
              <a:rPr lang="en-US" sz="1460" kern="0" spc="-80" dirty="0">
                <a:solidFill>
                  <a:schemeClr val="accent6"/>
                </a:solidFill>
              </a:rPr>
              <a:t>Runbooks Executed</a:t>
            </a:r>
          </a:p>
          <a:p>
            <a:pPr marL="12700" marR="5080"/>
            <a:r>
              <a:rPr lang="en-US" sz="1460" kern="0" spc="-80" dirty="0">
                <a:solidFill>
                  <a:schemeClr val="accent6"/>
                </a:solidFill>
              </a:rPr>
              <a:t>   ↓</a:t>
            </a:r>
          </a:p>
          <a:p>
            <a:pPr marL="12700" marR="5080"/>
            <a:r>
              <a:rPr lang="en-US" sz="1460" kern="0" spc="-80" dirty="0">
                <a:solidFill>
                  <a:schemeClr val="accent6"/>
                </a:solidFill>
              </a:rPr>
              <a:t>Feedback back to Observability + AIOps</a:t>
            </a:r>
          </a:p>
          <a:p>
            <a:pPr marL="12700" marR="5080"/>
            <a:r>
              <a:rPr lang="en-US" sz="1460" kern="0" spc="-80" dirty="0">
                <a:solidFill>
                  <a:schemeClr val="accent2"/>
                </a:solidFill>
              </a:rPr>
              <a:t>This forms a continuous feedback loop.</a:t>
            </a:r>
          </a:p>
          <a:p>
            <a:pPr marL="12700" marR="5080"/>
            <a:r>
              <a:rPr lang="en-US" sz="1460" kern="0" spc="-80" dirty="0">
                <a:solidFill>
                  <a:schemeClr val="accent2"/>
                </a:solidFill>
              </a:rPr>
              <a:t>1️⃣ IT Landscape (Signal Sources)</a:t>
            </a:r>
          </a:p>
          <a:p>
            <a:pPr marL="12700" marR="5080"/>
            <a:r>
              <a:rPr lang="en-US" sz="1460" kern="0" spc="-80" dirty="0">
                <a:solidFill>
                  <a:schemeClr val="accent2"/>
                </a:solidFill>
              </a:rPr>
              <a:t>This is everything you run:</a:t>
            </a:r>
          </a:p>
          <a:p>
            <a:pPr marL="12700" marR="5080"/>
            <a:r>
              <a:rPr lang="en-US" sz="1460" kern="0" spc="-80" dirty="0">
                <a:solidFill>
                  <a:schemeClr val="accent6"/>
                </a:solidFill>
              </a:rPr>
              <a:t>Infrastructure</a:t>
            </a:r>
          </a:p>
          <a:p>
            <a:pPr marL="12700" marR="5080"/>
            <a:r>
              <a:rPr lang="en-US" sz="1460" kern="0" spc="-80" dirty="0">
                <a:solidFill>
                  <a:schemeClr val="accent6"/>
                </a:solidFill>
              </a:rPr>
              <a:t>VMs, bare metal</a:t>
            </a:r>
          </a:p>
          <a:p>
            <a:pPr marL="12700" marR="5080"/>
            <a:r>
              <a:rPr lang="en-US" sz="1460" kern="0" spc="-80" dirty="0">
                <a:solidFill>
                  <a:schemeClr val="accent6"/>
                </a:solidFill>
              </a:rPr>
              <a:t>Kubernetes / containers</a:t>
            </a:r>
          </a:p>
          <a:p>
            <a:pPr marL="12700" marR="5080"/>
            <a:r>
              <a:rPr lang="en-US" sz="1460" kern="0" spc="-80" dirty="0">
                <a:solidFill>
                  <a:schemeClr val="accent6"/>
                </a:solidFill>
              </a:rPr>
              <a:t>Cloud (AWS/Azure/GCP)</a:t>
            </a:r>
          </a:p>
          <a:p>
            <a:pPr marL="12700" marR="5080"/>
            <a:r>
              <a:rPr lang="en-US" sz="1460" kern="0" spc="-80" dirty="0">
                <a:solidFill>
                  <a:schemeClr val="accent6"/>
                </a:solidFill>
              </a:rPr>
              <a:t>Applications</a:t>
            </a:r>
          </a:p>
        </p:txBody>
      </p:sp>
    </p:spTree>
    <p:extLst>
      <p:ext uri="{BB962C8B-B14F-4D97-AF65-F5344CB8AC3E}">
        <p14:creationId xmlns:p14="http://schemas.microsoft.com/office/powerpoint/2010/main" val="1050407341"/>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912C07-5448-F3F2-9FF6-F2E9D66A06DF}"/>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A189218C-7547-8ACA-6EED-BD8E2ED7751D}"/>
              </a:ext>
            </a:extLst>
          </p:cNvPr>
          <p:cNvSpPr/>
          <p:nvPr/>
        </p:nvSpPr>
        <p:spPr>
          <a:xfrm>
            <a:off x="1756803" y="648336"/>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6819CB2A-8C31-1663-81D0-240AB068470F}"/>
              </a:ext>
            </a:extLst>
          </p:cNvPr>
          <p:cNvSpPr/>
          <p:nvPr/>
        </p:nvSpPr>
        <p:spPr>
          <a:xfrm>
            <a:off x="1756803" y="495936"/>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2FE04A21-F587-C1AD-E7DD-40DA53222AA2}"/>
              </a:ext>
            </a:extLst>
          </p:cNvPr>
          <p:cNvGraphicFramePr/>
          <p:nvPr>
            <p:extLst>
              <p:ext uri="{D42A27DB-BD31-4B8C-83A1-F6EECF244321}">
                <p14:modId xmlns:p14="http://schemas.microsoft.com/office/powerpoint/2010/main" val="2683233491"/>
              </p:ext>
            </p:extLst>
          </p:nvPr>
        </p:nvGraphicFramePr>
        <p:xfrm>
          <a:off x="0" y="34425"/>
          <a:ext cx="9143306" cy="42277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object 2">
            <a:extLst>
              <a:ext uri="{FF2B5EF4-FFF2-40B4-BE49-F238E27FC236}">
                <a16:creationId xmlns:a16="http://schemas.microsoft.com/office/drawing/2014/main" id="{E0F3F7C3-56E8-E08C-90D4-4134FAF67ED7}"/>
              </a:ext>
            </a:extLst>
          </p:cNvPr>
          <p:cNvSpPr txBox="1">
            <a:spLocks/>
          </p:cNvSpPr>
          <p:nvPr/>
        </p:nvSpPr>
        <p:spPr>
          <a:xfrm>
            <a:off x="228600" y="762000"/>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p:txBody>
      </p:sp>
      <p:sp>
        <p:nvSpPr>
          <p:cNvPr id="7" name="object 2">
            <a:extLst>
              <a:ext uri="{FF2B5EF4-FFF2-40B4-BE49-F238E27FC236}">
                <a16:creationId xmlns:a16="http://schemas.microsoft.com/office/drawing/2014/main" id="{2FCA804C-1B46-2E16-BFF3-8AD8285405D8}"/>
              </a:ext>
            </a:extLst>
          </p:cNvPr>
          <p:cNvSpPr txBox="1">
            <a:spLocks/>
          </p:cNvSpPr>
          <p:nvPr/>
        </p:nvSpPr>
        <p:spPr>
          <a:xfrm>
            <a:off x="138063" y="5023247"/>
            <a:ext cx="8624937" cy="246221"/>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600" kern="0" spc="-80" dirty="0">
                <a:solidFill>
                  <a:schemeClr val="accent2"/>
                </a:solidFill>
              </a:rPr>
              <a:t>  </a:t>
            </a:r>
          </a:p>
        </p:txBody>
      </p:sp>
      <p:sp>
        <p:nvSpPr>
          <p:cNvPr id="12" name="object 2">
            <a:extLst>
              <a:ext uri="{FF2B5EF4-FFF2-40B4-BE49-F238E27FC236}">
                <a16:creationId xmlns:a16="http://schemas.microsoft.com/office/drawing/2014/main" id="{7E8DFCE0-E1BF-8E2F-9AAF-A05E8CAB94CA}"/>
              </a:ext>
            </a:extLst>
          </p:cNvPr>
          <p:cNvSpPr txBox="1">
            <a:spLocks/>
          </p:cNvSpPr>
          <p:nvPr/>
        </p:nvSpPr>
        <p:spPr>
          <a:xfrm>
            <a:off x="0" y="865561"/>
            <a:ext cx="8915399" cy="404418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460" kern="0" spc="-80" dirty="0">
                <a:solidFill>
                  <a:schemeClr val="accent2"/>
                </a:solidFill>
              </a:rPr>
              <a:t>1️⃣ IT Landscape (Signal Sources)</a:t>
            </a:r>
          </a:p>
          <a:p>
            <a:pPr marL="12700" marR="5080"/>
            <a:r>
              <a:rPr lang="en-US" sz="1460" kern="0" spc="-80" dirty="0">
                <a:solidFill>
                  <a:schemeClr val="accent2"/>
                </a:solidFill>
              </a:rPr>
              <a:t>This is everything you run:</a:t>
            </a:r>
          </a:p>
          <a:p>
            <a:pPr marL="12700" marR="5080"/>
            <a:r>
              <a:rPr lang="en-US" sz="1460" kern="0" spc="-80" dirty="0">
                <a:solidFill>
                  <a:schemeClr val="accent6"/>
                </a:solidFill>
              </a:rPr>
              <a:t>Microservices</a:t>
            </a:r>
          </a:p>
          <a:p>
            <a:pPr marL="12700" marR="5080"/>
            <a:r>
              <a:rPr lang="en-US" sz="1460" kern="0" spc="-80" dirty="0">
                <a:solidFill>
                  <a:schemeClr val="accent6"/>
                </a:solidFill>
              </a:rPr>
              <a:t>APIs</a:t>
            </a:r>
          </a:p>
          <a:p>
            <a:pPr marL="12700" marR="5080"/>
            <a:r>
              <a:rPr lang="en-US" sz="1460" kern="0" spc="-80" dirty="0">
                <a:solidFill>
                  <a:schemeClr val="accent6"/>
                </a:solidFill>
              </a:rPr>
              <a:t>Databases</a:t>
            </a:r>
          </a:p>
          <a:p>
            <a:pPr marL="12700" marR="5080"/>
            <a:r>
              <a:rPr lang="en-US" sz="1460" kern="0" spc="-80" dirty="0">
                <a:solidFill>
                  <a:schemeClr val="accent6"/>
                </a:solidFill>
              </a:rPr>
              <a:t>Message queues</a:t>
            </a:r>
          </a:p>
          <a:p>
            <a:pPr marL="12700" marR="5080"/>
            <a:r>
              <a:rPr lang="en-US" sz="1460" kern="0" spc="-80" dirty="0">
                <a:solidFill>
                  <a:schemeClr val="accent6"/>
                </a:solidFill>
              </a:rPr>
              <a:t>Network</a:t>
            </a:r>
          </a:p>
          <a:p>
            <a:pPr marL="12700" marR="5080"/>
            <a:r>
              <a:rPr lang="en-US" sz="1460" kern="0" spc="-80" dirty="0">
                <a:solidFill>
                  <a:schemeClr val="accent6"/>
                </a:solidFill>
              </a:rPr>
              <a:t>Firewalls</a:t>
            </a:r>
          </a:p>
          <a:p>
            <a:pPr marL="12700" marR="5080"/>
            <a:r>
              <a:rPr lang="en-US" sz="1460" kern="0" spc="-80" dirty="0">
                <a:solidFill>
                  <a:schemeClr val="accent6"/>
                </a:solidFill>
              </a:rPr>
              <a:t>Routers</a:t>
            </a:r>
          </a:p>
          <a:p>
            <a:pPr marL="12700" marR="5080"/>
            <a:r>
              <a:rPr lang="en-US" sz="1460" kern="0" spc="-80" dirty="0">
                <a:solidFill>
                  <a:schemeClr val="accent6"/>
                </a:solidFill>
              </a:rPr>
              <a:t>Load balancers</a:t>
            </a:r>
          </a:p>
          <a:p>
            <a:pPr marL="12700" marR="5080"/>
            <a:r>
              <a:rPr lang="en-US" sz="1460" kern="0" spc="-80" dirty="0">
                <a:solidFill>
                  <a:schemeClr val="accent6"/>
                </a:solidFill>
              </a:rPr>
              <a:t>Typical data emitted</a:t>
            </a:r>
          </a:p>
          <a:p>
            <a:pPr marL="12700" marR="5080"/>
            <a:r>
              <a:rPr lang="en-US" sz="1460" kern="0" spc="-80" dirty="0">
                <a:solidFill>
                  <a:schemeClr val="accent6"/>
                </a:solidFill>
              </a:rPr>
              <a:t>CPU, memory, disk</a:t>
            </a:r>
          </a:p>
          <a:p>
            <a:pPr marL="12700" marR="5080"/>
            <a:r>
              <a:rPr lang="en-US" sz="1460" kern="0" spc="-80" dirty="0">
                <a:solidFill>
                  <a:schemeClr val="accent6"/>
                </a:solidFill>
              </a:rPr>
              <a:t>Request latency</a:t>
            </a:r>
          </a:p>
          <a:p>
            <a:pPr marL="12700" marR="5080"/>
            <a:r>
              <a:rPr lang="en-US" sz="1460" kern="0" spc="-80" dirty="0">
                <a:solidFill>
                  <a:schemeClr val="accent6"/>
                </a:solidFill>
              </a:rPr>
              <a:t>Error rates</a:t>
            </a:r>
          </a:p>
          <a:p>
            <a:pPr marL="12700" marR="5080"/>
            <a:r>
              <a:rPr lang="en-US" sz="1460" kern="0" spc="-80" dirty="0">
                <a:solidFill>
                  <a:schemeClr val="accent6"/>
                </a:solidFill>
              </a:rPr>
              <a:t>JVM / .NET metrics</a:t>
            </a:r>
          </a:p>
          <a:p>
            <a:pPr marL="12700" marR="5080"/>
            <a:r>
              <a:rPr lang="en-US" sz="1460" kern="0" spc="-80" dirty="0" err="1">
                <a:solidFill>
                  <a:schemeClr val="accent6"/>
                </a:solidFill>
              </a:rPr>
              <a:t>Syslogs</a:t>
            </a:r>
            <a:endParaRPr lang="en-US" sz="1460" kern="0" spc="-80" dirty="0">
              <a:solidFill>
                <a:schemeClr val="accent6"/>
              </a:solidFill>
            </a:endParaRPr>
          </a:p>
          <a:p>
            <a:pPr marL="12700" marR="5080"/>
            <a:r>
              <a:rPr lang="en-US" sz="1460" kern="0" spc="-80" dirty="0">
                <a:solidFill>
                  <a:schemeClr val="accent6"/>
                </a:solidFill>
              </a:rPr>
              <a:t>Kubernetes events</a:t>
            </a:r>
          </a:p>
          <a:p>
            <a:pPr marL="12700" marR="5080"/>
            <a:r>
              <a:rPr lang="en-US" sz="1460" kern="0" spc="-80" dirty="0">
                <a:solidFill>
                  <a:schemeClr val="accent6"/>
                </a:solidFill>
              </a:rPr>
              <a:t>No intelligence here yet — just raw telemetry.</a:t>
            </a:r>
          </a:p>
        </p:txBody>
      </p:sp>
    </p:spTree>
    <p:extLst>
      <p:ext uri="{BB962C8B-B14F-4D97-AF65-F5344CB8AC3E}">
        <p14:creationId xmlns:p14="http://schemas.microsoft.com/office/powerpoint/2010/main" val="4199490336"/>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9EFB90-07F1-B13A-7A14-FC83ADED8319}"/>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1D035588-FB33-8A25-E68B-779161B4D78B}"/>
              </a:ext>
            </a:extLst>
          </p:cNvPr>
          <p:cNvSpPr/>
          <p:nvPr/>
        </p:nvSpPr>
        <p:spPr>
          <a:xfrm>
            <a:off x="1756803" y="648336"/>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980D5F19-5B14-EFAD-B3F1-6C8B6348E11C}"/>
              </a:ext>
            </a:extLst>
          </p:cNvPr>
          <p:cNvSpPr/>
          <p:nvPr/>
        </p:nvSpPr>
        <p:spPr>
          <a:xfrm>
            <a:off x="1756803" y="495936"/>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7291BF2C-981B-7ADE-E20F-598F2102E1C7}"/>
              </a:ext>
            </a:extLst>
          </p:cNvPr>
          <p:cNvGraphicFramePr/>
          <p:nvPr>
            <p:extLst>
              <p:ext uri="{D42A27DB-BD31-4B8C-83A1-F6EECF244321}">
                <p14:modId xmlns:p14="http://schemas.microsoft.com/office/powerpoint/2010/main" val="3508047602"/>
              </p:ext>
            </p:extLst>
          </p:nvPr>
        </p:nvGraphicFramePr>
        <p:xfrm>
          <a:off x="0" y="34425"/>
          <a:ext cx="9143306" cy="42277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object 2">
            <a:extLst>
              <a:ext uri="{FF2B5EF4-FFF2-40B4-BE49-F238E27FC236}">
                <a16:creationId xmlns:a16="http://schemas.microsoft.com/office/drawing/2014/main" id="{2B15D9D6-74DE-BD0B-C920-5B3F3BEB64C0}"/>
              </a:ext>
            </a:extLst>
          </p:cNvPr>
          <p:cNvSpPr txBox="1">
            <a:spLocks/>
          </p:cNvSpPr>
          <p:nvPr/>
        </p:nvSpPr>
        <p:spPr>
          <a:xfrm>
            <a:off x="228600" y="762000"/>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p:txBody>
      </p:sp>
      <p:sp>
        <p:nvSpPr>
          <p:cNvPr id="7" name="object 2">
            <a:extLst>
              <a:ext uri="{FF2B5EF4-FFF2-40B4-BE49-F238E27FC236}">
                <a16:creationId xmlns:a16="http://schemas.microsoft.com/office/drawing/2014/main" id="{76A48805-3B22-64E2-67DA-7D98223B3077}"/>
              </a:ext>
            </a:extLst>
          </p:cNvPr>
          <p:cNvSpPr txBox="1">
            <a:spLocks/>
          </p:cNvSpPr>
          <p:nvPr/>
        </p:nvSpPr>
        <p:spPr>
          <a:xfrm>
            <a:off x="138063" y="5023247"/>
            <a:ext cx="8624937" cy="246221"/>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600" kern="0" spc="-80" dirty="0">
                <a:solidFill>
                  <a:schemeClr val="accent2"/>
                </a:solidFill>
              </a:rPr>
              <a:t>  </a:t>
            </a:r>
          </a:p>
        </p:txBody>
      </p:sp>
      <p:sp>
        <p:nvSpPr>
          <p:cNvPr id="12" name="object 2">
            <a:extLst>
              <a:ext uri="{FF2B5EF4-FFF2-40B4-BE49-F238E27FC236}">
                <a16:creationId xmlns:a16="http://schemas.microsoft.com/office/drawing/2014/main" id="{18EDA482-4487-DDD6-E0AE-A223C12991E3}"/>
              </a:ext>
            </a:extLst>
          </p:cNvPr>
          <p:cNvSpPr txBox="1">
            <a:spLocks/>
          </p:cNvSpPr>
          <p:nvPr/>
        </p:nvSpPr>
        <p:spPr>
          <a:xfrm>
            <a:off x="0" y="865561"/>
            <a:ext cx="8915399" cy="4718215"/>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460" kern="0" spc="-80" dirty="0">
                <a:solidFill>
                  <a:schemeClr val="accent2"/>
                </a:solidFill>
              </a:rPr>
              <a:t>2️⃣ Observability Layer (Collect + Visualize + Alert)</a:t>
            </a:r>
          </a:p>
          <a:p>
            <a:pPr marL="12700" marR="5080"/>
            <a:r>
              <a:rPr lang="en-US" sz="1460" kern="0" spc="-80" dirty="0">
                <a:solidFill>
                  <a:schemeClr val="accent6"/>
                </a:solidFill>
              </a:rPr>
              <a:t>Goal: convert raw signals into structured telemetry</a:t>
            </a:r>
          </a:p>
          <a:p>
            <a:pPr marL="12700" marR="5080"/>
            <a:r>
              <a:rPr lang="en-US" sz="1460" kern="0" spc="-80" dirty="0">
                <a:solidFill>
                  <a:schemeClr val="accent2"/>
                </a:solidFill>
              </a:rPr>
              <a:t>Core pillars</a:t>
            </a:r>
          </a:p>
          <a:p>
            <a:pPr marL="12700" marR="5080"/>
            <a:r>
              <a:rPr lang="en-US" sz="1460" kern="0" spc="-80" dirty="0">
                <a:solidFill>
                  <a:schemeClr val="accent2"/>
                </a:solidFill>
              </a:rPr>
              <a:t>✅ Metrics</a:t>
            </a:r>
          </a:p>
          <a:p>
            <a:pPr marL="12700" marR="5080"/>
            <a:r>
              <a:rPr lang="en-US" sz="1460" kern="0" spc="-80" dirty="0">
                <a:solidFill>
                  <a:schemeClr val="accent6"/>
                </a:solidFill>
              </a:rPr>
              <a:t>Numerical time series (CPU %, latency, QPS)</a:t>
            </a:r>
          </a:p>
          <a:p>
            <a:pPr marL="12700" marR="5080"/>
            <a:r>
              <a:rPr lang="en-US" sz="1460" kern="0" spc="-80" dirty="0">
                <a:solidFill>
                  <a:schemeClr val="accent2"/>
                </a:solidFill>
              </a:rPr>
              <a:t>✅ Logs</a:t>
            </a:r>
          </a:p>
          <a:p>
            <a:pPr marL="12700" marR="5080"/>
            <a:r>
              <a:rPr lang="en-US" sz="1460" kern="0" spc="-80" dirty="0">
                <a:solidFill>
                  <a:schemeClr val="accent6"/>
                </a:solidFill>
              </a:rPr>
              <a:t>Textual events (stack traces, errors)</a:t>
            </a:r>
          </a:p>
          <a:p>
            <a:pPr marL="12700" marR="5080"/>
            <a:r>
              <a:rPr lang="en-US" sz="1460" kern="0" spc="-80" dirty="0">
                <a:solidFill>
                  <a:schemeClr val="accent2"/>
                </a:solidFill>
              </a:rPr>
              <a:t>✅ Traces</a:t>
            </a:r>
          </a:p>
          <a:p>
            <a:pPr marL="12700" marR="5080"/>
            <a:r>
              <a:rPr lang="en-US" sz="1460" kern="0" spc="-80" dirty="0">
                <a:solidFill>
                  <a:schemeClr val="accent6"/>
                </a:solidFill>
              </a:rPr>
              <a:t>End-to-end request paths</a:t>
            </a:r>
          </a:p>
          <a:p>
            <a:pPr marL="12700" marR="5080"/>
            <a:r>
              <a:rPr lang="en-US" sz="1460" kern="0" spc="-80" dirty="0">
                <a:solidFill>
                  <a:schemeClr val="accent2"/>
                </a:solidFill>
              </a:rPr>
              <a:t>✅ Events</a:t>
            </a:r>
          </a:p>
          <a:p>
            <a:pPr marL="12700" marR="5080"/>
            <a:r>
              <a:rPr lang="en-US" sz="1460" kern="0" spc="-80" dirty="0">
                <a:solidFill>
                  <a:schemeClr val="accent6"/>
                </a:solidFill>
              </a:rPr>
              <a:t>Deployments, pod restarts, node failures</a:t>
            </a:r>
          </a:p>
          <a:p>
            <a:pPr marL="12700" marR="5080"/>
            <a:r>
              <a:rPr lang="en-US" sz="1460" kern="0" spc="-80" dirty="0">
                <a:solidFill>
                  <a:schemeClr val="accent2"/>
                </a:solidFill>
              </a:rPr>
              <a:t>Popular Observability Platforms</a:t>
            </a:r>
          </a:p>
          <a:p>
            <a:pPr marL="12700" marR="5080"/>
            <a:r>
              <a:rPr lang="en-US" sz="1460" kern="0" spc="-80" dirty="0">
                <a:solidFill>
                  <a:schemeClr val="accent6"/>
                </a:solidFill>
              </a:rPr>
              <a:t>Prometheus – metrics collection</a:t>
            </a:r>
          </a:p>
          <a:p>
            <a:pPr marL="12700" marR="5080"/>
            <a:r>
              <a:rPr lang="en-US" sz="1460" kern="0" spc="-80" dirty="0">
                <a:solidFill>
                  <a:schemeClr val="accent6"/>
                </a:solidFill>
              </a:rPr>
              <a:t>Grafana – dashboards</a:t>
            </a:r>
          </a:p>
          <a:p>
            <a:pPr marL="12700" marR="5080"/>
            <a:r>
              <a:rPr lang="en-US" sz="1460" kern="0" spc="-80" dirty="0">
                <a:solidFill>
                  <a:schemeClr val="accent6"/>
                </a:solidFill>
              </a:rPr>
              <a:t>Elastic – logs + search</a:t>
            </a:r>
          </a:p>
          <a:p>
            <a:pPr marL="12700" marR="5080"/>
            <a:r>
              <a:rPr lang="en-US" sz="1460" kern="0" spc="-80" dirty="0">
                <a:solidFill>
                  <a:schemeClr val="accent6"/>
                </a:solidFill>
              </a:rPr>
              <a:t>Splunk – enterprise log analytics</a:t>
            </a:r>
          </a:p>
          <a:p>
            <a:pPr marL="12700" marR="5080"/>
            <a:r>
              <a:rPr lang="en-US" sz="1460" kern="0" spc="-80" dirty="0">
                <a:solidFill>
                  <a:schemeClr val="accent6"/>
                </a:solidFill>
              </a:rPr>
              <a:t>Datadog – full-stack observability</a:t>
            </a:r>
          </a:p>
          <a:p>
            <a:pPr marL="12700" marR="5080"/>
            <a:r>
              <a:rPr lang="en-US" sz="1460" kern="0" spc="-80" dirty="0">
                <a:solidFill>
                  <a:schemeClr val="accent6"/>
                </a:solidFill>
              </a:rPr>
              <a:t>Dynatrace – APM + infra</a:t>
            </a:r>
          </a:p>
          <a:p>
            <a:pPr marL="12700" marR="5080"/>
            <a:r>
              <a:rPr lang="en-US" sz="1460" kern="0" spc="-80" dirty="0">
                <a:solidFill>
                  <a:schemeClr val="accent6"/>
                </a:solidFill>
              </a:rPr>
              <a:t>New Relic – APM + telemetry</a:t>
            </a:r>
          </a:p>
          <a:p>
            <a:pPr marL="12700" marR="5080"/>
            <a:endParaRPr lang="en-US" sz="1460" kern="0" spc="-80" dirty="0">
              <a:solidFill>
                <a:schemeClr val="accent6"/>
              </a:solidFill>
            </a:endParaRPr>
          </a:p>
          <a:p>
            <a:pPr marL="12700" marR="5080"/>
            <a:endParaRPr lang="en-US" sz="1460" kern="0" spc="-80" dirty="0">
              <a:solidFill>
                <a:schemeClr val="accent6"/>
              </a:solidFill>
            </a:endParaRPr>
          </a:p>
        </p:txBody>
      </p:sp>
    </p:spTree>
    <p:extLst>
      <p:ext uri="{BB962C8B-B14F-4D97-AF65-F5344CB8AC3E}">
        <p14:creationId xmlns:p14="http://schemas.microsoft.com/office/powerpoint/2010/main" val="655861726"/>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3B3152-42BB-DA05-0CEE-69875A490DD4}"/>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E01F3A18-C40F-6E6B-EDEC-D14075B0EFAE}"/>
              </a:ext>
            </a:extLst>
          </p:cNvPr>
          <p:cNvSpPr/>
          <p:nvPr/>
        </p:nvSpPr>
        <p:spPr>
          <a:xfrm>
            <a:off x="1756803" y="648336"/>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BE515C5F-70A7-C0E0-C3D7-270FB420BE42}"/>
              </a:ext>
            </a:extLst>
          </p:cNvPr>
          <p:cNvSpPr/>
          <p:nvPr/>
        </p:nvSpPr>
        <p:spPr>
          <a:xfrm>
            <a:off x="1756803" y="495936"/>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3F223407-B32C-0E5D-338D-A926DA520544}"/>
              </a:ext>
            </a:extLst>
          </p:cNvPr>
          <p:cNvGraphicFramePr/>
          <p:nvPr>
            <p:extLst>
              <p:ext uri="{D42A27DB-BD31-4B8C-83A1-F6EECF244321}">
                <p14:modId xmlns:p14="http://schemas.microsoft.com/office/powerpoint/2010/main" val="2165199371"/>
              </p:ext>
            </p:extLst>
          </p:nvPr>
        </p:nvGraphicFramePr>
        <p:xfrm>
          <a:off x="0" y="34425"/>
          <a:ext cx="9143306" cy="42277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object 2">
            <a:extLst>
              <a:ext uri="{FF2B5EF4-FFF2-40B4-BE49-F238E27FC236}">
                <a16:creationId xmlns:a16="http://schemas.microsoft.com/office/drawing/2014/main" id="{46AB154A-315C-FD1F-C330-390E4CE439CA}"/>
              </a:ext>
            </a:extLst>
          </p:cNvPr>
          <p:cNvSpPr txBox="1">
            <a:spLocks/>
          </p:cNvSpPr>
          <p:nvPr/>
        </p:nvSpPr>
        <p:spPr>
          <a:xfrm>
            <a:off x="228600" y="762000"/>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p:txBody>
      </p:sp>
      <p:sp>
        <p:nvSpPr>
          <p:cNvPr id="7" name="object 2">
            <a:extLst>
              <a:ext uri="{FF2B5EF4-FFF2-40B4-BE49-F238E27FC236}">
                <a16:creationId xmlns:a16="http://schemas.microsoft.com/office/drawing/2014/main" id="{3CF1E1A1-FA8A-88C4-8CEF-09B31B52A329}"/>
              </a:ext>
            </a:extLst>
          </p:cNvPr>
          <p:cNvSpPr txBox="1">
            <a:spLocks/>
          </p:cNvSpPr>
          <p:nvPr/>
        </p:nvSpPr>
        <p:spPr>
          <a:xfrm>
            <a:off x="138063" y="5023247"/>
            <a:ext cx="8624937" cy="246221"/>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600" kern="0" spc="-80" dirty="0">
                <a:solidFill>
                  <a:schemeClr val="accent2"/>
                </a:solidFill>
              </a:rPr>
              <a:t>  </a:t>
            </a:r>
          </a:p>
        </p:txBody>
      </p:sp>
      <p:sp>
        <p:nvSpPr>
          <p:cNvPr id="12" name="object 2">
            <a:extLst>
              <a:ext uri="{FF2B5EF4-FFF2-40B4-BE49-F238E27FC236}">
                <a16:creationId xmlns:a16="http://schemas.microsoft.com/office/drawing/2014/main" id="{2B627441-C0FF-DFEB-8736-39AE2258EA4F}"/>
              </a:ext>
            </a:extLst>
          </p:cNvPr>
          <p:cNvSpPr txBox="1">
            <a:spLocks/>
          </p:cNvSpPr>
          <p:nvPr/>
        </p:nvSpPr>
        <p:spPr>
          <a:xfrm>
            <a:off x="0" y="865561"/>
            <a:ext cx="8915399" cy="4942892"/>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460" kern="0" spc="-80" dirty="0">
                <a:solidFill>
                  <a:schemeClr val="accent2"/>
                </a:solidFill>
              </a:rPr>
              <a:t>2️⃣ Observability Layer (Collect + Visualize + Alert)</a:t>
            </a:r>
          </a:p>
          <a:p>
            <a:pPr marL="12700" marR="5080"/>
            <a:r>
              <a:rPr lang="en-US" sz="1460" kern="0" spc="-80" dirty="0">
                <a:solidFill>
                  <a:schemeClr val="accent2"/>
                </a:solidFill>
              </a:rPr>
              <a:t>Output of this layer:</a:t>
            </a:r>
          </a:p>
          <a:p>
            <a:pPr marL="12700" marR="5080"/>
            <a:r>
              <a:rPr lang="en-US" sz="1460" kern="0" spc="-80" dirty="0">
                <a:solidFill>
                  <a:schemeClr val="accent6"/>
                </a:solidFill>
              </a:rPr>
              <a:t>Alerts</a:t>
            </a:r>
          </a:p>
          <a:p>
            <a:pPr marL="12700" marR="5080"/>
            <a:r>
              <a:rPr lang="en-US" sz="1460" kern="0" spc="-80" dirty="0">
                <a:solidFill>
                  <a:schemeClr val="accent6"/>
                </a:solidFill>
              </a:rPr>
              <a:t>Dashboards</a:t>
            </a:r>
          </a:p>
          <a:p>
            <a:pPr marL="12700" marR="5080"/>
            <a:r>
              <a:rPr lang="en-US" sz="1460" kern="0" spc="-80" dirty="0">
                <a:solidFill>
                  <a:schemeClr val="accent6"/>
                </a:solidFill>
              </a:rPr>
              <a:t>Structured events</a:t>
            </a:r>
          </a:p>
          <a:p>
            <a:pPr marL="12700" marR="5080"/>
            <a:r>
              <a:rPr lang="en-US" sz="1460" kern="0" spc="-80" dirty="0">
                <a:solidFill>
                  <a:schemeClr val="accent2"/>
                </a:solidFill>
              </a:rPr>
              <a:t>⚠️ But this still creates alert storms and noise.</a:t>
            </a:r>
          </a:p>
          <a:p>
            <a:pPr marL="12700" marR="5080"/>
            <a:r>
              <a:rPr lang="en-US" sz="1460" kern="0" spc="-80" dirty="0">
                <a:solidFill>
                  <a:schemeClr val="accent2"/>
                </a:solidFill>
              </a:rPr>
              <a:t>That’s why AIOps exists.</a:t>
            </a:r>
          </a:p>
          <a:p>
            <a:pPr marL="12700" marR="5080"/>
            <a:r>
              <a:rPr lang="en-US" sz="1460" kern="0" spc="-80" dirty="0">
                <a:solidFill>
                  <a:schemeClr val="accent2"/>
                </a:solidFill>
              </a:rPr>
              <a:t>3️⃣ AIOps Layer (The Brain)</a:t>
            </a:r>
          </a:p>
          <a:p>
            <a:pPr marL="12700" marR="5080"/>
            <a:r>
              <a:rPr lang="en-US" sz="1460" kern="0" spc="-80" dirty="0">
                <a:solidFill>
                  <a:schemeClr val="accent6"/>
                </a:solidFill>
              </a:rPr>
              <a:t>Goal: turn alerts into insights</a:t>
            </a:r>
          </a:p>
          <a:p>
            <a:pPr marL="12700" marR="5080"/>
            <a:r>
              <a:rPr lang="en-US" sz="1460" kern="0" spc="-80" dirty="0">
                <a:solidFill>
                  <a:schemeClr val="accent6"/>
                </a:solidFill>
              </a:rPr>
              <a:t>This layer applies ML + graph reasoning.</a:t>
            </a:r>
          </a:p>
          <a:p>
            <a:pPr marL="12700" marR="5080"/>
            <a:r>
              <a:rPr lang="en-US" sz="1460" kern="0" spc="-80" dirty="0">
                <a:solidFill>
                  <a:schemeClr val="accent6"/>
                </a:solidFill>
              </a:rPr>
              <a:t>Core AIOps Capabilities</a:t>
            </a:r>
          </a:p>
          <a:p>
            <a:pPr marL="12700" marR="5080"/>
            <a:r>
              <a:rPr lang="en-US" sz="1460" kern="0" spc="-80" dirty="0">
                <a:solidFill>
                  <a:schemeClr val="accent2"/>
                </a:solidFill>
              </a:rPr>
              <a:t>🧠 Noise Reduction</a:t>
            </a:r>
          </a:p>
          <a:p>
            <a:pPr marL="12700" marR="5080"/>
            <a:r>
              <a:rPr lang="en-US" sz="1460" kern="0" spc="-80" dirty="0">
                <a:solidFill>
                  <a:schemeClr val="accent6"/>
                </a:solidFill>
              </a:rPr>
              <a:t>Deduplicate alerts</a:t>
            </a:r>
          </a:p>
          <a:p>
            <a:pPr marL="12700" marR="5080"/>
            <a:r>
              <a:rPr lang="en-US" sz="1460" kern="0" spc="-80" dirty="0">
                <a:solidFill>
                  <a:schemeClr val="accent6"/>
                </a:solidFill>
              </a:rPr>
              <a:t>Suppress flapping signals</a:t>
            </a:r>
          </a:p>
          <a:p>
            <a:pPr marL="12700" marR="5080"/>
            <a:r>
              <a:rPr lang="en-US" sz="1460" kern="0" spc="-80" dirty="0">
                <a:solidFill>
                  <a:schemeClr val="accent2"/>
                </a:solidFill>
              </a:rPr>
              <a:t>🔗 Event Correlation</a:t>
            </a:r>
          </a:p>
          <a:p>
            <a:pPr marL="12700" marR="5080"/>
            <a:r>
              <a:rPr lang="en-US" sz="1460" kern="0" spc="-80" dirty="0">
                <a:solidFill>
                  <a:schemeClr val="accent6"/>
                </a:solidFill>
              </a:rPr>
              <a:t>Group 1000 alerts → 1 incident</a:t>
            </a:r>
          </a:p>
          <a:p>
            <a:pPr marL="12700" marR="5080"/>
            <a:r>
              <a:rPr lang="en-US" sz="1460" kern="0" spc="-80" dirty="0">
                <a:solidFill>
                  <a:schemeClr val="accent2"/>
                </a:solidFill>
              </a:rPr>
              <a:t>🧩 Root Cause Analysis (RCA)</a:t>
            </a:r>
          </a:p>
          <a:p>
            <a:pPr marL="12700" marR="5080"/>
            <a:r>
              <a:rPr lang="en-US" sz="1460" kern="0" spc="-80" dirty="0">
                <a:solidFill>
                  <a:schemeClr val="accent6"/>
                </a:solidFill>
              </a:rPr>
              <a:t>Determine which component actually failed</a:t>
            </a:r>
          </a:p>
          <a:p>
            <a:pPr marL="12700" marR="5080"/>
            <a:r>
              <a:rPr lang="en-US" sz="1460" kern="0" spc="-80" dirty="0">
                <a:solidFill>
                  <a:schemeClr val="accent2"/>
                </a:solidFill>
              </a:rPr>
              <a:t>📈 Anomaly Detection</a:t>
            </a:r>
          </a:p>
          <a:p>
            <a:pPr marL="12700" marR="5080"/>
            <a:r>
              <a:rPr lang="en-US" sz="1460" kern="0" spc="-80" dirty="0">
                <a:solidFill>
                  <a:schemeClr val="accent6"/>
                </a:solidFill>
              </a:rPr>
              <a:t>Learn baselines automatically</a:t>
            </a:r>
          </a:p>
          <a:p>
            <a:pPr marL="12700" marR="5080"/>
            <a:r>
              <a:rPr lang="en-US" sz="1460" kern="0" spc="-80" dirty="0">
                <a:solidFill>
                  <a:schemeClr val="accent2"/>
                </a:solidFill>
              </a:rPr>
              <a:t>🔮 Prediction</a:t>
            </a:r>
          </a:p>
          <a:p>
            <a:pPr marL="12700" marR="5080"/>
            <a:r>
              <a:rPr lang="en-US" sz="1460" kern="0" spc="-80" dirty="0">
                <a:solidFill>
                  <a:schemeClr val="accent6"/>
                </a:solidFill>
              </a:rPr>
              <a:t>Detect issues before thresholds are crossed</a:t>
            </a:r>
          </a:p>
        </p:txBody>
      </p:sp>
    </p:spTree>
    <p:extLst>
      <p:ext uri="{BB962C8B-B14F-4D97-AF65-F5344CB8AC3E}">
        <p14:creationId xmlns:p14="http://schemas.microsoft.com/office/powerpoint/2010/main" val="1072889579"/>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7AFEF2-DB48-A449-A506-8CEAEEEC7514}"/>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06AE1BCB-0AAE-D173-BD05-433C894DD309}"/>
              </a:ext>
            </a:extLst>
          </p:cNvPr>
          <p:cNvSpPr/>
          <p:nvPr/>
        </p:nvSpPr>
        <p:spPr>
          <a:xfrm>
            <a:off x="1756803" y="648336"/>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682DBFB9-3B23-746B-53CC-19CD7C048E58}"/>
              </a:ext>
            </a:extLst>
          </p:cNvPr>
          <p:cNvSpPr/>
          <p:nvPr/>
        </p:nvSpPr>
        <p:spPr>
          <a:xfrm>
            <a:off x="1756803" y="495936"/>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7FC41596-A7E1-BED1-0CF8-FE4DD2F43B0B}"/>
              </a:ext>
            </a:extLst>
          </p:cNvPr>
          <p:cNvGraphicFramePr/>
          <p:nvPr>
            <p:extLst>
              <p:ext uri="{D42A27DB-BD31-4B8C-83A1-F6EECF244321}">
                <p14:modId xmlns:p14="http://schemas.microsoft.com/office/powerpoint/2010/main" val="819572323"/>
              </p:ext>
            </p:extLst>
          </p:nvPr>
        </p:nvGraphicFramePr>
        <p:xfrm>
          <a:off x="0" y="34425"/>
          <a:ext cx="9143306" cy="42277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object 2">
            <a:extLst>
              <a:ext uri="{FF2B5EF4-FFF2-40B4-BE49-F238E27FC236}">
                <a16:creationId xmlns:a16="http://schemas.microsoft.com/office/drawing/2014/main" id="{A73D9415-928E-31EF-FF24-ED511C30F1FC}"/>
              </a:ext>
            </a:extLst>
          </p:cNvPr>
          <p:cNvSpPr txBox="1">
            <a:spLocks/>
          </p:cNvSpPr>
          <p:nvPr/>
        </p:nvSpPr>
        <p:spPr>
          <a:xfrm>
            <a:off x="228600" y="762000"/>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p:txBody>
      </p:sp>
      <p:sp>
        <p:nvSpPr>
          <p:cNvPr id="7" name="object 2">
            <a:extLst>
              <a:ext uri="{FF2B5EF4-FFF2-40B4-BE49-F238E27FC236}">
                <a16:creationId xmlns:a16="http://schemas.microsoft.com/office/drawing/2014/main" id="{7D9AC07A-E8D1-C130-5D0B-8FE823D65140}"/>
              </a:ext>
            </a:extLst>
          </p:cNvPr>
          <p:cNvSpPr txBox="1">
            <a:spLocks/>
          </p:cNvSpPr>
          <p:nvPr/>
        </p:nvSpPr>
        <p:spPr>
          <a:xfrm>
            <a:off x="138063" y="5023247"/>
            <a:ext cx="8624937" cy="246221"/>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600" kern="0" spc="-80" dirty="0">
                <a:solidFill>
                  <a:schemeClr val="accent2"/>
                </a:solidFill>
              </a:rPr>
              <a:t>  </a:t>
            </a:r>
          </a:p>
        </p:txBody>
      </p:sp>
      <p:sp>
        <p:nvSpPr>
          <p:cNvPr id="12" name="object 2">
            <a:extLst>
              <a:ext uri="{FF2B5EF4-FFF2-40B4-BE49-F238E27FC236}">
                <a16:creationId xmlns:a16="http://schemas.microsoft.com/office/drawing/2014/main" id="{8077D560-0B67-440D-1B1D-0830B6A23ED1}"/>
              </a:ext>
            </a:extLst>
          </p:cNvPr>
          <p:cNvSpPr txBox="1">
            <a:spLocks/>
          </p:cNvSpPr>
          <p:nvPr/>
        </p:nvSpPr>
        <p:spPr>
          <a:xfrm>
            <a:off x="0" y="865561"/>
            <a:ext cx="8915399" cy="4718215"/>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460" kern="0" spc="-80" dirty="0">
                <a:solidFill>
                  <a:schemeClr val="accent2"/>
                </a:solidFill>
              </a:rPr>
              <a:t>🎯 Impact Analysis</a:t>
            </a:r>
          </a:p>
          <a:p>
            <a:pPr marL="12700" marR="5080"/>
            <a:r>
              <a:rPr lang="en-US" sz="1460" kern="0" spc="-80" dirty="0">
                <a:solidFill>
                  <a:schemeClr val="accent6"/>
                </a:solidFill>
              </a:rPr>
              <a:t>Which business service is affected?</a:t>
            </a:r>
          </a:p>
          <a:p>
            <a:pPr marL="12700" marR="5080"/>
            <a:r>
              <a:rPr lang="en-US" sz="1460" kern="0" spc="-80" dirty="0">
                <a:solidFill>
                  <a:schemeClr val="accent6"/>
                </a:solidFill>
              </a:rPr>
              <a:t>Leading AIOps Platforms</a:t>
            </a:r>
          </a:p>
          <a:p>
            <a:pPr marL="12700" marR="5080"/>
            <a:r>
              <a:rPr lang="en-US" sz="1460" kern="0" spc="-80" dirty="0">
                <a:solidFill>
                  <a:schemeClr val="accent6"/>
                </a:solidFill>
              </a:rPr>
              <a:t>Moogsoft</a:t>
            </a:r>
          </a:p>
          <a:p>
            <a:pPr marL="12700" marR="5080"/>
            <a:r>
              <a:rPr lang="en-US" sz="1460" kern="0" spc="-80" dirty="0" err="1">
                <a:solidFill>
                  <a:schemeClr val="accent6"/>
                </a:solidFill>
              </a:rPr>
              <a:t>BigPanda</a:t>
            </a:r>
            <a:endParaRPr lang="en-US" sz="1460" kern="0" spc="-80" dirty="0">
              <a:solidFill>
                <a:schemeClr val="accent6"/>
              </a:solidFill>
            </a:endParaRPr>
          </a:p>
          <a:p>
            <a:pPr marL="12700" marR="5080"/>
            <a:r>
              <a:rPr lang="en-US" sz="1460" kern="0" spc="-80" dirty="0">
                <a:solidFill>
                  <a:schemeClr val="accent6"/>
                </a:solidFill>
              </a:rPr>
              <a:t>Dynatrace (built-in AIOps)</a:t>
            </a:r>
          </a:p>
          <a:p>
            <a:pPr marL="12700" marR="5080"/>
            <a:r>
              <a:rPr lang="en-US" sz="1460" kern="0" spc="-80" dirty="0">
                <a:solidFill>
                  <a:schemeClr val="accent6"/>
                </a:solidFill>
              </a:rPr>
              <a:t>Datadog (Watchdog AI)</a:t>
            </a:r>
          </a:p>
          <a:p>
            <a:pPr marL="12700" marR="5080"/>
            <a:r>
              <a:rPr lang="en-US" sz="1460" kern="0" spc="-80" dirty="0">
                <a:solidFill>
                  <a:schemeClr val="accent6"/>
                </a:solidFill>
              </a:rPr>
              <a:t>Output:</a:t>
            </a:r>
          </a:p>
          <a:p>
            <a:pPr marL="12700" marR="5080"/>
            <a:r>
              <a:rPr lang="en-US" sz="1460" kern="0" spc="-80" dirty="0">
                <a:solidFill>
                  <a:schemeClr val="accent6"/>
                </a:solidFill>
              </a:rPr>
              <a:t>“Database pod crash caused checkout failures”</a:t>
            </a:r>
          </a:p>
          <a:p>
            <a:pPr marL="12700" marR="5080"/>
            <a:r>
              <a:rPr lang="en-US" sz="1460" kern="0" spc="-80" dirty="0">
                <a:solidFill>
                  <a:schemeClr val="accent6"/>
                </a:solidFill>
              </a:rPr>
              <a:t>instead of</a:t>
            </a:r>
          </a:p>
          <a:p>
            <a:pPr marL="12700" marR="5080"/>
            <a:r>
              <a:rPr lang="en-US" sz="1460" kern="0" spc="-80" dirty="0">
                <a:solidFill>
                  <a:schemeClr val="accent6"/>
                </a:solidFill>
              </a:rPr>
              <a:t>500 alerts firing</a:t>
            </a:r>
          </a:p>
          <a:p>
            <a:pPr marL="12700" marR="5080"/>
            <a:r>
              <a:rPr lang="en-US" sz="1460" kern="0" spc="-80" dirty="0">
                <a:solidFill>
                  <a:schemeClr val="accent6"/>
                </a:solidFill>
              </a:rPr>
              <a:t>This is the decision point.</a:t>
            </a:r>
          </a:p>
          <a:p>
            <a:pPr marL="12700" marR="5080"/>
            <a:endParaRPr lang="en-US" sz="1460" kern="0" spc="-80" dirty="0">
              <a:solidFill>
                <a:schemeClr val="accent6"/>
              </a:solidFill>
            </a:endParaRPr>
          </a:p>
          <a:p>
            <a:pPr marL="12700" marR="5080"/>
            <a:r>
              <a:rPr lang="en-US" sz="1460" kern="0" spc="-80" dirty="0">
                <a:solidFill>
                  <a:schemeClr val="accent2"/>
                </a:solidFill>
              </a:rPr>
              <a:t>4️⃣ Ticketing / Incident Management</a:t>
            </a:r>
          </a:p>
          <a:p>
            <a:pPr marL="12700" marR="5080"/>
            <a:r>
              <a:rPr lang="en-US" sz="1460" kern="0" spc="-80" dirty="0">
                <a:solidFill>
                  <a:schemeClr val="accent6"/>
                </a:solidFill>
              </a:rPr>
              <a:t>Goal: formalize the incident and route ownership</a:t>
            </a:r>
          </a:p>
          <a:p>
            <a:pPr marL="12700" marR="5080"/>
            <a:r>
              <a:rPr lang="en-US" sz="1460" kern="0" spc="-80" dirty="0">
                <a:solidFill>
                  <a:schemeClr val="accent6"/>
                </a:solidFill>
              </a:rPr>
              <a:t>Common Platforms</a:t>
            </a:r>
          </a:p>
          <a:p>
            <a:pPr marL="12700" marR="5080"/>
            <a:r>
              <a:rPr lang="en-US" sz="1460" kern="0" spc="-80" dirty="0">
                <a:solidFill>
                  <a:schemeClr val="accent6"/>
                </a:solidFill>
              </a:rPr>
              <a:t>ServiceNow – enterprise ITSM</a:t>
            </a:r>
          </a:p>
          <a:p>
            <a:pPr marL="12700" marR="5080"/>
            <a:r>
              <a:rPr lang="en-US" sz="1460" kern="0" spc="-80" dirty="0">
                <a:solidFill>
                  <a:schemeClr val="accent6"/>
                </a:solidFill>
              </a:rPr>
              <a:t>Jira – engineering workflows</a:t>
            </a:r>
          </a:p>
          <a:p>
            <a:pPr marL="12700" marR="5080"/>
            <a:r>
              <a:rPr lang="en-US" sz="1460" kern="0" spc="-80" dirty="0">
                <a:solidFill>
                  <a:schemeClr val="accent6"/>
                </a:solidFill>
              </a:rPr>
              <a:t>PagerDuty – on-call + paging</a:t>
            </a:r>
          </a:p>
          <a:p>
            <a:pPr marL="12700" marR="5080"/>
            <a:r>
              <a:rPr lang="en-US" sz="1460" kern="0" spc="-80" dirty="0">
                <a:solidFill>
                  <a:schemeClr val="accent6"/>
                </a:solidFill>
              </a:rPr>
              <a:t>What happens here:</a:t>
            </a:r>
          </a:p>
          <a:p>
            <a:pPr marL="12700" marR="5080"/>
            <a:r>
              <a:rPr lang="en-US" sz="1460" kern="0" spc="-80" dirty="0">
                <a:solidFill>
                  <a:schemeClr val="accent6"/>
                </a:solidFill>
              </a:rPr>
              <a:t>AIOps creates incident automatically</a:t>
            </a:r>
          </a:p>
        </p:txBody>
      </p:sp>
    </p:spTree>
    <p:extLst>
      <p:ext uri="{BB962C8B-B14F-4D97-AF65-F5344CB8AC3E}">
        <p14:creationId xmlns:p14="http://schemas.microsoft.com/office/powerpoint/2010/main" val="1572515680"/>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F39CC8-68BF-2DA3-7F61-453182335289}"/>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BBC575C8-3BD7-0EF4-E6E2-6FA423E8705D}"/>
              </a:ext>
            </a:extLst>
          </p:cNvPr>
          <p:cNvSpPr/>
          <p:nvPr/>
        </p:nvSpPr>
        <p:spPr>
          <a:xfrm>
            <a:off x="1756803" y="648336"/>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FA17F6FE-5DF2-D4E7-37B2-9572EC154ECE}"/>
              </a:ext>
            </a:extLst>
          </p:cNvPr>
          <p:cNvSpPr/>
          <p:nvPr/>
        </p:nvSpPr>
        <p:spPr>
          <a:xfrm>
            <a:off x="1756803" y="495936"/>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681A6A07-651F-A98B-16CF-0F37D6ACA811}"/>
              </a:ext>
            </a:extLst>
          </p:cNvPr>
          <p:cNvGraphicFramePr/>
          <p:nvPr>
            <p:extLst>
              <p:ext uri="{D42A27DB-BD31-4B8C-83A1-F6EECF244321}">
                <p14:modId xmlns:p14="http://schemas.microsoft.com/office/powerpoint/2010/main" val="2869476785"/>
              </p:ext>
            </p:extLst>
          </p:nvPr>
        </p:nvGraphicFramePr>
        <p:xfrm>
          <a:off x="0" y="34425"/>
          <a:ext cx="9143306" cy="42277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object 2">
            <a:extLst>
              <a:ext uri="{FF2B5EF4-FFF2-40B4-BE49-F238E27FC236}">
                <a16:creationId xmlns:a16="http://schemas.microsoft.com/office/drawing/2014/main" id="{791A608F-8BC6-B981-E296-67DA55717435}"/>
              </a:ext>
            </a:extLst>
          </p:cNvPr>
          <p:cNvSpPr txBox="1">
            <a:spLocks/>
          </p:cNvSpPr>
          <p:nvPr/>
        </p:nvSpPr>
        <p:spPr>
          <a:xfrm>
            <a:off x="228600" y="762000"/>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p:txBody>
      </p:sp>
      <p:sp>
        <p:nvSpPr>
          <p:cNvPr id="7" name="object 2">
            <a:extLst>
              <a:ext uri="{FF2B5EF4-FFF2-40B4-BE49-F238E27FC236}">
                <a16:creationId xmlns:a16="http://schemas.microsoft.com/office/drawing/2014/main" id="{61A4E50A-FED4-1B12-3D78-041DA7651A12}"/>
              </a:ext>
            </a:extLst>
          </p:cNvPr>
          <p:cNvSpPr txBox="1">
            <a:spLocks/>
          </p:cNvSpPr>
          <p:nvPr/>
        </p:nvSpPr>
        <p:spPr>
          <a:xfrm>
            <a:off x="138063" y="5023247"/>
            <a:ext cx="8624937" cy="246221"/>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600" kern="0" spc="-80" dirty="0">
                <a:solidFill>
                  <a:schemeClr val="accent2"/>
                </a:solidFill>
              </a:rPr>
              <a:t>  </a:t>
            </a:r>
          </a:p>
        </p:txBody>
      </p:sp>
      <p:sp>
        <p:nvSpPr>
          <p:cNvPr id="12" name="object 2">
            <a:extLst>
              <a:ext uri="{FF2B5EF4-FFF2-40B4-BE49-F238E27FC236}">
                <a16:creationId xmlns:a16="http://schemas.microsoft.com/office/drawing/2014/main" id="{EFD636B8-CB85-67B5-1F10-3F39B8CF4789}"/>
              </a:ext>
            </a:extLst>
          </p:cNvPr>
          <p:cNvSpPr txBox="1">
            <a:spLocks/>
          </p:cNvSpPr>
          <p:nvPr/>
        </p:nvSpPr>
        <p:spPr>
          <a:xfrm>
            <a:off x="0" y="865561"/>
            <a:ext cx="8915399" cy="4942892"/>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460" kern="0" spc="-80" dirty="0">
                <a:solidFill>
                  <a:schemeClr val="accent2"/>
                </a:solidFill>
              </a:rPr>
              <a:t>4️⃣ Ticketing / Incident Management</a:t>
            </a:r>
          </a:p>
          <a:p>
            <a:pPr marL="12700" marR="5080"/>
            <a:r>
              <a:rPr lang="en-US" sz="1460" kern="0" spc="-80" dirty="0">
                <a:solidFill>
                  <a:schemeClr val="accent2"/>
                </a:solidFill>
              </a:rPr>
              <a:t>Ticket enriched with:</a:t>
            </a:r>
          </a:p>
          <a:p>
            <a:pPr marL="12700" marR="5080"/>
            <a:r>
              <a:rPr lang="en-US" sz="1460" kern="0" spc="-80" dirty="0">
                <a:solidFill>
                  <a:schemeClr val="accent6"/>
                </a:solidFill>
              </a:rPr>
              <a:t>Root cause</a:t>
            </a:r>
          </a:p>
          <a:p>
            <a:pPr marL="12700" marR="5080"/>
            <a:r>
              <a:rPr lang="en-US" sz="1460" kern="0" spc="-80" dirty="0">
                <a:solidFill>
                  <a:schemeClr val="accent6"/>
                </a:solidFill>
              </a:rPr>
              <a:t>Affected services</a:t>
            </a:r>
          </a:p>
          <a:p>
            <a:pPr marL="12700" marR="5080"/>
            <a:r>
              <a:rPr lang="en-US" sz="1460" kern="0" spc="-80" dirty="0">
                <a:solidFill>
                  <a:schemeClr val="accent6"/>
                </a:solidFill>
              </a:rPr>
              <a:t>Suggested remediation</a:t>
            </a:r>
          </a:p>
          <a:p>
            <a:pPr marL="12700" marR="5080"/>
            <a:r>
              <a:rPr lang="en-US" sz="1460" kern="0" spc="-80" dirty="0">
                <a:solidFill>
                  <a:schemeClr val="accent6"/>
                </a:solidFill>
              </a:rPr>
              <a:t>Severity assigned</a:t>
            </a:r>
          </a:p>
          <a:p>
            <a:pPr marL="12700" marR="5080"/>
            <a:r>
              <a:rPr lang="en-US" sz="1460" kern="0" spc="-80" dirty="0">
                <a:solidFill>
                  <a:schemeClr val="accent6"/>
                </a:solidFill>
              </a:rPr>
              <a:t>Either:</a:t>
            </a:r>
          </a:p>
          <a:p>
            <a:pPr marL="12700" marR="5080"/>
            <a:r>
              <a:rPr lang="en-US" sz="1460" kern="0" spc="-80" dirty="0">
                <a:solidFill>
                  <a:schemeClr val="accent6"/>
                </a:solidFill>
              </a:rPr>
              <a:t>Routed to humans</a:t>
            </a:r>
          </a:p>
          <a:p>
            <a:pPr marL="12700" marR="5080"/>
            <a:r>
              <a:rPr lang="en-US" sz="1460" kern="0" spc="-80" dirty="0">
                <a:solidFill>
                  <a:schemeClr val="accent6"/>
                </a:solidFill>
              </a:rPr>
              <a:t>OR sent directly to automation</a:t>
            </a:r>
          </a:p>
          <a:p>
            <a:pPr marL="12700" marR="5080"/>
            <a:r>
              <a:rPr lang="en-US" sz="1460" kern="0" spc="-80" dirty="0">
                <a:solidFill>
                  <a:schemeClr val="accent6"/>
                </a:solidFill>
              </a:rPr>
              <a:t>Modern systems aim for zero-touch incidents.</a:t>
            </a:r>
          </a:p>
          <a:p>
            <a:pPr marL="12700" marR="5080"/>
            <a:endParaRPr lang="en-US" sz="1460" kern="0" spc="-80" dirty="0">
              <a:solidFill>
                <a:schemeClr val="accent6"/>
              </a:solidFill>
            </a:endParaRPr>
          </a:p>
          <a:p>
            <a:pPr marL="12700" marR="5080"/>
            <a:r>
              <a:rPr lang="en-US" sz="1460" kern="0" spc="-80" dirty="0">
                <a:solidFill>
                  <a:schemeClr val="accent2"/>
                </a:solidFill>
              </a:rPr>
              <a:t>5️⃣ Automated Remediation (Execution Layer)</a:t>
            </a:r>
          </a:p>
          <a:p>
            <a:pPr marL="12700" marR="5080"/>
            <a:r>
              <a:rPr lang="en-US" sz="1460" kern="0" spc="-80" dirty="0">
                <a:solidFill>
                  <a:schemeClr val="accent6"/>
                </a:solidFill>
              </a:rPr>
              <a:t>Goal: fix problems without humans</a:t>
            </a:r>
          </a:p>
          <a:p>
            <a:pPr marL="12700" marR="5080"/>
            <a:r>
              <a:rPr lang="en-US" sz="1460" kern="0" spc="-80" dirty="0">
                <a:solidFill>
                  <a:schemeClr val="accent6"/>
                </a:solidFill>
              </a:rPr>
              <a:t>This is where runbooks execute.</a:t>
            </a:r>
          </a:p>
          <a:p>
            <a:pPr marL="12700" marR="5080"/>
            <a:r>
              <a:rPr lang="en-US" sz="1460" kern="0" spc="-80" dirty="0">
                <a:solidFill>
                  <a:schemeClr val="accent6"/>
                </a:solidFill>
              </a:rPr>
              <a:t>Automation Engines</a:t>
            </a:r>
          </a:p>
          <a:p>
            <a:pPr marL="12700" marR="5080"/>
            <a:r>
              <a:rPr lang="en-US" sz="1460" kern="0" spc="-80" dirty="0" err="1">
                <a:solidFill>
                  <a:schemeClr val="accent6"/>
                </a:solidFill>
              </a:rPr>
              <a:t>StackStorm</a:t>
            </a:r>
            <a:endParaRPr lang="en-US" sz="1460" kern="0" spc="-80" dirty="0">
              <a:solidFill>
                <a:schemeClr val="accent6"/>
              </a:solidFill>
            </a:endParaRPr>
          </a:p>
          <a:p>
            <a:pPr marL="12700" marR="5080"/>
            <a:r>
              <a:rPr lang="en-US" sz="1460" kern="0" spc="-80" dirty="0" err="1">
                <a:solidFill>
                  <a:schemeClr val="accent6"/>
                </a:solidFill>
              </a:rPr>
              <a:t>Rundeck</a:t>
            </a:r>
            <a:endParaRPr lang="en-US" sz="1460" kern="0" spc="-80" dirty="0">
              <a:solidFill>
                <a:schemeClr val="accent6"/>
              </a:solidFill>
            </a:endParaRPr>
          </a:p>
          <a:p>
            <a:pPr marL="12700" marR="5080"/>
            <a:r>
              <a:rPr lang="en-US" sz="1460" kern="0" spc="-80" dirty="0">
                <a:solidFill>
                  <a:schemeClr val="accent6"/>
                </a:solidFill>
              </a:rPr>
              <a:t>Ansible</a:t>
            </a:r>
          </a:p>
          <a:p>
            <a:pPr marL="12700" marR="5080"/>
            <a:r>
              <a:rPr lang="en-US" sz="1460" kern="0" spc="-80" dirty="0">
                <a:solidFill>
                  <a:schemeClr val="accent6"/>
                </a:solidFill>
              </a:rPr>
              <a:t>Typical Runbook Actions</a:t>
            </a:r>
          </a:p>
          <a:p>
            <a:pPr marL="12700" marR="5080"/>
            <a:r>
              <a:rPr lang="en-US" sz="1460" kern="0" spc="-80" dirty="0">
                <a:solidFill>
                  <a:schemeClr val="accent6"/>
                </a:solidFill>
              </a:rPr>
              <a:t>Infrastructure</a:t>
            </a:r>
          </a:p>
          <a:p>
            <a:pPr marL="12700" marR="5080"/>
            <a:r>
              <a:rPr lang="en-US" sz="1460" kern="0" spc="-80" dirty="0">
                <a:solidFill>
                  <a:schemeClr val="accent6"/>
                </a:solidFill>
              </a:rPr>
              <a:t>Restart pod</a:t>
            </a:r>
          </a:p>
          <a:p>
            <a:pPr marL="12700" marR="5080"/>
            <a:r>
              <a:rPr lang="en-US" sz="1460" kern="0" spc="-80" dirty="0">
                <a:solidFill>
                  <a:schemeClr val="accent6"/>
                </a:solidFill>
              </a:rPr>
              <a:t>Scale deployment</a:t>
            </a:r>
          </a:p>
        </p:txBody>
      </p:sp>
    </p:spTree>
    <p:extLst>
      <p:ext uri="{BB962C8B-B14F-4D97-AF65-F5344CB8AC3E}">
        <p14:creationId xmlns:p14="http://schemas.microsoft.com/office/powerpoint/2010/main" val="1731048469"/>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C96463-5017-A54E-715A-5E565E3CBA99}"/>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B89B5FAD-EF59-450E-FD33-8A6CA268028C}"/>
              </a:ext>
            </a:extLst>
          </p:cNvPr>
          <p:cNvSpPr/>
          <p:nvPr/>
        </p:nvSpPr>
        <p:spPr>
          <a:xfrm>
            <a:off x="1756803" y="648336"/>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9B22B97B-93A5-3F45-39AA-AB6B4317FE52}"/>
              </a:ext>
            </a:extLst>
          </p:cNvPr>
          <p:cNvSpPr/>
          <p:nvPr/>
        </p:nvSpPr>
        <p:spPr>
          <a:xfrm>
            <a:off x="1756803" y="495936"/>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2F91E89C-7510-32BB-22B5-31F8E5ABC2C1}"/>
              </a:ext>
            </a:extLst>
          </p:cNvPr>
          <p:cNvGraphicFramePr/>
          <p:nvPr>
            <p:extLst>
              <p:ext uri="{D42A27DB-BD31-4B8C-83A1-F6EECF244321}">
                <p14:modId xmlns:p14="http://schemas.microsoft.com/office/powerpoint/2010/main" val="2133115668"/>
              </p:ext>
            </p:extLst>
          </p:nvPr>
        </p:nvGraphicFramePr>
        <p:xfrm>
          <a:off x="0" y="34425"/>
          <a:ext cx="9143306" cy="42277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object 2">
            <a:extLst>
              <a:ext uri="{FF2B5EF4-FFF2-40B4-BE49-F238E27FC236}">
                <a16:creationId xmlns:a16="http://schemas.microsoft.com/office/drawing/2014/main" id="{4A9DFDF4-AB54-84A0-FD01-387768229A3D}"/>
              </a:ext>
            </a:extLst>
          </p:cNvPr>
          <p:cNvSpPr txBox="1">
            <a:spLocks/>
          </p:cNvSpPr>
          <p:nvPr/>
        </p:nvSpPr>
        <p:spPr>
          <a:xfrm>
            <a:off x="228600" y="762000"/>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p:txBody>
      </p:sp>
      <p:sp>
        <p:nvSpPr>
          <p:cNvPr id="7" name="object 2">
            <a:extLst>
              <a:ext uri="{FF2B5EF4-FFF2-40B4-BE49-F238E27FC236}">
                <a16:creationId xmlns:a16="http://schemas.microsoft.com/office/drawing/2014/main" id="{32F6DC45-28B7-BAE2-F60E-ACFD342D3BB1}"/>
              </a:ext>
            </a:extLst>
          </p:cNvPr>
          <p:cNvSpPr txBox="1">
            <a:spLocks/>
          </p:cNvSpPr>
          <p:nvPr/>
        </p:nvSpPr>
        <p:spPr>
          <a:xfrm>
            <a:off x="138063" y="5023247"/>
            <a:ext cx="8624937" cy="246221"/>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600" kern="0" spc="-80" dirty="0">
                <a:solidFill>
                  <a:schemeClr val="accent2"/>
                </a:solidFill>
              </a:rPr>
              <a:t>  </a:t>
            </a:r>
          </a:p>
        </p:txBody>
      </p:sp>
      <p:sp>
        <p:nvSpPr>
          <p:cNvPr id="12" name="object 2">
            <a:extLst>
              <a:ext uri="{FF2B5EF4-FFF2-40B4-BE49-F238E27FC236}">
                <a16:creationId xmlns:a16="http://schemas.microsoft.com/office/drawing/2014/main" id="{DA56547B-F5DF-2F86-4DD2-A14C3209556C}"/>
              </a:ext>
            </a:extLst>
          </p:cNvPr>
          <p:cNvSpPr txBox="1">
            <a:spLocks/>
          </p:cNvSpPr>
          <p:nvPr/>
        </p:nvSpPr>
        <p:spPr>
          <a:xfrm>
            <a:off x="0" y="865561"/>
            <a:ext cx="8915399" cy="4942892"/>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460" kern="0" spc="-80" dirty="0">
                <a:solidFill>
                  <a:schemeClr val="accent2"/>
                </a:solidFill>
              </a:rPr>
              <a:t>4️⃣ Ticketing / Incident Management</a:t>
            </a:r>
          </a:p>
          <a:p>
            <a:pPr marL="12700" marR="5080"/>
            <a:r>
              <a:rPr lang="en-US" sz="1460" kern="0" spc="-80" dirty="0">
                <a:solidFill>
                  <a:schemeClr val="accent2"/>
                </a:solidFill>
              </a:rPr>
              <a:t>Ticket enriched with:</a:t>
            </a:r>
          </a:p>
          <a:p>
            <a:pPr marL="12700" marR="5080"/>
            <a:r>
              <a:rPr lang="en-US" sz="1460" kern="0" spc="-80" dirty="0">
                <a:solidFill>
                  <a:schemeClr val="accent6"/>
                </a:solidFill>
              </a:rPr>
              <a:t>Root cause</a:t>
            </a:r>
          </a:p>
          <a:p>
            <a:pPr marL="12700" marR="5080"/>
            <a:r>
              <a:rPr lang="en-US" sz="1460" kern="0" spc="-80" dirty="0">
                <a:solidFill>
                  <a:schemeClr val="accent6"/>
                </a:solidFill>
              </a:rPr>
              <a:t>Affected services</a:t>
            </a:r>
          </a:p>
          <a:p>
            <a:pPr marL="12700" marR="5080"/>
            <a:r>
              <a:rPr lang="en-US" sz="1460" kern="0" spc="-80" dirty="0">
                <a:solidFill>
                  <a:schemeClr val="accent6"/>
                </a:solidFill>
              </a:rPr>
              <a:t>Suggested remediation</a:t>
            </a:r>
          </a:p>
          <a:p>
            <a:pPr marL="12700" marR="5080"/>
            <a:r>
              <a:rPr lang="en-US" sz="1460" kern="0" spc="-80" dirty="0">
                <a:solidFill>
                  <a:schemeClr val="accent6"/>
                </a:solidFill>
              </a:rPr>
              <a:t>Severity assigned</a:t>
            </a:r>
          </a:p>
          <a:p>
            <a:pPr marL="12700" marR="5080"/>
            <a:r>
              <a:rPr lang="en-US" sz="1460" kern="0" spc="-80" dirty="0">
                <a:solidFill>
                  <a:schemeClr val="accent6"/>
                </a:solidFill>
              </a:rPr>
              <a:t>Either:</a:t>
            </a:r>
          </a:p>
          <a:p>
            <a:pPr marL="12700" marR="5080"/>
            <a:r>
              <a:rPr lang="en-US" sz="1460" kern="0" spc="-80" dirty="0">
                <a:solidFill>
                  <a:schemeClr val="accent6"/>
                </a:solidFill>
              </a:rPr>
              <a:t>Routed to humans</a:t>
            </a:r>
          </a:p>
          <a:p>
            <a:pPr marL="12700" marR="5080"/>
            <a:r>
              <a:rPr lang="en-US" sz="1460" kern="0" spc="-80" dirty="0">
                <a:solidFill>
                  <a:schemeClr val="accent6"/>
                </a:solidFill>
              </a:rPr>
              <a:t>OR sent directly to automation</a:t>
            </a:r>
          </a:p>
          <a:p>
            <a:pPr marL="12700" marR="5080"/>
            <a:r>
              <a:rPr lang="en-US" sz="1460" kern="0" spc="-80" dirty="0">
                <a:solidFill>
                  <a:schemeClr val="accent6"/>
                </a:solidFill>
              </a:rPr>
              <a:t>Modern systems aim for zero-touch incidents.</a:t>
            </a:r>
          </a:p>
          <a:p>
            <a:pPr marL="12700" marR="5080"/>
            <a:endParaRPr lang="en-US" sz="1460" kern="0" spc="-80" dirty="0">
              <a:solidFill>
                <a:schemeClr val="accent6"/>
              </a:solidFill>
            </a:endParaRPr>
          </a:p>
          <a:p>
            <a:pPr marL="12700" marR="5080"/>
            <a:r>
              <a:rPr lang="en-US" sz="1460" kern="0" spc="-80" dirty="0">
                <a:solidFill>
                  <a:schemeClr val="accent2"/>
                </a:solidFill>
              </a:rPr>
              <a:t>5️⃣ Automated Remediation (Execution Layer)</a:t>
            </a:r>
          </a:p>
          <a:p>
            <a:pPr marL="12700" marR="5080"/>
            <a:r>
              <a:rPr lang="en-US" sz="1460" kern="0" spc="-80" dirty="0">
                <a:solidFill>
                  <a:schemeClr val="accent6"/>
                </a:solidFill>
              </a:rPr>
              <a:t>Goal: fix problems without humans</a:t>
            </a:r>
          </a:p>
          <a:p>
            <a:pPr marL="12700" marR="5080"/>
            <a:r>
              <a:rPr lang="en-US" sz="1460" kern="0" spc="-80" dirty="0">
                <a:solidFill>
                  <a:schemeClr val="accent6"/>
                </a:solidFill>
              </a:rPr>
              <a:t>This is where runbooks execute.</a:t>
            </a:r>
          </a:p>
          <a:p>
            <a:pPr marL="12700" marR="5080"/>
            <a:r>
              <a:rPr lang="en-US" sz="1460" kern="0" spc="-80" dirty="0">
                <a:solidFill>
                  <a:schemeClr val="accent6"/>
                </a:solidFill>
              </a:rPr>
              <a:t>Automation Engines</a:t>
            </a:r>
          </a:p>
          <a:p>
            <a:pPr marL="12700" marR="5080"/>
            <a:r>
              <a:rPr lang="en-US" sz="1460" kern="0" spc="-80" dirty="0" err="1">
                <a:solidFill>
                  <a:schemeClr val="accent6"/>
                </a:solidFill>
              </a:rPr>
              <a:t>StackStorm</a:t>
            </a:r>
            <a:endParaRPr lang="en-US" sz="1460" kern="0" spc="-80" dirty="0">
              <a:solidFill>
                <a:schemeClr val="accent6"/>
              </a:solidFill>
            </a:endParaRPr>
          </a:p>
          <a:p>
            <a:pPr marL="12700" marR="5080"/>
            <a:r>
              <a:rPr lang="en-US" sz="1460" kern="0" spc="-80" dirty="0" err="1">
                <a:solidFill>
                  <a:schemeClr val="accent6"/>
                </a:solidFill>
              </a:rPr>
              <a:t>Rundeck</a:t>
            </a:r>
            <a:endParaRPr lang="en-US" sz="1460" kern="0" spc="-80" dirty="0">
              <a:solidFill>
                <a:schemeClr val="accent6"/>
              </a:solidFill>
            </a:endParaRPr>
          </a:p>
          <a:p>
            <a:pPr marL="12700" marR="5080"/>
            <a:r>
              <a:rPr lang="en-US" sz="1460" kern="0" spc="-80" dirty="0">
                <a:solidFill>
                  <a:schemeClr val="accent6"/>
                </a:solidFill>
              </a:rPr>
              <a:t>Ansible</a:t>
            </a:r>
          </a:p>
          <a:p>
            <a:pPr marL="12700" marR="5080"/>
            <a:r>
              <a:rPr lang="en-US" sz="1460" kern="0" spc="-80" dirty="0">
                <a:solidFill>
                  <a:schemeClr val="accent6"/>
                </a:solidFill>
              </a:rPr>
              <a:t>Typical Runbook Actions</a:t>
            </a:r>
          </a:p>
          <a:p>
            <a:pPr marL="12700" marR="5080"/>
            <a:r>
              <a:rPr lang="en-US" sz="1460" kern="0" spc="-80" dirty="0">
                <a:solidFill>
                  <a:schemeClr val="accent6"/>
                </a:solidFill>
              </a:rPr>
              <a:t>Infrastructure</a:t>
            </a:r>
          </a:p>
          <a:p>
            <a:pPr marL="12700" marR="5080"/>
            <a:r>
              <a:rPr lang="en-US" sz="1460" kern="0" spc="-80" dirty="0">
                <a:solidFill>
                  <a:schemeClr val="accent6"/>
                </a:solidFill>
              </a:rPr>
              <a:t>Restart pod</a:t>
            </a:r>
          </a:p>
          <a:p>
            <a:pPr marL="12700" marR="5080"/>
            <a:r>
              <a:rPr lang="en-US" sz="1460" kern="0" spc="-80" dirty="0">
                <a:solidFill>
                  <a:schemeClr val="accent6"/>
                </a:solidFill>
              </a:rPr>
              <a:t>Scale deployment</a:t>
            </a:r>
          </a:p>
        </p:txBody>
      </p:sp>
    </p:spTree>
    <p:extLst>
      <p:ext uri="{BB962C8B-B14F-4D97-AF65-F5344CB8AC3E}">
        <p14:creationId xmlns:p14="http://schemas.microsoft.com/office/powerpoint/2010/main" val="3197114048"/>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0F103A-DB13-CFB9-C24B-EC8F44B1C877}"/>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8F6EE3E6-6B95-683B-2322-6C68DE018F25}"/>
              </a:ext>
            </a:extLst>
          </p:cNvPr>
          <p:cNvSpPr/>
          <p:nvPr/>
        </p:nvSpPr>
        <p:spPr>
          <a:xfrm>
            <a:off x="1756803" y="648336"/>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7F7321C2-42CB-1834-CE5F-89F0635DB0A3}"/>
              </a:ext>
            </a:extLst>
          </p:cNvPr>
          <p:cNvSpPr/>
          <p:nvPr/>
        </p:nvSpPr>
        <p:spPr>
          <a:xfrm>
            <a:off x="1756803" y="495936"/>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023DF6D0-ACD6-5745-CF88-4090A8D5ED92}"/>
              </a:ext>
            </a:extLst>
          </p:cNvPr>
          <p:cNvGraphicFramePr/>
          <p:nvPr>
            <p:extLst>
              <p:ext uri="{D42A27DB-BD31-4B8C-83A1-F6EECF244321}">
                <p14:modId xmlns:p14="http://schemas.microsoft.com/office/powerpoint/2010/main" val="4003440149"/>
              </p:ext>
            </p:extLst>
          </p:nvPr>
        </p:nvGraphicFramePr>
        <p:xfrm>
          <a:off x="0" y="34425"/>
          <a:ext cx="9143306" cy="42277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object 2">
            <a:extLst>
              <a:ext uri="{FF2B5EF4-FFF2-40B4-BE49-F238E27FC236}">
                <a16:creationId xmlns:a16="http://schemas.microsoft.com/office/drawing/2014/main" id="{9E89AAB3-2FF9-6E23-633A-7298C15D4DA9}"/>
              </a:ext>
            </a:extLst>
          </p:cNvPr>
          <p:cNvSpPr txBox="1">
            <a:spLocks/>
          </p:cNvSpPr>
          <p:nvPr/>
        </p:nvSpPr>
        <p:spPr>
          <a:xfrm>
            <a:off x="228600" y="762000"/>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p:txBody>
      </p:sp>
      <p:sp>
        <p:nvSpPr>
          <p:cNvPr id="7" name="object 2">
            <a:extLst>
              <a:ext uri="{FF2B5EF4-FFF2-40B4-BE49-F238E27FC236}">
                <a16:creationId xmlns:a16="http://schemas.microsoft.com/office/drawing/2014/main" id="{014A7438-2FBD-F47B-5BAC-904B7BB4EFAE}"/>
              </a:ext>
            </a:extLst>
          </p:cNvPr>
          <p:cNvSpPr txBox="1">
            <a:spLocks/>
          </p:cNvSpPr>
          <p:nvPr/>
        </p:nvSpPr>
        <p:spPr>
          <a:xfrm>
            <a:off x="138063" y="5023247"/>
            <a:ext cx="8624937" cy="246221"/>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600" kern="0" spc="-80" dirty="0">
                <a:solidFill>
                  <a:schemeClr val="accent2"/>
                </a:solidFill>
              </a:rPr>
              <a:t>  </a:t>
            </a:r>
          </a:p>
        </p:txBody>
      </p:sp>
      <p:sp>
        <p:nvSpPr>
          <p:cNvPr id="12" name="object 2">
            <a:extLst>
              <a:ext uri="{FF2B5EF4-FFF2-40B4-BE49-F238E27FC236}">
                <a16:creationId xmlns:a16="http://schemas.microsoft.com/office/drawing/2014/main" id="{FBF867DE-3CAA-37CE-6B8E-237F66528A5D}"/>
              </a:ext>
            </a:extLst>
          </p:cNvPr>
          <p:cNvSpPr txBox="1">
            <a:spLocks/>
          </p:cNvSpPr>
          <p:nvPr/>
        </p:nvSpPr>
        <p:spPr>
          <a:xfrm>
            <a:off x="-7862" y="795656"/>
            <a:ext cx="8915399" cy="4942892"/>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460" kern="0" spc="-80" dirty="0">
                <a:solidFill>
                  <a:schemeClr val="accent2"/>
                </a:solidFill>
              </a:rPr>
              <a:t>5️⃣ Automated Remediation (Execution Layer)</a:t>
            </a:r>
          </a:p>
          <a:p>
            <a:pPr marL="12700" marR="5080"/>
            <a:r>
              <a:rPr lang="en-US" sz="1460" kern="0" spc="-80" dirty="0">
                <a:solidFill>
                  <a:schemeClr val="accent6"/>
                </a:solidFill>
              </a:rPr>
              <a:t>Replace VM</a:t>
            </a:r>
          </a:p>
          <a:p>
            <a:pPr marL="12700" marR="5080"/>
            <a:r>
              <a:rPr lang="en-US" sz="1460" kern="0" spc="-80" dirty="0">
                <a:solidFill>
                  <a:schemeClr val="accent6"/>
                </a:solidFill>
              </a:rPr>
              <a:t>Application</a:t>
            </a:r>
          </a:p>
          <a:p>
            <a:pPr marL="12700" marR="5080"/>
            <a:r>
              <a:rPr lang="en-US" sz="1460" kern="0" spc="-80" dirty="0">
                <a:solidFill>
                  <a:schemeClr val="accent6"/>
                </a:solidFill>
              </a:rPr>
              <a:t>Clear cache</a:t>
            </a:r>
          </a:p>
          <a:p>
            <a:pPr marL="12700" marR="5080"/>
            <a:r>
              <a:rPr lang="en-US" sz="1460" kern="0" spc="-80" dirty="0">
                <a:solidFill>
                  <a:schemeClr val="accent6"/>
                </a:solidFill>
              </a:rPr>
              <a:t>Roll back release</a:t>
            </a:r>
          </a:p>
          <a:p>
            <a:pPr marL="12700" marR="5080"/>
            <a:r>
              <a:rPr lang="en-US" sz="1460" kern="0" spc="-80" dirty="0">
                <a:solidFill>
                  <a:schemeClr val="accent6"/>
                </a:solidFill>
              </a:rPr>
              <a:t>Restart service</a:t>
            </a:r>
          </a:p>
          <a:p>
            <a:pPr marL="12700" marR="5080"/>
            <a:r>
              <a:rPr lang="en-US" sz="1460" kern="0" spc="-80" dirty="0">
                <a:solidFill>
                  <a:schemeClr val="accent6"/>
                </a:solidFill>
              </a:rPr>
              <a:t>Network</a:t>
            </a:r>
          </a:p>
          <a:p>
            <a:pPr marL="12700" marR="5080"/>
            <a:r>
              <a:rPr lang="en-US" sz="1460" kern="0" spc="-80" dirty="0">
                <a:solidFill>
                  <a:schemeClr val="accent6"/>
                </a:solidFill>
              </a:rPr>
              <a:t>Reconfigure load balancer</a:t>
            </a:r>
          </a:p>
          <a:p>
            <a:pPr marL="12700" marR="5080"/>
            <a:r>
              <a:rPr lang="en-US" sz="1460" kern="0" spc="-80" dirty="0">
                <a:solidFill>
                  <a:schemeClr val="accent6"/>
                </a:solidFill>
              </a:rPr>
              <a:t>Failover region</a:t>
            </a:r>
          </a:p>
          <a:p>
            <a:pPr marL="12700" marR="5080"/>
            <a:r>
              <a:rPr lang="en-US" sz="1460" kern="0" spc="-80" dirty="0">
                <a:solidFill>
                  <a:schemeClr val="accent2"/>
                </a:solidFill>
              </a:rPr>
              <a:t>Example:</a:t>
            </a:r>
          </a:p>
          <a:p>
            <a:pPr marL="12700" marR="5080"/>
            <a:r>
              <a:rPr lang="en-US" sz="1460" kern="0" spc="-80" dirty="0">
                <a:solidFill>
                  <a:schemeClr val="accent6"/>
                </a:solidFill>
              </a:rPr>
              <a:t>IF CPU anomaly + pod crash</a:t>
            </a:r>
          </a:p>
          <a:p>
            <a:pPr marL="12700" marR="5080"/>
            <a:r>
              <a:rPr lang="en-US" sz="1460" kern="0" spc="-80" dirty="0">
                <a:solidFill>
                  <a:schemeClr val="accent6"/>
                </a:solidFill>
              </a:rPr>
              <a:t>THEN </a:t>
            </a:r>
            <a:r>
              <a:rPr lang="en-US" sz="1460" kern="0" spc="-80" dirty="0" err="1">
                <a:solidFill>
                  <a:schemeClr val="accent6"/>
                </a:solidFill>
              </a:rPr>
              <a:t>kubectl</a:t>
            </a:r>
            <a:r>
              <a:rPr lang="en-US" sz="1460" kern="0" spc="-80" dirty="0">
                <a:solidFill>
                  <a:schemeClr val="accent6"/>
                </a:solidFill>
              </a:rPr>
              <a:t> rollout restart</a:t>
            </a:r>
          </a:p>
          <a:p>
            <a:pPr marL="12700" marR="5080"/>
            <a:r>
              <a:rPr lang="en-US" sz="1460" kern="0" spc="-80" dirty="0">
                <a:solidFill>
                  <a:schemeClr val="accent6"/>
                </a:solidFill>
              </a:rPr>
              <a:t>These runbooks are:</a:t>
            </a:r>
          </a:p>
          <a:p>
            <a:pPr marL="12700" marR="5080"/>
            <a:r>
              <a:rPr lang="en-US" sz="1460" kern="0" spc="-80" dirty="0">
                <a:solidFill>
                  <a:schemeClr val="accent6"/>
                </a:solidFill>
              </a:rPr>
              <a:t>YAML / Python / Shell</a:t>
            </a:r>
          </a:p>
          <a:p>
            <a:pPr marL="12700" marR="5080"/>
            <a:r>
              <a:rPr lang="en-US" sz="1460" kern="0" spc="-80" dirty="0">
                <a:solidFill>
                  <a:schemeClr val="accent6"/>
                </a:solidFill>
              </a:rPr>
              <a:t>Version controlled</a:t>
            </a:r>
          </a:p>
          <a:p>
            <a:pPr marL="12700" marR="5080"/>
            <a:r>
              <a:rPr lang="en-US" sz="1460" kern="0" spc="-80" dirty="0">
                <a:solidFill>
                  <a:schemeClr val="accent6"/>
                </a:solidFill>
              </a:rPr>
              <a:t>Tested</a:t>
            </a:r>
          </a:p>
          <a:p>
            <a:pPr marL="12700" marR="5080"/>
            <a:r>
              <a:rPr lang="en-US" sz="1460" kern="0" spc="-80" dirty="0">
                <a:solidFill>
                  <a:schemeClr val="accent6"/>
                </a:solidFill>
              </a:rPr>
              <a:t>Idempotent</a:t>
            </a:r>
          </a:p>
          <a:p>
            <a:pPr marL="12700" marR="5080"/>
            <a:endParaRPr lang="en-US" sz="1460" kern="0" spc="-80" dirty="0">
              <a:solidFill>
                <a:schemeClr val="accent6"/>
              </a:solidFill>
            </a:endParaRPr>
          </a:p>
          <a:p>
            <a:pPr marL="12700" marR="5080"/>
            <a:endParaRPr lang="en-US" sz="1460" kern="0" spc="-80" dirty="0">
              <a:solidFill>
                <a:schemeClr val="accent6"/>
              </a:solidFill>
            </a:endParaRPr>
          </a:p>
          <a:p>
            <a:pPr marL="12700" marR="5080"/>
            <a:endParaRPr lang="en-US" sz="1460" kern="0" spc="-80" dirty="0">
              <a:solidFill>
                <a:schemeClr val="accent6"/>
              </a:solidFill>
            </a:endParaRPr>
          </a:p>
          <a:p>
            <a:pPr marL="12700" marR="5080"/>
            <a:endParaRPr lang="en-US" sz="1460" kern="0" spc="-80" dirty="0">
              <a:solidFill>
                <a:schemeClr val="accent6"/>
              </a:solidFill>
            </a:endParaRPr>
          </a:p>
          <a:p>
            <a:pPr marL="12700" marR="5080"/>
            <a:endParaRPr lang="en-US" sz="1460" kern="0" spc="-80" dirty="0">
              <a:solidFill>
                <a:schemeClr val="accent6"/>
              </a:solidFill>
            </a:endParaRPr>
          </a:p>
        </p:txBody>
      </p:sp>
    </p:spTree>
    <p:extLst>
      <p:ext uri="{BB962C8B-B14F-4D97-AF65-F5344CB8AC3E}">
        <p14:creationId xmlns:p14="http://schemas.microsoft.com/office/powerpoint/2010/main" val="2087118647"/>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D316AE-4FF3-B624-C7C2-7B192D48F33A}"/>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B3D8D9AC-10E6-2167-4E75-48A3331E4090}"/>
              </a:ext>
            </a:extLst>
          </p:cNvPr>
          <p:cNvSpPr/>
          <p:nvPr/>
        </p:nvSpPr>
        <p:spPr>
          <a:xfrm>
            <a:off x="1756803" y="648336"/>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BF22C8C7-7731-639D-A3F8-776DCEAAEDD8}"/>
              </a:ext>
            </a:extLst>
          </p:cNvPr>
          <p:cNvSpPr/>
          <p:nvPr/>
        </p:nvSpPr>
        <p:spPr>
          <a:xfrm>
            <a:off x="1756803" y="495936"/>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B1808332-3574-AF5F-A016-6CE11AEF4079}"/>
              </a:ext>
            </a:extLst>
          </p:cNvPr>
          <p:cNvGraphicFramePr/>
          <p:nvPr>
            <p:extLst>
              <p:ext uri="{D42A27DB-BD31-4B8C-83A1-F6EECF244321}">
                <p14:modId xmlns:p14="http://schemas.microsoft.com/office/powerpoint/2010/main" val="221917985"/>
              </p:ext>
            </p:extLst>
          </p:nvPr>
        </p:nvGraphicFramePr>
        <p:xfrm>
          <a:off x="0" y="34425"/>
          <a:ext cx="9143306" cy="42277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object 2">
            <a:extLst>
              <a:ext uri="{FF2B5EF4-FFF2-40B4-BE49-F238E27FC236}">
                <a16:creationId xmlns:a16="http://schemas.microsoft.com/office/drawing/2014/main" id="{B1C6B08F-0B51-AA9E-4F8F-168DFE2B3AF5}"/>
              </a:ext>
            </a:extLst>
          </p:cNvPr>
          <p:cNvSpPr txBox="1">
            <a:spLocks/>
          </p:cNvSpPr>
          <p:nvPr/>
        </p:nvSpPr>
        <p:spPr>
          <a:xfrm>
            <a:off x="228600" y="762000"/>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p:txBody>
      </p:sp>
      <p:sp>
        <p:nvSpPr>
          <p:cNvPr id="7" name="object 2">
            <a:extLst>
              <a:ext uri="{FF2B5EF4-FFF2-40B4-BE49-F238E27FC236}">
                <a16:creationId xmlns:a16="http://schemas.microsoft.com/office/drawing/2014/main" id="{AB8AD7A7-F047-F3ED-2952-925E893ED83B}"/>
              </a:ext>
            </a:extLst>
          </p:cNvPr>
          <p:cNvSpPr txBox="1">
            <a:spLocks/>
          </p:cNvSpPr>
          <p:nvPr/>
        </p:nvSpPr>
        <p:spPr>
          <a:xfrm>
            <a:off x="138063" y="5023247"/>
            <a:ext cx="8624937" cy="246221"/>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600" kern="0" spc="-80" dirty="0">
                <a:solidFill>
                  <a:schemeClr val="accent2"/>
                </a:solidFill>
              </a:rPr>
              <a:t>  </a:t>
            </a:r>
          </a:p>
        </p:txBody>
      </p:sp>
      <p:sp>
        <p:nvSpPr>
          <p:cNvPr id="12" name="object 2">
            <a:extLst>
              <a:ext uri="{FF2B5EF4-FFF2-40B4-BE49-F238E27FC236}">
                <a16:creationId xmlns:a16="http://schemas.microsoft.com/office/drawing/2014/main" id="{BDE3B789-A62F-EC8E-42A3-39F98C13D665}"/>
              </a:ext>
            </a:extLst>
          </p:cNvPr>
          <p:cNvSpPr txBox="1">
            <a:spLocks/>
          </p:cNvSpPr>
          <p:nvPr/>
        </p:nvSpPr>
        <p:spPr>
          <a:xfrm>
            <a:off x="-7862" y="795656"/>
            <a:ext cx="8915399" cy="5167568"/>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460" kern="0" spc="-80" dirty="0">
                <a:solidFill>
                  <a:schemeClr val="accent2"/>
                </a:solidFill>
              </a:rPr>
              <a:t>6️⃣ Feedback Loop (Learning System)</a:t>
            </a:r>
          </a:p>
          <a:p>
            <a:pPr marL="12700" marR="5080"/>
            <a:r>
              <a:rPr lang="en-US" sz="1460" kern="0" spc="-80" dirty="0">
                <a:solidFill>
                  <a:schemeClr val="accent2"/>
                </a:solidFill>
              </a:rPr>
              <a:t>After remediation:</a:t>
            </a:r>
          </a:p>
          <a:p>
            <a:pPr marL="12700" marR="5080"/>
            <a:r>
              <a:rPr lang="en-US" sz="1460" kern="0" spc="-80" dirty="0">
                <a:solidFill>
                  <a:schemeClr val="accent6"/>
                </a:solidFill>
              </a:rPr>
              <a:t>Observability verifies recovery</a:t>
            </a:r>
          </a:p>
          <a:p>
            <a:pPr marL="12700" marR="5080"/>
            <a:r>
              <a:rPr lang="en-US" sz="1460" kern="0" spc="-80" dirty="0">
                <a:solidFill>
                  <a:schemeClr val="accent6"/>
                </a:solidFill>
              </a:rPr>
              <a:t>AIOps learns outcome</a:t>
            </a:r>
          </a:p>
          <a:p>
            <a:pPr marL="12700" marR="5080"/>
            <a:r>
              <a:rPr lang="en-US" sz="1460" kern="0" spc="-80" dirty="0">
                <a:solidFill>
                  <a:schemeClr val="accent6"/>
                </a:solidFill>
              </a:rPr>
              <a:t>Runbook confidence increases</a:t>
            </a:r>
          </a:p>
          <a:p>
            <a:pPr marL="12700" marR="5080"/>
            <a:r>
              <a:rPr lang="en-US" sz="1460" kern="0" spc="-80" dirty="0">
                <a:solidFill>
                  <a:schemeClr val="accent6"/>
                </a:solidFill>
              </a:rPr>
              <a:t>Future incidents auto-resolved faster</a:t>
            </a:r>
          </a:p>
          <a:p>
            <a:pPr marL="12700" marR="5080"/>
            <a:r>
              <a:rPr lang="en-US" sz="1460" kern="0" spc="-80" dirty="0">
                <a:solidFill>
                  <a:schemeClr val="accent2"/>
                </a:solidFill>
              </a:rPr>
              <a:t>This creates a self-healing system.</a:t>
            </a:r>
          </a:p>
          <a:p>
            <a:pPr marL="12700" marR="5080"/>
            <a:r>
              <a:rPr lang="en-US" sz="1460" kern="0" spc="-80" dirty="0">
                <a:solidFill>
                  <a:schemeClr val="accent6"/>
                </a:solidFill>
              </a:rPr>
              <a:t>🧬 Putting It All Together (Flow)</a:t>
            </a:r>
          </a:p>
          <a:p>
            <a:pPr marL="12700" marR="5080"/>
            <a:r>
              <a:rPr lang="en-US" sz="1460" kern="0" spc="-80" dirty="0">
                <a:solidFill>
                  <a:schemeClr val="accent6"/>
                </a:solidFill>
              </a:rPr>
              <a:t>Metrics/Logs/Traces</a:t>
            </a:r>
          </a:p>
          <a:p>
            <a:pPr marL="12700" marR="5080"/>
            <a:r>
              <a:rPr lang="en-US" sz="1460" kern="0" spc="-80" dirty="0">
                <a:solidFill>
                  <a:schemeClr val="accent6"/>
                </a:solidFill>
              </a:rPr>
              <a:t>        ↓</a:t>
            </a:r>
          </a:p>
          <a:p>
            <a:pPr marL="12700" marR="5080"/>
            <a:r>
              <a:rPr lang="en-US" sz="1460" kern="0" spc="-80" dirty="0">
                <a:solidFill>
                  <a:schemeClr val="accent6"/>
                </a:solidFill>
              </a:rPr>
              <a:t>Observability Platforms</a:t>
            </a:r>
          </a:p>
          <a:p>
            <a:pPr marL="12700" marR="5080"/>
            <a:r>
              <a:rPr lang="en-US" sz="1460" kern="0" spc="-80" dirty="0">
                <a:solidFill>
                  <a:schemeClr val="accent6"/>
                </a:solidFill>
              </a:rPr>
              <a:t>        ↓</a:t>
            </a:r>
          </a:p>
          <a:p>
            <a:pPr marL="12700" marR="5080"/>
            <a:r>
              <a:rPr lang="en-US" sz="1460" kern="0" spc="-80" dirty="0">
                <a:solidFill>
                  <a:schemeClr val="accent6"/>
                </a:solidFill>
              </a:rPr>
              <a:t>AIOps Correlation + RCA</a:t>
            </a:r>
          </a:p>
          <a:p>
            <a:pPr marL="12700" marR="5080"/>
            <a:r>
              <a:rPr lang="en-US" sz="1460" kern="0" spc="-80" dirty="0">
                <a:solidFill>
                  <a:schemeClr val="accent6"/>
                </a:solidFill>
              </a:rPr>
              <a:t>        ↓</a:t>
            </a:r>
          </a:p>
          <a:p>
            <a:pPr marL="12700" marR="5080"/>
            <a:r>
              <a:rPr lang="en-US" sz="1460" kern="0" spc="-80" dirty="0">
                <a:solidFill>
                  <a:schemeClr val="accent6"/>
                </a:solidFill>
              </a:rPr>
              <a:t>ServiceNow / Jira / PagerDuty</a:t>
            </a:r>
          </a:p>
          <a:p>
            <a:pPr marL="12700" marR="5080"/>
            <a:r>
              <a:rPr lang="en-US" sz="1460" kern="0" spc="-80" dirty="0">
                <a:solidFill>
                  <a:schemeClr val="accent6"/>
                </a:solidFill>
              </a:rPr>
              <a:t>        ↓</a:t>
            </a:r>
          </a:p>
          <a:p>
            <a:pPr marL="12700" marR="5080"/>
            <a:r>
              <a:rPr lang="en-US" sz="1460" kern="0" spc="-80" dirty="0">
                <a:solidFill>
                  <a:schemeClr val="accent6"/>
                </a:solidFill>
              </a:rPr>
              <a:t>Automation Engine</a:t>
            </a:r>
          </a:p>
          <a:p>
            <a:pPr marL="12700" marR="5080"/>
            <a:r>
              <a:rPr lang="en-US" sz="1460" kern="0" spc="-80" dirty="0">
                <a:solidFill>
                  <a:schemeClr val="accent6"/>
                </a:solidFill>
              </a:rPr>
              <a:t>        ↓</a:t>
            </a:r>
          </a:p>
          <a:p>
            <a:pPr marL="12700" marR="5080"/>
            <a:r>
              <a:rPr lang="en-US" sz="1460" kern="0" spc="-80" dirty="0">
                <a:solidFill>
                  <a:schemeClr val="accent6"/>
                </a:solidFill>
              </a:rPr>
              <a:t>Runbooks (Ansible / </a:t>
            </a:r>
            <a:r>
              <a:rPr lang="en-US" sz="1460" kern="0" spc="-80" dirty="0" err="1">
                <a:solidFill>
                  <a:schemeClr val="accent6"/>
                </a:solidFill>
              </a:rPr>
              <a:t>Rundeck</a:t>
            </a:r>
            <a:r>
              <a:rPr lang="en-US" sz="1460" kern="0" spc="-80" dirty="0">
                <a:solidFill>
                  <a:schemeClr val="accent6"/>
                </a:solidFill>
              </a:rPr>
              <a:t> / </a:t>
            </a:r>
            <a:r>
              <a:rPr lang="en-US" sz="1460" kern="0" spc="-80" dirty="0" err="1">
                <a:solidFill>
                  <a:schemeClr val="accent6"/>
                </a:solidFill>
              </a:rPr>
              <a:t>StackStorm</a:t>
            </a:r>
            <a:r>
              <a:rPr lang="en-US" sz="1460" kern="0" spc="-80" dirty="0">
                <a:solidFill>
                  <a:schemeClr val="accent6"/>
                </a:solidFill>
              </a:rPr>
              <a:t>)</a:t>
            </a:r>
          </a:p>
          <a:p>
            <a:pPr marL="12700" marR="5080"/>
            <a:r>
              <a:rPr lang="en-US" sz="1460" kern="0" spc="-80" dirty="0">
                <a:solidFill>
                  <a:schemeClr val="accent6"/>
                </a:solidFill>
              </a:rPr>
              <a:t>        ↓</a:t>
            </a:r>
          </a:p>
          <a:p>
            <a:pPr marL="12700" marR="5080"/>
            <a:r>
              <a:rPr lang="en-US" sz="1460" kern="0" spc="-80" dirty="0">
                <a:solidFill>
                  <a:schemeClr val="accent6"/>
                </a:solidFill>
              </a:rPr>
              <a:t>System Fixed</a:t>
            </a:r>
          </a:p>
          <a:p>
            <a:pPr marL="12700" marR="5080"/>
            <a:r>
              <a:rPr lang="en-US" sz="1460" kern="0" spc="-80" dirty="0">
                <a:solidFill>
                  <a:schemeClr val="accent6"/>
                </a:solidFill>
              </a:rPr>
              <a:t>        ↓</a:t>
            </a:r>
          </a:p>
          <a:p>
            <a:pPr marL="12700" marR="5080"/>
            <a:r>
              <a:rPr lang="en-US" sz="1460" kern="0" spc="-80" dirty="0">
                <a:solidFill>
                  <a:schemeClr val="accent6"/>
                </a:solidFill>
              </a:rPr>
              <a:t>Feedback to AIOps</a:t>
            </a:r>
          </a:p>
        </p:txBody>
      </p:sp>
    </p:spTree>
    <p:extLst>
      <p:ext uri="{BB962C8B-B14F-4D97-AF65-F5344CB8AC3E}">
        <p14:creationId xmlns:p14="http://schemas.microsoft.com/office/powerpoint/2010/main" val="770689752"/>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3D9188-E569-647F-93A5-18E7C71CD8DD}"/>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CE342433-E24C-AF7C-3CAD-30602CC69734}"/>
              </a:ext>
            </a:extLst>
          </p:cNvPr>
          <p:cNvSpPr/>
          <p:nvPr/>
        </p:nvSpPr>
        <p:spPr>
          <a:xfrm>
            <a:off x="1756803" y="648336"/>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F4EC0BE7-182A-839E-8083-5A28F6D84365}"/>
              </a:ext>
            </a:extLst>
          </p:cNvPr>
          <p:cNvSpPr/>
          <p:nvPr/>
        </p:nvSpPr>
        <p:spPr>
          <a:xfrm>
            <a:off x="1756803" y="495936"/>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9955B2B0-AF70-B0E9-FE86-49A49ED3F1D0}"/>
              </a:ext>
            </a:extLst>
          </p:cNvPr>
          <p:cNvGraphicFramePr/>
          <p:nvPr>
            <p:extLst>
              <p:ext uri="{D42A27DB-BD31-4B8C-83A1-F6EECF244321}">
                <p14:modId xmlns:p14="http://schemas.microsoft.com/office/powerpoint/2010/main" val="1900818587"/>
              </p:ext>
            </p:extLst>
          </p:nvPr>
        </p:nvGraphicFramePr>
        <p:xfrm>
          <a:off x="0" y="34425"/>
          <a:ext cx="9143306" cy="42277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object 2">
            <a:extLst>
              <a:ext uri="{FF2B5EF4-FFF2-40B4-BE49-F238E27FC236}">
                <a16:creationId xmlns:a16="http://schemas.microsoft.com/office/drawing/2014/main" id="{7703B84A-9DC2-1F3B-04C5-10A8A7E15082}"/>
              </a:ext>
            </a:extLst>
          </p:cNvPr>
          <p:cNvSpPr txBox="1">
            <a:spLocks/>
          </p:cNvSpPr>
          <p:nvPr/>
        </p:nvSpPr>
        <p:spPr>
          <a:xfrm>
            <a:off x="228600" y="762000"/>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p:txBody>
      </p:sp>
      <p:sp>
        <p:nvSpPr>
          <p:cNvPr id="7" name="object 2">
            <a:extLst>
              <a:ext uri="{FF2B5EF4-FFF2-40B4-BE49-F238E27FC236}">
                <a16:creationId xmlns:a16="http://schemas.microsoft.com/office/drawing/2014/main" id="{C1F26802-4F48-A99A-33DD-566331C6368E}"/>
              </a:ext>
            </a:extLst>
          </p:cNvPr>
          <p:cNvSpPr txBox="1">
            <a:spLocks/>
          </p:cNvSpPr>
          <p:nvPr/>
        </p:nvSpPr>
        <p:spPr>
          <a:xfrm>
            <a:off x="138063" y="5023247"/>
            <a:ext cx="8624937" cy="246221"/>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600" kern="0" spc="-80" dirty="0">
                <a:solidFill>
                  <a:schemeClr val="accent2"/>
                </a:solidFill>
              </a:rPr>
              <a:t>  </a:t>
            </a:r>
          </a:p>
        </p:txBody>
      </p:sp>
      <p:sp>
        <p:nvSpPr>
          <p:cNvPr id="12" name="object 2">
            <a:extLst>
              <a:ext uri="{FF2B5EF4-FFF2-40B4-BE49-F238E27FC236}">
                <a16:creationId xmlns:a16="http://schemas.microsoft.com/office/drawing/2014/main" id="{73BB64F4-C139-F80B-3F1D-7C35214CB3B9}"/>
              </a:ext>
            </a:extLst>
          </p:cNvPr>
          <p:cNvSpPr txBox="1">
            <a:spLocks/>
          </p:cNvSpPr>
          <p:nvPr/>
        </p:nvSpPr>
        <p:spPr>
          <a:xfrm>
            <a:off x="-7862" y="795656"/>
            <a:ext cx="8915399" cy="2471446"/>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460" kern="0" spc="-80" dirty="0">
                <a:solidFill>
                  <a:schemeClr val="accent2"/>
                </a:solidFill>
              </a:rPr>
              <a:t>🏗 Maturity Levels (Real Enterprises)</a:t>
            </a:r>
          </a:p>
          <a:p>
            <a:pPr marL="12700" marR="5080"/>
            <a:r>
              <a:rPr lang="en-US" sz="1460" kern="0" spc="-80" dirty="0">
                <a:solidFill>
                  <a:schemeClr val="accent6"/>
                </a:solidFill>
              </a:rPr>
              <a:t>Level 0 – Manual Ops</a:t>
            </a:r>
          </a:p>
          <a:p>
            <a:pPr marL="12700" marR="5080"/>
            <a:r>
              <a:rPr lang="en-US" sz="1460" kern="0" spc="-80" dirty="0">
                <a:solidFill>
                  <a:schemeClr val="accent6"/>
                </a:solidFill>
              </a:rPr>
              <a:t>Humans respond to alerts</a:t>
            </a:r>
          </a:p>
          <a:p>
            <a:pPr marL="12700" marR="5080"/>
            <a:r>
              <a:rPr lang="en-US" sz="1460" kern="0" spc="-80" dirty="0">
                <a:solidFill>
                  <a:schemeClr val="accent6"/>
                </a:solidFill>
              </a:rPr>
              <a:t>Level 1 – Observability</a:t>
            </a:r>
          </a:p>
          <a:p>
            <a:pPr marL="12700" marR="5080"/>
            <a:r>
              <a:rPr lang="en-US" sz="1460" kern="0" spc="-80" dirty="0">
                <a:solidFill>
                  <a:schemeClr val="accent6"/>
                </a:solidFill>
              </a:rPr>
              <a:t>Dashboards + thresholds</a:t>
            </a:r>
          </a:p>
          <a:p>
            <a:pPr marL="12700" marR="5080"/>
            <a:r>
              <a:rPr lang="en-US" sz="1460" kern="0" spc="-80" dirty="0">
                <a:solidFill>
                  <a:schemeClr val="accent6"/>
                </a:solidFill>
              </a:rPr>
              <a:t>Level 2 – AIOps</a:t>
            </a:r>
          </a:p>
          <a:p>
            <a:pPr marL="12700" marR="5080"/>
            <a:r>
              <a:rPr lang="en-US" sz="1460" kern="0" spc="-80" dirty="0">
                <a:solidFill>
                  <a:schemeClr val="accent6"/>
                </a:solidFill>
              </a:rPr>
              <a:t>Correlation + RCA</a:t>
            </a:r>
          </a:p>
          <a:p>
            <a:pPr marL="12700" marR="5080"/>
            <a:r>
              <a:rPr lang="en-US" sz="1460" kern="0" spc="-80" dirty="0">
                <a:solidFill>
                  <a:schemeClr val="accent6"/>
                </a:solidFill>
              </a:rPr>
              <a:t>Level 3 – Assisted Remediation</a:t>
            </a:r>
          </a:p>
          <a:p>
            <a:pPr marL="12700" marR="5080"/>
            <a:r>
              <a:rPr lang="en-US" sz="1460" kern="0" spc="-80" dirty="0">
                <a:solidFill>
                  <a:schemeClr val="accent6"/>
                </a:solidFill>
              </a:rPr>
              <a:t>AIOps suggests runbooks</a:t>
            </a:r>
          </a:p>
          <a:p>
            <a:pPr marL="12700" marR="5080"/>
            <a:r>
              <a:rPr lang="en-US" sz="1460" kern="0" spc="-80" dirty="0">
                <a:solidFill>
                  <a:schemeClr val="accent6"/>
                </a:solidFill>
              </a:rPr>
              <a:t>Level 4 – Autonomous Ops</a:t>
            </a:r>
          </a:p>
          <a:p>
            <a:pPr marL="12700" marR="5080"/>
            <a:r>
              <a:rPr lang="en-US" sz="1460" kern="0" spc="-80" dirty="0">
                <a:solidFill>
                  <a:schemeClr val="accent6"/>
                </a:solidFill>
              </a:rPr>
              <a:t>Runbooks auto-execute</a:t>
            </a:r>
          </a:p>
        </p:txBody>
      </p:sp>
    </p:spTree>
    <p:extLst>
      <p:ext uri="{BB962C8B-B14F-4D97-AF65-F5344CB8AC3E}">
        <p14:creationId xmlns:p14="http://schemas.microsoft.com/office/powerpoint/2010/main" val="1792954671"/>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p:nvPr/>
        </p:nvSpPr>
        <p:spPr>
          <a:xfrm>
            <a:off x="1756803" y="648336"/>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p:cNvSpPr/>
          <p:nvPr/>
        </p:nvSpPr>
        <p:spPr>
          <a:xfrm>
            <a:off x="1756803" y="495936"/>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226DC635-E9B3-0133-0548-37B556605D82}"/>
              </a:ext>
            </a:extLst>
          </p:cNvPr>
          <p:cNvGraphicFramePr/>
          <p:nvPr>
            <p:extLst>
              <p:ext uri="{D42A27DB-BD31-4B8C-83A1-F6EECF244321}">
                <p14:modId xmlns:p14="http://schemas.microsoft.com/office/powerpoint/2010/main" val="3875236630"/>
              </p:ext>
            </p:extLst>
          </p:nvPr>
        </p:nvGraphicFramePr>
        <p:xfrm>
          <a:off x="0" y="34425"/>
          <a:ext cx="9143306" cy="42277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object 2">
            <a:extLst>
              <a:ext uri="{FF2B5EF4-FFF2-40B4-BE49-F238E27FC236}">
                <a16:creationId xmlns:a16="http://schemas.microsoft.com/office/drawing/2014/main" id="{467B9D11-568F-0B6E-084E-840496724AFC}"/>
              </a:ext>
            </a:extLst>
          </p:cNvPr>
          <p:cNvSpPr txBox="1">
            <a:spLocks/>
          </p:cNvSpPr>
          <p:nvPr/>
        </p:nvSpPr>
        <p:spPr>
          <a:xfrm>
            <a:off x="228600" y="762000"/>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p:txBody>
      </p:sp>
      <p:sp>
        <p:nvSpPr>
          <p:cNvPr id="7" name="object 2">
            <a:extLst>
              <a:ext uri="{FF2B5EF4-FFF2-40B4-BE49-F238E27FC236}">
                <a16:creationId xmlns:a16="http://schemas.microsoft.com/office/drawing/2014/main" id="{D844A7B1-E550-0B17-B5D4-E0FB5CF44D9B}"/>
              </a:ext>
            </a:extLst>
          </p:cNvPr>
          <p:cNvSpPr txBox="1">
            <a:spLocks/>
          </p:cNvSpPr>
          <p:nvPr/>
        </p:nvSpPr>
        <p:spPr>
          <a:xfrm>
            <a:off x="138063" y="5023247"/>
            <a:ext cx="8624937" cy="246221"/>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600" kern="0" spc="-80" dirty="0">
                <a:solidFill>
                  <a:schemeClr val="accent2"/>
                </a:solidFill>
              </a:rPr>
              <a:t>  </a:t>
            </a:r>
          </a:p>
        </p:txBody>
      </p:sp>
      <p:sp>
        <p:nvSpPr>
          <p:cNvPr id="8" name="object 2">
            <a:extLst>
              <a:ext uri="{FF2B5EF4-FFF2-40B4-BE49-F238E27FC236}">
                <a16:creationId xmlns:a16="http://schemas.microsoft.com/office/drawing/2014/main" id="{C40F44C2-D7F6-514B-22C7-E80092B217F2}"/>
              </a:ext>
            </a:extLst>
          </p:cNvPr>
          <p:cNvSpPr txBox="1">
            <a:spLocks/>
          </p:cNvSpPr>
          <p:nvPr/>
        </p:nvSpPr>
        <p:spPr>
          <a:xfrm>
            <a:off x="1" y="685800"/>
            <a:ext cx="8762306" cy="369332"/>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Practices –</a:t>
            </a:r>
          </a:p>
        </p:txBody>
      </p:sp>
      <p:pic>
        <p:nvPicPr>
          <p:cNvPr id="10" name="Picture 9">
            <a:extLst>
              <a:ext uri="{FF2B5EF4-FFF2-40B4-BE49-F238E27FC236}">
                <a16:creationId xmlns:a16="http://schemas.microsoft.com/office/drawing/2014/main" id="{E5CA2525-A8B6-4F6B-DF43-A74AAC695520}"/>
              </a:ext>
            </a:extLst>
          </p:cNvPr>
          <p:cNvPicPr>
            <a:picLocks noChangeAspect="1"/>
          </p:cNvPicPr>
          <p:nvPr/>
        </p:nvPicPr>
        <p:blipFill>
          <a:blip r:embed="rId7"/>
          <a:stretch>
            <a:fillRect/>
          </a:stretch>
        </p:blipFill>
        <p:spPr>
          <a:xfrm>
            <a:off x="76200" y="1027323"/>
            <a:ext cx="9119069" cy="3087984"/>
          </a:xfrm>
          <a:prstGeom prst="rect">
            <a:avLst/>
          </a:prstGeom>
        </p:spPr>
      </p:pic>
      <p:sp>
        <p:nvSpPr>
          <p:cNvPr id="11" name="object 2">
            <a:extLst>
              <a:ext uri="{FF2B5EF4-FFF2-40B4-BE49-F238E27FC236}">
                <a16:creationId xmlns:a16="http://schemas.microsoft.com/office/drawing/2014/main" id="{5FCEDC07-3677-7F46-4031-9FFFB4E16E1B}"/>
              </a:ext>
            </a:extLst>
          </p:cNvPr>
          <p:cNvSpPr txBox="1">
            <a:spLocks/>
          </p:cNvSpPr>
          <p:nvPr/>
        </p:nvSpPr>
        <p:spPr>
          <a:xfrm>
            <a:off x="0" y="3850719"/>
            <a:ext cx="8624937" cy="2092881"/>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500" kern="0" spc="-80" dirty="0">
                <a:solidFill>
                  <a:schemeClr val="accent2"/>
                </a:solidFill>
              </a:rPr>
              <a:t>For Further Exploration </a:t>
            </a:r>
            <a:r>
              <a:rPr lang="en-US" sz="2400" kern="0" spc="-80" dirty="0">
                <a:solidFill>
                  <a:schemeClr val="accent2"/>
                </a:solidFill>
              </a:rPr>
              <a:t>-</a:t>
            </a:r>
          </a:p>
          <a:p>
            <a:pPr marL="12700" marR="5080"/>
            <a:r>
              <a:rPr lang="en-US" sz="1400" dirty="0">
                <a:hlinkClick r:id="rId8"/>
              </a:rPr>
              <a:t>Site Reliability Engineering (SRE) Fundamentals</a:t>
            </a:r>
            <a:endParaRPr lang="en-US" sz="1400" dirty="0"/>
          </a:p>
          <a:p>
            <a:pPr marL="12700" marR="5080"/>
            <a:r>
              <a:rPr lang="en-US" sz="1400" dirty="0">
                <a:hlinkClick r:id="rId9"/>
              </a:rPr>
              <a:t>What is a Runbook? | PagerDuty</a:t>
            </a:r>
            <a:endParaRPr lang="en-US" sz="1400" dirty="0"/>
          </a:p>
          <a:p>
            <a:pPr marL="12700" marR="5080"/>
            <a:r>
              <a:rPr lang="en-IN" sz="1400" dirty="0">
                <a:hlinkClick r:id="rId10"/>
              </a:rPr>
              <a:t>PagerDuty University</a:t>
            </a:r>
            <a:endParaRPr lang="en-IN" sz="1400" dirty="0"/>
          </a:p>
          <a:p>
            <a:pPr marL="12700" marR="5080"/>
            <a:r>
              <a:rPr lang="en-US" sz="1400" dirty="0">
                <a:hlinkClick r:id="rId11"/>
              </a:rPr>
              <a:t>Runbook execution in Azure Automation | Microsoft Learn</a:t>
            </a:r>
            <a:endParaRPr lang="en-US" sz="1400" dirty="0"/>
          </a:p>
          <a:p>
            <a:pPr marL="12700" marR="5080"/>
            <a:r>
              <a:rPr lang="en-IN" sz="1400" dirty="0">
                <a:hlinkClick r:id="rId12"/>
              </a:rPr>
              <a:t>Automation-Runbook-Gallery</a:t>
            </a:r>
            <a:endParaRPr lang="en-IN" sz="1400" dirty="0"/>
          </a:p>
          <a:p>
            <a:pPr marL="12700" marR="5080"/>
            <a:r>
              <a:rPr lang="en-US" sz="1400" dirty="0">
                <a:hlinkClick r:id="rId13"/>
              </a:rPr>
              <a:t>SRE Fundamentals: Mastering Site Reliability Engineering | Udemy</a:t>
            </a:r>
            <a:endParaRPr lang="en-US" sz="1400" dirty="0"/>
          </a:p>
          <a:p>
            <a:pPr marL="12700" marR="5080"/>
            <a:r>
              <a:rPr lang="en-US" sz="1400" dirty="0">
                <a:hlinkClick r:id="rId14"/>
              </a:rPr>
              <a:t>Becoming-a-Rockstar-SRE: Becoming a Rockstar SRE</a:t>
            </a:r>
            <a:endParaRPr lang="en-US" sz="1400" dirty="0"/>
          </a:p>
          <a:p>
            <a:pPr marL="12700" marR="5080"/>
            <a:r>
              <a:rPr lang="en-US" sz="1400" dirty="0">
                <a:hlinkClick r:id="rId15"/>
              </a:rPr>
              <a:t>Real-World-SRE: Real-World SR</a:t>
            </a:r>
            <a:endParaRPr lang="en-US" sz="1400" dirty="0"/>
          </a:p>
        </p:txBody>
      </p:sp>
    </p:spTree>
    <p:extLst>
      <p:ext uri="{BB962C8B-B14F-4D97-AF65-F5344CB8AC3E}">
        <p14:creationId xmlns:p14="http://schemas.microsoft.com/office/powerpoint/2010/main" val="1118427892"/>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p:nvPr/>
        </p:nvSpPr>
        <p:spPr>
          <a:xfrm>
            <a:off x="1756803" y="648336"/>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p:cNvSpPr/>
          <p:nvPr/>
        </p:nvSpPr>
        <p:spPr>
          <a:xfrm>
            <a:off x="1756803" y="495936"/>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226DC635-E9B3-0133-0548-37B556605D82}"/>
              </a:ext>
            </a:extLst>
          </p:cNvPr>
          <p:cNvGraphicFramePr/>
          <p:nvPr>
            <p:extLst>
              <p:ext uri="{D42A27DB-BD31-4B8C-83A1-F6EECF244321}">
                <p14:modId xmlns:p14="http://schemas.microsoft.com/office/powerpoint/2010/main" val="1844612792"/>
              </p:ext>
            </p:extLst>
          </p:nvPr>
        </p:nvGraphicFramePr>
        <p:xfrm>
          <a:off x="76201" y="34425"/>
          <a:ext cx="8929735" cy="42277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object 2">
            <a:extLst>
              <a:ext uri="{FF2B5EF4-FFF2-40B4-BE49-F238E27FC236}">
                <a16:creationId xmlns:a16="http://schemas.microsoft.com/office/drawing/2014/main" id="{467B9D11-568F-0B6E-084E-840496724AFC}"/>
              </a:ext>
            </a:extLst>
          </p:cNvPr>
          <p:cNvSpPr txBox="1">
            <a:spLocks/>
          </p:cNvSpPr>
          <p:nvPr/>
        </p:nvSpPr>
        <p:spPr>
          <a:xfrm>
            <a:off x="228600" y="762000"/>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p:txBody>
      </p:sp>
      <p:sp>
        <p:nvSpPr>
          <p:cNvPr id="7" name="object 2">
            <a:extLst>
              <a:ext uri="{FF2B5EF4-FFF2-40B4-BE49-F238E27FC236}">
                <a16:creationId xmlns:a16="http://schemas.microsoft.com/office/drawing/2014/main" id="{D844A7B1-E550-0B17-B5D4-E0FB5CF44D9B}"/>
              </a:ext>
            </a:extLst>
          </p:cNvPr>
          <p:cNvSpPr txBox="1">
            <a:spLocks/>
          </p:cNvSpPr>
          <p:nvPr/>
        </p:nvSpPr>
        <p:spPr>
          <a:xfrm>
            <a:off x="138063" y="5023247"/>
            <a:ext cx="8624937" cy="246221"/>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600" kern="0" spc="-80" dirty="0">
                <a:solidFill>
                  <a:schemeClr val="accent2"/>
                </a:solidFill>
              </a:rPr>
              <a:t>  </a:t>
            </a:r>
          </a:p>
        </p:txBody>
      </p:sp>
      <p:sp>
        <p:nvSpPr>
          <p:cNvPr id="9" name="object 2">
            <a:extLst>
              <a:ext uri="{FF2B5EF4-FFF2-40B4-BE49-F238E27FC236}">
                <a16:creationId xmlns:a16="http://schemas.microsoft.com/office/drawing/2014/main" id="{DA848808-D5D9-7870-77AC-D802A3439182}"/>
              </a:ext>
            </a:extLst>
          </p:cNvPr>
          <p:cNvSpPr txBox="1">
            <a:spLocks/>
          </p:cNvSpPr>
          <p:nvPr/>
        </p:nvSpPr>
        <p:spPr>
          <a:xfrm>
            <a:off x="0" y="762000"/>
            <a:ext cx="8915399" cy="369332"/>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SLIs, SLOs And SLAs –</a:t>
            </a:r>
          </a:p>
        </p:txBody>
      </p:sp>
      <p:pic>
        <p:nvPicPr>
          <p:cNvPr id="46084" name="Picture 4" descr="SLA vs. SLO vs. SLI (Differences Explained)">
            <a:extLst>
              <a:ext uri="{FF2B5EF4-FFF2-40B4-BE49-F238E27FC236}">
                <a16:creationId xmlns:a16="http://schemas.microsoft.com/office/drawing/2014/main" id="{4A3373E1-83BC-8BB9-9E4B-46291DD374DB}"/>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76201" y="1131332"/>
            <a:ext cx="8915399" cy="477784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065585271"/>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F7126C-C4C6-3203-D5F8-7B070FBBBDA9}"/>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F4A4706A-73F8-0AB9-A929-DE210ED6A7EB}"/>
              </a:ext>
            </a:extLst>
          </p:cNvPr>
          <p:cNvSpPr/>
          <p:nvPr/>
        </p:nvSpPr>
        <p:spPr>
          <a:xfrm>
            <a:off x="1756803" y="648336"/>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7060A600-D452-847A-48BD-92ED2E1D1059}"/>
              </a:ext>
            </a:extLst>
          </p:cNvPr>
          <p:cNvSpPr/>
          <p:nvPr/>
        </p:nvSpPr>
        <p:spPr>
          <a:xfrm>
            <a:off x="1756803" y="495936"/>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7C0313B7-FE2A-A4E1-A63A-D44B5BAD0E8D}"/>
              </a:ext>
            </a:extLst>
          </p:cNvPr>
          <p:cNvGraphicFramePr/>
          <p:nvPr/>
        </p:nvGraphicFramePr>
        <p:xfrm>
          <a:off x="76201" y="34425"/>
          <a:ext cx="8929735" cy="42277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object 2">
            <a:extLst>
              <a:ext uri="{FF2B5EF4-FFF2-40B4-BE49-F238E27FC236}">
                <a16:creationId xmlns:a16="http://schemas.microsoft.com/office/drawing/2014/main" id="{99C80DD6-FB14-3FDA-2666-36B213B850CB}"/>
              </a:ext>
            </a:extLst>
          </p:cNvPr>
          <p:cNvSpPr txBox="1">
            <a:spLocks/>
          </p:cNvSpPr>
          <p:nvPr/>
        </p:nvSpPr>
        <p:spPr>
          <a:xfrm>
            <a:off x="228600" y="762000"/>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p:txBody>
      </p:sp>
      <p:sp>
        <p:nvSpPr>
          <p:cNvPr id="7" name="object 2">
            <a:extLst>
              <a:ext uri="{FF2B5EF4-FFF2-40B4-BE49-F238E27FC236}">
                <a16:creationId xmlns:a16="http://schemas.microsoft.com/office/drawing/2014/main" id="{01522F8F-38E4-131B-6846-218BC84DB6DA}"/>
              </a:ext>
            </a:extLst>
          </p:cNvPr>
          <p:cNvSpPr txBox="1">
            <a:spLocks/>
          </p:cNvSpPr>
          <p:nvPr/>
        </p:nvSpPr>
        <p:spPr>
          <a:xfrm>
            <a:off x="138063" y="5023247"/>
            <a:ext cx="8624937" cy="246221"/>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600" kern="0" spc="-80" dirty="0">
                <a:solidFill>
                  <a:schemeClr val="accent2"/>
                </a:solidFill>
              </a:rPr>
              <a:t>  </a:t>
            </a:r>
          </a:p>
        </p:txBody>
      </p:sp>
      <p:sp>
        <p:nvSpPr>
          <p:cNvPr id="9" name="object 2">
            <a:extLst>
              <a:ext uri="{FF2B5EF4-FFF2-40B4-BE49-F238E27FC236}">
                <a16:creationId xmlns:a16="http://schemas.microsoft.com/office/drawing/2014/main" id="{C6D6F317-B06A-0958-420C-71B59386BD77}"/>
              </a:ext>
            </a:extLst>
          </p:cNvPr>
          <p:cNvSpPr txBox="1">
            <a:spLocks/>
          </p:cNvSpPr>
          <p:nvPr/>
        </p:nvSpPr>
        <p:spPr>
          <a:xfrm>
            <a:off x="0" y="762000"/>
            <a:ext cx="8915399" cy="4462760"/>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SLIs, SLOs And SLAs –</a:t>
            </a:r>
          </a:p>
          <a:p>
            <a:pPr marL="12700" marR="5080"/>
            <a:r>
              <a:rPr lang="en-US" sz="1700" kern="0" spc="-80" dirty="0">
                <a:solidFill>
                  <a:schemeClr val="accent2"/>
                </a:solidFill>
              </a:rPr>
              <a:t>SLA -&gt; SLO -&gt; Error Budget</a:t>
            </a:r>
          </a:p>
          <a:p>
            <a:pPr marL="12700" marR="5080"/>
            <a:r>
              <a:rPr lang="en-US" sz="1300" kern="0" spc="-80" dirty="0">
                <a:solidFill>
                  <a:schemeClr val="accent6"/>
                </a:solidFill>
              </a:rPr>
              <a:t>Converting a Service Level Agreement (SLA) to a Service Level Objective (SLO) and then into an Error Budget creates a data-driven framework for making risk-aware decisions. This process shifts focus from "avoiding all failures" to managing the permissible level of failure (unreliability) allowed to balance innovation and stability. </a:t>
            </a:r>
          </a:p>
          <a:p>
            <a:pPr marL="12700" marR="5080"/>
            <a:r>
              <a:rPr lang="en-US" sz="1700" kern="0" spc="-80" dirty="0">
                <a:solidFill>
                  <a:schemeClr val="accent2"/>
                </a:solidFill>
              </a:rPr>
              <a:t>The Core Concepts</a:t>
            </a:r>
          </a:p>
          <a:p>
            <a:pPr marL="12700" marR="5080"/>
            <a:r>
              <a:rPr lang="en-US" sz="1300" kern="0" spc="-80" dirty="0">
                <a:solidFill>
                  <a:schemeClr val="accent2"/>
                </a:solidFill>
              </a:rPr>
              <a:t>SLA (Service Level Agreement): </a:t>
            </a:r>
            <a:r>
              <a:rPr lang="en-US" sz="1300" kern="0" spc="-80" dirty="0">
                <a:solidFill>
                  <a:schemeClr val="accent6"/>
                </a:solidFill>
              </a:rPr>
              <a:t>The contractual, external-facing commitment to customers (e.g., 99.9% uptime), often tied to penalties.</a:t>
            </a:r>
          </a:p>
          <a:p>
            <a:pPr marL="12700" marR="5080"/>
            <a:r>
              <a:rPr lang="en-US" sz="1300" kern="0" spc="-80" dirty="0">
                <a:solidFill>
                  <a:schemeClr val="accent2"/>
                </a:solidFill>
              </a:rPr>
              <a:t>SLO (Service Level Objective): </a:t>
            </a:r>
            <a:r>
              <a:rPr lang="en-US" sz="1300" kern="0" spc="-80" dirty="0">
                <a:solidFill>
                  <a:schemeClr val="accent6"/>
                </a:solidFill>
              </a:rPr>
              <a:t>An internal target (e.g., 99.95% uptime) set more stringently than the SLA to provide a safety buffer.</a:t>
            </a:r>
          </a:p>
          <a:p>
            <a:pPr marL="12700" marR="5080"/>
            <a:r>
              <a:rPr lang="en-US" sz="1300" kern="0" spc="-80" dirty="0">
                <a:solidFill>
                  <a:schemeClr val="accent2"/>
                </a:solidFill>
              </a:rPr>
              <a:t>Error Budget: </a:t>
            </a:r>
            <a:r>
              <a:rPr lang="en-US" sz="1300" kern="0" spc="-80" dirty="0">
                <a:solidFill>
                  <a:schemeClr val="accent6"/>
                </a:solidFill>
              </a:rPr>
              <a:t>The allowed amount of unreliability within a time period, calculated as </a:t>
            </a:r>
            <a:r>
              <a:rPr lang="en-US" sz="1300" kern="0" spc="-80" dirty="0">
                <a:solidFill>
                  <a:schemeClr val="accent1"/>
                </a:solidFill>
              </a:rPr>
              <a:t>100% - SLO</a:t>
            </a:r>
          </a:p>
          <a:p>
            <a:pPr marL="12700" marR="5080"/>
            <a:r>
              <a:rPr lang="en-US" sz="1700" kern="0" spc="-80" dirty="0">
                <a:solidFill>
                  <a:schemeClr val="accent2"/>
                </a:solidFill>
              </a:rPr>
              <a:t>Step-by-Step Transformation</a:t>
            </a:r>
          </a:p>
          <a:p>
            <a:pPr marL="12700" marR="5080"/>
            <a:r>
              <a:rPr lang="en-US" sz="1300" kern="0" spc="-80" dirty="0">
                <a:solidFill>
                  <a:schemeClr val="accent2"/>
                </a:solidFill>
              </a:rPr>
              <a:t>Define the SLA (The Goal): </a:t>
            </a:r>
            <a:r>
              <a:rPr lang="en-US" sz="1300" kern="0" spc="-80" dirty="0">
                <a:solidFill>
                  <a:schemeClr val="accent6"/>
                </a:solidFill>
              </a:rPr>
              <a:t>Identify the contractually binding uptime or performance goal, such as 99.9% availability.</a:t>
            </a:r>
          </a:p>
          <a:p>
            <a:pPr marL="12700" marR="5080"/>
            <a:r>
              <a:rPr lang="en-US" sz="1300" kern="0" spc="-80" dirty="0">
                <a:solidFill>
                  <a:schemeClr val="accent2"/>
                </a:solidFill>
              </a:rPr>
              <a:t>Define the SLO (The Internal Target): </a:t>
            </a:r>
            <a:r>
              <a:rPr lang="en-US" sz="1300" kern="0" spc="-80" dirty="0">
                <a:solidFill>
                  <a:schemeClr val="accent6"/>
                </a:solidFill>
              </a:rPr>
              <a:t>Set an internal target that is stricter than the SLA. If the SLA is 99.9%, set the internal SLO at 99.95% to allow for early detection of issues before penalties occur.</a:t>
            </a:r>
          </a:p>
          <a:p>
            <a:pPr marL="12700" marR="5080"/>
            <a:r>
              <a:rPr lang="en-US" sz="1300" kern="0" spc="-80" dirty="0">
                <a:solidFill>
                  <a:schemeClr val="accent2"/>
                </a:solidFill>
              </a:rPr>
              <a:t>Calculate the Error Budget (The Limit): </a:t>
            </a:r>
            <a:r>
              <a:rPr lang="en-US" sz="1300" kern="0" spc="-80" dirty="0">
                <a:solidFill>
                  <a:schemeClr val="accent6"/>
                </a:solidFill>
              </a:rPr>
              <a:t>The Error Budget is the inverse of the SLO.</a:t>
            </a:r>
          </a:p>
          <a:p>
            <a:pPr marL="12700" marR="5080"/>
            <a:r>
              <a:rPr lang="en-US" sz="1300" kern="0" spc="-80" dirty="0">
                <a:solidFill>
                  <a:schemeClr val="accent2"/>
                </a:solidFill>
              </a:rPr>
              <a:t>Example: </a:t>
            </a:r>
            <a:r>
              <a:rPr lang="en-US" sz="1300" kern="0" spc="-80" dirty="0">
                <a:solidFill>
                  <a:schemeClr val="accent6"/>
                </a:solidFill>
              </a:rPr>
              <a:t>If your 30-day availability SLO is 99.9% ().</a:t>
            </a:r>
          </a:p>
          <a:p>
            <a:pPr marL="12700" marR="5080"/>
            <a:r>
              <a:rPr lang="en-US" sz="1300" kern="0" spc="-80" dirty="0">
                <a:solidFill>
                  <a:schemeClr val="accent2"/>
                </a:solidFill>
              </a:rPr>
              <a:t>Calculation: </a:t>
            </a:r>
            <a:r>
              <a:rPr lang="en-US" sz="1300" kern="0" spc="-80" dirty="0">
                <a:solidFill>
                  <a:schemeClr val="accent6"/>
                </a:solidFill>
              </a:rPr>
              <a:t>0.1% of a 30-day month is roughly 43.2 minutes of allowed downtime ().</a:t>
            </a:r>
          </a:p>
          <a:p>
            <a:pPr marL="12700" marR="5080"/>
            <a:r>
              <a:rPr lang="en-US" sz="1300" kern="0" spc="-80" dirty="0">
                <a:solidFill>
                  <a:schemeClr val="accent2"/>
                </a:solidFill>
              </a:rPr>
              <a:t>Track the Burn Rate (The Monitoring): </a:t>
            </a:r>
            <a:r>
              <a:rPr lang="en-US" sz="1300" kern="0" spc="-80" dirty="0">
                <a:solidFill>
                  <a:schemeClr val="accent6"/>
                </a:solidFill>
              </a:rPr>
              <a:t>Monitor how quickly the error budget is consumed. A high burn rate suggests an imminent SLO breach. </a:t>
            </a:r>
          </a:p>
        </p:txBody>
      </p:sp>
    </p:spTree>
    <p:extLst>
      <p:ext uri="{BB962C8B-B14F-4D97-AF65-F5344CB8AC3E}">
        <p14:creationId xmlns:p14="http://schemas.microsoft.com/office/powerpoint/2010/main" val="3349556518"/>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E1C1F0-67D4-0568-8ED5-6F03318BC68A}"/>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0A42B5AA-496D-2D4F-C984-35DA018745E4}"/>
              </a:ext>
            </a:extLst>
          </p:cNvPr>
          <p:cNvSpPr/>
          <p:nvPr/>
        </p:nvSpPr>
        <p:spPr>
          <a:xfrm>
            <a:off x="1756803" y="648336"/>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359FF6DA-2ABD-7B78-08CC-79C7EA470FC2}"/>
              </a:ext>
            </a:extLst>
          </p:cNvPr>
          <p:cNvSpPr/>
          <p:nvPr/>
        </p:nvSpPr>
        <p:spPr>
          <a:xfrm>
            <a:off x="1756803" y="495936"/>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CCE67199-D1A2-2C05-F0C3-100DD91A79ED}"/>
              </a:ext>
            </a:extLst>
          </p:cNvPr>
          <p:cNvGraphicFramePr/>
          <p:nvPr/>
        </p:nvGraphicFramePr>
        <p:xfrm>
          <a:off x="76201" y="34425"/>
          <a:ext cx="8929735" cy="42277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object 2">
            <a:extLst>
              <a:ext uri="{FF2B5EF4-FFF2-40B4-BE49-F238E27FC236}">
                <a16:creationId xmlns:a16="http://schemas.microsoft.com/office/drawing/2014/main" id="{04BA9E74-A5B9-6726-D51D-7567657B8AC2}"/>
              </a:ext>
            </a:extLst>
          </p:cNvPr>
          <p:cNvSpPr txBox="1">
            <a:spLocks/>
          </p:cNvSpPr>
          <p:nvPr/>
        </p:nvSpPr>
        <p:spPr>
          <a:xfrm>
            <a:off x="228600" y="762000"/>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p:txBody>
      </p:sp>
      <p:sp>
        <p:nvSpPr>
          <p:cNvPr id="7" name="object 2">
            <a:extLst>
              <a:ext uri="{FF2B5EF4-FFF2-40B4-BE49-F238E27FC236}">
                <a16:creationId xmlns:a16="http://schemas.microsoft.com/office/drawing/2014/main" id="{3EDFFBF6-1ABA-735F-7DA7-064BBA43B3CB}"/>
              </a:ext>
            </a:extLst>
          </p:cNvPr>
          <p:cNvSpPr txBox="1">
            <a:spLocks/>
          </p:cNvSpPr>
          <p:nvPr/>
        </p:nvSpPr>
        <p:spPr>
          <a:xfrm>
            <a:off x="138063" y="5023247"/>
            <a:ext cx="8624937" cy="246221"/>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600" kern="0" spc="-80" dirty="0">
                <a:solidFill>
                  <a:schemeClr val="accent2"/>
                </a:solidFill>
              </a:rPr>
              <a:t>  </a:t>
            </a:r>
          </a:p>
        </p:txBody>
      </p:sp>
      <p:sp>
        <p:nvSpPr>
          <p:cNvPr id="9" name="object 2">
            <a:extLst>
              <a:ext uri="{FF2B5EF4-FFF2-40B4-BE49-F238E27FC236}">
                <a16:creationId xmlns:a16="http://schemas.microsoft.com/office/drawing/2014/main" id="{5BEC238D-8196-7DFC-B13D-7BC73E9BBEA2}"/>
              </a:ext>
            </a:extLst>
          </p:cNvPr>
          <p:cNvSpPr txBox="1">
            <a:spLocks/>
          </p:cNvSpPr>
          <p:nvPr/>
        </p:nvSpPr>
        <p:spPr>
          <a:xfrm>
            <a:off x="0" y="762000"/>
            <a:ext cx="8915399" cy="100027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SLIs, SLOs And SLAs –</a:t>
            </a:r>
          </a:p>
          <a:p>
            <a:pPr marL="12700" marR="5080"/>
            <a:r>
              <a:rPr lang="en-US" sz="1700" kern="0" spc="-80" dirty="0">
                <a:solidFill>
                  <a:schemeClr val="accent2"/>
                </a:solidFill>
              </a:rPr>
              <a:t>SLA -&gt; SLO -&gt; Error Budget</a:t>
            </a:r>
          </a:p>
          <a:p>
            <a:pPr marL="12700" marR="5080"/>
            <a:endParaRPr lang="en-US" sz="2400" kern="0" spc="-80" dirty="0">
              <a:solidFill>
                <a:schemeClr val="accent2"/>
              </a:solidFill>
            </a:endParaRPr>
          </a:p>
        </p:txBody>
      </p:sp>
      <p:pic>
        <p:nvPicPr>
          <p:cNvPr id="8" name="Picture 7">
            <a:extLst>
              <a:ext uri="{FF2B5EF4-FFF2-40B4-BE49-F238E27FC236}">
                <a16:creationId xmlns:a16="http://schemas.microsoft.com/office/drawing/2014/main" id="{D52F11BB-8706-AE1C-05A7-84660C97A849}"/>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81281" y="1371600"/>
            <a:ext cx="8834118" cy="1905000"/>
          </a:xfrm>
          <a:prstGeom prst="rect">
            <a:avLst/>
          </a:prstGeom>
        </p:spPr>
      </p:pic>
      <p:sp>
        <p:nvSpPr>
          <p:cNvPr id="10" name="object 2">
            <a:extLst>
              <a:ext uri="{FF2B5EF4-FFF2-40B4-BE49-F238E27FC236}">
                <a16:creationId xmlns:a16="http://schemas.microsoft.com/office/drawing/2014/main" id="{2414D049-36D5-1C73-F109-727E1B99D2EC}"/>
              </a:ext>
            </a:extLst>
          </p:cNvPr>
          <p:cNvSpPr txBox="1">
            <a:spLocks/>
          </p:cNvSpPr>
          <p:nvPr/>
        </p:nvSpPr>
        <p:spPr>
          <a:xfrm>
            <a:off x="76200" y="3367207"/>
            <a:ext cx="8915399" cy="1661993"/>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700" kern="0" spc="-80" dirty="0">
                <a:solidFill>
                  <a:schemeClr val="accent2"/>
                </a:solidFill>
              </a:rPr>
              <a:t>Best Practices and Implementation</a:t>
            </a:r>
          </a:p>
          <a:p>
            <a:pPr marL="12700" marR="5080"/>
            <a:r>
              <a:rPr lang="en-US" sz="1300" kern="0" spc="-80" dirty="0">
                <a:solidFill>
                  <a:schemeClr val="accent2"/>
                </a:solidFill>
              </a:rPr>
              <a:t>Don't Aim for 100%:</a:t>
            </a:r>
            <a:r>
              <a:rPr lang="en-US" sz="1300" kern="0" spc="-80" dirty="0">
                <a:solidFill>
                  <a:schemeClr val="accent6"/>
                </a:solidFill>
              </a:rPr>
              <a:t> Perfection is impossible and prevents innovation; use the budget to take risks.</a:t>
            </a:r>
          </a:p>
          <a:p>
            <a:pPr marL="12700" marR="5080"/>
            <a:r>
              <a:rPr lang="en-US" sz="1300" kern="0" spc="-80" dirty="0">
                <a:solidFill>
                  <a:schemeClr val="accent2"/>
                </a:solidFill>
              </a:rPr>
              <a:t>Use Realistic SLOs: </a:t>
            </a:r>
            <a:r>
              <a:rPr lang="en-US" sz="1300" kern="0" spc="-80" dirty="0">
                <a:solidFill>
                  <a:schemeClr val="accent6"/>
                </a:solidFill>
              </a:rPr>
              <a:t>Base SLOs on actual user experience rather than aspirational targets to avoid constant, demoralizing budget depletion.</a:t>
            </a:r>
          </a:p>
          <a:p>
            <a:pPr marL="12700" marR="5080"/>
            <a:r>
              <a:rPr lang="en-US" sz="1300" kern="0" spc="-80" dirty="0">
                <a:solidFill>
                  <a:schemeClr val="accent2"/>
                </a:solidFill>
              </a:rPr>
              <a:t>Automate Alerts: </a:t>
            </a:r>
            <a:r>
              <a:rPr lang="en-US" sz="1300" kern="0" spc="-80" dirty="0">
                <a:solidFill>
                  <a:schemeClr val="accent6"/>
                </a:solidFill>
              </a:rPr>
              <a:t>Use burn rate alerts to detect when a budget is being consumed too fast, allowing for proactive intervention.</a:t>
            </a:r>
          </a:p>
          <a:p>
            <a:pPr marL="12700" marR="5080"/>
            <a:r>
              <a:rPr lang="en-US" sz="1300" kern="0" spc="-80" dirty="0">
                <a:solidFill>
                  <a:schemeClr val="accent2"/>
                </a:solidFill>
              </a:rPr>
              <a:t>Shared Responsibility: </a:t>
            </a:r>
            <a:r>
              <a:rPr lang="en-US" sz="1300" kern="0" spc="-80" dirty="0">
                <a:solidFill>
                  <a:schemeClr val="accent6"/>
                </a:solidFill>
              </a:rPr>
              <a:t>Ensure both development and SRE teams are aligned on the current state of the error budget to prioritize work effectively. </a:t>
            </a:r>
          </a:p>
        </p:txBody>
      </p:sp>
    </p:spTree>
    <p:extLst>
      <p:ext uri="{BB962C8B-B14F-4D97-AF65-F5344CB8AC3E}">
        <p14:creationId xmlns:p14="http://schemas.microsoft.com/office/powerpoint/2010/main" val="2538510836"/>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9BF108-0D44-22F4-5DAC-678B056718AA}"/>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2E44E917-C4BA-A780-5ECC-E7230EF48B2A}"/>
              </a:ext>
            </a:extLst>
          </p:cNvPr>
          <p:cNvSpPr/>
          <p:nvPr/>
        </p:nvSpPr>
        <p:spPr>
          <a:xfrm>
            <a:off x="1756803" y="648336"/>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A0251792-2E56-887C-EAD2-960C8185581A}"/>
              </a:ext>
            </a:extLst>
          </p:cNvPr>
          <p:cNvSpPr/>
          <p:nvPr/>
        </p:nvSpPr>
        <p:spPr>
          <a:xfrm>
            <a:off x="1756803" y="495936"/>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9049E17C-5B2E-4151-AB01-D5717D261BA1}"/>
              </a:ext>
            </a:extLst>
          </p:cNvPr>
          <p:cNvGraphicFramePr/>
          <p:nvPr/>
        </p:nvGraphicFramePr>
        <p:xfrm>
          <a:off x="76201" y="34425"/>
          <a:ext cx="8929735" cy="42277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object 2">
            <a:extLst>
              <a:ext uri="{FF2B5EF4-FFF2-40B4-BE49-F238E27FC236}">
                <a16:creationId xmlns:a16="http://schemas.microsoft.com/office/drawing/2014/main" id="{1745F3D6-4C71-E568-22DF-AB5D6FE8429A}"/>
              </a:ext>
            </a:extLst>
          </p:cNvPr>
          <p:cNvSpPr txBox="1">
            <a:spLocks/>
          </p:cNvSpPr>
          <p:nvPr/>
        </p:nvSpPr>
        <p:spPr>
          <a:xfrm>
            <a:off x="228600" y="762000"/>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p:txBody>
      </p:sp>
      <p:sp>
        <p:nvSpPr>
          <p:cNvPr id="7" name="object 2">
            <a:extLst>
              <a:ext uri="{FF2B5EF4-FFF2-40B4-BE49-F238E27FC236}">
                <a16:creationId xmlns:a16="http://schemas.microsoft.com/office/drawing/2014/main" id="{1CEEF16E-4C22-061F-FCC6-9FF3E061DB65}"/>
              </a:ext>
            </a:extLst>
          </p:cNvPr>
          <p:cNvSpPr txBox="1">
            <a:spLocks/>
          </p:cNvSpPr>
          <p:nvPr/>
        </p:nvSpPr>
        <p:spPr>
          <a:xfrm>
            <a:off x="138063" y="5023247"/>
            <a:ext cx="8624937" cy="246221"/>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600" kern="0" spc="-80" dirty="0">
                <a:solidFill>
                  <a:schemeClr val="accent2"/>
                </a:solidFill>
              </a:rPr>
              <a:t>  </a:t>
            </a:r>
          </a:p>
        </p:txBody>
      </p:sp>
      <p:sp>
        <p:nvSpPr>
          <p:cNvPr id="9" name="object 2">
            <a:extLst>
              <a:ext uri="{FF2B5EF4-FFF2-40B4-BE49-F238E27FC236}">
                <a16:creationId xmlns:a16="http://schemas.microsoft.com/office/drawing/2014/main" id="{6991D447-DF5E-C12A-6D54-26B311BE3CF3}"/>
              </a:ext>
            </a:extLst>
          </p:cNvPr>
          <p:cNvSpPr txBox="1">
            <a:spLocks/>
          </p:cNvSpPr>
          <p:nvPr/>
        </p:nvSpPr>
        <p:spPr>
          <a:xfrm>
            <a:off x="0" y="762000"/>
            <a:ext cx="8915399" cy="369332"/>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SLIs, SLOs And SLAs –</a:t>
            </a:r>
          </a:p>
        </p:txBody>
      </p:sp>
      <p:sp>
        <p:nvSpPr>
          <p:cNvPr id="3" name="object 2">
            <a:extLst>
              <a:ext uri="{FF2B5EF4-FFF2-40B4-BE49-F238E27FC236}">
                <a16:creationId xmlns:a16="http://schemas.microsoft.com/office/drawing/2014/main" id="{B4F18B7B-F8AE-541D-B1F7-C9A05E0AAF72}"/>
              </a:ext>
            </a:extLst>
          </p:cNvPr>
          <p:cNvSpPr txBox="1">
            <a:spLocks/>
          </p:cNvSpPr>
          <p:nvPr/>
        </p:nvSpPr>
        <p:spPr>
          <a:xfrm>
            <a:off x="76201" y="1164458"/>
            <a:ext cx="8624937" cy="2389885"/>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000" kern="0" spc="-80" dirty="0">
                <a:solidFill>
                  <a:schemeClr val="accent2"/>
                </a:solidFill>
              </a:rPr>
              <a:t>For Further Exploration-</a:t>
            </a:r>
          </a:p>
          <a:p>
            <a:pPr marL="12700" marR="5080"/>
            <a:r>
              <a:rPr lang="en-IN" sz="1400" dirty="0">
                <a:hlinkClick r:id="rId7"/>
              </a:rPr>
              <a:t>SLIs and SLOs versus NFRs | Mark Rendell</a:t>
            </a:r>
            <a:endParaRPr lang="en-IN" sz="1400" dirty="0"/>
          </a:p>
          <a:p>
            <a:pPr marL="12700" marR="5080"/>
            <a:r>
              <a:rPr lang="en-IN" sz="1400" dirty="0">
                <a:hlinkClick r:id="rId8"/>
              </a:rPr>
              <a:t>Concepts in service monitoring  |  Google Cloud Observability</a:t>
            </a:r>
            <a:endParaRPr lang="en-IN" sz="1400" dirty="0"/>
          </a:p>
          <a:p>
            <a:pPr marL="12700" marR="5080"/>
            <a:r>
              <a:rPr lang="en-US" sz="1400" dirty="0">
                <a:hlinkClick r:id="rId9"/>
              </a:rPr>
              <a:t>A practical guide for implementing SLO | Last9</a:t>
            </a:r>
            <a:endParaRPr lang="en-US" sz="1400" dirty="0"/>
          </a:p>
          <a:p>
            <a:pPr marL="12700" marR="5080"/>
            <a:r>
              <a:rPr lang="en-US" sz="1400" dirty="0">
                <a:hlinkClick r:id="rId10"/>
              </a:rPr>
              <a:t>Complete Guide to Service Level Objectives (SLOs) That Work</a:t>
            </a:r>
            <a:endParaRPr lang="en-US" sz="1400" dirty="0"/>
          </a:p>
          <a:p>
            <a:pPr marL="12700" marR="5080"/>
            <a:r>
              <a:rPr lang="en-US" sz="1400" dirty="0">
                <a:hlinkClick r:id="rId11"/>
              </a:rPr>
              <a:t>Mastering Service Level Objectives (SLOs): A Complete Guide | Cortex</a:t>
            </a:r>
            <a:endParaRPr lang="en-US" sz="1400" dirty="0"/>
          </a:p>
          <a:p>
            <a:pPr marL="12700" marR="5080"/>
            <a:r>
              <a:rPr lang="en-US" sz="1400" dirty="0">
                <a:hlinkClick r:id="rId12"/>
              </a:rPr>
              <a:t>SLOs, SLIs, and SLAs: Meanings &amp; Differences | New Relic</a:t>
            </a:r>
            <a:endParaRPr lang="en-US" sz="1400" dirty="0"/>
          </a:p>
          <a:p>
            <a:pPr marL="12700" marR="5080"/>
            <a:r>
              <a:rPr lang="en-US" sz="1400" dirty="0">
                <a:hlinkClick r:id="rId13"/>
              </a:rPr>
              <a:t>Implementing Service Level Objectives[Book]</a:t>
            </a:r>
            <a:endParaRPr lang="en-US" sz="1400" dirty="0"/>
          </a:p>
          <a:p>
            <a:pPr marL="12700" marR="5080"/>
            <a:r>
              <a:rPr lang="en-US" sz="1400" dirty="0">
                <a:hlinkClick r:id="rId14"/>
              </a:rPr>
              <a:t>Introducing our open source SLO Tracker - A simple tool to track SLOs and Error Budget | </a:t>
            </a:r>
            <a:r>
              <a:rPr lang="en-US" sz="1400" dirty="0" err="1">
                <a:hlinkClick r:id="rId14"/>
              </a:rPr>
              <a:t>Squadcast</a:t>
            </a:r>
            <a:endParaRPr lang="en-US" sz="1400" kern="0" spc="-80" dirty="0">
              <a:solidFill>
                <a:schemeClr val="accent2"/>
              </a:solidFill>
            </a:endParaRPr>
          </a:p>
          <a:p>
            <a:pPr marL="12700" marR="5080"/>
            <a:endParaRPr lang="en-US" sz="930" kern="0" spc="-80" dirty="0">
              <a:solidFill>
                <a:schemeClr val="accent2"/>
              </a:solidFill>
            </a:endParaRPr>
          </a:p>
        </p:txBody>
      </p:sp>
    </p:spTree>
    <p:extLst>
      <p:ext uri="{BB962C8B-B14F-4D97-AF65-F5344CB8AC3E}">
        <p14:creationId xmlns:p14="http://schemas.microsoft.com/office/powerpoint/2010/main" val="3613341869"/>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E39453-DC02-C6AD-BC13-B742CD60C3A9}"/>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0A3F05AD-203C-8DF1-1FCF-2549B067E787}"/>
              </a:ext>
            </a:extLst>
          </p:cNvPr>
          <p:cNvSpPr/>
          <p:nvPr/>
        </p:nvSpPr>
        <p:spPr>
          <a:xfrm>
            <a:off x="1756803" y="648336"/>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B01F17C6-844A-1EDE-4C9D-4117E8455A99}"/>
              </a:ext>
            </a:extLst>
          </p:cNvPr>
          <p:cNvSpPr/>
          <p:nvPr/>
        </p:nvSpPr>
        <p:spPr>
          <a:xfrm>
            <a:off x="1756803" y="495936"/>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23505F83-DBD9-3AF7-36EC-7202923B2A8E}"/>
              </a:ext>
            </a:extLst>
          </p:cNvPr>
          <p:cNvGraphicFramePr/>
          <p:nvPr>
            <p:extLst>
              <p:ext uri="{D42A27DB-BD31-4B8C-83A1-F6EECF244321}">
                <p14:modId xmlns:p14="http://schemas.microsoft.com/office/powerpoint/2010/main" val="1537094487"/>
              </p:ext>
            </p:extLst>
          </p:nvPr>
        </p:nvGraphicFramePr>
        <p:xfrm>
          <a:off x="0" y="34425"/>
          <a:ext cx="9144000" cy="407873"/>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2" name="object 2">
            <a:extLst>
              <a:ext uri="{FF2B5EF4-FFF2-40B4-BE49-F238E27FC236}">
                <a16:creationId xmlns:a16="http://schemas.microsoft.com/office/drawing/2014/main" id="{2717D755-51C8-BFD9-D816-41F33FBF1C6C}"/>
              </a:ext>
            </a:extLst>
          </p:cNvPr>
          <p:cNvSpPr txBox="1">
            <a:spLocks/>
          </p:cNvSpPr>
          <p:nvPr/>
        </p:nvSpPr>
        <p:spPr>
          <a:xfrm>
            <a:off x="228600" y="762000"/>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p:txBody>
      </p:sp>
      <p:sp>
        <p:nvSpPr>
          <p:cNvPr id="7" name="object 2">
            <a:extLst>
              <a:ext uri="{FF2B5EF4-FFF2-40B4-BE49-F238E27FC236}">
                <a16:creationId xmlns:a16="http://schemas.microsoft.com/office/drawing/2014/main" id="{57BF2D50-A561-5534-6800-5C73970BE6BB}"/>
              </a:ext>
            </a:extLst>
          </p:cNvPr>
          <p:cNvSpPr txBox="1">
            <a:spLocks/>
          </p:cNvSpPr>
          <p:nvPr/>
        </p:nvSpPr>
        <p:spPr>
          <a:xfrm>
            <a:off x="138064" y="5143381"/>
            <a:ext cx="8624937" cy="800219"/>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300" kern="0" spc="-80" dirty="0">
                <a:solidFill>
                  <a:schemeClr val="accent2"/>
                </a:solidFill>
              </a:rPr>
              <a:t>Summary of Differences</a:t>
            </a:r>
          </a:p>
          <a:p>
            <a:pPr marL="12700" marR="5080"/>
            <a:r>
              <a:rPr lang="en-US" sz="1300" kern="0" spc="-80" dirty="0">
                <a:solidFill>
                  <a:schemeClr val="accent6"/>
                </a:solidFill>
              </a:rPr>
              <a:t>Monitoring acts as a smoke detector—it alerts you to the presence of a problem (symptoms).</a:t>
            </a:r>
          </a:p>
          <a:p>
            <a:pPr marL="12700" marR="5080"/>
            <a:r>
              <a:rPr lang="en-US" sz="1300" kern="0" spc="-80" dirty="0">
                <a:solidFill>
                  <a:schemeClr val="accent6"/>
                </a:solidFill>
              </a:rPr>
              <a:t>Observability acts as a fire investigator—it allows you to dig into logs and traces to understand the root cause. </a:t>
            </a:r>
          </a:p>
          <a:p>
            <a:pPr marL="12700" marR="5080"/>
            <a:r>
              <a:rPr lang="en-US" sz="1300" kern="0" spc="-80" dirty="0">
                <a:solidFill>
                  <a:schemeClr val="accent6"/>
                </a:solidFill>
              </a:rPr>
              <a:t>Both are generally used together, with monitoring serving as a component within a broader observability strategy. </a:t>
            </a:r>
          </a:p>
        </p:txBody>
      </p:sp>
      <p:pic>
        <p:nvPicPr>
          <p:cNvPr id="9" name="Picture 8">
            <a:extLst>
              <a:ext uri="{FF2B5EF4-FFF2-40B4-BE49-F238E27FC236}">
                <a16:creationId xmlns:a16="http://schemas.microsoft.com/office/drawing/2014/main" id="{D4A1ABE3-FE03-FC34-92B1-3633C8351FB7}"/>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138064" y="1129510"/>
            <a:ext cx="8777336" cy="3604172"/>
          </a:xfrm>
          <a:prstGeom prst="rect">
            <a:avLst/>
          </a:prstGeom>
        </p:spPr>
      </p:pic>
      <p:pic>
        <p:nvPicPr>
          <p:cNvPr id="11" name="Picture 10">
            <a:extLst>
              <a:ext uri="{FF2B5EF4-FFF2-40B4-BE49-F238E27FC236}">
                <a16:creationId xmlns:a16="http://schemas.microsoft.com/office/drawing/2014/main" id="{9FFA9952-A9E9-E969-E280-D9975233CAC8}"/>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264736" y="4733682"/>
            <a:ext cx="7924800" cy="371718"/>
          </a:xfrm>
          <a:prstGeom prst="rect">
            <a:avLst/>
          </a:prstGeom>
        </p:spPr>
      </p:pic>
      <p:sp>
        <p:nvSpPr>
          <p:cNvPr id="3" name="object 2">
            <a:extLst>
              <a:ext uri="{FF2B5EF4-FFF2-40B4-BE49-F238E27FC236}">
                <a16:creationId xmlns:a16="http://schemas.microsoft.com/office/drawing/2014/main" id="{507376D7-E8DB-CC2C-19EB-8F31D99D6D38}"/>
              </a:ext>
            </a:extLst>
          </p:cNvPr>
          <p:cNvSpPr txBox="1">
            <a:spLocks/>
          </p:cNvSpPr>
          <p:nvPr/>
        </p:nvSpPr>
        <p:spPr>
          <a:xfrm>
            <a:off x="138064" y="809808"/>
            <a:ext cx="8624937" cy="307777"/>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000" kern="0" spc="-80" dirty="0">
                <a:solidFill>
                  <a:schemeClr val="accent2"/>
                </a:solidFill>
              </a:rPr>
              <a:t>Monitoring vs Observability</a:t>
            </a:r>
            <a:endParaRPr lang="en-US" sz="2000" kern="0" spc="-80" dirty="0">
              <a:solidFill>
                <a:schemeClr val="accent6"/>
              </a:solidFill>
            </a:endParaRPr>
          </a:p>
        </p:txBody>
      </p:sp>
    </p:spTree>
    <p:extLst>
      <p:ext uri="{BB962C8B-B14F-4D97-AF65-F5344CB8AC3E}">
        <p14:creationId xmlns:p14="http://schemas.microsoft.com/office/powerpoint/2010/main" val="96225384"/>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p:nvPr/>
        </p:nvSpPr>
        <p:spPr>
          <a:xfrm>
            <a:off x="1756803" y="609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p:cNvSpPr/>
          <p:nvPr/>
        </p:nvSpPr>
        <p:spPr>
          <a:xfrm>
            <a:off x="1756803" y="457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226DC635-E9B3-0133-0548-37B556605D82}"/>
              </a:ext>
            </a:extLst>
          </p:cNvPr>
          <p:cNvGraphicFramePr/>
          <p:nvPr>
            <p:extLst>
              <p:ext uri="{D42A27DB-BD31-4B8C-83A1-F6EECF244321}">
                <p14:modId xmlns:p14="http://schemas.microsoft.com/office/powerpoint/2010/main" val="807745151"/>
              </p:ext>
            </p:extLst>
          </p:nvPr>
        </p:nvGraphicFramePr>
        <p:xfrm>
          <a:off x="76200" y="34425"/>
          <a:ext cx="8915398" cy="49897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object 2">
            <a:extLst>
              <a:ext uri="{FF2B5EF4-FFF2-40B4-BE49-F238E27FC236}">
                <a16:creationId xmlns:a16="http://schemas.microsoft.com/office/drawing/2014/main" id="{467B9D11-568F-0B6E-084E-840496724AFC}"/>
              </a:ext>
            </a:extLst>
          </p:cNvPr>
          <p:cNvSpPr txBox="1">
            <a:spLocks/>
          </p:cNvSpPr>
          <p:nvPr/>
        </p:nvSpPr>
        <p:spPr>
          <a:xfrm>
            <a:off x="228600" y="762000"/>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p:txBody>
      </p:sp>
      <p:sp>
        <p:nvSpPr>
          <p:cNvPr id="7" name="object 2">
            <a:extLst>
              <a:ext uri="{FF2B5EF4-FFF2-40B4-BE49-F238E27FC236}">
                <a16:creationId xmlns:a16="http://schemas.microsoft.com/office/drawing/2014/main" id="{D844A7B1-E550-0B17-B5D4-E0FB5CF44D9B}"/>
              </a:ext>
            </a:extLst>
          </p:cNvPr>
          <p:cNvSpPr txBox="1">
            <a:spLocks/>
          </p:cNvSpPr>
          <p:nvPr/>
        </p:nvSpPr>
        <p:spPr>
          <a:xfrm>
            <a:off x="138063" y="5023247"/>
            <a:ext cx="8624937" cy="246221"/>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600" kern="0" spc="-80" dirty="0">
                <a:solidFill>
                  <a:schemeClr val="accent2"/>
                </a:solidFill>
              </a:rPr>
              <a:t>  </a:t>
            </a:r>
          </a:p>
        </p:txBody>
      </p:sp>
      <p:sp>
        <p:nvSpPr>
          <p:cNvPr id="9" name="object 2">
            <a:extLst>
              <a:ext uri="{FF2B5EF4-FFF2-40B4-BE49-F238E27FC236}">
                <a16:creationId xmlns:a16="http://schemas.microsoft.com/office/drawing/2014/main" id="{DA848808-D5D9-7870-77AC-D802A3439182}"/>
              </a:ext>
            </a:extLst>
          </p:cNvPr>
          <p:cNvSpPr txBox="1">
            <a:spLocks/>
          </p:cNvSpPr>
          <p:nvPr/>
        </p:nvSpPr>
        <p:spPr>
          <a:xfrm>
            <a:off x="0" y="762000"/>
            <a:ext cx="8915399" cy="2462213"/>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Observability/Monitoring using MELT(Metrics, Events, Logs And Traces) –</a:t>
            </a:r>
          </a:p>
          <a:p>
            <a:pPr marL="12700" marR="5080"/>
            <a:r>
              <a:rPr lang="en-US" sz="1400" kern="0" spc="-80" dirty="0">
                <a:solidFill>
                  <a:schemeClr val="accent6"/>
                </a:solidFill>
              </a:rPr>
              <a:t>Can be used for monitoring Business Activity, Performance, Security, System Health, Cost (Controls) etc. Events are like actions taken(e.g. CRUD but can be more granular as in Event Driven DDD) &amp; you may log them in DB as part of Auditing. By the way,  any Batch Process should ideally have an associated Batch Observability table or Logs so that MELT specific stuffs w.r.t the Batch process can be tracked easily. Also, Dashboards, Alerts(if needed, based on data patterns) can be implemented based on observable data and Data Reconciliation can be done after that(if needed).Grafana is an awesome and simple tool to create Dashboards(if needed mismatched data can be seen for reconciliation as well) using logs/DB data &amp; Grafana can create Alerts as well.</a:t>
            </a:r>
          </a:p>
        </p:txBody>
      </p:sp>
      <p:pic>
        <p:nvPicPr>
          <p:cNvPr id="8" name="Picture 7">
            <a:extLst>
              <a:ext uri="{FF2B5EF4-FFF2-40B4-BE49-F238E27FC236}">
                <a16:creationId xmlns:a16="http://schemas.microsoft.com/office/drawing/2014/main" id="{2249A44A-9FFE-3FD3-B67F-E81FACD42DB0}"/>
              </a:ext>
            </a:extLst>
          </p:cNvPr>
          <p:cNvPicPr>
            <a:picLocks noChangeAspect="1"/>
          </p:cNvPicPr>
          <p:nvPr/>
        </p:nvPicPr>
        <p:blipFill>
          <a:blip r:embed="rId7"/>
          <a:stretch>
            <a:fillRect/>
          </a:stretch>
        </p:blipFill>
        <p:spPr>
          <a:xfrm>
            <a:off x="-7861" y="3199905"/>
            <a:ext cx="8915398" cy="2709270"/>
          </a:xfrm>
          <a:prstGeom prst="rect">
            <a:avLst/>
          </a:prstGeom>
        </p:spPr>
      </p:pic>
    </p:spTree>
    <p:extLst>
      <p:ext uri="{BB962C8B-B14F-4D97-AF65-F5344CB8AC3E}">
        <p14:creationId xmlns:p14="http://schemas.microsoft.com/office/powerpoint/2010/main" val="1843560731"/>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00F901-4613-5805-1E92-FB1052A660AA}"/>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D41840ED-4993-E359-38C4-755602ADAB18}"/>
              </a:ext>
            </a:extLst>
          </p:cNvPr>
          <p:cNvSpPr/>
          <p:nvPr/>
        </p:nvSpPr>
        <p:spPr>
          <a:xfrm>
            <a:off x="1756803" y="648336"/>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57E98437-A798-4437-F713-07708E7EE31C}"/>
              </a:ext>
            </a:extLst>
          </p:cNvPr>
          <p:cNvSpPr/>
          <p:nvPr/>
        </p:nvSpPr>
        <p:spPr>
          <a:xfrm>
            <a:off x="1756803" y="495936"/>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098ADB16-7AC2-A253-54EB-A96F3978A38B}"/>
              </a:ext>
            </a:extLst>
          </p:cNvPr>
          <p:cNvGraphicFramePr/>
          <p:nvPr>
            <p:extLst>
              <p:ext uri="{D42A27DB-BD31-4B8C-83A1-F6EECF244321}">
                <p14:modId xmlns:p14="http://schemas.microsoft.com/office/powerpoint/2010/main" val="240795892"/>
              </p:ext>
            </p:extLst>
          </p:nvPr>
        </p:nvGraphicFramePr>
        <p:xfrm>
          <a:off x="0" y="34425"/>
          <a:ext cx="9144000" cy="407873"/>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2" name="object 2">
            <a:extLst>
              <a:ext uri="{FF2B5EF4-FFF2-40B4-BE49-F238E27FC236}">
                <a16:creationId xmlns:a16="http://schemas.microsoft.com/office/drawing/2014/main" id="{904EF0BC-2256-4892-B4A1-023B39F090A2}"/>
              </a:ext>
            </a:extLst>
          </p:cNvPr>
          <p:cNvSpPr txBox="1">
            <a:spLocks/>
          </p:cNvSpPr>
          <p:nvPr/>
        </p:nvSpPr>
        <p:spPr>
          <a:xfrm>
            <a:off x="228600" y="762000"/>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p:txBody>
      </p:sp>
      <p:sp>
        <p:nvSpPr>
          <p:cNvPr id="7" name="object 2">
            <a:extLst>
              <a:ext uri="{FF2B5EF4-FFF2-40B4-BE49-F238E27FC236}">
                <a16:creationId xmlns:a16="http://schemas.microsoft.com/office/drawing/2014/main" id="{A02384CC-0133-4429-AF89-C2E998B622A6}"/>
              </a:ext>
            </a:extLst>
          </p:cNvPr>
          <p:cNvSpPr txBox="1">
            <a:spLocks/>
          </p:cNvSpPr>
          <p:nvPr/>
        </p:nvSpPr>
        <p:spPr>
          <a:xfrm>
            <a:off x="0" y="800736"/>
            <a:ext cx="8624937" cy="5001369"/>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300" kern="0" spc="-80" dirty="0">
                <a:solidFill>
                  <a:schemeClr val="accent2"/>
                </a:solidFill>
              </a:rPr>
              <a:t>Key Concepts on Observability with Open Telemetry in .NET</a:t>
            </a:r>
          </a:p>
          <a:p>
            <a:pPr marL="12700" marR="5080"/>
            <a:r>
              <a:rPr lang="en-US" sz="1300" kern="0" spc="-80" dirty="0">
                <a:solidFill>
                  <a:schemeClr val="accent6"/>
                </a:solidFill>
              </a:rPr>
              <a:t>Observability in .NET with </a:t>
            </a:r>
            <a:r>
              <a:rPr lang="en-US" sz="1300" kern="0" spc="-80" dirty="0" err="1">
                <a:solidFill>
                  <a:schemeClr val="accent6"/>
                </a:solidFill>
              </a:rPr>
              <a:t>OpenTelemetry</a:t>
            </a:r>
            <a:r>
              <a:rPr lang="en-US" sz="1300" kern="0" spc="-80" dirty="0">
                <a:solidFill>
                  <a:schemeClr val="accent6"/>
                </a:solidFill>
              </a:rPr>
              <a:t> relies on three pillars: </a:t>
            </a:r>
          </a:p>
          <a:p>
            <a:pPr marL="12700" marR="5080"/>
            <a:r>
              <a:rPr lang="en-US" sz="1300" kern="0" spc="-80" dirty="0">
                <a:solidFill>
                  <a:schemeClr val="accent2"/>
                </a:solidFill>
              </a:rPr>
              <a:t>Distributed Tracing: </a:t>
            </a:r>
            <a:r>
              <a:rPr lang="en-US" sz="1300" kern="0" spc="-80" dirty="0">
                <a:solidFill>
                  <a:schemeClr val="accent6"/>
                </a:solidFill>
              </a:rPr>
              <a:t>Tracks the path of a single request across multiple services in a distributed system. Each operation within a trace is a span, which helps pinpoint performance bottlenecks and failures.</a:t>
            </a:r>
          </a:p>
          <a:p>
            <a:pPr marL="12700" marR="5080"/>
            <a:r>
              <a:rPr lang="en-US" sz="1300" kern="0" spc="-80" dirty="0">
                <a:solidFill>
                  <a:schemeClr val="accent2"/>
                </a:solidFill>
              </a:rPr>
              <a:t>Metrics: </a:t>
            </a:r>
            <a:r>
              <a:rPr lang="en-US" sz="1300" kern="0" spc="-80" dirty="0">
                <a:solidFill>
                  <a:schemeClr val="accent6"/>
                </a:solidFill>
              </a:rPr>
              <a:t>Quantitative measurements of application health and performance over time (e.g., request counts, latency, CPU usage).</a:t>
            </a:r>
          </a:p>
          <a:p>
            <a:pPr marL="12700" marR="5080"/>
            <a:r>
              <a:rPr lang="en-US" sz="1300" kern="0" spc="-80" dirty="0">
                <a:solidFill>
                  <a:schemeClr val="accent2"/>
                </a:solidFill>
              </a:rPr>
              <a:t>Logs: </a:t>
            </a:r>
            <a:r>
              <a:rPr lang="en-US" sz="1300" kern="0" spc="-80" dirty="0">
                <a:solidFill>
                  <a:schemeClr val="accent6"/>
                </a:solidFill>
              </a:rPr>
              <a:t>Contextual, human-readable records of events or errors that occurred within the application, which can be correlated with traces and spans for easier debugging. </a:t>
            </a:r>
          </a:p>
          <a:p>
            <a:pPr marL="12700" marR="5080"/>
            <a:endParaRPr lang="en-US" sz="1300" kern="0" spc="-80" dirty="0">
              <a:solidFill>
                <a:schemeClr val="accent6"/>
              </a:solidFill>
            </a:endParaRPr>
          </a:p>
          <a:p>
            <a:pPr marL="12700" marR="5080"/>
            <a:r>
              <a:rPr lang="en-US" sz="1300" kern="0" spc="-80" dirty="0">
                <a:solidFill>
                  <a:schemeClr val="accent2"/>
                </a:solidFill>
              </a:rPr>
              <a:t>Implementation in .NET</a:t>
            </a:r>
          </a:p>
          <a:p>
            <a:pPr marL="12700" marR="5080"/>
            <a:r>
              <a:rPr lang="en-US" sz="1300" kern="0" spc="-80" dirty="0">
                <a:solidFill>
                  <a:schemeClr val="accent6"/>
                </a:solidFill>
              </a:rPr>
              <a:t>The .NET implementation of </a:t>
            </a:r>
            <a:r>
              <a:rPr lang="en-US" sz="1300" kern="0" spc="-80" dirty="0" err="1">
                <a:solidFill>
                  <a:schemeClr val="accent6"/>
                </a:solidFill>
              </a:rPr>
              <a:t>OpenTelemetry</a:t>
            </a:r>
            <a:r>
              <a:rPr lang="en-US" sz="1300" kern="0" spc="-80" dirty="0">
                <a:solidFill>
                  <a:schemeClr val="accent6"/>
                </a:solidFill>
              </a:rPr>
              <a:t> leverages built-in .NET APIs (</a:t>
            </a:r>
            <a:r>
              <a:rPr lang="en-US" sz="1300" kern="0" spc="-80" dirty="0" err="1">
                <a:solidFill>
                  <a:schemeClr val="accent6"/>
                </a:solidFill>
              </a:rPr>
              <a:t>System.Diagnostics.ActivitySource</a:t>
            </a:r>
            <a:r>
              <a:rPr lang="en-US" sz="1300" kern="0" spc="-80" dirty="0">
                <a:solidFill>
                  <a:schemeClr val="accent6"/>
                </a:solidFill>
              </a:rPr>
              <a:t>, </a:t>
            </a:r>
            <a:r>
              <a:rPr lang="en-US" sz="1300" kern="0" spc="-80" dirty="0" err="1">
                <a:solidFill>
                  <a:schemeClr val="accent6"/>
                </a:solidFill>
              </a:rPr>
              <a:t>System.Diagnostics.Metrics.Meter</a:t>
            </a:r>
            <a:r>
              <a:rPr lang="en-US" sz="1300" kern="0" spc="-80" dirty="0">
                <a:solidFill>
                  <a:schemeClr val="accent6"/>
                </a:solidFill>
              </a:rPr>
              <a:t>, </a:t>
            </a:r>
            <a:r>
              <a:rPr lang="en-US" sz="1300" kern="0" spc="-80" dirty="0" err="1">
                <a:solidFill>
                  <a:schemeClr val="accent6"/>
                </a:solidFill>
              </a:rPr>
              <a:t>Microsoft.Extensions.Logging</a:t>
            </a:r>
            <a:r>
              <a:rPr lang="en-US" sz="1300" kern="0" spc="-80" dirty="0">
                <a:solidFill>
                  <a:schemeClr val="accent6"/>
                </a:solidFill>
              </a:rPr>
              <a:t>) to collect data, which is then managed by the </a:t>
            </a:r>
            <a:r>
              <a:rPr lang="en-US" sz="1300" kern="0" spc="-80" dirty="0" err="1">
                <a:solidFill>
                  <a:schemeClr val="accent6"/>
                </a:solidFill>
              </a:rPr>
              <a:t>OpenTelemetry</a:t>
            </a:r>
            <a:r>
              <a:rPr lang="en-US" sz="1300" kern="0" spc="-80" dirty="0">
                <a:solidFill>
                  <a:schemeClr val="accent6"/>
                </a:solidFill>
              </a:rPr>
              <a:t> SDK. </a:t>
            </a:r>
          </a:p>
          <a:p>
            <a:pPr marL="12700" marR="5080"/>
            <a:endParaRPr lang="en-US" sz="1300" kern="0" spc="-80" dirty="0">
              <a:solidFill>
                <a:schemeClr val="accent2"/>
              </a:solidFill>
            </a:endParaRPr>
          </a:p>
          <a:p>
            <a:pPr marL="12700" marR="5080"/>
            <a:r>
              <a:rPr lang="en-US" sz="1300" kern="0" spc="-80" dirty="0">
                <a:solidFill>
                  <a:schemeClr val="accent2"/>
                </a:solidFill>
              </a:rPr>
              <a:t>Setup Steps</a:t>
            </a:r>
          </a:p>
          <a:p>
            <a:pPr marL="12700" marR="5080"/>
            <a:r>
              <a:rPr lang="en-US" sz="1300" kern="0" spc="-80" dirty="0">
                <a:solidFill>
                  <a:schemeClr val="accent6"/>
                </a:solidFill>
              </a:rPr>
              <a:t>Install Necessary NuGet Packages: Add the core </a:t>
            </a:r>
            <a:r>
              <a:rPr lang="en-US" sz="1300" kern="0" spc="-80" dirty="0" err="1">
                <a:solidFill>
                  <a:schemeClr val="accent6"/>
                </a:solidFill>
              </a:rPr>
              <a:t>OpenTelemetry</a:t>
            </a:r>
            <a:r>
              <a:rPr lang="en-US" sz="1300" kern="0" spc="-80" dirty="0">
                <a:solidFill>
                  <a:schemeClr val="accent6"/>
                </a:solidFill>
              </a:rPr>
              <a:t> library and relevant instrumentation and exporter packages.</a:t>
            </a:r>
          </a:p>
          <a:p>
            <a:pPr marL="12700" marR="5080"/>
            <a:r>
              <a:rPr lang="en-US" sz="1300" kern="0" spc="-80" dirty="0">
                <a:solidFill>
                  <a:schemeClr val="accent6"/>
                </a:solidFill>
              </a:rPr>
              <a:t>bash</a:t>
            </a:r>
          </a:p>
          <a:p>
            <a:pPr marL="12700" marR="5080"/>
            <a:r>
              <a:rPr lang="en-US" sz="1300" kern="0" spc="-80" dirty="0">
                <a:solidFill>
                  <a:schemeClr val="accent6"/>
                </a:solidFill>
              </a:rPr>
              <a:t>dotnet add package </a:t>
            </a:r>
            <a:r>
              <a:rPr lang="en-US" sz="1300" kern="0" spc="-80" dirty="0" err="1">
                <a:solidFill>
                  <a:schemeClr val="accent6"/>
                </a:solidFill>
              </a:rPr>
              <a:t>OpenTelemetry.Extensions.Hosting</a:t>
            </a:r>
            <a:endParaRPr lang="en-US" sz="1300" kern="0" spc="-80" dirty="0">
              <a:solidFill>
                <a:schemeClr val="accent6"/>
              </a:solidFill>
            </a:endParaRPr>
          </a:p>
          <a:p>
            <a:pPr marL="12700" marR="5080"/>
            <a:r>
              <a:rPr lang="en-US" sz="1300" kern="0" spc="-80" dirty="0">
                <a:solidFill>
                  <a:schemeClr val="accent6"/>
                </a:solidFill>
              </a:rPr>
              <a:t>dotnet add package </a:t>
            </a:r>
            <a:r>
              <a:rPr lang="en-US" sz="1300" kern="0" spc="-80" dirty="0" err="1">
                <a:solidFill>
                  <a:schemeClr val="accent6"/>
                </a:solidFill>
              </a:rPr>
              <a:t>OpenTelemetry.Instrumentation.AspNetCore</a:t>
            </a:r>
            <a:endParaRPr lang="en-US" sz="1300" kern="0" spc="-80" dirty="0">
              <a:solidFill>
                <a:schemeClr val="accent6"/>
              </a:solidFill>
            </a:endParaRPr>
          </a:p>
          <a:p>
            <a:pPr marL="12700" marR="5080"/>
            <a:r>
              <a:rPr lang="en-US" sz="1300" kern="0" spc="-80" dirty="0">
                <a:solidFill>
                  <a:schemeClr val="accent6"/>
                </a:solidFill>
              </a:rPr>
              <a:t>dotnet add package </a:t>
            </a:r>
            <a:r>
              <a:rPr lang="en-US" sz="1300" kern="0" spc="-80" dirty="0" err="1">
                <a:solidFill>
                  <a:schemeClr val="accent6"/>
                </a:solidFill>
              </a:rPr>
              <a:t>OpenTelemetry.Exporter.OpenTelemetryProtocol</a:t>
            </a:r>
            <a:endParaRPr lang="en-US" sz="1300" kern="0" spc="-80" dirty="0">
              <a:solidFill>
                <a:schemeClr val="accent6"/>
              </a:solidFill>
            </a:endParaRPr>
          </a:p>
          <a:p>
            <a:pPr marL="12700" marR="5080"/>
            <a:r>
              <a:rPr lang="en-US" sz="1300" kern="0" spc="-80" dirty="0">
                <a:solidFill>
                  <a:schemeClr val="accent6"/>
                </a:solidFill>
              </a:rPr>
              <a:t># Add other instrumentation packages for </a:t>
            </a:r>
            <a:r>
              <a:rPr lang="en-US" sz="1300" kern="0" spc="-80" dirty="0" err="1">
                <a:solidFill>
                  <a:schemeClr val="accent6"/>
                </a:solidFill>
              </a:rPr>
              <a:t>HttpClient</a:t>
            </a:r>
            <a:r>
              <a:rPr lang="en-US" sz="1300" kern="0" spc="-80" dirty="0">
                <a:solidFill>
                  <a:schemeClr val="accent6"/>
                </a:solidFill>
              </a:rPr>
              <a:t>, </a:t>
            </a:r>
            <a:r>
              <a:rPr lang="en-US" sz="1300" kern="0" spc="-80" dirty="0" err="1">
                <a:solidFill>
                  <a:schemeClr val="accent6"/>
                </a:solidFill>
              </a:rPr>
              <a:t>SqlClient</a:t>
            </a:r>
            <a:r>
              <a:rPr lang="en-US" sz="1300" kern="0" spc="-80" dirty="0">
                <a:solidFill>
                  <a:schemeClr val="accent6"/>
                </a:solidFill>
              </a:rPr>
              <a:t>, etc.</a:t>
            </a:r>
          </a:p>
          <a:p>
            <a:pPr marL="12700" marR="5080"/>
            <a:r>
              <a:rPr lang="en-US" sz="1300" kern="0" spc="-80" dirty="0">
                <a:solidFill>
                  <a:schemeClr val="accent6"/>
                </a:solidFill>
              </a:rPr>
              <a:t>Configure </a:t>
            </a:r>
            <a:r>
              <a:rPr lang="en-US" sz="1300" kern="0" spc="-80" dirty="0" err="1">
                <a:solidFill>
                  <a:schemeClr val="accent6"/>
                </a:solidFill>
              </a:rPr>
              <a:t>OpenTelemetry</a:t>
            </a:r>
            <a:r>
              <a:rPr lang="en-US" sz="1300" kern="0" spc="-80" dirty="0">
                <a:solidFill>
                  <a:schemeClr val="accent6"/>
                </a:solidFill>
              </a:rPr>
              <a:t> in </a:t>
            </a:r>
            <a:r>
              <a:rPr lang="en-US" sz="1300" kern="0" spc="-80" dirty="0" err="1">
                <a:solidFill>
                  <a:schemeClr val="accent6"/>
                </a:solidFill>
              </a:rPr>
              <a:t>Program.cs</a:t>
            </a:r>
            <a:r>
              <a:rPr lang="en-US" sz="1300" kern="0" spc="-80" dirty="0">
                <a:solidFill>
                  <a:schemeClr val="accent6"/>
                </a:solidFill>
              </a:rPr>
              <a:t>: In a typical ASP.NET Core application, configure the services to add tracing, metrics, and logging, and specify an exporter. The OTLP (</a:t>
            </a:r>
            <a:r>
              <a:rPr lang="en-US" sz="1300" kern="0" spc="-80" dirty="0" err="1">
                <a:solidFill>
                  <a:schemeClr val="accent6"/>
                </a:solidFill>
              </a:rPr>
              <a:t>OpenTelemetry</a:t>
            </a:r>
            <a:r>
              <a:rPr lang="en-US" sz="1300" kern="0" spc="-80" dirty="0">
                <a:solidFill>
                  <a:schemeClr val="accent6"/>
                </a:solidFill>
              </a:rPr>
              <a:t> Protocol) exporter is the vendor-neutral default for sending data to a backend.</a:t>
            </a:r>
          </a:p>
        </p:txBody>
      </p:sp>
    </p:spTree>
    <p:extLst>
      <p:ext uri="{BB962C8B-B14F-4D97-AF65-F5344CB8AC3E}">
        <p14:creationId xmlns:p14="http://schemas.microsoft.com/office/powerpoint/2010/main" val="1097309794"/>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24054D-2E39-9832-3188-06BE505C9823}"/>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A04A04BD-B419-D528-3F84-67BF98DE0BB1}"/>
              </a:ext>
            </a:extLst>
          </p:cNvPr>
          <p:cNvSpPr/>
          <p:nvPr/>
        </p:nvSpPr>
        <p:spPr>
          <a:xfrm>
            <a:off x="1756803" y="648336"/>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395E695D-4FA8-D02C-40FD-818C41155E42}"/>
              </a:ext>
            </a:extLst>
          </p:cNvPr>
          <p:cNvSpPr/>
          <p:nvPr/>
        </p:nvSpPr>
        <p:spPr>
          <a:xfrm>
            <a:off x="1756803" y="495936"/>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43893328-5961-6F8A-0AEF-353217352C2C}"/>
              </a:ext>
            </a:extLst>
          </p:cNvPr>
          <p:cNvGraphicFramePr/>
          <p:nvPr>
            <p:extLst>
              <p:ext uri="{D42A27DB-BD31-4B8C-83A1-F6EECF244321}">
                <p14:modId xmlns:p14="http://schemas.microsoft.com/office/powerpoint/2010/main" val="3432023731"/>
              </p:ext>
            </p:extLst>
          </p:nvPr>
        </p:nvGraphicFramePr>
        <p:xfrm>
          <a:off x="0" y="34425"/>
          <a:ext cx="9144000" cy="407873"/>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2" name="object 2">
            <a:extLst>
              <a:ext uri="{FF2B5EF4-FFF2-40B4-BE49-F238E27FC236}">
                <a16:creationId xmlns:a16="http://schemas.microsoft.com/office/drawing/2014/main" id="{462C2D40-E3B2-9AC7-E661-2EE86AE9F396}"/>
              </a:ext>
            </a:extLst>
          </p:cNvPr>
          <p:cNvSpPr txBox="1">
            <a:spLocks/>
          </p:cNvSpPr>
          <p:nvPr/>
        </p:nvSpPr>
        <p:spPr>
          <a:xfrm>
            <a:off x="228600" y="762000"/>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p:txBody>
      </p:sp>
      <p:sp>
        <p:nvSpPr>
          <p:cNvPr id="7" name="object 2">
            <a:extLst>
              <a:ext uri="{FF2B5EF4-FFF2-40B4-BE49-F238E27FC236}">
                <a16:creationId xmlns:a16="http://schemas.microsoft.com/office/drawing/2014/main" id="{D2AF8CC0-98E2-BAE6-4C32-C8E9D12A85BE}"/>
              </a:ext>
            </a:extLst>
          </p:cNvPr>
          <p:cNvSpPr txBox="1">
            <a:spLocks/>
          </p:cNvSpPr>
          <p:nvPr/>
        </p:nvSpPr>
        <p:spPr>
          <a:xfrm>
            <a:off x="0" y="800736"/>
            <a:ext cx="8624937" cy="520142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300" kern="0" spc="-80" dirty="0">
                <a:solidFill>
                  <a:schemeClr val="accent2"/>
                </a:solidFill>
              </a:rPr>
              <a:t>Implementation in .NET</a:t>
            </a:r>
          </a:p>
          <a:p>
            <a:pPr marL="12700" marR="5080"/>
            <a:r>
              <a:rPr lang="en-US" sz="1300" kern="0" spc="-80" dirty="0">
                <a:solidFill>
                  <a:schemeClr val="accent2"/>
                </a:solidFill>
              </a:rPr>
              <a:t>Setup Steps</a:t>
            </a:r>
          </a:p>
          <a:p>
            <a:pPr marL="12700" marR="5080"/>
            <a:r>
              <a:rPr lang="en-US" sz="1300" kern="0" spc="-80" dirty="0">
                <a:solidFill>
                  <a:schemeClr val="accent6"/>
                </a:solidFill>
              </a:rPr>
              <a:t>using </a:t>
            </a:r>
            <a:r>
              <a:rPr lang="en-US" sz="1300" kern="0" spc="-80" dirty="0" err="1">
                <a:solidFill>
                  <a:schemeClr val="accent6"/>
                </a:solidFill>
              </a:rPr>
              <a:t>OpenTelemetry.Metrics</a:t>
            </a:r>
            <a:r>
              <a:rPr lang="en-US" sz="1300" kern="0" spc="-80" dirty="0">
                <a:solidFill>
                  <a:schemeClr val="accent6"/>
                </a:solidFill>
              </a:rPr>
              <a:t>;</a:t>
            </a:r>
          </a:p>
          <a:p>
            <a:pPr marL="12700" marR="5080"/>
            <a:r>
              <a:rPr lang="en-US" sz="1300" kern="0" spc="-80" dirty="0">
                <a:solidFill>
                  <a:schemeClr val="accent6"/>
                </a:solidFill>
              </a:rPr>
              <a:t>using </a:t>
            </a:r>
            <a:r>
              <a:rPr lang="en-US" sz="1300" kern="0" spc="-80" dirty="0" err="1">
                <a:solidFill>
                  <a:schemeClr val="accent6"/>
                </a:solidFill>
              </a:rPr>
              <a:t>OpenTelemetry.Trace</a:t>
            </a:r>
            <a:r>
              <a:rPr lang="en-US" sz="1300" kern="0" spc="-80" dirty="0">
                <a:solidFill>
                  <a:schemeClr val="accent6"/>
                </a:solidFill>
              </a:rPr>
              <a:t>;</a:t>
            </a:r>
          </a:p>
          <a:p>
            <a:pPr marL="12700" marR="5080"/>
            <a:r>
              <a:rPr lang="en-US" sz="1300" kern="0" spc="-80" dirty="0">
                <a:solidFill>
                  <a:schemeClr val="accent6"/>
                </a:solidFill>
              </a:rPr>
              <a:t>// ...</a:t>
            </a:r>
          </a:p>
          <a:p>
            <a:pPr marL="12700" marR="5080"/>
            <a:r>
              <a:rPr lang="en-US" sz="1300" kern="0" spc="-80" dirty="0" err="1">
                <a:solidFill>
                  <a:schemeClr val="accent6"/>
                </a:solidFill>
              </a:rPr>
              <a:t>builder.Services.AddOpenTelemetry</a:t>
            </a:r>
            <a:r>
              <a:rPr lang="en-US" sz="1300" kern="0" spc="-80" dirty="0">
                <a:solidFill>
                  <a:schemeClr val="accent6"/>
                </a:solidFill>
              </a:rPr>
              <a:t>()</a:t>
            </a:r>
          </a:p>
          <a:p>
            <a:pPr marL="12700" marR="5080"/>
            <a:r>
              <a:rPr lang="en-US" sz="1300" kern="0" spc="-80" dirty="0">
                <a:solidFill>
                  <a:schemeClr val="accent6"/>
                </a:solidFill>
              </a:rPr>
              <a:t>    .</a:t>
            </a:r>
            <a:r>
              <a:rPr lang="en-US" sz="1300" kern="0" spc="-80" dirty="0" err="1">
                <a:solidFill>
                  <a:schemeClr val="accent6"/>
                </a:solidFill>
              </a:rPr>
              <a:t>ConfigureResource</a:t>
            </a:r>
            <a:r>
              <a:rPr lang="en-US" sz="1300" kern="0" spc="-80" dirty="0">
                <a:solidFill>
                  <a:schemeClr val="accent6"/>
                </a:solidFill>
              </a:rPr>
              <a:t>(resource =&gt; </a:t>
            </a:r>
            <a:r>
              <a:rPr lang="en-US" sz="1300" kern="0" spc="-80" dirty="0" err="1">
                <a:solidFill>
                  <a:schemeClr val="accent6"/>
                </a:solidFill>
              </a:rPr>
              <a:t>resource.AddService</a:t>
            </a:r>
            <a:r>
              <a:rPr lang="en-US" sz="1300" kern="0" spc="-80" dirty="0">
                <a:solidFill>
                  <a:schemeClr val="accent6"/>
                </a:solidFill>
              </a:rPr>
              <a:t>("</a:t>
            </a:r>
            <a:r>
              <a:rPr lang="en-US" sz="1300" kern="0" spc="-80" dirty="0" err="1">
                <a:solidFill>
                  <a:schemeClr val="accent6"/>
                </a:solidFill>
              </a:rPr>
              <a:t>MyServiceName</a:t>
            </a:r>
            <a:r>
              <a:rPr lang="en-US" sz="1300" kern="0" spc="-80" dirty="0">
                <a:solidFill>
                  <a:schemeClr val="accent6"/>
                </a:solidFill>
              </a:rPr>
              <a:t>"))</a:t>
            </a:r>
          </a:p>
          <a:p>
            <a:pPr marL="12700" marR="5080"/>
            <a:r>
              <a:rPr lang="en-US" sz="1300" kern="0" spc="-80" dirty="0">
                <a:solidFill>
                  <a:schemeClr val="accent6"/>
                </a:solidFill>
              </a:rPr>
              <a:t>    .</a:t>
            </a:r>
            <a:r>
              <a:rPr lang="en-US" sz="1300" kern="0" spc="-80" dirty="0" err="1">
                <a:solidFill>
                  <a:schemeClr val="accent6"/>
                </a:solidFill>
              </a:rPr>
              <a:t>WithTracing</a:t>
            </a:r>
            <a:r>
              <a:rPr lang="en-US" sz="1300" kern="0" spc="-80" dirty="0">
                <a:solidFill>
                  <a:schemeClr val="accent6"/>
                </a:solidFill>
              </a:rPr>
              <a:t>(tracing =&gt;</a:t>
            </a:r>
          </a:p>
          <a:p>
            <a:pPr marL="12700" marR="5080"/>
            <a:r>
              <a:rPr lang="en-US" sz="1300" kern="0" spc="-80" dirty="0">
                <a:solidFill>
                  <a:schemeClr val="accent6"/>
                </a:solidFill>
              </a:rPr>
              <a:t>    {</a:t>
            </a:r>
          </a:p>
          <a:p>
            <a:pPr marL="12700" marR="5080"/>
            <a:r>
              <a:rPr lang="en-US" sz="1300" kern="0" spc="-80" dirty="0">
                <a:solidFill>
                  <a:schemeClr val="accent6"/>
                </a:solidFill>
              </a:rPr>
              <a:t>        </a:t>
            </a:r>
            <a:r>
              <a:rPr lang="en-US" sz="1300" kern="0" spc="-80" dirty="0" err="1">
                <a:solidFill>
                  <a:schemeClr val="accent6"/>
                </a:solidFill>
              </a:rPr>
              <a:t>tracing.AddAspNetCoreInstrumentation</a:t>
            </a:r>
            <a:r>
              <a:rPr lang="en-US" sz="1300" kern="0" spc="-80" dirty="0">
                <a:solidFill>
                  <a:schemeClr val="accent6"/>
                </a:solidFill>
              </a:rPr>
              <a:t>();</a:t>
            </a:r>
          </a:p>
          <a:p>
            <a:pPr marL="12700" marR="5080"/>
            <a:r>
              <a:rPr lang="en-US" sz="1300" kern="0" spc="-80" dirty="0">
                <a:solidFill>
                  <a:schemeClr val="accent6"/>
                </a:solidFill>
              </a:rPr>
              <a:t>        </a:t>
            </a:r>
            <a:r>
              <a:rPr lang="en-US" sz="1300" kern="0" spc="-80" dirty="0" err="1">
                <a:solidFill>
                  <a:schemeClr val="accent6"/>
                </a:solidFill>
              </a:rPr>
              <a:t>tracing.AddHttpClientInstrumentation</a:t>
            </a:r>
            <a:r>
              <a:rPr lang="en-US" sz="1300" kern="0" spc="-80" dirty="0">
                <a:solidFill>
                  <a:schemeClr val="accent6"/>
                </a:solidFill>
              </a:rPr>
              <a:t>();</a:t>
            </a:r>
          </a:p>
          <a:p>
            <a:pPr marL="12700" marR="5080"/>
            <a:r>
              <a:rPr lang="en-US" sz="1300" kern="0" spc="-80" dirty="0">
                <a:solidFill>
                  <a:schemeClr val="accent6"/>
                </a:solidFill>
              </a:rPr>
              <a:t>        </a:t>
            </a:r>
            <a:r>
              <a:rPr lang="en-US" sz="1300" kern="0" spc="-80" dirty="0" err="1">
                <a:solidFill>
                  <a:schemeClr val="accent6"/>
                </a:solidFill>
              </a:rPr>
              <a:t>tracing.AddSource</a:t>
            </a:r>
            <a:r>
              <a:rPr lang="en-US" sz="1300" kern="0" spc="-80" dirty="0">
                <a:solidFill>
                  <a:schemeClr val="accent6"/>
                </a:solidFill>
              </a:rPr>
              <a:t>("</a:t>
            </a:r>
            <a:r>
              <a:rPr lang="en-US" sz="1300" kern="0" spc="-80" dirty="0" err="1">
                <a:solidFill>
                  <a:schemeClr val="accent6"/>
                </a:solidFill>
              </a:rPr>
              <a:t>MyCustomActivitySource</a:t>
            </a:r>
            <a:r>
              <a:rPr lang="en-US" sz="1300" kern="0" spc="-80" dirty="0">
                <a:solidFill>
                  <a:schemeClr val="accent6"/>
                </a:solidFill>
              </a:rPr>
              <a:t>"); // For manual spans</a:t>
            </a:r>
          </a:p>
          <a:p>
            <a:pPr marL="12700" marR="5080"/>
            <a:r>
              <a:rPr lang="en-US" sz="1300" kern="0" spc="-80" dirty="0">
                <a:solidFill>
                  <a:schemeClr val="accent6"/>
                </a:solidFill>
              </a:rPr>
              <a:t>        </a:t>
            </a:r>
            <a:r>
              <a:rPr lang="en-US" sz="1300" kern="0" spc="-80" dirty="0" err="1">
                <a:solidFill>
                  <a:schemeClr val="accent6"/>
                </a:solidFill>
              </a:rPr>
              <a:t>tracing.AddOtlpExporter</a:t>
            </a:r>
            <a:r>
              <a:rPr lang="en-US" sz="1300" kern="0" spc="-80" dirty="0">
                <a:solidFill>
                  <a:schemeClr val="accent6"/>
                </a:solidFill>
              </a:rPr>
              <a:t>();</a:t>
            </a:r>
          </a:p>
          <a:p>
            <a:pPr marL="12700" marR="5080"/>
            <a:r>
              <a:rPr lang="en-US" sz="1300" kern="0" spc="-80" dirty="0">
                <a:solidFill>
                  <a:schemeClr val="accent6"/>
                </a:solidFill>
              </a:rPr>
              <a:t>    })</a:t>
            </a:r>
          </a:p>
          <a:p>
            <a:pPr marL="12700" marR="5080"/>
            <a:r>
              <a:rPr lang="en-US" sz="1300" kern="0" spc="-80" dirty="0">
                <a:solidFill>
                  <a:schemeClr val="accent6"/>
                </a:solidFill>
              </a:rPr>
              <a:t>    .</a:t>
            </a:r>
            <a:r>
              <a:rPr lang="en-US" sz="1300" kern="0" spc="-80" dirty="0" err="1">
                <a:solidFill>
                  <a:schemeClr val="accent6"/>
                </a:solidFill>
              </a:rPr>
              <a:t>WithMetrics</a:t>
            </a:r>
            <a:r>
              <a:rPr lang="en-US" sz="1300" kern="0" spc="-80" dirty="0">
                <a:solidFill>
                  <a:schemeClr val="accent6"/>
                </a:solidFill>
              </a:rPr>
              <a:t>(metrics =&gt;</a:t>
            </a:r>
          </a:p>
          <a:p>
            <a:pPr marL="12700" marR="5080"/>
            <a:r>
              <a:rPr lang="en-US" sz="1300" kern="0" spc="-80" dirty="0">
                <a:solidFill>
                  <a:schemeClr val="accent6"/>
                </a:solidFill>
              </a:rPr>
              <a:t>    {</a:t>
            </a:r>
          </a:p>
          <a:p>
            <a:pPr marL="12700" marR="5080"/>
            <a:r>
              <a:rPr lang="en-US" sz="1300" kern="0" spc="-80" dirty="0">
                <a:solidFill>
                  <a:schemeClr val="accent6"/>
                </a:solidFill>
              </a:rPr>
              <a:t>        </a:t>
            </a:r>
            <a:r>
              <a:rPr lang="en-US" sz="1300" kern="0" spc="-80" dirty="0" err="1">
                <a:solidFill>
                  <a:schemeClr val="accent6"/>
                </a:solidFill>
              </a:rPr>
              <a:t>metrics.AddAspNetCoreInstrumentation</a:t>
            </a:r>
            <a:r>
              <a:rPr lang="en-US" sz="1300" kern="0" spc="-80" dirty="0">
                <a:solidFill>
                  <a:schemeClr val="accent6"/>
                </a:solidFill>
              </a:rPr>
              <a:t>();</a:t>
            </a:r>
          </a:p>
          <a:p>
            <a:pPr marL="12700" marR="5080"/>
            <a:r>
              <a:rPr lang="en-US" sz="1300" kern="0" spc="-80" dirty="0">
                <a:solidFill>
                  <a:schemeClr val="accent6"/>
                </a:solidFill>
              </a:rPr>
              <a:t>        </a:t>
            </a:r>
            <a:r>
              <a:rPr lang="en-US" sz="1300" kern="0" spc="-80" dirty="0" err="1">
                <a:solidFill>
                  <a:schemeClr val="accent6"/>
                </a:solidFill>
              </a:rPr>
              <a:t>metrics.AddMeter</a:t>
            </a:r>
            <a:r>
              <a:rPr lang="en-US" sz="1300" kern="0" spc="-80" dirty="0">
                <a:solidFill>
                  <a:schemeClr val="accent6"/>
                </a:solidFill>
              </a:rPr>
              <a:t>("</a:t>
            </a:r>
            <a:r>
              <a:rPr lang="en-US" sz="1300" kern="0" spc="-80" dirty="0" err="1">
                <a:solidFill>
                  <a:schemeClr val="accent6"/>
                </a:solidFill>
              </a:rPr>
              <a:t>MyCustomMeter</a:t>
            </a:r>
            <a:r>
              <a:rPr lang="en-US" sz="1300" kern="0" spc="-80" dirty="0">
                <a:solidFill>
                  <a:schemeClr val="accent6"/>
                </a:solidFill>
              </a:rPr>
              <a:t>"); // For manual metrics</a:t>
            </a:r>
          </a:p>
          <a:p>
            <a:pPr marL="12700" marR="5080"/>
            <a:r>
              <a:rPr lang="en-US" sz="1300" kern="0" spc="-80" dirty="0">
                <a:solidFill>
                  <a:schemeClr val="accent6"/>
                </a:solidFill>
              </a:rPr>
              <a:t>        </a:t>
            </a:r>
            <a:r>
              <a:rPr lang="en-US" sz="1300" kern="0" spc="-80" dirty="0" err="1">
                <a:solidFill>
                  <a:schemeClr val="accent6"/>
                </a:solidFill>
              </a:rPr>
              <a:t>metrics.AddOtlpExporter</a:t>
            </a:r>
            <a:r>
              <a:rPr lang="en-US" sz="1300" kern="0" spc="-80" dirty="0">
                <a:solidFill>
                  <a:schemeClr val="accent6"/>
                </a:solidFill>
              </a:rPr>
              <a:t>();</a:t>
            </a:r>
          </a:p>
          <a:p>
            <a:pPr marL="12700" marR="5080"/>
            <a:r>
              <a:rPr lang="en-US" sz="1300" kern="0" spc="-80" dirty="0">
                <a:solidFill>
                  <a:schemeClr val="accent6"/>
                </a:solidFill>
              </a:rPr>
              <a:t>    });</a:t>
            </a:r>
          </a:p>
          <a:p>
            <a:pPr marL="12700" marR="5080"/>
            <a:r>
              <a:rPr lang="en-US" sz="1300" kern="0" spc="-80" dirty="0">
                <a:solidFill>
                  <a:schemeClr val="accent6"/>
                </a:solidFill>
              </a:rPr>
              <a:t>// For logging, configure the logging builder</a:t>
            </a:r>
          </a:p>
          <a:p>
            <a:pPr marL="12700" marR="5080"/>
            <a:r>
              <a:rPr lang="en-US" sz="1300" kern="0" spc="-80" dirty="0" err="1">
                <a:solidFill>
                  <a:schemeClr val="accent6"/>
                </a:solidFill>
              </a:rPr>
              <a:t>builder.Logging.AddOpenTelemetry</a:t>
            </a:r>
            <a:r>
              <a:rPr lang="en-US" sz="1300" kern="0" spc="-80" dirty="0">
                <a:solidFill>
                  <a:schemeClr val="accent6"/>
                </a:solidFill>
              </a:rPr>
              <a:t>(logging =&gt; </a:t>
            </a:r>
            <a:r>
              <a:rPr lang="en-US" sz="1300" kern="0" spc="-80" dirty="0" err="1">
                <a:solidFill>
                  <a:schemeClr val="accent6"/>
                </a:solidFill>
              </a:rPr>
              <a:t>logging.AddOtlpExporter</a:t>
            </a:r>
            <a:r>
              <a:rPr lang="en-US" sz="1300" kern="0" spc="-80" dirty="0">
                <a:solidFill>
                  <a:schemeClr val="accent6"/>
                </a:solidFill>
              </a:rPr>
              <a:t>());</a:t>
            </a:r>
          </a:p>
          <a:p>
            <a:pPr marL="12700" marR="5080"/>
            <a:endParaRPr lang="en-US" sz="1300" kern="0" spc="-80" dirty="0">
              <a:solidFill>
                <a:schemeClr val="accent6"/>
              </a:solidFill>
            </a:endParaRPr>
          </a:p>
          <a:p>
            <a:pPr marL="12700" marR="5080"/>
            <a:r>
              <a:rPr lang="en-US" sz="1300" kern="0" spc="-80" dirty="0">
                <a:solidFill>
                  <a:schemeClr val="accent2"/>
                </a:solidFill>
              </a:rPr>
              <a:t>Use an Observability Backend: </a:t>
            </a:r>
            <a:r>
              <a:rPr lang="en-US" sz="1300" kern="0" spc="-80" dirty="0" err="1">
                <a:solidFill>
                  <a:schemeClr val="accent6"/>
                </a:solidFill>
              </a:rPr>
              <a:t>OpenTelemetry</a:t>
            </a:r>
            <a:r>
              <a:rPr lang="en-US" sz="1300" kern="0" spc="-80" dirty="0">
                <a:solidFill>
                  <a:schemeClr val="accent6"/>
                </a:solidFill>
              </a:rPr>
              <a:t> is not a backend itself. You need a compatible tool (like Jaeger, Prometheus and Grafana, Azure Monitor Application Insights, or Splunk) to receive, store, and visualize the telemetry data. The </a:t>
            </a:r>
            <a:r>
              <a:rPr lang="en-US" sz="1300" kern="0" spc="-80" dirty="0" err="1">
                <a:solidFill>
                  <a:schemeClr val="accent6"/>
                </a:solidFill>
              </a:rPr>
              <a:t>OpenTelemetry</a:t>
            </a:r>
            <a:r>
              <a:rPr lang="en-US" sz="1300" kern="0" spc="-80" dirty="0">
                <a:solidFill>
                  <a:schemeClr val="accent6"/>
                </a:solidFill>
              </a:rPr>
              <a:t> Collector can be used to receive and route data to multiple backends. </a:t>
            </a:r>
          </a:p>
        </p:txBody>
      </p:sp>
    </p:spTree>
    <p:extLst>
      <p:ext uri="{BB962C8B-B14F-4D97-AF65-F5344CB8AC3E}">
        <p14:creationId xmlns:p14="http://schemas.microsoft.com/office/powerpoint/2010/main" val="1171265704"/>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CB0B8F-A1B0-5B37-407C-5E075E690557}"/>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F2A1A4F2-0E57-13CE-C679-9F844A8C1665}"/>
              </a:ext>
            </a:extLst>
          </p:cNvPr>
          <p:cNvSpPr/>
          <p:nvPr/>
        </p:nvSpPr>
        <p:spPr>
          <a:xfrm>
            <a:off x="1756803" y="648336"/>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D0531401-C9CA-4302-34C8-87CE19E08C11}"/>
              </a:ext>
            </a:extLst>
          </p:cNvPr>
          <p:cNvSpPr/>
          <p:nvPr/>
        </p:nvSpPr>
        <p:spPr>
          <a:xfrm>
            <a:off x="1756803" y="495936"/>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C5491F46-A303-18CC-B650-10318D59BFBE}"/>
              </a:ext>
            </a:extLst>
          </p:cNvPr>
          <p:cNvGraphicFramePr/>
          <p:nvPr>
            <p:extLst>
              <p:ext uri="{D42A27DB-BD31-4B8C-83A1-F6EECF244321}">
                <p14:modId xmlns:p14="http://schemas.microsoft.com/office/powerpoint/2010/main" val="3040569792"/>
              </p:ext>
            </p:extLst>
          </p:nvPr>
        </p:nvGraphicFramePr>
        <p:xfrm>
          <a:off x="0" y="34425"/>
          <a:ext cx="9144000" cy="407873"/>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2" name="object 2">
            <a:extLst>
              <a:ext uri="{FF2B5EF4-FFF2-40B4-BE49-F238E27FC236}">
                <a16:creationId xmlns:a16="http://schemas.microsoft.com/office/drawing/2014/main" id="{B0FED8CA-3B13-0920-FE5D-FFAB51884DB7}"/>
              </a:ext>
            </a:extLst>
          </p:cNvPr>
          <p:cNvSpPr txBox="1">
            <a:spLocks/>
          </p:cNvSpPr>
          <p:nvPr/>
        </p:nvSpPr>
        <p:spPr>
          <a:xfrm>
            <a:off x="228600" y="762000"/>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p:txBody>
      </p:sp>
      <p:sp>
        <p:nvSpPr>
          <p:cNvPr id="7" name="object 2">
            <a:extLst>
              <a:ext uri="{FF2B5EF4-FFF2-40B4-BE49-F238E27FC236}">
                <a16:creationId xmlns:a16="http://schemas.microsoft.com/office/drawing/2014/main" id="{4687707D-5B1D-20CD-159F-91B6E156A356}"/>
              </a:ext>
            </a:extLst>
          </p:cNvPr>
          <p:cNvSpPr txBox="1">
            <a:spLocks/>
          </p:cNvSpPr>
          <p:nvPr/>
        </p:nvSpPr>
        <p:spPr>
          <a:xfrm>
            <a:off x="0" y="800736"/>
            <a:ext cx="8624937" cy="4385816"/>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500" kern="0" spc="-80" dirty="0">
                <a:solidFill>
                  <a:schemeClr val="accent2"/>
                </a:solidFill>
              </a:rPr>
              <a:t>Implementation in .NET</a:t>
            </a:r>
          </a:p>
          <a:p>
            <a:pPr marL="12700" marR="5080"/>
            <a:r>
              <a:rPr lang="en-US" sz="1500" kern="0" spc="-80" dirty="0">
                <a:solidFill>
                  <a:schemeClr val="accent2"/>
                </a:solidFill>
              </a:rPr>
              <a:t>Best Practices</a:t>
            </a:r>
          </a:p>
          <a:p>
            <a:pPr marL="12700" marR="5080"/>
            <a:r>
              <a:rPr lang="en-US" sz="1500" kern="0" spc="-80" dirty="0">
                <a:solidFill>
                  <a:schemeClr val="accent2"/>
                </a:solidFill>
              </a:rPr>
              <a:t>Monitoring and Alerting:</a:t>
            </a:r>
            <a:r>
              <a:rPr lang="en-US" sz="1500" kern="0" spc="-80" dirty="0">
                <a:solidFill>
                  <a:schemeClr val="accent6"/>
                </a:solidFill>
              </a:rPr>
              <a:t> For every service,  monitor Error rate (should be close to 0%) ,Response time (p50, p95, p99 percentiles) ,Request rate (to detect traffic spikes) ,Database connection pool usage, Memory usage (to catch leaks)  etc. Set up alerts for critical issues. But be careful—too many alerts and you'll ignore them all (alert fatigue is real).Alert on symptoms(latency increase, errors </a:t>
            </a:r>
            <a:r>
              <a:rPr lang="en-US" sz="1500" kern="0" spc="-80" dirty="0" err="1">
                <a:solidFill>
                  <a:schemeClr val="accent6"/>
                </a:solidFill>
              </a:rPr>
              <a:t>etc</a:t>
            </a:r>
            <a:r>
              <a:rPr lang="en-US" sz="1500" kern="0" spc="-80" dirty="0">
                <a:solidFill>
                  <a:schemeClr val="accent6"/>
                </a:solidFill>
              </a:rPr>
              <a:t>) that indicate SLO violation rather than raw </a:t>
            </a:r>
            <a:r>
              <a:rPr lang="en-US" sz="1500" kern="0" spc="-80">
                <a:solidFill>
                  <a:schemeClr val="accent6"/>
                </a:solidFill>
              </a:rPr>
              <a:t>resource thresholds.</a:t>
            </a:r>
            <a:endParaRPr lang="en-US" sz="1500" kern="0" spc="-80" dirty="0">
              <a:solidFill>
                <a:schemeClr val="accent6"/>
              </a:solidFill>
            </a:endParaRPr>
          </a:p>
          <a:p>
            <a:pPr marL="12700" marR="5080"/>
            <a:r>
              <a:rPr lang="en-US" sz="1500" kern="0" spc="-80" dirty="0">
                <a:solidFill>
                  <a:schemeClr val="accent2"/>
                </a:solidFill>
              </a:rPr>
              <a:t>Leverage Auto-Instrumentation:</a:t>
            </a:r>
            <a:r>
              <a:rPr lang="en-US" sz="1500" kern="0" spc="-80" dirty="0">
                <a:solidFill>
                  <a:schemeClr val="accent6"/>
                </a:solidFill>
              </a:rPr>
              <a:t> Use pre-built instrumentation packages for common libraries (ASP.NET Core, Entity Framework, </a:t>
            </a:r>
            <a:r>
              <a:rPr lang="en-US" sz="1500" kern="0" spc="-80" dirty="0" err="1">
                <a:solidFill>
                  <a:schemeClr val="accent6"/>
                </a:solidFill>
              </a:rPr>
              <a:t>HttpClient</a:t>
            </a:r>
            <a:r>
              <a:rPr lang="en-US" sz="1500" kern="0" spc="-80" dirty="0">
                <a:solidFill>
                  <a:schemeClr val="accent6"/>
                </a:solidFill>
              </a:rPr>
              <a:t>) to automatically capture data without manual code changes.</a:t>
            </a:r>
          </a:p>
          <a:p>
            <a:pPr marL="12700" marR="5080"/>
            <a:r>
              <a:rPr lang="en-US" sz="1500" kern="0" spc="-80" dirty="0">
                <a:solidFill>
                  <a:schemeClr val="accent2"/>
                </a:solidFill>
              </a:rPr>
              <a:t>Implement Custom Instrumentation:</a:t>
            </a:r>
            <a:r>
              <a:rPr lang="en-US" sz="1500" kern="0" spc="-80" dirty="0">
                <a:solidFill>
                  <a:schemeClr val="accent6"/>
                </a:solidFill>
              </a:rPr>
              <a:t> For business-specific operations not covered by auto-instrumentation, use the </a:t>
            </a:r>
            <a:r>
              <a:rPr lang="en-US" sz="1500" kern="0" spc="-80" dirty="0" err="1">
                <a:solidFill>
                  <a:schemeClr val="accent6"/>
                </a:solidFill>
              </a:rPr>
              <a:t>ActivitySource</a:t>
            </a:r>
            <a:r>
              <a:rPr lang="en-US" sz="1500" kern="0" spc="-80" dirty="0">
                <a:solidFill>
                  <a:schemeClr val="accent6"/>
                </a:solidFill>
              </a:rPr>
              <a:t> and Meter APIs in your code to add custom spans and metrics.</a:t>
            </a:r>
          </a:p>
          <a:p>
            <a:pPr marL="12700" marR="5080"/>
            <a:r>
              <a:rPr lang="en-US" sz="1500" kern="0" spc="-80" dirty="0">
                <a:solidFill>
                  <a:schemeClr val="accent2"/>
                </a:solidFill>
              </a:rPr>
              <a:t>Use Semantic Conventions: </a:t>
            </a:r>
            <a:r>
              <a:rPr lang="en-US" sz="1500" kern="0" spc="-80" dirty="0">
                <a:solidFill>
                  <a:schemeClr val="accent6"/>
                </a:solidFill>
              </a:rPr>
              <a:t>Follow the </a:t>
            </a:r>
            <a:r>
              <a:rPr lang="en-US" sz="1500" kern="0" spc="-80" dirty="0" err="1">
                <a:solidFill>
                  <a:schemeClr val="accent6"/>
                </a:solidFill>
              </a:rPr>
              <a:t>OpenTelemetry</a:t>
            </a:r>
            <a:r>
              <a:rPr lang="en-US" sz="1500" kern="0" spc="-80" dirty="0">
                <a:solidFill>
                  <a:schemeClr val="accent6"/>
                </a:solidFill>
              </a:rPr>
              <a:t> semantic conventions for naming spans and attributes to ensure consistency and compatibility across different tools and services.</a:t>
            </a:r>
          </a:p>
          <a:p>
            <a:pPr marL="12700" marR="5080"/>
            <a:r>
              <a:rPr lang="en-US" sz="1500" kern="0" spc="-80" dirty="0">
                <a:solidFill>
                  <a:schemeClr val="accent2"/>
                </a:solidFill>
              </a:rPr>
              <a:t>Correlate Telemetry: </a:t>
            </a:r>
            <a:r>
              <a:rPr lang="en-US" sz="1500" kern="0" spc="-80" dirty="0">
                <a:solidFill>
                  <a:schemeClr val="accent6"/>
                </a:solidFill>
              </a:rPr>
              <a:t>Ensure logs are enriched with trace and span IDs to link all three observability signals, which is crucial for effective debugging in distributed systems.</a:t>
            </a:r>
          </a:p>
          <a:p>
            <a:pPr marL="12700" marR="5080"/>
            <a:r>
              <a:rPr lang="en-US" sz="1500" kern="0" spc="-80" dirty="0">
                <a:solidFill>
                  <a:schemeClr val="accent2"/>
                </a:solidFill>
              </a:rPr>
              <a:t>Manage Data Volume with Sampling: </a:t>
            </a:r>
            <a:r>
              <a:rPr lang="en-US" sz="1500" kern="0" spc="-80" dirty="0">
                <a:solidFill>
                  <a:schemeClr val="accent6"/>
                </a:solidFill>
              </a:rPr>
              <a:t>In high-traffic production environments, configure sampling strategies to control the amount of data collected and minimize overhead. </a:t>
            </a:r>
          </a:p>
        </p:txBody>
      </p:sp>
    </p:spTree>
    <p:extLst>
      <p:ext uri="{BB962C8B-B14F-4D97-AF65-F5344CB8AC3E}">
        <p14:creationId xmlns:p14="http://schemas.microsoft.com/office/powerpoint/2010/main" val="3184819129"/>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8E70B7-0D2D-70B1-6325-51C232711E80}"/>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72949742-A58A-AAFB-3909-13199C90660A}"/>
              </a:ext>
            </a:extLst>
          </p:cNvPr>
          <p:cNvSpPr/>
          <p:nvPr/>
        </p:nvSpPr>
        <p:spPr>
          <a:xfrm>
            <a:off x="1756803" y="648336"/>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A5B3E519-965B-7172-14C5-23DC1F247338}"/>
              </a:ext>
            </a:extLst>
          </p:cNvPr>
          <p:cNvSpPr/>
          <p:nvPr/>
        </p:nvSpPr>
        <p:spPr>
          <a:xfrm>
            <a:off x="1756803" y="495936"/>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C8101E0B-F50C-F5D0-2A46-C011206C1F20}"/>
              </a:ext>
            </a:extLst>
          </p:cNvPr>
          <p:cNvGraphicFramePr/>
          <p:nvPr>
            <p:extLst>
              <p:ext uri="{D42A27DB-BD31-4B8C-83A1-F6EECF244321}">
                <p14:modId xmlns:p14="http://schemas.microsoft.com/office/powerpoint/2010/main" val="1731043456"/>
              </p:ext>
            </p:extLst>
          </p:nvPr>
        </p:nvGraphicFramePr>
        <p:xfrm>
          <a:off x="0" y="34425"/>
          <a:ext cx="9144000" cy="407873"/>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2" name="object 2">
            <a:extLst>
              <a:ext uri="{FF2B5EF4-FFF2-40B4-BE49-F238E27FC236}">
                <a16:creationId xmlns:a16="http://schemas.microsoft.com/office/drawing/2014/main" id="{52D61179-D57F-CC0E-30A4-C82EEB676E2F}"/>
              </a:ext>
            </a:extLst>
          </p:cNvPr>
          <p:cNvSpPr txBox="1">
            <a:spLocks/>
          </p:cNvSpPr>
          <p:nvPr/>
        </p:nvSpPr>
        <p:spPr>
          <a:xfrm>
            <a:off x="228600" y="762000"/>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p:txBody>
      </p:sp>
      <p:sp>
        <p:nvSpPr>
          <p:cNvPr id="7" name="object 2">
            <a:extLst>
              <a:ext uri="{FF2B5EF4-FFF2-40B4-BE49-F238E27FC236}">
                <a16:creationId xmlns:a16="http://schemas.microsoft.com/office/drawing/2014/main" id="{451BD65D-81A8-4B8A-02B4-F99649E5EBA0}"/>
              </a:ext>
            </a:extLst>
          </p:cNvPr>
          <p:cNvSpPr txBox="1">
            <a:spLocks/>
          </p:cNvSpPr>
          <p:nvPr/>
        </p:nvSpPr>
        <p:spPr>
          <a:xfrm>
            <a:off x="0" y="800736"/>
            <a:ext cx="8624937" cy="4616648"/>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500" kern="0" spc="-80" dirty="0">
                <a:solidFill>
                  <a:schemeClr val="accent2"/>
                </a:solidFill>
              </a:rPr>
              <a:t>MELT Lifecycle</a:t>
            </a:r>
          </a:p>
          <a:p>
            <a:pPr marL="12700" marR="5080"/>
            <a:r>
              <a:rPr lang="en-US" sz="1500" kern="0" spc="-80" dirty="0">
                <a:solidFill>
                  <a:schemeClr val="accent2"/>
                </a:solidFill>
              </a:rPr>
              <a:t>🔁 High-level Flow</a:t>
            </a:r>
          </a:p>
          <a:p>
            <a:pPr marL="12700" marR="5080"/>
            <a:r>
              <a:rPr lang="en-US" sz="1500" kern="0" spc="-80" dirty="0">
                <a:solidFill>
                  <a:schemeClr val="accent6"/>
                </a:solidFill>
              </a:rPr>
              <a:t>┌────────────────────────────┐</a:t>
            </a:r>
          </a:p>
          <a:p>
            <a:pPr marL="12700" marR="5080"/>
            <a:r>
              <a:rPr lang="en-US" sz="1500" kern="0" spc="-80" dirty="0">
                <a:solidFill>
                  <a:schemeClr val="accent6"/>
                </a:solidFill>
              </a:rPr>
              <a:t>│        Application         │</a:t>
            </a:r>
          </a:p>
          <a:p>
            <a:pPr marL="12700" marR="5080"/>
            <a:r>
              <a:rPr lang="en-US" sz="1500" kern="0" spc="-80" dirty="0">
                <a:solidFill>
                  <a:schemeClr val="accent6"/>
                </a:solidFill>
              </a:rPr>
              <a:t>│ (instrumented with </a:t>
            </a:r>
            <a:r>
              <a:rPr lang="en-US" sz="1500" kern="0" spc="-80" dirty="0" err="1">
                <a:solidFill>
                  <a:schemeClr val="accent6"/>
                </a:solidFill>
              </a:rPr>
              <a:t>OTel</a:t>
            </a:r>
            <a:r>
              <a:rPr lang="en-US" sz="1500" kern="0" spc="-80" dirty="0">
                <a:solidFill>
                  <a:schemeClr val="accent6"/>
                </a:solidFill>
              </a:rPr>
              <a:t>)  │</a:t>
            </a:r>
          </a:p>
          <a:p>
            <a:pPr marL="12700" marR="5080"/>
            <a:r>
              <a:rPr lang="en-US" sz="1500" kern="0" spc="-80" dirty="0">
                <a:solidFill>
                  <a:schemeClr val="accent6"/>
                </a:solidFill>
              </a:rPr>
              <a:t>│                            │</a:t>
            </a:r>
          </a:p>
          <a:p>
            <a:pPr marL="12700" marR="5080"/>
            <a:r>
              <a:rPr lang="en-US" sz="1500" kern="0" spc="-80" dirty="0">
                <a:solidFill>
                  <a:schemeClr val="accent6"/>
                </a:solidFill>
              </a:rPr>
              <a:t>│  Metrics | Events | Logs  │</a:t>
            </a:r>
          </a:p>
          <a:p>
            <a:pPr marL="12700" marR="5080"/>
            <a:r>
              <a:rPr lang="en-US" sz="1500" kern="0" spc="-80" dirty="0">
                <a:solidFill>
                  <a:schemeClr val="accent6"/>
                </a:solidFill>
              </a:rPr>
              <a:t>│            Traces          │</a:t>
            </a:r>
          </a:p>
          <a:p>
            <a:pPr marL="12700" marR="5080"/>
            <a:r>
              <a:rPr lang="en-US" sz="1500" kern="0" spc="-80" dirty="0">
                <a:solidFill>
                  <a:schemeClr val="accent6"/>
                </a:solidFill>
              </a:rPr>
              <a:t>└──────────────┬────────────┘</a:t>
            </a:r>
          </a:p>
          <a:p>
            <a:pPr marL="12700" marR="5080"/>
            <a:r>
              <a:rPr lang="en-US" sz="1500" kern="0" spc="-80" dirty="0">
                <a:solidFill>
                  <a:schemeClr val="accent6"/>
                </a:solidFill>
              </a:rPr>
              <a:t>               │  OTLP / SDK Export</a:t>
            </a:r>
          </a:p>
          <a:p>
            <a:pPr marL="12700" marR="5080"/>
            <a:r>
              <a:rPr lang="en-US" sz="1500" kern="0" spc="-80" dirty="0">
                <a:solidFill>
                  <a:schemeClr val="accent6"/>
                </a:solidFill>
              </a:rPr>
              <a:t>               ▼</a:t>
            </a:r>
          </a:p>
          <a:p>
            <a:pPr marL="12700" marR="5080"/>
            <a:r>
              <a:rPr lang="en-US" sz="1500" kern="0" spc="-80" dirty="0">
                <a:solidFill>
                  <a:schemeClr val="accent6"/>
                </a:solidFill>
              </a:rPr>
              <a:t>┌────────────────────────────┐</a:t>
            </a:r>
          </a:p>
          <a:p>
            <a:pPr marL="12700" marR="5080"/>
            <a:r>
              <a:rPr lang="en-US" sz="1500" kern="0" spc="-80" dirty="0">
                <a:solidFill>
                  <a:schemeClr val="accent6"/>
                </a:solidFill>
              </a:rPr>
              <a:t>│          Docker            │</a:t>
            </a:r>
          </a:p>
          <a:p>
            <a:pPr marL="12700" marR="5080"/>
            <a:r>
              <a:rPr lang="en-US" sz="1500" kern="0" spc="-80" dirty="0">
                <a:solidFill>
                  <a:schemeClr val="accent6"/>
                </a:solidFill>
              </a:rPr>
              <a:t>│   (container boundary)    │</a:t>
            </a:r>
          </a:p>
          <a:p>
            <a:pPr marL="12700" marR="5080"/>
            <a:r>
              <a:rPr lang="en-US" sz="1500" kern="0" spc="-80" dirty="0">
                <a:solidFill>
                  <a:schemeClr val="accent6"/>
                </a:solidFill>
              </a:rPr>
              <a:t>└──────────────┬────────────┘</a:t>
            </a:r>
          </a:p>
          <a:p>
            <a:pPr marL="12700" marR="5080"/>
            <a:r>
              <a:rPr lang="en-US" sz="1500" kern="0" spc="-80" dirty="0">
                <a:solidFill>
                  <a:schemeClr val="accent6"/>
                </a:solidFill>
              </a:rPr>
              <a:t>               │</a:t>
            </a:r>
          </a:p>
          <a:p>
            <a:pPr marL="12700" marR="5080"/>
            <a:r>
              <a:rPr lang="en-US" sz="1500" kern="0" spc="-80" dirty="0">
                <a:solidFill>
                  <a:schemeClr val="accent6"/>
                </a:solidFill>
              </a:rPr>
              <a:t>               ▼</a:t>
            </a:r>
          </a:p>
          <a:p>
            <a:pPr marL="12700" marR="5080"/>
            <a:endParaRPr lang="en-US" sz="1500" kern="0" spc="-80" dirty="0">
              <a:solidFill>
                <a:schemeClr val="accent6"/>
              </a:solidFill>
            </a:endParaRPr>
          </a:p>
          <a:p>
            <a:pPr marL="12700" marR="5080"/>
            <a:endParaRPr lang="en-US" sz="1500" kern="0" spc="-80" dirty="0">
              <a:solidFill>
                <a:schemeClr val="accent6"/>
              </a:solidFill>
            </a:endParaRPr>
          </a:p>
          <a:p>
            <a:pPr marL="12700" marR="5080"/>
            <a:endParaRPr lang="en-US" sz="1500" kern="0" spc="-80" dirty="0">
              <a:solidFill>
                <a:schemeClr val="accent6"/>
              </a:solidFill>
            </a:endParaRPr>
          </a:p>
        </p:txBody>
      </p:sp>
    </p:spTree>
    <p:extLst>
      <p:ext uri="{BB962C8B-B14F-4D97-AF65-F5344CB8AC3E}">
        <p14:creationId xmlns:p14="http://schemas.microsoft.com/office/powerpoint/2010/main" val="1619811382"/>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624019-9622-EA9D-915E-7B04460747EC}"/>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B35F8B6C-94E0-EA17-938B-B2E06C0250F0}"/>
              </a:ext>
            </a:extLst>
          </p:cNvPr>
          <p:cNvSpPr/>
          <p:nvPr/>
        </p:nvSpPr>
        <p:spPr>
          <a:xfrm>
            <a:off x="1756803" y="648336"/>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C1E5F358-BC6C-82F9-CF29-907BC9E76FC9}"/>
              </a:ext>
            </a:extLst>
          </p:cNvPr>
          <p:cNvSpPr/>
          <p:nvPr/>
        </p:nvSpPr>
        <p:spPr>
          <a:xfrm>
            <a:off x="1756803" y="495936"/>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65E021AB-22EC-3D97-1156-B04DE2C09AEA}"/>
              </a:ext>
            </a:extLst>
          </p:cNvPr>
          <p:cNvGraphicFramePr/>
          <p:nvPr>
            <p:extLst>
              <p:ext uri="{D42A27DB-BD31-4B8C-83A1-F6EECF244321}">
                <p14:modId xmlns:p14="http://schemas.microsoft.com/office/powerpoint/2010/main" val="200103024"/>
              </p:ext>
            </p:extLst>
          </p:nvPr>
        </p:nvGraphicFramePr>
        <p:xfrm>
          <a:off x="0" y="34425"/>
          <a:ext cx="9144000" cy="407873"/>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2" name="object 2">
            <a:extLst>
              <a:ext uri="{FF2B5EF4-FFF2-40B4-BE49-F238E27FC236}">
                <a16:creationId xmlns:a16="http://schemas.microsoft.com/office/drawing/2014/main" id="{7F76EF37-8E7E-D6C0-D89E-FA22E9C58D98}"/>
              </a:ext>
            </a:extLst>
          </p:cNvPr>
          <p:cNvSpPr txBox="1">
            <a:spLocks/>
          </p:cNvSpPr>
          <p:nvPr/>
        </p:nvSpPr>
        <p:spPr>
          <a:xfrm>
            <a:off x="228600" y="762000"/>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p:txBody>
      </p:sp>
      <p:sp>
        <p:nvSpPr>
          <p:cNvPr id="7" name="object 2">
            <a:extLst>
              <a:ext uri="{FF2B5EF4-FFF2-40B4-BE49-F238E27FC236}">
                <a16:creationId xmlns:a16="http://schemas.microsoft.com/office/drawing/2014/main" id="{44EB3DB5-0E4E-2F4F-A0A0-14D4FA4B97B7}"/>
              </a:ext>
            </a:extLst>
          </p:cNvPr>
          <p:cNvSpPr txBox="1">
            <a:spLocks/>
          </p:cNvSpPr>
          <p:nvPr/>
        </p:nvSpPr>
        <p:spPr>
          <a:xfrm>
            <a:off x="0" y="800736"/>
            <a:ext cx="8624937" cy="4385816"/>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500" kern="0" spc="-80" dirty="0">
                <a:solidFill>
                  <a:schemeClr val="accent2"/>
                </a:solidFill>
              </a:rPr>
              <a:t>MELT Lifecycle</a:t>
            </a:r>
          </a:p>
          <a:p>
            <a:pPr marL="12700" marR="5080"/>
            <a:r>
              <a:rPr lang="en-US" sz="1500" kern="0" spc="-80" dirty="0">
                <a:solidFill>
                  <a:schemeClr val="accent6"/>
                </a:solidFill>
              </a:rPr>
              <a:t>               │</a:t>
            </a:r>
          </a:p>
          <a:p>
            <a:pPr marL="12700" marR="5080"/>
            <a:r>
              <a:rPr lang="en-US" sz="1500" kern="0" spc="-80" dirty="0">
                <a:solidFill>
                  <a:schemeClr val="accent6"/>
                </a:solidFill>
              </a:rPr>
              <a:t>               ▼</a:t>
            </a:r>
          </a:p>
          <a:p>
            <a:pPr marL="12700" marR="5080"/>
            <a:r>
              <a:rPr lang="en-US" sz="1500" kern="0" spc="-80" dirty="0">
                <a:solidFill>
                  <a:schemeClr val="accent6"/>
                </a:solidFill>
              </a:rPr>
              <a:t>┌──────────────────────────────────────────┐</a:t>
            </a:r>
          </a:p>
          <a:p>
            <a:pPr marL="12700" marR="5080"/>
            <a:r>
              <a:rPr lang="en-US" sz="1500" kern="0" spc="-80" dirty="0">
                <a:solidFill>
                  <a:schemeClr val="accent6"/>
                </a:solidFill>
              </a:rPr>
              <a:t>│              Kubernetes                 │</a:t>
            </a:r>
          </a:p>
          <a:p>
            <a:pPr marL="12700" marR="5080"/>
            <a:r>
              <a:rPr lang="en-US" sz="1500" kern="0" spc="-80" dirty="0">
                <a:solidFill>
                  <a:schemeClr val="accent6"/>
                </a:solidFill>
              </a:rPr>
              <a:t>│                                          │</a:t>
            </a:r>
          </a:p>
          <a:p>
            <a:pPr marL="12700" marR="5080"/>
            <a:r>
              <a:rPr lang="en-US" sz="1500" kern="0" spc="-80" dirty="0">
                <a:solidFill>
                  <a:schemeClr val="accent6"/>
                </a:solidFill>
              </a:rPr>
              <a:t>│  Pod                                     │</a:t>
            </a:r>
          </a:p>
          <a:p>
            <a:pPr marL="12700" marR="5080"/>
            <a:r>
              <a:rPr lang="en-US" sz="1500" kern="0" spc="-80" dirty="0">
                <a:solidFill>
                  <a:schemeClr val="accent6"/>
                </a:solidFill>
              </a:rPr>
              <a:t>│  ├─ Your App Container                  │</a:t>
            </a:r>
          </a:p>
          <a:p>
            <a:pPr marL="12700" marR="5080"/>
            <a:r>
              <a:rPr lang="en-US" sz="1500" kern="0" spc="-80" dirty="0">
                <a:solidFill>
                  <a:schemeClr val="accent6"/>
                </a:solidFill>
              </a:rPr>
              <a:t>│  └─ </a:t>
            </a:r>
            <a:r>
              <a:rPr lang="en-US" sz="1500" kern="0" spc="-80" dirty="0" err="1">
                <a:solidFill>
                  <a:schemeClr val="accent6"/>
                </a:solidFill>
              </a:rPr>
              <a:t>OpenTelemetry</a:t>
            </a:r>
            <a:r>
              <a:rPr lang="en-US" sz="1500" kern="0" spc="-80" dirty="0">
                <a:solidFill>
                  <a:schemeClr val="accent6"/>
                </a:solidFill>
              </a:rPr>
              <a:t> Collector (sidecar)   │</a:t>
            </a:r>
          </a:p>
          <a:p>
            <a:pPr marL="12700" marR="5080"/>
            <a:r>
              <a:rPr lang="en-US" sz="1500" kern="0" spc="-80" dirty="0">
                <a:solidFill>
                  <a:schemeClr val="accent6"/>
                </a:solidFill>
              </a:rPr>
              <a:t>│        OR                               │</a:t>
            </a:r>
          </a:p>
          <a:p>
            <a:pPr marL="12700" marR="5080"/>
            <a:r>
              <a:rPr lang="en-US" sz="1500" kern="0" spc="-80" dirty="0">
                <a:solidFill>
                  <a:schemeClr val="accent6"/>
                </a:solidFill>
              </a:rPr>
              <a:t>│     Cluster </a:t>
            </a:r>
            <a:r>
              <a:rPr lang="en-US" sz="1500" kern="0" spc="-80" dirty="0" err="1">
                <a:solidFill>
                  <a:schemeClr val="accent6"/>
                </a:solidFill>
              </a:rPr>
              <a:t>OTel</a:t>
            </a:r>
            <a:r>
              <a:rPr lang="en-US" sz="1500" kern="0" spc="-80" dirty="0">
                <a:solidFill>
                  <a:schemeClr val="accent6"/>
                </a:solidFill>
              </a:rPr>
              <a:t> Collector (DaemonSet) │</a:t>
            </a:r>
          </a:p>
          <a:p>
            <a:pPr marL="12700" marR="5080"/>
            <a:r>
              <a:rPr lang="en-US" sz="1500" kern="0" spc="-80" dirty="0">
                <a:solidFill>
                  <a:schemeClr val="accent6"/>
                </a:solidFill>
              </a:rPr>
              <a:t>│                                          │</a:t>
            </a:r>
          </a:p>
          <a:p>
            <a:pPr marL="12700" marR="5080"/>
            <a:r>
              <a:rPr lang="en-US" sz="1500" kern="0" spc="-80" dirty="0">
                <a:solidFill>
                  <a:schemeClr val="accent6"/>
                </a:solidFill>
              </a:rPr>
              <a:t>└──────────────┬─────────────────────────┘</a:t>
            </a:r>
          </a:p>
          <a:p>
            <a:pPr marL="12700" marR="5080"/>
            <a:r>
              <a:rPr lang="en-US" sz="1500" kern="0" spc="-80" dirty="0">
                <a:solidFill>
                  <a:schemeClr val="accent6"/>
                </a:solidFill>
              </a:rPr>
              <a:t>               │  Process / Batch / Enrich</a:t>
            </a:r>
          </a:p>
          <a:p>
            <a:pPr marL="12700" marR="5080"/>
            <a:r>
              <a:rPr lang="en-US" sz="1500" kern="0" spc="-80" dirty="0">
                <a:solidFill>
                  <a:schemeClr val="accent6"/>
                </a:solidFill>
              </a:rPr>
              <a:t>               ▼</a:t>
            </a:r>
          </a:p>
          <a:p>
            <a:pPr marL="12700" marR="5080"/>
            <a:r>
              <a:rPr lang="en-US" sz="1500" kern="0" spc="-80" dirty="0">
                <a:solidFill>
                  <a:schemeClr val="accent6"/>
                </a:solidFill>
              </a:rPr>
              <a:t>┌──────────────────────────────────────────┐</a:t>
            </a:r>
          </a:p>
          <a:p>
            <a:pPr marL="12700" marR="5080"/>
            <a:r>
              <a:rPr lang="en-US" sz="1500" kern="0" spc="-80" dirty="0">
                <a:solidFill>
                  <a:schemeClr val="accent6"/>
                </a:solidFill>
              </a:rPr>
              <a:t>│        Azure Application Insights       │</a:t>
            </a:r>
          </a:p>
          <a:p>
            <a:pPr marL="12700" marR="5080"/>
            <a:r>
              <a:rPr lang="en-US" sz="1500" kern="0" spc="-80" dirty="0">
                <a:solidFill>
                  <a:schemeClr val="accent6"/>
                </a:solidFill>
              </a:rPr>
              <a:t>│        (via </a:t>
            </a:r>
            <a:r>
              <a:rPr lang="en-US" sz="1500" kern="0" spc="-80" dirty="0" err="1">
                <a:solidFill>
                  <a:schemeClr val="accent6"/>
                </a:solidFill>
              </a:rPr>
              <a:t>OpenTelemetry</a:t>
            </a:r>
            <a:r>
              <a:rPr lang="en-US" sz="1500" kern="0" spc="-80" dirty="0">
                <a:solidFill>
                  <a:schemeClr val="accent6"/>
                </a:solidFill>
              </a:rPr>
              <a:t> Exporter)    │</a:t>
            </a:r>
          </a:p>
          <a:p>
            <a:pPr marL="12700" marR="5080"/>
            <a:r>
              <a:rPr lang="en-US" sz="1500" kern="0" spc="-80" dirty="0">
                <a:solidFill>
                  <a:schemeClr val="accent6"/>
                </a:solidFill>
              </a:rPr>
              <a:t>└──────────────────────────────────────────┘</a:t>
            </a:r>
          </a:p>
        </p:txBody>
      </p:sp>
    </p:spTree>
    <p:extLst>
      <p:ext uri="{BB962C8B-B14F-4D97-AF65-F5344CB8AC3E}">
        <p14:creationId xmlns:p14="http://schemas.microsoft.com/office/powerpoint/2010/main" val="1563207789"/>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ECBF55-1F99-8BE7-18A3-901861A17638}"/>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5D6AC548-F3EB-2462-BE7E-E4D163477DC7}"/>
              </a:ext>
            </a:extLst>
          </p:cNvPr>
          <p:cNvSpPr/>
          <p:nvPr/>
        </p:nvSpPr>
        <p:spPr>
          <a:xfrm>
            <a:off x="1756803" y="648336"/>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19442C2B-071D-3259-86D6-6B2F76CB9B3E}"/>
              </a:ext>
            </a:extLst>
          </p:cNvPr>
          <p:cNvSpPr/>
          <p:nvPr/>
        </p:nvSpPr>
        <p:spPr>
          <a:xfrm>
            <a:off x="1756803" y="495936"/>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EA4FFCFD-8B56-2FF5-47FB-76FB95694F02}"/>
              </a:ext>
            </a:extLst>
          </p:cNvPr>
          <p:cNvGraphicFramePr/>
          <p:nvPr>
            <p:extLst>
              <p:ext uri="{D42A27DB-BD31-4B8C-83A1-F6EECF244321}">
                <p14:modId xmlns:p14="http://schemas.microsoft.com/office/powerpoint/2010/main" val="1332856811"/>
              </p:ext>
            </p:extLst>
          </p:nvPr>
        </p:nvGraphicFramePr>
        <p:xfrm>
          <a:off x="0" y="34425"/>
          <a:ext cx="9144000" cy="407873"/>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2" name="object 2">
            <a:extLst>
              <a:ext uri="{FF2B5EF4-FFF2-40B4-BE49-F238E27FC236}">
                <a16:creationId xmlns:a16="http://schemas.microsoft.com/office/drawing/2014/main" id="{27401DA5-1792-6215-B38E-1B9961C48640}"/>
              </a:ext>
            </a:extLst>
          </p:cNvPr>
          <p:cNvSpPr txBox="1">
            <a:spLocks/>
          </p:cNvSpPr>
          <p:nvPr/>
        </p:nvSpPr>
        <p:spPr>
          <a:xfrm>
            <a:off x="228600" y="762000"/>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p:txBody>
      </p:sp>
      <p:sp>
        <p:nvSpPr>
          <p:cNvPr id="7" name="object 2">
            <a:extLst>
              <a:ext uri="{FF2B5EF4-FFF2-40B4-BE49-F238E27FC236}">
                <a16:creationId xmlns:a16="http://schemas.microsoft.com/office/drawing/2014/main" id="{B541DC8B-C8CF-AA49-BB8B-37535E82A165}"/>
              </a:ext>
            </a:extLst>
          </p:cNvPr>
          <p:cNvSpPr txBox="1">
            <a:spLocks/>
          </p:cNvSpPr>
          <p:nvPr/>
        </p:nvSpPr>
        <p:spPr>
          <a:xfrm>
            <a:off x="0" y="800736"/>
            <a:ext cx="8624937" cy="230832"/>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500" kern="0" spc="-80" dirty="0">
                <a:solidFill>
                  <a:schemeClr val="accent2"/>
                </a:solidFill>
              </a:rPr>
              <a:t>LETS(Latency, Error, Traffic, Saturation – The 4 Golden Signals of SRE) Approach</a:t>
            </a:r>
          </a:p>
        </p:txBody>
      </p:sp>
      <p:pic>
        <p:nvPicPr>
          <p:cNvPr id="8" name="Picture 7">
            <a:extLst>
              <a:ext uri="{FF2B5EF4-FFF2-40B4-BE49-F238E27FC236}">
                <a16:creationId xmlns:a16="http://schemas.microsoft.com/office/drawing/2014/main" id="{9C17650A-3304-6F2D-2071-CE90758A670B}"/>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20320" y="1131333"/>
            <a:ext cx="9047480" cy="2907268"/>
          </a:xfrm>
          <a:prstGeom prst="rect">
            <a:avLst/>
          </a:prstGeom>
        </p:spPr>
      </p:pic>
      <p:pic>
        <p:nvPicPr>
          <p:cNvPr id="10" name="Picture 9">
            <a:extLst>
              <a:ext uri="{FF2B5EF4-FFF2-40B4-BE49-F238E27FC236}">
                <a16:creationId xmlns:a16="http://schemas.microsoft.com/office/drawing/2014/main" id="{4C38CC5E-F1E4-4D8A-3C70-623280608EE6}"/>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76200" y="4038601"/>
            <a:ext cx="8624937" cy="1308152"/>
          </a:xfrm>
          <a:prstGeom prst="rect">
            <a:avLst/>
          </a:prstGeom>
        </p:spPr>
      </p:pic>
      <p:pic>
        <p:nvPicPr>
          <p:cNvPr id="12" name="Picture 11">
            <a:extLst>
              <a:ext uri="{FF2B5EF4-FFF2-40B4-BE49-F238E27FC236}">
                <a16:creationId xmlns:a16="http://schemas.microsoft.com/office/drawing/2014/main" id="{93F6E80C-F48A-0395-7FF8-818C53FDB94F}"/>
              </a:ext>
            </a:extLst>
          </p:cNvPr>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a:off x="144053" y="5361993"/>
            <a:ext cx="8695147" cy="331094"/>
          </a:xfrm>
          <a:prstGeom prst="rect">
            <a:avLst/>
          </a:prstGeom>
        </p:spPr>
      </p:pic>
      <p:pic>
        <p:nvPicPr>
          <p:cNvPr id="14" name="Picture 13">
            <a:extLst>
              <a:ext uri="{FF2B5EF4-FFF2-40B4-BE49-F238E27FC236}">
                <a16:creationId xmlns:a16="http://schemas.microsoft.com/office/drawing/2014/main" id="{2422D7C8-AB63-C9C9-2514-A211C4ED053A}"/>
              </a:ext>
            </a:extLst>
          </p:cNvPr>
          <p:cNvPicPr>
            <a:picLocks noChangeAspect="1"/>
          </p:cNvPicPr>
          <p:nvPr/>
        </p:nvPicPr>
        <p:blipFill>
          <a:blip r:embed="rId11">
            <a:extLst>
              <a:ext uri="{28A0092B-C50C-407E-A947-70E740481C1C}">
                <a14:useLocalDpi xmlns:a14="http://schemas.microsoft.com/office/drawing/2010/main" val="0"/>
              </a:ext>
            </a:extLst>
          </a:blip>
          <a:stretch>
            <a:fillRect/>
          </a:stretch>
        </p:blipFill>
        <p:spPr>
          <a:xfrm>
            <a:off x="0" y="5642461"/>
            <a:ext cx="9144000" cy="331094"/>
          </a:xfrm>
          <a:prstGeom prst="rect">
            <a:avLst/>
          </a:prstGeom>
        </p:spPr>
      </p:pic>
    </p:spTree>
    <p:extLst>
      <p:ext uri="{BB962C8B-B14F-4D97-AF65-F5344CB8AC3E}">
        <p14:creationId xmlns:p14="http://schemas.microsoft.com/office/powerpoint/2010/main" val="11972166"/>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C7BB4E-DADD-5EE8-2793-8CE7759ACB27}"/>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4B1B91E8-7C17-DF0D-F884-E2E6C7228D80}"/>
              </a:ext>
            </a:extLst>
          </p:cNvPr>
          <p:cNvSpPr/>
          <p:nvPr/>
        </p:nvSpPr>
        <p:spPr>
          <a:xfrm>
            <a:off x="1756803" y="648336"/>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BEEEE052-C1CB-F584-5912-1E8C3879FA08}"/>
              </a:ext>
            </a:extLst>
          </p:cNvPr>
          <p:cNvSpPr/>
          <p:nvPr/>
        </p:nvSpPr>
        <p:spPr>
          <a:xfrm>
            <a:off x="1756803" y="495936"/>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9DE53D68-56D7-3429-C48D-4B949D1FEBF1}"/>
              </a:ext>
            </a:extLst>
          </p:cNvPr>
          <p:cNvGraphicFramePr/>
          <p:nvPr>
            <p:extLst>
              <p:ext uri="{D42A27DB-BD31-4B8C-83A1-F6EECF244321}">
                <p14:modId xmlns:p14="http://schemas.microsoft.com/office/powerpoint/2010/main" val="1436101635"/>
              </p:ext>
            </p:extLst>
          </p:nvPr>
        </p:nvGraphicFramePr>
        <p:xfrm>
          <a:off x="0" y="34425"/>
          <a:ext cx="9144000" cy="407873"/>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2" name="object 2">
            <a:extLst>
              <a:ext uri="{FF2B5EF4-FFF2-40B4-BE49-F238E27FC236}">
                <a16:creationId xmlns:a16="http://schemas.microsoft.com/office/drawing/2014/main" id="{7A3EEFB1-38B1-B046-9DB2-0C0F2904B2D1}"/>
              </a:ext>
            </a:extLst>
          </p:cNvPr>
          <p:cNvSpPr txBox="1">
            <a:spLocks/>
          </p:cNvSpPr>
          <p:nvPr/>
        </p:nvSpPr>
        <p:spPr>
          <a:xfrm>
            <a:off x="228600" y="762000"/>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p:txBody>
      </p:sp>
      <p:sp>
        <p:nvSpPr>
          <p:cNvPr id="7" name="object 2">
            <a:extLst>
              <a:ext uri="{FF2B5EF4-FFF2-40B4-BE49-F238E27FC236}">
                <a16:creationId xmlns:a16="http://schemas.microsoft.com/office/drawing/2014/main" id="{D6BFC2E6-4FC7-1122-E9B0-6AD043EC3C32}"/>
              </a:ext>
            </a:extLst>
          </p:cNvPr>
          <p:cNvSpPr txBox="1">
            <a:spLocks/>
          </p:cNvSpPr>
          <p:nvPr/>
        </p:nvSpPr>
        <p:spPr>
          <a:xfrm>
            <a:off x="0" y="800736"/>
            <a:ext cx="8624937" cy="230832"/>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500" kern="0" spc="-80" dirty="0">
                <a:solidFill>
                  <a:schemeClr val="accent2"/>
                </a:solidFill>
              </a:rPr>
              <a:t>LETS(Latency, Error, Traffic, Saturation – The 4 Golden Signals of SRE) Approach</a:t>
            </a:r>
          </a:p>
        </p:txBody>
      </p:sp>
      <p:pic>
        <p:nvPicPr>
          <p:cNvPr id="9" name="Picture 8">
            <a:extLst>
              <a:ext uri="{FF2B5EF4-FFF2-40B4-BE49-F238E27FC236}">
                <a16:creationId xmlns:a16="http://schemas.microsoft.com/office/drawing/2014/main" id="{BD7A3484-59B1-3AF5-5AE2-9DCBFD7EB62E}"/>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0" y="1120439"/>
            <a:ext cx="8991599" cy="2717528"/>
          </a:xfrm>
          <a:prstGeom prst="rect">
            <a:avLst/>
          </a:prstGeom>
        </p:spPr>
      </p:pic>
      <p:pic>
        <p:nvPicPr>
          <p:cNvPr id="13" name="Picture 12">
            <a:extLst>
              <a:ext uri="{FF2B5EF4-FFF2-40B4-BE49-F238E27FC236}">
                <a16:creationId xmlns:a16="http://schemas.microsoft.com/office/drawing/2014/main" id="{E99FC177-18E6-EC64-54CA-37F3C4488F9B}"/>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76200" y="3894119"/>
            <a:ext cx="8915399" cy="1758367"/>
          </a:xfrm>
          <a:prstGeom prst="rect">
            <a:avLst/>
          </a:prstGeom>
        </p:spPr>
      </p:pic>
      <p:pic>
        <p:nvPicPr>
          <p:cNvPr id="16" name="Picture 15">
            <a:extLst>
              <a:ext uri="{FF2B5EF4-FFF2-40B4-BE49-F238E27FC236}">
                <a16:creationId xmlns:a16="http://schemas.microsoft.com/office/drawing/2014/main" id="{2104EE38-7626-D847-6CCF-369DEEE61084}"/>
              </a:ext>
            </a:extLst>
          </p:cNvPr>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a:off x="76200" y="5708638"/>
            <a:ext cx="4629388" cy="234962"/>
          </a:xfrm>
          <a:prstGeom prst="rect">
            <a:avLst/>
          </a:prstGeom>
        </p:spPr>
      </p:pic>
    </p:spTree>
    <p:extLst>
      <p:ext uri="{BB962C8B-B14F-4D97-AF65-F5344CB8AC3E}">
        <p14:creationId xmlns:p14="http://schemas.microsoft.com/office/powerpoint/2010/main" val="2500215727"/>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E6015F-F2ED-DAA2-A925-D13D7FA37B43}"/>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775A2E0C-A382-5D75-BB56-CA61088C7BCC}"/>
              </a:ext>
            </a:extLst>
          </p:cNvPr>
          <p:cNvSpPr/>
          <p:nvPr/>
        </p:nvSpPr>
        <p:spPr>
          <a:xfrm>
            <a:off x="1756803" y="648336"/>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ED860DD0-F523-F432-DDCC-D23B6B1794EA}"/>
              </a:ext>
            </a:extLst>
          </p:cNvPr>
          <p:cNvSpPr/>
          <p:nvPr/>
        </p:nvSpPr>
        <p:spPr>
          <a:xfrm>
            <a:off x="1756803" y="495936"/>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A5BA344A-D799-0E7F-9BD3-E9BB7029F566}"/>
              </a:ext>
            </a:extLst>
          </p:cNvPr>
          <p:cNvGraphicFramePr/>
          <p:nvPr>
            <p:extLst>
              <p:ext uri="{D42A27DB-BD31-4B8C-83A1-F6EECF244321}">
                <p14:modId xmlns:p14="http://schemas.microsoft.com/office/powerpoint/2010/main" val="3433117994"/>
              </p:ext>
            </p:extLst>
          </p:nvPr>
        </p:nvGraphicFramePr>
        <p:xfrm>
          <a:off x="0" y="34425"/>
          <a:ext cx="9144000" cy="407873"/>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2" name="object 2">
            <a:extLst>
              <a:ext uri="{FF2B5EF4-FFF2-40B4-BE49-F238E27FC236}">
                <a16:creationId xmlns:a16="http://schemas.microsoft.com/office/drawing/2014/main" id="{C88A419D-7767-CBBA-7BE2-665C0278FB1A}"/>
              </a:ext>
            </a:extLst>
          </p:cNvPr>
          <p:cNvSpPr txBox="1">
            <a:spLocks/>
          </p:cNvSpPr>
          <p:nvPr/>
        </p:nvSpPr>
        <p:spPr>
          <a:xfrm>
            <a:off x="228600" y="762000"/>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p:txBody>
      </p:sp>
      <p:sp>
        <p:nvSpPr>
          <p:cNvPr id="7" name="object 2">
            <a:extLst>
              <a:ext uri="{FF2B5EF4-FFF2-40B4-BE49-F238E27FC236}">
                <a16:creationId xmlns:a16="http://schemas.microsoft.com/office/drawing/2014/main" id="{F9304FCC-048D-B2FD-9129-8D09DFC83A71}"/>
              </a:ext>
            </a:extLst>
          </p:cNvPr>
          <p:cNvSpPr txBox="1">
            <a:spLocks/>
          </p:cNvSpPr>
          <p:nvPr/>
        </p:nvSpPr>
        <p:spPr>
          <a:xfrm>
            <a:off x="0" y="800736"/>
            <a:ext cx="8624937" cy="230832"/>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500" kern="0" spc="-80" dirty="0">
                <a:solidFill>
                  <a:schemeClr val="accent2"/>
                </a:solidFill>
              </a:rPr>
              <a:t>LETS(Latency, Error, Traffic, Saturation – The 4 Golden Signals of SRE) Approach</a:t>
            </a:r>
          </a:p>
        </p:txBody>
      </p:sp>
      <p:pic>
        <p:nvPicPr>
          <p:cNvPr id="8" name="Picture 7">
            <a:extLst>
              <a:ext uri="{FF2B5EF4-FFF2-40B4-BE49-F238E27FC236}">
                <a16:creationId xmlns:a16="http://schemas.microsoft.com/office/drawing/2014/main" id="{B9318784-EB58-5146-ADC3-55BF0A687D57}"/>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0" y="1070304"/>
            <a:ext cx="9067800" cy="2448926"/>
          </a:xfrm>
          <a:prstGeom prst="rect">
            <a:avLst/>
          </a:prstGeom>
        </p:spPr>
      </p:pic>
      <p:pic>
        <p:nvPicPr>
          <p:cNvPr id="11" name="Picture 10">
            <a:extLst>
              <a:ext uri="{FF2B5EF4-FFF2-40B4-BE49-F238E27FC236}">
                <a16:creationId xmlns:a16="http://schemas.microsoft.com/office/drawing/2014/main" id="{88791E47-68DB-BD94-4131-0EE1200951FB}"/>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76200" y="3519230"/>
            <a:ext cx="8777337" cy="1876842"/>
          </a:xfrm>
          <a:prstGeom prst="rect">
            <a:avLst/>
          </a:prstGeom>
        </p:spPr>
      </p:pic>
      <p:pic>
        <p:nvPicPr>
          <p:cNvPr id="14" name="Picture 13">
            <a:extLst>
              <a:ext uri="{FF2B5EF4-FFF2-40B4-BE49-F238E27FC236}">
                <a16:creationId xmlns:a16="http://schemas.microsoft.com/office/drawing/2014/main" id="{DBB97BFD-D4BB-790C-32F6-A70A4D9E86AF}"/>
              </a:ext>
            </a:extLst>
          </p:cNvPr>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a:off x="71120" y="5671674"/>
            <a:ext cx="5188217" cy="222261"/>
          </a:xfrm>
          <a:prstGeom prst="rect">
            <a:avLst/>
          </a:prstGeom>
        </p:spPr>
      </p:pic>
    </p:spTree>
    <p:extLst>
      <p:ext uri="{BB962C8B-B14F-4D97-AF65-F5344CB8AC3E}">
        <p14:creationId xmlns:p14="http://schemas.microsoft.com/office/powerpoint/2010/main" val="2017163744"/>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82E080-BCF7-B048-72C6-7EC7D8CD13ED}"/>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62EF9DA0-5570-CA56-6421-D12F050F1E46}"/>
              </a:ext>
            </a:extLst>
          </p:cNvPr>
          <p:cNvSpPr/>
          <p:nvPr/>
        </p:nvSpPr>
        <p:spPr>
          <a:xfrm>
            <a:off x="1756803" y="648336"/>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428D3D9C-6FB4-DE97-80B9-D4FBB980D249}"/>
              </a:ext>
            </a:extLst>
          </p:cNvPr>
          <p:cNvSpPr/>
          <p:nvPr/>
        </p:nvSpPr>
        <p:spPr>
          <a:xfrm>
            <a:off x="1756803" y="495936"/>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5A60AE71-8F96-30FA-1DEF-C2CDF5F66A90}"/>
              </a:ext>
            </a:extLst>
          </p:cNvPr>
          <p:cNvGraphicFramePr/>
          <p:nvPr>
            <p:extLst>
              <p:ext uri="{D42A27DB-BD31-4B8C-83A1-F6EECF244321}">
                <p14:modId xmlns:p14="http://schemas.microsoft.com/office/powerpoint/2010/main" val="1645633144"/>
              </p:ext>
            </p:extLst>
          </p:nvPr>
        </p:nvGraphicFramePr>
        <p:xfrm>
          <a:off x="0" y="34425"/>
          <a:ext cx="9144000" cy="407873"/>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2" name="object 2">
            <a:extLst>
              <a:ext uri="{FF2B5EF4-FFF2-40B4-BE49-F238E27FC236}">
                <a16:creationId xmlns:a16="http://schemas.microsoft.com/office/drawing/2014/main" id="{68E4406F-2010-70FA-C0C7-7DAC816E0519}"/>
              </a:ext>
            </a:extLst>
          </p:cNvPr>
          <p:cNvSpPr txBox="1">
            <a:spLocks/>
          </p:cNvSpPr>
          <p:nvPr/>
        </p:nvSpPr>
        <p:spPr>
          <a:xfrm>
            <a:off x="228600" y="762000"/>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p:txBody>
      </p:sp>
      <p:sp>
        <p:nvSpPr>
          <p:cNvPr id="7" name="object 2">
            <a:extLst>
              <a:ext uri="{FF2B5EF4-FFF2-40B4-BE49-F238E27FC236}">
                <a16:creationId xmlns:a16="http://schemas.microsoft.com/office/drawing/2014/main" id="{BE480C68-4491-BE58-2326-FAAD8D68E11D}"/>
              </a:ext>
            </a:extLst>
          </p:cNvPr>
          <p:cNvSpPr txBox="1">
            <a:spLocks/>
          </p:cNvSpPr>
          <p:nvPr/>
        </p:nvSpPr>
        <p:spPr>
          <a:xfrm>
            <a:off x="0" y="800736"/>
            <a:ext cx="8624937" cy="230832"/>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500" kern="0" spc="-80" dirty="0">
                <a:solidFill>
                  <a:schemeClr val="accent2"/>
                </a:solidFill>
              </a:rPr>
              <a:t>LETS(Latency, Error, Traffic, Saturation – The 4 Golden Signals of SRE) Approach</a:t>
            </a:r>
          </a:p>
        </p:txBody>
      </p:sp>
      <p:pic>
        <p:nvPicPr>
          <p:cNvPr id="9" name="Picture 8">
            <a:extLst>
              <a:ext uri="{FF2B5EF4-FFF2-40B4-BE49-F238E27FC236}">
                <a16:creationId xmlns:a16="http://schemas.microsoft.com/office/drawing/2014/main" id="{F3C2A535-D921-8040-CEF4-93CA35ACC274}"/>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0" y="1031567"/>
            <a:ext cx="9143999" cy="2590800"/>
          </a:xfrm>
          <a:prstGeom prst="rect">
            <a:avLst/>
          </a:prstGeom>
        </p:spPr>
      </p:pic>
      <p:pic>
        <p:nvPicPr>
          <p:cNvPr id="12" name="Picture 11">
            <a:extLst>
              <a:ext uri="{FF2B5EF4-FFF2-40B4-BE49-F238E27FC236}">
                <a16:creationId xmlns:a16="http://schemas.microsoft.com/office/drawing/2014/main" id="{2718B7E5-2B13-2D95-5D50-0DB99441B20B}"/>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0" y="3622367"/>
            <a:ext cx="9143999" cy="2321233"/>
          </a:xfrm>
          <a:prstGeom prst="rect">
            <a:avLst/>
          </a:prstGeom>
        </p:spPr>
      </p:pic>
    </p:spTree>
    <p:extLst>
      <p:ext uri="{BB962C8B-B14F-4D97-AF65-F5344CB8AC3E}">
        <p14:creationId xmlns:p14="http://schemas.microsoft.com/office/powerpoint/2010/main" val="749377314"/>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p:nvPr/>
        </p:nvSpPr>
        <p:spPr>
          <a:xfrm>
            <a:off x="1756803" y="609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p:cNvSpPr/>
          <p:nvPr/>
        </p:nvSpPr>
        <p:spPr>
          <a:xfrm>
            <a:off x="1756803" y="457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226DC635-E9B3-0133-0548-37B556605D82}"/>
              </a:ext>
            </a:extLst>
          </p:cNvPr>
          <p:cNvGraphicFramePr/>
          <p:nvPr>
            <p:extLst>
              <p:ext uri="{D42A27DB-BD31-4B8C-83A1-F6EECF244321}">
                <p14:modId xmlns:p14="http://schemas.microsoft.com/office/powerpoint/2010/main" val="512797714"/>
              </p:ext>
            </p:extLst>
          </p:nvPr>
        </p:nvGraphicFramePr>
        <p:xfrm>
          <a:off x="152400" y="34425"/>
          <a:ext cx="8991600" cy="52106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object 2">
            <a:extLst>
              <a:ext uri="{FF2B5EF4-FFF2-40B4-BE49-F238E27FC236}">
                <a16:creationId xmlns:a16="http://schemas.microsoft.com/office/drawing/2014/main" id="{467B9D11-568F-0B6E-084E-840496724AFC}"/>
              </a:ext>
            </a:extLst>
          </p:cNvPr>
          <p:cNvSpPr txBox="1">
            <a:spLocks/>
          </p:cNvSpPr>
          <p:nvPr/>
        </p:nvSpPr>
        <p:spPr>
          <a:xfrm>
            <a:off x="228600" y="762000"/>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p:txBody>
      </p:sp>
      <p:sp>
        <p:nvSpPr>
          <p:cNvPr id="7" name="object 2">
            <a:extLst>
              <a:ext uri="{FF2B5EF4-FFF2-40B4-BE49-F238E27FC236}">
                <a16:creationId xmlns:a16="http://schemas.microsoft.com/office/drawing/2014/main" id="{D844A7B1-E550-0B17-B5D4-E0FB5CF44D9B}"/>
              </a:ext>
            </a:extLst>
          </p:cNvPr>
          <p:cNvSpPr txBox="1">
            <a:spLocks/>
          </p:cNvSpPr>
          <p:nvPr/>
        </p:nvSpPr>
        <p:spPr>
          <a:xfrm>
            <a:off x="138063" y="5023247"/>
            <a:ext cx="8624937" cy="246221"/>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600" kern="0" spc="-80" dirty="0">
                <a:solidFill>
                  <a:schemeClr val="accent2"/>
                </a:solidFill>
              </a:rPr>
              <a:t>  </a:t>
            </a:r>
          </a:p>
        </p:txBody>
      </p:sp>
      <p:sp>
        <p:nvSpPr>
          <p:cNvPr id="9" name="object 2">
            <a:extLst>
              <a:ext uri="{FF2B5EF4-FFF2-40B4-BE49-F238E27FC236}">
                <a16:creationId xmlns:a16="http://schemas.microsoft.com/office/drawing/2014/main" id="{AB43357A-B690-2734-E232-024935EBDCDC}"/>
              </a:ext>
            </a:extLst>
          </p:cNvPr>
          <p:cNvSpPr txBox="1">
            <a:spLocks/>
          </p:cNvSpPr>
          <p:nvPr/>
        </p:nvSpPr>
        <p:spPr>
          <a:xfrm>
            <a:off x="138063" y="5235714"/>
            <a:ext cx="8915399" cy="707886"/>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600" kern="0" spc="-80" dirty="0">
                <a:solidFill>
                  <a:schemeClr val="accent2"/>
                </a:solidFill>
              </a:rPr>
              <a:t>For Further Exploration –</a:t>
            </a:r>
          </a:p>
          <a:p>
            <a:pPr marL="12700" marR="5080"/>
            <a:r>
              <a:rPr lang="en-US" sz="1500" dirty="0">
                <a:hlinkClick r:id="rId7"/>
              </a:rPr>
              <a:t>What Is AIOps? Artificial Intelligence for IT Operations | Pure Storage</a:t>
            </a:r>
            <a:endParaRPr lang="en-US" sz="1500" dirty="0"/>
          </a:p>
          <a:p>
            <a:pPr marL="12700" marR="5080"/>
            <a:r>
              <a:rPr lang="en-US" sz="1500" dirty="0">
                <a:hlinkClick r:id="rId8"/>
              </a:rPr>
              <a:t>Point of View on </a:t>
            </a:r>
            <a:r>
              <a:rPr lang="en-US" sz="1500" dirty="0" err="1">
                <a:hlinkClick r:id="rId8"/>
              </a:rPr>
              <a:t>DevSecOps</a:t>
            </a:r>
            <a:r>
              <a:rPr lang="en-US" sz="1500" dirty="0">
                <a:hlinkClick r:id="rId8"/>
              </a:rPr>
              <a:t> and SRE - Key Asks and Considerations | LinkedIn</a:t>
            </a:r>
            <a:endParaRPr lang="en-US" sz="1500" dirty="0"/>
          </a:p>
        </p:txBody>
      </p:sp>
      <p:pic>
        <p:nvPicPr>
          <p:cNvPr id="58370" name="Picture 2">
            <a:extLst>
              <a:ext uri="{FF2B5EF4-FFF2-40B4-BE49-F238E27FC236}">
                <a16:creationId xmlns:a16="http://schemas.microsoft.com/office/drawing/2014/main" id="{9ED0C40A-DB55-8ABC-4691-B743764EBDB1}"/>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55950" y="723265"/>
            <a:ext cx="8858250" cy="445833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30700603"/>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363607-0A68-A332-EAF2-7F64C6038730}"/>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D5DC51FD-12D4-B792-FCA4-32F0314530C5}"/>
              </a:ext>
            </a:extLst>
          </p:cNvPr>
          <p:cNvSpPr/>
          <p:nvPr/>
        </p:nvSpPr>
        <p:spPr>
          <a:xfrm>
            <a:off x="1756803" y="648336"/>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275FA467-9232-1CE5-EEFA-6D382825FAD6}"/>
              </a:ext>
            </a:extLst>
          </p:cNvPr>
          <p:cNvSpPr/>
          <p:nvPr/>
        </p:nvSpPr>
        <p:spPr>
          <a:xfrm>
            <a:off x="1756803" y="495936"/>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A2E2CB64-0A43-0964-3396-064B315CE844}"/>
              </a:ext>
            </a:extLst>
          </p:cNvPr>
          <p:cNvGraphicFramePr/>
          <p:nvPr>
            <p:extLst>
              <p:ext uri="{D42A27DB-BD31-4B8C-83A1-F6EECF244321}">
                <p14:modId xmlns:p14="http://schemas.microsoft.com/office/powerpoint/2010/main" val="2609343079"/>
              </p:ext>
            </p:extLst>
          </p:nvPr>
        </p:nvGraphicFramePr>
        <p:xfrm>
          <a:off x="0" y="34425"/>
          <a:ext cx="9144000" cy="407873"/>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2" name="object 2">
            <a:extLst>
              <a:ext uri="{FF2B5EF4-FFF2-40B4-BE49-F238E27FC236}">
                <a16:creationId xmlns:a16="http://schemas.microsoft.com/office/drawing/2014/main" id="{96F47705-7DA9-B5AE-4638-B80F7ACDEB22}"/>
              </a:ext>
            </a:extLst>
          </p:cNvPr>
          <p:cNvSpPr txBox="1">
            <a:spLocks/>
          </p:cNvSpPr>
          <p:nvPr/>
        </p:nvSpPr>
        <p:spPr>
          <a:xfrm>
            <a:off x="228600" y="762000"/>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p:txBody>
      </p:sp>
      <p:sp>
        <p:nvSpPr>
          <p:cNvPr id="7" name="object 2">
            <a:extLst>
              <a:ext uri="{FF2B5EF4-FFF2-40B4-BE49-F238E27FC236}">
                <a16:creationId xmlns:a16="http://schemas.microsoft.com/office/drawing/2014/main" id="{92B26E71-5EB9-5324-3135-4CA1C1C2C679}"/>
              </a:ext>
            </a:extLst>
          </p:cNvPr>
          <p:cNvSpPr txBox="1">
            <a:spLocks/>
          </p:cNvSpPr>
          <p:nvPr/>
        </p:nvSpPr>
        <p:spPr>
          <a:xfrm>
            <a:off x="0" y="731520"/>
            <a:ext cx="8624937" cy="5678478"/>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700" kern="0" spc="-80" dirty="0">
                <a:solidFill>
                  <a:schemeClr val="accent2"/>
                </a:solidFill>
              </a:rPr>
              <a:t>For Further Exploration</a:t>
            </a:r>
          </a:p>
          <a:p>
            <a:pPr marL="12700" marR="5080"/>
            <a:r>
              <a:rPr lang="en-US" sz="1400" dirty="0">
                <a:hlinkClick r:id="rId8"/>
              </a:rPr>
              <a:t>.NET Observability with </a:t>
            </a:r>
            <a:r>
              <a:rPr lang="en-US" sz="1400" dirty="0" err="1">
                <a:hlinkClick r:id="rId8"/>
              </a:rPr>
              <a:t>OpenTelemetry</a:t>
            </a:r>
            <a:r>
              <a:rPr lang="en-US" sz="1400" dirty="0">
                <a:hlinkClick r:id="rId8"/>
              </a:rPr>
              <a:t> - .NET | Microsoft Learn</a:t>
            </a:r>
            <a:endParaRPr lang="en-US" sz="1400" dirty="0"/>
          </a:p>
          <a:p>
            <a:pPr marL="12700" marR="5080"/>
            <a:r>
              <a:rPr lang="en-US" sz="1400" dirty="0">
                <a:hlinkClick r:id="rId9"/>
              </a:rPr>
              <a:t>Health checks in ASP.NET Core | Microsoft Learn</a:t>
            </a:r>
            <a:endParaRPr lang="en-US" sz="1400" dirty="0"/>
          </a:p>
          <a:p>
            <a:pPr marL="12700" marR="5080"/>
            <a:r>
              <a:rPr lang="en-IN" sz="1400" dirty="0">
                <a:hlinkClick r:id="rId10"/>
              </a:rPr>
              <a:t>Kusto Query Language (KQL) overview - Kusto | Microsoft Learn</a:t>
            </a:r>
            <a:r>
              <a:rPr lang="en-IN" sz="1400" dirty="0"/>
              <a:t>(</a:t>
            </a:r>
            <a:r>
              <a:rPr lang="en-US" sz="1400" kern="0" spc="-80" dirty="0">
                <a:solidFill>
                  <a:schemeClr val="accent6"/>
                </a:solidFill>
              </a:rPr>
              <a:t>Requests, Dependencies, Exceptions &amp; Traces [&amp; maybe </a:t>
            </a:r>
            <a:r>
              <a:rPr lang="en-US" sz="1400" kern="0" spc="-80" dirty="0" err="1">
                <a:solidFill>
                  <a:schemeClr val="accent6"/>
                </a:solidFill>
              </a:rPr>
              <a:t>KubeEvents</a:t>
            </a:r>
            <a:r>
              <a:rPr lang="en-US" sz="1400" kern="0" spc="-80" dirty="0">
                <a:solidFill>
                  <a:schemeClr val="accent6"/>
                </a:solidFill>
              </a:rPr>
              <a:t>] are some important AppInsights tables that can be queried for various types of Analytics and Visualizations. Also, an operation spans cross-sectionally over these tables and so if you want to join across these tables, </a:t>
            </a:r>
            <a:r>
              <a:rPr lang="en-US" sz="1400" kern="0" spc="-80" dirty="0" err="1">
                <a:solidFill>
                  <a:schemeClr val="accent6"/>
                </a:solidFill>
              </a:rPr>
              <a:t>operation_Id</a:t>
            </a:r>
            <a:r>
              <a:rPr lang="en-US" sz="1400" kern="0" spc="-80" dirty="0">
                <a:solidFill>
                  <a:schemeClr val="accent6"/>
                </a:solidFill>
              </a:rPr>
              <a:t> is one of the best candidates for the same)</a:t>
            </a:r>
            <a:endParaRPr lang="en-IN" sz="1400" kern="0" spc="-80" dirty="0">
              <a:solidFill>
                <a:schemeClr val="accent6"/>
              </a:solidFill>
            </a:endParaRPr>
          </a:p>
          <a:p>
            <a:pPr marL="12700" marR="5080"/>
            <a:r>
              <a:rPr lang="en-US" sz="1400" dirty="0">
                <a:hlinkClick r:id="rId11"/>
              </a:rPr>
              <a:t>Create monitoring resources by using Bicep - Azure Resource Manager</a:t>
            </a:r>
            <a:endParaRPr lang="en-IN" sz="1400" dirty="0"/>
          </a:p>
          <a:p>
            <a:pPr marL="12700" marR="5080"/>
            <a:r>
              <a:rPr lang="en-IN" sz="1400" dirty="0">
                <a:hlinkClick r:id="rId12"/>
              </a:rPr>
              <a:t>Visualize Azure Monitor data with Grafana - Azure Monitor | Microsoft Learn</a:t>
            </a:r>
            <a:endParaRPr lang="en-IN" sz="1400" dirty="0"/>
          </a:p>
          <a:p>
            <a:pPr marL="12700" marR="5080"/>
            <a:r>
              <a:rPr lang="en-US" sz="1400" dirty="0">
                <a:hlinkClick r:id="rId13"/>
              </a:rPr>
              <a:t>Google SRE book- Comprehensive guide to site reliability</a:t>
            </a:r>
            <a:endParaRPr lang="en-US" sz="1400" dirty="0"/>
          </a:p>
          <a:p>
            <a:pPr marL="12700" marR="5080"/>
            <a:r>
              <a:rPr lang="en-US" sz="1400" dirty="0">
                <a:hlinkClick r:id="rId14"/>
              </a:rPr>
              <a:t>Top Udemy </a:t>
            </a:r>
            <a:r>
              <a:rPr lang="en-US" sz="1400" dirty="0" err="1">
                <a:hlinkClick r:id="rId14"/>
              </a:rPr>
              <a:t>OpenTelemetry</a:t>
            </a:r>
            <a:r>
              <a:rPr lang="en-US" sz="1400" dirty="0">
                <a:hlinkClick r:id="rId14"/>
              </a:rPr>
              <a:t> Courses Online</a:t>
            </a:r>
            <a:endParaRPr lang="en-US" sz="1400" dirty="0"/>
          </a:p>
          <a:p>
            <a:pPr marL="12700" marR="5080"/>
            <a:r>
              <a:rPr lang="en-US" sz="1400" dirty="0">
                <a:hlinkClick r:id="rId15"/>
              </a:rPr>
              <a:t>Top Udemy Grafana Courses Online</a:t>
            </a:r>
            <a:endParaRPr lang="en-US" sz="1400" dirty="0"/>
          </a:p>
          <a:p>
            <a:pPr marL="12700" marR="5080"/>
            <a:r>
              <a:rPr lang="en-US" sz="1400" dirty="0">
                <a:hlinkClick r:id="rId16"/>
              </a:rPr>
              <a:t>Top Udemy Prometheus Software Courses Online</a:t>
            </a:r>
            <a:endParaRPr lang="en-US" sz="1400" dirty="0"/>
          </a:p>
          <a:p>
            <a:pPr marL="12700" marR="5080"/>
            <a:r>
              <a:rPr lang="en-US" sz="1400" dirty="0">
                <a:hlinkClick r:id="rId17"/>
              </a:rPr>
              <a:t>Observability as Code Explained: Benefits &amp; How to Get Started</a:t>
            </a:r>
            <a:endParaRPr lang="en-US" sz="1400" dirty="0"/>
          </a:p>
          <a:p>
            <a:pPr marL="12700" marR="5080"/>
            <a:r>
              <a:rPr lang="en-IN" sz="1400" dirty="0">
                <a:hlinkClick r:id="rId18"/>
              </a:rPr>
              <a:t>Observability as code | Grafana documentation</a:t>
            </a:r>
            <a:endParaRPr lang="en-IN" sz="1400" dirty="0"/>
          </a:p>
          <a:p>
            <a:pPr marL="12700" marR="5080"/>
            <a:r>
              <a:rPr lang="en-US" sz="1400" dirty="0">
                <a:hlinkClick r:id="rId19"/>
              </a:rPr>
              <a:t>Observability as Code: Why You Should Use </a:t>
            </a:r>
            <a:r>
              <a:rPr lang="en-US" sz="1400" dirty="0" err="1">
                <a:hlinkClick r:id="rId19"/>
              </a:rPr>
              <a:t>OaC</a:t>
            </a:r>
            <a:r>
              <a:rPr lang="en-US" sz="1400" dirty="0">
                <a:hlinkClick r:id="rId19"/>
              </a:rPr>
              <a:t> | Splunk</a:t>
            </a:r>
            <a:endParaRPr lang="en-US" sz="1400" dirty="0"/>
          </a:p>
          <a:p>
            <a:pPr marL="12700" marR="5080"/>
            <a:r>
              <a:rPr lang="en-US" sz="1400" dirty="0">
                <a:hlinkClick r:id="rId20"/>
              </a:rPr>
              <a:t>The Complete Guide to Runbook Automation Tools in the Era of Real-Time IT</a:t>
            </a:r>
            <a:endParaRPr lang="en-US" sz="1400" dirty="0"/>
          </a:p>
          <a:p>
            <a:pPr marL="12700" marR="5080"/>
            <a:r>
              <a:rPr lang="en-US" sz="1400" dirty="0">
                <a:hlinkClick r:id="rId21"/>
              </a:rPr>
              <a:t>The four Golden Signals of Monitoring </a:t>
            </a:r>
            <a:endParaRPr lang="en-US" sz="1400" dirty="0"/>
          </a:p>
          <a:p>
            <a:pPr marL="12700" marR="5080"/>
            <a:r>
              <a:rPr lang="en-IN" sz="1400" dirty="0">
                <a:hlinkClick r:id="rId22"/>
              </a:rPr>
              <a:t>What are golden signals?</a:t>
            </a:r>
            <a:endParaRPr lang="en-IN" sz="1400" dirty="0"/>
          </a:p>
          <a:p>
            <a:pPr marL="12700" marR="5080"/>
            <a:r>
              <a:rPr lang="en-US" sz="1400" dirty="0">
                <a:hlinkClick r:id="rId23"/>
              </a:rPr>
              <a:t>Why You Need to Monitor the Four Golden Signals</a:t>
            </a:r>
            <a:endParaRPr lang="en-US" sz="1400" dirty="0"/>
          </a:p>
          <a:p>
            <a:pPr marL="12700" marR="5080"/>
            <a:r>
              <a:rPr lang="en-US" sz="1400" dirty="0">
                <a:hlinkClick r:id="rId24"/>
              </a:rPr>
              <a:t>4 SRE Golden Signals (What they are and why they matter)</a:t>
            </a:r>
            <a:endParaRPr lang="en-US" sz="1400" dirty="0"/>
          </a:p>
          <a:p>
            <a:pPr marL="12700" marR="5080"/>
            <a:r>
              <a:rPr lang="en-US" sz="1400" dirty="0">
                <a:hlinkClick r:id="rId25"/>
              </a:rPr>
              <a:t>USE and RED Method | </a:t>
            </a:r>
            <a:r>
              <a:rPr lang="en-US" sz="1400" dirty="0" err="1">
                <a:hlinkClick r:id="rId25"/>
              </a:rPr>
              <a:t>PagerTree</a:t>
            </a:r>
            <a:endParaRPr lang="en-US" sz="1400" dirty="0"/>
          </a:p>
          <a:p>
            <a:pPr marL="12700" marR="5080"/>
            <a:r>
              <a:rPr lang="en-IN" sz="1400" dirty="0">
                <a:hlinkClick r:id="rId26"/>
              </a:rPr>
              <a:t>Kubernetes Dashboard | Grafana Labs</a:t>
            </a:r>
            <a:endParaRPr lang="en-IN" sz="1400" dirty="0"/>
          </a:p>
          <a:p>
            <a:pPr marL="12700" marR="5080"/>
            <a:endParaRPr lang="en-IN" sz="1700" dirty="0"/>
          </a:p>
        </p:txBody>
      </p:sp>
    </p:spTree>
    <p:extLst>
      <p:ext uri="{BB962C8B-B14F-4D97-AF65-F5344CB8AC3E}">
        <p14:creationId xmlns:p14="http://schemas.microsoft.com/office/powerpoint/2010/main" val="1305237320"/>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E8A0B6-C4DE-AA43-C061-DC572241683F}"/>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7576DC82-186A-E8DF-8788-E282C384FB4A}"/>
              </a:ext>
            </a:extLst>
          </p:cNvPr>
          <p:cNvSpPr/>
          <p:nvPr/>
        </p:nvSpPr>
        <p:spPr>
          <a:xfrm>
            <a:off x="1756803" y="648336"/>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3A799F31-43A8-D432-809D-A37A5E177CBC}"/>
              </a:ext>
            </a:extLst>
          </p:cNvPr>
          <p:cNvSpPr/>
          <p:nvPr/>
        </p:nvSpPr>
        <p:spPr>
          <a:xfrm>
            <a:off x="1756803" y="495936"/>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894FFB68-3D8E-1B59-28F4-C10B4EEDD6FC}"/>
              </a:ext>
            </a:extLst>
          </p:cNvPr>
          <p:cNvGraphicFramePr/>
          <p:nvPr>
            <p:extLst>
              <p:ext uri="{D42A27DB-BD31-4B8C-83A1-F6EECF244321}">
                <p14:modId xmlns:p14="http://schemas.microsoft.com/office/powerpoint/2010/main" val="1403208576"/>
              </p:ext>
            </p:extLst>
          </p:nvPr>
        </p:nvGraphicFramePr>
        <p:xfrm>
          <a:off x="0" y="34425"/>
          <a:ext cx="9144000" cy="407873"/>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2" name="object 2">
            <a:extLst>
              <a:ext uri="{FF2B5EF4-FFF2-40B4-BE49-F238E27FC236}">
                <a16:creationId xmlns:a16="http://schemas.microsoft.com/office/drawing/2014/main" id="{5A4F6641-7013-DD42-FE3B-0A2F98EE9B74}"/>
              </a:ext>
            </a:extLst>
          </p:cNvPr>
          <p:cNvSpPr txBox="1">
            <a:spLocks/>
          </p:cNvSpPr>
          <p:nvPr/>
        </p:nvSpPr>
        <p:spPr>
          <a:xfrm>
            <a:off x="228600" y="762000"/>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p:txBody>
      </p:sp>
      <p:sp>
        <p:nvSpPr>
          <p:cNvPr id="11" name="object 2">
            <a:extLst>
              <a:ext uri="{FF2B5EF4-FFF2-40B4-BE49-F238E27FC236}">
                <a16:creationId xmlns:a16="http://schemas.microsoft.com/office/drawing/2014/main" id="{34944784-EDA8-5862-BC7F-A05226A3D17A}"/>
              </a:ext>
            </a:extLst>
          </p:cNvPr>
          <p:cNvSpPr txBox="1">
            <a:spLocks/>
          </p:cNvSpPr>
          <p:nvPr/>
        </p:nvSpPr>
        <p:spPr>
          <a:xfrm>
            <a:off x="0" y="800736"/>
            <a:ext cx="8624937" cy="297004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300" kern="0" spc="-80" dirty="0">
                <a:solidFill>
                  <a:schemeClr val="accent6"/>
                </a:solidFill>
              </a:rPr>
              <a:t>A service mesh is an infrastructure layer for managing service-to-service communication in microservices, using sidecar proxies (e.g., Envoy proxy) to handle networking, security, and observability without altering application code. It is essential for implementing zero-trust security (</a:t>
            </a:r>
            <a:r>
              <a:rPr lang="en-US" sz="1300" kern="0" spc="-80" dirty="0" err="1">
                <a:solidFill>
                  <a:schemeClr val="accent6"/>
                </a:solidFill>
              </a:rPr>
              <a:t>mTLS</a:t>
            </a:r>
            <a:r>
              <a:rPr lang="en-US" sz="1300" kern="0" spc="-80" dirty="0">
                <a:solidFill>
                  <a:schemeClr val="accent6"/>
                </a:solidFill>
              </a:rPr>
              <a:t>), advanced traffic management (canary releases), and gaining visibility into distributed systems. Key choices include Istio (feature-rich), </a:t>
            </a:r>
            <a:r>
              <a:rPr lang="en-US" sz="1300" kern="0" spc="-80" dirty="0" err="1">
                <a:solidFill>
                  <a:schemeClr val="accent6"/>
                </a:solidFill>
              </a:rPr>
              <a:t>Linkerd</a:t>
            </a:r>
            <a:r>
              <a:rPr lang="en-US" sz="1300" kern="0" spc="-80" dirty="0">
                <a:solidFill>
                  <a:schemeClr val="accent6"/>
                </a:solidFill>
              </a:rPr>
              <a:t> (lightweight/fast), and </a:t>
            </a:r>
            <a:r>
              <a:rPr lang="en-US" sz="1300" kern="0" spc="-80" dirty="0" err="1">
                <a:solidFill>
                  <a:schemeClr val="accent6"/>
                </a:solidFill>
              </a:rPr>
              <a:t>HashiCorp</a:t>
            </a:r>
            <a:r>
              <a:rPr lang="en-US" sz="1300" kern="0" spc="-80" dirty="0">
                <a:solidFill>
                  <a:schemeClr val="accent6"/>
                </a:solidFill>
              </a:rPr>
              <a:t> Consul (multi-platform).</a:t>
            </a:r>
          </a:p>
          <a:p>
            <a:pPr marL="12700" marR="5080"/>
            <a:r>
              <a:rPr lang="en-US" sz="1700" kern="0" spc="-80" dirty="0">
                <a:solidFill>
                  <a:schemeClr val="accent2"/>
                </a:solidFill>
              </a:rPr>
              <a:t>Why Do We Need a Service Mesh?</a:t>
            </a:r>
          </a:p>
          <a:p>
            <a:pPr marL="12700" marR="5080"/>
            <a:r>
              <a:rPr lang="en-US" sz="1300" kern="0" spc="-80" dirty="0">
                <a:solidFill>
                  <a:schemeClr val="accent2"/>
                </a:solidFill>
              </a:rPr>
              <a:t>Security (</a:t>
            </a:r>
            <a:r>
              <a:rPr lang="en-US" sz="1300" kern="0" spc="-80" dirty="0" err="1">
                <a:solidFill>
                  <a:schemeClr val="accent2"/>
                </a:solidFill>
              </a:rPr>
              <a:t>mTLS</a:t>
            </a:r>
            <a:r>
              <a:rPr lang="en-US" sz="1300" kern="0" spc="-80" dirty="0">
                <a:solidFill>
                  <a:schemeClr val="accent2"/>
                </a:solidFill>
              </a:rPr>
              <a:t>):</a:t>
            </a:r>
            <a:r>
              <a:rPr lang="en-US" sz="1300" kern="0" spc="-80" dirty="0">
                <a:solidFill>
                  <a:schemeClr val="accent6"/>
                </a:solidFill>
              </a:rPr>
              <a:t> Automatically encrypts and authenticates service-to-service traffic without application changes.</a:t>
            </a:r>
          </a:p>
          <a:p>
            <a:pPr marL="12700" marR="5080"/>
            <a:r>
              <a:rPr lang="en-US" sz="1300" kern="0" spc="-80" dirty="0">
                <a:solidFill>
                  <a:schemeClr val="accent2"/>
                </a:solidFill>
              </a:rPr>
              <a:t>Observability: </a:t>
            </a:r>
            <a:r>
              <a:rPr lang="en-US" sz="1300" kern="0" spc="-80" dirty="0">
                <a:solidFill>
                  <a:schemeClr val="accent6"/>
                </a:solidFill>
              </a:rPr>
              <a:t>Provides deep insights into metrics, logging, and tracing (latency, error rates).</a:t>
            </a:r>
          </a:p>
          <a:p>
            <a:pPr marL="12700" marR="5080"/>
            <a:r>
              <a:rPr lang="en-US" sz="1300" kern="0" spc="-80" dirty="0">
                <a:solidFill>
                  <a:schemeClr val="accent2"/>
                </a:solidFill>
              </a:rPr>
              <a:t>Traffic Management:</a:t>
            </a:r>
            <a:r>
              <a:rPr lang="en-US" sz="1300" kern="0" spc="-80" dirty="0">
                <a:solidFill>
                  <a:schemeClr val="accent6"/>
                </a:solidFill>
              </a:rPr>
              <a:t> Enables fine-grained control, such as canary deployments, A/B testing, load balancing, and retries.</a:t>
            </a:r>
          </a:p>
          <a:p>
            <a:pPr marL="12700" marR="5080"/>
            <a:r>
              <a:rPr lang="en-US" sz="1300" kern="0" spc="-80" dirty="0">
                <a:solidFill>
                  <a:schemeClr val="accent2"/>
                </a:solidFill>
              </a:rPr>
              <a:t>Resilience:</a:t>
            </a:r>
            <a:r>
              <a:rPr lang="en-US" sz="1300" kern="0" spc="-80" dirty="0">
                <a:solidFill>
                  <a:schemeClr val="accent6"/>
                </a:solidFill>
              </a:rPr>
              <a:t> Implements circuit breakers and timeouts to prevent service failures</a:t>
            </a:r>
          </a:p>
          <a:p>
            <a:pPr marL="12700" marR="5080"/>
            <a:r>
              <a:rPr lang="en-US" sz="1300" kern="0" spc="-80" dirty="0">
                <a:solidFill>
                  <a:schemeClr val="accent1"/>
                </a:solidFill>
              </a:rPr>
              <a:t>N.B. – Mainly used for inter/intra microservices communication</a:t>
            </a:r>
          </a:p>
          <a:p>
            <a:pPr marL="12700" marR="5080"/>
            <a:endParaRPr lang="en-US" sz="1300" kern="0" spc="-80" dirty="0">
              <a:solidFill>
                <a:schemeClr val="accent6"/>
              </a:solidFill>
            </a:endParaRPr>
          </a:p>
          <a:p>
            <a:pPr marL="12700" marR="5080"/>
            <a:r>
              <a:rPr lang="en-US" sz="2000" kern="0" spc="-80" dirty="0">
                <a:solidFill>
                  <a:schemeClr val="accent2"/>
                </a:solidFill>
              </a:rPr>
              <a:t>Istio vs </a:t>
            </a:r>
            <a:r>
              <a:rPr lang="en-US" sz="2000" kern="0" spc="-80" dirty="0" err="1">
                <a:solidFill>
                  <a:schemeClr val="accent2"/>
                </a:solidFill>
              </a:rPr>
              <a:t>Linkerd</a:t>
            </a:r>
            <a:r>
              <a:rPr lang="en-US" sz="2000" kern="0" spc="-80" dirty="0">
                <a:solidFill>
                  <a:schemeClr val="accent2"/>
                </a:solidFill>
              </a:rPr>
              <a:t> vs Consul</a:t>
            </a:r>
          </a:p>
        </p:txBody>
      </p:sp>
      <p:pic>
        <p:nvPicPr>
          <p:cNvPr id="7" name="Picture 6">
            <a:extLst>
              <a:ext uri="{FF2B5EF4-FFF2-40B4-BE49-F238E27FC236}">
                <a16:creationId xmlns:a16="http://schemas.microsoft.com/office/drawing/2014/main" id="{A2ACBF43-EA0A-DFA8-CDB3-972F6241C4A1}"/>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1" y="3809516"/>
            <a:ext cx="9067801" cy="2099660"/>
          </a:xfrm>
          <a:prstGeom prst="rect">
            <a:avLst/>
          </a:prstGeom>
        </p:spPr>
      </p:pic>
    </p:spTree>
    <p:extLst>
      <p:ext uri="{BB962C8B-B14F-4D97-AF65-F5344CB8AC3E}">
        <p14:creationId xmlns:p14="http://schemas.microsoft.com/office/powerpoint/2010/main" val="2746973773"/>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448EB0-FD81-49E5-69BE-B3717ADD82AF}"/>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18491E55-219D-42F6-06D1-AFCDBB473396}"/>
              </a:ext>
            </a:extLst>
          </p:cNvPr>
          <p:cNvSpPr/>
          <p:nvPr/>
        </p:nvSpPr>
        <p:spPr>
          <a:xfrm>
            <a:off x="1756803" y="648336"/>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7019E85F-397F-7C62-1B98-09F2891E4B9F}"/>
              </a:ext>
            </a:extLst>
          </p:cNvPr>
          <p:cNvSpPr/>
          <p:nvPr/>
        </p:nvSpPr>
        <p:spPr>
          <a:xfrm>
            <a:off x="1756803" y="495936"/>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F6496B14-A8C9-21E0-EF6B-EF7C9D2C0284}"/>
              </a:ext>
            </a:extLst>
          </p:cNvPr>
          <p:cNvGraphicFramePr/>
          <p:nvPr/>
        </p:nvGraphicFramePr>
        <p:xfrm>
          <a:off x="0" y="34425"/>
          <a:ext cx="9144000" cy="407873"/>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2" name="object 2">
            <a:extLst>
              <a:ext uri="{FF2B5EF4-FFF2-40B4-BE49-F238E27FC236}">
                <a16:creationId xmlns:a16="http://schemas.microsoft.com/office/drawing/2014/main" id="{FDB86744-18A6-287F-794A-CDEE3E7F74EF}"/>
              </a:ext>
            </a:extLst>
          </p:cNvPr>
          <p:cNvSpPr txBox="1">
            <a:spLocks/>
          </p:cNvSpPr>
          <p:nvPr/>
        </p:nvSpPr>
        <p:spPr>
          <a:xfrm>
            <a:off x="228600" y="762000"/>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p:txBody>
      </p:sp>
      <p:sp>
        <p:nvSpPr>
          <p:cNvPr id="11" name="object 2">
            <a:extLst>
              <a:ext uri="{FF2B5EF4-FFF2-40B4-BE49-F238E27FC236}">
                <a16:creationId xmlns:a16="http://schemas.microsoft.com/office/drawing/2014/main" id="{8B366BB4-2CE1-268D-87E7-D36C2BF6B9DD}"/>
              </a:ext>
            </a:extLst>
          </p:cNvPr>
          <p:cNvSpPr txBox="1">
            <a:spLocks/>
          </p:cNvSpPr>
          <p:nvPr/>
        </p:nvSpPr>
        <p:spPr>
          <a:xfrm>
            <a:off x="0" y="800736"/>
            <a:ext cx="8624937" cy="307777"/>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000" kern="0" spc="-80" dirty="0">
                <a:solidFill>
                  <a:schemeClr val="accent2"/>
                </a:solidFill>
              </a:rPr>
              <a:t>Istio vs </a:t>
            </a:r>
            <a:r>
              <a:rPr lang="en-US" sz="2000" kern="0" spc="-80" dirty="0" err="1">
                <a:solidFill>
                  <a:schemeClr val="accent2"/>
                </a:solidFill>
              </a:rPr>
              <a:t>Linkerd</a:t>
            </a:r>
            <a:r>
              <a:rPr lang="en-US" sz="2000" kern="0" spc="-80" dirty="0">
                <a:solidFill>
                  <a:schemeClr val="accent2"/>
                </a:solidFill>
              </a:rPr>
              <a:t> vs Consul</a:t>
            </a:r>
          </a:p>
        </p:txBody>
      </p:sp>
      <p:pic>
        <p:nvPicPr>
          <p:cNvPr id="8" name="Picture 7">
            <a:extLst>
              <a:ext uri="{FF2B5EF4-FFF2-40B4-BE49-F238E27FC236}">
                <a16:creationId xmlns:a16="http://schemas.microsoft.com/office/drawing/2014/main" id="{A1170B4A-F16B-A040-CEB9-202D78071839}"/>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85640" y="1155031"/>
            <a:ext cx="9063440" cy="414849"/>
          </a:xfrm>
          <a:prstGeom prst="rect">
            <a:avLst/>
          </a:prstGeom>
        </p:spPr>
      </p:pic>
      <p:pic>
        <p:nvPicPr>
          <p:cNvPr id="10" name="Picture 9">
            <a:extLst>
              <a:ext uri="{FF2B5EF4-FFF2-40B4-BE49-F238E27FC236}">
                <a16:creationId xmlns:a16="http://schemas.microsoft.com/office/drawing/2014/main" id="{1A905BE0-2860-8E76-1B0B-1D029D0867E5}"/>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0" y="1566136"/>
            <a:ext cx="8777337" cy="1558064"/>
          </a:xfrm>
          <a:prstGeom prst="rect">
            <a:avLst/>
          </a:prstGeom>
        </p:spPr>
      </p:pic>
      <p:sp>
        <p:nvSpPr>
          <p:cNvPr id="12" name="object 2">
            <a:extLst>
              <a:ext uri="{FF2B5EF4-FFF2-40B4-BE49-F238E27FC236}">
                <a16:creationId xmlns:a16="http://schemas.microsoft.com/office/drawing/2014/main" id="{90A5CBEA-CAAB-C23E-243D-D289669EB626}"/>
              </a:ext>
            </a:extLst>
          </p:cNvPr>
          <p:cNvSpPr txBox="1">
            <a:spLocks/>
          </p:cNvSpPr>
          <p:nvPr/>
        </p:nvSpPr>
        <p:spPr>
          <a:xfrm>
            <a:off x="5080" y="3400217"/>
            <a:ext cx="9062720" cy="1461939"/>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700" kern="0" spc="-80" dirty="0">
                <a:solidFill>
                  <a:schemeClr val="accent2"/>
                </a:solidFill>
              </a:rPr>
              <a:t>Summary of Differences</a:t>
            </a:r>
          </a:p>
          <a:p>
            <a:pPr marL="12700" marR="5080"/>
            <a:r>
              <a:rPr lang="en-US" sz="1300" kern="0" spc="-80" dirty="0">
                <a:solidFill>
                  <a:schemeClr val="accent2"/>
                </a:solidFill>
              </a:rPr>
              <a:t>Istio</a:t>
            </a:r>
            <a:r>
              <a:rPr lang="en-US" sz="1300" kern="0" spc="-80" dirty="0">
                <a:solidFill>
                  <a:schemeClr val="accent6"/>
                </a:solidFill>
              </a:rPr>
              <a:t> is chosen for its extensive feature set and customization.</a:t>
            </a:r>
          </a:p>
          <a:p>
            <a:pPr marL="12700" marR="5080"/>
            <a:r>
              <a:rPr lang="en-US" sz="1300" kern="0" spc="-80" dirty="0" err="1">
                <a:solidFill>
                  <a:schemeClr val="accent2"/>
                </a:solidFill>
              </a:rPr>
              <a:t>Linkerd</a:t>
            </a:r>
            <a:r>
              <a:rPr lang="en-US" sz="1300" kern="0" spc="-80" dirty="0">
                <a:solidFill>
                  <a:schemeClr val="accent2"/>
                </a:solidFill>
              </a:rPr>
              <a:t> </a:t>
            </a:r>
            <a:r>
              <a:rPr lang="en-US" sz="1300" kern="0" spc="-80" dirty="0">
                <a:solidFill>
                  <a:schemeClr val="accent6"/>
                </a:solidFill>
              </a:rPr>
              <a:t>is preferred for its operational simplicity and performance efficiency.</a:t>
            </a:r>
          </a:p>
          <a:p>
            <a:pPr marL="12700" marR="5080"/>
            <a:r>
              <a:rPr lang="en-US" sz="1300" kern="0" spc="-80" dirty="0">
                <a:solidFill>
                  <a:schemeClr val="accent2"/>
                </a:solidFill>
              </a:rPr>
              <a:t>Consu</a:t>
            </a:r>
            <a:r>
              <a:rPr lang="en-US" sz="1300" kern="0" spc="-80" dirty="0">
                <a:solidFill>
                  <a:schemeClr val="accent6"/>
                </a:solidFill>
              </a:rPr>
              <a:t>l excels in connecting services across heterogeneous environments, including VMs.</a:t>
            </a:r>
          </a:p>
          <a:p>
            <a:pPr marL="12700" marR="5080"/>
            <a:r>
              <a:rPr lang="en-US" sz="1300" kern="0" spc="-80" dirty="0">
                <a:solidFill>
                  <a:schemeClr val="accent2"/>
                </a:solidFill>
              </a:rPr>
              <a:t>Observability: </a:t>
            </a:r>
            <a:r>
              <a:rPr lang="en-US" sz="1300" kern="0" spc="-80" dirty="0">
                <a:solidFill>
                  <a:schemeClr val="accent6"/>
                </a:solidFill>
              </a:rPr>
              <a:t>Istio provides comprehensive, detailed dashboards, whereas </a:t>
            </a:r>
            <a:r>
              <a:rPr lang="en-US" sz="1300" kern="0" spc="-80" dirty="0" err="1">
                <a:solidFill>
                  <a:schemeClr val="accent6"/>
                </a:solidFill>
              </a:rPr>
              <a:t>Linkerd</a:t>
            </a:r>
            <a:r>
              <a:rPr lang="en-US" sz="1300" kern="0" spc="-80" dirty="0">
                <a:solidFill>
                  <a:schemeClr val="accent6"/>
                </a:solidFill>
              </a:rPr>
              <a:t> offers focused, essential metrics with less overhead.</a:t>
            </a:r>
          </a:p>
          <a:p>
            <a:pPr marL="12700" marR="5080"/>
            <a:r>
              <a:rPr lang="en-US" sz="1300" kern="0" spc="-80" dirty="0">
                <a:solidFill>
                  <a:schemeClr val="accent2"/>
                </a:solidFill>
              </a:rPr>
              <a:t>Operational Burden: </a:t>
            </a:r>
            <a:r>
              <a:rPr lang="en-US" sz="1300" kern="0" spc="-80" dirty="0">
                <a:solidFill>
                  <a:schemeClr val="accent6"/>
                </a:solidFill>
              </a:rPr>
              <a:t>Istio requires more management, while </a:t>
            </a:r>
            <a:r>
              <a:rPr lang="en-US" sz="1300" kern="0" spc="-80" dirty="0" err="1">
                <a:solidFill>
                  <a:schemeClr val="accent6"/>
                </a:solidFill>
              </a:rPr>
              <a:t>Linkerd</a:t>
            </a:r>
            <a:r>
              <a:rPr lang="en-US" sz="1300" kern="0" spc="-80" dirty="0">
                <a:solidFill>
                  <a:schemeClr val="accent6"/>
                </a:solidFill>
              </a:rPr>
              <a:t> is designed for "it just works".</a:t>
            </a:r>
          </a:p>
        </p:txBody>
      </p:sp>
    </p:spTree>
    <p:extLst>
      <p:ext uri="{BB962C8B-B14F-4D97-AF65-F5344CB8AC3E}">
        <p14:creationId xmlns:p14="http://schemas.microsoft.com/office/powerpoint/2010/main" val="3659403184"/>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3385F2-FCA3-8FA7-BD7C-68707E2E8CF3}"/>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8A90C325-B36A-56E5-604F-F73CA5F11043}"/>
              </a:ext>
            </a:extLst>
          </p:cNvPr>
          <p:cNvSpPr/>
          <p:nvPr/>
        </p:nvSpPr>
        <p:spPr>
          <a:xfrm>
            <a:off x="1756803" y="648336"/>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7FF3AA2D-E1C2-E6AC-CE03-49B630AD3468}"/>
              </a:ext>
            </a:extLst>
          </p:cNvPr>
          <p:cNvSpPr/>
          <p:nvPr/>
        </p:nvSpPr>
        <p:spPr>
          <a:xfrm>
            <a:off x="1756803" y="495936"/>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BE09DDD5-0BA7-0560-AC31-D8C5BFECED45}"/>
              </a:ext>
            </a:extLst>
          </p:cNvPr>
          <p:cNvGraphicFramePr/>
          <p:nvPr/>
        </p:nvGraphicFramePr>
        <p:xfrm>
          <a:off x="0" y="34425"/>
          <a:ext cx="9144000" cy="407873"/>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2" name="object 2">
            <a:extLst>
              <a:ext uri="{FF2B5EF4-FFF2-40B4-BE49-F238E27FC236}">
                <a16:creationId xmlns:a16="http://schemas.microsoft.com/office/drawing/2014/main" id="{E7E27AA7-B119-53B2-0114-685E1A7A738F}"/>
              </a:ext>
            </a:extLst>
          </p:cNvPr>
          <p:cNvSpPr txBox="1">
            <a:spLocks/>
          </p:cNvSpPr>
          <p:nvPr/>
        </p:nvSpPr>
        <p:spPr>
          <a:xfrm>
            <a:off x="228600" y="762000"/>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p:txBody>
      </p:sp>
      <p:sp>
        <p:nvSpPr>
          <p:cNvPr id="11" name="object 2">
            <a:extLst>
              <a:ext uri="{FF2B5EF4-FFF2-40B4-BE49-F238E27FC236}">
                <a16:creationId xmlns:a16="http://schemas.microsoft.com/office/drawing/2014/main" id="{5F0F683C-20A8-CC93-D423-D971876B1ACF}"/>
              </a:ext>
            </a:extLst>
          </p:cNvPr>
          <p:cNvSpPr txBox="1">
            <a:spLocks/>
          </p:cNvSpPr>
          <p:nvPr/>
        </p:nvSpPr>
        <p:spPr>
          <a:xfrm>
            <a:off x="0" y="800736"/>
            <a:ext cx="8624937" cy="1369606"/>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000" kern="0" spc="-80" dirty="0">
                <a:solidFill>
                  <a:schemeClr val="accent2"/>
                </a:solidFill>
              </a:rPr>
              <a:t>Service Mesh Patterns</a:t>
            </a:r>
          </a:p>
          <a:p>
            <a:pPr marL="12700" marR="5080"/>
            <a:r>
              <a:rPr lang="en-US" sz="1300" kern="0" spc="-80" dirty="0">
                <a:solidFill>
                  <a:schemeClr val="accent6"/>
                </a:solidFill>
              </a:rPr>
              <a:t>Service mesh patterns are architectural, operational, and traffic management strategies used to handle the complexity of inter-service communication in microservices, often implemented using tools like </a:t>
            </a:r>
            <a:r>
              <a:rPr lang="en-US" sz="1300" kern="0" spc="-80" dirty="0">
                <a:solidFill>
                  <a:schemeClr val="accent6"/>
                </a:solidFill>
                <a:hlinkClick r:id="rId8">
                  <a:extLst>
                    <a:ext uri="{A12FA001-AC4F-418D-AE19-62706E023703}">
                      <ahyp:hlinkClr xmlns:ahyp="http://schemas.microsoft.com/office/drawing/2018/hyperlinkcolor" val="tx"/>
                    </a:ext>
                  </a:extLst>
                </a:hlinkClick>
              </a:rPr>
              <a:t>Istio</a:t>
            </a:r>
            <a:r>
              <a:rPr lang="en-US" sz="1300" kern="0" spc="-80" dirty="0">
                <a:solidFill>
                  <a:schemeClr val="accent6"/>
                </a:solidFill>
              </a:rPr>
              <a:t>, </a:t>
            </a:r>
            <a:r>
              <a:rPr lang="en-US" sz="1300" kern="0" spc="-80" dirty="0" err="1">
                <a:solidFill>
                  <a:schemeClr val="accent6"/>
                </a:solidFill>
                <a:hlinkClick r:id="rId9">
                  <a:extLst>
                    <a:ext uri="{A12FA001-AC4F-418D-AE19-62706E023703}">
                      <ahyp:hlinkClr xmlns:ahyp="http://schemas.microsoft.com/office/drawing/2018/hyperlinkcolor" val="tx"/>
                    </a:ext>
                  </a:extLst>
                </a:hlinkClick>
              </a:rPr>
              <a:t>Linkerd</a:t>
            </a:r>
            <a:r>
              <a:rPr lang="en-US" sz="1300" kern="0" spc="-80" dirty="0">
                <a:solidFill>
                  <a:schemeClr val="accent6"/>
                </a:solidFill>
              </a:rPr>
              <a:t>, or Consul. These patterns provide a standardized way to manage security, observability, and traffic flow. </a:t>
            </a:r>
          </a:p>
          <a:p>
            <a:pPr marL="12700" marR="5080"/>
            <a:endParaRPr lang="en-US" sz="1300" kern="0" spc="-80" dirty="0">
              <a:solidFill>
                <a:schemeClr val="accent6"/>
              </a:solidFill>
            </a:endParaRPr>
          </a:p>
          <a:p>
            <a:pPr marL="12700" marR="5080"/>
            <a:r>
              <a:rPr lang="en-US" sz="1700" kern="0" spc="-80" dirty="0">
                <a:solidFill>
                  <a:schemeClr val="accent2"/>
                </a:solidFill>
              </a:rPr>
              <a:t>Architectural Patterns</a:t>
            </a:r>
          </a:p>
        </p:txBody>
      </p:sp>
      <p:pic>
        <p:nvPicPr>
          <p:cNvPr id="8" name="Picture 7">
            <a:extLst>
              <a:ext uri="{FF2B5EF4-FFF2-40B4-BE49-F238E27FC236}">
                <a16:creationId xmlns:a16="http://schemas.microsoft.com/office/drawing/2014/main" id="{9DAAF563-9980-3CAD-C76A-DD33DB29F98C}"/>
              </a:ext>
            </a:extLst>
          </p:cNvPr>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a:off x="0" y="2209077"/>
            <a:ext cx="8991600" cy="3700097"/>
          </a:xfrm>
          <a:prstGeom prst="rect">
            <a:avLst/>
          </a:prstGeom>
        </p:spPr>
      </p:pic>
    </p:spTree>
    <p:extLst>
      <p:ext uri="{BB962C8B-B14F-4D97-AF65-F5344CB8AC3E}">
        <p14:creationId xmlns:p14="http://schemas.microsoft.com/office/powerpoint/2010/main" val="3398356518"/>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127656-A913-6CD5-E1E2-57D138F6449C}"/>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200D9E77-8AB7-3913-2509-158911AF8098}"/>
              </a:ext>
            </a:extLst>
          </p:cNvPr>
          <p:cNvSpPr/>
          <p:nvPr/>
        </p:nvSpPr>
        <p:spPr>
          <a:xfrm>
            <a:off x="1756803" y="648336"/>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C1BFD4B9-4B3A-247A-DC67-6241646A05AC}"/>
              </a:ext>
            </a:extLst>
          </p:cNvPr>
          <p:cNvSpPr/>
          <p:nvPr/>
        </p:nvSpPr>
        <p:spPr>
          <a:xfrm>
            <a:off x="1756803" y="495936"/>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FAAC6AC8-D460-7A9C-F4E1-37BC700C017A}"/>
              </a:ext>
            </a:extLst>
          </p:cNvPr>
          <p:cNvGraphicFramePr/>
          <p:nvPr/>
        </p:nvGraphicFramePr>
        <p:xfrm>
          <a:off x="0" y="34425"/>
          <a:ext cx="9144000" cy="407873"/>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2" name="object 2">
            <a:extLst>
              <a:ext uri="{FF2B5EF4-FFF2-40B4-BE49-F238E27FC236}">
                <a16:creationId xmlns:a16="http://schemas.microsoft.com/office/drawing/2014/main" id="{81AD2263-5A97-28AA-A09B-8D5FA090798F}"/>
              </a:ext>
            </a:extLst>
          </p:cNvPr>
          <p:cNvSpPr txBox="1">
            <a:spLocks/>
          </p:cNvSpPr>
          <p:nvPr/>
        </p:nvSpPr>
        <p:spPr>
          <a:xfrm>
            <a:off x="228600" y="762000"/>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p:txBody>
      </p:sp>
      <p:sp>
        <p:nvSpPr>
          <p:cNvPr id="11" name="object 2">
            <a:extLst>
              <a:ext uri="{FF2B5EF4-FFF2-40B4-BE49-F238E27FC236}">
                <a16:creationId xmlns:a16="http://schemas.microsoft.com/office/drawing/2014/main" id="{5594F8EC-639C-58AC-7BC7-98180C5734B2}"/>
              </a:ext>
            </a:extLst>
          </p:cNvPr>
          <p:cNvSpPr txBox="1">
            <a:spLocks/>
          </p:cNvSpPr>
          <p:nvPr/>
        </p:nvSpPr>
        <p:spPr>
          <a:xfrm>
            <a:off x="0" y="800736"/>
            <a:ext cx="8624937" cy="569387"/>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000" kern="0" spc="-80" dirty="0">
                <a:solidFill>
                  <a:schemeClr val="accent2"/>
                </a:solidFill>
              </a:rPr>
              <a:t>Service Mesh Patterns</a:t>
            </a:r>
          </a:p>
          <a:p>
            <a:pPr marL="12700" marR="5080"/>
            <a:r>
              <a:rPr lang="en-US" sz="1700" kern="0" spc="-80" dirty="0">
                <a:solidFill>
                  <a:schemeClr val="accent2"/>
                </a:solidFill>
              </a:rPr>
              <a:t>Traffic Management and Routing Patterns</a:t>
            </a:r>
          </a:p>
        </p:txBody>
      </p:sp>
      <p:pic>
        <p:nvPicPr>
          <p:cNvPr id="7" name="Picture 6">
            <a:extLst>
              <a:ext uri="{FF2B5EF4-FFF2-40B4-BE49-F238E27FC236}">
                <a16:creationId xmlns:a16="http://schemas.microsoft.com/office/drawing/2014/main" id="{74CDD610-15A4-ED57-13AB-99F5B36167EF}"/>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76200" y="1370123"/>
            <a:ext cx="8915400" cy="3254125"/>
          </a:xfrm>
          <a:prstGeom prst="rect">
            <a:avLst/>
          </a:prstGeom>
        </p:spPr>
      </p:pic>
      <p:pic>
        <p:nvPicPr>
          <p:cNvPr id="10" name="Picture 9">
            <a:extLst>
              <a:ext uri="{FF2B5EF4-FFF2-40B4-BE49-F238E27FC236}">
                <a16:creationId xmlns:a16="http://schemas.microsoft.com/office/drawing/2014/main" id="{C1B0F901-7DF7-A1BD-5FF4-C7E9CE4880DF}"/>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76200" y="4800600"/>
            <a:ext cx="8839200" cy="648968"/>
          </a:xfrm>
          <a:prstGeom prst="rect">
            <a:avLst/>
          </a:prstGeom>
        </p:spPr>
      </p:pic>
    </p:spTree>
    <p:extLst>
      <p:ext uri="{BB962C8B-B14F-4D97-AF65-F5344CB8AC3E}">
        <p14:creationId xmlns:p14="http://schemas.microsoft.com/office/powerpoint/2010/main" val="1778735685"/>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B8B2EB-95A6-A761-118F-69627E793FBB}"/>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A1676E91-7B0B-4BA8-1831-511ED99720AB}"/>
              </a:ext>
            </a:extLst>
          </p:cNvPr>
          <p:cNvSpPr/>
          <p:nvPr/>
        </p:nvSpPr>
        <p:spPr>
          <a:xfrm>
            <a:off x="1756803" y="648336"/>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830A1D2B-55BB-4025-571E-58A8CA4F43D5}"/>
              </a:ext>
            </a:extLst>
          </p:cNvPr>
          <p:cNvSpPr/>
          <p:nvPr/>
        </p:nvSpPr>
        <p:spPr>
          <a:xfrm>
            <a:off x="1756803" y="495936"/>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34A92890-120F-55AB-A72D-E86E6DC2F278}"/>
              </a:ext>
            </a:extLst>
          </p:cNvPr>
          <p:cNvGraphicFramePr/>
          <p:nvPr/>
        </p:nvGraphicFramePr>
        <p:xfrm>
          <a:off x="0" y="34425"/>
          <a:ext cx="9144000" cy="407873"/>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2" name="object 2">
            <a:extLst>
              <a:ext uri="{FF2B5EF4-FFF2-40B4-BE49-F238E27FC236}">
                <a16:creationId xmlns:a16="http://schemas.microsoft.com/office/drawing/2014/main" id="{134AD808-280C-0481-4A62-1CC904CBDC59}"/>
              </a:ext>
            </a:extLst>
          </p:cNvPr>
          <p:cNvSpPr txBox="1">
            <a:spLocks/>
          </p:cNvSpPr>
          <p:nvPr/>
        </p:nvSpPr>
        <p:spPr>
          <a:xfrm>
            <a:off x="228600" y="762000"/>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p:txBody>
      </p:sp>
      <p:sp>
        <p:nvSpPr>
          <p:cNvPr id="11" name="object 2">
            <a:extLst>
              <a:ext uri="{FF2B5EF4-FFF2-40B4-BE49-F238E27FC236}">
                <a16:creationId xmlns:a16="http://schemas.microsoft.com/office/drawing/2014/main" id="{7D43C93D-6105-90DA-A162-BB443D24E2FC}"/>
              </a:ext>
            </a:extLst>
          </p:cNvPr>
          <p:cNvSpPr txBox="1">
            <a:spLocks/>
          </p:cNvSpPr>
          <p:nvPr/>
        </p:nvSpPr>
        <p:spPr>
          <a:xfrm>
            <a:off x="0" y="800736"/>
            <a:ext cx="8624937" cy="569387"/>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000" kern="0" spc="-80" dirty="0">
                <a:solidFill>
                  <a:schemeClr val="accent2"/>
                </a:solidFill>
              </a:rPr>
              <a:t>Service Mesh Patterns</a:t>
            </a:r>
          </a:p>
          <a:p>
            <a:pPr marL="12700" marR="5080"/>
            <a:r>
              <a:rPr lang="en-US" sz="1700" kern="0" spc="-80" dirty="0">
                <a:solidFill>
                  <a:schemeClr val="accent2"/>
                </a:solidFill>
              </a:rPr>
              <a:t>Reliability &amp; Resiliency Patterns</a:t>
            </a:r>
          </a:p>
        </p:txBody>
      </p:sp>
      <p:pic>
        <p:nvPicPr>
          <p:cNvPr id="8" name="Picture 7">
            <a:extLst>
              <a:ext uri="{FF2B5EF4-FFF2-40B4-BE49-F238E27FC236}">
                <a16:creationId xmlns:a16="http://schemas.microsoft.com/office/drawing/2014/main" id="{1725DF94-2A1A-3C1D-93D3-E0434F3C4D60}"/>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45638" y="1356678"/>
            <a:ext cx="8945962" cy="4090986"/>
          </a:xfrm>
          <a:prstGeom prst="rect">
            <a:avLst/>
          </a:prstGeom>
        </p:spPr>
      </p:pic>
    </p:spTree>
    <p:extLst>
      <p:ext uri="{BB962C8B-B14F-4D97-AF65-F5344CB8AC3E}">
        <p14:creationId xmlns:p14="http://schemas.microsoft.com/office/powerpoint/2010/main" val="485234047"/>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736006-6E50-F6D1-1390-5958BC186E08}"/>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08804F88-C6B3-D1E0-745C-7B9BF8DB9936}"/>
              </a:ext>
            </a:extLst>
          </p:cNvPr>
          <p:cNvSpPr/>
          <p:nvPr/>
        </p:nvSpPr>
        <p:spPr>
          <a:xfrm>
            <a:off x="1756803" y="648336"/>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8D4C0464-FD27-50F4-48A1-3679491E4C2D}"/>
              </a:ext>
            </a:extLst>
          </p:cNvPr>
          <p:cNvSpPr/>
          <p:nvPr/>
        </p:nvSpPr>
        <p:spPr>
          <a:xfrm>
            <a:off x="1756803" y="495936"/>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C9F83905-B80F-C102-9CC0-03BBD9F97D00}"/>
              </a:ext>
            </a:extLst>
          </p:cNvPr>
          <p:cNvGraphicFramePr/>
          <p:nvPr/>
        </p:nvGraphicFramePr>
        <p:xfrm>
          <a:off x="0" y="34425"/>
          <a:ext cx="9144000" cy="407873"/>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2" name="object 2">
            <a:extLst>
              <a:ext uri="{FF2B5EF4-FFF2-40B4-BE49-F238E27FC236}">
                <a16:creationId xmlns:a16="http://schemas.microsoft.com/office/drawing/2014/main" id="{0C17999A-1215-7092-25A9-3A49D3D4ACD8}"/>
              </a:ext>
            </a:extLst>
          </p:cNvPr>
          <p:cNvSpPr txBox="1">
            <a:spLocks/>
          </p:cNvSpPr>
          <p:nvPr/>
        </p:nvSpPr>
        <p:spPr>
          <a:xfrm>
            <a:off x="228600" y="762000"/>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p:txBody>
      </p:sp>
      <p:sp>
        <p:nvSpPr>
          <p:cNvPr id="11" name="object 2">
            <a:extLst>
              <a:ext uri="{FF2B5EF4-FFF2-40B4-BE49-F238E27FC236}">
                <a16:creationId xmlns:a16="http://schemas.microsoft.com/office/drawing/2014/main" id="{3D037DED-3420-2D76-76DA-8FE4FB41345E}"/>
              </a:ext>
            </a:extLst>
          </p:cNvPr>
          <p:cNvSpPr txBox="1">
            <a:spLocks/>
          </p:cNvSpPr>
          <p:nvPr/>
        </p:nvSpPr>
        <p:spPr>
          <a:xfrm>
            <a:off x="0" y="800736"/>
            <a:ext cx="8624937" cy="569387"/>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000" kern="0" spc="-80" dirty="0">
                <a:solidFill>
                  <a:schemeClr val="accent2"/>
                </a:solidFill>
              </a:rPr>
              <a:t>Service Mesh Patterns</a:t>
            </a:r>
          </a:p>
          <a:p>
            <a:pPr marL="12700" marR="5080"/>
            <a:r>
              <a:rPr lang="en-US" sz="1700" kern="0" spc="-80" dirty="0">
                <a:solidFill>
                  <a:schemeClr val="accent2"/>
                </a:solidFill>
              </a:rPr>
              <a:t>Security Patterns</a:t>
            </a:r>
          </a:p>
        </p:txBody>
      </p:sp>
      <p:pic>
        <p:nvPicPr>
          <p:cNvPr id="10" name="Picture 9">
            <a:extLst>
              <a:ext uri="{FF2B5EF4-FFF2-40B4-BE49-F238E27FC236}">
                <a16:creationId xmlns:a16="http://schemas.microsoft.com/office/drawing/2014/main" id="{AE4BFFF0-D36F-205D-F8E2-54889A715031}"/>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1" y="1370123"/>
            <a:ext cx="9143999" cy="1830277"/>
          </a:xfrm>
          <a:prstGeom prst="rect">
            <a:avLst/>
          </a:prstGeom>
        </p:spPr>
      </p:pic>
      <p:pic>
        <p:nvPicPr>
          <p:cNvPr id="13" name="Picture 12">
            <a:extLst>
              <a:ext uri="{FF2B5EF4-FFF2-40B4-BE49-F238E27FC236}">
                <a16:creationId xmlns:a16="http://schemas.microsoft.com/office/drawing/2014/main" id="{D1CAEE38-EF80-AA03-E154-3745D9E5F52F}"/>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0" y="3276600"/>
            <a:ext cx="8915400" cy="2018664"/>
          </a:xfrm>
          <a:prstGeom prst="rect">
            <a:avLst/>
          </a:prstGeom>
        </p:spPr>
      </p:pic>
      <p:pic>
        <p:nvPicPr>
          <p:cNvPr id="15" name="Picture 14">
            <a:extLst>
              <a:ext uri="{FF2B5EF4-FFF2-40B4-BE49-F238E27FC236}">
                <a16:creationId xmlns:a16="http://schemas.microsoft.com/office/drawing/2014/main" id="{9A361BAB-7C84-AA96-5C2D-1EC4DF163216}"/>
              </a:ext>
            </a:extLst>
          </p:cNvPr>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a:off x="0" y="5295264"/>
            <a:ext cx="9067799" cy="648336"/>
          </a:xfrm>
          <a:prstGeom prst="rect">
            <a:avLst/>
          </a:prstGeom>
        </p:spPr>
      </p:pic>
    </p:spTree>
    <p:extLst>
      <p:ext uri="{BB962C8B-B14F-4D97-AF65-F5344CB8AC3E}">
        <p14:creationId xmlns:p14="http://schemas.microsoft.com/office/powerpoint/2010/main" val="207283580"/>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D70BE3-2634-6B24-285A-3EC78844178B}"/>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2B9C54DA-84BF-281D-C363-E693DF096ABA}"/>
              </a:ext>
            </a:extLst>
          </p:cNvPr>
          <p:cNvSpPr/>
          <p:nvPr/>
        </p:nvSpPr>
        <p:spPr>
          <a:xfrm>
            <a:off x="1756803" y="648336"/>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7FDF21F4-7982-070B-9B67-8A37EFE4DECC}"/>
              </a:ext>
            </a:extLst>
          </p:cNvPr>
          <p:cNvSpPr/>
          <p:nvPr/>
        </p:nvSpPr>
        <p:spPr>
          <a:xfrm>
            <a:off x="1756803" y="495936"/>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9CB56B73-D8AA-6616-AD5F-CD8E1C349E17}"/>
              </a:ext>
            </a:extLst>
          </p:cNvPr>
          <p:cNvGraphicFramePr/>
          <p:nvPr/>
        </p:nvGraphicFramePr>
        <p:xfrm>
          <a:off x="0" y="34425"/>
          <a:ext cx="9144000" cy="407873"/>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2" name="object 2">
            <a:extLst>
              <a:ext uri="{FF2B5EF4-FFF2-40B4-BE49-F238E27FC236}">
                <a16:creationId xmlns:a16="http://schemas.microsoft.com/office/drawing/2014/main" id="{B2D0942E-F358-4843-EC17-ABE41E947D7B}"/>
              </a:ext>
            </a:extLst>
          </p:cNvPr>
          <p:cNvSpPr txBox="1">
            <a:spLocks/>
          </p:cNvSpPr>
          <p:nvPr/>
        </p:nvSpPr>
        <p:spPr>
          <a:xfrm>
            <a:off x="228600" y="762000"/>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p:txBody>
      </p:sp>
      <p:sp>
        <p:nvSpPr>
          <p:cNvPr id="11" name="object 2">
            <a:extLst>
              <a:ext uri="{FF2B5EF4-FFF2-40B4-BE49-F238E27FC236}">
                <a16:creationId xmlns:a16="http://schemas.microsoft.com/office/drawing/2014/main" id="{DF41AE9A-0BD2-149C-FE34-930653AACC03}"/>
              </a:ext>
            </a:extLst>
          </p:cNvPr>
          <p:cNvSpPr txBox="1">
            <a:spLocks/>
          </p:cNvSpPr>
          <p:nvPr/>
        </p:nvSpPr>
        <p:spPr>
          <a:xfrm>
            <a:off x="0" y="800736"/>
            <a:ext cx="8624937" cy="569387"/>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000" kern="0" spc="-80" dirty="0">
                <a:solidFill>
                  <a:schemeClr val="accent2"/>
                </a:solidFill>
              </a:rPr>
              <a:t>Service Mesh Patterns</a:t>
            </a:r>
          </a:p>
          <a:p>
            <a:pPr marL="12700" marR="5080"/>
            <a:r>
              <a:rPr lang="en-US" sz="1700" kern="0" spc="-80" dirty="0">
                <a:solidFill>
                  <a:schemeClr val="accent2"/>
                </a:solidFill>
              </a:rPr>
              <a:t>Observability Patterns</a:t>
            </a:r>
          </a:p>
        </p:txBody>
      </p:sp>
      <p:pic>
        <p:nvPicPr>
          <p:cNvPr id="7" name="Picture 6">
            <a:extLst>
              <a:ext uri="{FF2B5EF4-FFF2-40B4-BE49-F238E27FC236}">
                <a16:creationId xmlns:a16="http://schemas.microsoft.com/office/drawing/2014/main" id="{57A35E16-80DC-5D64-9132-FEA724E5F42A}"/>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0" y="1408859"/>
            <a:ext cx="9143999" cy="2553541"/>
          </a:xfrm>
          <a:prstGeom prst="rect">
            <a:avLst/>
          </a:prstGeom>
        </p:spPr>
      </p:pic>
      <p:pic>
        <p:nvPicPr>
          <p:cNvPr id="9" name="Picture 8">
            <a:extLst>
              <a:ext uri="{FF2B5EF4-FFF2-40B4-BE49-F238E27FC236}">
                <a16:creationId xmlns:a16="http://schemas.microsoft.com/office/drawing/2014/main" id="{549441B6-9320-D829-4898-0495EAC49A10}"/>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76200" y="3962399"/>
            <a:ext cx="8701137" cy="1946775"/>
          </a:xfrm>
          <a:prstGeom prst="rect">
            <a:avLst/>
          </a:prstGeom>
        </p:spPr>
      </p:pic>
    </p:spTree>
    <p:extLst>
      <p:ext uri="{BB962C8B-B14F-4D97-AF65-F5344CB8AC3E}">
        <p14:creationId xmlns:p14="http://schemas.microsoft.com/office/powerpoint/2010/main" val="245795003"/>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DEFC1F-00DD-65A9-24D8-C51C8EB60B8A}"/>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9FE393DA-61D5-FE42-7CC5-0EAC3A4D6DCA}"/>
              </a:ext>
            </a:extLst>
          </p:cNvPr>
          <p:cNvSpPr/>
          <p:nvPr/>
        </p:nvSpPr>
        <p:spPr>
          <a:xfrm>
            <a:off x="1756803" y="648336"/>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B64CBAD2-141B-4F72-9803-887B64FE27F4}"/>
              </a:ext>
            </a:extLst>
          </p:cNvPr>
          <p:cNvSpPr/>
          <p:nvPr/>
        </p:nvSpPr>
        <p:spPr>
          <a:xfrm>
            <a:off x="1756803" y="495936"/>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3FD7FD84-52B2-B76A-F44B-25E1DABB713E}"/>
              </a:ext>
            </a:extLst>
          </p:cNvPr>
          <p:cNvGraphicFramePr/>
          <p:nvPr/>
        </p:nvGraphicFramePr>
        <p:xfrm>
          <a:off x="0" y="34425"/>
          <a:ext cx="9144000" cy="407873"/>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2" name="object 2">
            <a:extLst>
              <a:ext uri="{FF2B5EF4-FFF2-40B4-BE49-F238E27FC236}">
                <a16:creationId xmlns:a16="http://schemas.microsoft.com/office/drawing/2014/main" id="{1986E0A0-317A-6474-0B23-1B0F03597792}"/>
              </a:ext>
            </a:extLst>
          </p:cNvPr>
          <p:cNvSpPr txBox="1">
            <a:spLocks/>
          </p:cNvSpPr>
          <p:nvPr/>
        </p:nvSpPr>
        <p:spPr>
          <a:xfrm>
            <a:off x="228600" y="762000"/>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p:txBody>
      </p:sp>
      <p:sp>
        <p:nvSpPr>
          <p:cNvPr id="11" name="object 2">
            <a:extLst>
              <a:ext uri="{FF2B5EF4-FFF2-40B4-BE49-F238E27FC236}">
                <a16:creationId xmlns:a16="http://schemas.microsoft.com/office/drawing/2014/main" id="{7E215247-F1CC-C199-E0EF-CCA37ABE9713}"/>
              </a:ext>
            </a:extLst>
          </p:cNvPr>
          <p:cNvSpPr txBox="1">
            <a:spLocks/>
          </p:cNvSpPr>
          <p:nvPr/>
        </p:nvSpPr>
        <p:spPr>
          <a:xfrm>
            <a:off x="0" y="800736"/>
            <a:ext cx="8624937" cy="307777"/>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000" kern="0" spc="-80" dirty="0">
                <a:solidFill>
                  <a:schemeClr val="accent2"/>
                </a:solidFill>
              </a:rPr>
              <a:t>Sidecar vs Ambassador vs Adapter</a:t>
            </a:r>
          </a:p>
        </p:txBody>
      </p:sp>
      <p:pic>
        <p:nvPicPr>
          <p:cNvPr id="7" name="Picture 6">
            <a:extLst>
              <a:ext uri="{FF2B5EF4-FFF2-40B4-BE49-F238E27FC236}">
                <a16:creationId xmlns:a16="http://schemas.microsoft.com/office/drawing/2014/main" id="{131891C4-C23A-495A-4F65-D4F2AF33CB9D}"/>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0" y="1125518"/>
            <a:ext cx="9144000" cy="3827482"/>
          </a:xfrm>
          <a:prstGeom prst="rect">
            <a:avLst/>
          </a:prstGeom>
        </p:spPr>
      </p:pic>
      <p:sp>
        <p:nvSpPr>
          <p:cNvPr id="9" name="object 2">
            <a:extLst>
              <a:ext uri="{FF2B5EF4-FFF2-40B4-BE49-F238E27FC236}">
                <a16:creationId xmlns:a16="http://schemas.microsoft.com/office/drawing/2014/main" id="{B689EFA0-2703-957E-ADD4-89648DDCE836}"/>
              </a:ext>
            </a:extLst>
          </p:cNvPr>
          <p:cNvSpPr txBox="1">
            <a:spLocks/>
          </p:cNvSpPr>
          <p:nvPr/>
        </p:nvSpPr>
        <p:spPr>
          <a:xfrm>
            <a:off x="5080" y="5143381"/>
            <a:ext cx="9062720" cy="800219"/>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300" kern="0" spc="-80" dirty="0">
                <a:solidFill>
                  <a:schemeClr val="accent2"/>
                </a:solidFill>
              </a:rPr>
              <a:t>Key Distinctions:</a:t>
            </a:r>
          </a:p>
          <a:p>
            <a:pPr marL="12700" marR="5080"/>
            <a:r>
              <a:rPr lang="en-US" sz="1300" kern="0" spc="-80" dirty="0">
                <a:solidFill>
                  <a:schemeClr val="accent2"/>
                </a:solidFill>
              </a:rPr>
              <a:t>Sidecar:</a:t>
            </a:r>
            <a:r>
              <a:rPr lang="en-US" sz="1300" kern="0" spc="-80" dirty="0">
                <a:solidFill>
                  <a:schemeClr val="accent6"/>
                </a:solidFill>
              </a:rPr>
              <a:t> Broadest term; any container that helps the main application.</a:t>
            </a:r>
          </a:p>
          <a:p>
            <a:pPr marL="12700" marR="5080"/>
            <a:r>
              <a:rPr lang="en-US" sz="1300" kern="0" spc="-80" dirty="0">
                <a:solidFill>
                  <a:schemeClr val="accent2"/>
                </a:solidFill>
              </a:rPr>
              <a:t>Ambassador: </a:t>
            </a:r>
            <a:r>
              <a:rPr lang="en-US" sz="1300" kern="0" spc="-80" dirty="0">
                <a:solidFill>
                  <a:schemeClr val="accent6"/>
                </a:solidFill>
              </a:rPr>
              <a:t>A specialized sidecar focused on network proxying for traffic in/out of the pod.</a:t>
            </a:r>
          </a:p>
          <a:p>
            <a:pPr marL="12700" marR="5080"/>
            <a:r>
              <a:rPr lang="en-US" sz="1300" kern="0" spc="-80" dirty="0">
                <a:solidFill>
                  <a:schemeClr val="accent2"/>
                </a:solidFill>
              </a:rPr>
              <a:t>Adapter:</a:t>
            </a:r>
            <a:r>
              <a:rPr lang="en-US" sz="1300" kern="0" spc="-80" dirty="0">
                <a:solidFill>
                  <a:schemeClr val="accent6"/>
                </a:solidFill>
              </a:rPr>
              <a:t> A specialized sidecar focused on transforming data to a standard format.</a:t>
            </a:r>
          </a:p>
        </p:txBody>
      </p:sp>
    </p:spTree>
    <p:extLst>
      <p:ext uri="{BB962C8B-B14F-4D97-AF65-F5344CB8AC3E}">
        <p14:creationId xmlns:p14="http://schemas.microsoft.com/office/powerpoint/2010/main" val="752036896"/>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CE9009-7C52-EB4D-26AB-6D3E3415C86A}"/>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19321A0F-2F76-EF5B-EAA5-F635CAB7FFD6}"/>
              </a:ext>
            </a:extLst>
          </p:cNvPr>
          <p:cNvSpPr/>
          <p:nvPr/>
        </p:nvSpPr>
        <p:spPr>
          <a:xfrm>
            <a:off x="1756803" y="648336"/>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2EADC458-319D-DD3B-F426-21C17D9F6725}"/>
              </a:ext>
            </a:extLst>
          </p:cNvPr>
          <p:cNvSpPr/>
          <p:nvPr/>
        </p:nvSpPr>
        <p:spPr>
          <a:xfrm>
            <a:off x="1756803" y="495936"/>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A67B5878-6C76-8BDF-D40A-A7B4FACCEA42}"/>
              </a:ext>
            </a:extLst>
          </p:cNvPr>
          <p:cNvGraphicFramePr/>
          <p:nvPr/>
        </p:nvGraphicFramePr>
        <p:xfrm>
          <a:off x="0" y="34425"/>
          <a:ext cx="9144000" cy="407873"/>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2" name="object 2">
            <a:extLst>
              <a:ext uri="{FF2B5EF4-FFF2-40B4-BE49-F238E27FC236}">
                <a16:creationId xmlns:a16="http://schemas.microsoft.com/office/drawing/2014/main" id="{7B58EB2D-5830-8E53-B820-01BF08F087BE}"/>
              </a:ext>
            </a:extLst>
          </p:cNvPr>
          <p:cNvSpPr txBox="1">
            <a:spLocks/>
          </p:cNvSpPr>
          <p:nvPr/>
        </p:nvSpPr>
        <p:spPr>
          <a:xfrm>
            <a:off x="228600" y="762000"/>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p:txBody>
      </p:sp>
      <p:sp>
        <p:nvSpPr>
          <p:cNvPr id="11" name="object 2">
            <a:extLst>
              <a:ext uri="{FF2B5EF4-FFF2-40B4-BE49-F238E27FC236}">
                <a16:creationId xmlns:a16="http://schemas.microsoft.com/office/drawing/2014/main" id="{B6AEE3C1-B908-C2A9-7314-12EA47DA9DE0}"/>
              </a:ext>
            </a:extLst>
          </p:cNvPr>
          <p:cNvSpPr txBox="1">
            <a:spLocks/>
          </p:cNvSpPr>
          <p:nvPr/>
        </p:nvSpPr>
        <p:spPr>
          <a:xfrm>
            <a:off x="0" y="760511"/>
            <a:ext cx="8624937" cy="615553"/>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000" kern="0" spc="-80" dirty="0">
                <a:solidFill>
                  <a:schemeClr val="accent2"/>
                </a:solidFill>
              </a:rPr>
              <a:t>Service Mesh Scaling and Availability Techniques</a:t>
            </a:r>
          </a:p>
          <a:p>
            <a:pPr marL="12700" marR="5080"/>
            <a:endParaRPr lang="en-US" sz="2000" kern="0" spc="-80" dirty="0">
              <a:solidFill>
                <a:schemeClr val="accent2"/>
              </a:solidFill>
            </a:endParaRPr>
          </a:p>
        </p:txBody>
      </p:sp>
      <p:pic>
        <p:nvPicPr>
          <p:cNvPr id="7" name="Picture 6">
            <a:extLst>
              <a:ext uri="{FF2B5EF4-FFF2-40B4-BE49-F238E27FC236}">
                <a16:creationId xmlns:a16="http://schemas.microsoft.com/office/drawing/2014/main" id="{ACFCCAAE-0385-3E1E-FA67-D9AA3CC728DA}"/>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76200" y="1142999"/>
            <a:ext cx="9067800" cy="2625645"/>
          </a:xfrm>
          <a:prstGeom prst="rect">
            <a:avLst/>
          </a:prstGeom>
        </p:spPr>
      </p:pic>
      <p:pic>
        <p:nvPicPr>
          <p:cNvPr id="9" name="Picture 8">
            <a:extLst>
              <a:ext uri="{FF2B5EF4-FFF2-40B4-BE49-F238E27FC236}">
                <a16:creationId xmlns:a16="http://schemas.microsoft.com/office/drawing/2014/main" id="{100F6D2E-975F-551C-1F11-B681C08642B0}"/>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76200" y="3768645"/>
            <a:ext cx="8777337" cy="2174955"/>
          </a:xfrm>
          <a:prstGeom prst="rect">
            <a:avLst/>
          </a:prstGeom>
        </p:spPr>
      </p:pic>
    </p:spTree>
    <p:extLst>
      <p:ext uri="{BB962C8B-B14F-4D97-AF65-F5344CB8AC3E}">
        <p14:creationId xmlns:p14="http://schemas.microsoft.com/office/powerpoint/2010/main" val="621757890"/>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6D4266-259E-E264-31EE-4D0BEDAF92A2}"/>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29835931-745B-7BA8-3946-B24D4F4CA845}"/>
              </a:ext>
            </a:extLst>
          </p:cNvPr>
          <p:cNvSpPr/>
          <p:nvPr/>
        </p:nvSpPr>
        <p:spPr>
          <a:xfrm>
            <a:off x="1756803" y="648336"/>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9DC1C4F3-1CA1-465E-D32C-035181BB7CF8}"/>
              </a:ext>
            </a:extLst>
          </p:cNvPr>
          <p:cNvSpPr/>
          <p:nvPr/>
        </p:nvSpPr>
        <p:spPr>
          <a:xfrm>
            <a:off x="1756803" y="495936"/>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E466A9AD-82CC-7350-8FFC-0FE68D877470}"/>
              </a:ext>
            </a:extLst>
          </p:cNvPr>
          <p:cNvGraphicFramePr/>
          <p:nvPr/>
        </p:nvGraphicFramePr>
        <p:xfrm>
          <a:off x="0" y="34425"/>
          <a:ext cx="9144000" cy="407873"/>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2" name="object 2">
            <a:extLst>
              <a:ext uri="{FF2B5EF4-FFF2-40B4-BE49-F238E27FC236}">
                <a16:creationId xmlns:a16="http://schemas.microsoft.com/office/drawing/2014/main" id="{CB558A90-8C3E-2C51-C492-99FFF31C41BD}"/>
              </a:ext>
            </a:extLst>
          </p:cNvPr>
          <p:cNvSpPr txBox="1">
            <a:spLocks/>
          </p:cNvSpPr>
          <p:nvPr/>
        </p:nvSpPr>
        <p:spPr>
          <a:xfrm>
            <a:off x="228600" y="762000"/>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p:txBody>
      </p:sp>
      <p:sp>
        <p:nvSpPr>
          <p:cNvPr id="11" name="object 2">
            <a:extLst>
              <a:ext uri="{FF2B5EF4-FFF2-40B4-BE49-F238E27FC236}">
                <a16:creationId xmlns:a16="http://schemas.microsoft.com/office/drawing/2014/main" id="{86FDA884-6993-4E57-7B7A-9CB44BFAE47D}"/>
              </a:ext>
            </a:extLst>
          </p:cNvPr>
          <p:cNvSpPr txBox="1">
            <a:spLocks/>
          </p:cNvSpPr>
          <p:nvPr/>
        </p:nvSpPr>
        <p:spPr>
          <a:xfrm>
            <a:off x="0" y="760511"/>
            <a:ext cx="8624937" cy="307777"/>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000" kern="0" spc="-80" dirty="0">
                <a:solidFill>
                  <a:schemeClr val="accent2"/>
                </a:solidFill>
              </a:rPr>
              <a:t>Service Mesh vs Alternatives</a:t>
            </a:r>
          </a:p>
        </p:txBody>
      </p:sp>
      <p:pic>
        <p:nvPicPr>
          <p:cNvPr id="8" name="Picture 7">
            <a:extLst>
              <a:ext uri="{FF2B5EF4-FFF2-40B4-BE49-F238E27FC236}">
                <a16:creationId xmlns:a16="http://schemas.microsoft.com/office/drawing/2014/main" id="{7C174A54-1299-5EBC-F775-1713FA01B5D8}"/>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76200" y="1081702"/>
            <a:ext cx="9067800" cy="2271098"/>
          </a:xfrm>
          <a:prstGeom prst="rect">
            <a:avLst/>
          </a:prstGeom>
        </p:spPr>
      </p:pic>
      <p:pic>
        <p:nvPicPr>
          <p:cNvPr id="12" name="Picture 11">
            <a:extLst>
              <a:ext uri="{FF2B5EF4-FFF2-40B4-BE49-F238E27FC236}">
                <a16:creationId xmlns:a16="http://schemas.microsoft.com/office/drawing/2014/main" id="{B044C7E6-BFD5-8349-AEE6-743DBD9BCBB2}"/>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76200" y="3466973"/>
            <a:ext cx="8991600" cy="2476627"/>
          </a:xfrm>
          <a:prstGeom prst="rect">
            <a:avLst/>
          </a:prstGeom>
        </p:spPr>
      </p:pic>
    </p:spTree>
    <p:extLst>
      <p:ext uri="{BB962C8B-B14F-4D97-AF65-F5344CB8AC3E}">
        <p14:creationId xmlns:p14="http://schemas.microsoft.com/office/powerpoint/2010/main" val="671486055"/>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CFFA7F-80B6-FAA8-0B0B-36717EEFAA4E}"/>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F7EDB600-67EB-7F9B-A48B-B0C7C0D977FA}"/>
              </a:ext>
            </a:extLst>
          </p:cNvPr>
          <p:cNvSpPr/>
          <p:nvPr/>
        </p:nvSpPr>
        <p:spPr>
          <a:xfrm>
            <a:off x="1756803" y="648336"/>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4718A886-0BFA-4CEE-9CF1-D69161B4ED3C}"/>
              </a:ext>
            </a:extLst>
          </p:cNvPr>
          <p:cNvSpPr/>
          <p:nvPr/>
        </p:nvSpPr>
        <p:spPr>
          <a:xfrm>
            <a:off x="1756803" y="495936"/>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AC250A27-A50D-F3C7-5E87-E0B104AB2155}"/>
              </a:ext>
            </a:extLst>
          </p:cNvPr>
          <p:cNvGraphicFramePr/>
          <p:nvPr/>
        </p:nvGraphicFramePr>
        <p:xfrm>
          <a:off x="0" y="34425"/>
          <a:ext cx="9144000" cy="407873"/>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2" name="object 2">
            <a:extLst>
              <a:ext uri="{FF2B5EF4-FFF2-40B4-BE49-F238E27FC236}">
                <a16:creationId xmlns:a16="http://schemas.microsoft.com/office/drawing/2014/main" id="{94BEA4E7-782A-47C2-0BCC-FF5475765730}"/>
              </a:ext>
            </a:extLst>
          </p:cNvPr>
          <p:cNvSpPr txBox="1">
            <a:spLocks/>
          </p:cNvSpPr>
          <p:nvPr/>
        </p:nvSpPr>
        <p:spPr>
          <a:xfrm>
            <a:off x="228600" y="762000"/>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p:txBody>
      </p:sp>
      <p:sp>
        <p:nvSpPr>
          <p:cNvPr id="11" name="object 2">
            <a:extLst>
              <a:ext uri="{FF2B5EF4-FFF2-40B4-BE49-F238E27FC236}">
                <a16:creationId xmlns:a16="http://schemas.microsoft.com/office/drawing/2014/main" id="{6657715F-F689-B928-3F1D-0DCE03F11ACC}"/>
              </a:ext>
            </a:extLst>
          </p:cNvPr>
          <p:cNvSpPr txBox="1">
            <a:spLocks/>
          </p:cNvSpPr>
          <p:nvPr/>
        </p:nvSpPr>
        <p:spPr>
          <a:xfrm>
            <a:off x="0" y="760511"/>
            <a:ext cx="8624937" cy="3816429"/>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000" kern="0" spc="-80" dirty="0">
                <a:solidFill>
                  <a:schemeClr val="accent2"/>
                </a:solidFill>
              </a:rPr>
              <a:t>Service Mesh vs Alternatives</a:t>
            </a:r>
          </a:p>
          <a:p>
            <a:pPr marL="12700" marR="5080"/>
            <a:r>
              <a:rPr lang="en-US" sz="1700" kern="0" spc="-80" dirty="0">
                <a:solidFill>
                  <a:schemeClr val="accent2"/>
                </a:solidFill>
              </a:rPr>
              <a:t>Decision Guide</a:t>
            </a:r>
          </a:p>
          <a:p>
            <a:pPr marL="12700" marR="5080"/>
            <a:r>
              <a:rPr lang="en-US" sz="1300" kern="0" spc="-80" dirty="0">
                <a:solidFill>
                  <a:schemeClr val="accent2"/>
                </a:solidFill>
              </a:rPr>
              <a:t>Use Istio Sidecar if:</a:t>
            </a:r>
          </a:p>
          <a:p>
            <a:pPr marL="12700" marR="5080"/>
            <a:r>
              <a:rPr lang="en-US" sz="1300" kern="0" spc="-80" dirty="0">
                <a:solidFill>
                  <a:schemeClr val="accent6"/>
                </a:solidFill>
              </a:rPr>
              <a:t>You require strict security isolation where each pod must have its own identity and dedicated proxy.</a:t>
            </a:r>
          </a:p>
          <a:p>
            <a:pPr marL="12700" marR="5080"/>
            <a:r>
              <a:rPr lang="en-US" sz="1300" kern="0" spc="-80" dirty="0">
                <a:solidFill>
                  <a:schemeClr val="accent6"/>
                </a:solidFill>
              </a:rPr>
              <a:t>You need per-pod customization using the </a:t>
            </a:r>
            <a:r>
              <a:rPr lang="en-US" sz="1300" kern="0" spc="-80" dirty="0" err="1">
                <a:solidFill>
                  <a:schemeClr val="accent6"/>
                </a:solidFill>
              </a:rPr>
              <a:t>EnvoyFilter</a:t>
            </a:r>
            <a:r>
              <a:rPr lang="en-US" sz="1300" kern="0" spc="-80" dirty="0">
                <a:solidFill>
                  <a:schemeClr val="accent6"/>
                </a:solidFill>
              </a:rPr>
              <a:t> API (unsupported in Ambient).</a:t>
            </a:r>
          </a:p>
          <a:p>
            <a:pPr marL="12700" marR="5080"/>
            <a:r>
              <a:rPr lang="en-US" sz="1300" kern="0" spc="-80" dirty="0">
                <a:solidFill>
                  <a:schemeClr val="accent6"/>
                </a:solidFill>
              </a:rPr>
              <a:t>You are already running a mature sidecar-based mesh and don't want the risk of migrating yet.</a:t>
            </a:r>
          </a:p>
          <a:p>
            <a:pPr marL="12700" marR="5080"/>
            <a:r>
              <a:rPr lang="en-US" sz="1300" kern="0" spc="-80" dirty="0">
                <a:solidFill>
                  <a:schemeClr val="accent2"/>
                </a:solidFill>
              </a:rPr>
              <a:t>Use Istio Ambient if:</a:t>
            </a:r>
          </a:p>
          <a:p>
            <a:pPr marL="12700" marR="5080"/>
            <a:r>
              <a:rPr lang="en-US" sz="1300" kern="0" spc="-80" dirty="0">
                <a:solidFill>
                  <a:schemeClr val="accent6"/>
                </a:solidFill>
              </a:rPr>
              <a:t>Your primary goal is resource efficiency (reducing CPU/RAM costs by up to 70-90%).</a:t>
            </a:r>
          </a:p>
          <a:p>
            <a:pPr marL="12700" marR="5080"/>
            <a:r>
              <a:rPr lang="en-US" sz="1300" kern="0" spc="-80" dirty="0">
                <a:solidFill>
                  <a:schemeClr val="accent6"/>
                </a:solidFill>
              </a:rPr>
              <a:t>You only need L4 features like mutual TLS (</a:t>
            </a:r>
            <a:r>
              <a:rPr lang="en-US" sz="1300" kern="0" spc="-80" dirty="0" err="1">
                <a:solidFill>
                  <a:schemeClr val="accent6"/>
                </a:solidFill>
              </a:rPr>
              <a:t>mTLS</a:t>
            </a:r>
            <a:r>
              <a:rPr lang="en-US" sz="1300" kern="0" spc="-80" dirty="0">
                <a:solidFill>
                  <a:schemeClr val="accent6"/>
                </a:solidFill>
              </a:rPr>
              <a:t>) and basic TCP telemetry.</a:t>
            </a:r>
          </a:p>
          <a:p>
            <a:pPr marL="12700" marR="5080"/>
            <a:r>
              <a:rPr lang="en-US" sz="1300" kern="0" spc="-80" dirty="0">
                <a:solidFill>
                  <a:schemeClr val="accent6"/>
                </a:solidFill>
              </a:rPr>
              <a:t>You want to onboard services gradually without restarting existing application pods.</a:t>
            </a:r>
          </a:p>
          <a:p>
            <a:pPr marL="12700" marR="5080"/>
            <a:r>
              <a:rPr lang="en-US" sz="1300" kern="0" spc="-80" dirty="0">
                <a:solidFill>
                  <a:schemeClr val="accent2"/>
                </a:solidFill>
              </a:rPr>
              <a:t>Stick with K8s Native if:</a:t>
            </a:r>
          </a:p>
          <a:p>
            <a:pPr marL="12700" marR="5080"/>
            <a:r>
              <a:rPr lang="en-US" sz="1300" kern="0" spc="-80" dirty="0">
                <a:solidFill>
                  <a:schemeClr val="accent6"/>
                </a:solidFill>
              </a:rPr>
              <a:t>You have a small, simple cluster where basic </a:t>
            </a:r>
            <a:r>
              <a:rPr lang="en-US" sz="1300" kern="0" spc="-80" dirty="0" err="1">
                <a:solidFill>
                  <a:schemeClr val="accent6"/>
                </a:solidFill>
              </a:rPr>
              <a:t>NetworkPolicies</a:t>
            </a:r>
            <a:r>
              <a:rPr lang="en-US" sz="1300" kern="0" spc="-80" dirty="0">
                <a:solidFill>
                  <a:schemeClr val="accent6"/>
                </a:solidFill>
              </a:rPr>
              <a:t> for security and standard Services for load balancing are sufficient.</a:t>
            </a:r>
          </a:p>
          <a:p>
            <a:pPr marL="12700" marR="5080"/>
            <a:r>
              <a:rPr lang="en-US" sz="1300" kern="0" spc="-80" dirty="0">
                <a:solidFill>
                  <a:schemeClr val="accent6"/>
                </a:solidFill>
              </a:rPr>
              <a:t>Your environment cannot tolerate the added operational overhead of managing any service mesh control plane.</a:t>
            </a:r>
          </a:p>
          <a:p>
            <a:pPr marL="12700" marR="5080"/>
            <a:r>
              <a:rPr lang="en-US" sz="1300" kern="0" spc="-80" dirty="0">
                <a:solidFill>
                  <a:schemeClr val="accent2"/>
                </a:solidFill>
              </a:rPr>
              <a:t>Handle in Application if:</a:t>
            </a:r>
          </a:p>
          <a:p>
            <a:pPr marL="12700" marR="5080"/>
            <a:r>
              <a:rPr lang="en-US" sz="1300" kern="0" spc="-80" dirty="0">
                <a:solidFill>
                  <a:schemeClr val="accent6"/>
                </a:solidFill>
              </a:rPr>
              <a:t>You have ultra-low latency requirements where even a 0.2ms - 0.5ms proxy hop is unacceptable.</a:t>
            </a:r>
          </a:p>
          <a:p>
            <a:pPr marL="12700" marR="5080"/>
            <a:r>
              <a:rPr lang="en-US" sz="1300" kern="0" spc="-80" dirty="0">
                <a:solidFill>
                  <a:schemeClr val="accent6"/>
                </a:solidFill>
              </a:rPr>
              <a:t>The required functionality is highly business-logic specific (e.g., complex custom retries based on specific payload content). </a:t>
            </a:r>
          </a:p>
        </p:txBody>
      </p:sp>
    </p:spTree>
    <p:extLst>
      <p:ext uri="{BB962C8B-B14F-4D97-AF65-F5344CB8AC3E}">
        <p14:creationId xmlns:p14="http://schemas.microsoft.com/office/powerpoint/2010/main" val="3558302889"/>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p:nvPr/>
        </p:nvSpPr>
        <p:spPr>
          <a:xfrm>
            <a:off x="1756803" y="609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p:cNvSpPr/>
          <p:nvPr/>
        </p:nvSpPr>
        <p:spPr>
          <a:xfrm>
            <a:off x="1756803" y="457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2" name="object 2">
            <a:extLst>
              <a:ext uri="{FF2B5EF4-FFF2-40B4-BE49-F238E27FC236}">
                <a16:creationId xmlns:a16="http://schemas.microsoft.com/office/drawing/2014/main" id="{467B9D11-568F-0B6E-084E-840496724AFC}"/>
              </a:ext>
            </a:extLst>
          </p:cNvPr>
          <p:cNvSpPr txBox="1">
            <a:spLocks/>
          </p:cNvSpPr>
          <p:nvPr/>
        </p:nvSpPr>
        <p:spPr>
          <a:xfrm>
            <a:off x="228600" y="762000"/>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p:txBody>
      </p:sp>
      <p:sp>
        <p:nvSpPr>
          <p:cNvPr id="3" name="object 2">
            <a:extLst>
              <a:ext uri="{FF2B5EF4-FFF2-40B4-BE49-F238E27FC236}">
                <a16:creationId xmlns:a16="http://schemas.microsoft.com/office/drawing/2014/main" id="{A1B673A7-2655-7A24-8121-2A1D935DE253}"/>
              </a:ext>
            </a:extLst>
          </p:cNvPr>
          <p:cNvSpPr txBox="1">
            <a:spLocks/>
          </p:cNvSpPr>
          <p:nvPr/>
        </p:nvSpPr>
        <p:spPr>
          <a:xfrm>
            <a:off x="35560" y="762000"/>
            <a:ext cx="8786046" cy="4616648"/>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000" kern="0" spc="-80" dirty="0">
                <a:solidFill>
                  <a:schemeClr val="accent2"/>
                </a:solidFill>
              </a:rPr>
              <a:t>For Further Exploration</a:t>
            </a:r>
          </a:p>
          <a:p>
            <a:pPr marL="12700" marR="5080"/>
            <a:r>
              <a:rPr lang="en-US" sz="1500" dirty="0">
                <a:hlinkClick r:id="rId2">
                  <a:extLst>
                    <a:ext uri="{A12FA001-AC4F-418D-AE19-62706E023703}">
                      <ahyp:hlinkClr xmlns:ahyp="http://schemas.microsoft.com/office/drawing/2018/hyperlinkcolor" val="tx"/>
                    </a:ext>
                  </a:extLst>
                </a:hlinkClick>
              </a:rPr>
              <a:t>What is a Service Mesh? | Definition from TechTarget</a:t>
            </a:r>
            <a:endParaRPr lang="en-US" sz="1500" dirty="0"/>
          </a:p>
          <a:p>
            <a:pPr marL="12700" marR="5080"/>
            <a:r>
              <a:rPr lang="en-US" sz="1500" dirty="0">
                <a:hlinkClick r:id="rId3">
                  <a:extLst>
                    <a:ext uri="{A12FA001-AC4F-418D-AE19-62706E023703}">
                      <ahyp:hlinkClr xmlns:ahyp="http://schemas.microsoft.com/office/drawing/2018/hyperlinkcolor" val="tx"/>
                    </a:ext>
                  </a:extLst>
                </a:hlinkClick>
              </a:rPr>
              <a:t>Microservice Service Discovery: Service Mesh vs API Gateway Explained</a:t>
            </a:r>
            <a:r>
              <a:rPr lang="en-US" sz="1500" dirty="0"/>
              <a:t> </a:t>
            </a:r>
          </a:p>
          <a:p>
            <a:pPr marL="12700" marR="5080"/>
            <a:r>
              <a:rPr lang="en-US" sz="1500" dirty="0">
                <a:hlinkClick r:id="rId4"/>
              </a:rPr>
              <a:t>How to implement security for microservices</a:t>
            </a:r>
            <a:endParaRPr lang="en-US" sz="1500" dirty="0"/>
          </a:p>
          <a:p>
            <a:pPr marL="12700" marR="5080"/>
            <a:r>
              <a:rPr lang="en-IN" sz="1500" dirty="0">
                <a:hlinkClick r:id="rId5"/>
              </a:rPr>
              <a:t>Kubernetes-Service-Mesh-with-Istio</a:t>
            </a:r>
            <a:endParaRPr lang="en-IN" sz="1500" dirty="0"/>
          </a:p>
          <a:p>
            <a:pPr marL="12700" marR="5080"/>
            <a:r>
              <a:rPr lang="en-US" sz="1500" dirty="0">
                <a:hlinkClick r:id="rId6"/>
              </a:rPr>
              <a:t>What Is Istio? | Google Cloud</a:t>
            </a:r>
            <a:endParaRPr lang="en-US" sz="1500" dirty="0"/>
          </a:p>
          <a:p>
            <a:pPr marL="12700" marR="5080"/>
            <a:r>
              <a:rPr lang="en-IN" sz="1500" dirty="0">
                <a:hlinkClick r:id="rId7"/>
              </a:rPr>
              <a:t>Istio Succinctly</a:t>
            </a:r>
            <a:endParaRPr lang="en-IN" sz="1500" dirty="0"/>
          </a:p>
          <a:p>
            <a:pPr marL="12700" marR="5080"/>
            <a:r>
              <a:rPr lang="en-US" sz="1500" dirty="0">
                <a:hlinkClick r:id="rId8"/>
              </a:rPr>
              <a:t>Mastering-Service-Mesh: Mastering Service Mesh, published by </a:t>
            </a:r>
            <a:r>
              <a:rPr lang="en-US" sz="1500" dirty="0" err="1">
                <a:hlinkClick r:id="rId8"/>
              </a:rPr>
              <a:t>Packt</a:t>
            </a:r>
            <a:r>
              <a:rPr lang="en-US" sz="1500" dirty="0">
                <a:hlinkClick r:id="rId8"/>
              </a:rPr>
              <a:t> </a:t>
            </a:r>
            <a:endParaRPr lang="en-US" sz="1500" dirty="0"/>
          </a:p>
          <a:p>
            <a:pPr marL="12700" marR="5080"/>
            <a:r>
              <a:rPr lang="en-IN" sz="1500" dirty="0">
                <a:hlinkClick r:id="rId9"/>
              </a:rPr>
              <a:t>Mastering-Service-Mesh-Architecture</a:t>
            </a:r>
            <a:endParaRPr lang="en-IN" sz="1500" dirty="0"/>
          </a:p>
          <a:p>
            <a:pPr marL="12700" marR="5080"/>
            <a:r>
              <a:rPr lang="en-US" sz="1500" dirty="0">
                <a:hlinkClick r:id="rId10"/>
              </a:rPr>
              <a:t>Bootstrap-Service-Mesh-Implementations-with-Istio</a:t>
            </a:r>
            <a:endParaRPr lang="en-US" sz="1500" kern="0" spc="-80" dirty="0">
              <a:solidFill>
                <a:schemeClr val="accent2"/>
              </a:solidFill>
            </a:endParaRPr>
          </a:p>
          <a:p>
            <a:pPr marL="12700" marR="5080"/>
            <a:r>
              <a:rPr lang="en-US" sz="1500" dirty="0">
                <a:hlinkClick r:id="rId11"/>
              </a:rPr>
              <a:t>Service Mesh Interface Conformance with </a:t>
            </a:r>
            <a:r>
              <a:rPr lang="en-US" sz="1500" dirty="0" err="1">
                <a:hlinkClick r:id="rId11"/>
              </a:rPr>
              <a:t>Meshery</a:t>
            </a:r>
            <a:endParaRPr lang="en-US" sz="1500" dirty="0"/>
          </a:p>
          <a:p>
            <a:pPr marL="12700" marR="5080"/>
            <a:r>
              <a:rPr lang="en-US" sz="1500" dirty="0">
                <a:hlinkClick r:id="rId12"/>
              </a:rPr>
              <a:t>The Enterprise Path to Service Mesh Architectures (2nd Edition)</a:t>
            </a:r>
            <a:endParaRPr lang="en-US" sz="1500" dirty="0"/>
          </a:p>
          <a:p>
            <a:pPr marL="12700" marR="5080"/>
            <a:r>
              <a:rPr lang="en-IN" sz="1500" dirty="0">
                <a:hlinkClick r:id="rId13"/>
              </a:rPr>
              <a:t>Service Mesh Patterns | Service Mesh Patterns</a:t>
            </a:r>
            <a:endParaRPr lang="en-IN" sz="1500" dirty="0"/>
          </a:p>
          <a:p>
            <a:pPr marL="12700" marR="5080"/>
            <a:r>
              <a:rPr lang="en-IN" sz="1500" dirty="0">
                <a:hlinkClick r:id="rId14"/>
              </a:rPr>
              <a:t>Service Mesh in Microservices | Feed | LinkedIn</a:t>
            </a:r>
            <a:endParaRPr lang="en-IN" sz="1500" dirty="0"/>
          </a:p>
          <a:p>
            <a:pPr marL="12700" marR="5080"/>
            <a:r>
              <a:rPr lang="en-IN" sz="1500" dirty="0">
                <a:hlinkClick r:id="rId15"/>
              </a:rPr>
              <a:t>Istio Docs</a:t>
            </a:r>
            <a:endParaRPr lang="en-IN" sz="1500" dirty="0"/>
          </a:p>
          <a:p>
            <a:pPr marL="12700" marR="5080"/>
            <a:r>
              <a:rPr lang="en-IN" sz="1600">
                <a:hlinkClick r:id="rId16"/>
              </a:rPr>
              <a:t>Some Service Mesh Notes</a:t>
            </a:r>
            <a:endParaRPr lang="en-IN" sz="1500" dirty="0"/>
          </a:p>
          <a:p>
            <a:pPr marL="12700" marR="5080"/>
            <a:endParaRPr lang="en-IN" sz="1500" dirty="0"/>
          </a:p>
          <a:p>
            <a:pPr marL="12700" marR="5080"/>
            <a:endParaRPr lang="en-US" sz="1500" kern="0" spc="-80" dirty="0">
              <a:solidFill>
                <a:schemeClr val="accent2"/>
              </a:solidFill>
            </a:endParaRPr>
          </a:p>
          <a:p>
            <a:pPr marL="12700" marR="5080"/>
            <a:r>
              <a:rPr lang="en-US" sz="2400" kern="0" spc="-80" dirty="0">
                <a:solidFill>
                  <a:schemeClr val="accent2"/>
                </a:solidFill>
              </a:rPr>
              <a:t> </a:t>
            </a:r>
            <a:endParaRPr lang="en-US" sz="1600" kern="0" spc="-80" dirty="0">
              <a:solidFill>
                <a:schemeClr val="accent6"/>
              </a:solidFill>
            </a:endParaRPr>
          </a:p>
        </p:txBody>
      </p:sp>
      <p:grpSp>
        <p:nvGrpSpPr>
          <p:cNvPr id="7" name="Group 6">
            <a:extLst>
              <a:ext uri="{FF2B5EF4-FFF2-40B4-BE49-F238E27FC236}">
                <a16:creationId xmlns:a16="http://schemas.microsoft.com/office/drawing/2014/main" id="{F39D4B71-AAB9-499E-C4C4-54B4A6CD0E36}"/>
              </a:ext>
            </a:extLst>
          </p:cNvPr>
          <p:cNvGrpSpPr/>
          <p:nvPr/>
        </p:nvGrpSpPr>
        <p:grpSpPr>
          <a:xfrm>
            <a:off x="0" y="-21231"/>
            <a:ext cx="9144000" cy="407642"/>
            <a:chOff x="0" y="0"/>
            <a:chExt cx="9144000" cy="407642"/>
          </a:xfrm>
        </p:grpSpPr>
        <p:sp>
          <p:nvSpPr>
            <p:cNvPr id="8" name="Rectangle: Rounded Corners 7">
              <a:extLst>
                <a:ext uri="{FF2B5EF4-FFF2-40B4-BE49-F238E27FC236}">
                  <a16:creationId xmlns:a16="http://schemas.microsoft.com/office/drawing/2014/main" id="{F2B767C8-666B-B262-3C50-FBF162371A7B}"/>
                </a:ext>
              </a:extLst>
            </p:cNvPr>
            <p:cNvSpPr/>
            <p:nvPr/>
          </p:nvSpPr>
          <p:spPr>
            <a:xfrm>
              <a:off x="0" y="0"/>
              <a:ext cx="9144000" cy="407642"/>
            </a:xfrm>
            <a:prstGeom prst="roundRect">
              <a:avLst/>
            </a:prstGeom>
          </p:spPr>
          <p:style>
            <a:lnRef idx="2">
              <a:schemeClr val="lt1">
                <a:hueOff val="0"/>
                <a:satOff val="0"/>
                <a:lumOff val="0"/>
                <a:alphaOff val="0"/>
              </a:schemeClr>
            </a:lnRef>
            <a:fillRef idx="1">
              <a:schemeClr val="accent6">
                <a:hueOff val="0"/>
                <a:satOff val="0"/>
                <a:lumOff val="0"/>
                <a:alphaOff val="0"/>
              </a:schemeClr>
            </a:fillRef>
            <a:effectRef idx="0">
              <a:schemeClr val="accent6">
                <a:hueOff val="0"/>
                <a:satOff val="0"/>
                <a:lumOff val="0"/>
                <a:alphaOff val="0"/>
              </a:schemeClr>
            </a:effectRef>
            <a:fontRef idx="minor">
              <a:schemeClr val="lt1"/>
            </a:fontRef>
          </p:style>
          <p:txBody>
            <a:bodyPr/>
            <a:lstStyle/>
            <a:p>
              <a:endParaRPr lang="en-IN"/>
            </a:p>
          </p:txBody>
        </p:sp>
        <p:sp>
          <p:nvSpPr>
            <p:cNvPr id="9" name="Rectangle: Rounded Corners 4">
              <a:extLst>
                <a:ext uri="{FF2B5EF4-FFF2-40B4-BE49-F238E27FC236}">
                  <a16:creationId xmlns:a16="http://schemas.microsoft.com/office/drawing/2014/main" id="{575983B7-197B-23FB-7F38-F54AE87DFD46}"/>
                </a:ext>
              </a:extLst>
            </p:cNvPr>
            <p:cNvSpPr txBox="1"/>
            <p:nvPr/>
          </p:nvSpPr>
          <p:spPr>
            <a:xfrm>
              <a:off x="19899" y="19899"/>
              <a:ext cx="9104202" cy="367844"/>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IN" sz="2800" b="1" i="0" kern="1200" dirty="0"/>
                <a:t>Service Mesh</a:t>
              </a:r>
              <a:endParaRPr lang="en-US" sz="2800" kern="1200" dirty="0">
                <a:solidFill>
                  <a:prstClr val="white"/>
                </a:solidFill>
                <a:latin typeface="Calibri"/>
                <a:ea typeface="+mn-ea"/>
                <a:cs typeface="+mn-cs"/>
              </a:endParaRPr>
            </a:p>
          </p:txBody>
        </p:sp>
      </p:grpSp>
    </p:spTree>
    <p:extLst>
      <p:ext uri="{BB962C8B-B14F-4D97-AF65-F5344CB8AC3E}">
        <p14:creationId xmlns:p14="http://schemas.microsoft.com/office/powerpoint/2010/main" val="98367913"/>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D2950D-3BB8-CC70-387A-9598BD0954A8}"/>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F786BE8A-A27C-4CBE-B44D-460806629DB5}"/>
              </a:ext>
            </a:extLst>
          </p:cNvPr>
          <p:cNvSpPr/>
          <p:nvPr/>
        </p:nvSpPr>
        <p:spPr>
          <a:xfrm>
            <a:off x="1756803" y="648336"/>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09E751CF-2AC4-050E-1C59-A7B7954BECC4}"/>
              </a:ext>
            </a:extLst>
          </p:cNvPr>
          <p:cNvSpPr/>
          <p:nvPr/>
        </p:nvSpPr>
        <p:spPr>
          <a:xfrm>
            <a:off x="1756803" y="495936"/>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995704B8-EE33-6660-08F3-419691F4D91E}"/>
              </a:ext>
            </a:extLst>
          </p:cNvPr>
          <p:cNvGraphicFramePr/>
          <p:nvPr/>
        </p:nvGraphicFramePr>
        <p:xfrm>
          <a:off x="0" y="34425"/>
          <a:ext cx="9144000" cy="407873"/>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2" name="object 2">
            <a:extLst>
              <a:ext uri="{FF2B5EF4-FFF2-40B4-BE49-F238E27FC236}">
                <a16:creationId xmlns:a16="http://schemas.microsoft.com/office/drawing/2014/main" id="{BAF5DF9D-723B-E81A-E4A6-FDEDD8292815}"/>
              </a:ext>
            </a:extLst>
          </p:cNvPr>
          <p:cNvSpPr txBox="1">
            <a:spLocks/>
          </p:cNvSpPr>
          <p:nvPr/>
        </p:nvSpPr>
        <p:spPr>
          <a:xfrm>
            <a:off x="228600" y="762000"/>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p:txBody>
      </p:sp>
      <p:sp>
        <p:nvSpPr>
          <p:cNvPr id="11" name="object 2">
            <a:extLst>
              <a:ext uri="{FF2B5EF4-FFF2-40B4-BE49-F238E27FC236}">
                <a16:creationId xmlns:a16="http://schemas.microsoft.com/office/drawing/2014/main" id="{7A98698A-907A-A7F1-9C44-36B76B2054A5}"/>
              </a:ext>
            </a:extLst>
          </p:cNvPr>
          <p:cNvSpPr txBox="1">
            <a:spLocks/>
          </p:cNvSpPr>
          <p:nvPr/>
        </p:nvSpPr>
        <p:spPr>
          <a:xfrm>
            <a:off x="0" y="800736"/>
            <a:ext cx="8624937" cy="5001369"/>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300" kern="0" spc="-80" dirty="0">
                <a:solidFill>
                  <a:schemeClr val="accent6"/>
                </a:solidFill>
              </a:rPr>
              <a:t>Hosting Kubernetes (K8s)-based applications involves integrating Docker for containerization, </a:t>
            </a:r>
            <a:r>
              <a:rPr lang="en-US" sz="1300" kern="0" spc="-80" dirty="0" err="1">
                <a:solidFill>
                  <a:schemeClr val="accent6"/>
                </a:solidFill>
              </a:rPr>
              <a:t>DevSecOps</a:t>
            </a:r>
            <a:r>
              <a:rPr lang="en-US" sz="1300" kern="0" spc="-80" dirty="0">
                <a:solidFill>
                  <a:schemeClr val="accent6"/>
                </a:solidFill>
              </a:rPr>
              <a:t> for embedding security throughout the pipeline, Kubernetes for orchestration, and Site Reliability Engineering (SRE) principles for ensuring production reliability. This process is structured around a secure, automated CI/CD pipeline and ongoing operational excellence. </a:t>
            </a:r>
          </a:p>
          <a:p>
            <a:pPr marL="12700" marR="5080"/>
            <a:r>
              <a:rPr lang="en-US" sz="1300" kern="0" spc="-80" dirty="0">
                <a:solidFill>
                  <a:schemeClr val="accent2"/>
                </a:solidFill>
              </a:rPr>
              <a:t>I. Development Phase: Code &amp; Containerization (Docker)</a:t>
            </a:r>
          </a:p>
          <a:p>
            <a:pPr marL="12700" marR="5080"/>
            <a:r>
              <a:rPr lang="en-US" sz="1300" kern="0" spc="-80" dirty="0">
                <a:solidFill>
                  <a:schemeClr val="accent6"/>
                </a:solidFill>
              </a:rPr>
              <a:t>The process begins with the development of the application and its containerization using Docker. </a:t>
            </a:r>
          </a:p>
          <a:p>
            <a:pPr marL="12700" marR="5080"/>
            <a:r>
              <a:rPr lang="en-US" sz="1300" kern="0" spc="-80" dirty="0">
                <a:solidFill>
                  <a:schemeClr val="accent2"/>
                </a:solidFill>
              </a:rPr>
              <a:t>Secure Coding: </a:t>
            </a:r>
            <a:r>
              <a:rPr lang="en-US" sz="1300" kern="0" spc="-80" dirty="0">
                <a:solidFill>
                  <a:schemeClr val="accent6"/>
                </a:solidFill>
              </a:rPr>
              <a:t>Developers write code following secure coding best practices. Security is "shifted left," using IDE plugins to identify vulnerabilities early.</a:t>
            </a:r>
          </a:p>
          <a:p>
            <a:pPr marL="12700" marR="5080"/>
            <a:r>
              <a:rPr lang="en-US" sz="1300" kern="0" spc="-80" dirty="0">
                <a:solidFill>
                  <a:schemeClr val="accent2"/>
                </a:solidFill>
              </a:rPr>
              <a:t>Containerization: </a:t>
            </a:r>
            <a:r>
              <a:rPr lang="en-US" sz="1300" kern="0" spc="-80" dirty="0">
                <a:solidFill>
                  <a:schemeClr val="accent6"/>
                </a:solidFill>
              </a:rPr>
              <a:t>A </a:t>
            </a:r>
            <a:r>
              <a:rPr lang="en-US" sz="1300" kern="0" spc="-80" dirty="0" err="1">
                <a:solidFill>
                  <a:schemeClr val="accent6"/>
                </a:solidFill>
              </a:rPr>
              <a:t>Dockerfile</a:t>
            </a:r>
            <a:r>
              <a:rPr lang="en-US" sz="1300" kern="0" spc="-80" dirty="0">
                <a:solidFill>
                  <a:schemeClr val="accent6"/>
                </a:solidFill>
              </a:rPr>
              <a:t> is created to package the application and its dependencies into a Docker image. Best practices include using minimal, trusted base images (e.g., Alpine or </a:t>
            </a:r>
            <a:r>
              <a:rPr lang="en-US" sz="1300" kern="0" spc="-80" dirty="0" err="1">
                <a:solidFill>
                  <a:schemeClr val="accent6"/>
                </a:solidFill>
              </a:rPr>
              <a:t>Distroless</a:t>
            </a:r>
            <a:r>
              <a:rPr lang="en-US" sz="1300" kern="0" spc="-80" dirty="0">
                <a:solidFill>
                  <a:schemeClr val="accent6"/>
                </a:solidFill>
              </a:rPr>
              <a:t>), running containers as non-root users, and only exposing necessary ports to reduce the attack surface.</a:t>
            </a:r>
          </a:p>
          <a:p>
            <a:pPr marL="12700" marR="5080"/>
            <a:r>
              <a:rPr lang="en-US" sz="1300" kern="0" spc="-80" dirty="0">
                <a:solidFill>
                  <a:schemeClr val="accent2"/>
                </a:solidFill>
              </a:rPr>
              <a:t>Version Control:</a:t>
            </a:r>
            <a:r>
              <a:rPr lang="en-US" sz="1300" kern="0" spc="-80" dirty="0">
                <a:solidFill>
                  <a:schemeClr val="accent6"/>
                </a:solidFill>
              </a:rPr>
              <a:t> The source code and </a:t>
            </a:r>
            <a:r>
              <a:rPr lang="en-US" sz="1300" kern="0" spc="-80" dirty="0" err="1">
                <a:solidFill>
                  <a:schemeClr val="accent6"/>
                </a:solidFill>
              </a:rPr>
              <a:t>Dockerfile</a:t>
            </a:r>
            <a:r>
              <a:rPr lang="en-US" sz="1300" kern="0" spc="-80" dirty="0">
                <a:solidFill>
                  <a:schemeClr val="accent6"/>
                </a:solidFill>
              </a:rPr>
              <a:t> are stored in a version control system (e.g., Git), which triggers the CI/CD pipeline upon changes. </a:t>
            </a:r>
          </a:p>
          <a:p>
            <a:pPr marL="12700" marR="5080"/>
            <a:r>
              <a:rPr lang="en-US" sz="1300" kern="0" spc="-80" dirty="0">
                <a:solidFill>
                  <a:schemeClr val="accent2"/>
                </a:solidFill>
              </a:rPr>
              <a:t>II. CI/CD Pipeline Phase: Build, Test, &amp; Secure (</a:t>
            </a:r>
            <a:r>
              <a:rPr lang="en-US" sz="1300" kern="0" spc="-80" dirty="0" err="1">
                <a:solidFill>
                  <a:schemeClr val="accent2"/>
                </a:solidFill>
              </a:rPr>
              <a:t>DevSecOps</a:t>
            </a:r>
            <a:r>
              <a:rPr lang="en-US" sz="1300" kern="0" spc="-80" dirty="0">
                <a:solidFill>
                  <a:schemeClr val="accent2"/>
                </a:solidFill>
              </a:rPr>
              <a:t>) </a:t>
            </a:r>
          </a:p>
          <a:p>
            <a:pPr marL="12700" marR="5080"/>
            <a:r>
              <a:rPr lang="en-US" sz="1300" kern="0" spc="-80" dirty="0">
                <a:solidFill>
                  <a:schemeClr val="accent6"/>
                </a:solidFill>
              </a:rPr>
              <a:t>The CI/CD pipeline automates the build process while integrating security checks at every stage. </a:t>
            </a:r>
          </a:p>
          <a:p>
            <a:pPr marL="12700" marR="5080"/>
            <a:r>
              <a:rPr lang="en-US" sz="1300" kern="0" spc="-80" dirty="0">
                <a:solidFill>
                  <a:schemeClr val="accent2"/>
                </a:solidFill>
              </a:rPr>
              <a:t>Build &amp; Static Analysis (CI):</a:t>
            </a:r>
          </a:p>
          <a:p>
            <a:pPr marL="12700" marR="5080"/>
            <a:r>
              <a:rPr lang="en-US" sz="1300" kern="0" spc="-80" dirty="0">
                <a:solidFill>
                  <a:schemeClr val="accent2"/>
                </a:solidFill>
              </a:rPr>
              <a:t>Image Building: </a:t>
            </a:r>
            <a:r>
              <a:rPr lang="en-US" sz="1300" kern="0" spc="-80" dirty="0">
                <a:solidFill>
                  <a:schemeClr val="accent6"/>
                </a:solidFill>
              </a:rPr>
              <a:t>The CI server (e.g., Jenkins, GitLab CI) builds the Docker image from the </a:t>
            </a:r>
            <a:r>
              <a:rPr lang="en-US" sz="1300" kern="0" spc="-80" dirty="0" err="1">
                <a:solidFill>
                  <a:schemeClr val="accent6"/>
                </a:solidFill>
              </a:rPr>
              <a:t>Dockerfile</a:t>
            </a:r>
            <a:r>
              <a:rPr lang="en-US" sz="1300" kern="0" spc="-80" dirty="0">
                <a:solidFill>
                  <a:schemeClr val="accent6"/>
                </a:solidFill>
              </a:rPr>
              <a:t>.</a:t>
            </a:r>
          </a:p>
          <a:p>
            <a:pPr marL="12700" marR="5080"/>
            <a:r>
              <a:rPr lang="en-US" sz="1300" kern="0" spc="-80" dirty="0">
                <a:solidFill>
                  <a:schemeClr val="accent2"/>
                </a:solidFill>
              </a:rPr>
              <a:t>SAST &amp; SCA: </a:t>
            </a:r>
            <a:r>
              <a:rPr lang="en-US" sz="1300" kern="0" spc="-80" dirty="0">
                <a:solidFill>
                  <a:schemeClr val="accent6"/>
                </a:solidFill>
              </a:rPr>
              <a:t>Static Application Security Testing (SAST) is performed on the source code, and Software Composition Analysis (SCA) scans dependencies for known vulnerabilities using tools like SonarQube or </a:t>
            </a:r>
            <a:r>
              <a:rPr lang="en-US" sz="1300" kern="0" spc="-80" dirty="0" err="1">
                <a:solidFill>
                  <a:schemeClr val="accent6"/>
                </a:solidFill>
              </a:rPr>
              <a:t>Snyk</a:t>
            </a:r>
            <a:r>
              <a:rPr lang="en-US" sz="1300" kern="0" spc="-80" dirty="0">
                <a:solidFill>
                  <a:schemeClr val="accent6"/>
                </a:solidFill>
              </a:rPr>
              <a:t>.</a:t>
            </a:r>
          </a:p>
          <a:p>
            <a:pPr marL="12700" marR="5080"/>
            <a:r>
              <a:rPr lang="en-US" sz="1300" kern="0" spc="-80" dirty="0">
                <a:solidFill>
                  <a:schemeClr val="accent2"/>
                </a:solidFill>
              </a:rPr>
              <a:t>Container Image Scanning: </a:t>
            </a:r>
            <a:r>
              <a:rPr lang="en-US" sz="1300" kern="0" spc="-80" dirty="0">
                <a:solidFill>
                  <a:schemeClr val="accent6"/>
                </a:solidFill>
              </a:rPr>
              <a:t>The newly built Docker image is scanned for vulnerabilities (CVEs) using tools like </a:t>
            </a:r>
            <a:r>
              <a:rPr lang="en-US" sz="1300" kern="0" spc="-80" dirty="0" err="1">
                <a:solidFill>
                  <a:schemeClr val="accent6"/>
                </a:solidFill>
              </a:rPr>
              <a:t>Trivy</a:t>
            </a:r>
            <a:r>
              <a:rPr lang="en-US" sz="1300" kern="0" spc="-80" dirty="0">
                <a:solidFill>
                  <a:schemeClr val="accent6"/>
                </a:solidFill>
              </a:rPr>
              <a:t> or Clair. Builds fail automatically if critical vulnerabilities are detected.</a:t>
            </a:r>
          </a:p>
          <a:p>
            <a:pPr marL="12700" marR="5080"/>
            <a:r>
              <a:rPr lang="en-US" sz="1300" kern="0" spc="-80" dirty="0">
                <a:solidFill>
                  <a:schemeClr val="accent2"/>
                </a:solidFill>
              </a:rPr>
              <a:t>Registry &amp; Signing:</a:t>
            </a:r>
          </a:p>
          <a:p>
            <a:pPr marL="12700" marR="5080"/>
            <a:r>
              <a:rPr lang="en-US" sz="1300" kern="0" spc="-80" dirty="0">
                <a:solidFill>
                  <a:schemeClr val="accent6"/>
                </a:solidFill>
              </a:rPr>
              <a:t>The secure, scanned image is pushed to a trusted container registry (e.g., GitHub Container Registry, Azure Container Registry).</a:t>
            </a:r>
          </a:p>
          <a:p>
            <a:pPr marL="12700" marR="5080"/>
            <a:r>
              <a:rPr lang="en-US" sz="1300" kern="0" spc="-80" dirty="0">
                <a:solidFill>
                  <a:schemeClr val="accent6"/>
                </a:solidFill>
              </a:rPr>
              <a:t>Image signing (e.g., using Docker Content Trust or Notation) ensures image integrity and authenticity.</a:t>
            </a:r>
          </a:p>
        </p:txBody>
      </p:sp>
    </p:spTree>
    <p:extLst>
      <p:ext uri="{BB962C8B-B14F-4D97-AF65-F5344CB8AC3E}">
        <p14:creationId xmlns:p14="http://schemas.microsoft.com/office/powerpoint/2010/main" val="2992413505"/>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A9065C-A5B5-5D08-5C18-C92A8882506F}"/>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16711944-9254-2E2F-6B8C-EEBD73808E49}"/>
              </a:ext>
            </a:extLst>
          </p:cNvPr>
          <p:cNvSpPr/>
          <p:nvPr/>
        </p:nvSpPr>
        <p:spPr>
          <a:xfrm>
            <a:off x="1756803" y="648336"/>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0051E08C-2878-0244-55A2-9D06D7144B00}"/>
              </a:ext>
            </a:extLst>
          </p:cNvPr>
          <p:cNvSpPr/>
          <p:nvPr/>
        </p:nvSpPr>
        <p:spPr>
          <a:xfrm>
            <a:off x="1756803" y="495936"/>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6EF886C2-BD47-4910-ECFE-A25E47349B24}"/>
              </a:ext>
            </a:extLst>
          </p:cNvPr>
          <p:cNvGraphicFramePr/>
          <p:nvPr/>
        </p:nvGraphicFramePr>
        <p:xfrm>
          <a:off x="0" y="34425"/>
          <a:ext cx="9144000" cy="407873"/>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2" name="object 2">
            <a:extLst>
              <a:ext uri="{FF2B5EF4-FFF2-40B4-BE49-F238E27FC236}">
                <a16:creationId xmlns:a16="http://schemas.microsoft.com/office/drawing/2014/main" id="{E3A2937C-C291-784D-BC03-6E6184D0FBDA}"/>
              </a:ext>
            </a:extLst>
          </p:cNvPr>
          <p:cNvSpPr txBox="1">
            <a:spLocks/>
          </p:cNvSpPr>
          <p:nvPr/>
        </p:nvSpPr>
        <p:spPr>
          <a:xfrm>
            <a:off x="228600" y="762000"/>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p:txBody>
      </p:sp>
      <p:sp>
        <p:nvSpPr>
          <p:cNvPr id="11" name="object 2">
            <a:extLst>
              <a:ext uri="{FF2B5EF4-FFF2-40B4-BE49-F238E27FC236}">
                <a16:creationId xmlns:a16="http://schemas.microsoft.com/office/drawing/2014/main" id="{FE48CA67-6404-1184-4FC1-7FBE0F70E9AC}"/>
              </a:ext>
            </a:extLst>
          </p:cNvPr>
          <p:cNvSpPr txBox="1">
            <a:spLocks/>
          </p:cNvSpPr>
          <p:nvPr/>
        </p:nvSpPr>
        <p:spPr>
          <a:xfrm>
            <a:off x="0" y="800736"/>
            <a:ext cx="8624937" cy="5001369"/>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300" kern="0" spc="-80" dirty="0">
                <a:solidFill>
                  <a:schemeClr val="accent2"/>
                </a:solidFill>
              </a:rPr>
              <a:t>II. CI/CD Pipeline Phase: Build, Test, &amp; Secure (</a:t>
            </a:r>
            <a:r>
              <a:rPr lang="en-US" sz="1300" kern="0" spc="-80" dirty="0" err="1">
                <a:solidFill>
                  <a:schemeClr val="accent2"/>
                </a:solidFill>
              </a:rPr>
              <a:t>DevSecOps</a:t>
            </a:r>
            <a:r>
              <a:rPr lang="en-US" sz="1300" kern="0" spc="-80" dirty="0">
                <a:solidFill>
                  <a:schemeClr val="accent2"/>
                </a:solidFill>
              </a:rPr>
              <a:t>) </a:t>
            </a:r>
          </a:p>
          <a:p>
            <a:pPr marL="12700" marR="5080"/>
            <a:r>
              <a:rPr lang="en-US" sz="1300" kern="0" spc="-80" dirty="0">
                <a:solidFill>
                  <a:schemeClr val="accent2"/>
                </a:solidFill>
              </a:rPr>
              <a:t>Deployment Configuration (</a:t>
            </a:r>
            <a:r>
              <a:rPr lang="en-US" sz="1300" kern="0" spc="-80" dirty="0" err="1">
                <a:solidFill>
                  <a:schemeClr val="accent2"/>
                </a:solidFill>
              </a:rPr>
              <a:t>IaC</a:t>
            </a:r>
            <a:r>
              <a:rPr lang="en-US" sz="1300" kern="0" spc="-80" dirty="0">
                <a:solidFill>
                  <a:schemeClr val="accent2"/>
                </a:solidFill>
              </a:rPr>
              <a:t>):</a:t>
            </a:r>
            <a:r>
              <a:rPr lang="en-US" sz="1300" kern="0" spc="-80" dirty="0">
                <a:solidFill>
                  <a:schemeClr val="accent6"/>
                </a:solidFill>
              </a:rPr>
              <a:t> Kubernetes manifests (YAML files, Helm charts, or </a:t>
            </a:r>
            <a:r>
              <a:rPr lang="en-US" sz="1300" kern="0" spc="-80" dirty="0" err="1">
                <a:solidFill>
                  <a:schemeClr val="accent6"/>
                </a:solidFill>
              </a:rPr>
              <a:t>Kustomize</a:t>
            </a:r>
            <a:r>
              <a:rPr lang="en-US" sz="1300" kern="0" spc="-80" dirty="0">
                <a:solidFill>
                  <a:schemeClr val="accent6"/>
                </a:solidFill>
              </a:rPr>
              <a:t> files) defining the deployment are created and stored as Infrastructure as Code (</a:t>
            </a:r>
            <a:r>
              <a:rPr lang="en-US" sz="1300" kern="0" spc="-80" dirty="0" err="1">
                <a:solidFill>
                  <a:schemeClr val="accent6"/>
                </a:solidFill>
              </a:rPr>
              <a:t>IaC</a:t>
            </a:r>
            <a:r>
              <a:rPr lang="en-US" sz="1300" kern="0" spc="-80" dirty="0">
                <a:solidFill>
                  <a:schemeClr val="accent6"/>
                </a:solidFill>
              </a:rPr>
              <a:t>) in a Git repository. </a:t>
            </a:r>
            <a:r>
              <a:rPr lang="en-US" sz="1300" kern="0" spc="-80" dirty="0" err="1">
                <a:solidFill>
                  <a:schemeClr val="accent6"/>
                </a:solidFill>
              </a:rPr>
              <a:t>IaC</a:t>
            </a:r>
            <a:r>
              <a:rPr lang="en-US" sz="1300" kern="0" spc="-80" dirty="0">
                <a:solidFill>
                  <a:schemeClr val="accent6"/>
                </a:solidFill>
              </a:rPr>
              <a:t> scanning tools (e.g., </a:t>
            </a:r>
            <a:r>
              <a:rPr lang="en-US" sz="1300" kern="0" spc="-80" dirty="0" err="1">
                <a:solidFill>
                  <a:schemeClr val="accent6"/>
                </a:solidFill>
              </a:rPr>
              <a:t>kube</a:t>
            </a:r>
            <a:r>
              <a:rPr lang="en-US" sz="1300" kern="0" spc="-80" dirty="0">
                <a:solidFill>
                  <a:schemeClr val="accent6"/>
                </a:solidFill>
              </a:rPr>
              <a:t>-score) check for Kubernetes misconfigurations and security best practices violations. </a:t>
            </a:r>
          </a:p>
          <a:p>
            <a:pPr marL="12700" marR="5080"/>
            <a:r>
              <a:rPr lang="en-US" sz="1300" kern="0" spc="-80" dirty="0">
                <a:solidFill>
                  <a:schemeClr val="accent2"/>
                </a:solidFill>
              </a:rPr>
              <a:t>III. Deployment Phase: Orchestration (Kubernetes)</a:t>
            </a:r>
          </a:p>
          <a:p>
            <a:pPr marL="12700" marR="5080"/>
            <a:r>
              <a:rPr lang="en-US" sz="1300" kern="0" spc="-80" dirty="0">
                <a:solidFill>
                  <a:schemeClr val="accent6"/>
                </a:solidFill>
              </a:rPr>
              <a:t>Kubernetes orchestrates the deployment and management of the containerized application in the target environment (staging, production). </a:t>
            </a:r>
          </a:p>
          <a:p>
            <a:pPr marL="12700" marR="5080"/>
            <a:r>
              <a:rPr lang="en-US" sz="1300" kern="0" spc="-80" dirty="0">
                <a:solidFill>
                  <a:schemeClr val="accent2"/>
                </a:solidFill>
              </a:rPr>
              <a:t>Pull &amp; Verify: </a:t>
            </a:r>
            <a:r>
              <a:rPr lang="en-US" sz="1300" kern="0" spc="-80" dirty="0">
                <a:solidFill>
                  <a:schemeClr val="accent6"/>
                </a:solidFill>
              </a:rPr>
              <a:t>The K8s cluster pulls the signed image from the trusted registry. Admission controllers verify the image signature and enforce security policies (e.g., preventing privileged containers) before deployment.</a:t>
            </a:r>
          </a:p>
          <a:p>
            <a:pPr marL="12700" marR="5080"/>
            <a:r>
              <a:rPr lang="en-US" sz="1300" kern="0" spc="-80" dirty="0">
                <a:solidFill>
                  <a:schemeClr val="accent2"/>
                </a:solidFill>
              </a:rPr>
              <a:t>Secure Deployment: </a:t>
            </a:r>
            <a:r>
              <a:rPr lang="en-US" sz="1300" kern="0" spc="-80" dirty="0">
                <a:solidFill>
                  <a:schemeClr val="accent6"/>
                </a:solidFill>
              </a:rPr>
              <a:t>The K8s manifest is applied to the cluster, creating pods, services, and other resources.</a:t>
            </a:r>
          </a:p>
          <a:p>
            <a:pPr marL="12700" marR="5080"/>
            <a:r>
              <a:rPr lang="en-US" sz="1300" kern="0" spc="-80" dirty="0">
                <a:solidFill>
                  <a:schemeClr val="accent2"/>
                </a:solidFill>
              </a:rPr>
              <a:t>Secrets Management:</a:t>
            </a:r>
            <a:r>
              <a:rPr lang="en-US" sz="1300" kern="0" spc="-80" dirty="0">
                <a:solidFill>
                  <a:schemeClr val="accent6"/>
                </a:solidFill>
              </a:rPr>
              <a:t> Sensitive information (credentials, API keys) is stored in a secure external vault (e.g., </a:t>
            </a:r>
            <a:r>
              <a:rPr lang="en-US" sz="1300" kern="0" spc="-80" dirty="0" err="1">
                <a:solidFill>
                  <a:schemeClr val="accent6"/>
                </a:solidFill>
              </a:rPr>
              <a:t>HashiCorp</a:t>
            </a:r>
            <a:r>
              <a:rPr lang="en-US" sz="1300" kern="0" spc="-80" dirty="0">
                <a:solidFill>
                  <a:schemeClr val="accent6"/>
                </a:solidFill>
              </a:rPr>
              <a:t> Vault, Azure Key Vault) or Kubernetes Secrets (encrypted at rest), not hardcoded in the image or manifests.</a:t>
            </a:r>
          </a:p>
          <a:p>
            <a:pPr marL="12700" marR="5080"/>
            <a:r>
              <a:rPr lang="en-US" sz="1300" kern="0" spc="-80" dirty="0">
                <a:solidFill>
                  <a:schemeClr val="accent2"/>
                </a:solidFill>
              </a:rPr>
              <a:t>Network Policies: </a:t>
            </a:r>
            <a:r>
              <a:rPr lang="en-US" sz="1300" kern="0" spc="-80" dirty="0">
                <a:solidFill>
                  <a:schemeClr val="accent6"/>
                </a:solidFill>
              </a:rPr>
              <a:t>Kubernetes network policies are applied to restrict traffic flow between application pods and other services, implementing the principle of least privilege.</a:t>
            </a:r>
          </a:p>
          <a:p>
            <a:pPr marL="12700" marR="5080"/>
            <a:r>
              <a:rPr lang="en-US" sz="1300" kern="0" spc="-80" dirty="0">
                <a:solidFill>
                  <a:schemeClr val="accent2"/>
                </a:solidFill>
              </a:rPr>
              <a:t>Runtime Security:</a:t>
            </a:r>
            <a:r>
              <a:rPr lang="en-US" sz="1300" kern="0" spc="-80" dirty="0">
                <a:solidFill>
                  <a:schemeClr val="accent6"/>
                </a:solidFill>
              </a:rPr>
              <a:t> Runtime monitoring tools (e.g., Falco) are used to detect anomalous activities, such as unusual process execution or network calls, in running containers. </a:t>
            </a:r>
          </a:p>
          <a:p>
            <a:pPr marL="12700" marR="5080"/>
            <a:r>
              <a:rPr lang="en-US" sz="1300" kern="0" spc="-80" dirty="0">
                <a:solidFill>
                  <a:schemeClr val="accent2"/>
                </a:solidFill>
              </a:rPr>
              <a:t>IV. Operations Phase: Reliability &amp; Monitoring (SRE) </a:t>
            </a:r>
          </a:p>
          <a:p>
            <a:pPr marL="12700" marR="5080"/>
            <a:r>
              <a:rPr lang="en-US" sz="1300" kern="0" spc="-80" dirty="0">
                <a:solidFill>
                  <a:schemeClr val="accent6"/>
                </a:solidFill>
              </a:rPr>
              <a:t>SRE principles and practices ensure the deployed application is reliable, scalable, and highly available in production. </a:t>
            </a:r>
          </a:p>
          <a:p>
            <a:pPr marL="12700" marR="5080"/>
            <a:r>
              <a:rPr lang="en-US" sz="1300" kern="0" spc="-80" dirty="0">
                <a:solidFill>
                  <a:schemeClr val="accent2"/>
                </a:solidFill>
              </a:rPr>
              <a:t>Defining SLOs/SLIs: </a:t>
            </a:r>
            <a:r>
              <a:rPr lang="en-US" sz="1300" kern="0" spc="-80" dirty="0">
                <a:solidFill>
                  <a:schemeClr val="accent6"/>
                </a:solidFill>
              </a:rPr>
              <a:t>The SRE team defines Service Level Objectives (SLOs) and Service Level Indicators (SLIs) based on user experience (e.g., latency, availability, error rates for the UI). These metrics guide operational priorities.</a:t>
            </a:r>
          </a:p>
          <a:p>
            <a:pPr marL="12700" marR="5080"/>
            <a:r>
              <a:rPr lang="en-US" sz="1300" kern="0" spc="-80" dirty="0">
                <a:solidFill>
                  <a:schemeClr val="accent2"/>
                </a:solidFill>
              </a:rPr>
              <a:t>Monitoring &amp; Observability:</a:t>
            </a:r>
          </a:p>
          <a:p>
            <a:pPr marL="12700" marR="5080"/>
            <a:r>
              <a:rPr lang="en-US" sz="1300" kern="0" spc="-80" dirty="0">
                <a:solidFill>
                  <a:schemeClr val="accent2"/>
                </a:solidFill>
              </a:rPr>
              <a:t>Metrics &amp; Logging:</a:t>
            </a:r>
            <a:r>
              <a:rPr lang="en-US" sz="1300" kern="0" spc="-80" dirty="0">
                <a:solidFill>
                  <a:schemeClr val="accent6"/>
                </a:solidFill>
              </a:rPr>
              <a:t> Tools like Prometheus (for metrics) and Grafana (for visualization), along with centralized logging systems (e.g., EFK stack), provide comprehensive visibility into the application and cluster health.</a:t>
            </a:r>
          </a:p>
        </p:txBody>
      </p:sp>
    </p:spTree>
    <p:extLst>
      <p:ext uri="{BB962C8B-B14F-4D97-AF65-F5344CB8AC3E}">
        <p14:creationId xmlns:p14="http://schemas.microsoft.com/office/powerpoint/2010/main" val="3673404707"/>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823A8A-4618-10D3-81A0-9038C0C98792}"/>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6503C95B-B568-7629-50A4-B531C7D055CD}"/>
              </a:ext>
            </a:extLst>
          </p:cNvPr>
          <p:cNvSpPr/>
          <p:nvPr/>
        </p:nvSpPr>
        <p:spPr>
          <a:xfrm>
            <a:off x="1756803" y="648336"/>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04B46BBB-C9B9-D1D5-2A4A-E1DE10B19BD6}"/>
              </a:ext>
            </a:extLst>
          </p:cNvPr>
          <p:cNvSpPr/>
          <p:nvPr/>
        </p:nvSpPr>
        <p:spPr>
          <a:xfrm>
            <a:off x="1756803" y="495936"/>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1DD1EA8B-0932-BAB9-29DE-AC56FE9B733B}"/>
              </a:ext>
            </a:extLst>
          </p:cNvPr>
          <p:cNvGraphicFramePr/>
          <p:nvPr/>
        </p:nvGraphicFramePr>
        <p:xfrm>
          <a:off x="0" y="34425"/>
          <a:ext cx="9144000" cy="407873"/>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2" name="object 2">
            <a:extLst>
              <a:ext uri="{FF2B5EF4-FFF2-40B4-BE49-F238E27FC236}">
                <a16:creationId xmlns:a16="http://schemas.microsoft.com/office/drawing/2014/main" id="{E2863CC4-CFBC-A910-9908-B3874268B296}"/>
              </a:ext>
            </a:extLst>
          </p:cNvPr>
          <p:cNvSpPr txBox="1">
            <a:spLocks/>
          </p:cNvSpPr>
          <p:nvPr/>
        </p:nvSpPr>
        <p:spPr>
          <a:xfrm>
            <a:off x="228600" y="762000"/>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p:txBody>
      </p:sp>
      <p:sp>
        <p:nvSpPr>
          <p:cNvPr id="11" name="object 2">
            <a:extLst>
              <a:ext uri="{FF2B5EF4-FFF2-40B4-BE49-F238E27FC236}">
                <a16:creationId xmlns:a16="http://schemas.microsoft.com/office/drawing/2014/main" id="{0D22955F-383A-390F-445A-DFC60BE94C06}"/>
              </a:ext>
            </a:extLst>
          </p:cNvPr>
          <p:cNvSpPr txBox="1">
            <a:spLocks/>
          </p:cNvSpPr>
          <p:nvPr/>
        </p:nvSpPr>
        <p:spPr>
          <a:xfrm>
            <a:off x="0" y="800736"/>
            <a:ext cx="8624937" cy="3000821"/>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300" kern="0" spc="-80" dirty="0">
                <a:solidFill>
                  <a:schemeClr val="accent2"/>
                </a:solidFill>
              </a:rPr>
              <a:t>IV. Operations Phase: Reliability &amp; Monitoring (SRE) </a:t>
            </a:r>
          </a:p>
          <a:p>
            <a:pPr marL="12700" marR="5080"/>
            <a:r>
              <a:rPr lang="en-US" sz="1300" kern="0" spc="-80" dirty="0">
                <a:solidFill>
                  <a:schemeClr val="accent2"/>
                </a:solidFill>
              </a:rPr>
              <a:t>Alerting: </a:t>
            </a:r>
            <a:r>
              <a:rPr lang="en-US" sz="1300" kern="0" spc="-80" dirty="0">
                <a:solidFill>
                  <a:schemeClr val="accent6"/>
                </a:solidFill>
              </a:rPr>
              <a:t>Automated alerts are configured based on SLO breaches or suspicious security activities, paging the SRE team only for actionable incidents to reduce alert fatigue.</a:t>
            </a:r>
          </a:p>
          <a:p>
            <a:pPr marL="12700" marR="5080"/>
            <a:r>
              <a:rPr lang="en-US" sz="1300" kern="0" spc="-80" dirty="0">
                <a:solidFill>
                  <a:schemeClr val="accent2"/>
                </a:solidFill>
              </a:rPr>
              <a:t>Automation &amp; Self-Healing:</a:t>
            </a:r>
          </a:p>
          <a:p>
            <a:pPr marL="12700" marR="5080"/>
            <a:r>
              <a:rPr lang="en-US" sz="1300" kern="0" spc="-80" dirty="0">
                <a:solidFill>
                  <a:schemeClr val="accent2"/>
                </a:solidFill>
              </a:rPr>
              <a:t>Scaling: </a:t>
            </a:r>
            <a:r>
              <a:rPr lang="en-US" sz="1300" kern="0" spc="-80" dirty="0">
                <a:solidFill>
                  <a:schemeClr val="accent6"/>
                </a:solidFill>
              </a:rPr>
              <a:t>Kubernetes' Horizontal Pod </a:t>
            </a:r>
            <a:r>
              <a:rPr lang="en-US" sz="1300" kern="0" spc="-80" dirty="0" err="1">
                <a:solidFill>
                  <a:schemeClr val="accent6"/>
                </a:solidFill>
              </a:rPr>
              <a:t>Autoscaler</a:t>
            </a:r>
            <a:r>
              <a:rPr lang="en-US" sz="1300" kern="0" spc="-80" dirty="0">
                <a:solidFill>
                  <a:schemeClr val="accent6"/>
                </a:solidFill>
              </a:rPr>
              <a:t> (HPA) automatically adjusts the number of application pods based on load or resource usage, ensuring performance under demand and optimal resource utilization.</a:t>
            </a:r>
          </a:p>
          <a:p>
            <a:pPr marL="12700" marR="5080"/>
            <a:r>
              <a:rPr lang="en-US" sz="1300" kern="0" spc="-80" dirty="0">
                <a:solidFill>
                  <a:schemeClr val="accent2"/>
                </a:solidFill>
              </a:rPr>
              <a:t>Incident Management: </a:t>
            </a:r>
            <a:r>
              <a:rPr lang="en-US" sz="1300" kern="0" spc="-80" dirty="0">
                <a:solidFill>
                  <a:schemeClr val="accent6"/>
                </a:solidFill>
              </a:rPr>
              <a:t>SREs automate incident responses where possible. Kubernetes' built-in self-healing capabilities (restarting failed pods, rescheduling on healthy nodes) minimize downtime.</a:t>
            </a:r>
          </a:p>
          <a:p>
            <a:pPr marL="12700" marR="5080"/>
            <a:r>
              <a:rPr lang="en-US" sz="1300" kern="0" spc="-80" dirty="0">
                <a:solidFill>
                  <a:schemeClr val="accent2"/>
                </a:solidFill>
              </a:rPr>
              <a:t>Automated Rollbacks:</a:t>
            </a:r>
            <a:r>
              <a:rPr lang="en-US" sz="1300" kern="0" spc="-80" dirty="0">
                <a:solidFill>
                  <a:schemeClr val="accent6"/>
                </a:solidFill>
              </a:rPr>
              <a:t> The CI/CD pipeline includes automated rollback procedures to revert to a previous stable state if a new deployment causes issues or breaches SLOs.</a:t>
            </a:r>
          </a:p>
          <a:p>
            <a:pPr marL="12700" marR="5080"/>
            <a:r>
              <a:rPr lang="en-US" sz="1300" kern="0" spc="-80" dirty="0">
                <a:solidFill>
                  <a:schemeClr val="accent2"/>
                </a:solidFill>
              </a:rPr>
              <a:t>Chaos Engineering: </a:t>
            </a:r>
            <a:r>
              <a:rPr lang="en-US" sz="1300" kern="0" spc="-80" dirty="0">
                <a:solidFill>
                  <a:schemeClr val="accent6"/>
                </a:solidFill>
              </a:rPr>
              <a:t>The SRE team might inject failures intentionally (e.g., using </a:t>
            </a:r>
            <a:r>
              <a:rPr lang="en-US" sz="1300" kern="0" spc="-80" dirty="0" err="1">
                <a:solidFill>
                  <a:schemeClr val="accent6"/>
                </a:solidFill>
              </a:rPr>
              <a:t>LitmusChaos</a:t>
            </a:r>
            <a:r>
              <a:rPr lang="en-US" sz="1300" kern="0" spc="-80" dirty="0">
                <a:solidFill>
                  <a:schemeClr val="accent6"/>
                </a:solidFill>
              </a:rPr>
              <a:t> to kill a pod) in testing environments to verify the system's resilience and refine disaster recovery plans. </a:t>
            </a:r>
          </a:p>
          <a:p>
            <a:pPr marL="12700" marR="5080"/>
            <a:endParaRPr lang="en-US" sz="1300" kern="0" spc="-80" dirty="0">
              <a:solidFill>
                <a:schemeClr val="accent6"/>
              </a:solidFill>
            </a:endParaRPr>
          </a:p>
          <a:p>
            <a:pPr marL="12700" marR="5080"/>
            <a:r>
              <a:rPr lang="en-US" sz="1300" kern="0" spc="-80" dirty="0">
                <a:solidFill>
                  <a:schemeClr val="accent6"/>
                </a:solidFill>
              </a:rPr>
              <a:t>By following these integrated steps, organizations can establish a robust, secure, and highly reliable system for hosting K8s-based applications.</a:t>
            </a:r>
          </a:p>
        </p:txBody>
      </p:sp>
    </p:spTree>
    <p:extLst>
      <p:ext uri="{BB962C8B-B14F-4D97-AF65-F5344CB8AC3E}">
        <p14:creationId xmlns:p14="http://schemas.microsoft.com/office/powerpoint/2010/main" val="3352412603"/>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A568DD-BB5C-19FD-A9B4-F3E13B29FBB6}"/>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3B85F525-5DBF-595D-2B14-FAF10F415B4D}"/>
              </a:ext>
            </a:extLst>
          </p:cNvPr>
          <p:cNvSpPr/>
          <p:nvPr/>
        </p:nvSpPr>
        <p:spPr>
          <a:xfrm>
            <a:off x="1756803" y="648336"/>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620757A8-4F78-B931-0152-61B33292179C}"/>
              </a:ext>
            </a:extLst>
          </p:cNvPr>
          <p:cNvSpPr/>
          <p:nvPr/>
        </p:nvSpPr>
        <p:spPr>
          <a:xfrm>
            <a:off x="1756803" y="495936"/>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2349FD7C-EE1A-ACD0-E00C-6A706308F58E}"/>
              </a:ext>
            </a:extLst>
          </p:cNvPr>
          <p:cNvGraphicFramePr/>
          <p:nvPr/>
        </p:nvGraphicFramePr>
        <p:xfrm>
          <a:off x="0" y="34425"/>
          <a:ext cx="9144000" cy="407873"/>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2" name="object 2">
            <a:extLst>
              <a:ext uri="{FF2B5EF4-FFF2-40B4-BE49-F238E27FC236}">
                <a16:creationId xmlns:a16="http://schemas.microsoft.com/office/drawing/2014/main" id="{96E70E91-4867-64FA-4BCE-2D6415BE2F59}"/>
              </a:ext>
            </a:extLst>
          </p:cNvPr>
          <p:cNvSpPr txBox="1">
            <a:spLocks/>
          </p:cNvSpPr>
          <p:nvPr/>
        </p:nvSpPr>
        <p:spPr>
          <a:xfrm>
            <a:off x="228600" y="762000"/>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p:txBody>
      </p:sp>
      <p:pic>
        <p:nvPicPr>
          <p:cNvPr id="7" name="Picture 6">
            <a:extLst>
              <a:ext uri="{FF2B5EF4-FFF2-40B4-BE49-F238E27FC236}">
                <a16:creationId xmlns:a16="http://schemas.microsoft.com/office/drawing/2014/main" id="{F44023E9-C4A7-D9AC-1FB6-8BB561C37253}"/>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0" y="800736"/>
            <a:ext cx="9144000" cy="2552064"/>
          </a:xfrm>
          <a:prstGeom prst="rect">
            <a:avLst/>
          </a:prstGeom>
        </p:spPr>
      </p:pic>
      <p:pic>
        <p:nvPicPr>
          <p:cNvPr id="9" name="Picture 8">
            <a:extLst>
              <a:ext uri="{FF2B5EF4-FFF2-40B4-BE49-F238E27FC236}">
                <a16:creationId xmlns:a16="http://schemas.microsoft.com/office/drawing/2014/main" id="{E38E9F73-95D1-39D1-EE74-BC2043912AE7}"/>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0" y="3391536"/>
            <a:ext cx="9067800" cy="2475865"/>
          </a:xfrm>
          <a:prstGeom prst="rect">
            <a:avLst/>
          </a:prstGeom>
        </p:spPr>
      </p:pic>
    </p:spTree>
    <p:extLst>
      <p:ext uri="{BB962C8B-B14F-4D97-AF65-F5344CB8AC3E}">
        <p14:creationId xmlns:p14="http://schemas.microsoft.com/office/powerpoint/2010/main" val="89210734"/>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DBE987-67BE-91E7-8C22-BC0344777D0E}"/>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FA43C8C9-5043-8A54-F22B-23CCA5726C7D}"/>
              </a:ext>
            </a:extLst>
          </p:cNvPr>
          <p:cNvSpPr/>
          <p:nvPr/>
        </p:nvSpPr>
        <p:spPr>
          <a:xfrm>
            <a:off x="1756803" y="648336"/>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E3CCBBDD-E320-228D-3004-0AB094F49BDA}"/>
              </a:ext>
            </a:extLst>
          </p:cNvPr>
          <p:cNvSpPr/>
          <p:nvPr/>
        </p:nvSpPr>
        <p:spPr>
          <a:xfrm>
            <a:off x="1756803" y="495936"/>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6AF9B32C-B64F-5C31-E5C2-033D29D8B29A}"/>
              </a:ext>
            </a:extLst>
          </p:cNvPr>
          <p:cNvGraphicFramePr/>
          <p:nvPr/>
        </p:nvGraphicFramePr>
        <p:xfrm>
          <a:off x="0" y="34425"/>
          <a:ext cx="9144000" cy="407873"/>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2" name="object 2">
            <a:extLst>
              <a:ext uri="{FF2B5EF4-FFF2-40B4-BE49-F238E27FC236}">
                <a16:creationId xmlns:a16="http://schemas.microsoft.com/office/drawing/2014/main" id="{A922460B-00D7-6F32-ACDC-C0D7895DB1D7}"/>
              </a:ext>
            </a:extLst>
          </p:cNvPr>
          <p:cNvSpPr txBox="1">
            <a:spLocks/>
          </p:cNvSpPr>
          <p:nvPr/>
        </p:nvSpPr>
        <p:spPr>
          <a:xfrm>
            <a:off x="228600" y="762000"/>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p:txBody>
      </p:sp>
      <p:pic>
        <p:nvPicPr>
          <p:cNvPr id="8" name="Picture 7">
            <a:extLst>
              <a:ext uri="{FF2B5EF4-FFF2-40B4-BE49-F238E27FC236}">
                <a16:creationId xmlns:a16="http://schemas.microsoft.com/office/drawing/2014/main" id="{54043895-3C3E-B99A-F6E6-C6DB5EBA1DBA}"/>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13886" y="800736"/>
            <a:ext cx="9053914" cy="400071"/>
          </a:xfrm>
          <a:prstGeom prst="rect">
            <a:avLst/>
          </a:prstGeom>
        </p:spPr>
      </p:pic>
      <p:pic>
        <p:nvPicPr>
          <p:cNvPr id="11" name="Picture 10">
            <a:extLst>
              <a:ext uri="{FF2B5EF4-FFF2-40B4-BE49-F238E27FC236}">
                <a16:creationId xmlns:a16="http://schemas.microsoft.com/office/drawing/2014/main" id="{746734FF-FF51-BC2A-C385-B16A8FDBF6CF}"/>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228600" y="1193709"/>
            <a:ext cx="8660296" cy="1778091"/>
          </a:xfrm>
          <a:prstGeom prst="rect">
            <a:avLst/>
          </a:prstGeom>
        </p:spPr>
      </p:pic>
      <p:sp>
        <p:nvSpPr>
          <p:cNvPr id="13" name="TextBox 12">
            <a:extLst>
              <a:ext uri="{FF2B5EF4-FFF2-40B4-BE49-F238E27FC236}">
                <a16:creationId xmlns:a16="http://schemas.microsoft.com/office/drawing/2014/main" id="{414559C9-A66D-0770-C43B-3CC3429F5699}"/>
              </a:ext>
            </a:extLst>
          </p:cNvPr>
          <p:cNvSpPr txBox="1"/>
          <p:nvPr/>
        </p:nvSpPr>
        <p:spPr>
          <a:xfrm>
            <a:off x="-76200" y="3219525"/>
            <a:ext cx="9296400" cy="2708434"/>
          </a:xfrm>
          <a:prstGeom prst="rect">
            <a:avLst/>
          </a:prstGeom>
          <a:noFill/>
        </p:spPr>
        <p:txBody>
          <a:bodyPr wrap="square">
            <a:spAutoFit/>
          </a:bodyPr>
          <a:lstStyle/>
          <a:p>
            <a:r>
              <a:rPr lang="en-IN" sz="1700" b="1" kern="0" spc="-80" dirty="0">
                <a:solidFill>
                  <a:schemeClr val="accent2"/>
                </a:solidFill>
                <a:latin typeface="Lucida Sans"/>
                <a:ea typeface="+mj-ea"/>
              </a:rPr>
              <a:t>VS Code Specifics</a:t>
            </a:r>
          </a:p>
          <a:p>
            <a:r>
              <a:rPr lang="en-IN" sz="1700" b="1" kern="0" spc="-80" dirty="0">
                <a:solidFill>
                  <a:schemeClr val="accent2"/>
                </a:solidFill>
                <a:latin typeface="Lucida Sans"/>
                <a:ea typeface="+mj-ea"/>
              </a:rPr>
              <a:t>Extensions Marketplace:</a:t>
            </a:r>
            <a:r>
              <a:rPr lang="en-IN" sz="1700" b="1" kern="0" spc="-80" dirty="0">
                <a:solidFill>
                  <a:schemeClr val="accent6"/>
                </a:solidFill>
                <a:latin typeface="Lucida Sans"/>
                <a:ea typeface="+mj-ea"/>
              </a:rPr>
              <a:t> Customize your environment for any language (Python, C++, JS).</a:t>
            </a:r>
          </a:p>
          <a:p>
            <a:r>
              <a:rPr lang="en-IN" sz="1700" b="1" kern="0" spc="-80" dirty="0">
                <a:solidFill>
                  <a:schemeClr val="accent2"/>
                </a:solidFill>
                <a:latin typeface="Lucida Sans"/>
                <a:ea typeface="+mj-ea"/>
              </a:rPr>
              <a:t>Settings Sync:</a:t>
            </a:r>
            <a:r>
              <a:rPr lang="en-IN" sz="1700" b="1" kern="0" spc="-80" dirty="0">
                <a:solidFill>
                  <a:schemeClr val="accent6"/>
                </a:solidFill>
                <a:latin typeface="Lucida Sans"/>
                <a:ea typeface="+mj-ea"/>
              </a:rPr>
              <a:t> Sign in to sync settings and extensions across devices.</a:t>
            </a:r>
          </a:p>
          <a:p>
            <a:r>
              <a:rPr lang="en-IN" sz="1700" b="1" kern="0" spc="-80" dirty="0">
                <a:solidFill>
                  <a:schemeClr val="accent2"/>
                </a:solidFill>
                <a:latin typeface="Lucida Sans"/>
                <a:ea typeface="+mj-ea"/>
              </a:rPr>
              <a:t>Keymaps:</a:t>
            </a:r>
            <a:r>
              <a:rPr lang="en-IN" sz="1700" b="1" kern="0" spc="-80" dirty="0">
                <a:solidFill>
                  <a:schemeClr val="accent6"/>
                </a:solidFill>
                <a:latin typeface="Lucida Sans"/>
                <a:ea typeface="+mj-ea"/>
              </a:rPr>
              <a:t> Install extensions to mimic </a:t>
            </a:r>
            <a:r>
              <a:rPr lang="en-IN" sz="1700" b="1" kern="0" spc="-80" dirty="0" err="1">
                <a:solidFill>
                  <a:schemeClr val="accent6"/>
                </a:solidFill>
                <a:latin typeface="Lucida Sans"/>
                <a:ea typeface="+mj-ea"/>
              </a:rPr>
              <a:t>keybindings</a:t>
            </a:r>
            <a:r>
              <a:rPr lang="en-IN" sz="1700" b="1" kern="0" spc="-80" dirty="0">
                <a:solidFill>
                  <a:schemeClr val="accent6"/>
                </a:solidFill>
                <a:latin typeface="Lucida Sans"/>
                <a:ea typeface="+mj-ea"/>
              </a:rPr>
              <a:t> from other IDEs (e.g., IntelliJ, Sublime). </a:t>
            </a:r>
          </a:p>
          <a:p>
            <a:endParaRPr lang="en-IN" sz="1700" b="1" kern="0" spc="-80" dirty="0">
              <a:solidFill>
                <a:schemeClr val="accent6"/>
              </a:solidFill>
              <a:latin typeface="Lucida Sans"/>
              <a:ea typeface="+mj-ea"/>
            </a:endParaRPr>
          </a:p>
          <a:p>
            <a:r>
              <a:rPr lang="en-IN" sz="1700" b="1" kern="0" spc="-80" dirty="0">
                <a:solidFill>
                  <a:schemeClr val="accent2"/>
                </a:solidFill>
                <a:latin typeface="Lucida Sans"/>
                <a:ea typeface="+mj-ea"/>
              </a:rPr>
              <a:t>Visual Studio Community Edition Specifics</a:t>
            </a:r>
          </a:p>
          <a:p>
            <a:r>
              <a:rPr lang="en-IN" sz="1700" b="1" kern="0" spc="-80" dirty="0">
                <a:solidFill>
                  <a:schemeClr val="accent2"/>
                </a:solidFill>
                <a:latin typeface="Lucida Sans"/>
                <a:ea typeface="+mj-ea"/>
              </a:rPr>
              <a:t>CodeLens:</a:t>
            </a:r>
            <a:r>
              <a:rPr lang="en-IN" sz="1700" b="1" kern="0" spc="-80" dirty="0">
                <a:solidFill>
                  <a:schemeClr val="accent6"/>
                </a:solidFill>
                <a:latin typeface="Lucida Sans"/>
                <a:ea typeface="+mj-ea"/>
              </a:rPr>
              <a:t> Displays references, changes, and unit test status directly above code definitions.</a:t>
            </a:r>
          </a:p>
          <a:p>
            <a:r>
              <a:rPr lang="en-IN" sz="1700" b="1" kern="0" spc="-80" dirty="0">
                <a:solidFill>
                  <a:schemeClr val="accent2"/>
                </a:solidFill>
                <a:latin typeface="Lucida Sans"/>
                <a:ea typeface="+mj-ea"/>
              </a:rPr>
              <a:t>Task List: </a:t>
            </a:r>
            <a:r>
              <a:rPr lang="en-IN" sz="1700" b="1" kern="0" spc="-80" dirty="0">
                <a:solidFill>
                  <a:schemeClr val="accent6"/>
                </a:solidFill>
                <a:latin typeface="Lucida Sans"/>
                <a:ea typeface="+mj-ea"/>
              </a:rPr>
              <a:t>Track TODOs and comments across the project.</a:t>
            </a:r>
          </a:p>
          <a:p>
            <a:r>
              <a:rPr lang="en-IN" sz="1700" b="1" kern="0" spc="-80" dirty="0" err="1">
                <a:solidFill>
                  <a:schemeClr val="accent2"/>
                </a:solidFill>
                <a:latin typeface="Lucida Sans"/>
                <a:ea typeface="+mj-ea"/>
              </a:rPr>
              <a:t>ClangFormat</a:t>
            </a:r>
            <a:r>
              <a:rPr lang="en-IN" sz="1700" b="1" kern="0" spc="-80" dirty="0">
                <a:solidFill>
                  <a:schemeClr val="accent2"/>
                </a:solidFill>
                <a:latin typeface="Lucida Sans"/>
                <a:ea typeface="+mj-ea"/>
              </a:rPr>
              <a:t>: </a:t>
            </a:r>
            <a:r>
              <a:rPr lang="en-IN" sz="1700" b="1" kern="0" spc="-80" dirty="0">
                <a:solidFill>
                  <a:schemeClr val="accent6"/>
                </a:solidFill>
                <a:latin typeface="Lucida Sans"/>
                <a:ea typeface="+mj-ea"/>
              </a:rPr>
              <a:t>Built-in support for C++ code formatting. </a:t>
            </a:r>
          </a:p>
        </p:txBody>
      </p:sp>
    </p:spTree>
    <p:extLst>
      <p:ext uri="{BB962C8B-B14F-4D97-AF65-F5344CB8AC3E}">
        <p14:creationId xmlns:p14="http://schemas.microsoft.com/office/powerpoint/2010/main" val="691587984"/>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2210E9-C4FF-90E8-86F0-9FB09027FEFE}"/>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E53EF78C-90C1-0442-B6D7-CD42FB8AD602}"/>
              </a:ext>
            </a:extLst>
          </p:cNvPr>
          <p:cNvSpPr/>
          <p:nvPr/>
        </p:nvSpPr>
        <p:spPr>
          <a:xfrm>
            <a:off x="1756803" y="648336"/>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60759608-5230-54FB-7AAF-B3F39A46131A}"/>
              </a:ext>
            </a:extLst>
          </p:cNvPr>
          <p:cNvSpPr/>
          <p:nvPr/>
        </p:nvSpPr>
        <p:spPr>
          <a:xfrm>
            <a:off x="1756803" y="495936"/>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39A5A81F-CA73-5F2F-2521-F3E27B44EFD8}"/>
              </a:ext>
            </a:extLst>
          </p:cNvPr>
          <p:cNvGraphicFramePr/>
          <p:nvPr/>
        </p:nvGraphicFramePr>
        <p:xfrm>
          <a:off x="0" y="34425"/>
          <a:ext cx="9144000" cy="407873"/>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2" name="object 2">
            <a:extLst>
              <a:ext uri="{FF2B5EF4-FFF2-40B4-BE49-F238E27FC236}">
                <a16:creationId xmlns:a16="http://schemas.microsoft.com/office/drawing/2014/main" id="{D86A235A-BD63-A19A-D08B-D69C8B1A2F54}"/>
              </a:ext>
            </a:extLst>
          </p:cNvPr>
          <p:cNvSpPr txBox="1">
            <a:spLocks/>
          </p:cNvSpPr>
          <p:nvPr/>
        </p:nvSpPr>
        <p:spPr>
          <a:xfrm>
            <a:off x="228600" y="762000"/>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p:txBody>
      </p:sp>
      <p:sp>
        <p:nvSpPr>
          <p:cNvPr id="13" name="TextBox 12">
            <a:extLst>
              <a:ext uri="{FF2B5EF4-FFF2-40B4-BE49-F238E27FC236}">
                <a16:creationId xmlns:a16="http://schemas.microsoft.com/office/drawing/2014/main" id="{CCC28ED8-ADCC-400A-B5A7-A54EFE0F8958}"/>
              </a:ext>
            </a:extLst>
          </p:cNvPr>
          <p:cNvSpPr txBox="1"/>
          <p:nvPr/>
        </p:nvSpPr>
        <p:spPr>
          <a:xfrm>
            <a:off x="-76200" y="800736"/>
            <a:ext cx="9296400" cy="3308598"/>
          </a:xfrm>
          <a:prstGeom prst="rect">
            <a:avLst/>
          </a:prstGeom>
          <a:noFill/>
        </p:spPr>
        <p:txBody>
          <a:bodyPr wrap="square">
            <a:spAutoFit/>
          </a:bodyPr>
          <a:lstStyle/>
          <a:p>
            <a:r>
              <a:rPr lang="en-IN" sz="1700" b="1" kern="0" spc="-80" dirty="0">
                <a:solidFill>
                  <a:schemeClr val="accent2"/>
                </a:solidFill>
                <a:latin typeface="Lucida Sans"/>
                <a:ea typeface="+mj-ea"/>
              </a:rPr>
              <a:t>For Further Exploration</a:t>
            </a:r>
          </a:p>
          <a:p>
            <a:r>
              <a:rPr lang="en-IN" sz="1600" b="1" dirty="0">
                <a:hlinkClick r:id="rId8"/>
              </a:rPr>
              <a:t>Visual Studio Code vs Visual Studio 2022 Professional: Comprehensive Comparison | LinkedIn</a:t>
            </a:r>
            <a:endParaRPr lang="en-IN" sz="1600" b="1" dirty="0"/>
          </a:p>
          <a:p>
            <a:r>
              <a:rPr lang="en-US" sz="1600" b="1" dirty="0">
                <a:hlinkClick r:id="rId9"/>
              </a:rPr>
              <a:t>Debugging techniques and tools - Visual Studio (Windows) | Microsoft Learn</a:t>
            </a:r>
            <a:endParaRPr lang="en-IN" sz="1600" b="1" dirty="0"/>
          </a:p>
          <a:p>
            <a:r>
              <a:rPr lang="en-US" sz="1600" b="1" dirty="0">
                <a:hlinkClick r:id="rId10"/>
              </a:rPr>
              <a:t>Why did we build Visual Studio Code?</a:t>
            </a:r>
            <a:endParaRPr lang="en-US" sz="1600" b="1" dirty="0"/>
          </a:p>
          <a:p>
            <a:r>
              <a:rPr lang="en-US" sz="1600" b="1" dirty="0">
                <a:hlinkClick r:id="rId11"/>
              </a:rPr>
              <a:t>Visual Studio Code: Read this before you get started</a:t>
            </a:r>
            <a:endParaRPr lang="en-US" sz="1600" b="1" dirty="0"/>
          </a:p>
          <a:p>
            <a:r>
              <a:rPr lang="en-US" sz="1600" b="1" dirty="0">
                <a:hlinkClick r:id="rId12"/>
              </a:rPr>
              <a:t>Tricks Every Developer Should Know in Visual Studio Code</a:t>
            </a:r>
            <a:endParaRPr lang="en-US" sz="1600" b="1" dirty="0"/>
          </a:p>
          <a:p>
            <a:r>
              <a:rPr lang="en-US" sz="1600" b="1" dirty="0">
                <a:hlinkClick r:id="rId13"/>
              </a:rPr>
              <a:t>Visual Studio Code tips and tricks</a:t>
            </a:r>
            <a:endParaRPr lang="en-US" sz="1600" b="1" dirty="0"/>
          </a:p>
          <a:p>
            <a:r>
              <a:rPr lang="en-IN" sz="1600" b="1" dirty="0" err="1">
                <a:hlinkClick r:id="rId14"/>
              </a:rPr>
              <a:t>VSCode</a:t>
            </a:r>
            <a:r>
              <a:rPr lang="en-IN" sz="1600" b="1" dirty="0">
                <a:hlinkClick r:id="rId14"/>
              </a:rPr>
              <a:t> Guide</a:t>
            </a:r>
            <a:endParaRPr lang="en-IN" sz="1600" b="1" dirty="0"/>
          </a:p>
          <a:p>
            <a:r>
              <a:rPr lang="en-US" sz="1600" b="1" dirty="0">
                <a:hlinkClick r:id="rId15"/>
              </a:rPr>
              <a:t>Efficient coding, debugging, &amp; keyboard shortcuts - Visual Studio (Windows) | Microsoft Learn</a:t>
            </a:r>
            <a:endParaRPr lang="en-IN" sz="1600" b="1" dirty="0"/>
          </a:p>
          <a:p>
            <a:r>
              <a:rPr lang="en-IN" sz="1600" b="1" dirty="0">
                <a:hlinkClick r:id="rId16"/>
              </a:rPr>
              <a:t>Refactoring</a:t>
            </a:r>
            <a:endParaRPr lang="en-IN" sz="1600" b="1" dirty="0"/>
          </a:p>
          <a:p>
            <a:r>
              <a:rPr lang="en-IN" sz="1600" b="1" dirty="0" err="1">
                <a:hlinkClick r:id="rId17"/>
              </a:rPr>
              <a:t>CodeMetrics</a:t>
            </a:r>
            <a:r>
              <a:rPr lang="en-IN" sz="1600" b="1" dirty="0">
                <a:hlinkClick r:id="rId17"/>
              </a:rPr>
              <a:t> - Visual Studio Marketplace</a:t>
            </a:r>
            <a:endParaRPr lang="en-IN" sz="1600" b="1" dirty="0"/>
          </a:p>
          <a:p>
            <a:r>
              <a:rPr lang="en-US" sz="1600" b="1" dirty="0">
                <a:hlinkClick r:id="rId18"/>
              </a:rPr>
              <a:t>Resource Monitor - Visual Studio Marketplace</a:t>
            </a:r>
            <a:endParaRPr lang="en-IN" sz="1600" b="1" dirty="0"/>
          </a:p>
          <a:p>
            <a:r>
              <a:rPr lang="en-US" sz="1600" b="1" dirty="0">
                <a:hlinkClick r:id="rId19"/>
              </a:rPr>
              <a:t>Editor Overview - Visual Studio (Windows) | Microsoft Learn</a:t>
            </a:r>
            <a:endParaRPr lang="en-IN" sz="1700" b="1" kern="0" spc="-80" dirty="0">
              <a:solidFill>
                <a:schemeClr val="accent2"/>
              </a:solidFill>
              <a:latin typeface="Lucida Sans"/>
              <a:ea typeface="+mj-ea"/>
            </a:endParaRPr>
          </a:p>
        </p:txBody>
      </p:sp>
    </p:spTree>
    <p:extLst>
      <p:ext uri="{BB962C8B-B14F-4D97-AF65-F5344CB8AC3E}">
        <p14:creationId xmlns:p14="http://schemas.microsoft.com/office/powerpoint/2010/main" val="1147229819"/>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4CA0F8-40D8-9F6F-17FA-30734CABB7B4}"/>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95E9CA74-52E5-AFC9-D959-BBB9D783830C}"/>
              </a:ext>
            </a:extLst>
          </p:cNvPr>
          <p:cNvSpPr/>
          <p:nvPr/>
        </p:nvSpPr>
        <p:spPr>
          <a:xfrm>
            <a:off x="1756803" y="609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7EE01489-A97A-DBCA-AF1F-24071CB0A455}"/>
              </a:ext>
            </a:extLst>
          </p:cNvPr>
          <p:cNvSpPr/>
          <p:nvPr/>
        </p:nvSpPr>
        <p:spPr>
          <a:xfrm>
            <a:off x="1756803" y="457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26277A01-748A-96B1-5CAB-7B16D83DE884}"/>
              </a:ext>
            </a:extLst>
          </p:cNvPr>
          <p:cNvGraphicFramePr/>
          <p:nvPr>
            <p:extLst>
              <p:ext uri="{D42A27DB-BD31-4B8C-83A1-F6EECF244321}">
                <p14:modId xmlns:p14="http://schemas.microsoft.com/office/powerpoint/2010/main" val="309106662"/>
              </p:ext>
            </p:extLst>
          </p:nvPr>
        </p:nvGraphicFramePr>
        <p:xfrm>
          <a:off x="0" y="34425"/>
          <a:ext cx="9067800" cy="384039"/>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object 2">
            <a:extLst>
              <a:ext uri="{FF2B5EF4-FFF2-40B4-BE49-F238E27FC236}">
                <a16:creationId xmlns:a16="http://schemas.microsoft.com/office/drawing/2014/main" id="{39164A84-E9B0-4CCF-5AD9-C27BCBA81397}"/>
              </a:ext>
            </a:extLst>
          </p:cNvPr>
          <p:cNvSpPr txBox="1">
            <a:spLocks/>
          </p:cNvSpPr>
          <p:nvPr/>
        </p:nvSpPr>
        <p:spPr>
          <a:xfrm>
            <a:off x="228600" y="762000"/>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p:txBody>
      </p:sp>
      <p:sp>
        <p:nvSpPr>
          <p:cNvPr id="7" name="object 2">
            <a:extLst>
              <a:ext uri="{FF2B5EF4-FFF2-40B4-BE49-F238E27FC236}">
                <a16:creationId xmlns:a16="http://schemas.microsoft.com/office/drawing/2014/main" id="{31823A38-4FFC-52D5-7983-D1EC961929C4}"/>
              </a:ext>
            </a:extLst>
          </p:cNvPr>
          <p:cNvSpPr txBox="1">
            <a:spLocks/>
          </p:cNvSpPr>
          <p:nvPr/>
        </p:nvSpPr>
        <p:spPr>
          <a:xfrm>
            <a:off x="138063" y="5023247"/>
            <a:ext cx="8624937" cy="246221"/>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600" kern="0" spc="-80" dirty="0">
                <a:solidFill>
                  <a:schemeClr val="accent2"/>
                </a:solidFill>
              </a:rPr>
              <a:t>  </a:t>
            </a:r>
          </a:p>
        </p:txBody>
      </p:sp>
      <p:sp>
        <p:nvSpPr>
          <p:cNvPr id="3" name="object 2">
            <a:extLst>
              <a:ext uri="{FF2B5EF4-FFF2-40B4-BE49-F238E27FC236}">
                <a16:creationId xmlns:a16="http://schemas.microsoft.com/office/drawing/2014/main" id="{C0ED9B05-4BA4-DECB-9A37-7F53CB5AD48C}"/>
              </a:ext>
            </a:extLst>
          </p:cNvPr>
          <p:cNvSpPr txBox="1">
            <a:spLocks/>
          </p:cNvSpPr>
          <p:nvPr/>
        </p:nvSpPr>
        <p:spPr>
          <a:xfrm>
            <a:off x="0" y="762000"/>
            <a:ext cx="8915399" cy="3693319"/>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500" kern="0" spc="-80" dirty="0">
                <a:solidFill>
                  <a:schemeClr val="accent6"/>
                </a:solidFill>
              </a:rPr>
              <a:t>Production bugs are different from development bugs. The stakes are higher and the debugging tools are more limited.</a:t>
            </a:r>
          </a:p>
          <a:p>
            <a:pPr marL="12700" marR="5080"/>
            <a:endParaRPr lang="en-US" sz="1500" kern="0" spc="-80" dirty="0">
              <a:solidFill>
                <a:schemeClr val="accent6"/>
              </a:solidFill>
            </a:endParaRPr>
          </a:p>
          <a:p>
            <a:pPr marL="12700" marR="5080"/>
            <a:r>
              <a:rPr lang="en-US" sz="1500" kern="0" spc="-80" dirty="0">
                <a:solidFill>
                  <a:schemeClr val="accent2"/>
                </a:solidFill>
              </a:rPr>
              <a:t>First steps:</a:t>
            </a:r>
          </a:p>
          <a:p>
            <a:pPr marL="12700" marR="5080"/>
            <a:r>
              <a:rPr lang="en-US" sz="1500" kern="0" spc="-80" dirty="0">
                <a:solidFill>
                  <a:schemeClr val="accent6"/>
                </a:solidFill>
              </a:rPr>
              <a:t>Assess severity (is money being lost? are users blocked?)</a:t>
            </a:r>
          </a:p>
          <a:p>
            <a:pPr marL="12700" marR="5080"/>
            <a:r>
              <a:rPr lang="en-US" sz="1500" kern="0" spc="-80" dirty="0">
                <a:solidFill>
                  <a:schemeClr val="accent6"/>
                </a:solidFill>
              </a:rPr>
              <a:t>Stop the bleeding (rollback if needed)</a:t>
            </a:r>
          </a:p>
          <a:p>
            <a:pPr marL="12700" marR="5080"/>
            <a:r>
              <a:rPr lang="en-US" sz="1500" kern="0" spc="-80" dirty="0">
                <a:solidFill>
                  <a:schemeClr val="accent6"/>
                </a:solidFill>
              </a:rPr>
              <a:t>Gather information (logs, error reports, user reports)</a:t>
            </a:r>
          </a:p>
          <a:p>
            <a:pPr marL="12700" marR="5080"/>
            <a:r>
              <a:rPr lang="en-US" sz="1500" kern="0" spc="-80" dirty="0">
                <a:solidFill>
                  <a:schemeClr val="accent6"/>
                </a:solidFill>
              </a:rPr>
              <a:t>Form hypotheses (what changed recently?)</a:t>
            </a:r>
          </a:p>
          <a:p>
            <a:pPr marL="12700" marR="5080"/>
            <a:r>
              <a:rPr lang="en-US" sz="1500" kern="0" spc="-80" dirty="0">
                <a:solidFill>
                  <a:schemeClr val="accent6"/>
                </a:solidFill>
              </a:rPr>
              <a:t>Test in staging (don't test fixes in production)</a:t>
            </a:r>
          </a:p>
          <a:p>
            <a:pPr marL="12700" marR="5080"/>
            <a:endParaRPr lang="en-US" sz="1500" kern="0" spc="-80" dirty="0">
              <a:solidFill>
                <a:schemeClr val="accent6"/>
              </a:solidFill>
            </a:endParaRPr>
          </a:p>
          <a:p>
            <a:pPr marL="12700" marR="5080"/>
            <a:r>
              <a:rPr lang="en-US" sz="1500" kern="0" spc="-80" dirty="0">
                <a:solidFill>
                  <a:schemeClr val="accent2"/>
                </a:solidFill>
              </a:rPr>
              <a:t>Post-mortem process:</a:t>
            </a:r>
          </a:p>
          <a:p>
            <a:pPr marL="12700" marR="5080"/>
            <a:r>
              <a:rPr lang="en-US" sz="1500" kern="0" spc="-80" dirty="0">
                <a:solidFill>
                  <a:schemeClr val="accent6"/>
                </a:solidFill>
              </a:rPr>
              <a:t>What happened?</a:t>
            </a:r>
          </a:p>
          <a:p>
            <a:pPr marL="12700" marR="5080"/>
            <a:r>
              <a:rPr lang="en-US" sz="1500" kern="0" spc="-80" dirty="0">
                <a:solidFill>
                  <a:schemeClr val="accent6"/>
                </a:solidFill>
              </a:rPr>
              <a:t>What was the impact?</a:t>
            </a:r>
          </a:p>
          <a:p>
            <a:pPr marL="12700" marR="5080"/>
            <a:r>
              <a:rPr lang="en-US" sz="1500" kern="0" spc="-80" dirty="0">
                <a:solidFill>
                  <a:schemeClr val="accent6"/>
                </a:solidFill>
              </a:rPr>
              <a:t>What was the root cause?</a:t>
            </a:r>
          </a:p>
          <a:p>
            <a:pPr marL="12700" marR="5080"/>
            <a:r>
              <a:rPr lang="en-US" sz="1500" kern="0" spc="-80" dirty="0">
                <a:solidFill>
                  <a:schemeClr val="accent6"/>
                </a:solidFill>
              </a:rPr>
              <a:t>How do we prevent this?</a:t>
            </a:r>
          </a:p>
          <a:p>
            <a:pPr marL="12700" marR="5080"/>
            <a:r>
              <a:rPr lang="en-US" sz="1500" kern="0" spc="-80" dirty="0">
                <a:solidFill>
                  <a:schemeClr val="accent6"/>
                </a:solidFill>
              </a:rPr>
              <a:t>What monitoring would have caught this?</a:t>
            </a:r>
          </a:p>
        </p:txBody>
      </p:sp>
    </p:spTree>
    <p:extLst>
      <p:ext uri="{BB962C8B-B14F-4D97-AF65-F5344CB8AC3E}">
        <p14:creationId xmlns:p14="http://schemas.microsoft.com/office/powerpoint/2010/main" val="2139649179"/>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7" name="object 2"/>
          <p:cNvSpPr txBox="1">
            <a:spLocks noGrp="1"/>
          </p:cNvSpPr>
          <p:nvPr>
            <p:ph type="title"/>
          </p:nvPr>
        </p:nvSpPr>
        <p:spPr>
          <a:xfrm>
            <a:off x="2590800" y="1670209"/>
            <a:ext cx="3733800" cy="2215991"/>
          </a:xfrm>
          <a:prstGeom prst="rect">
            <a:avLst/>
          </a:prstGeom>
        </p:spPr>
        <p:txBody>
          <a:bodyPr vert="horz" wrap="square" lIns="0" tIns="0" rIns="0" bIns="0" rtlCol="0">
            <a:spAutoFit/>
          </a:bodyPr>
          <a:lstStyle/>
          <a:p>
            <a:pPr marL="12700" marR="5080" algn="ctr">
              <a:lnSpc>
                <a:spcPct val="100000"/>
              </a:lnSpc>
            </a:pPr>
            <a:r>
              <a:rPr lang="en-US" sz="7200" spc="-220" dirty="0">
                <a:solidFill>
                  <a:schemeClr val="accent6"/>
                </a:solidFill>
              </a:rPr>
              <a:t>Thank You</a:t>
            </a:r>
            <a:endParaRPr lang="en-US" sz="7200" spc="-80" dirty="0">
              <a:solidFill>
                <a:schemeClr val="accent6"/>
              </a:solidFill>
            </a:endParaRPr>
          </a:p>
        </p:txBody>
      </p:sp>
    </p:spTree>
    <p:extLst>
      <p:ext uri="{BB962C8B-B14F-4D97-AF65-F5344CB8AC3E}">
        <p14:creationId xmlns:p14="http://schemas.microsoft.com/office/powerpoint/2010/main" val="36781871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8FB92261DF0CF34EB4810633B41F348E" ma:contentTypeVersion="12" ma:contentTypeDescription="Create a new document." ma:contentTypeScope="" ma:versionID="0504b6c5dad5cedb559b2ba5661c1516">
  <xsd:schema xmlns:xsd="http://www.w3.org/2001/XMLSchema" xmlns:xs="http://www.w3.org/2001/XMLSchema" xmlns:p="http://schemas.microsoft.com/office/2006/metadata/properties" xmlns:ns2="73c285a4-81d7-45ed-89e3-084ec343ed0e" xmlns:ns3="9eeb171f-62b6-4207-910a-f222f02eca92" targetNamespace="http://schemas.microsoft.com/office/2006/metadata/properties" ma:root="true" ma:fieldsID="ee446bd52ab24cfc94472a148ee352b7" ns2:_="" ns3:_="">
    <xsd:import namespace="73c285a4-81d7-45ed-89e3-084ec343ed0e"/>
    <xsd:import namespace="9eeb171f-62b6-4207-910a-f222f02eca92"/>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2:MediaServiceAutoTags" minOccurs="0"/>
                <xsd:element ref="ns2:MediaServiceOCR" minOccurs="0"/>
                <xsd:element ref="ns2:MediaServiceGenerationTime" minOccurs="0"/>
                <xsd:element ref="ns2:MediaServiceEventHashCode" minOccurs="0"/>
                <xsd:element ref="ns2:MediaServiceDateTaken" minOccurs="0"/>
                <xsd:element ref="ns3:SharedWithUsers" minOccurs="0"/>
                <xsd:element ref="ns3:SharedWithDetails" minOccurs="0"/>
                <xsd:element ref="ns2: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3c285a4-81d7-45ed-89e3-084ec343ed0e"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AutoTags" ma:index="12" nillable="true" ma:displayName="Tags" ma:internalName="MediaServiceAutoTags" ma:readOnly="true">
      <xsd:simpleType>
        <xsd:restriction base="dms:Text"/>
      </xsd:simpleType>
    </xsd:element>
    <xsd:element name="MediaServiceOCR" ma:index="13" nillable="true" ma:displayName="Extracted Text" ma:internalName="MediaServiceOCR" ma:readOnly="true">
      <xsd:simpleType>
        <xsd:restriction base="dms:Note">
          <xsd:maxLength value="255"/>
        </xsd:restriction>
      </xsd:simpleType>
    </xsd:element>
    <xsd:element name="MediaServiceGenerationTime" ma:index="14" nillable="true" ma:displayName="MediaServiceGenerationTime" ma:hidden="true" ma:internalName="MediaServiceGenerationTime" ma:readOnly="true">
      <xsd:simpleType>
        <xsd:restriction base="dms:Text"/>
      </xsd:simpleType>
    </xsd:element>
    <xsd:element name="MediaServiceEventHashCode" ma:index="15" nillable="true" ma:displayName="MediaServiceEventHashCode" ma:hidden="true" ma:internalName="MediaServiceEventHashCode" ma:readOnly="true">
      <xsd:simpleType>
        <xsd:restriction base="dms:Text"/>
      </xsd:simpleType>
    </xsd:element>
    <xsd:element name="MediaServiceDateTaken" ma:index="16" nillable="true" ma:displayName="MediaServiceDateTaken" ma:hidden="true" ma:internalName="MediaServiceDateTaken" ma:readOnly="true">
      <xsd:simpleType>
        <xsd:restriction base="dms:Text"/>
      </xsd:simpleType>
    </xsd:element>
    <xsd:element name="MediaLengthInSeconds" ma:index="19" nillable="true" ma:displayName="Length (seconds)" ma:internalName="MediaLengthInSeconds" ma:readOnly="true">
      <xsd:simpleType>
        <xsd:restriction base="dms:Unknown"/>
      </xsd:simpleType>
    </xsd:element>
  </xsd:schema>
  <xsd:schema xmlns:xsd="http://www.w3.org/2001/XMLSchema" xmlns:xs="http://www.w3.org/2001/XMLSchema" xmlns:dms="http://schemas.microsoft.com/office/2006/documentManagement/types" xmlns:pc="http://schemas.microsoft.com/office/infopath/2007/PartnerControls" targetNamespace="9eeb171f-62b6-4207-910a-f222f02eca92" elementFormDefault="qualified">
    <xsd:import namespace="http://schemas.microsoft.com/office/2006/documentManagement/types"/>
    <xsd:import namespace="http://schemas.microsoft.com/office/infopath/2007/PartnerControls"/>
    <xsd:element name="SharedWithUsers" ma:index="17"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8"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7845EBFA-FEA7-417E-8860-8460D20694CB}">
  <ds:schemaRefs>
    <ds:schemaRef ds:uri="http://schemas.openxmlformats.org/package/2006/metadata/core-properties"/>
    <ds:schemaRef ds:uri="http://www.w3.org/XML/1998/namespace"/>
    <ds:schemaRef ds:uri="http://schemas.microsoft.com/office/infopath/2007/PartnerControls"/>
    <ds:schemaRef ds:uri="73c285a4-81d7-45ed-89e3-084ec343ed0e"/>
    <ds:schemaRef ds:uri="9eeb171f-62b6-4207-910a-f222f02eca92"/>
    <ds:schemaRef ds:uri="http://schemas.microsoft.com/office/2006/documentManagement/types"/>
    <ds:schemaRef ds:uri="http://purl.org/dc/elements/1.1/"/>
    <ds:schemaRef ds:uri="http://schemas.microsoft.com/office/2006/metadata/properties"/>
    <ds:schemaRef ds:uri="http://purl.org/dc/dcmitype/"/>
    <ds:schemaRef ds:uri="http://purl.org/dc/terms/"/>
  </ds:schemaRefs>
</ds:datastoreItem>
</file>

<file path=customXml/itemProps2.xml><?xml version="1.0" encoding="utf-8"?>
<ds:datastoreItem xmlns:ds="http://schemas.openxmlformats.org/officeDocument/2006/customXml" ds:itemID="{E54ED045-44B0-4818-8BF2-60E776B56E88}">
  <ds:schemaRefs>
    <ds:schemaRef ds:uri="http://schemas.microsoft.com/sharepoint/v3/contenttype/forms"/>
  </ds:schemaRefs>
</ds:datastoreItem>
</file>

<file path=customXml/itemProps3.xml><?xml version="1.0" encoding="utf-8"?>
<ds:datastoreItem xmlns:ds="http://schemas.openxmlformats.org/officeDocument/2006/customXml" ds:itemID="{1561FB4F-8CDF-4FC4-86AB-6B9C0823A4A4}">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3c285a4-81d7-45ed-89e3-084ec343ed0e"/>
    <ds:schemaRef ds:uri="9eeb171f-62b6-4207-910a-f222f02eca92"/>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
  <TotalTime>9819</TotalTime>
  <Words>8298</Words>
  <Application>Microsoft Macintosh PowerPoint</Application>
  <PresentationFormat>Custom</PresentationFormat>
  <Paragraphs>1157</Paragraphs>
  <Slides>92</Slides>
  <Notes>28</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92</vt:i4>
      </vt:variant>
    </vt:vector>
  </HeadingPairs>
  <TitlesOfParts>
    <vt:vector size="96" baseType="lpstr">
      <vt:lpstr>Arial</vt:lpstr>
      <vt:lpstr>Calibri</vt:lpstr>
      <vt:lpstr>Lucida Sans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The case  for Chello</dc:title>
  <dc:creator>Kumar, Harendra (Cognizant)</dc:creator>
  <cp:lastModifiedBy>Microsoft Office User</cp:lastModifiedBy>
  <cp:revision>326</cp:revision>
  <dcterms:created xsi:type="dcterms:W3CDTF">2020-11-03T17:16:52Z</dcterms:created>
  <dcterms:modified xsi:type="dcterms:W3CDTF">2026-04-06T06:35:57Z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2020-10-21T00:00:00Z</vt:filetime>
  </property>
  <property fmtid="{D5CDD505-2E9C-101B-9397-08002B2CF9AE}" pid="3" name="Creator">
    <vt:lpwstr>Adobe InDesign 15.1 (Macintosh)</vt:lpwstr>
  </property>
  <property fmtid="{D5CDD505-2E9C-101B-9397-08002B2CF9AE}" pid="4" name="LastSaved">
    <vt:filetime>2020-11-03T00:00:00Z</vt:filetime>
  </property>
  <property fmtid="{D5CDD505-2E9C-101B-9397-08002B2CF9AE}" pid="5" name="ContentTypeId">
    <vt:lpwstr>0x0101008FB92261DF0CF34EB4810633B41F348E</vt:lpwstr>
  </property>
</Properties>
</file>